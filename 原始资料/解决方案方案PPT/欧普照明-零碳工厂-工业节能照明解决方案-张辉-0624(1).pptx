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65" r:id="rId4"/>
    <p:sldId id="266" r:id="rId6"/>
    <p:sldId id="268" r:id="rId7"/>
    <p:sldId id="267" r:id="rId8"/>
    <p:sldId id="272" r:id="rId9"/>
    <p:sldId id="270" r:id="rId10"/>
    <p:sldId id="276" r:id="rId11"/>
    <p:sldId id="277" r:id="rId12"/>
    <p:sldId id="16766987" r:id="rId13"/>
    <p:sldId id="273" r:id="rId14"/>
    <p:sldId id="282" r:id="rId15"/>
    <p:sldId id="283" r:id="rId16"/>
    <p:sldId id="11830471" r:id="rId17"/>
    <p:sldId id="286" r:id="rId18"/>
    <p:sldId id="287" r:id="rId19"/>
    <p:sldId id="284" r:id="rId20"/>
    <p:sldId id="285" r:id="rId21"/>
    <p:sldId id="288" r:id="rId22"/>
    <p:sldId id="289" r:id="rId23"/>
    <p:sldId id="16766988" r:id="rId24"/>
    <p:sldId id="275" r:id="rId25"/>
    <p:sldId id="294" r:id="rId26"/>
    <p:sldId id="291" r:id="rId27"/>
    <p:sldId id="292" r:id="rId28"/>
    <p:sldId id="269"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57677"/>
    <a:srgbClr val="43BCDC"/>
    <a:srgbClr val="98E0F5"/>
    <a:srgbClr val="44C7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A4E1E9-7BF0-4D7A-B1F4-650B5E8314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EA26A-6164-4B2D-AACD-F01BC0B0995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DB5F37-CF8C-4B8D-AEB4-EF54F76068F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7AC8B9-51C1-4CB4-9CC1-D9406F7975E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B7EA26A-6164-4B2D-AACD-F01BC0B0995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E63E77B-F4B5-45BD-BFB0-7020085A266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19A02A-5D6D-4034-9956-0C08E2A8228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标题">
    <p:spTree>
      <p:nvGrpSpPr>
        <p:cNvPr id="1" name=""/>
        <p:cNvGrpSpPr/>
        <p:nvPr/>
      </p:nvGrpSpPr>
      <p:grpSpPr>
        <a:xfrm>
          <a:off x="0" y="0"/>
          <a:ext cx="0" cy="0"/>
          <a:chOff x="0" y="0"/>
          <a:chExt cx="0" cy="0"/>
        </a:xfrm>
      </p:grpSpPr>
      <p:sp>
        <p:nvSpPr>
          <p:cNvPr id="11" name="作者和日期"/>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351155">
              <a:lnSpc>
                <a:spcPct val="100000"/>
              </a:lnSpc>
              <a:spcBef>
                <a:spcPts val="0"/>
              </a:spcBef>
              <a:buSzTx/>
              <a:buNone/>
              <a:defRPr sz="1530" b="1"/>
            </a:lvl1pPr>
          </a:lstStyle>
          <a:p>
            <a:r>
              <a:t>作者和日期</a:t>
            </a:r>
          </a:p>
        </p:txBody>
      </p:sp>
      <p:sp>
        <p:nvSpPr>
          <p:cNvPr id="12" name="演示文稿标题"/>
          <p:cNvSpPr txBox="1">
            <a:spLocks noGrp="1"/>
          </p:cNvSpPr>
          <p:nvPr>
            <p:ph type="title" hasCustomPrompt="1"/>
          </p:nvPr>
        </p:nvSpPr>
        <p:spPr>
          <a:xfrm>
            <a:off x="603248" y="1287496"/>
            <a:ext cx="10985502" cy="2324101"/>
          </a:xfrm>
          <a:prstGeom prst="rect">
            <a:avLst/>
          </a:prstGeom>
        </p:spPr>
        <p:txBody>
          <a:bodyPr anchor="b"/>
          <a:lstStyle>
            <a:lvl1pPr>
              <a:defRPr sz="5800" spc="-116"/>
            </a:lvl1pPr>
          </a:lstStyle>
          <a:p>
            <a:r>
              <a:t>演示文稿标题</a:t>
            </a:r>
          </a:p>
        </p:txBody>
      </p:sp>
      <p:sp>
        <p:nvSpPr>
          <p:cNvPr id="13" name="正文级别 1…"/>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演示文稿副标题</a:t>
            </a:r>
          </a:p>
          <a:p>
            <a:pPr lvl="1"/>
          </a:p>
          <a:p>
            <a:pPr lvl="2"/>
          </a:p>
          <a:p>
            <a:pPr lvl="3"/>
          </a:p>
          <a:p>
            <a:pPr lvl="4"/>
          </a:p>
        </p:txBody>
      </p:sp>
      <p:sp>
        <p:nvSpPr>
          <p:cNvPr id="1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63E77B-F4B5-45BD-BFB0-7020085A266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19A02A-5D6D-4034-9956-0C08E2A8228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7.xml"/><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png"/><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png"/><Relationship Id="rId3" Type="http://schemas.openxmlformats.org/officeDocument/2006/relationships/tags" Target="../tags/tag2.xml"/><Relationship Id="rId2" Type="http://schemas.openxmlformats.org/officeDocument/2006/relationships/image" Target="../media/image6.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image" Target="../media/image39.png"/><Relationship Id="rId6" Type="http://schemas.microsoft.com/office/2007/relationships/hdphoto" Target="../media/image38.wdp"/><Relationship Id="rId55" Type="http://schemas.openxmlformats.org/officeDocument/2006/relationships/slideLayout" Target="../slideLayouts/slideLayout7.xml"/><Relationship Id="rId54" Type="http://schemas.openxmlformats.org/officeDocument/2006/relationships/image" Target="../media/image84.jpeg"/><Relationship Id="rId53" Type="http://schemas.openxmlformats.org/officeDocument/2006/relationships/image" Target="../media/image83.png"/><Relationship Id="rId52" Type="http://schemas.openxmlformats.org/officeDocument/2006/relationships/image" Target="../media/image82.png"/><Relationship Id="rId51" Type="http://schemas.openxmlformats.org/officeDocument/2006/relationships/image" Target="../media/image81.png"/><Relationship Id="rId50" Type="http://schemas.openxmlformats.org/officeDocument/2006/relationships/image" Target="../media/image80.png"/><Relationship Id="rId5" Type="http://schemas.openxmlformats.org/officeDocument/2006/relationships/image" Target="../media/image37.png"/><Relationship Id="rId49" Type="http://schemas.openxmlformats.org/officeDocument/2006/relationships/image" Target="../media/image79.png"/><Relationship Id="rId48" Type="http://schemas.openxmlformats.org/officeDocument/2006/relationships/image" Target="../media/image78.png"/><Relationship Id="rId47" Type="http://schemas.openxmlformats.org/officeDocument/2006/relationships/image" Target="../media/image77.png"/><Relationship Id="rId46" Type="http://schemas.openxmlformats.org/officeDocument/2006/relationships/image" Target="../media/image76.png"/><Relationship Id="rId45" Type="http://schemas.microsoft.com/office/2007/relationships/hdphoto" Target="../media/image75.wdp"/><Relationship Id="rId44" Type="http://schemas.openxmlformats.org/officeDocument/2006/relationships/image" Target="../media/image74.png"/><Relationship Id="rId43" Type="http://schemas.openxmlformats.org/officeDocument/2006/relationships/image" Target="../media/image73.jpeg"/><Relationship Id="rId42" Type="http://schemas.openxmlformats.org/officeDocument/2006/relationships/image" Target="../media/image72.png"/><Relationship Id="rId41" Type="http://schemas.openxmlformats.org/officeDocument/2006/relationships/image" Target="../media/image71.png"/><Relationship Id="rId40" Type="http://schemas.openxmlformats.org/officeDocument/2006/relationships/image" Target="../media/image70.png"/><Relationship Id="rId4" Type="http://schemas.openxmlformats.org/officeDocument/2006/relationships/image" Target="../media/image36.png"/><Relationship Id="rId39" Type="http://schemas.openxmlformats.org/officeDocument/2006/relationships/image" Target="../media/image69.png"/><Relationship Id="rId38" Type="http://schemas.openxmlformats.org/officeDocument/2006/relationships/image" Target="../media/image68.png"/><Relationship Id="rId37" Type="http://schemas.openxmlformats.org/officeDocument/2006/relationships/image" Target="../media/image67.png"/><Relationship Id="rId36" Type="http://schemas.openxmlformats.org/officeDocument/2006/relationships/image" Target="../media/image66.png"/><Relationship Id="rId35" Type="http://schemas.openxmlformats.org/officeDocument/2006/relationships/image" Target="../media/image65.png"/><Relationship Id="rId34" Type="http://schemas.openxmlformats.org/officeDocument/2006/relationships/image" Target="../media/image64.png"/><Relationship Id="rId33" Type="http://schemas.openxmlformats.org/officeDocument/2006/relationships/image" Target="../media/image63.png"/><Relationship Id="rId32" Type="http://schemas.openxmlformats.org/officeDocument/2006/relationships/image" Target="../media/image62.png"/><Relationship Id="rId31" Type="http://schemas.openxmlformats.org/officeDocument/2006/relationships/image" Target="../media/image61.png"/><Relationship Id="rId30" Type="http://schemas.openxmlformats.org/officeDocument/2006/relationships/image" Target="../media/image60.png"/><Relationship Id="rId3" Type="http://schemas.openxmlformats.org/officeDocument/2006/relationships/image" Target="../media/image35.png"/><Relationship Id="rId29" Type="http://schemas.openxmlformats.org/officeDocument/2006/relationships/image" Target="../media/image59.png"/><Relationship Id="rId28" Type="http://schemas.openxmlformats.org/officeDocument/2006/relationships/image" Target="../media/image58.png"/><Relationship Id="rId27" Type="http://schemas.openxmlformats.org/officeDocument/2006/relationships/image" Target="../media/image57.png"/><Relationship Id="rId26" Type="http://schemas.openxmlformats.org/officeDocument/2006/relationships/image" Target="../media/image56.png"/><Relationship Id="rId25" Type="http://schemas.openxmlformats.org/officeDocument/2006/relationships/image" Target="../media/image55.png"/><Relationship Id="rId24" Type="http://schemas.openxmlformats.org/officeDocument/2006/relationships/image" Target="../media/image54.png"/><Relationship Id="rId23" Type="http://schemas.openxmlformats.org/officeDocument/2006/relationships/image" Target="../media/image53.png"/><Relationship Id="rId22" Type="http://schemas.openxmlformats.org/officeDocument/2006/relationships/image" Target="../media/image52.png"/><Relationship Id="rId21" Type="http://schemas.openxmlformats.org/officeDocument/2006/relationships/image" Target="../media/image51.png"/><Relationship Id="rId20" Type="http://schemas.openxmlformats.org/officeDocument/2006/relationships/image" Target="../media/image50.png"/><Relationship Id="rId2" Type="http://schemas.openxmlformats.org/officeDocument/2006/relationships/image" Target="../media/image34.png"/><Relationship Id="rId19" Type="http://schemas.openxmlformats.org/officeDocument/2006/relationships/image" Target="../media/image49.png"/><Relationship Id="rId18" Type="http://schemas.openxmlformats.org/officeDocument/2006/relationships/image" Target="../media/image48.png"/><Relationship Id="rId17" Type="http://schemas.openxmlformats.org/officeDocument/2006/relationships/image" Target="../media/image47.png"/><Relationship Id="rId16" Type="http://schemas.openxmlformats.org/officeDocument/2006/relationships/image" Target="../media/image46.png"/><Relationship Id="rId15" Type="http://schemas.openxmlformats.org/officeDocument/2006/relationships/image" Target="../media/image45.png"/><Relationship Id="rId14" Type="http://schemas.openxmlformats.org/officeDocument/2006/relationships/image" Target="../media/image44.png"/><Relationship Id="rId13" Type="http://schemas.openxmlformats.org/officeDocument/2006/relationships/image" Target="../media/image43.png"/><Relationship Id="rId12" Type="http://schemas.openxmlformats.org/officeDocument/2006/relationships/image" Target="../media/image23.png"/><Relationship Id="rId11" Type="http://schemas.openxmlformats.org/officeDocument/2006/relationships/tags" Target="../tags/tag3.xml"/><Relationship Id="rId10" Type="http://schemas.openxmlformats.org/officeDocument/2006/relationships/image" Target="../media/image42.png"/><Relationship Id="rId1" Type="http://schemas.openxmlformats.org/officeDocument/2006/relationships/image" Target="../media/image33.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2.png"/><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85.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90.png"/><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6.png"/><Relationship Id="rId10" Type="http://schemas.openxmlformats.org/officeDocument/2006/relationships/notesSlide" Target="../notesSlides/notesSlide1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2.xml"/><Relationship Id="rId5" Type="http://schemas.openxmlformats.org/officeDocument/2006/relationships/image" Target="../media/image93.png"/><Relationship Id="rId4" Type="http://schemas.openxmlformats.org/officeDocument/2006/relationships/image" Target="../media/image92.png"/><Relationship Id="rId3" Type="http://schemas.openxmlformats.org/officeDocument/2006/relationships/image" Target="../media/image91.png"/><Relationship Id="rId2" Type="http://schemas.openxmlformats.org/officeDocument/2006/relationships/image" Target="../media/image6.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94.png"/><Relationship Id="rId2" Type="http://schemas.openxmlformats.org/officeDocument/2006/relationships/image" Target="../media/image6.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2.xml"/><Relationship Id="rId5" Type="http://schemas.openxmlformats.org/officeDocument/2006/relationships/image" Target="../media/image97.png"/><Relationship Id="rId4" Type="http://schemas.openxmlformats.org/officeDocument/2006/relationships/image" Target="../media/image96.png"/><Relationship Id="rId3" Type="http://schemas.openxmlformats.org/officeDocument/2006/relationships/image" Target="../media/image95.png"/><Relationship Id="rId2" Type="http://schemas.openxmlformats.org/officeDocument/2006/relationships/image" Target="../media/image6.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98.png"/><Relationship Id="rId2" Type="http://schemas.openxmlformats.org/officeDocument/2006/relationships/image" Target="../media/image6.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99.png"/><Relationship Id="rId2" Type="http://schemas.openxmlformats.org/officeDocument/2006/relationships/image" Target="../media/image6.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5.png"/><Relationship Id="rId7" Type="http://schemas.openxmlformats.org/officeDocument/2006/relationships/image" Target="../media/image104.png"/><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jpeg"/><Relationship Id="rId3" Type="http://schemas.openxmlformats.org/officeDocument/2006/relationships/image" Target="../media/image6.png"/><Relationship Id="rId2" Type="http://schemas.openxmlformats.org/officeDocument/2006/relationships/image" Target="../media/image2.png"/><Relationship Id="rId10" Type="http://schemas.openxmlformats.org/officeDocument/2006/relationships/notesSlide" Target="../notesSlides/notesSlide18.xml"/><Relationship Id="rId1" Type="http://schemas.openxmlformats.org/officeDocument/2006/relationships/image" Target="../media/image100.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2.xml"/><Relationship Id="rId3" Type="http://schemas.openxmlformats.org/officeDocument/2006/relationships/image" Target="../media/image106.png"/><Relationship Id="rId2" Type="http://schemas.openxmlformats.org/officeDocument/2006/relationships/image" Target="../media/image6.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2.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07.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2.xml"/><Relationship Id="rId6" Type="http://schemas.openxmlformats.org/officeDocument/2006/relationships/image" Target="../media/image108.png"/><Relationship Id="rId5" Type="http://schemas.openxmlformats.org/officeDocument/2006/relationships/image" Target="../media/image6.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 name="ppt封面3.png" descr="ppt封面3.png"/>
          <p:cNvPicPr>
            <a:picLocks noChangeAspect="1"/>
          </p:cNvPicPr>
          <p:nvPr/>
        </p:nvPicPr>
        <p:blipFill>
          <a:blip r:embed="rId1"/>
          <a:stretch>
            <a:fillRect/>
          </a:stretch>
        </p:blipFill>
        <p:spPr>
          <a:xfrm>
            <a:off x="0" y="0"/>
            <a:ext cx="12192000" cy="6858000"/>
          </a:xfrm>
          <a:prstGeom prst="rect">
            <a:avLst/>
          </a:prstGeom>
          <a:ln w="12700">
            <a:miter lim="400000"/>
            <a:headEnd/>
            <a:tailEnd/>
          </a:ln>
        </p:spPr>
      </p:pic>
      <p:sp>
        <p:nvSpPr>
          <p:cNvPr id="161" name="项目标题示例"/>
          <p:cNvSpPr txBox="1">
            <a:spLocks noGrp="1"/>
          </p:cNvSpPr>
          <p:nvPr>
            <p:ph type="ctrTitle"/>
          </p:nvPr>
        </p:nvSpPr>
        <p:spPr>
          <a:xfrm>
            <a:off x="705971" y="2207731"/>
            <a:ext cx="5605891" cy="1861349"/>
          </a:xfrm>
          <a:prstGeom prst="rect">
            <a:avLst/>
          </a:prstGeom>
        </p:spPr>
        <p:txBody>
          <a:bodyPr>
            <a:noAutofit/>
          </a:bodyPr>
          <a:lstStyle>
            <a:lvl1pPr defTabSz="2365375">
              <a:defRPr sz="11250" b="0" spc="-225">
                <a:solidFill>
                  <a:srgbClr val="1A4395"/>
                </a:solidFill>
                <a:latin typeface="FZLanTingHeiS-DB1-GB"/>
                <a:ea typeface="FZLanTingHeiS-DB1-GB"/>
                <a:cs typeface="FZLanTingHeiS-DB1-GB"/>
                <a:sym typeface="FZLanTingHeiS-DB1-GB"/>
              </a:defRPr>
            </a:lvl1pPr>
          </a:lstStyle>
          <a:p>
            <a:pPr>
              <a:lnSpc>
                <a:spcPct val="150000"/>
              </a:lnSpc>
            </a:pPr>
            <a:br>
              <a:rPr lang="en-US" altLang="zh-CN" sz="3600" dirty="0"/>
            </a:br>
            <a:r>
              <a:rPr lang="zh-CN" altLang="en-US" sz="3600" b="1" dirty="0">
                <a:ea typeface="方正兰亭准黑简体" panose="02000000000000000000" pitchFamily="2" charset="-122"/>
              </a:rPr>
              <a:t>制造</a:t>
            </a:r>
            <a:r>
              <a:rPr lang="zh-CN" altLang="en-US" sz="3600" b="1" dirty="0">
                <a:latin typeface="方正兰亭准黑简体" panose="02000000000000000000" pitchFamily="2" charset="-122"/>
                <a:ea typeface="方正兰亭准黑简体" panose="02000000000000000000" pitchFamily="2" charset="-122"/>
              </a:rPr>
              <a:t>业</a:t>
            </a:r>
            <a:br>
              <a:rPr lang="en-US" altLang="zh-CN" sz="3600" b="1" dirty="0">
                <a:latin typeface="方正兰亭准黑简体" panose="02000000000000000000" pitchFamily="2" charset="-122"/>
                <a:ea typeface="方正兰亭准黑简体" panose="02000000000000000000" pitchFamily="2" charset="-122"/>
              </a:rPr>
            </a:br>
            <a:r>
              <a:rPr lang="zh-CN" altLang="en-US" sz="3600" b="1" dirty="0">
                <a:latin typeface="方正兰亭准黑简体" panose="02000000000000000000" pitchFamily="2" charset="-122"/>
                <a:ea typeface="方正兰亭准黑简体" panose="02000000000000000000" pitchFamily="2" charset="-122"/>
              </a:rPr>
              <a:t>节能降碳照明解决方案</a:t>
            </a:r>
            <a:br>
              <a:rPr lang="en-US" altLang="zh-CN" sz="3600" dirty="0">
                <a:latin typeface="方正兰亭准黑简体" panose="02000000000000000000" pitchFamily="2" charset="-122"/>
                <a:ea typeface="方正兰亭准黑简体" panose="02000000000000000000" pitchFamily="2" charset="-122"/>
              </a:rPr>
            </a:br>
            <a:r>
              <a:rPr lang="zh-CN" altLang="en-US" sz="1600" dirty="0">
                <a:latin typeface="方正兰亭准黑简体" panose="02000000000000000000" pitchFamily="2" charset="-122"/>
                <a:ea typeface="方正兰亭准黑简体" panose="02000000000000000000" pitchFamily="2" charset="-122"/>
              </a:rPr>
              <a:t>张     辉</a:t>
            </a:r>
            <a:endParaRPr sz="3600" dirty="0">
              <a:latin typeface="方正兰亭准黑简体" panose="02000000000000000000" pitchFamily="2" charset="-122"/>
              <a:ea typeface="方正兰亭准黑简体" panose="02000000000000000000" pitchFamily="2" charset="-122"/>
            </a:endParaRPr>
          </a:p>
        </p:txBody>
      </p:sp>
      <p:sp>
        <p:nvSpPr>
          <p:cNvPr id="166" name="健康    /    科技    /   专业    /    时尚"/>
          <p:cNvSpPr txBox="1"/>
          <p:nvPr/>
        </p:nvSpPr>
        <p:spPr>
          <a:xfrm>
            <a:off x="1375115" y="300409"/>
            <a:ext cx="1946277" cy="194619"/>
          </a:xfrm>
          <a:prstGeom prst="rect">
            <a:avLst/>
          </a:prstGeom>
          <a:ln w="12700">
            <a:miter lim="400000"/>
          </a:ln>
        </p:spPr>
        <p:txBody>
          <a:bodyPr lIns="25400" tIns="25400" rIns="25400" bIns="25400" anchor="b">
            <a:normAutofit fontScale="92500"/>
          </a:bodyPr>
          <a:lstStyle>
            <a:lvl1pPr algn="l" defTabSz="1097280">
              <a:lnSpc>
                <a:spcPct val="80000"/>
              </a:lnSpc>
              <a:defRPr sz="2025" spc="-40">
                <a:solidFill>
                  <a:srgbClr val="1A4395"/>
                </a:solidFill>
                <a:latin typeface="FZLanTingHeiS-EL-GB"/>
                <a:ea typeface="FZLanTingHeiS-EL-GB"/>
                <a:cs typeface="FZLanTingHeiS-EL-GB"/>
                <a:sym typeface="FZLanTingHeiS-EL-GB"/>
              </a:defRPr>
            </a:lvl1pPr>
          </a:lstStyle>
          <a:p>
            <a:r>
              <a:rPr sz="1015" dirty="0" err="1">
                <a:latin typeface="方正兰亭准黑简体" panose="02000000000000000000" pitchFamily="2" charset="-122"/>
                <a:ea typeface="方正兰亭准黑简体" panose="02000000000000000000" pitchFamily="2" charset="-122"/>
              </a:rPr>
              <a:t>健康</a:t>
            </a:r>
            <a:r>
              <a:rPr sz="1015" dirty="0">
                <a:latin typeface="方正兰亭准黑简体" panose="02000000000000000000" pitchFamily="2" charset="-122"/>
                <a:ea typeface="方正兰亭准黑简体" panose="02000000000000000000" pitchFamily="2" charset="-122"/>
              </a:rPr>
              <a:t>    /    </a:t>
            </a:r>
            <a:r>
              <a:rPr sz="1015" dirty="0" err="1">
                <a:latin typeface="方正兰亭准黑简体" panose="02000000000000000000" pitchFamily="2" charset="-122"/>
                <a:ea typeface="方正兰亭准黑简体" panose="02000000000000000000" pitchFamily="2" charset="-122"/>
              </a:rPr>
              <a:t>科技</a:t>
            </a:r>
            <a:r>
              <a:rPr sz="1015" dirty="0">
                <a:latin typeface="方正兰亭准黑简体" panose="02000000000000000000" pitchFamily="2" charset="-122"/>
                <a:ea typeface="方正兰亭准黑简体" panose="02000000000000000000" pitchFamily="2" charset="-122"/>
              </a:rPr>
              <a:t>    /   </a:t>
            </a:r>
            <a:r>
              <a:rPr sz="1015" dirty="0" err="1">
                <a:latin typeface="方正兰亭准黑简体" panose="02000000000000000000" pitchFamily="2" charset="-122"/>
                <a:ea typeface="方正兰亭准黑简体" panose="02000000000000000000" pitchFamily="2" charset="-122"/>
              </a:rPr>
              <a:t>专业</a:t>
            </a:r>
            <a:r>
              <a:rPr sz="1015" dirty="0">
                <a:latin typeface="方正兰亭准黑简体" panose="02000000000000000000" pitchFamily="2" charset="-122"/>
                <a:ea typeface="方正兰亭准黑简体" panose="02000000000000000000" pitchFamily="2" charset="-122"/>
              </a:rPr>
              <a:t>    /    </a:t>
            </a:r>
            <a:r>
              <a:rPr sz="1015" dirty="0" err="1">
                <a:latin typeface="方正兰亭准黑简体" panose="02000000000000000000" pitchFamily="2" charset="-122"/>
                <a:ea typeface="方正兰亭准黑简体" panose="02000000000000000000" pitchFamily="2" charset="-122"/>
              </a:rPr>
              <a:t>时尚</a:t>
            </a:r>
            <a:endParaRPr sz="1015" dirty="0">
              <a:latin typeface="方正兰亭准黑简体" panose="02000000000000000000" pitchFamily="2" charset="-122"/>
              <a:ea typeface="方正兰亭准黑简体" panose="02000000000000000000" pitchFamily="2" charset="-122"/>
            </a:endParaRPr>
          </a:p>
        </p:txBody>
      </p:sp>
      <p:pic>
        <p:nvPicPr>
          <p:cNvPr id="167" name="图像" descr="图像"/>
          <p:cNvPicPr>
            <a:picLocks noChangeAspect="1"/>
          </p:cNvPicPr>
          <p:nvPr/>
        </p:nvPicPr>
        <p:blipFill>
          <a:blip r:embed="rId2"/>
          <a:stretch>
            <a:fillRect/>
          </a:stretch>
        </p:blipFill>
        <p:spPr>
          <a:xfrm>
            <a:off x="272228" y="310487"/>
            <a:ext cx="566584" cy="123664"/>
          </a:xfrm>
          <a:prstGeom prst="rect">
            <a:avLst/>
          </a:prstGeom>
          <a:ln w="12700">
            <a:miter lim="400000"/>
            <a:headEnd/>
            <a:tailEnd/>
          </a:ln>
        </p:spPr>
      </p:pic>
      <p:grpSp>
        <p:nvGrpSpPr>
          <p:cNvPr id="4" name="组合 3"/>
          <p:cNvGrpSpPr/>
          <p:nvPr/>
        </p:nvGrpSpPr>
        <p:grpSpPr>
          <a:xfrm>
            <a:off x="705971" y="4246803"/>
            <a:ext cx="2007779" cy="1101836"/>
            <a:chOff x="705971" y="5341544"/>
            <a:chExt cx="2007779" cy="1101836"/>
          </a:xfrm>
        </p:grpSpPr>
        <p:pic>
          <p:nvPicPr>
            <p:cNvPr id="2" name="图片 1"/>
            <p:cNvPicPr>
              <a:picLocks noChangeAspect="1"/>
            </p:cNvPicPr>
            <p:nvPr/>
          </p:nvPicPr>
          <p:blipFill>
            <a:blip r:embed="rId3"/>
            <a:stretch>
              <a:fillRect/>
            </a:stretch>
          </p:blipFill>
          <p:spPr>
            <a:xfrm>
              <a:off x="705971" y="5341544"/>
              <a:ext cx="1662425" cy="495252"/>
            </a:xfrm>
            <a:prstGeom prst="rect">
              <a:avLst/>
            </a:prstGeom>
          </p:spPr>
        </p:pic>
        <p:pic>
          <p:nvPicPr>
            <p:cNvPr id="3" name="图片 2"/>
            <p:cNvPicPr>
              <a:picLocks noChangeAspect="1"/>
            </p:cNvPicPr>
            <p:nvPr/>
          </p:nvPicPr>
          <p:blipFill>
            <a:blip r:embed="rId4"/>
            <a:stretch>
              <a:fillRect/>
            </a:stretch>
          </p:blipFill>
          <p:spPr>
            <a:xfrm>
              <a:off x="705971" y="5948128"/>
              <a:ext cx="2007779" cy="495252"/>
            </a:xfrm>
            <a:prstGeom prst="rect">
              <a:avLst/>
            </a:prstGeom>
          </p:spPr>
        </p:pic>
      </p:gr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建筑的摆设布局&#10;&#10;描述已自动生成"/>
          <p:cNvPicPr>
            <a:picLocks noChangeAspect="1"/>
          </p:cNvPicPr>
          <p:nvPr/>
        </p:nvPicPr>
        <p:blipFill rotWithShape="1">
          <a:blip r:embed="rId1" cstate="screen">
            <a:extLst>
              <a:ext uri="{28A0092B-C50C-407E-A947-70E740481C1C}">
                <a14:useLocalDpi xmlns:a14="http://schemas.microsoft.com/office/drawing/2010/main" val="0"/>
              </a:ext>
            </a:extLst>
          </a:blip>
          <a:srcRect/>
          <a:stretch>
            <a:fillRect/>
          </a:stretch>
        </p:blipFill>
        <p:spPr>
          <a:xfrm>
            <a:off x="0" y="0"/>
            <a:ext cx="12192000" cy="4129818"/>
          </a:xfrm>
          <a:prstGeom prst="rect">
            <a:avLst/>
          </a:prstGeom>
        </p:spPr>
      </p:pic>
      <p:pic>
        <p:nvPicPr>
          <p:cNvPr id="264" name="图像" descr="图像"/>
          <p:cNvPicPr>
            <a:picLocks noChangeAspect="1"/>
          </p:cNvPicPr>
          <p:nvPr/>
        </p:nvPicPr>
        <p:blipFill>
          <a:blip r:embed="rId2"/>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3"/>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sp>
        <p:nvSpPr>
          <p:cNvPr id="2" name="矩形 1"/>
          <p:cNvSpPr/>
          <p:nvPr/>
        </p:nvSpPr>
        <p:spPr>
          <a:xfrm>
            <a:off x="272228" y="4780989"/>
            <a:ext cx="5033104" cy="1446550"/>
          </a:xfrm>
          <a:prstGeom prst="rect">
            <a:avLst/>
          </a:prstGeom>
        </p:spPr>
        <p:txBody>
          <a:bodyPr wrap="square">
            <a:spAutoFit/>
          </a:bodyPr>
          <a:lstStyle/>
          <a:p>
            <a:r>
              <a:rPr lang="zh-CN" altLang="en-US" sz="1100" dirty="0">
                <a:solidFill>
                  <a:srgbClr val="595757"/>
                </a:solidFill>
                <a:latin typeface="方正兰亭准黑简体" panose="02000000000000000000" pitchFamily="2" charset="-122"/>
                <a:ea typeface="方正兰亭准黑简体" panose="02000000000000000000" pitchFamily="2" charset="-122"/>
              </a:rPr>
              <a:t>欧普照明始于 </a:t>
            </a:r>
            <a:r>
              <a:rPr lang="en-US" altLang="zh-CN" sz="1100" dirty="0">
                <a:solidFill>
                  <a:srgbClr val="595757"/>
                </a:solidFill>
                <a:latin typeface="方正兰亭准黑简体" panose="02000000000000000000" pitchFamily="2" charset="-122"/>
                <a:ea typeface="方正兰亭准黑简体" panose="02000000000000000000" pitchFamily="2" charset="-122"/>
              </a:rPr>
              <a:t>1996 </a:t>
            </a:r>
            <a:r>
              <a:rPr lang="zh-CN" altLang="en-US" sz="1100" dirty="0">
                <a:solidFill>
                  <a:srgbClr val="595757"/>
                </a:solidFill>
                <a:latin typeface="方正兰亭准黑简体" panose="02000000000000000000" pitchFamily="2" charset="-122"/>
                <a:ea typeface="方正兰亭准黑简体" panose="02000000000000000000" pitchFamily="2" charset="-122"/>
              </a:rPr>
              <a:t>年，是一家集研发、生产、销售、服务于一体的综合型照明企业。作为中国照明行业标杆的整 体照明解决方案提供者，欧普照明坚持“超越所见”的品牌理念，以“用光创造价值”为企业使命。 </a:t>
            </a:r>
            <a:endParaRPr lang="zh-CN" altLang="en-US" sz="1100" dirty="0">
              <a:latin typeface="方正兰亭准黑简体" panose="02000000000000000000" pitchFamily="2" charset="-122"/>
              <a:ea typeface="方正兰亭准黑简体" panose="02000000000000000000" pitchFamily="2" charset="-122"/>
            </a:endParaRPr>
          </a:p>
          <a:p>
            <a:r>
              <a:rPr lang="zh-CN" altLang="en-US" sz="1100" dirty="0">
                <a:solidFill>
                  <a:srgbClr val="595757"/>
                </a:solidFill>
                <a:latin typeface="方正兰亭准黑简体" panose="02000000000000000000" pitchFamily="2" charset="-122"/>
                <a:ea typeface="方正兰亭准黑简体" panose="02000000000000000000" pitchFamily="2" charset="-122"/>
              </a:rPr>
              <a:t>以“打造全球第一智能照明品牌”为愿景，欧普照明已在亚太、欧洲、中东、南非等七十多个国家和地区开展业务， 入围世界品牌实验室组织评选的“中国 </a:t>
            </a:r>
            <a:r>
              <a:rPr lang="en-US" altLang="zh-CN" sz="1100" dirty="0">
                <a:solidFill>
                  <a:srgbClr val="595757"/>
                </a:solidFill>
                <a:latin typeface="方正兰亭准黑简体" panose="02000000000000000000" pitchFamily="2" charset="-122"/>
                <a:ea typeface="方正兰亭准黑简体" panose="02000000000000000000" pitchFamily="2" charset="-122"/>
              </a:rPr>
              <a:t>500 </a:t>
            </a:r>
            <a:r>
              <a:rPr lang="zh-CN" altLang="en-US" sz="1100" dirty="0">
                <a:solidFill>
                  <a:srgbClr val="595757"/>
                </a:solidFill>
                <a:latin typeface="方正兰亭准黑简体" panose="02000000000000000000" pitchFamily="2" charset="-122"/>
                <a:ea typeface="方正兰亭准黑简体" panose="02000000000000000000" pitchFamily="2" charset="-122"/>
              </a:rPr>
              <a:t>最具价值品牌”榜单。</a:t>
            </a:r>
            <a:r>
              <a:rPr lang="en-US" altLang="zh-CN" sz="1100" dirty="0">
                <a:solidFill>
                  <a:srgbClr val="595757"/>
                </a:solidFill>
                <a:latin typeface="方正兰亭准黑简体" panose="02000000000000000000" pitchFamily="2" charset="-122"/>
                <a:ea typeface="方正兰亭准黑简体" panose="02000000000000000000" pitchFamily="2" charset="-122"/>
              </a:rPr>
              <a:t>2016 </a:t>
            </a:r>
            <a:r>
              <a:rPr lang="zh-CN" altLang="en-US" sz="1100" dirty="0">
                <a:solidFill>
                  <a:srgbClr val="595757"/>
                </a:solidFill>
                <a:latin typeface="方正兰亭准黑简体" panose="02000000000000000000" pitchFamily="2" charset="-122"/>
                <a:ea typeface="方正兰亭准黑简体" panose="02000000000000000000" pitchFamily="2" charset="-122"/>
              </a:rPr>
              <a:t>年 </a:t>
            </a:r>
            <a:r>
              <a:rPr lang="en-US" altLang="zh-CN" sz="1100" dirty="0">
                <a:solidFill>
                  <a:srgbClr val="595757"/>
                </a:solidFill>
                <a:latin typeface="方正兰亭准黑简体" panose="02000000000000000000" pitchFamily="2" charset="-122"/>
                <a:ea typeface="方正兰亭准黑简体" panose="02000000000000000000" pitchFamily="2" charset="-122"/>
              </a:rPr>
              <a:t>8 </a:t>
            </a:r>
            <a:r>
              <a:rPr lang="zh-CN" altLang="en-US" sz="1100" dirty="0">
                <a:solidFill>
                  <a:srgbClr val="595757"/>
                </a:solidFill>
                <a:latin typeface="方正兰亭准黑简体" panose="02000000000000000000" pitchFamily="2" charset="-122"/>
                <a:ea typeface="方正兰亭准黑简体" panose="02000000000000000000" pitchFamily="2" charset="-122"/>
              </a:rPr>
              <a:t>月 </a:t>
            </a:r>
            <a:r>
              <a:rPr lang="en-US" altLang="zh-CN" sz="1100" dirty="0">
                <a:solidFill>
                  <a:srgbClr val="595757"/>
                </a:solidFill>
                <a:latin typeface="方正兰亭准黑简体" panose="02000000000000000000" pitchFamily="2" charset="-122"/>
                <a:ea typeface="方正兰亭准黑简体" panose="02000000000000000000" pitchFamily="2" charset="-122"/>
              </a:rPr>
              <a:t>19 </a:t>
            </a:r>
            <a:r>
              <a:rPr lang="zh-CN" altLang="en-US" sz="1100" dirty="0">
                <a:solidFill>
                  <a:srgbClr val="595757"/>
                </a:solidFill>
                <a:latin typeface="方正兰亭准黑简体" panose="02000000000000000000" pitchFamily="2" charset="-122"/>
                <a:ea typeface="方正兰亭准黑简体" panose="02000000000000000000" pitchFamily="2" charset="-122"/>
              </a:rPr>
              <a:t>日，欧普照明成功登陆上海证 券交易所主板，正式挂牌上市。</a:t>
            </a:r>
            <a:endParaRPr lang="en-US" altLang="zh-CN" sz="1100" dirty="0">
              <a:solidFill>
                <a:srgbClr val="595757"/>
              </a:solidFill>
              <a:latin typeface="方正兰亭准黑简体" panose="02000000000000000000" pitchFamily="2" charset="-122"/>
              <a:ea typeface="方正兰亭准黑简体" panose="02000000000000000000" pitchFamily="2" charset="-122"/>
            </a:endParaRPr>
          </a:p>
          <a:p>
            <a:r>
              <a:rPr lang="zh-CN" altLang="en-US" sz="1100" dirty="0">
                <a:solidFill>
                  <a:srgbClr val="595757"/>
                </a:solidFill>
                <a:latin typeface="方正兰亭准黑简体" panose="02000000000000000000" pitchFamily="2" charset="-122"/>
                <a:ea typeface="方正兰亭准黑简体" panose="02000000000000000000" pitchFamily="2" charset="-122"/>
              </a:rPr>
              <a:t>股票简称“欧普照明”，股票代码 </a:t>
            </a:r>
            <a:r>
              <a:rPr lang="en-US" altLang="zh-CN" sz="1100" dirty="0">
                <a:solidFill>
                  <a:srgbClr val="595757"/>
                </a:solidFill>
                <a:latin typeface="方正兰亭准黑简体" panose="02000000000000000000" pitchFamily="2" charset="-122"/>
                <a:ea typeface="方正兰亭准黑简体" panose="02000000000000000000" pitchFamily="2" charset="-122"/>
              </a:rPr>
              <a:t>: 603515.SH</a:t>
            </a:r>
            <a:r>
              <a:rPr lang="zh-CN" altLang="en-US" sz="1100" dirty="0">
                <a:solidFill>
                  <a:srgbClr val="595757"/>
                </a:solidFill>
                <a:latin typeface="方正兰亭准黑简体" panose="02000000000000000000" pitchFamily="2" charset="-122"/>
                <a:ea typeface="方正兰亭准黑简体" panose="02000000000000000000" pitchFamily="2" charset="-122"/>
              </a:rPr>
              <a:t>。</a:t>
            </a:r>
            <a:endParaRPr lang="zh-CN" altLang="en-US" sz="1100" dirty="0">
              <a:latin typeface="方正兰亭准黑简体" panose="02000000000000000000" pitchFamily="2" charset="-122"/>
              <a:ea typeface="方正兰亭准黑简体" panose="02000000000000000000" pitchFamily="2" charset="-122"/>
            </a:endParaRPr>
          </a:p>
        </p:txBody>
      </p:sp>
      <p:sp>
        <p:nvSpPr>
          <p:cNvPr id="3" name="矩形 2"/>
          <p:cNvSpPr/>
          <p:nvPr/>
        </p:nvSpPr>
        <p:spPr>
          <a:xfrm>
            <a:off x="272228" y="4362600"/>
            <a:ext cx="2698175" cy="307777"/>
          </a:xfrm>
          <a:prstGeom prst="rect">
            <a:avLst/>
          </a:prstGeom>
        </p:spPr>
        <p:txBody>
          <a:bodyPr wrap="none">
            <a:spAutoFit/>
          </a:bodyPr>
          <a:lstStyle/>
          <a:p>
            <a:r>
              <a:rPr lang="zh-CN" altLang="en-US" sz="1400" b="1" dirty="0">
                <a:solidFill>
                  <a:srgbClr val="00459B"/>
                </a:solidFill>
                <a:latin typeface="方正兰亭准黑简体" panose="02000000000000000000" pitchFamily="2" charset="-122"/>
                <a:ea typeface="方正兰亭准黑简体" panose="02000000000000000000" pitchFamily="2" charset="-122"/>
              </a:rPr>
              <a:t>致力成为全球第一智能照明品牌</a:t>
            </a:r>
            <a:endParaRPr lang="zh-CN" altLang="en-US" sz="1400" b="1" dirty="0">
              <a:latin typeface="方正兰亭准黑简体" panose="02000000000000000000" pitchFamily="2" charset="-122"/>
              <a:ea typeface="方正兰亭准黑简体" panose="02000000000000000000" pitchFamily="2" charset="-122"/>
            </a:endParaRPr>
          </a:p>
        </p:txBody>
      </p:sp>
      <p:sp>
        <p:nvSpPr>
          <p:cNvPr id="4" name="矩形 3"/>
          <p:cNvSpPr/>
          <p:nvPr/>
        </p:nvSpPr>
        <p:spPr>
          <a:xfrm>
            <a:off x="6886669" y="4362599"/>
            <a:ext cx="3057247" cy="307777"/>
          </a:xfrm>
          <a:prstGeom prst="rect">
            <a:avLst/>
          </a:prstGeom>
        </p:spPr>
        <p:txBody>
          <a:bodyPr wrap="none">
            <a:spAutoFit/>
          </a:bodyPr>
          <a:lstStyle/>
          <a:p>
            <a:r>
              <a:rPr lang="zh-CN" altLang="en-US" sz="1400" b="1" dirty="0">
                <a:solidFill>
                  <a:srgbClr val="00459B"/>
                </a:solidFill>
                <a:latin typeface="方正兰亭准黑简体" panose="02000000000000000000" pitchFamily="2" charset="-122"/>
                <a:ea typeface="方正兰亭准黑简体" panose="02000000000000000000" pitchFamily="2" charset="-122"/>
              </a:rPr>
              <a:t>商用照明领域专家，重构行业光环境</a:t>
            </a:r>
            <a:endParaRPr lang="zh-CN" altLang="en-US" sz="1400" b="1" dirty="0">
              <a:solidFill>
                <a:srgbClr val="00459B"/>
              </a:solidFill>
              <a:latin typeface="方正兰亭准黑简体" panose="02000000000000000000" pitchFamily="2" charset="-122"/>
              <a:ea typeface="方正兰亭准黑简体" panose="02000000000000000000" pitchFamily="2" charset="-122"/>
            </a:endParaRPr>
          </a:p>
        </p:txBody>
      </p:sp>
      <p:sp>
        <p:nvSpPr>
          <p:cNvPr id="5" name="矩形 4"/>
          <p:cNvSpPr/>
          <p:nvPr/>
        </p:nvSpPr>
        <p:spPr>
          <a:xfrm>
            <a:off x="6886669" y="4780989"/>
            <a:ext cx="5136333" cy="1446550"/>
          </a:xfrm>
          <a:prstGeom prst="rect">
            <a:avLst/>
          </a:prstGeom>
        </p:spPr>
        <p:txBody>
          <a:bodyPr wrap="square">
            <a:spAutoFit/>
          </a:bodyPr>
          <a:lstStyle/>
          <a:p>
            <a:r>
              <a:rPr lang="zh-CN" altLang="en-US" sz="1100" dirty="0">
                <a:latin typeface="方正兰亭准黑简体" panose="02000000000000000000" pitchFamily="2" charset="-122"/>
                <a:ea typeface="方正兰亭准黑简体" panose="02000000000000000000" pitchFamily="2" charset="-122"/>
              </a:rPr>
              <a:t>作为中国照明行业标杆的整体照明解决方案提供者，欧普照明近年年均研发投入超 </a:t>
            </a:r>
            <a:r>
              <a:rPr lang="en-US" altLang="zh-CN" sz="1100" dirty="0">
                <a:latin typeface="方正兰亭准黑简体" panose="02000000000000000000" pitchFamily="2" charset="-122"/>
                <a:ea typeface="方正兰亭准黑简体" panose="02000000000000000000" pitchFamily="2" charset="-122"/>
              </a:rPr>
              <a:t>3 </a:t>
            </a:r>
            <a:r>
              <a:rPr lang="zh-CN" altLang="en-US" sz="1100" dirty="0">
                <a:latin typeface="方正兰亭准黑简体" panose="02000000000000000000" pitchFamily="2" charset="-122"/>
                <a:ea typeface="方正兰亭准黑简体" panose="02000000000000000000" pitchFamily="2" charset="-122"/>
              </a:rPr>
              <a:t>亿元，拥有中山园区、苏州吴 江园区、华南园区、</a:t>
            </a:r>
            <a:r>
              <a:rPr lang="en-US" altLang="zh-CN" sz="1100" dirty="0">
                <a:latin typeface="方正兰亭准黑简体" panose="02000000000000000000" pitchFamily="2" charset="-122"/>
                <a:ea typeface="方正兰亭准黑简体" panose="02000000000000000000" pitchFamily="2" charset="-122"/>
              </a:rPr>
              <a:t>ETO </a:t>
            </a:r>
            <a:r>
              <a:rPr lang="zh-CN" altLang="en-US" sz="1100" dirty="0">
                <a:latin typeface="方正兰亭准黑简体" panose="02000000000000000000" pitchFamily="2" charset="-122"/>
                <a:ea typeface="方正兰亭准黑简体" panose="02000000000000000000" pitchFamily="2" charset="-122"/>
              </a:rPr>
              <a:t>定制工厂，以及中山、苏州两大实验室。 </a:t>
            </a:r>
            <a:endParaRPr lang="zh-CN" altLang="en-US" sz="1100" dirty="0">
              <a:latin typeface="方正兰亭准黑简体" panose="02000000000000000000" pitchFamily="2" charset="-122"/>
              <a:ea typeface="方正兰亭准黑简体" panose="02000000000000000000" pitchFamily="2" charset="-122"/>
            </a:endParaRPr>
          </a:p>
          <a:p>
            <a:r>
              <a:rPr lang="zh-CN" altLang="en-US" sz="1100" dirty="0">
                <a:latin typeface="方正兰亭准黑简体" panose="02000000000000000000" pitchFamily="2" charset="-122"/>
                <a:ea typeface="方正兰亭准黑简体" panose="02000000000000000000" pitchFamily="2" charset="-122"/>
              </a:rPr>
              <a:t>依托深入的行业研究、专业的供应链和售后服务体系，欧普照明持续为办公、工业、轨交等 </a:t>
            </a:r>
            <a:r>
              <a:rPr lang="en-US" altLang="zh-CN" sz="1100" dirty="0">
                <a:latin typeface="方正兰亭准黑简体" panose="02000000000000000000" pitchFamily="2" charset="-122"/>
                <a:ea typeface="方正兰亭准黑简体" panose="02000000000000000000" pitchFamily="2" charset="-122"/>
              </a:rPr>
              <a:t>13 </a:t>
            </a:r>
            <a:r>
              <a:rPr lang="zh-CN" altLang="en-US" sz="1100" dirty="0">
                <a:latin typeface="方正兰亭准黑简体" panose="02000000000000000000" pitchFamily="2" charset="-122"/>
                <a:ea typeface="方正兰亭准黑简体" panose="02000000000000000000" pitchFamily="2" charset="-122"/>
              </a:rPr>
              <a:t>大行业提供绿色智慧、 快速完善的专业商用照明设计及服务，成为 </a:t>
            </a:r>
            <a:r>
              <a:rPr lang="en-US" altLang="zh-CN" sz="1100" dirty="0">
                <a:latin typeface="方正兰亭准黑简体" panose="02000000000000000000" pitchFamily="2" charset="-122"/>
                <a:ea typeface="方正兰亭准黑简体" panose="02000000000000000000" pitchFamily="2" charset="-122"/>
              </a:rPr>
              <a:t>2019 </a:t>
            </a:r>
            <a:r>
              <a:rPr lang="zh-CN" altLang="en-US" sz="1100" dirty="0">
                <a:latin typeface="方正兰亭准黑简体" panose="02000000000000000000" pitchFamily="2" charset="-122"/>
                <a:ea typeface="方正兰亭准黑简体" panose="02000000000000000000" pitchFamily="2" charset="-122"/>
              </a:rPr>
              <a:t>年北京世园会植物馆战略合作伙伴，</a:t>
            </a:r>
            <a:r>
              <a:rPr lang="en-US" altLang="zh-CN" sz="1100" dirty="0">
                <a:latin typeface="方正兰亭准黑简体" panose="02000000000000000000" pitchFamily="2" charset="-122"/>
                <a:ea typeface="方正兰亭准黑简体" panose="02000000000000000000" pitchFamily="2" charset="-122"/>
              </a:rPr>
              <a:t>2020 </a:t>
            </a:r>
            <a:r>
              <a:rPr lang="zh-CN" altLang="en-US" sz="1100" dirty="0">
                <a:latin typeface="方正兰亭准黑简体" panose="02000000000000000000" pitchFamily="2" charset="-122"/>
                <a:ea typeface="方正兰亭准黑简体" panose="02000000000000000000" pitchFamily="2" charset="-122"/>
              </a:rPr>
              <a:t>年迪拜世博会中国馆官方合作伙伴及指定照明解决方案提供商，并先后为物美集团、华住集团、瑞金医院、远洋海运大厦等头部企业提供整体照明解决方案。</a:t>
            </a:r>
            <a:endParaRPr lang="zh-CN" altLang="en-US" sz="1100" dirty="0">
              <a:latin typeface="方正兰亭准黑简体" panose="02000000000000000000" pitchFamily="2" charset="-122"/>
              <a:ea typeface="方正兰亭准黑简体" panose="02000000000000000000" pitchFamily="2" charset="-12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pic>
        <p:nvPicPr>
          <p:cNvPr id="2" name="图片 1"/>
          <p:cNvPicPr>
            <a:picLocks noChangeAspect="1"/>
          </p:cNvPicPr>
          <p:nvPr/>
        </p:nvPicPr>
        <p:blipFill>
          <a:blip r:embed="rId3"/>
          <a:stretch>
            <a:fillRect/>
          </a:stretch>
        </p:blipFill>
        <p:spPr>
          <a:xfrm>
            <a:off x="125600" y="580365"/>
            <a:ext cx="11940800" cy="4363770"/>
          </a:xfrm>
          <a:prstGeom prst="rect">
            <a:avLst/>
          </a:prstGeom>
        </p:spPr>
      </p:pic>
      <p:grpSp>
        <p:nvGrpSpPr>
          <p:cNvPr id="5" name="组合 4"/>
          <p:cNvGrpSpPr/>
          <p:nvPr/>
        </p:nvGrpSpPr>
        <p:grpSpPr>
          <a:xfrm>
            <a:off x="563463" y="5348757"/>
            <a:ext cx="11098513" cy="584775"/>
            <a:chOff x="682244" y="5453053"/>
            <a:chExt cx="11098513" cy="584775"/>
          </a:xfrm>
        </p:grpSpPr>
        <p:sp>
          <p:nvSpPr>
            <p:cNvPr id="4" name="矩形 3"/>
            <p:cNvSpPr/>
            <p:nvPr/>
          </p:nvSpPr>
          <p:spPr>
            <a:xfrm>
              <a:off x="2536772" y="5453053"/>
              <a:ext cx="3743112" cy="584775"/>
            </a:xfrm>
            <a:prstGeom prst="rect">
              <a:avLst/>
            </a:prstGeom>
          </p:spPr>
          <p:txBody>
            <a:bodyPr wrap="square">
              <a:spAutoFit/>
            </a:bodyPr>
            <a:lstStyle/>
            <a:p>
              <a:r>
                <a:rPr lang="en-US" altLang="zh-CN" sz="1600" b="1" dirty="0">
                  <a:solidFill>
                    <a:srgbClr val="00459B"/>
                  </a:solidFill>
                  <a:latin typeface="方正兰亭准黑简体" panose="02000000000000000000" pitchFamily="2" charset="-122"/>
                  <a:ea typeface="方正兰亭准黑简体" panose="02000000000000000000" pitchFamily="2" charset="-122"/>
                </a:rPr>
                <a:t>70</a:t>
              </a:r>
              <a:r>
                <a:rPr lang="en-US" altLang="zh-CN" sz="1200" dirty="0">
                  <a:solidFill>
                    <a:srgbClr val="595757"/>
                  </a:solidFill>
                  <a:latin typeface="方正兰亭准黑简体" panose="02000000000000000000" pitchFamily="2" charset="-122"/>
                  <a:ea typeface="方正兰亭准黑简体" panose="02000000000000000000" pitchFamily="2" charset="-122"/>
                </a:rPr>
                <a:t> </a:t>
              </a:r>
              <a:r>
                <a:rPr lang="zh-CN" altLang="en-US" sz="1100" dirty="0">
                  <a:solidFill>
                    <a:srgbClr val="595757"/>
                  </a:solidFill>
                  <a:latin typeface="方正兰亭准黑简体" panose="02000000000000000000" pitchFamily="2" charset="-122"/>
                  <a:ea typeface="方正兰亭准黑简体" panose="02000000000000000000" pitchFamily="2" charset="-122"/>
                </a:rPr>
                <a:t>多个国家拥有 </a:t>
              </a:r>
              <a:endParaRPr lang="zh-CN" altLang="en-US" sz="1100" dirty="0">
                <a:solidFill>
                  <a:srgbClr val="595757"/>
                </a:solidFill>
                <a:latin typeface="方正兰亭准黑简体" panose="02000000000000000000" pitchFamily="2" charset="-122"/>
                <a:ea typeface="方正兰亭准黑简体" panose="02000000000000000000" pitchFamily="2" charset="-122"/>
              </a:endParaRPr>
            </a:p>
            <a:p>
              <a:r>
                <a:rPr lang="en-US" altLang="zh-CN" sz="1600" b="1" dirty="0">
                  <a:solidFill>
                    <a:srgbClr val="00459B"/>
                  </a:solidFill>
                  <a:latin typeface="方正兰亭准黑简体" panose="02000000000000000000" pitchFamily="2" charset="-122"/>
                  <a:ea typeface="方正兰亭准黑简体" panose="02000000000000000000" pitchFamily="2" charset="-122"/>
                </a:rPr>
                <a:t>6,000</a:t>
              </a:r>
              <a:r>
                <a:rPr lang="en-US" altLang="zh-CN" sz="1200" dirty="0">
                  <a:solidFill>
                    <a:srgbClr val="595757"/>
                  </a:solidFill>
                  <a:latin typeface="方正兰亭准黑简体" panose="02000000000000000000" pitchFamily="2" charset="-122"/>
                  <a:ea typeface="方正兰亭准黑简体" panose="02000000000000000000" pitchFamily="2" charset="-122"/>
                </a:rPr>
                <a:t> </a:t>
              </a:r>
              <a:r>
                <a:rPr lang="zh-CN" altLang="en-US" sz="1100" dirty="0">
                  <a:solidFill>
                    <a:srgbClr val="595757"/>
                  </a:solidFill>
                  <a:latin typeface="方正兰亭准黑简体" panose="02000000000000000000" pitchFamily="2" charset="-122"/>
                  <a:ea typeface="方正兰亭准黑简体" panose="02000000000000000000" pitchFamily="2" charset="-122"/>
                </a:rPr>
                <a:t>家线下专卖店          </a:t>
              </a:r>
              <a:r>
                <a:rPr lang="en-US" altLang="zh-CN" sz="1600" b="1" dirty="0">
                  <a:solidFill>
                    <a:srgbClr val="00459B"/>
                  </a:solidFill>
                  <a:latin typeface="方正兰亭准黑简体" panose="02000000000000000000" pitchFamily="2" charset="-122"/>
                  <a:ea typeface="方正兰亭准黑简体" panose="02000000000000000000" pitchFamily="2" charset="-122"/>
                </a:rPr>
                <a:t>100,000+ </a:t>
              </a:r>
              <a:r>
                <a:rPr lang="zh-CN" altLang="en-US" sz="1100" dirty="0">
                  <a:solidFill>
                    <a:srgbClr val="595757"/>
                  </a:solidFill>
                  <a:latin typeface="方正兰亭准黑简体" panose="02000000000000000000" pitchFamily="2" charset="-122"/>
                  <a:ea typeface="方正兰亭准黑简体" panose="02000000000000000000" pitchFamily="2" charset="-122"/>
                </a:rPr>
                <a:t>销售终端 </a:t>
              </a:r>
              <a:endParaRPr lang="zh-CN" altLang="en-US" sz="1100" dirty="0">
                <a:solidFill>
                  <a:srgbClr val="595757"/>
                </a:solidFill>
                <a:latin typeface="方正兰亭准黑简体" panose="02000000000000000000" pitchFamily="2" charset="-122"/>
                <a:ea typeface="方正兰亭准黑简体" panose="02000000000000000000" pitchFamily="2" charset="-122"/>
              </a:endParaRPr>
            </a:p>
          </p:txBody>
        </p:sp>
        <p:sp>
          <p:nvSpPr>
            <p:cNvPr id="14" name="矩形 13"/>
            <p:cNvSpPr/>
            <p:nvPr/>
          </p:nvSpPr>
          <p:spPr>
            <a:xfrm>
              <a:off x="682244" y="5545385"/>
              <a:ext cx="1467068" cy="400110"/>
            </a:xfrm>
            <a:prstGeom prst="rect">
              <a:avLst/>
            </a:prstGeom>
          </p:spPr>
          <p:txBody>
            <a:bodyPr wrap="none">
              <a:spAutoFit/>
            </a:bodyPr>
            <a:lstStyle/>
            <a:p>
              <a:r>
                <a:rPr lang="zh-CN" altLang="en-US" sz="2000" b="1" dirty="0">
                  <a:solidFill>
                    <a:srgbClr val="00459B"/>
                  </a:solidFill>
                  <a:latin typeface="方正兰亭准黑简体" panose="02000000000000000000" pitchFamily="2" charset="-122"/>
                  <a:ea typeface="方正兰亭准黑简体" panose="02000000000000000000" pitchFamily="2" charset="-122"/>
                </a:rPr>
                <a:t>全球化布局</a:t>
              </a:r>
              <a:endParaRPr lang="zh-CN" altLang="en-US" sz="2000" b="1" dirty="0">
                <a:latin typeface="方正兰亭准黑简体" panose="02000000000000000000" pitchFamily="2" charset="-122"/>
                <a:ea typeface="方正兰亭准黑简体" panose="02000000000000000000" pitchFamily="2" charset="-122"/>
              </a:endParaRPr>
            </a:p>
          </p:txBody>
        </p:sp>
        <p:sp>
          <p:nvSpPr>
            <p:cNvPr id="15" name="矩形 14"/>
            <p:cNvSpPr/>
            <p:nvPr/>
          </p:nvSpPr>
          <p:spPr>
            <a:xfrm>
              <a:off x="6145881" y="5591553"/>
              <a:ext cx="5634876" cy="307777"/>
            </a:xfrm>
            <a:prstGeom prst="rect">
              <a:avLst/>
            </a:prstGeom>
          </p:spPr>
          <p:txBody>
            <a:bodyPr wrap="none">
              <a:spAutoFit/>
            </a:bodyPr>
            <a:lstStyle/>
            <a:p>
              <a:pPr algn="ctr"/>
              <a:r>
                <a:rPr lang="zh-CN" altLang="en-US" sz="1400" b="1" dirty="0">
                  <a:solidFill>
                    <a:srgbClr val="00459B"/>
                  </a:solidFill>
                  <a:latin typeface="方正兰亭准黑简体" panose="02000000000000000000" pitchFamily="2" charset="-122"/>
                  <a:ea typeface="方正兰亭准黑简体" panose="02000000000000000000" pitchFamily="2" charset="-122"/>
                </a:rPr>
                <a:t>上海全球总部、苏州吴江园区、中山园区、民众园区、</a:t>
              </a:r>
              <a:r>
                <a:rPr lang="en-US" altLang="zh-CN" sz="1400" b="1" dirty="0">
                  <a:solidFill>
                    <a:srgbClr val="00459B"/>
                  </a:solidFill>
                  <a:latin typeface="方正兰亭准黑简体" panose="02000000000000000000" pitchFamily="2" charset="-122"/>
                  <a:ea typeface="方正兰亭准黑简体" panose="02000000000000000000" pitchFamily="2" charset="-122"/>
                </a:rPr>
                <a:t>ETO</a:t>
              </a:r>
              <a:r>
                <a:rPr lang="zh-CN" altLang="en-US" sz="1400" b="1" dirty="0">
                  <a:solidFill>
                    <a:srgbClr val="00459B"/>
                  </a:solidFill>
                  <a:latin typeface="方正兰亭准黑简体" panose="02000000000000000000" pitchFamily="2" charset="-122"/>
                  <a:ea typeface="方正兰亭准黑简体" panose="02000000000000000000" pitchFamily="2" charset="-122"/>
                </a:rPr>
                <a:t>定制工厂</a:t>
              </a:r>
              <a:endParaRPr lang="zh-CN" altLang="en-US" sz="1400" b="1" dirty="0">
                <a:latin typeface="方正兰亭准黑简体" panose="02000000000000000000" pitchFamily="2" charset="-122"/>
                <a:ea typeface="方正兰亭准黑简体" panose="02000000000000000000" pitchFamily="2" charset="-122"/>
              </a:endParaRPr>
            </a:p>
          </p:txBody>
        </p:sp>
      </p:grpSp>
      <p:sp>
        <p:nvSpPr>
          <p:cNvPr id="11" name="矩形 10"/>
          <p:cNvSpPr/>
          <p:nvPr/>
        </p:nvSpPr>
        <p:spPr>
          <a:xfrm>
            <a:off x="6943725" y="1266825"/>
            <a:ext cx="2838450" cy="781050"/>
          </a:xfrm>
          <a:prstGeom prst="rect">
            <a:avLst/>
          </a:prstGeom>
          <a:noFill/>
          <a:ln w="190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grpSp>
        <p:nvGrpSpPr>
          <p:cNvPr id="8" name="组合 7"/>
          <p:cNvGrpSpPr/>
          <p:nvPr/>
        </p:nvGrpSpPr>
        <p:grpSpPr>
          <a:xfrm>
            <a:off x="392068" y="581948"/>
            <a:ext cx="11407863" cy="5420839"/>
            <a:chOff x="272228" y="581948"/>
            <a:chExt cx="11407863" cy="5420839"/>
          </a:xfrm>
        </p:grpSpPr>
        <p:pic>
          <p:nvPicPr>
            <p:cNvPr id="6" name="图片 5"/>
            <p:cNvPicPr>
              <a:picLocks noChangeAspect="1"/>
            </p:cNvPicPr>
            <p:nvPr/>
          </p:nvPicPr>
          <p:blipFill rotWithShape="1">
            <a:blip r:embed="rId3"/>
            <a:srcRect b="61852"/>
            <a:stretch>
              <a:fillRect/>
            </a:stretch>
          </p:blipFill>
          <p:spPr>
            <a:xfrm>
              <a:off x="6273800" y="581948"/>
              <a:ext cx="4826000" cy="1446877"/>
            </a:xfrm>
            <a:prstGeom prst="rect">
              <a:avLst/>
            </a:prstGeom>
          </p:spPr>
        </p:pic>
        <p:pic>
          <p:nvPicPr>
            <p:cNvPr id="3" name="图片 2"/>
            <p:cNvPicPr>
              <a:picLocks noChangeAspect="1"/>
            </p:cNvPicPr>
            <p:nvPr/>
          </p:nvPicPr>
          <p:blipFill rotWithShape="1">
            <a:blip r:embed="rId4"/>
            <a:srcRect t="64995"/>
            <a:stretch>
              <a:fillRect/>
            </a:stretch>
          </p:blipFill>
          <p:spPr>
            <a:xfrm>
              <a:off x="5918201" y="4043013"/>
              <a:ext cx="5761890" cy="1959774"/>
            </a:xfrm>
            <a:prstGeom prst="rect">
              <a:avLst/>
            </a:prstGeom>
          </p:spPr>
        </p:pic>
        <p:pic>
          <p:nvPicPr>
            <p:cNvPr id="7" name="图片 6"/>
            <p:cNvPicPr>
              <a:picLocks noChangeAspect="1"/>
            </p:cNvPicPr>
            <p:nvPr/>
          </p:nvPicPr>
          <p:blipFill>
            <a:blip r:embed="rId5"/>
            <a:stretch>
              <a:fillRect/>
            </a:stretch>
          </p:blipFill>
          <p:spPr>
            <a:xfrm>
              <a:off x="272228" y="581948"/>
              <a:ext cx="5542051" cy="5420839"/>
            </a:xfrm>
            <a:prstGeom prst="rect">
              <a:avLst/>
            </a:prstGeom>
          </p:spPr>
        </p:pic>
        <p:pic>
          <p:nvPicPr>
            <p:cNvPr id="17" name="图片 16"/>
            <p:cNvPicPr>
              <a:picLocks noChangeAspect="1"/>
            </p:cNvPicPr>
            <p:nvPr/>
          </p:nvPicPr>
          <p:blipFill rotWithShape="1">
            <a:blip r:embed="rId3"/>
            <a:srcRect l="34111" t="42653" r="19311"/>
            <a:stretch>
              <a:fillRect/>
            </a:stretch>
          </p:blipFill>
          <p:spPr>
            <a:xfrm>
              <a:off x="7715250" y="2124075"/>
              <a:ext cx="2025404" cy="1959774"/>
            </a:xfrm>
            <a:prstGeom prst="rect">
              <a:avLst/>
            </a:prstGeom>
          </p:spPr>
        </p:pic>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pic>
        <p:nvPicPr>
          <p:cNvPr id="3" name="图片 2"/>
          <p:cNvPicPr>
            <a:picLocks noChangeAspect="1"/>
          </p:cNvPicPr>
          <p:nvPr/>
        </p:nvPicPr>
        <p:blipFill rotWithShape="1">
          <a:blip r:embed="rId3"/>
          <a:srcRect t="3417" b="1715"/>
          <a:stretch>
            <a:fillRect/>
          </a:stretch>
        </p:blipFill>
        <p:spPr>
          <a:xfrm>
            <a:off x="0" y="209550"/>
            <a:ext cx="12192000" cy="5819773"/>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矩形"/>
          <p:cNvSpPr/>
          <p:nvPr/>
        </p:nvSpPr>
        <p:spPr>
          <a:xfrm>
            <a:off x="-31626" y="-4441"/>
            <a:ext cx="12255252" cy="6917681"/>
          </a:xfrm>
          <a:prstGeom prst="rect">
            <a:avLst/>
          </a:prstGeom>
          <a:solidFill>
            <a:srgbClr val="58B7DD"/>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pic>
        <p:nvPicPr>
          <p:cNvPr id="408" name="图像" descr="图像"/>
          <p:cNvPicPr>
            <a:picLocks noChangeAspect="1"/>
          </p:cNvPicPr>
          <p:nvPr/>
        </p:nvPicPr>
        <p:blipFill>
          <a:blip r:embed="rId1"/>
          <a:stretch>
            <a:fillRect/>
          </a:stretch>
        </p:blipFill>
        <p:spPr>
          <a:xfrm>
            <a:off x="272228" y="310487"/>
            <a:ext cx="566585" cy="123664"/>
          </a:xfrm>
          <a:prstGeom prst="rect">
            <a:avLst/>
          </a:prstGeom>
          <a:ln w="12700">
            <a:miter lim="400000"/>
            <a:headEnd/>
            <a:tailEnd/>
          </a:ln>
        </p:spPr>
      </p:pic>
      <p:sp>
        <p:nvSpPr>
          <p:cNvPr id="410" name="主标题示例"/>
          <p:cNvSpPr txBox="1"/>
          <p:nvPr/>
        </p:nvSpPr>
        <p:spPr>
          <a:xfrm>
            <a:off x="6141135" y="5204869"/>
            <a:ext cx="3744615" cy="359073"/>
          </a:xfrm>
          <a:prstGeom prst="rect">
            <a:avLst/>
          </a:prstGeom>
          <a:ln w="12700">
            <a:miter lim="400000"/>
          </a:ln>
        </p:spPr>
        <p:txBody>
          <a:bodyPr wrap="none" lIns="25400" tIns="25400" rIns="25400" bIns="25400" anchor="ctr">
            <a:spAutoFit/>
          </a:bodyPr>
          <a:lstStyle>
            <a:lvl1pPr algn="l">
              <a:lnSpc>
                <a:spcPct val="80000"/>
              </a:lnSpc>
              <a:defRPr sz="5000" spc="-100">
                <a:solidFill>
                  <a:srgbClr val="FFFFFF"/>
                </a:solidFill>
                <a:latin typeface="FZLanTingHeiS-DB1-GB"/>
                <a:ea typeface="FZLanTingHeiS-DB1-GB"/>
                <a:cs typeface="FZLanTingHeiS-DB1-GB"/>
                <a:sym typeface="FZLanTingHeiS-DB1-GB"/>
              </a:defRPr>
            </a:lvl1pPr>
          </a:lstStyle>
          <a:p>
            <a:r>
              <a:rPr lang="zh-CN" altLang="en-US" sz="2500" dirty="0">
                <a:latin typeface="方正兰亭准黑简体" panose="02000000000000000000" pitchFamily="2" charset="-122"/>
                <a:ea typeface="方正兰亭准黑简体" panose="02000000000000000000" pitchFamily="2" charset="-122"/>
              </a:rPr>
              <a:t>工业行业节能降碳郑策动态</a:t>
            </a:r>
            <a:endParaRPr sz="2500" dirty="0">
              <a:latin typeface="方正兰亭准黑简体" panose="02000000000000000000" pitchFamily="2" charset="-122"/>
              <a:ea typeface="方正兰亭准黑简体" panose="02000000000000000000" pitchFamily="2" charset="-122"/>
            </a:endParaRPr>
          </a:p>
        </p:txBody>
      </p:sp>
      <p:pic>
        <p:nvPicPr>
          <p:cNvPr id="413" name="图像" descr="图像"/>
          <p:cNvPicPr>
            <a:picLocks noChangeAspect="1"/>
          </p:cNvPicPr>
          <p:nvPr/>
        </p:nvPicPr>
        <p:blipFill>
          <a:blip r:embed="rId2"/>
          <a:stretch>
            <a:fillRect/>
          </a:stretch>
        </p:blipFill>
        <p:spPr>
          <a:xfrm>
            <a:off x="272228" y="6280165"/>
            <a:ext cx="1763117" cy="205789"/>
          </a:xfrm>
          <a:prstGeom prst="rect">
            <a:avLst/>
          </a:prstGeom>
          <a:ln w="12700">
            <a:miter lim="400000"/>
            <a:headEnd/>
            <a:tailEnd/>
          </a:ln>
        </p:spPr>
      </p:pic>
      <p:sp>
        <p:nvSpPr>
          <p:cNvPr id="2" name="0"/>
          <p:cNvSpPr txBox="1"/>
          <p:nvPr/>
        </p:nvSpPr>
        <p:spPr>
          <a:xfrm>
            <a:off x="1224980" y="855626"/>
            <a:ext cx="1982431" cy="3744615"/>
          </a:xfrm>
          <a:prstGeom prst="rect">
            <a:avLst/>
          </a:prstGeom>
          <a:ln w="12700">
            <a:miter lim="400000"/>
          </a:ln>
        </p:spPr>
        <p:txBody>
          <a:bodyPr wrap="square" lIns="25400" tIns="25400" rIns="25400" bIns="25400" anchor="ctr">
            <a:spAutoFit/>
          </a:bodyPr>
          <a:lstStyle>
            <a:lvl1pPr algn="l">
              <a:lnSpc>
                <a:spcPct val="80000"/>
              </a:lnSpc>
              <a:defRPr sz="70000" spc="-1400">
                <a:solidFill>
                  <a:srgbClr val="FFFFFF"/>
                </a:solidFill>
                <a:latin typeface="Alibaba PuHuiTi 3 95 ExtraBold"/>
                <a:ea typeface="Alibaba PuHuiTi 3 95 ExtraBold"/>
                <a:cs typeface="Alibaba PuHuiTi 3 95 ExtraBold"/>
                <a:sym typeface="Alibaba PuHuiTi 3 95 ExtraBold"/>
              </a:defRPr>
            </a:lvl1pPr>
          </a:lstStyle>
          <a:p>
            <a:r>
              <a:rPr lang="en-US" altLang="zh-CN" sz="30000" b="1" dirty="0">
                <a:latin typeface="FZLanTingHeiS-DB1-GB" panose="02000000000000000000" pitchFamily="2" charset="-122"/>
                <a:ea typeface="FZLanTingHeiS-DB1-GB" panose="02000000000000000000" pitchFamily="2" charset="-122"/>
              </a:rPr>
              <a:t>0</a:t>
            </a:r>
            <a:endParaRPr lang="en-US" altLang="zh-CN" sz="30000" b="1" dirty="0">
              <a:latin typeface="FZLanTingHeiS-DB1-GB" panose="02000000000000000000" pitchFamily="2" charset="-122"/>
              <a:ea typeface="FZLanTingHeiS-DB1-GB" panose="02000000000000000000" pitchFamily="2" charset="-122"/>
            </a:endParaRPr>
          </a:p>
        </p:txBody>
      </p:sp>
      <p:sp>
        <p:nvSpPr>
          <p:cNvPr id="3" name="1"/>
          <p:cNvSpPr txBox="1"/>
          <p:nvPr/>
        </p:nvSpPr>
        <p:spPr>
          <a:xfrm>
            <a:off x="3505230" y="2973827"/>
            <a:ext cx="1821011" cy="3744615"/>
          </a:xfrm>
          <a:prstGeom prst="rect">
            <a:avLst/>
          </a:prstGeom>
          <a:ln w="12700">
            <a:miter lim="400000"/>
          </a:ln>
        </p:spPr>
        <p:txBody>
          <a:bodyPr wrap="none" lIns="25400" tIns="25400" rIns="25400" bIns="25400" anchor="ctr">
            <a:spAutoFit/>
          </a:bodyPr>
          <a:lstStyle>
            <a:lvl1pPr algn="l">
              <a:lnSpc>
                <a:spcPct val="80000"/>
              </a:lnSpc>
              <a:defRPr sz="70000" spc="-1400">
                <a:solidFill>
                  <a:srgbClr val="FFFFFF"/>
                </a:solidFill>
                <a:latin typeface="Alibaba PuHuiTi 3 95 ExtraBold"/>
                <a:ea typeface="Alibaba PuHuiTi 3 95 ExtraBold"/>
                <a:cs typeface="Alibaba PuHuiTi 3 95 ExtraBold"/>
                <a:sym typeface="Alibaba PuHuiTi 3 95 ExtraBold"/>
              </a:defRPr>
            </a:lvl1pPr>
          </a:lstStyle>
          <a:p>
            <a:r>
              <a:rPr lang="en-US" altLang="zh-CN" sz="30000" dirty="0">
                <a:latin typeface="FZLanTingHeiS-DB1-GB" panose="02000000000000000000" pitchFamily="2" charset="-122"/>
                <a:ea typeface="FZLanTingHeiS-DB1-GB" panose="02000000000000000000" pitchFamily="2" charset="-122"/>
              </a:rPr>
              <a:t>1</a:t>
            </a:r>
            <a:endParaRPr sz="30000" dirty="0">
              <a:latin typeface="FZLanTingHeiS-DB1-GB" panose="02000000000000000000" pitchFamily="2" charset="-122"/>
              <a:ea typeface="FZLanTingHeiS-DB1-GB" panose="02000000000000000000" pitchFamily="2" charset="-122"/>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734480" y="693832"/>
            <a:ext cx="10405646" cy="391807"/>
          </a:xfrm>
          <a:prstGeom prst="rect">
            <a:avLst/>
          </a:prstGeom>
          <a:solidFill>
            <a:srgbClr val="44C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方正兰亭准黑简体" panose="02000000000000000000" pitchFamily="2" charset="-122"/>
                <a:ea typeface="方正兰亭准黑简体" panose="02000000000000000000" pitchFamily="2" charset="-122"/>
              </a:rPr>
              <a:t>工信部牵头七部委推进制造业绿色发展，鼓励企业改造升级、智能管理</a:t>
            </a:r>
            <a:endParaRPr lang="zh-CN" altLang="en-US" b="1" dirty="0">
              <a:solidFill>
                <a:schemeClr val="bg1"/>
              </a:solidFill>
              <a:latin typeface="方正兰亭准黑简体" panose="02000000000000000000" pitchFamily="2" charset="-122"/>
              <a:ea typeface="方正兰亭准黑简体" panose="02000000000000000000" pitchFamily="2" charset="-122"/>
            </a:endParaRPr>
          </a:p>
        </p:txBody>
      </p:sp>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grpSp>
        <p:nvGrpSpPr>
          <p:cNvPr id="7" name="组合 6"/>
          <p:cNvGrpSpPr/>
          <p:nvPr/>
        </p:nvGrpSpPr>
        <p:grpSpPr>
          <a:xfrm>
            <a:off x="734480" y="1319443"/>
            <a:ext cx="6104305" cy="4563126"/>
            <a:chOff x="701848" y="1718893"/>
            <a:chExt cx="4237797" cy="3167863"/>
          </a:xfrm>
        </p:grpSpPr>
        <p:pic>
          <p:nvPicPr>
            <p:cNvPr id="8" name="图片 7"/>
            <p:cNvPicPr>
              <a:picLocks noChangeAspect="1"/>
            </p:cNvPicPr>
            <p:nvPr/>
          </p:nvPicPr>
          <p:blipFill>
            <a:blip r:embed="rId3"/>
            <a:stretch>
              <a:fillRect/>
            </a:stretch>
          </p:blipFill>
          <p:spPr>
            <a:xfrm>
              <a:off x="701848" y="1718893"/>
              <a:ext cx="4237797" cy="730224"/>
            </a:xfrm>
            <a:prstGeom prst="rect">
              <a:avLst/>
            </a:prstGeom>
          </p:spPr>
        </p:pic>
        <p:pic>
          <p:nvPicPr>
            <p:cNvPr id="9" name="图片 8"/>
            <p:cNvPicPr>
              <a:picLocks noChangeAspect="1"/>
            </p:cNvPicPr>
            <p:nvPr/>
          </p:nvPicPr>
          <p:blipFill>
            <a:blip r:embed="rId4"/>
            <a:stretch>
              <a:fillRect/>
            </a:stretch>
          </p:blipFill>
          <p:spPr>
            <a:xfrm>
              <a:off x="701848" y="2472425"/>
              <a:ext cx="4237797" cy="2414331"/>
            </a:xfrm>
            <a:prstGeom prst="rect">
              <a:avLst/>
            </a:prstGeom>
          </p:spPr>
        </p:pic>
      </p:grpSp>
      <p:grpSp>
        <p:nvGrpSpPr>
          <p:cNvPr id="10" name="组合 9"/>
          <p:cNvGrpSpPr/>
          <p:nvPr/>
        </p:nvGrpSpPr>
        <p:grpSpPr>
          <a:xfrm>
            <a:off x="7824755" y="1323382"/>
            <a:ext cx="3315371" cy="4828075"/>
            <a:chOff x="6450798" y="1641442"/>
            <a:chExt cx="2618811" cy="3813696"/>
          </a:xfrm>
        </p:grpSpPr>
        <p:pic>
          <p:nvPicPr>
            <p:cNvPr id="11" name="图片 10"/>
            <p:cNvPicPr>
              <a:picLocks noChangeAspect="1"/>
            </p:cNvPicPr>
            <p:nvPr/>
          </p:nvPicPr>
          <p:blipFill>
            <a:blip r:embed="rId5"/>
            <a:stretch>
              <a:fillRect/>
            </a:stretch>
          </p:blipFill>
          <p:spPr>
            <a:xfrm>
              <a:off x="6450798" y="3733279"/>
              <a:ext cx="2618811" cy="1721859"/>
            </a:xfrm>
            <a:prstGeom prst="rect">
              <a:avLst/>
            </a:prstGeom>
          </p:spPr>
        </p:pic>
        <p:pic>
          <p:nvPicPr>
            <p:cNvPr id="12" name="图片 11"/>
            <p:cNvPicPr>
              <a:picLocks noChangeAspect="1"/>
            </p:cNvPicPr>
            <p:nvPr/>
          </p:nvPicPr>
          <p:blipFill>
            <a:blip r:embed="rId6"/>
            <a:stretch>
              <a:fillRect/>
            </a:stretch>
          </p:blipFill>
          <p:spPr>
            <a:xfrm>
              <a:off x="6450798" y="1641442"/>
              <a:ext cx="2618811" cy="2098661"/>
            </a:xfrm>
            <a:prstGeom prst="rect">
              <a:avLst/>
            </a:prstGeom>
          </p:spPr>
        </p:pic>
      </p:grpSp>
      <p:sp>
        <p:nvSpPr>
          <p:cNvPr id="13" name="矩形 12"/>
          <p:cNvSpPr/>
          <p:nvPr/>
        </p:nvSpPr>
        <p:spPr>
          <a:xfrm>
            <a:off x="7682993" y="2932453"/>
            <a:ext cx="3315371" cy="633332"/>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573417" y="5145214"/>
            <a:ext cx="2293896" cy="647893"/>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734480" y="693832"/>
            <a:ext cx="10405646" cy="391807"/>
          </a:xfrm>
          <a:prstGeom prst="rect">
            <a:avLst/>
          </a:prstGeom>
          <a:solidFill>
            <a:srgbClr val="44C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方正兰亭准黑简体" panose="02000000000000000000" pitchFamily="2" charset="-122"/>
                <a:ea typeface="方正兰亭准黑简体" panose="02000000000000000000" pitchFamily="2" charset="-122"/>
              </a:rPr>
              <a:t>发改委牵头九部委推进节能降碳，照明被列入重点产品更新改造范围</a:t>
            </a:r>
            <a:endParaRPr lang="zh-CN" altLang="en-US" b="1" dirty="0">
              <a:solidFill>
                <a:schemeClr val="bg1"/>
              </a:solidFill>
              <a:latin typeface="方正兰亭准黑简体" panose="02000000000000000000" pitchFamily="2" charset="-122"/>
              <a:ea typeface="方正兰亭准黑简体" panose="02000000000000000000" pitchFamily="2" charset="-122"/>
            </a:endParaRPr>
          </a:p>
        </p:txBody>
      </p:sp>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grpSp>
        <p:nvGrpSpPr>
          <p:cNvPr id="16" name="组合 15"/>
          <p:cNvGrpSpPr/>
          <p:nvPr/>
        </p:nvGrpSpPr>
        <p:grpSpPr>
          <a:xfrm>
            <a:off x="272228" y="1390548"/>
            <a:ext cx="6301214" cy="4076903"/>
            <a:chOff x="951893" y="2121355"/>
            <a:chExt cx="5462973" cy="3534559"/>
          </a:xfrm>
        </p:grpSpPr>
        <p:pic>
          <p:nvPicPr>
            <p:cNvPr id="17" name="图片 16"/>
            <p:cNvPicPr>
              <a:picLocks noChangeAspect="1"/>
            </p:cNvPicPr>
            <p:nvPr/>
          </p:nvPicPr>
          <p:blipFill>
            <a:blip r:embed="rId3"/>
            <a:stretch>
              <a:fillRect/>
            </a:stretch>
          </p:blipFill>
          <p:spPr>
            <a:xfrm>
              <a:off x="951894" y="2837608"/>
              <a:ext cx="5462972" cy="2818306"/>
            </a:xfrm>
            <a:prstGeom prst="rect">
              <a:avLst/>
            </a:prstGeom>
          </p:spPr>
        </p:pic>
        <p:pic>
          <p:nvPicPr>
            <p:cNvPr id="18" name="图片 17"/>
            <p:cNvPicPr>
              <a:picLocks noChangeAspect="1"/>
            </p:cNvPicPr>
            <p:nvPr/>
          </p:nvPicPr>
          <p:blipFill>
            <a:blip r:embed="rId4"/>
            <a:stretch>
              <a:fillRect/>
            </a:stretch>
          </p:blipFill>
          <p:spPr>
            <a:xfrm>
              <a:off x="951893" y="2121355"/>
              <a:ext cx="4131113" cy="716252"/>
            </a:xfrm>
            <a:prstGeom prst="rect">
              <a:avLst/>
            </a:prstGeom>
          </p:spPr>
        </p:pic>
      </p:grpSp>
      <p:grpSp>
        <p:nvGrpSpPr>
          <p:cNvPr id="19" name="组合 18"/>
          <p:cNvGrpSpPr/>
          <p:nvPr/>
        </p:nvGrpSpPr>
        <p:grpSpPr>
          <a:xfrm>
            <a:off x="6337299" y="1714541"/>
            <a:ext cx="5735195" cy="2404286"/>
            <a:chOff x="6096000" y="2359603"/>
            <a:chExt cx="5735195" cy="2404286"/>
          </a:xfrm>
        </p:grpSpPr>
        <p:pic>
          <p:nvPicPr>
            <p:cNvPr id="20" name="图片 19"/>
            <p:cNvPicPr>
              <a:picLocks noChangeAspect="1"/>
            </p:cNvPicPr>
            <p:nvPr/>
          </p:nvPicPr>
          <p:blipFill>
            <a:blip r:embed="rId5"/>
            <a:stretch>
              <a:fillRect/>
            </a:stretch>
          </p:blipFill>
          <p:spPr>
            <a:xfrm>
              <a:off x="6096000" y="2359603"/>
              <a:ext cx="5735195" cy="1128235"/>
            </a:xfrm>
            <a:prstGeom prst="rect">
              <a:avLst/>
            </a:prstGeom>
          </p:spPr>
        </p:pic>
        <p:pic>
          <p:nvPicPr>
            <p:cNvPr id="21" name="图片 20"/>
            <p:cNvPicPr>
              <a:picLocks noChangeAspect="1"/>
            </p:cNvPicPr>
            <p:nvPr/>
          </p:nvPicPr>
          <p:blipFill>
            <a:blip r:embed="rId6"/>
            <a:stretch>
              <a:fillRect/>
            </a:stretch>
          </p:blipFill>
          <p:spPr>
            <a:xfrm>
              <a:off x="6096000" y="3501693"/>
              <a:ext cx="3016957" cy="1262196"/>
            </a:xfrm>
            <a:prstGeom prst="rect">
              <a:avLst/>
            </a:prstGeom>
          </p:spPr>
        </p:pic>
      </p:grpSp>
      <p:sp>
        <p:nvSpPr>
          <p:cNvPr id="22" name="矩形 21"/>
          <p:cNvSpPr/>
          <p:nvPr/>
        </p:nvSpPr>
        <p:spPr>
          <a:xfrm>
            <a:off x="6785130" y="3598247"/>
            <a:ext cx="2357438" cy="197424"/>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655405" y="4439279"/>
            <a:ext cx="5085839" cy="1352165"/>
          </a:xfrm>
          <a:prstGeom prst="rect">
            <a:avLst/>
          </a:prstGeom>
          <a:solidFill>
            <a:schemeClr val="bg1">
              <a:lumMod val="85000"/>
            </a:schemeClr>
          </a:solidFill>
        </p:spPr>
        <p:txBody>
          <a:bodyPr wrap="square" rtlCol="0">
            <a:spAutoFit/>
          </a:bodyPr>
          <a:lstStyle/>
          <a:p>
            <a:pPr marL="285750" indent="-285750">
              <a:lnSpc>
                <a:spcPct val="150000"/>
              </a:lnSpc>
              <a:buFont typeface="Arial" panose="020B0604020202020204" pitchFamily="34" charset="0"/>
              <a:buChar char="•"/>
            </a:pPr>
            <a:r>
              <a:rPr lang="en-US" altLang="zh-CN" sz="1400" dirty="0">
                <a:solidFill>
                  <a:srgbClr val="C00000"/>
                </a:solidFill>
                <a:latin typeface="+mn-ea"/>
              </a:rPr>
              <a:t>25</a:t>
            </a:r>
            <a:r>
              <a:rPr lang="zh-CN" altLang="en-US" sz="1400" dirty="0">
                <a:solidFill>
                  <a:srgbClr val="C00000"/>
                </a:solidFill>
                <a:latin typeface="+mn-ea"/>
              </a:rPr>
              <a:t>年目标实现照明节能</a:t>
            </a:r>
            <a:r>
              <a:rPr lang="en-US" altLang="zh-CN" sz="1400" dirty="0">
                <a:solidFill>
                  <a:srgbClr val="C00000"/>
                </a:solidFill>
                <a:latin typeface="+mn-ea"/>
              </a:rPr>
              <a:t>1000</a:t>
            </a:r>
            <a:r>
              <a:rPr lang="zh-CN" altLang="en-US" sz="1400" dirty="0">
                <a:solidFill>
                  <a:srgbClr val="C00000"/>
                </a:solidFill>
                <a:latin typeface="+mn-ea"/>
              </a:rPr>
              <a:t>亿度电</a:t>
            </a:r>
            <a:endParaRPr lang="en-US" altLang="zh-CN" sz="1400" dirty="0">
              <a:solidFill>
                <a:srgbClr val="C00000"/>
              </a:solidFill>
              <a:latin typeface="+mn-ea"/>
            </a:endParaRPr>
          </a:p>
          <a:p>
            <a:pPr marL="285750" indent="-285750">
              <a:lnSpc>
                <a:spcPct val="150000"/>
              </a:lnSpc>
              <a:buFont typeface="Arial" panose="020B0604020202020204" pitchFamily="34" charset="0"/>
              <a:buChar char="•"/>
            </a:pPr>
            <a:r>
              <a:rPr lang="zh-CN" altLang="en-US" sz="1400" dirty="0">
                <a:solidFill>
                  <a:srgbClr val="C00000"/>
                </a:solidFill>
                <a:latin typeface="+mn-ea"/>
              </a:rPr>
              <a:t>灯具达到二级能效以上</a:t>
            </a:r>
            <a:endParaRPr lang="en-US" altLang="zh-CN" sz="1400" dirty="0">
              <a:solidFill>
                <a:srgbClr val="C00000"/>
              </a:solidFill>
              <a:latin typeface="+mn-ea"/>
            </a:endParaRPr>
          </a:p>
          <a:p>
            <a:pPr marL="285750" indent="-285750">
              <a:lnSpc>
                <a:spcPct val="150000"/>
              </a:lnSpc>
              <a:buFont typeface="Arial" panose="020B0604020202020204" pitchFamily="34" charset="0"/>
              <a:buChar char="•"/>
            </a:pPr>
            <a:r>
              <a:rPr lang="zh-CN" altLang="en-US" sz="1400" dirty="0">
                <a:solidFill>
                  <a:srgbClr val="C00000"/>
                </a:solidFill>
                <a:latin typeface="+mn-ea"/>
              </a:rPr>
              <a:t>鼓励国有企业带头升级照明设备</a:t>
            </a:r>
            <a:endParaRPr lang="en-US" altLang="zh-CN" sz="1400" dirty="0">
              <a:solidFill>
                <a:srgbClr val="C00000"/>
              </a:solidFill>
              <a:latin typeface="+mn-ea"/>
            </a:endParaRPr>
          </a:p>
          <a:p>
            <a:pPr marL="285750" indent="-285750">
              <a:lnSpc>
                <a:spcPct val="150000"/>
              </a:lnSpc>
              <a:buFont typeface="Arial" panose="020B0604020202020204" pitchFamily="34" charset="0"/>
              <a:buChar char="•"/>
            </a:pPr>
            <a:r>
              <a:rPr lang="zh-CN" altLang="en-US" sz="1400" dirty="0">
                <a:solidFill>
                  <a:srgbClr val="C00000"/>
                </a:solidFill>
                <a:latin typeface="+mn-ea"/>
              </a:rPr>
              <a:t>鼓励采用智能控制技术实现二次节能</a:t>
            </a:r>
            <a:endParaRPr lang="zh-CN" altLang="en-US" sz="1400" dirty="0">
              <a:solidFill>
                <a:srgbClr val="C00000"/>
              </a:solidFill>
              <a:latin typeface="+mn-ea"/>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734480" y="693832"/>
            <a:ext cx="10405646" cy="391807"/>
          </a:xfrm>
          <a:prstGeom prst="rect">
            <a:avLst/>
          </a:prstGeom>
          <a:solidFill>
            <a:srgbClr val="44C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方正兰亭准黑简体" panose="02000000000000000000" pitchFamily="2" charset="-122"/>
                <a:ea typeface="方正兰亭准黑简体" panose="02000000000000000000" pitchFamily="2" charset="-122"/>
              </a:rPr>
              <a:t>工信部发布开展节能诊断工作，推动工业企业节能降碳</a:t>
            </a:r>
            <a:endParaRPr lang="zh-CN" altLang="en-US" b="1" dirty="0">
              <a:solidFill>
                <a:schemeClr val="bg1"/>
              </a:solidFill>
              <a:latin typeface="方正兰亭准黑简体" panose="02000000000000000000" pitchFamily="2" charset="-122"/>
              <a:ea typeface="方正兰亭准黑简体" panose="02000000000000000000" pitchFamily="2" charset="-122"/>
            </a:endParaRPr>
          </a:p>
        </p:txBody>
      </p:sp>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sp>
        <p:nvSpPr>
          <p:cNvPr id="14" name="矩形 13"/>
          <p:cNvSpPr/>
          <p:nvPr/>
        </p:nvSpPr>
        <p:spPr>
          <a:xfrm>
            <a:off x="2139885" y="4004831"/>
            <a:ext cx="8172090" cy="734022"/>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139885" y="5231403"/>
            <a:ext cx="8172090" cy="596918"/>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1964364" y="1568665"/>
            <a:ext cx="8263271" cy="4259656"/>
            <a:chOff x="1471050" y="1632999"/>
            <a:chExt cx="9157560" cy="4720656"/>
          </a:xfrm>
        </p:grpSpPr>
        <p:pic>
          <p:nvPicPr>
            <p:cNvPr id="24" name="图片 23"/>
            <p:cNvPicPr>
              <a:picLocks noChangeAspect="1"/>
            </p:cNvPicPr>
            <p:nvPr/>
          </p:nvPicPr>
          <p:blipFill>
            <a:blip r:embed="rId3"/>
            <a:stretch>
              <a:fillRect/>
            </a:stretch>
          </p:blipFill>
          <p:spPr>
            <a:xfrm>
              <a:off x="1471050" y="1632999"/>
              <a:ext cx="9157560" cy="472065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25" name="矩形 24"/>
            <p:cNvSpPr/>
            <p:nvPr/>
          </p:nvSpPr>
          <p:spPr>
            <a:xfrm>
              <a:off x="1521574" y="4300652"/>
              <a:ext cx="9056511" cy="813461"/>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521574" y="5678871"/>
              <a:ext cx="9056511" cy="661519"/>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hidden="1"/>
          <p:cNvPicPr>
            <a:picLocks noChangeAspect="1"/>
          </p:cNvPicPr>
          <p:nvPr>
            <p:custDataLst>
              <p:tags r:id="rId1"/>
            </p:custDataLst>
          </p:nvPr>
        </p:nvPicPr>
        <p:blipFill rotWithShape="1">
          <a:blip r:embed="rId2">
            <a:biLevel thresh="25000"/>
            <a:extLst>
              <a:ext uri="{28A0092B-C50C-407E-A947-70E740481C1C}">
                <a14:useLocalDpi xmlns:a14="http://schemas.microsoft.com/office/drawing/2010/main" val="0"/>
              </a:ext>
            </a:extLst>
          </a:blip>
          <a:srcRect t="3781" b="3284"/>
          <a:stretch>
            <a:fillRect/>
          </a:stretch>
        </p:blipFill>
        <p:spPr>
          <a:xfrm>
            <a:off x="-96845" y="0"/>
            <a:ext cx="4933706" cy="6877734"/>
          </a:xfrm>
          <a:prstGeom prst="rect">
            <a:avLst/>
          </a:prstGeom>
        </p:spPr>
      </p:pic>
      <p:pic>
        <p:nvPicPr>
          <p:cNvPr id="22" name="图像" descr="图像"/>
          <p:cNvPicPr>
            <a:picLocks noChangeAspect="1"/>
          </p:cNvPicPr>
          <p:nvPr/>
        </p:nvPicPr>
        <p:blipFill>
          <a:blip r:embed="rId3"/>
          <a:stretch>
            <a:fillRect/>
          </a:stretch>
        </p:blipFill>
        <p:spPr>
          <a:xfrm>
            <a:off x="346493" y="6529228"/>
            <a:ext cx="1793392" cy="209323"/>
          </a:xfrm>
          <a:prstGeom prst="rect">
            <a:avLst/>
          </a:prstGeom>
          <a:ln w="12700">
            <a:miter lim="400000"/>
            <a:headEnd/>
            <a:tailEnd/>
          </a:ln>
        </p:spPr>
      </p:pic>
      <p:pic>
        <p:nvPicPr>
          <p:cNvPr id="23" name="图像" descr="图像"/>
          <p:cNvPicPr>
            <a:picLocks noChangeAspect="1"/>
          </p:cNvPicPr>
          <p:nvPr/>
        </p:nvPicPr>
        <p:blipFill>
          <a:blip r:embed="rId4"/>
          <a:stretch>
            <a:fillRect/>
          </a:stretch>
        </p:blipFill>
        <p:spPr>
          <a:xfrm>
            <a:off x="346493" y="201874"/>
            <a:ext cx="721467" cy="157469"/>
          </a:xfrm>
          <a:prstGeom prst="rect">
            <a:avLst/>
          </a:prstGeom>
          <a:ln w="12700">
            <a:miter lim="400000"/>
            <a:headEnd/>
            <a:tailEnd/>
          </a:ln>
        </p:spPr>
      </p:pic>
      <p:grpSp>
        <p:nvGrpSpPr>
          <p:cNvPr id="3" name="组合 2"/>
          <p:cNvGrpSpPr/>
          <p:nvPr/>
        </p:nvGrpSpPr>
        <p:grpSpPr>
          <a:xfrm>
            <a:off x="299364" y="1851532"/>
            <a:ext cx="6251220" cy="4312662"/>
            <a:chOff x="1204675" y="2383440"/>
            <a:chExt cx="5758192" cy="3972526"/>
          </a:xfrm>
        </p:grpSpPr>
        <p:grpSp>
          <p:nvGrpSpPr>
            <p:cNvPr id="12" name="组合 11"/>
            <p:cNvGrpSpPr/>
            <p:nvPr/>
          </p:nvGrpSpPr>
          <p:grpSpPr>
            <a:xfrm>
              <a:off x="1204675" y="2383440"/>
              <a:ext cx="5758192" cy="3972526"/>
              <a:chOff x="254156" y="1690336"/>
              <a:chExt cx="7240467" cy="4995134"/>
            </a:xfrm>
          </p:grpSpPr>
          <p:pic>
            <p:nvPicPr>
              <p:cNvPr id="13" name="图片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41112" y="2323379"/>
                <a:ext cx="7153511" cy="4362091"/>
              </a:xfrm>
              <a:prstGeom prst="rect">
                <a:avLst/>
              </a:prstGeom>
            </p:spPr>
          </p:pic>
          <p:pic>
            <p:nvPicPr>
              <p:cNvPr id="14" name="图片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4156" y="1690336"/>
                <a:ext cx="4674404" cy="783053"/>
              </a:xfrm>
              <a:prstGeom prst="rect">
                <a:avLst/>
              </a:prstGeom>
            </p:spPr>
          </p:pic>
        </p:grpSp>
        <p:sp>
          <p:nvSpPr>
            <p:cNvPr id="15" name="矩形 14"/>
            <p:cNvSpPr/>
            <p:nvPr/>
          </p:nvSpPr>
          <p:spPr>
            <a:xfrm>
              <a:off x="2055043" y="4115428"/>
              <a:ext cx="4774054" cy="1052238"/>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7003713" y="1985820"/>
            <a:ext cx="4782650" cy="4178375"/>
            <a:chOff x="6602815" y="1968936"/>
            <a:chExt cx="5248073" cy="4584992"/>
          </a:xfrm>
        </p:grpSpPr>
        <p:pic>
          <p:nvPicPr>
            <p:cNvPr id="17" name="图片 16"/>
            <p:cNvPicPr>
              <a:picLocks noChangeAspect="1"/>
            </p:cNvPicPr>
            <p:nvPr/>
          </p:nvPicPr>
          <p:blipFill rotWithShape="1">
            <a:blip r:embed="rId7">
              <a:extLst>
                <a:ext uri="{28A0092B-C50C-407E-A947-70E740481C1C}">
                  <a14:useLocalDpi xmlns:a14="http://schemas.microsoft.com/office/drawing/2010/main" val="0"/>
                </a:ext>
              </a:extLst>
            </a:blip>
            <a:srcRect t="39571"/>
            <a:stretch>
              <a:fillRect/>
            </a:stretch>
          </p:blipFill>
          <p:spPr>
            <a:xfrm>
              <a:off x="6602815" y="1968936"/>
              <a:ext cx="5248073" cy="4584992"/>
            </a:xfrm>
            <a:prstGeom prst="rect">
              <a:avLst/>
            </a:prstGeom>
          </p:spPr>
        </p:pic>
        <p:sp>
          <p:nvSpPr>
            <p:cNvPr id="18" name="矩形 17"/>
            <p:cNvSpPr/>
            <p:nvPr/>
          </p:nvSpPr>
          <p:spPr>
            <a:xfrm>
              <a:off x="6703120" y="2739609"/>
              <a:ext cx="5100954" cy="902747"/>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660052" y="1400269"/>
            <a:ext cx="11411924" cy="377411"/>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绿色工厂照明原标准参照</a:t>
            </a:r>
            <a:r>
              <a:rPr lang="en-US" altLang="zh-CN" sz="1400" dirty="0">
                <a:latin typeface="微软雅黑" panose="020B0503020204020204" pitchFamily="34" charset="-122"/>
                <a:ea typeface="微软雅黑" panose="020B0503020204020204" pitchFamily="34" charset="-122"/>
              </a:rPr>
              <a:t>GB50034</a:t>
            </a:r>
            <a:r>
              <a:rPr lang="zh-CN" altLang="en-US" sz="1400" dirty="0">
                <a:latin typeface="微软雅黑" panose="020B0503020204020204" pitchFamily="34" charset="-122"/>
                <a:ea typeface="微软雅黑" panose="020B0503020204020204" pitchFamily="34" charset="-122"/>
              </a:rPr>
              <a:t>，现标准参照</a:t>
            </a:r>
            <a:r>
              <a:rPr lang="en-US" altLang="zh-CN" sz="1400" dirty="0">
                <a:latin typeface="微软雅黑" panose="020B0503020204020204" pitchFamily="34" charset="-122"/>
                <a:ea typeface="微软雅黑" panose="020B0503020204020204" pitchFamily="34" charset="-122"/>
              </a:rPr>
              <a:t>21</a:t>
            </a:r>
            <a:r>
              <a:rPr lang="zh-CN" altLang="en-US" sz="1400" dirty="0">
                <a:latin typeface="微软雅黑" panose="020B0503020204020204" pitchFamily="34" charset="-122"/>
                <a:ea typeface="微软雅黑" panose="020B0503020204020204" pitchFamily="34" charset="-122"/>
              </a:rPr>
              <a:t>年发行的</a:t>
            </a:r>
            <a:r>
              <a:rPr lang="en-US" altLang="zh-CN" sz="1400" dirty="0">
                <a:latin typeface="微软雅黑" panose="020B0503020204020204" pitchFamily="34" charset="-122"/>
                <a:ea typeface="微软雅黑" panose="020B0503020204020204" pitchFamily="34" charset="-122"/>
              </a:rPr>
              <a:t>GB55015</a:t>
            </a:r>
            <a:r>
              <a:rPr lang="zh-CN" altLang="en-US" sz="1400" dirty="0">
                <a:latin typeface="微软雅黑" panose="020B0503020204020204" pitchFamily="34" charset="-122"/>
                <a:ea typeface="微软雅黑" panose="020B0503020204020204" pitchFamily="34" charset="-122"/>
              </a:rPr>
              <a:t>，都对</a:t>
            </a:r>
            <a:r>
              <a:rPr lang="zh-CN" altLang="en-US" sz="1400" b="1" dirty="0">
                <a:solidFill>
                  <a:srgbClr val="0070C0"/>
                </a:solidFill>
                <a:latin typeface="微软雅黑" panose="020B0503020204020204" pitchFamily="34" charset="-122"/>
                <a:ea typeface="微软雅黑" panose="020B0503020204020204" pitchFamily="34" charset="-122"/>
              </a:rPr>
              <a:t>自然采光，分区，分组合自动调光提出了要求</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20" name="线条"/>
          <p:cNvSpPr/>
          <p:nvPr/>
        </p:nvSpPr>
        <p:spPr>
          <a:xfrm flipH="1" flipV="1">
            <a:off x="2386482" y="6621591"/>
            <a:ext cx="8904607" cy="0"/>
          </a:xfrm>
          <a:prstGeom prst="line">
            <a:avLst/>
          </a:prstGeom>
          <a:ln w="28575" cap="rnd">
            <a:solidFill>
              <a:srgbClr val="000000"/>
            </a:solidFill>
            <a:custDash>
              <a:ds d="100000" sp="200000"/>
            </a:custDash>
            <a:miter lim="400000"/>
          </a:ln>
        </p:spPr>
        <p:txBody>
          <a:bodyPr lIns="50800" tIns="50800" rIns="50800" bIns="50800" anchor="ctr"/>
          <a:lstStyle/>
          <a:p>
            <a:pPr marL="0" marR="0" lvl="0" indent="0" algn="l" defTabSz="1828800" rtl="0" eaLnBrk="1" fontAlgn="auto" latinLnBrk="0" hangingPunct="1">
              <a:lnSpc>
                <a:spcPct val="100000"/>
              </a:lnSpc>
              <a:spcBef>
                <a:spcPts val="0"/>
              </a:spcBef>
              <a:spcAft>
                <a:spcPts val="0"/>
              </a:spcAft>
              <a:buClrTx/>
              <a:buSzTx/>
              <a:buFontTx/>
              <a:buNone/>
              <a:defRPr/>
            </a:pPr>
            <a:endParaRPr kumimoji="0" sz="1050" b="0" i="0" u="none" strike="noStrike" kern="1200" cap="none" spc="0" normalizeH="0" baseline="0" noProof="0" dirty="0">
              <a:ln w="12700">
                <a:solidFill>
                  <a:schemeClr val="tx1"/>
                </a:solidFill>
              </a:ln>
              <a:solidFill>
                <a:prstClr val="black"/>
              </a:solidFill>
              <a:effectLst/>
              <a:uLnTx/>
              <a:uFillTx/>
              <a:latin typeface="Calibri" panose="020F0502020204030204"/>
              <a:ea typeface="+mn-ea"/>
              <a:cs typeface="+mn-cs"/>
              <a:sym typeface="Helvetica Neue"/>
            </a:endParaRPr>
          </a:p>
        </p:txBody>
      </p:sp>
      <p:sp>
        <p:nvSpPr>
          <p:cNvPr id="25" name="文本框 24"/>
          <p:cNvSpPr txBox="1"/>
          <p:nvPr/>
        </p:nvSpPr>
        <p:spPr>
          <a:xfrm>
            <a:off x="1243189" y="695396"/>
            <a:ext cx="9511470" cy="445298"/>
          </a:xfrm>
          <a:prstGeom prst="rect">
            <a:avLst/>
          </a:prstGeom>
          <a:solidFill>
            <a:srgbClr val="44C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b="1">
                <a:solidFill>
                  <a:schemeClr val="bg1"/>
                </a:solidFill>
                <a:latin typeface="方正兰亭准黑简体" panose="02000000000000000000" pitchFamily="2" charset="-122"/>
                <a:ea typeface="方正兰亭准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“绿色工厂”要求高效节能照明设备不低于</a:t>
            </a:r>
            <a:r>
              <a:rPr lang="en-US" altLang="zh-CN" dirty="0"/>
              <a:t>50%</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矩形"/>
          <p:cNvSpPr/>
          <p:nvPr/>
        </p:nvSpPr>
        <p:spPr>
          <a:xfrm>
            <a:off x="-31626" y="-4441"/>
            <a:ext cx="12255252" cy="6917681"/>
          </a:xfrm>
          <a:prstGeom prst="rect">
            <a:avLst/>
          </a:prstGeom>
          <a:solidFill>
            <a:srgbClr val="58B7DD"/>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pic>
        <p:nvPicPr>
          <p:cNvPr id="408" name="图像" descr="图像"/>
          <p:cNvPicPr>
            <a:picLocks noChangeAspect="1"/>
          </p:cNvPicPr>
          <p:nvPr/>
        </p:nvPicPr>
        <p:blipFill>
          <a:blip r:embed="rId1"/>
          <a:stretch>
            <a:fillRect/>
          </a:stretch>
        </p:blipFill>
        <p:spPr>
          <a:xfrm>
            <a:off x="272228" y="310487"/>
            <a:ext cx="566585" cy="123664"/>
          </a:xfrm>
          <a:prstGeom prst="rect">
            <a:avLst/>
          </a:prstGeom>
          <a:ln w="12700">
            <a:miter lim="400000"/>
            <a:headEnd/>
            <a:tailEnd/>
          </a:ln>
        </p:spPr>
      </p:pic>
      <p:sp>
        <p:nvSpPr>
          <p:cNvPr id="410" name="主标题示例"/>
          <p:cNvSpPr txBox="1"/>
          <p:nvPr/>
        </p:nvSpPr>
        <p:spPr>
          <a:xfrm>
            <a:off x="6141135" y="5198169"/>
            <a:ext cx="3744615" cy="372474"/>
          </a:xfrm>
          <a:prstGeom prst="rect">
            <a:avLst/>
          </a:prstGeom>
          <a:ln w="12700">
            <a:miter lim="400000"/>
          </a:ln>
        </p:spPr>
        <p:txBody>
          <a:bodyPr wrap="none" lIns="25400" tIns="25400" rIns="25400" bIns="25400" anchor="ctr">
            <a:spAutoFit/>
          </a:bodyPr>
          <a:lstStyle>
            <a:lvl1pPr algn="l">
              <a:lnSpc>
                <a:spcPct val="80000"/>
              </a:lnSpc>
              <a:defRPr sz="5000" spc="-100">
                <a:solidFill>
                  <a:srgbClr val="FFFFFF"/>
                </a:solidFill>
                <a:latin typeface="FZLanTingHeiS-DB1-GB"/>
                <a:ea typeface="FZLanTingHeiS-DB1-GB"/>
                <a:cs typeface="FZLanTingHeiS-DB1-GB"/>
                <a:sym typeface="FZLanTingHeiS-DB1-GB"/>
              </a:defRPr>
            </a:lvl1pPr>
          </a:lstStyle>
          <a:p>
            <a:r>
              <a:rPr lang="zh-CN" altLang="en-US" sz="2500" dirty="0">
                <a:latin typeface="方正兰亭准黑简体" panose="02000000000000000000" pitchFamily="2" charset="-122"/>
                <a:ea typeface="方正兰亭准黑简体" panose="02000000000000000000" pitchFamily="2" charset="-122"/>
              </a:rPr>
              <a:t>生产制造行业照明解决方案</a:t>
            </a:r>
            <a:endParaRPr sz="2500" dirty="0">
              <a:latin typeface="方正兰亭准黑简体" panose="02000000000000000000" pitchFamily="2" charset="-122"/>
              <a:ea typeface="方正兰亭准黑简体" panose="02000000000000000000" pitchFamily="2" charset="-122"/>
            </a:endParaRPr>
          </a:p>
        </p:txBody>
      </p:sp>
      <p:pic>
        <p:nvPicPr>
          <p:cNvPr id="413" name="图像" descr="图像"/>
          <p:cNvPicPr>
            <a:picLocks noChangeAspect="1"/>
          </p:cNvPicPr>
          <p:nvPr/>
        </p:nvPicPr>
        <p:blipFill>
          <a:blip r:embed="rId2"/>
          <a:stretch>
            <a:fillRect/>
          </a:stretch>
        </p:blipFill>
        <p:spPr>
          <a:xfrm>
            <a:off x="272228" y="6280165"/>
            <a:ext cx="1763117" cy="205789"/>
          </a:xfrm>
          <a:prstGeom prst="rect">
            <a:avLst/>
          </a:prstGeom>
          <a:ln w="12700">
            <a:miter lim="400000"/>
            <a:headEnd/>
            <a:tailEnd/>
          </a:ln>
        </p:spPr>
      </p:pic>
      <p:sp>
        <p:nvSpPr>
          <p:cNvPr id="2" name="0"/>
          <p:cNvSpPr txBox="1"/>
          <p:nvPr/>
        </p:nvSpPr>
        <p:spPr>
          <a:xfrm>
            <a:off x="1224980" y="855626"/>
            <a:ext cx="1982431" cy="3744615"/>
          </a:xfrm>
          <a:prstGeom prst="rect">
            <a:avLst/>
          </a:prstGeom>
          <a:ln w="12700">
            <a:miter lim="400000"/>
          </a:ln>
        </p:spPr>
        <p:txBody>
          <a:bodyPr wrap="square" lIns="25400" tIns="25400" rIns="25400" bIns="25400" anchor="ctr">
            <a:spAutoFit/>
          </a:bodyPr>
          <a:lstStyle>
            <a:lvl1pPr algn="l">
              <a:lnSpc>
                <a:spcPct val="80000"/>
              </a:lnSpc>
              <a:defRPr sz="70000" spc="-1400">
                <a:solidFill>
                  <a:srgbClr val="FFFFFF"/>
                </a:solidFill>
                <a:latin typeface="Alibaba PuHuiTi 3 95 ExtraBold"/>
                <a:ea typeface="Alibaba PuHuiTi 3 95 ExtraBold"/>
                <a:cs typeface="Alibaba PuHuiTi 3 95 ExtraBold"/>
                <a:sym typeface="Alibaba PuHuiTi 3 95 ExtraBold"/>
              </a:defRPr>
            </a:lvl1pPr>
          </a:lstStyle>
          <a:p>
            <a:r>
              <a:rPr lang="en-US" altLang="zh-CN" sz="30000" b="1" dirty="0">
                <a:latin typeface="FZLanTingHeiS-DB1-GB" panose="02000000000000000000" pitchFamily="2" charset="-122"/>
                <a:ea typeface="FZLanTingHeiS-DB1-GB" panose="02000000000000000000" pitchFamily="2" charset="-122"/>
              </a:rPr>
              <a:t>0</a:t>
            </a:r>
            <a:endParaRPr lang="en-US" altLang="zh-CN" sz="30000" b="1" dirty="0">
              <a:latin typeface="FZLanTingHeiS-DB1-GB" panose="02000000000000000000" pitchFamily="2" charset="-122"/>
              <a:ea typeface="FZLanTingHeiS-DB1-GB" panose="02000000000000000000" pitchFamily="2" charset="-122"/>
            </a:endParaRPr>
          </a:p>
        </p:txBody>
      </p:sp>
      <p:sp>
        <p:nvSpPr>
          <p:cNvPr id="3" name="1"/>
          <p:cNvSpPr txBox="1"/>
          <p:nvPr/>
        </p:nvSpPr>
        <p:spPr>
          <a:xfrm>
            <a:off x="3505230" y="2973827"/>
            <a:ext cx="1821011" cy="3744615"/>
          </a:xfrm>
          <a:prstGeom prst="rect">
            <a:avLst/>
          </a:prstGeom>
          <a:ln w="12700">
            <a:miter lim="400000"/>
          </a:ln>
        </p:spPr>
        <p:txBody>
          <a:bodyPr wrap="none" lIns="25400" tIns="25400" rIns="25400" bIns="25400" anchor="ctr">
            <a:spAutoFit/>
          </a:bodyPr>
          <a:lstStyle>
            <a:lvl1pPr algn="l">
              <a:lnSpc>
                <a:spcPct val="80000"/>
              </a:lnSpc>
              <a:defRPr sz="70000" spc="-1400">
                <a:solidFill>
                  <a:srgbClr val="FFFFFF"/>
                </a:solidFill>
                <a:latin typeface="Alibaba PuHuiTi 3 95 ExtraBold"/>
                <a:ea typeface="Alibaba PuHuiTi 3 95 ExtraBold"/>
                <a:cs typeface="Alibaba PuHuiTi 3 95 ExtraBold"/>
                <a:sym typeface="Alibaba PuHuiTi 3 95 ExtraBold"/>
              </a:defRPr>
            </a:lvl1pPr>
          </a:lstStyle>
          <a:p>
            <a:r>
              <a:rPr lang="en-US" altLang="zh-CN" sz="30000" dirty="0">
                <a:latin typeface="FZLanTingHeiS-DB1-GB" panose="02000000000000000000" pitchFamily="2" charset="-122"/>
                <a:ea typeface="FZLanTingHeiS-DB1-GB" panose="02000000000000000000" pitchFamily="2" charset="-122"/>
              </a:rPr>
              <a:t>2</a:t>
            </a:r>
            <a:endParaRPr sz="30000" dirty="0">
              <a:latin typeface="FZLanTingHeiS-DB1-GB" panose="02000000000000000000" pitchFamily="2" charset="-122"/>
              <a:ea typeface="FZLanTingHeiS-DB1-GB" panose="02000000000000000000" pitchFamily="2" charset="-122"/>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03412" y="875635"/>
            <a:ext cx="11525928" cy="391807"/>
          </a:xfrm>
          <a:prstGeom prst="rect">
            <a:avLst/>
          </a:prstGeom>
          <a:solidFill>
            <a:srgbClr val="44C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方正兰亭准黑简体" panose="02000000000000000000" pitchFamily="2" charset="-122"/>
                <a:ea typeface="方正兰亭准黑简体" panose="02000000000000000000" pitchFamily="2" charset="-122"/>
              </a:rPr>
              <a:t>照明技术发生巨大升级，早期照明普遍面临升级改造</a:t>
            </a:r>
            <a:endParaRPr lang="zh-CN" altLang="en-US" b="1" dirty="0">
              <a:solidFill>
                <a:schemeClr val="bg1"/>
              </a:solidFill>
              <a:latin typeface="方正兰亭准黑简体" panose="02000000000000000000" pitchFamily="2" charset="-122"/>
              <a:ea typeface="方正兰亭准黑简体" panose="02000000000000000000" pitchFamily="2" charset="-122"/>
            </a:endParaRPr>
          </a:p>
        </p:txBody>
      </p:sp>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pic>
        <p:nvPicPr>
          <p:cNvPr id="6" name="图片 5"/>
          <p:cNvPicPr>
            <a:picLocks noChangeAspect="1"/>
          </p:cNvPicPr>
          <p:nvPr>
            <p:custDataLst>
              <p:tags r:id="rId3"/>
            </p:custDataLst>
          </p:nvPr>
        </p:nvPicPr>
        <p:blipFill>
          <a:blip r:embed="rId4"/>
          <a:srcRect r="33990"/>
          <a:stretch>
            <a:fillRect/>
          </a:stretch>
        </p:blipFill>
        <p:spPr>
          <a:xfrm>
            <a:off x="403411" y="1591758"/>
            <a:ext cx="3625899" cy="3071879"/>
          </a:xfrm>
          <a:prstGeom prst="rect">
            <a:avLst/>
          </a:prstGeom>
        </p:spPr>
      </p:pic>
      <p:sp>
        <p:nvSpPr>
          <p:cNvPr id="7" name="文本框 6"/>
          <p:cNvSpPr txBox="1"/>
          <p:nvPr/>
        </p:nvSpPr>
        <p:spPr>
          <a:xfrm>
            <a:off x="403411" y="4884679"/>
            <a:ext cx="3625899" cy="1023742"/>
          </a:xfrm>
          <a:prstGeom prst="rect">
            <a:avLst/>
          </a:prstGeom>
          <a:noFill/>
        </p:spPr>
        <p:txBody>
          <a:bodyPr wrap="square" rtlCol="0">
            <a:spAutoFit/>
          </a:bodyPr>
          <a:lstStyle/>
          <a:p>
            <a:pPr>
              <a:lnSpc>
                <a:spcPct val="150000"/>
              </a:lnSpc>
            </a:pPr>
            <a:r>
              <a:rPr lang="zh-CN" altLang="en-US" sz="1400" b="1" dirty="0">
                <a:latin typeface="方正兰亭纤黑简体" panose="02000000000000000000" pitchFamily="2" charset="-122"/>
                <a:ea typeface="方正兰亭纤黑简体" panose="02000000000000000000" pitchFamily="2" charset="-122"/>
              </a:rPr>
              <a:t>照明产品较落后</a:t>
            </a:r>
            <a:endParaRPr lang="en-US" altLang="zh-CN" sz="1400" b="1" dirty="0">
              <a:latin typeface="方正兰亭纤黑简体" panose="02000000000000000000" pitchFamily="2" charset="-122"/>
              <a:ea typeface="方正兰亭纤黑简体" panose="02000000000000000000" pitchFamily="2" charset="-122"/>
            </a:endParaRPr>
          </a:p>
          <a:p>
            <a:pPr>
              <a:lnSpc>
                <a:spcPct val="150000"/>
              </a:lnSpc>
            </a:pPr>
            <a:r>
              <a:rPr lang="zh-CN" altLang="en-US" sz="1400" dirty="0">
                <a:latin typeface="方正兰亭纤黑简体" panose="02000000000000000000" pitchFamily="2" charset="-122"/>
                <a:ea typeface="方正兰亭纤黑简体" panose="02000000000000000000" pitchFamily="2" charset="-122"/>
              </a:rPr>
              <a:t>有些建筑还在使用节能灯或早期十年前的</a:t>
            </a:r>
            <a:r>
              <a:rPr lang="en-US" altLang="zh-CN" sz="1400" dirty="0">
                <a:latin typeface="方正兰亭纤黑简体" panose="02000000000000000000" pitchFamily="2" charset="-122"/>
                <a:ea typeface="方正兰亭纤黑简体" panose="02000000000000000000" pitchFamily="2" charset="-122"/>
              </a:rPr>
              <a:t>LED</a:t>
            </a:r>
            <a:r>
              <a:rPr lang="zh-CN" altLang="en-US" sz="1400" dirty="0">
                <a:latin typeface="方正兰亭纤黑简体" panose="02000000000000000000" pitchFamily="2" charset="-122"/>
                <a:ea typeface="方正兰亭纤黑简体" panose="02000000000000000000" pitchFamily="2" charset="-122"/>
              </a:rPr>
              <a:t>照明产品</a:t>
            </a:r>
            <a:endParaRPr lang="zh-CN" altLang="en-US" sz="1400" dirty="0">
              <a:latin typeface="方正兰亭纤黑简体" panose="02000000000000000000" pitchFamily="2" charset="-122"/>
              <a:ea typeface="方正兰亭纤黑简体" panose="02000000000000000000" pitchFamily="2" charset="-122"/>
            </a:endParaRPr>
          </a:p>
        </p:txBody>
      </p:sp>
      <p:pic>
        <p:nvPicPr>
          <p:cNvPr id="8" name="图片 7"/>
          <p:cNvPicPr>
            <a:picLocks noChangeAspect="1"/>
          </p:cNvPicPr>
          <p:nvPr/>
        </p:nvPicPr>
        <p:blipFill rotWithShape="1">
          <a:blip r:embed="rId5" cstate="print">
            <a:extLst>
              <a:ext uri="{28A0092B-C50C-407E-A947-70E740481C1C}">
                <a14:useLocalDpi xmlns:a14="http://schemas.microsoft.com/office/drawing/2010/main" val="0"/>
              </a:ext>
            </a:extLst>
          </a:blip>
          <a:srcRect l="46030"/>
          <a:stretch>
            <a:fillRect/>
          </a:stretch>
        </p:blipFill>
        <p:spPr>
          <a:xfrm>
            <a:off x="4221126" y="1591758"/>
            <a:ext cx="3683620" cy="3071873"/>
          </a:xfrm>
          <a:prstGeom prst="rect">
            <a:avLst/>
          </a:prstGeom>
        </p:spPr>
      </p:pic>
      <p:sp>
        <p:nvSpPr>
          <p:cNvPr id="9" name="文本框 8"/>
          <p:cNvSpPr txBox="1"/>
          <p:nvPr/>
        </p:nvSpPr>
        <p:spPr>
          <a:xfrm>
            <a:off x="4216301" y="4890265"/>
            <a:ext cx="3683620" cy="1023742"/>
          </a:xfrm>
          <a:prstGeom prst="rect">
            <a:avLst/>
          </a:prstGeom>
          <a:noFill/>
        </p:spPr>
        <p:txBody>
          <a:bodyPr wrap="square" rtlCol="0">
            <a:spAutoFit/>
          </a:bodyPr>
          <a:lstStyle/>
          <a:p>
            <a:pPr>
              <a:lnSpc>
                <a:spcPct val="150000"/>
              </a:lnSpc>
            </a:pPr>
            <a:r>
              <a:rPr lang="zh-CN" altLang="en-US" sz="1400" b="1" dirty="0">
                <a:latin typeface="方正兰亭纤黑简体" panose="02000000000000000000" pitchFamily="2" charset="-122"/>
                <a:ea typeface="方正兰亭纤黑简体" panose="02000000000000000000" pitchFamily="2" charset="-122"/>
              </a:rPr>
              <a:t>不能合理有效的实现灯具开关</a:t>
            </a:r>
            <a:endParaRPr lang="en-US" altLang="zh-CN" sz="1400" b="1" dirty="0">
              <a:latin typeface="方正兰亭纤黑简体" panose="02000000000000000000" pitchFamily="2" charset="-122"/>
              <a:ea typeface="方正兰亭纤黑简体" panose="02000000000000000000" pitchFamily="2" charset="-122"/>
            </a:endParaRPr>
          </a:p>
          <a:p>
            <a:pPr>
              <a:lnSpc>
                <a:spcPct val="150000"/>
              </a:lnSpc>
            </a:pPr>
            <a:r>
              <a:rPr lang="zh-CN" altLang="en-US" sz="1400" dirty="0">
                <a:latin typeface="方正兰亭纤黑简体" panose="02000000000000000000" pitchFamily="2" charset="-122"/>
                <a:ea typeface="方正兰亭纤黑简体" panose="02000000000000000000" pitchFamily="2" charset="-122"/>
              </a:rPr>
              <a:t>勘察很多项目发现生产区在环境光正常的情况下灯具亮着</a:t>
            </a:r>
            <a:endParaRPr lang="en-US" altLang="zh-CN" sz="1400" dirty="0">
              <a:latin typeface="方正兰亭纤黑简体" panose="02000000000000000000" pitchFamily="2" charset="-122"/>
              <a:ea typeface="方正兰亭纤黑简体" panose="02000000000000000000" pitchFamily="2" charset="-122"/>
            </a:endParaRPr>
          </a:p>
        </p:txBody>
      </p:sp>
      <p:pic>
        <p:nvPicPr>
          <p:cNvPr id="10" name="图片 9"/>
          <p:cNvPicPr>
            <a:picLocks noChangeAspect="1"/>
          </p:cNvPicPr>
          <p:nvPr/>
        </p:nvPicPr>
        <p:blipFill rotWithShape="1">
          <a:blip r:embed="rId6" cstate="print">
            <a:extLst>
              <a:ext uri="{28A0092B-C50C-407E-A947-70E740481C1C}">
                <a14:useLocalDpi xmlns:a14="http://schemas.microsoft.com/office/drawing/2010/main" val="0"/>
              </a:ext>
            </a:extLst>
          </a:blip>
          <a:srcRect r="44911"/>
          <a:stretch>
            <a:fillRect/>
          </a:stretch>
        </p:blipFill>
        <p:spPr>
          <a:xfrm>
            <a:off x="8169330" y="1591757"/>
            <a:ext cx="3760009" cy="3071866"/>
          </a:xfrm>
          <a:prstGeom prst="rect">
            <a:avLst/>
          </a:prstGeom>
        </p:spPr>
      </p:pic>
      <p:sp>
        <p:nvSpPr>
          <p:cNvPr id="11" name="文本框 10"/>
          <p:cNvSpPr txBox="1"/>
          <p:nvPr/>
        </p:nvSpPr>
        <p:spPr>
          <a:xfrm>
            <a:off x="8169329" y="4884679"/>
            <a:ext cx="3760008" cy="1023742"/>
          </a:xfrm>
          <a:prstGeom prst="rect">
            <a:avLst/>
          </a:prstGeom>
          <a:noFill/>
        </p:spPr>
        <p:txBody>
          <a:bodyPr wrap="square" rtlCol="0">
            <a:spAutoFit/>
          </a:bodyPr>
          <a:lstStyle/>
          <a:p>
            <a:pPr>
              <a:lnSpc>
                <a:spcPct val="150000"/>
              </a:lnSpc>
            </a:pPr>
            <a:r>
              <a:rPr lang="zh-CN" altLang="en-US" sz="1400" b="1" dirty="0">
                <a:latin typeface="方正兰亭纤黑简体" panose="02000000000000000000" pitchFamily="2" charset="-122"/>
                <a:ea typeface="方正兰亭纤黑简体" panose="02000000000000000000" pitchFamily="2" charset="-122"/>
              </a:rPr>
              <a:t>缺少高效动态的照明管理</a:t>
            </a:r>
            <a:endParaRPr lang="en-US" altLang="zh-CN" sz="1400" b="1" dirty="0">
              <a:latin typeface="方正兰亭纤黑简体" panose="02000000000000000000" pitchFamily="2" charset="-122"/>
              <a:ea typeface="方正兰亭纤黑简体" panose="02000000000000000000" pitchFamily="2" charset="-122"/>
            </a:endParaRPr>
          </a:p>
          <a:p>
            <a:pPr>
              <a:lnSpc>
                <a:spcPct val="150000"/>
              </a:lnSpc>
            </a:pPr>
            <a:r>
              <a:rPr lang="zh-CN" altLang="en-US" sz="1400" dirty="0">
                <a:latin typeface="方正兰亭纤黑简体" panose="02000000000000000000" pitchFamily="2" charset="-122"/>
                <a:ea typeface="方正兰亭纤黑简体" panose="02000000000000000000" pitchFamily="2" charset="-122"/>
              </a:rPr>
              <a:t>无法做到实时根据自然强弱实时调整灯具的开关、亮暗的动态节能响应，造成耗能增加</a:t>
            </a:r>
            <a:endParaRPr lang="zh-CN" altLang="en-US" sz="1400" dirty="0">
              <a:latin typeface="方正兰亭纤黑简体" panose="02000000000000000000" pitchFamily="2" charset="-122"/>
              <a:ea typeface="方正兰亭纤黑简体" panose="02000000000000000000" pitchFamily="2" charset="-122"/>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03412" y="875635"/>
            <a:ext cx="11525928" cy="391807"/>
          </a:xfrm>
          <a:prstGeom prst="rect">
            <a:avLst/>
          </a:prstGeom>
          <a:solidFill>
            <a:srgbClr val="44C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高效的照明</a:t>
            </a:r>
            <a:r>
              <a:rPr lang="en-US" altLang="zh-CN" b="1" dirty="0">
                <a:solidFill>
                  <a:schemeClr val="bg1"/>
                </a:solidFill>
                <a:latin typeface="微软雅黑" panose="020B0503020204020204" pitchFamily="34" charset="-122"/>
                <a:ea typeface="微软雅黑" panose="020B0503020204020204" pitchFamily="34" charset="-122"/>
              </a:rPr>
              <a:t>+</a:t>
            </a:r>
            <a:r>
              <a:rPr lang="zh-CN" altLang="en-US" b="1" dirty="0">
                <a:solidFill>
                  <a:schemeClr val="bg1"/>
                </a:solidFill>
                <a:latin typeface="微软雅黑" panose="020B0503020204020204" pitchFamily="34" charset="-122"/>
                <a:ea typeface="微软雅黑" panose="020B0503020204020204" pitchFamily="34" charset="-122"/>
              </a:rPr>
              <a:t>智能管理，灵活实现节能降耗</a:t>
            </a:r>
            <a:endParaRPr lang="zh-CN" altLang="en-US" b="1" dirty="0">
              <a:solidFill>
                <a:schemeClr val="bg1"/>
              </a:solidFill>
              <a:latin typeface="微软雅黑" panose="020B0503020204020204" pitchFamily="34" charset="-122"/>
              <a:ea typeface="微软雅黑" panose="020B0503020204020204" pitchFamily="34" charset="-122"/>
            </a:endParaRPr>
          </a:p>
        </p:txBody>
      </p:sp>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grpSp>
        <p:nvGrpSpPr>
          <p:cNvPr id="2" name="组合 1"/>
          <p:cNvGrpSpPr/>
          <p:nvPr/>
        </p:nvGrpSpPr>
        <p:grpSpPr>
          <a:xfrm>
            <a:off x="778868" y="1577047"/>
            <a:ext cx="10775015" cy="4848779"/>
            <a:chOff x="799771" y="1655757"/>
            <a:chExt cx="10775015" cy="4848779"/>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9771" y="2201594"/>
              <a:ext cx="3089561" cy="1737878"/>
            </a:xfrm>
            <a:prstGeom prst="rect">
              <a:avLst/>
            </a:prstGeom>
          </p:spPr>
        </p:pic>
        <p:sp>
          <p:nvSpPr>
            <p:cNvPr id="8" name="文本框 7"/>
            <p:cNvSpPr txBox="1"/>
            <p:nvPr/>
          </p:nvSpPr>
          <p:spPr>
            <a:xfrm>
              <a:off x="895546" y="3903824"/>
              <a:ext cx="3027334" cy="2600712"/>
            </a:xfrm>
            <a:prstGeom prst="rect">
              <a:avLst/>
            </a:prstGeom>
            <a:noFill/>
          </p:spPr>
          <p:txBody>
            <a:bodyPr wrap="square" rtlCol="0">
              <a:spAutoFit/>
            </a:bodyPr>
            <a:lstStyle/>
            <a:p>
              <a:pPr algn="ctr"/>
              <a:r>
                <a:rPr lang="zh-CN" altLang="en-US" sz="2000" b="1" dirty="0">
                  <a:solidFill>
                    <a:srgbClr val="00459B"/>
                  </a:solidFill>
                  <a:latin typeface="方正兰亭准黑简体" panose="02000000000000000000" pitchFamily="2" charset="-122"/>
                  <a:ea typeface="方正兰亭准黑简体" panose="02000000000000000000" pitchFamily="2" charset="-122"/>
                </a:rPr>
                <a:t>高光效</a:t>
              </a:r>
              <a:r>
                <a:rPr lang="en-US" altLang="zh-CN" sz="2000" b="1" dirty="0">
                  <a:solidFill>
                    <a:srgbClr val="00459B"/>
                  </a:solidFill>
                  <a:latin typeface="方正兰亭准黑简体" panose="02000000000000000000" pitchFamily="2" charset="-122"/>
                  <a:ea typeface="方正兰亭准黑简体" panose="02000000000000000000" pitchFamily="2" charset="-122"/>
                </a:rPr>
                <a:t>LED</a:t>
              </a:r>
              <a:r>
                <a:rPr lang="zh-CN" altLang="en-US" sz="2000" b="1" dirty="0">
                  <a:solidFill>
                    <a:srgbClr val="00459B"/>
                  </a:solidFill>
                  <a:latin typeface="方正兰亭准黑简体" panose="02000000000000000000" pitchFamily="2" charset="-122"/>
                  <a:ea typeface="方正兰亭准黑简体" panose="02000000000000000000" pitchFamily="2" charset="-122"/>
                </a:rPr>
                <a:t>灯具</a:t>
              </a:r>
              <a:endParaRPr lang="en-US" altLang="zh-CN" sz="2000" b="1" dirty="0">
                <a:solidFill>
                  <a:srgbClr val="00459B"/>
                </a:solidFill>
                <a:latin typeface="方正兰亭准黑简体" panose="02000000000000000000" pitchFamily="2" charset="-122"/>
                <a:ea typeface="方正兰亭准黑简体" panose="02000000000000000000" pitchFamily="2" charset="-122"/>
              </a:endParaRPr>
            </a:p>
            <a:p>
              <a:pPr algn="ctr"/>
              <a:endParaRPr lang="en-US" altLang="zh-CN" sz="2000" b="1" dirty="0">
                <a:solidFill>
                  <a:schemeClr val="bg1">
                    <a:lumMod val="50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latin typeface="方正兰亭纤黑简体" panose="02000000000000000000" pitchFamily="2" charset="-122"/>
                  <a:ea typeface="方正兰亭纤黑简体" panose="02000000000000000000" pitchFamily="2" charset="-122"/>
                </a:rPr>
                <a:t>      随着</a:t>
              </a:r>
              <a:r>
                <a:rPr lang="en-US" altLang="zh-CN" sz="1400" dirty="0">
                  <a:latin typeface="方正兰亭纤黑简体" panose="02000000000000000000" pitchFamily="2" charset="-122"/>
                  <a:ea typeface="方正兰亭纤黑简体" panose="02000000000000000000" pitchFamily="2" charset="-122"/>
                </a:rPr>
                <a:t>LED</a:t>
              </a:r>
              <a:r>
                <a:rPr lang="zh-CN" altLang="en-US" sz="1400" dirty="0">
                  <a:latin typeface="方正兰亭纤黑简体" panose="02000000000000000000" pitchFamily="2" charset="-122"/>
                  <a:ea typeface="方正兰亭纤黑简体" panose="02000000000000000000" pitchFamily="2" charset="-122"/>
                </a:rPr>
                <a:t>行业快速发展，当下</a:t>
              </a:r>
              <a:r>
                <a:rPr lang="en-US" altLang="zh-CN" sz="1400" dirty="0">
                  <a:latin typeface="方正兰亭纤黑简体" panose="02000000000000000000" pitchFamily="2" charset="-122"/>
                  <a:ea typeface="方正兰亭纤黑简体" panose="02000000000000000000" pitchFamily="2" charset="-122"/>
                </a:rPr>
                <a:t>LED</a:t>
              </a:r>
              <a:r>
                <a:rPr lang="zh-CN" altLang="en-US" sz="1400" dirty="0">
                  <a:latin typeface="方正兰亭纤黑简体" panose="02000000000000000000" pitchFamily="2" charset="-122"/>
                  <a:ea typeface="方正兰亭纤黑简体" panose="02000000000000000000" pitchFamily="2" charset="-122"/>
                </a:rPr>
                <a:t>技术能实现更高光效、更低功率，现有厂区灯具可选用</a:t>
              </a:r>
              <a:r>
                <a:rPr lang="zh-CN" altLang="en-US" sz="1400" b="1" dirty="0">
                  <a:latin typeface="方正兰亭纤黑简体" panose="02000000000000000000" pitchFamily="2" charset="-122"/>
                  <a:ea typeface="方正兰亭纤黑简体" panose="02000000000000000000" pitchFamily="2" charset="-122"/>
                </a:rPr>
                <a:t>高光效的</a:t>
              </a:r>
              <a:r>
                <a:rPr lang="en-US" altLang="zh-CN" sz="1400" b="1" dirty="0">
                  <a:latin typeface="方正兰亭纤黑简体" panose="02000000000000000000" pitchFamily="2" charset="-122"/>
                  <a:ea typeface="方正兰亭纤黑简体" panose="02000000000000000000" pitchFamily="2" charset="-122"/>
                </a:rPr>
                <a:t>LED</a:t>
              </a:r>
              <a:r>
                <a:rPr lang="zh-CN" altLang="en-US" sz="1400" b="1" dirty="0">
                  <a:latin typeface="方正兰亭纤黑简体" panose="02000000000000000000" pitchFamily="2" charset="-122"/>
                  <a:ea typeface="方正兰亭纤黑简体" panose="02000000000000000000" pitchFamily="2" charset="-122"/>
                </a:rPr>
                <a:t>灯具原点位方案</a:t>
              </a:r>
              <a:r>
                <a:rPr lang="zh-CN" altLang="en-US" sz="1400" dirty="0">
                  <a:latin typeface="方正兰亭纤黑简体" panose="02000000000000000000" pitchFamily="2" charset="-122"/>
                  <a:ea typeface="方正兰亭纤黑简体" panose="02000000000000000000" pitchFamily="2" charset="-122"/>
                </a:rPr>
                <a:t>，可实现节能效果。</a:t>
              </a:r>
              <a:endParaRPr lang="zh-CN" altLang="en-US" sz="1400" dirty="0">
                <a:latin typeface="方正兰亭纤黑简体" panose="02000000000000000000" pitchFamily="2" charset="-122"/>
                <a:ea typeface="方正兰亭纤黑简体" panose="02000000000000000000" pitchFamily="2" charset="-122"/>
              </a:endParaRPr>
            </a:p>
            <a:p>
              <a:endParaRPr lang="zh-CN" altLang="en-US" dirty="0"/>
            </a:p>
          </p:txBody>
        </p:sp>
        <p:sp>
          <p:nvSpPr>
            <p:cNvPr id="9" name="加号 8"/>
            <p:cNvSpPr/>
            <p:nvPr/>
          </p:nvSpPr>
          <p:spPr>
            <a:xfrm>
              <a:off x="3964025" y="2649776"/>
              <a:ext cx="970960" cy="970960"/>
            </a:xfrm>
            <a:prstGeom prst="mathPlus">
              <a:avLst/>
            </a:prstGeom>
            <a:solidFill>
              <a:srgbClr val="44C7E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l="15001" t="10515" r="19998" b="15149"/>
            <a:stretch>
              <a:fillRect/>
            </a:stretch>
          </p:blipFill>
          <p:spPr>
            <a:xfrm>
              <a:off x="5320544" y="2490911"/>
              <a:ext cx="1576557" cy="1159244"/>
            </a:xfrm>
            <a:prstGeom prst="rect">
              <a:avLst/>
            </a:prstGeom>
          </p:spPr>
        </p:pic>
        <p:sp>
          <p:nvSpPr>
            <p:cNvPr id="11" name="文本框 10"/>
            <p:cNvSpPr txBox="1"/>
            <p:nvPr/>
          </p:nvSpPr>
          <p:spPr>
            <a:xfrm>
              <a:off x="4565569" y="3903824"/>
              <a:ext cx="3183264" cy="1638910"/>
            </a:xfrm>
            <a:prstGeom prst="rect">
              <a:avLst/>
            </a:prstGeom>
            <a:noFill/>
          </p:spPr>
          <p:txBody>
            <a:bodyPr wrap="square" rtlCol="0">
              <a:spAutoFit/>
            </a:bodyPr>
            <a:lstStyle/>
            <a:p>
              <a:pPr algn="ctr"/>
              <a:r>
                <a:rPr lang="zh-CN" altLang="en-US" sz="2000" b="1" dirty="0">
                  <a:solidFill>
                    <a:srgbClr val="00459B"/>
                  </a:solidFill>
                  <a:latin typeface="方正兰亭准黑简体" panose="02000000000000000000" pitchFamily="2" charset="-122"/>
                  <a:ea typeface="方正兰亭准黑简体" panose="02000000000000000000" pitchFamily="2" charset="-122"/>
                </a:rPr>
                <a:t>回路控制设备</a:t>
              </a:r>
              <a:endParaRPr lang="en-US" altLang="zh-CN" sz="2000" b="1" dirty="0">
                <a:solidFill>
                  <a:srgbClr val="00459B"/>
                </a:solidFill>
                <a:latin typeface="方正兰亭准黑简体" panose="02000000000000000000" pitchFamily="2" charset="-122"/>
                <a:ea typeface="方正兰亭准黑简体" panose="02000000000000000000" pitchFamily="2" charset="-122"/>
              </a:endParaRPr>
            </a:p>
            <a:p>
              <a:pPr algn="ctr"/>
              <a:endParaRPr lang="en-US" altLang="zh-CN" sz="2000" b="1" dirty="0">
                <a:solidFill>
                  <a:schemeClr val="bg1">
                    <a:lumMod val="50000"/>
                  </a:schemeClr>
                </a:solidFill>
                <a:latin typeface="方正兰亭纤黑简体" panose="02000000000000000000" pitchFamily="2" charset="-122"/>
                <a:ea typeface="方正兰亭纤黑简体" panose="02000000000000000000" pitchFamily="2" charset="-122"/>
              </a:endParaRPr>
            </a:p>
            <a:p>
              <a:pPr>
                <a:lnSpc>
                  <a:spcPct val="150000"/>
                </a:lnSpc>
              </a:pPr>
              <a:r>
                <a:rPr lang="zh-CN" altLang="en-US" sz="1400" dirty="0">
                  <a:latin typeface="方正兰亭纤黑简体" panose="02000000000000000000" pitchFamily="2" charset="-122"/>
                  <a:ea typeface="方正兰亭纤黑简体" panose="02000000000000000000" pitchFamily="2" charset="-122"/>
                </a:rPr>
                <a:t>      </a:t>
              </a:r>
              <a:r>
                <a:rPr lang="zh-CN" altLang="en-US" sz="1400" b="1" dirty="0">
                  <a:latin typeface="方正兰亭纤黑简体" panose="02000000000000000000" pitchFamily="2" charset="-122"/>
                  <a:ea typeface="方正兰亭纤黑简体" panose="02000000000000000000" pitchFamily="2" charset="-122"/>
                </a:rPr>
                <a:t>通过增加回路控制器</a:t>
              </a:r>
              <a:r>
                <a:rPr lang="zh-CN" altLang="en-US" sz="1400" dirty="0">
                  <a:latin typeface="方正兰亭纤黑简体" panose="02000000000000000000" pitchFamily="2" charset="-122"/>
                  <a:ea typeface="方正兰亭纤黑简体" panose="02000000000000000000" pitchFamily="2" charset="-122"/>
                </a:rPr>
                <a:t>，可以快速实现定时或分区开灯效果，可简单根据现场工作模式调配亮灯回路</a:t>
              </a:r>
              <a:endParaRPr lang="zh-CN" altLang="en-US" sz="1400" dirty="0">
                <a:latin typeface="方正兰亭纤黑简体" panose="02000000000000000000" pitchFamily="2" charset="-122"/>
                <a:ea typeface="方正兰亭纤黑简体" panose="02000000000000000000" pitchFamily="2" charset="-122"/>
              </a:endParaRPr>
            </a:p>
          </p:txBody>
        </p:sp>
        <p:sp>
          <p:nvSpPr>
            <p:cNvPr id="12" name="加号 11"/>
            <p:cNvSpPr/>
            <p:nvPr/>
          </p:nvSpPr>
          <p:spPr>
            <a:xfrm>
              <a:off x="7605168" y="2649776"/>
              <a:ext cx="970960" cy="970960"/>
            </a:xfrm>
            <a:prstGeom prst="mathPlus">
              <a:avLst/>
            </a:prstGeom>
            <a:solidFill>
              <a:srgbClr val="44C7E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rotWithShape="1">
            <a:blip r:embed="rId5"/>
            <a:srcRect l="27076" t="25602" r="33182" b="30098"/>
            <a:stretch>
              <a:fillRect/>
            </a:stretch>
          </p:blipFill>
          <p:spPr>
            <a:xfrm>
              <a:off x="9207593" y="2251190"/>
              <a:ext cx="1315089" cy="1421738"/>
            </a:xfrm>
            <a:prstGeom prst="rect">
              <a:avLst/>
            </a:prstGeom>
          </p:spPr>
        </p:pic>
        <p:sp>
          <p:nvSpPr>
            <p:cNvPr id="14" name="文本框 13"/>
            <p:cNvSpPr txBox="1"/>
            <p:nvPr/>
          </p:nvSpPr>
          <p:spPr>
            <a:xfrm>
              <a:off x="8391522" y="3903824"/>
              <a:ext cx="3183264" cy="2285626"/>
            </a:xfrm>
            <a:prstGeom prst="rect">
              <a:avLst/>
            </a:prstGeom>
            <a:noFill/>
          </p:spPr>
          <p:txBody>
            <a:bodyPr wrap="square" rtlCol="0">
              <a:spAutoFit/>
            </a:bodyPr>
            <a:lstStyle/>
            <a:p>
              <a:pPr algn="ctr"/>
              <a:r>
                <a:rPr lang="zh-CN" altLang="en-US" sz="2000" b="1" dirty="0">
                  <a:solidFill>
                    <a:srgbClr val="00459B"/>
                  </a:solidFill>
                  <a:latin typeface="方正兰亭准黑简体" panose="02000000000000000000" pitchFamily="2" charset="-122"/>
                  <a:ea typeface="方正兰亭准黑简体" panose="02000000000000000000" pitchFamily="2" charset="-122"/>
                </a:rPr>
                <a:t>自动化传感设备</a:t>
              </a:r>
              <a:endParaRPr lang="en-US" altLang="zh-CN" sz="2000" b="1" dirty="0">
                <a:solidFill>
                  <a:srgbClr val="00459B"/>
                </a:solidFill>
                <a:latin typeface="方正兰亭准黑简体" panose="02000000000000000000" pitchFamily="2" charset="-122"/>
                <a:ea typeface="方正兰亭准黑简体" panose="02000000000000000000" pitchFamily="2" charset="-122"/>
              </a:endParaRPr>
            </a:p>
            <a:p>
              <a:pPr algn="ctr"/>
              <a:r>
                <a:rPr lang="en-US" altLang="zh-CN" sz="2000" b="1" dirty="0">
                  <a:solidFill>
                    <a:srgbClr val="00459B"/>
                  </a:solidFill>
                  <a:latin typeface="方正兰亭准黑简体" panose="02000000000000000000" pitchFamily="2" charset="-122"/>
                  <a:ea typeface="方正兰亭准黑简体" panose="02000000000000000000" pitchFamily="2" charset="-122"/>
                </a:rPr>
                <a:t>+</a:t>
              </a:r>
              <a:r>
                <a:rPr lang="zh-CN" altLang="en-US" sz="2000" b="1" dirty="0">
                  <a:solidFill>
                    <a:srgbClr val="00459B"/>
                  </a:solidFill>
                  <a:latin typeface="方正兰亭准黑简体" panose="02000000000000000000" pitchFamily="2" charset="-122"/>
                  <a:ea typeface="方正兰亭准黑简体" panose="02000000000000000000" pitchFamily="2" charset="-122"/>
                </a:rPr>
                <a:t>调光灯具</a:t>
              </a:r>
              <a:endParaRPr lang="en-US" altLang="zh-CN" sz="2000" b="1" dirty="0">
                <a:solidFill>
                  <a:srgbClr val="00459B"/>
                </a:solidFill>
                <a:latin typeface="方正兰亭准黑简体" panose="02000000000000000000" pitchFamily="2" charset="-122"/>
                <a:ea typeface="方正兰亭准黑简体" panose="02000000000000000000" pitchFamily="2" charset="-122"/>
              </a:endParaRPr>
            </a:p>
            <a:p>
              <a:pPr>
                <a:lnSpc>
                  <a:spcPct val="150000"/>
                </a:lnSpc>
              </a:pPr>
              <a:r>
                <a:rPr lang="zh-CN" altLang="en-US" sz="1400" dirty="0">
                  <a:latin typeface="方正兰亭纤黑简体" panose="02000000000000000000" pitchFamily="2" charset="-122"/>
                  <a:ea typeface="方正兰亭纤黑简体" panose="02000000000000000000" pitchFamily="2" charset="-122"/>
                </a:rPr>
                <a:t>      </a:t>
              </a:r>
              <a:r>
                <a:rPr lang="zh-CN" altLang="en-US" sz="1400" b="1" dirty="0">
                  <a:latin typeface="方正兰亭纤黑简体" panose="02000000000000000000" pitchFamily="2" charset="-122"/>
                  <a:ea typeface="方正兰亭纤黑简体" panose="02000000000000000000" pitchFamily="2" charset="-122"/>
                </a:rPr>
                <a:t>通过增加传感器</a:t>
              </a:r>
              <a:r>
                <a:rPr lang="zh-CN" altLang="en-US" sz="1400" dirty="0">
                  <a:latin typeface="方正兰亭纤黑简体" panose="02000000000000000000" pitchFamily="2" charset="-122"/>
                  <a:ea typeface="方正兰亭纤黑简体" panose="02000000000000000000" pitchFamily="2" charset="-122"/>
                </a:rPr>
                <a:t>，例如红外传感器、照度传感器、微波传感器，探测室内环境对照明的需求，自动开关灯具，实现人来灯亮人走灯灭（微亮）以及根据光环境调节灯具明暗等</a:t>
              </a:r>
              <a:endParaRPr lang="zh-CN" altLang="en-US" sz="1400" dirty="0">
                <a:latin typeface="方正兰亭纤黑简体" panose="02000000000000000000" pitchFamily="2" charset="-122"/>
                <a:ea typeface="方正兰亭纤黑简体" panose="02000000000000000000" pitchFamily="2" charset="-122"/>
              </a:endParaRPr>
            </a:p>
          </p:txBody>
        </p:sp>
        <p:sp>
          <p:nvSpPr>
            <p:cNvPr id="15" name="文本框 14"/>
            <p:cNvSpPr txBox="1"/>
            <p:nvPr/>
          </p:nvSpPr>
          <p:spPr>
            <a:xfrm>
              <a:off x="1947131" y="1655757"/>
              <a:ext cx="949812" cy="369332"/>
            </a:xfrm>
            <a:prstGeom prst="rect">
              <a:avLst/>
            </a:prstGeom>
            <a:noFill/>
          </p:spPr>
          <p:txBody>
            <a:bodyPr wrap="none" rtlCol="0">
              <a:spAutoFit/>
            </a:bodyPr>
            <a:lstStyle/>
            <a:p>
              <a:r>
                <a:rPr lang="en-US" altLang="zh-CN" b="1" dirty="0"/>
                <a:t>Lev. 01</a:t>
              </a:r>
              <a:endParaRPr lang="zh-CN" altLang="en-US" b="1" dirty="0"/>
            </a:p>
          </p:txBody>
        </p:sp>
        <p:sp>
          <p:nvSpPr>
            <p:cNvPr id="16" name="文本框 15"/>
            <p:cNvSpPr txBox="1"/>
            <p:nvPr/>
          </p:nvSpPr>
          <p:spPr>
            <a:xfrm>
              <a:off x="5633917" y="1655757"/>
              <a:ext cx="949812" cy="369332"/>
            </a:xfrm>
            <a:prstGeom prst="rect">
              <a:avLst/>
            </a:prstGeom>
            <a:noFill/>
          </p:spPr>
          <p:txBody>
            <a:bodyPr wrap="none" rtlCol="0">
              <a:spAutoFit/>
            </a:bodyPr>
            <a:lstStyle/>
            <a:p>
              <a:r>
                <a:rPr lang="en-US" altLang="zh-CN" b="1" dirty="0"/>
                <a:t>Lev. 02</a:t>
              </a:r>
              <a:endParaRPr lang="zh-CN" altLang="en-US" b="1" dirty="0"/>
            </a:p>
          </p:txBody>
        </p:sp>
        <p:sp>
          <p:nvSpPr>
            <p:cNvPr id="17" name="文本框 16"/>
            <p:cNvSpPr txBox="1"/>
            <p:nvPr/>
          </p:nvSpPr>
          <p:spPr>
            <a:xfrm>
              <a:off x="9320703" y="1655757"/>
              <a:ext cx="949812" cy="369332"/>
            </a:xfrm>
            <a:prstGeom prst="rect">
              <a:avLst/>
            </a:prstGeom>
            <a:noFill/>
          </p:spPr>
          <p:txBody>
            <a:bodyPr wrap="none" rtlCol="0">
              <a:spAutoFit/>
            </a:bodyPr>
            <a:lstStyle/>
            <a:p>
              <a:r>
                <a:rPr lang="en-US" altLang="zh-CN" b="1" dirty="0"/>
                <a:t>Lev. 03</a:t>
              </a:r>
              <a:endParaRPr lang="zh-CN" altLang="en-US" b="1" dirty="0"/>
            </a:p>
          </p:txBody>
        </p:sp>
      </p:gr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矩形 97"/>
          <p:cNvSpPr/>
          <p:nvPr/>
        </p:nvSpPr>
        <p:spPr>
          <a:xfrm>
            <a:off x="3829582" y="3616327"/>
            <a:ext cx="1041242"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99" name="矩形 98"/>
          <p:cNvSpPr/>
          <p:nvPr/>
        </p:nvSpPr>
        <p:spPr>
          <a:xfrm>
            <a:off x="3844329" y="1546775"/>
            <a:ext cx="1025874"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00" name="矩形 99"/>
          <p:cNvSpPr/>
          <p:nvPr/>
        </p:nvSpPr>
        <p:spPr>
          <a:xfrm>
            <a:off x="3815338" y="4652112"/>
            <a:ext cx="1040427" cy="802657"/>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01" name="矩形 100"/>
          <p:cNvSpPr/>
          <p:nvPr/>
        </p:nvSpPr>
        <p:spPr>
          <a:xfrm>
            <a:off x="3829352" y="2568390"/>
            <a:ext cx="1041242"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02" name="矩形 101"/>
          <p:cNvSpPr/>
          <p:nvPr/>
        </p:nvSpPr>
        <p:spPr>
          <a:xfrm>
            <a:off x="3829148" y="1160889"/>
            <a:ext cx="2197105" cy="398243"/>
          </a:xfrm>
          <a:prstGeom prst="rect">
            <a:avLst/>
          </a:prstGeom>
          <a:solidFill>
            <a:srgbClr val="18278D"/>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algn="ctr">
              <a:defRPr/>
            </a:pPr>
            <a:r>
              <a:rPr lang="zh-CN" altLang="en-US" sz="1400" b="1" kern="0" dirty="0">
                <a:solidFill>
                  <a:prstClr val="white"/>
                </a:solidFill>
                <a:latin typeface="微软雅黑" panose="020B0503020204020204" pitchFamily="34" charset="-122"/>
                <a:ea typeface="微软雅黑" panose="020B0503020204020204" pitchFamily="34" charset="-122"/>
              </a:rPr>
              <a:t>洁净生产车间</a:t>
            </a:r>
            <a:r>
              <a:rPr lang="en-US" altLang="zh-CN" sz="1400" b="1" kern="0" dirty="0">
                <a:solidFill>
                  <a:prstClr val="white"/>
                </a:solidFill>
                <a:latin typeface="微软雅黑" panose="020B0503020204020204" pitchFamily="34" charset="-122"/>
                <a:ea typeface="微软雅黑" panose="020B0503020204020204" pitchFamily="34" charset="-122"/>
              </a:rPr>
              <a:t>/</a:t>
            </a:r>
            <a:r>
              <a:rPr lang="zh-CN" altLang="en-US" sz="1400" b="1" kern="0" dirty="0">
                <a:solidFill>
                  <a:prstClr val="white"/>
                </a:solidFill>
                <a:latin typeface="微软雅黑" panose="020B0503020204020204" pitchFamily="34" charset="-122"/>
                <a:ea typeface="微软雅黑" panose="020B0503020204020204" pitchFamily="34" charset="-122"/>
              </a:rPr>
              <a:t>实验室</a:t>
            </a:r>
            <a:endParaRPr lang="zh-CN" altLang="en-US" sz="1400" b="1" kern="0" dirty="0">
              <a:solidFill>
                <a:prstClr val="white"/>
              </a:solidFill>
              <a:latin typeface="微软雅黑" panose="020B0503020204020204" pitchFamily="34" charset="-122"/>
              <a:ea typeface="微软雅黑" panose="020B0503020204020204" pitchFamily="34" charset="-122"/>
            </a:endParaRPr>
          </a:p>
        </p:txBody>
      </p:sp>
      <p:sp>
        <p:nvSpPr>
          <p:cNvPr id="103" name="文本框 102"/>
          <p:cNvSpPr txBox="1"/>
          <p:nvPr/>
        </p:nvSpPr>
        <p:spPr>
          <a:xfrm>
            <a:off x="3825306" y="3357131"/>
            <a:ext cx="1041241"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佳</a:t>
            </a:r>
            <a:r>
              <a:rPr lang="en-US" altLang="zh-CN" sz="1000" kern="0" dirty="0">
                <a:solidFill>
                  <a:prstClr val="black"/>
                </a:solidFill>
                <a:latin typeface="微软雅黑" panose="020B0503020204020204" pitchFamily="34" charset="-122"/>
                <a:ea typeface="微软雅黑" panose="020B0503020204020204" pitchFamily="34" charset="-122"/>
              </a:rPr>
              <a:t>II</a:t>
            </a:r>
            <a:r>
              <a:rPr lang="zh-CN" altLang="en-US" sz="1000" kern="0" dirty="0">
                <a:solidFill>
                  <a:prstClr val="black"/>
                </a:solidFill>
                <a:latin typeface="微软雅黑" panose="020B0503020204020204" pitchFamily="34" charset="-122"/>
                <a:ea typeface="微软雅黑" panose="020B0503020204020204" pitchFamily="34" charset="-122"/>
              </a:rPr>
              <a:t>洁净灯盘</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04" name="文本框 103"/>
          <p:cNvSpPr txBox="1"/>
          <p:nvPr/>
        </p:nvSpPr>
        <p:spPr>
          <a:xfrm>
            <a:off x="3829149" y="2338893"/>
            <a:ext cx="1041241"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尚洁净灯盘</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05" name="文本框 104"/>
          <p:cNvSpPr txBox="1"/>
          <p:nvPr/>
        </p:nvSpPr>
        <p:spPr>
          <a:xfrm>
            <a:off x="3787681" y="5418970"/>
            <a:ext cx="1041241"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昊洁净灯盘</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06" name="文本框 105"/>
          <p:cNvSpPr txBox="1"/>
          <p:nvPr/>
        </p:nvSpPr>
        <p:spPr>
          <a:xfrm>
            <a:off x="4965929" y="6466481"/>
            <a:ext cx="1296813"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空体洁净支架</a:t>
            </a:r>
            <a:r>
              <a:rPr lang="en-US" altLang="zh-CN" sz="1000" kern="0" dirty="0">
                <a:solidFill>
                  <a:prstClr val="black"/>
                </a:solidFill>
                <a:latin typeface="微软雅黑" panose="020B0503020204020204" pitchFamily="34" charset="-122"/>
                <a:ea typeface="微软雅黑" panose="020B0503020204020204" pitchFamily="34" charset="-122"/>
              </a:rPr>
              <a:t>/</a:t>
            </a:r>
            <a:r>
              <a:rPr lang="zh-CN" altLang="en-US" sz="1000" kern="0" dirty="0">
                <a:solidFill>
                  <a:prstClr val="black"/>
                </a:solidFill>
                <a:latin typeface="微软雅黑" panose="020B0503020204020204" pitchFamily="34" charset="-122"/>
                <a:ea typeface="微软雅黑" panose="020B0503020204020204" pitchFamily="34" charset="-122"/>
              </a:rPr>
              <a:t>灯盘</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07" name="矩形 106"/>
          <p:cNvSpPr/>
          <p:nvPr/>
        </p:nvSpPr>
        <p:spPr>
          <a:xfrm>
            <a:off x="5000379" y="1546516"/>
            <a:ext cx="1025874"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4" name="组合 3"/>
          <p:cNvGrpSpPr/>
          <p:nvPr/>
        </p:nvGrpSpPr>
        <p:grpSpPr>
          <a:xfrm>
            <a:off x="3773258" y="1648080"/>
            <a:ext cx="2312698" cy="4862705"/>
            <a:chOff x="5079989" y="1684145"/>
            <a:chExt cx="2278403" cy="4862705"/>
          </a:xfrm>
        </p:grpSpPr>
        <p:sp>
          <p:nvSpPr>
            <p:cNvPr id="20" name="矩形 19"/>
            <p:cNvSpPr/>
            <p:nvPr/>
          </p:nvSpPr>
          <p:spPr>
            <a:xfrm>
              <a:off x="6321201" y="4723167"/>
              <a:ext cx="1024998" cy="802657"/>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29" name="图片 128"/>
            <p:cNvPicPr>
              <a:picLocks noChangeAspect="1"/>
            </p:cNvPicPr>
            <p:nvPr/>
          </p:nvPicPr>
          <p:blipFill>
            <a:blip r:embed="rId1"/>
            <a:stretch>
              <a:fillRect/>
            </a:stretch>
          </p:blipFill>
          <p:spPr>
            <a:xfrm>
              <a:off x="6313967" y="1857751"/>
              <a:ext cx="950770" cy="123747"/>
            </a:xfrm>
            <a:prstGeom prst="rect">
              <a:avLst/>
            </a:prstGeom>
          </p:spPr>
        </p:pic>
        <p:sp>
          <p:nvSpPr>
            <p:cNvPr id="130" name="文本框 129"/>
            <p:cNvSpPr txBox="1"/>
            <p:nvPr/>
          </p:nvSpPr>
          <p:spPr>
            <a:xfrm>
              <a:off x="6231651" y="2378572"/>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r>
                <a:rPr lang="zh-CN" altLang="en-US" sz="1000" dirty="0">
                  <a:solidFill>
                    <a:prstClr val="black"/>
                  </a:solidFill>
                  <a:latin typeface="微软雅黑" panose="020B0503020204020204" pitchFamily="34" charset="-122"/>
                  <a:ea typeface="微软雅黑" panose="020B0503020204020204" pitchFamily="34" charset="-122"/>
                </a:rPr>
                <a:t>尚洁净支架</a:t>
              </a:r>
              <a:endParaRPr lang="zh-CN" altLang="en-US" sz="1000" dirty="0">
                <a:solidFill>
                  <a:prstClr val="black"/>
                </a:solidFill>
                <a:latin typeface="微软雅黑" panose="020B0503020204020204" pitchFamily="34" charset="-122"/>
                <a:ea typeface="微软雅黑" panose="020B0503020204020204" pitchFamily="34" charset="-122"/>
              </a:endParaRPr>
            </a:p>
          </p:txBody>
        </p:sp>
        <p:sp>
          <p:nvSpPr>
            <p:cNvPr id="134" name="文本框 133"/>
            <p:cNvSpPr txBox="1"/>
            <p:nvPr/>
          </p:nvSpPr>
          <p:spPr>
            <a:xfrm>
              <a:off x="5079989" y="4445310"/>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r>
                <a:rPr lang="zh-CN" altLang="en-US" sz="1000" dirty="0">
                  <a:solidFill>
                    <a:prstClr val="black"/>
                  </a:solidFill>
                  <a:latin typeface="微软雅黑" panose="020B0503020204020204" pitchFamily="34" charset="-122"/>
                  <a:ea typeface="微软雅黑" panose="020B0503020204020204" pitchFamily="34" charset="-122"/>
                </a:rPr>
                <a:t>黄光灯管</a:t>
              </a:r>
              <a:endParaRPr lang="zh-CN" altLang="en-US" sz="1000" dirty="0">
                <a:solidFill>
                  <a:prstClr val="black"/>
                </a:solidFill>
                <a:latin typeface="微软雅黑" panose="020B0503020204020204" pitchFamily="34" charset="-122"/>
                <a:ea typeface="微软雅黑" panose="020B0503020204020204" pitchFamily="34" charset="-122"/>
              </a:endParaRPr>
            </a:p>
          </p:txBody>
        </p:sp>
        <p:sp>
          <p:nvSpPr>
            <p:cNvPr id="138" name="文本框 137"/>
            <p:cNvSpPr txBox="1"/>
            <p:nvPr/>
          </p:nvSpPr>
          <p:spPr>
            <a:xfrm>
              <a:off x="6296584" y="5509975"/>
              <a:ext cx="1025800" cy="246221"/>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r>
                <a:rPr lang="zh-CN" altLang="en-US" sz="1000" dirty="0">
                  <a:solidFill>
                    <a:prstClr val="black"/>
                  </a:solidFill>
                  <a:latin typeface="微软雅黑" panose="020B0503020204020204" pitchFamily="34" charset="-122"/>
                  <a:ea typeface="微软雅黑" panose="020B0503020204020204" pitchFamily="34" charset="-122"/>
                </a:rPr>
                <a:t>昊</a:t>
              </a:r>
              <a:r>
                <a:rPr lang="en-US" altLang="zh-CN" sz="1000" dirty="0">
                  <a:solidFill>
                    <a:prstClr val="black"/>
                  </a:solidFill>
                  <a:latin typeface="微软雅黑" panose="020B0503020204020204" pitchFamily="34" charset="-122"/>
                  <a:ea typeface="微软雅黑" panose="020B0503020204020204" pitchFamily="34" charset="-122"/>
                </a:rPr>
                <a:t>Ⅱ</a:t>
              </a:r>
              <a:r>
                <a:rPr lang="zh-CN" altLang="en-US" sz="1000" dirty="0">
                  <a:solidFill>
                    <a:prstClr val="black"/>
                  </a:solidFill>
                  <a:latin typeface="微软雅黑" panose="020B0503020204020204" pitchFamily="34" charset="-122"/>
                  <a:ea typeface="微软雅黑" panose="020B0503020204020204" pitchFamily="34" charset="-122"/>
                </a:rPr>
                <a:t>洁净支架</a:t>
              </a:r>
              <a:endParaRPr lang="zh-CN" altLang="en-US" sz="1000" dirty="0">
                <a:solidFill>
                  <a:prstClr val="black"/>
                </a:solidFill>
                <a:latin typeface="微软雅黑" panose="020B0503020204020204" pitchFamily="34" charset="-122"/>
                <a:ea typeface="微软雅黑" panose="020B0503020204020204" pitchFamily="34" charset="-122"/>
              </a:endParaRPr>
            </a:p>
          </p:txBody>
        </p:sp>
        <p:pic>
          <p:nvPicPr>
            <p:cNvPr id="145" name="图片 144"/>
            <p:cNvPicPr>
              <a:picLocks noChangeAspect="1"/>
            </p:cNvPicPr>
            <p:nvPr/>
          </p:nvPicPr>
          <p:blipFill>
            <a:blip r:embed="rId2">
              <a:clrChange>
                <a:clrFrom>
                  <a:srgbClr val="FFFFFF"/>
                </a:clrFrom>
                <a:clrTo>
                  <a:srgbClr val="FFFFFF">
                    <a:alpha val="0"/>
                  </a:srgbClr>
                </a:clrTo>
              </a:clrChange>
            </a:blip>
            <a:stretch>
              <a:fillRect/>
            </a:stretch>
          </p:blipFill>
          <p:spPr>
            <a:xfrm>
              <a:off x="6424456" y="4880413"/>
              <a:ext cx="832995" cy="443332"/>
            </a:xfrm>
            <a:prstGeom prst="rect">
              <a:avLst/>
            </a:prstGeom>
          </p:spPr>
        </p:pic>
        <p:pic>
          <p:nvPicPr>
            <p:cNvPr id="175" name="图片 174"/>
            <p:cNvPicPr>
              <a:picLocks noChangeAspect="1"/>
            </p:cNvPicPr>
            <p:nvPr/>
          </p:nvPicPr>
          <p:blipFill rotWithShape="1">
            <a:blip r:embed="rId3" cstate="print">
              <a:extLst>
                <a:ext uri="{28A0092B-C50C-407E-A947-70E740481C1C}">
                  <a14:useLocalDpi xmlns:a14="http://schemas.microsoft.com/office/drawing/2010/main" val="0"/>
                </a:ext>
              </a:extLst>
            </a:blip>
            <a:srcRect l="19931" t="24409" r="26033" b="26772"/>
            <a:stretch>
              <a:fillRect/>
            </a:stretch>
          </p:blipFill>
          <p:spPr>
            <a:xfrm>
              <a:off x="5211563" y="1684145"/>
              <a:ext cx="849680" cy="573474"/>
            </a:xfrm>
            <a:prstGeom prst="rect">
              <a:avLst/>
            </a:prstGeom>
          </p:spPr>
        </p:pic>
        <p:pic>
          <p:nvPicPr>
            <p:cNvPr id="176" name="图片 175"/>
            <p:cNvPicPr>
              <a:picLocks noChangeAspect="1"/>
            </p:cNvPicPr>
            <p:nvPr/>
          </p:nvPicPr>
          <p:blipFill rotWithShape="1">
            <a:blip r:embed="rId4" cstate="print">
              <a:extLst>
                <a:ext uri="{28A0092B-C50C-407E-A947-70E740481C1C}">
                  <a14:useLocalDpi xmlns:a14="http://schemas.microsoft.com/office/drawing/2010/main" val="0"/>
                </a:ext>
              </a:extLst>
            </a:blip>
            <a:srcRect l="19931" t="24409" r="26033" b="26772"/>
            <a:stretch>
              <a:fillRect/>
            </a:stretch>
          </p:blipFill>
          <p:spPr>
            <a:xfrm>
              <a:off x="5198993" y="2709383"/>
              <a:ext cx="902923" cy="609410"/>
            </a:xfrm>
            <a:prstGeom prst="rect">
              <a:avLst/>
            </a:prstGeom>
          </p:spPr>
        </p:pic>
        <p:pic>
          <p:nvPicPr>
            <p:cNvPr id="177" name="图片 176"/>
            <p:cNvPicPr>
              <a:picLocks noChangeAspect="1"/>
            </p:cNvPicPr>
            <p:nvPr/>
          </p:nvPicPr>
          <p:blipFill rotWithShape="1">
            <a:blip r:embed="rId4" cstate="print">
              <a:extLst>
                <a:ext uri="{28A0092B-C50C-407E-A947-70E740481C1C}">
                  <a14:useLocalDpi xmlns:a14="http://schemas.microsoft.com/office/drawing/2010/main" val="0"/>
                </a:ext>
              </a:extLst>
            </a:blip>
            <a:srcRect l="19931" t="24409" r="26033" b="26772"/>
            <a:stretch>
              <a:fillRect/>
            </a:stretch>
          </p:blipFill>
          <p:spPr>
            <a:xfrm>
              <a:off x="5174531" y="4705800"/>
              <a:ext cx="902923" cy="609410"/>
            </a:xfrm>
            <a:prstGeom prst="rect">
              <a:avLst/>
            </a:prstGeom>
          </p:spPr>
        </p:pic>
        <p:pic>
          <p:nvPicPr>
            <p:cNvPr id="178" name="Picture 2" descr="https://img0.baidu.com/it/u=2388880163,3841085212&amp;fm=253&amp;fmt=auto&amp;app=138&amp;f=JPEG?w=500&amp;h=266"/>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9023" b="91729" l="6200" r="96400"/>
                      </a14:imgEffect>
                    </a14:imgLayer>
                  </a14:imgProps>
                </a:ext>
                <a:ext uri="{28A0092B-C50C-407E-A947-70E740481C1C}">
                  <a14:useLocalDpi xmlns:a14="http://schemas.microsoft.com/office/drawing/2010/main" val="0"/>
                </a:ext>
              </a:extLst>
            </a:blip>
            <a:srcRect/>
            <a:stretch>
              <a:fillRect/>
            </a:stretch>
          </p:blipFill>
          <p:spPr bwMode="auto">
            <a:xfrm rot="21109418">
              <a:off x="5140491" y="3785305"/>
              <a:ext cx="947494" cy="488639"/>
            </a:xfrm>
            <a:prstGeom prst="rect">
              <a:avLst/>
            </a:prstGeom>
            <a:noFill/>
            <a:extLst>
              <a:ext uri="{909E8E84-426E-40DD-AFC4-6F175D3DCCD1}">
                <a14:hiddenFill xmlns:a14="http://schemas.microsoft.com/office/drawing/2010/main">
                  <a:solidFill>
                    <a:srgbClr val="FFFFFF"/>
                  </a:solidFill>
                </a14:hiddenFill>
              </a:ext>
            </a:extLst>
          </p:spPr>
        </p:pic>
        <p:sp>
          <p:nvSpPr>
            <p:cNvPr id="179" name="矩形 178"/>
            <p:cNvSpPr/>
            <p:nvPr/>
          </p:nvSpPr>
          <p:spPr>
            <a:xfrm>
              <a:off x="6333394" y="5744193"/>
              <a:ext cx="1024998" cy="802657"/>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80" name="图片 179"/>
            <p:cNvPicPr>
              <a:picLocks noChangeAspect="1"/>
            </p:cNvPicPr>
            <p:nvPr/>
          </p:nvPicPr>
          <p:blipFill>
            <a:blip r:embed="rId7"/>
            <a:stretch>
              <a:fillRect/>
            </a:stretch>
          </p:blipFill>
          <p:spPr>
            <a:xfrm rot="17201427">
              <a:off x="6740247" y="5564725"/>
              <a:ext cx="231443" cy="912871"/>
            </a:xfrm>
            <a:prstGeom prst="rect">
              <a:avLst/>
            </a:prstGeom>
          </p:spPr>
        </p:pic>
        <p:pic>
          <p:nvPicPr>
            <p:cNvPr id="181" name="图片 180"/>
            <p:cNvPicPr>
              <a:picLocks noChangeAspect="1"/>
            </p:cNvPicPr>
            <p:nvPr/>
          </p:nvPicPr>
          <p:blipFill>
            <a:blip r:embed="rId8"/>
            <a:stretch>
              <a:fillRect/>
            </a:stretch>
          </p:blipFill>
          <p:spPr>
            <a:xfrm rot="18056010">
              <a:off x="6526084" y="6109652"/>
              <a:ext cx="361950" cy="385772"/>
            </a:xfrm>
            <a:prstGeom prst="rect">
              <a:avLst/>
            </a:prstGeom>
          </p:spPr>
        </p:pic>
        <p:sp>
          <p:nvSpPr>
            <p:cNvPr id="182" name="矩形 181"/>
            <p:cNvSpPr/>
            <p:nvPr/>
          </p:nvSpPr>
          <p:spPr>
            <a:xfrm>
              <a:off x="6307553" y="3682362"/>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83" name="图片 182"/>
            <p:cNvPicPr>
              <a:picLocks noChangeAspect="1"/>
            </p:cNvPicPr>
            <p:nvPr/>
          </p:nvPicPr>
          <p:blipFill>
            <a:blip r:embed="rId9">
              <a:clrChange>
                <a:clrFrom>
                  <a:srgbClr val="F5F5F5"/>
                </a:clrFrom>
                <a:clrTo>
                  <a:srgbClr val="F5F5F5">
                    <a:alpha val="0"/>
                  </a:srgbClr>
                </a:clrTo>
              </a:clrChange>
            </a:blip>
            <a:stretch>
              <a:fillRect/>
            </a:stretch>
          </p:blipFill>
          <p:spPr>
            <a:xfrm>
              <a:off x="6453381" y="3838592"/>
              <a:ext cx="873460" cy="388983"/>
            </a:xfrm>
            <a:prstGeom prst="rect">
              <a:avLst/>
            </a:prstGeom>
          </p:spPr>
        </p:pic>
        <p:sp>
          <p:nvSpPr>
            <p:cNvPr id="184" name="文本框 183"/>
            <p:cNvSpPr txBox="1"/>
            <p:nvPr/>
          </p:nvSpPr>
          <p:spPr>
            <a:xfrm>
              <a:off x="6311268" y="4455903"/>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r>
                <a:rPr lang="zh-CN" altLang="en-US" sz="1000" dirty="0">
                  <a:solidFill>
                    <a:prstClr val="black"/>
                  </a:solidFill>
                  <a:latin typeface="微软雅黑" panose="020B0503020204020204" pitchFamily="34" charset="-122"/>
                  <a:ea typeface="微软雅黑" panose="020B0503020204020204" pitchFamily="34" charset="-122"/>
                </a:rPr>
                <a:t>佳三防支架</a:t>
              </a:r>
              <a:endParaRPr lang="zh-CN" altLang="en-US" sz="1000" dirty="0">
                <a:solidFill>
                  <a:prstClr val="black"/>
                </a:solidFill>
                <a:latin typeface="微软雅黑" panose="020B0503020204020204" pitchFamily="34" charset="-122"/>
                <a:ea typeface="微软雅黑" panose="020B0503020204020204" pitchFamily="34" charset="-122"/>
              </a:endParaRPr>
            </a:p>
          </p:txBody>
        </p:sp>
        <p:sp>
          <p:nvSpPr>
            <p:cNvPr id="185" name="矩形 184"/>
            <p:cNvSpPr/>
            <p:nvPr/>
          </p:nvSpPr>
          <p:spPr>
            <a:xfrm>
              <a:off x="6295127" y="2601067"/>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86" name="图片 18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334132" y="2640317"/>
              <a:ext cx="1020202" cy="659400"/>
            </a:xfrm>
            <a:prstGeom prst="rect">
              <a:avLst/>
            </a:prstGeom>
          </p:spPr>
        </p:pic>
        <p:sp>
          <p:nvSpPr>
            <p:cNvPr id="187" name="文本框 186"/>
            <p:cNvSpPr txBox="1"/>
            <p:nvPr/>
          </p:nvSpPr>
          <p:spPr>
            <a:xfrm>
              <a:off x="6183061" y="3398237"/>
              <a:ext cx="1165726"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旭恒三防吸顶灯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grpSp>
      <p:pic>
        <p:nvPicPr>
          <p:cNvPr id="2" name="图片 1" hidden="1"/>
          <p:cNvPicPr>
            <a:picLocks noChangeAspect="1"/>
          </p:cNvPicPr>
          <p:nvPr>
            <p:custDataLst>
              <p:tags r:id="rId11"/>
            </p:custDataLst>
          </p:nvPr>
        </p:nvPicPr>
        <p:blipFill rotWithShape="1">
          <a:blip r:embed="rId12">
            <a:biLevel thresh="25000"/>
            <a:extLst>
              <a:ext uri="{28A0092B-C50C-407E-A947-70E740481C1C}">
                <a14:useLocalDpi xmlns:a14="http://schemas.microsoft.com/office/drawing/2010/main" val="0"/>
              </a:ext>
            </a:extLst>
          </a:blip>
          <a:srcRect t="3781" b="3284"/>
          <a:stretch>
            <a:fillRect/>
          </a:stretch>
        </p:blipFill>
        <p:spPr>
          <a:xfrm>
            <a:off x="-96845" y="0"/>
            <a:ext cx="4933706" cy="6877734"/>
          </a:xfrm>
          <a:prstGeom prst="rect">
            <a:avLst/>
          </a:prstGeom>
        </p:spPr>
      </p:pic>
      <p:sp>
        <p:nvSpPr>
          <p:cNvPr id="22" name="矩形 21"/>
          <p:cNvSpPr/>
          <p:nvPr/>
        </p:nvSpPr>
        <p:spPr>
          <a:xfrm>
            <a:off x="1479776" y="1555713"/>
            <a:ext cx="1010661"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23" name="矩形 22"/>
          <p:cNvSpPr/>
          <p:nvPr/>
        </p:nvSpPr>
        <p:spPr>
          <a:xfrm>
            <a:off x="1464773" y="1160889"/>
            <a:ext cx="1026000" cy="398243"/>
          </a:xfrm>
          <a:prstGeom prst="rect">
            <a:avLst/>
          </a:prstGeom>
          <a:solidFill>
            <a:schemeClr val="accent1">
              <a:lumMod val="60000"/>
              <a:lumOff val="40000"/>
            </a:schemeClr>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algn="ctr">
              <a:defRPr/>
            </a:pPr>
            <a:r>
              <a:rPr lang="zh-CN" altLang="en-US" sz="1400" b="1" kern="0" dirty="0">
                <a:solidFill>
                  <a:prstClr val="white"/>
                </a:solidFill>
                <a:latin typeface="微软雅黑" panose="020B0503020204020204" pitchFamily="34" charset="-122"/>
                <a:ea typeface="微软雅黑" panose="020B0503020204020204" pitchFamily="34" charset="-122"/>
              </a:rPr>
              <a:t>会议室</a:t>
            </a:r>
            <a:endParaRPr lang="zh-CN" altLang="en-US" sz="1400" b="1" kern="0" dirty="0">
              <a:solidFill>
                <a:prstClr val="white"/>
              </a:solidFill>
              <a:latin typeface="微软雅黑" panose="020B0503020204020204" pitchFamily="34" charset="-122"/>
              <a:ea typeface="微软雅黑" panose="020B0503020204020204" pitchFamily="34" charset="-122"/>
            </a:endParaRPr>
          </a:p>
        </p:txBody>
      </p:sp>
      <p:pic>
        <p:nvPicPr>
          <p:cNvPr id="24" name="图片 29"/>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471065" y="1620116"/>
            <a:ext cx="1026000" cy="5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文本框 25"/>
          <p:cNvSpPr txBox="1"/>
          <p:nvPr/>
        </p:nvSpPr>
        <p:spPr>
          <a:xfrm>
            <a:off x="1460986" y="6445921"/>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空体灯盘</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1457993" y="2347831"/>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致柔</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28" name="矩形 27"/>
          <p:cNvSpPr/>
          <p:nvPr/>
        </p:nvSpPr>
        <p:spPr>
          <a:xfrm>
            <a:off x="1458065" y="3624842"/>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29" name="矩形 28"/>
          <p:cNvSpPr/>
          <p:nvPr/>
        </p:nvSpPr>
        <p:spPr>
          <a:xfrm>
            <a:off x="1457992" y="4639787"/>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30" name="文本框 29"/>
          <p:cNvSpPr txBox="1"/>
          <p:nvPr/>
        </p:nvSpPr>
        <p:spPr>
          <a:xfrm>
            <a:off x="1462381" y="5403888"/>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虹煦低压灯带</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31" name="矩形 30"/>
          <p:cNvSpPr/>
          <p:nvPr/>
        </p:nvSpPr>
        <p:spPr>
          <a:xfrm>
            <a:off x="1460986" y="2577580"/>
            <a:ext cx="1025801"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32" name="图片 3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458490" y="2658386"/>
            <a:ext cx="1024297" cy="631959"/>
          </a:xfrm>
          <a:prstGeom prst="rect">
            <a:avLst/>
          </a:prstGeom>
          <a:ln>
            <a:noFill/>
          </a:ln>
        </p:spPr>
      </p:pic>
      <p:sp>
        <p:nvSpPr>
          <p:cNvPr id="33" name="文本框 32"/>
          <p:cNvSpPr txBox="1"/>
          <p:nvPr/>
        </p:nvSpPr>
        <p:spPr>
          <a:xfrm>
            <a:off x="1464973" y="3366069"/>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皓柔</a:t>
            </a:r>
            <a:r>
              <a:rPr lang="en-US" altLang="zh-CN" sz="1000" kern="0" dirty="0">
                <a:solidFill>
                  <a:prstClr val="black"/>
                </a:solidFill>
                <a:latin typeface="微软雅黑" panose="020B0503020204020204" pitchFamily="34" charset="-122"/>
                <a:ea typeface="微软雅黑" panose="020B0503020204020204" pitchFamily="34" charset="-122"/>
              </a:rPr>
              <a:t>plus</a:t>
            </a:r>
            <a:r>
              <a:rPr lang="zh-CN" altLang="en-US" sz="1000" kern="0" dirty="0">
                <a:solidFill>
                  <a:prstClr val="black"/>
                </a:solidFill>
                <a:latin typeface="微软雅黑" panose="020B0503020204020204" pitchFamily="34" charset="-122"/>
                <a:ea typeface="微软雅黑" panose="020B0503020204020204" pitchFamily="34" charset="-122"/>
              </a:rPr>
              <a:t>筒灯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35" name="矩形 34"/>
          <p:cNvSpPr/>
          <p:nvPr/>
        </p:nvSpPr>
        <p:spPr>
          <a:xfrm>
            <a:off x="279459" y="5641337"/>
            <a:ext cx="1042940" cy="787243"/>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36" name="矩形 35"/>
          <p:cNvSpPr/>
          <p:nvPr/>
        </p:nvSpPr>
        <p:spPr>
          <a:xfrm>
            <a:off x="287185" y="1537710"/>
            <a:ext cx="1025801"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37" name="矩形 36"/>
          <p:cNvSpPr/>
          <p:nvPr/>
        </p:nvSpPr>
        <p:spPr>
          <a:xfrm>
            <a:off x="306251" y="1160889"/>
            <a:ext cx="1026000" cy="398243"/>
          </a:xfrm>
          <a:prstGeom prst="rect">
            <a:avLst/>
          </a:prstGeom>
          <a:solidFill>
            <a:schemeClr val="accent1">
              <a:lumMod val="60000"/>
              <a:lumOff val="40000"/>
            </a:schemeClr>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algn="ctr">
              <a:defRPr/>
            </a:pPr>
            <a:r>
              <a:rPr lang="zh-CN" altLang="en-US" sz="1400" b="1" kern="0" dirty="0">
                <a:solidFill>
                  <a:prstClr val="white"/>
                </a:solidFill>
                <a:latin typeface="微软雅黑" panose="020B0503020204020204" pitchFamily="34" charset="-122"/>
                <a:ea typeface="微软雅黑" panose="020B0503020204020204" pitchFamily="34" charset="-122"/>
              </a:rPr>
              <a:t>办公室</a:t>
            </a:r>
            <a:endParaRPr lang="zh-CN" altLang="en-US" sz="1400" b="1" kern="0" dirty="0">
              <a:solidFill>
                <a:prstClr val="white"/>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279752" y="2350945"/>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越间接</a:t>
            </a:r>
            <a:r>
              <a:rPr lang="en-US" altLang="zh-CN" sz="1000" kern="0" dirty="0">
                <a:solidFill>
                  <a:prstClr val="black"/>
                </a:solidFill>
                <a:latin typeface="微软雅黑" panose="020B0503020204020204" pitchFamily="34" charset="-122"/>
                <a:ea typeface="微软雅黑" panose="020B0503020204020204" pitchFamily="34" charset="-122"/>
              </a:rPr>
              <a:t>/</a:t>
            </a:r>
            <a:r>
              <a:rPr lang="zh-CN" altLang="en-US" sz="1000" kern="0" dirty="0">
                <a:solidFill>
                  <a:prstClr val="black"/>
                </a:solidFill>
                <a:latin typeface="微软雅黑" panose="020B0503020204020204" pitchFamily="34" charset="-122"/>
                <a:ea typeface="微软雅黑" panose="020B0503020204020204" pitchFamily="34" charset="-122"/>
              </a:rPr>
              <a:t>直下</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39" name="矩形 38"/>
          <p:cNvSpPr/>
          <p:nvPr/>
        </p:nvSpPr>
        <p:spPr>
          <a:xfrm>
            <a:off x="302062" y="2573998"/>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40" name="图片 26"/>
          <p:cNvPicPr>
            <a:picLocks noChangeAspect="1"/>
          </p:cNvPicPr>
          <p:nvPr/>
        </p:nvPicPr>
        <p:blipFill>
          <a:blip r:embed="rId15" cstate="print">
            <a:extLst>
              <a:ext uri="{28A0092B-C50C-407E-A947-70E740481C1C}">
                <a14:useLocalDpi xmlns:a14="http://schemas.microsoft.com/office/drawing/2010/main" val="0"/>
              </a:ext>
            </a:extLst>
          </a:blip>
          <a:srcRect l="30054" t="9830" r="31599" b="7262"/>
          <a:stretch>
            <a:fillRect/>
          </a:stretch>
        </p:blipFill>
        <p:spPr bwMode="auto">
          <a:xfrm>
            <a:off x="431531" y="2675825"/>
            <a:ext cx="703818" cy="57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图片 35"/>
          <p:cNvPicPr>
            <a:picLocks noChangeAspect="1"/>
          </p:cNvPicPr>
          <p:nvPr/>
        </p:nvPicPr>
        <p:blipFill>
          <a:blip r:embed="rId16" cstate="print">
            <a:extLst>
              <a:ext uri="{28A0092B-C50C-407E-A947-70E740481C1C}">
                <a14:useLocalDpi xmlns:a14="http://schemas.microsoft.com/office/drawing/2010/main" val="0"/>
              </a:ext>
            </a:extLst>
          </a:blip>
          <a:srcRect l="25903" t="31628" r="28281" b="30219"/>
          <a:stretch>
            <a:fillRect/>
          </a:stretch>
        </p:blipFill>
        <p:spPr bwMode="auto">
          <a:xfrm>
            <a:off x="379621" y="5786187"/>
            <a:ext cx="708501" cy="58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文本框 41"/>
          <p:cNvSpPr txBox="1"/>
          <p:nvPr/>
        </p:nvSpPr>
        <p:spPr>
          <a:xfrm>
            <a:off x="169470" y="6411627"/>
            <a:ext cx="1112066"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众</a:t>
            </a:r>
            <a:r>
              <a:rPr lang="en-US" altLang="zh-CN" sz="1000" kern="0" dirty="0">
                <a:solidFill>
                  <a:prstClr val="black"/>
                </a:solidFill>
                <a:latin typeface="微软雅黑" panose="020B0503020204020204" pitchFamily="34" charset="-122"/>
                <a:ea typeface="微软雅黑" panose="020B0503020204020204" pitchFamily="34" charset="-122"/>
              </a:rPr>
              <a:t>IV</a:t>
            </a:r>
            <a:r>
              <a:rPr lang="zh-CN" altLang="en-US" sz="1000" kern="0" dirty="0">
                <a:solidFill>
                  <a:prstClr val="black"/>
                </a:solidFill>
                <a:latin typeface="微软雅黑" panose="020B0503020204020204" pitchFamily="34" charset="-122"/>
                <a:ea typeface="微软雅黑" panose="020B0503020204020204" pitchFamily="34" charset="-122"/>
              </a:rPr>
              <a:t>直下</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229863" y="3357611"/>
            <a:ext cx="1147931"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佳</a:t>
            </a:r>
            <a:r>
              <a:rPr lang="en-US" altLang="zh-CN" sz="1000" kern="0" dirty="0">
                <a:solidFill>
                  <a:prstClr val="black"/>
                </a:solidFill>
                <a:latin typeface="微软雅黑" panose="020B0503020204020204" pitchFamily="34" charset="-122"/>
                <a:ea typeface="微软雅黑" panose="020B0503020204020204" pitchFamily="34" charset="-122"/>
              </a:rPr>
              <a:t>III</a:t>
            </a:r>
            <a:r>
              <a:rPr lang="zh-CN" altLang="en-US" sz="1000" kern="0" dirty="0">
                <a:solidFill>
                  <a:prstClr val="black"/>
                </a:solidFill>
                <a:latin typeface="微软雅黑" panose="020B0503020204020204" pitchFamily="34" charset="-122"/>
                <a:ea typeface="微软雅黑" panose="020B0503020204020204" pitchFamily="34" charset="-122"/>
              </a:rPr>
              <a:t>直下</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45" name="矩形 44"/>
          <p:cNvSpPr/>
          <p:nvPr/>
        </p:nvSpPr>
        <p:spPr>
          <a:xfrm>
            <a:off x="2652783" y="1551917"/>
            <a:ext cx="1010661"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46" name="矩形 45"/>
          <p:cNvSpPr/>
          <p:nvPr/>
        </p:nvSpPr>
        <p:spPr>
          <a:xfrm>
            <a:off x="2637540" y="1160889"/>
            <a:ext cx="1026000" cy="398243"/>
          </a:xfrm>
          <a:prstGeom prst="rect">
            <a:avLst/>
          </a:prstGeom>
          <a:solidFill>
            <a:schemeClr val="accent1">
              <a:lumMod val="60000"/>
              <a:lumOff val="40000"/>
            </a:schemeClr>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algn="ctr">
              <a:defRPr/>
            </a:pPr>
            <a:r>
              <a:rPr lang="zh-CN" altLang="en-US" sz="1400" b="1" kern="0" dirty="0">
                <a:solidFill>
                  <a:prstClr val="white"/>
                </a:solidFill>
                <a:latin typeface="微软雅黑" panose="020B0503020204020204" pitchFamily="34" charset="-122"/>
                <a:ea typeface="微软雅黑" panose="020B0503020204020204" pitchFamily="34" charset="-122"/>
              </a:rPr>
              <a:t>报告厅</a:t>
            </a:r>
            <a:endParaRPr lang="en-US" altLang="zh-CN" sz="1100" b="1" kern="0" dirty="0">
              <a:solidFill>
                <a:prstClr val="white"/>
              </a:solidFill>
              <a:latin typeface="微软雅黑" panose="020B0503020204020204" pitchFamily="34" charset="-122"/>
              <a:ea typeface="微软雅黑" panose="020B0503020204020204" pitchFamily="34" charset="-122"/>
            </a:endParaRPr>
          </a:p>
        </p:txBody>
      </p:sp>
      <p:grpSp>
        <p:nvGrpSpPr>
          <p:cNvPr id="57" name="组合 56"/>
          <p:cNvGrpSpPr/>
          <p:nvPr/>
        </p:nvGrpSpPr>
        <p:grpSpPr>
          <a:xfrm flipH="1">
            <a:off x="2644409" y="1684644"/>
            <a:ext cx="997870" cy="549575"/>
            <a:chOff x="2907028" y="1892389"/>
            <a:chExt cx="1189917" cy="751369"/>
          </a:xfrm>
        </p:grpSpPr>
        <p:pic>
          <p:nvPicPr>
            <p:cNvPr id="65" name="图片 64"/>
            <p:cNvPicPr>
              <a:picLocks noChangeAspect="1"/>
            </p:cNvPicPr>
            <p:nvPr/>
          </p:nvPicPr>
          <p:blipFill rotWithShape="1">
            <a:blip r:embed="rId17" cstate="print">
              <a:extLst>
                <a:ext uri="{28A0092B-C50C-407E-A947-70E740481C1C}">
                  <a14:useLocalDpi xmlns:a14="http://schemas.microsoft.com/office/drawing/2010/main" val="0"/>
                </a:ext>
              </a:extLst>
            </a:blip>
            <a:srcRect l="15554" t="43868" r="1149" b="-2203"/>
            <a:stretch>
              <a:fillRect/>
            </a:stretch>
          </p:blipFill>
          <p:spPr>
            <a:xfrm>
              <a:off x="2907028" y="2223788"/>
              <a:ext cx="1189917" cy="419970"/>
            </a:xfrm>
            <a:prstGeom prst="rect">
              <a:avLst/>
            </a:prstGeom>
          </p:spPr>
        </p:pic>
        <p:pic>
          <p:nvPicPr>
            <p:cNvPr id="66" name="图片 65"/>
            <p:cNvPicPr>
              <a:picLocks noChangeAspect="1"/>
            </p:cNvPicPr>
            <p:nvPr/>
          </p:nvPicPr>
          <p:blipFill rotWithShape="1">
            <a:blip r:embed="rId18" cstate="print">
              <a:extLst>
                <a:ext uri="{28A0092B-C50C-407E-A947-70E740481C1C}">
                  <a14:useLocalDpi xmlns:a14="http://schemas.microsoft.com/office/drawing/2010/main" val="0"/>
                </a:ext>
              </a:extLst>
            </a:blip>
            <a:srcRect l="12841" t="698" r="15716" b="29594"/>
            <a:stretch>
              <a:fillRect/>
            </a:stretch>
          </p:blipFill>
          <p:spPr>
            <a:xfrm>
              <a:off x="2910710" y="1892389"/>
              <a:ext cx="1186235" cy="463337"/>
            </a:xfrm>
            <a:prstGeom prst="rect">
              <a:avLst/>
            </a:prstGeom>
          </p:spPr>
        </p:pic>
      </p:grpSp>
      <p:sp>
        <p:nvSpPr>
          <p:cNvPr id="58" name="文本框 57"/>
          <p:cNvSpPr txBox="1"/>
          <p:nvPr/>
        </p:nvSpPr>
        <p:spPr>
          <a:xfrm>
            <a:off x="2635516" y="2344035"/>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致型</a:t>
            </a:r>
            <a:r>
              <a:rPr lang="en-US" altLang="zh-CN" sz="1000" kern="0" dirty="0">
                <a:solidFill>
                  <a:prstClr val="black"/>
                </a:solidFill>
                <a:latin typeface="微软雅黑" panose="020B0503020204020204" pitchFamily="34" charset="-122"/>
                <a:ea typeface="微软雅黑" panose="020B0503020204020204" pitchFamily="34" charset="-122"/>
              </a:rPr>
              <a:t>II</a:t>
            </a:r>
            <a:r>
              <a:rPr lang="zh-CN" altLang="en-US" sz="1000" kern="0" dirty="0">
                <a:solidFill>
                  <a:prstClr val="black"/>
                </a:solidFill>
                <a:latin typeface="微软雅黑" panose="020B0503020204020204" pitchFamily="34" charset="-122"/>
                <a:ea typeface="微软雅黑" panose="020B0503020204020204" pitchFamily="34" charset="-122"/>
              </a:rPr>
              <a:t>线条灯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59" name="矩形 58"/>
          <p:cNvSpPr/>
          <p:nvPr/>
        </p:nvSpPr>
        <p:spPr>
          <a:xfrm>
            <a:off x="2644819" y="2573784"/>
            <a:ext cx="1025801"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60" name="文本框 59"/>
          <p:cNvSpPr txBox="1"/>
          <p:nvPr/>
        </p:nvSpPr>
        <p:spPr>
          <a:xfrm>
            <a:off x="2648806" y="3362272"/>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尚射灯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61" name="矩形 60"/>
          <p:cNvSpPr/>
          <p:nvPr/>
        </p:nvSpPr>
        <p:spPr>
          <a:xfrm>
            <a:off x="2674247" y="4658799"/>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62" name="文本框 61"/>
          <p:cNvSpPr txBox="1"/>
          <p:nvPr/>
        </p:nvSpPr>
        <p:spPr>
          <a:xfrm>
            <a:off x="2643568" y="5431659"/>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佳防眩筒灯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63" name="图片 62"/>
          <p:cNvPicPr>
            <a:picLocks noChangeAspect="1"/>
          </p:cNvPicPr>
          <p:nvPr/>
        </p:nvPicPr>
        <p:blipFill rotWithShape="1">
          <a:blip r:embed="rId19" cstate="print">
            <a:extLst>
              <a:ext uri="{28A0092B-C50C-407E-A947-70E740481C1C}">
                <a14:useLocalDpi xmlns:a14="http://schemas.microsoft.com/office/drawing/2010/main" val="0"/>
              </a:ext>
            </a:extLst>
          </a:blip>
          <a:srcRect l="20133" t="20600" r="19200" b="22000"/>
          <a:stretch>
            <a:fillRect/>
          </a:stretch>
        </p:blipFill>
        <p:spPr>
          <a:xfrm>
            <a:off x="2769932" y="4772726"/>
            <a:ext cx="752541" cy="512566"/>
          </a:xfrm>
          <a:prstGeom prst="rect">
            <a:avLst/>
          </a:prstGeom>
          <a:ln>
            <a:noFill/>
          </a:ln>
        </p:spPr>
      </p:pic>
      <p:sp>
        <p:nvSpPr>
          <p:cNvPr id="64" name="文本框 63"/>
          <p:cNvSpPr txBox="1"/>
          <p:nvPr/>
        </p:nvSpPr>
        <p:spPr>
          <a:xfrm>
            <a:off x="2648806" y="4409290"/>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灵显</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68" name="图片 67"/>
          <p:cNvPicPr>
            <a:picLocks noChangeAspect="1"/>
          </p:cNvPicPr>
          <p:nvPr/>
        </p:nvPicPr>
        <p:blipFill>
          <a:blip r:embed="rId20"/>
          <a:stretch>
            <a:fillRect/>
          </a:stretch>
        </p:blipFill>
        <p:spPr>
          <a:xfrm>
            <a:off x="10006070" y="1674302"/>
            <a:ext cx="543436" cy="617303"/>
          </a:xfrm>
          <a:prstGeom prst="rect">
            <a:avLst/>
          </a:prstGeom>
          <a:solidFill>
            <a:srgbClr val="FFFFFF">
              <a:shade val="85000"/>
            </a:srgbClr>
          </a:solidFill>
          <a:ln w="88900" cap="sq">
            <a:noFill/>
            <a:miter lim="800000"/>
            <a:headEnd/>
            <a:tailEnd/>
          </a:ln>
          <a:effectLst>
            <a:outerShdw blurRad="55000" dist="18000" dir="5400000" algn="tl" rotWithShape="0">
              <a:srgbClr val="000000">
                <a:alpha val="40000"/>
              </a:srgbClr>
            </a:outerShdw>
          </a:effectLst>
        </p:spPr>
      </p:pic>
      <p:sp>
        <p:nvSpPr>
          <p:cNvPr id="69" name="矩形 68"/>
          <p:cNvSpPr/>
          <p:nvPr/>
        </p:nvSpPr>
        <p:spPr>
          <a:xfrm>
            <a:off x="9741610" y="1564823"/>
            <a:ext cx="1010661"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70" name="矩形 69"/>
          <p:cNvSpPr/>
          <p:nvPr/>
        </p:nvSpPr>
        <p:spPr>
          <a:xfrm>
            <a:off x="9739526" y="1160889"/>
            <a:ext cx="1026000" cy="398243"/>
          </a:xfrm>
          <a:prstGeom prst="rect">
            <a:avLst/>
          </a:prstGeom>
          <a:solidFill>
            <a:schemeClr val="accent1">
              <a:lumMod val="60000"/>
              <a:lumOff val="40000"/>
            </a:schemeClr>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algn="ctr">
              <a:defRPr/>
            </a:pPr>
            <a:r>
              <a:rPr lang="zh-CN" altLang="en-US" sz="1400" b="1" kern="0" dirty="0">
                <a:solidFill>
                  <a:prstClr val="white"/>
                </a:solidFill>
                <a:latin typeface="微软雅黑" panose="020B0503020204020204" pitchFamily="34" charset="-122"/>
                <a:ea typeface="微软雅黑" panose="020B0503020204020204" pitchFamily="34" charset="-122"/>
              </a:rPr>
              <a:t>园区</a:t>
            </a:r>
            <a:r>
              <a:rPr lang="en-US" altLang="zh-CN" sz="1400" b="1" kern="0" dirty="0">
                <a:solidFill>
                  <a:prstClr val="white"/>
                </a:solidFill>
                <a:latin typeface="微软雅黑" panose="020B0503020204020204" pitchFamily="34" charset="-122"/>
                <a:ea typeface="微软雅黑" panose="020B0503020204020204" pitchFamily="34" charset="-122"/>
              </a:rPr>
              <a:t>/</a:t>
            </a:r>
            <a:r>
              <a:rPr lang="zh-CN" altLang="en-US" sz="1400" b="1" kern="0" dirty="0">
                <a:solidFill>
                  <a:prstClr val="white"/>
                </a:solidFill>
                <a:latin typeface="微软雅黑" panose="020B0503020204020204" pitchFamily="34" charset="-122"/>
                <a:ea typeface="微软雅黑" panose="020B0503020204020204" pitchFamily="34" charset="-122"/>
              </a:rPr>
              <a:t>球场</a:t>
            </a:r>
            <a:endParaRPr lang="zh-CN" altLang="en-US" sz="1400" b="1" kern="0" dirty="0">
              <a:solidFill>
                <a:prstClr val="white"/>
              </a:solidFill>
              <a:latin typeface="微软雅黑" panose="020B0503020204020204" pitchFamily="34" charset="-122"/>
              <a:ea typeface="微软雅黑" panose="020B0503020204020204" pitchFamily="34" charset="-122"/>
            </a:endParaRPr>
          </a:p>
        </p:txBody>
      </p:sp>
      <p:pic>
        <p:nvPicPr>
          <p:cNvPr id="71" name="图片 70"/>
          <p:cNvPicPr>
            <a:picLocks noChangeAspect="1"/>
          </p:cNvPicPr>
          <p:nvPr/>
        </p:nvPicPr>
        <p:blipFill>
          <a:blip r:embed="rId21"/>
          <a:stretch>
            <a:fillRect/>
          </a:stretch>
        </p:blipFill>
        <p:spPr>
          <a:xfrm>
            <a:off x="9942906" y="2680962"/>
            <a:ext cx="619624" cy="689488"/>
          </a:xfrm>
          <a:prstGeom prst="rect">
            <a:avLst/>
          </a:prstGeom>
        </p:spPr>
      </p:pic>
      <p:sp>
        <p:nvSpPr>
          <p:cNvPr id="72" name="文本框 71"/>
          <p:cNvSpPr txBox="1"/>
          <p:nvPr/>
        </p:nvSpPr>
        <p:spPr>
          <a:xfrm>
            <a:off x="9749355" y="2356941"/>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en-US" altLang="zh-CN" sz="1000" kern="0" dirty="0">
                <a:solidFill>
                  <a:prstClr val="black"/>
                </a:solidFill>
                <a:latin typeface="微软雅黑" panose="020B0503020204020204" pitchFamily="34" charset="-122"/>
                <a:ea typeface="微软雅黑" panose="020B0503020204020204" pitchFamily="34" charset="-122"/>
              </a:rPr>
              <a:t>E01</a:t>
            </a:r>
            <a:r>
              <a:rPr lang="zh-CN" altLang="en-US" sz="1000" kern="0" dirty="0">
                <a:solidFill>
                  <a:prstClr val="black"/>
                </a:solidFill>
                <a:latin typeface="微软雅黑" panose="020B0503020204020204" pitchFamily="34" charset="-122"/>
                <a:ea typeface="微软雅黑" panose="020B0503020204020204" pitchFamily="34" charset="-122"/>
              </a:rPr>
              <a:t>投光灯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73" name="文本框 72"/>
          <p:cNvSpPr txBox="1"/>
          <p:nvPr/>
        </p:nvSpPr>
        <p:spPr>
          <a:xfrm>
            <a:off x="9738685" y="4474187"/>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壁灯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74" name="文本框 73"/>
          <p:cNvSpPr txBox="1"/>
          <p:nvPr/>
        </p:nvSpPr>
        <p:spPr>
          <a:xfrm>
            <a:off x="9790645" y="6563518"/>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熠辉</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75" name="图片 74"/>
          <p:cNvPicPr>
            <a:picLocks noChangeAspect="1"/>
          </p:cNvPicPr>
          <p:nvPr/>
        </p:nvPicPr>
        <p:blipFill rotWithShape="1">
          <a:blip r:embed="rId22"/>
          <a:srcRect l="48891"/>
          <a:stretch>
            <a:fillRect/>
          </a:stretch>
        </p:blipFill>
        <p:spPr>
          <a:xfrm>
            <a:off x="10077274" y="3764550"/>
            <a:ext cx="501417" cy="664810"/>
          </a:xfrm>
          <a:prstGeom prst="rect">
            <a:avLst/>
          </a:prstGeom>
        </p:spPr>
      </p:pic>
      <p:sp>
        <p:nvSpPr>
          <p:cNvPr id="76" name="矩形 75"/>
          <p:cNvSpPr/>
          <p:nvPr/>
        </p:nvSpPr>
        <p:spPr>
          <a:xfrm>
            <a:off x="9726068" y="2611689"/>
            <a:ext cx="1025801"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77" name="文本框 76"/>
          <p:cNvSpPr txBox="1"/>
          <p:nvPr/>
        </p:nvSpPr>
        <p:spPr>
          <a:xfrm>
            <a:off x="9726471" y="3375179"/>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en-US" altLang="zh-CN" sz="1000" kern="0" dirty="0">
                <a:solidFill>
                  <a:prstClr val="black"/>
                </a:solidFill>
                <a:latin typeface="微软雅黑" panose="020B0503020204020204" pitchFamily="34" charset="-122"/>
                <a:ea typeface="微软雅黑" panose="020B0503020204020204" pitchFamily="34" charset="-122"/>
              </a:rPr>
              <a:t>Y01</a:t>
            </a:r>
            <a:r>
              <a:rPr lang="zh-CN" altLang="en-US" sz="1000" kern="0" dirty="0">
                <a:solidFill>
                  <a:prstClr val="black"/>
                </a:solidFill>
                <a:latin typeface="微软雅黑" panose="020B0503020204020204" pitchFamily="34" charset="-122"/>
                <a:ea typeface="微软雅黑" panose="020B0503020204020204" pitchFamily="34" charset="-122"/>
              </a:rPr>
              <a:t>投光灯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78" name="矩形 77"/>
          <p:cNvSpPr/>
          <p:nvPr/>
        </p:nvSpPr>
        <p:spPr>
          <a:xfrm>
            <a:off x="9754887" y="3673022"/>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79" name="矩形 78"/>
          <p:cNvSpPr/>
          <p:nvPr/>
        </p:nvSpPr>
        <p:spPr>
          <a:xfrm>
            <a:off x="9761853" y="5766040"/>
            <a:ext cx="1024998" cy="802657"/>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80" name="组合 79"/>
          <p:cNvGrpSpPr/>
          <p:nvPr/>
        </p:nvGrpSpPr>
        <p:grpSpPr>
          <a:xfrm>
            <a:off x="10906274" y="5824476"/>
            <a:ext cx="1207194" cy="923673"/>
            <a:chOff x="12351735" y="6065690"/>
            <a:chExt cx="1207194" cy="952837"/>
          </a:xfrm>
        </p:grpSpPr>
        <p:pic>
          <p:nvPicPr>
            <p:cNvPr id="81" name="图片 80"/>
            <p:cNvPicPr>
              <a:picLocks noChangeAspect="1"/>
            </p:cNvPicPr>
            <p:nvPr/>
          </p:nvPicPr>
          <p:blipFill>
            <a:blip r:embed="rId23"/>
            <a:stretch>
              <a:fillRect/>
            </a:stretch>
          </p:blipFill>
          <p:spPr>
            <a:xfrm>
              <a:off x="12509864" y="6135449"/>
              <a:ext cx="364350" cy="313562"/>
            </a:xfrm>
            <a:prstGeom prst="rect">
              <a:avLst/>
            </a:prstGeom>
          </p:spPr>
        </p:pic>
        <p:grpSp>
          <p:nvGrpSpPr>
            <p:cNvPr id="82" name="组合 81"/>
            <p:cNvGrpSpPr/>
            <p:nvPr/>
          </p:nvGrpSpPr>
          <p:grpSpPr>
            <a:xfrm>
              <a:off x="12351735" y="6065690"/>
              <a:ext cx="1207194" cy="952837"/>
              <a:chOff x="5155921" y="6151296"/>
              <a:chExt cx="1207194" cy="952837"/>
            </a:xfrm>
          </p:grpSpPr>
          <p:pic>
            <p:nvPicPr>
              <p:cNvPr id="83" name="图片 82"/>
              <p:cNvPicPr>
                <a:picLocks noChangeAspect="1"/>
              </p:cNvPicPr>
              <p:nvPr/>
            </p:nvPicPr>
            <p:blipFill>
              <a:blip r:embed="rId24"/>
              <a:stretch>
                <a:fillRect/>
              </a:stretch>
            </p:blipFill>
            <p:spPr>
              <a:xfrm>
                <a:off x="5671532" y="6176960"/>
                <a:ext cx="569331" cy="329702"/>
              </a:xfrm>
              <a:prstGeom prst="rect">
                <a:avLst/>
              </a:prstGeom>
            </p:spPr>
          </p:pic>
          <p:sp>
            <p:nvSpPr>
              <p:cNvPr id="84" name="矩形 83"/>
              <p:cNvSpPr/>
              <p:nvPr/>
            </p:nvSpPr>
            <p:spPr>
              <a:xfrm>
                <a:off x="5248176" y="6151296"/>
                <a:ext cx="1024998" cy="477306"/>
              </a:xfrm>
              <a:prstGeom prst="rect">
                <a:avLst/>
              </a:prstGeom>
              <a:noFill/>
              <a:ln w="12700" cap="flat" cmpd="sng" algn="ctr">
                <a:solidFill>
                  <a:srgbClr val="FF0000"/>
                </a:solid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85" name="文本框 84"/>
              <p:cNvSpPr txBox="1"/>
              <p:nvPr/>
            </p:nvSpPr>
            <p:spPr>
              <a:xfrm>
                <a:off x="5155921" y="6704023"/>
                <a:ext cx="1207194" cy="400110"/>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b="1" kern="0" dirty="0">
                    <a:solidFill>
                      <a:srgbClr val="FF0000"/>
                    </a:solidFill>
                    <a:latin typeface="微软雅黑" panose="020B0503020204020204" pitchFamily="34" charset="-122"/>
                    <a:ea typeface="微软雅黑" panose="020B0503020204020204" pitchFamily="34" charset="-122"/>
                  </a:rPr>
                  <a:t>消防疏散应急产品适用于所有场景</a:t>
                </a:r>
                <a:endParaRPr lang="zh-CN" altLang="en-US" sz="1000" b="1" kern="0" dirty="0">
                  <a:solidFill>
                    <a:srgbClr val="FF0000"/>
                  </a:solidFill>
                  <a:latin typeface="微软雅黑" panose="020B0503020204020204" pitchFamily="34" charset="-122"/>
                  <a:ea typeface="微软雅黑" panose="020B0503020204020204" pitchFamily="34" charset="-122"/>
                </a:endParaRPr>
              </a:p>
            </p:txBody>
          </p:sp>
        </p:grpSp>
      </p:grpSp>
      <p:sp>
        <p:nvSpPr>
          <p:cNvPr id="87" name="矩形 86"/>
          <p:cNvSpPr/>
          <p:nvPr/>
        </p:nvSpPr>
        <p:spPr>
          <a:xfrm>
            <a:off x="10917199" y="1160889"/>
            <a:ext cx="1026000" cy="398243"/>
          </a:xfrm>
          <a:prstGeom prst="rect">
            <a:avLst/>
          </a:prstGeom>
          <a:solidFill>
            <a:schemeClr val="accent1">
              <a:lumMod val="60000"/>
              <a:lumOff val="40000"/>
            </a:schemeClr>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algn="ctr">
              <a:defRPr/>
            </a:pPr>
            <a:r>
              <a:rPr lang="zh-CN" altLang="en-US" sz="1400" b="1" kern="0" dirty="0">
                <a:solidFill>
                  <a:prstClr val="white"/>
                </a:solidFill>
                <a:latin typeface="微软雅黑" panose="020B0503020204020204" pitchFamily="34" charset="-122"/>
                <a:ea typeface="微软雅黑" panose="020B0503020204020204" pitchFamily="34" charset="-122"/>
              </a:rPr>
              <a:t>宿舍</a:t>
            </a:r>
            <a:r>
              <a:rPr lang="en-US" altLang="zh-CN" sz="1400" b="1" kern="0" dirty="0">
                <a:solidFill>
                  <a:prstClr val="white"/>
                </a:solidFill>
                <a:latin typeface="微软雅黑" panose="020B0503020204020204" pitchFamily="34" charset="-122"/>
                <a:ea typeface="微软雅黑" panose="020B0503020204020204" pitchFamily="34" charset="-122"/>
              </a:rPr>
              <a:t>/</a:t>
            </a:r>
            <a:r>
              <a:rPr lang="zh-CN" altLang="en-US" sz="1400" b="1" kern="0" dirty="0">
                <a:solidFill>
                  <a:prstClr val="white"/>
                </a:solidFill>
                <a:latin typeface="微软雅黑" panose="020B0503020204020204" pitchFamily="34" charset="-122"/>
                <a:ea typeface="微软雅黑" panose="020B0503020204020204" pitchFamily="34" charset="-122"/>
              </a:rPr>
              <a:t>走廊</a:t>
            </a:r>
            <a:endParaRPr lang="zh-CN" altLang="en-US" sz="1400" b="1" kern="0" dirty="0">
              <a:solidFill>
                <a:prstClr val="white"/>
              </a:solidFill>
              <a:latin typeface="微软雅黑" panose="020B0503020204020204" pitchFamily="34" charset="-122"/>
              <a:ea typeface="微软雅黑" panose="020B0503020204020204" pitchFamily="34" charset="-122"/>
            </a:endParaRPr>
          </a:p>
        </p:txBody>
      </p:sp>
      <p:sp>
        <p:nvSpPr>
          <p:cNvPr id="88" name="矩形 87"/>
          <p:cNvSpPr/>
          <p:nvPr/>
        </p:nvSpPr>
        <p:spPr>
          <a:xfrm>
            <a:off x="10899111" y="1615833"/>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89" name="文本框 88"/>
          <p:cNvSpPr txBox="1"/>
          <p:nvPr/>
        </p:nvSpPr>
        <p:spPr>
          <a:xfrm>
            <a:off x="10904736" y="2377617"/>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佳金属筒灯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90" name="图片 89"/>
          <p:cNvPicPr>
            <a:picLocks noChangeAspect="1"/>
          </p:cNvPicPr>
          <p:nvPr/>
        </p:nvPicPr>
        <p:blipFill rotWithShape="1">
          <a:blip r:embed="rId25" cstate="print">
            <a:extLst>
              <a:ext uri="{28A0092B-C50C-407E-A947-70E740481C1C}">
                <a14:useLocalDpi xmlns:a14="http://schemas.microsoft.com/office/drawing/2010/main" val="0"/>
              </a:ext>
            </a:extLst>
          </a:blip>
          <a:srcRect l="2642" t="42482" r="79174" b="42823"/>
          <a:stretch>
            <a:fillRect/>
          </a:stretch>
        </p:blipFill>
        <p:spPr>
          <a:xfrm>
            <a:off x="10971203" y="1785413"/>
            <a:ext cx="881615" cy="432720"/>
          </a:xfrm>
          <a:prstGeom prst="rect">
            <a:avLst/>
          </a:prstGeom>
        </p:spPr>
      </p:pic>
      <p:sp>
        <p:nvSpPr>
          <p:cNvPr id="91" name="文本框 90"/>
          <p:cNvSpPr txBox="1"/>
          <p:nvPr/>
        </p:nvSpPr>
        <p:spPr>
          <a:xfrm>
            <a:off x="10902812" y="5523206"/>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晨韵</a:t>
            </a:r>
            <a:r>
              <a:rPr lang="en-US" altLang="zh-CN" sz="1000" kern="0" dirty="0">
                <a:solidFill>
                  <a:prstClr val="black"/>
                </a:solidFill>
                <a:latin typeface="微软雅黑" panose="020B0503020204020204" pitchFamily="34" charset="-122"/>
                <a:ea typeface="微软雅黑" panose="020B0503020204020204" pitchFamily="34" charset="-122"/>
              </a:rPr>
              <a:t>II</a:t>
            </a:r>
            <a:r>
              <a:rPr lang="zh-CN" altLang="en-US" sz="1000" kern="0" dirty="0">
                <a:solidFill>
                  <a:prstClr val="black"/>
                </a:solidFill>
                <a:latin typeface="微软雅黑" panose="020B0503020204020204" pitchFamily="34" charset="-122"/>
                <a:ea typeface="微软雅黑" panose="020B0503020204020204" pitchFamily="34" charset="-122"/>
              </a:rPr>
              <a:t>吸顶灯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92" name="矩形 91"/>
          <p:cNvSpPr/>
          <p:nvPr/>
        </p:nvSpPr>
        <p:spPr>
          <a:xfrm>
            <a:off x="10930208" y="4774036"/>
            <a:ext cx="1012991" cy="775630"/>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93" name="图片 92"/>
          <p:cNvPicPr>
            <a:picLocks noChangeAspect="1"/>
          </p:cNvPicPr>
          <p:nvPr/>
        </p:nvPicPr>
        <p:blipFill>
          <a:blip r:embed="rId26"/>
          <a:stretch>
            <a:fillRect/>
          </a:stretch>
        </p:blipFill>
        <p:spPr>
          <a:xfrm>
            <a:off x="11064403" y="4930586"/>
            <a:ext cx="730714" cy="376310"/>
          </a:xfrm>
          <a:prstGeom prst="rect">
            <a:avLst/>
          </a:prstGeom>
        </p:spPr>
      </p:pic>
      <p:sp>
        <p:nvSpPr>
          <p:cNvPr id="94" name="文本框 93"/>
          <p:cNvSpPr txBox="1"/>
          <p:nvPr/>
        </p:nvSpPr>
        <p:spPr>
          <a:xfrm>
            <a:off x="10790532" y="4480107"/>
            <a:ext cx="1297016"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佳系列明装筒灯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95" name="矩形 94"/>
          <p:cNvSpPr/>
          <p:nvPr/>
        </p:nvSpPr>
        <p:spPr>
          <a:xfrm>
            <a:off x="10886448" y="2628573"/>
            <a:ext cx="1044088" cy="746840"/>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96" name="图片 26"/>
          <p:cNvPicPr>
            <a:picLocks noChangeAspect="1"/>
          </p:cNvPicPr>
          <p:nvPr/>
        </p:nvPicPr>
        <p:blipFill>
          <a:blip r:embed="rId15" cstate="print">
            <a:extLst>
              <a:ext uri="{28A0092B-C50C-407E-A947-70E740481C1C}">
                <a14:useLocalDpi xmlns:a14="http://schemas.microsoft.com/office/drawing/2010/main" val="0"/>
              </a:ext>
            </a:extLst>
          </a:blip>
          <a:srcRect l="30054" t="9830" r="31599" b="7262"/>
          <a:stretch>
            <a:fillRect/>
          </a:stretch>
        </p:blipFill>
        <p:spPr bwMode="auto">
          <a:xfrm>
            <a:off x="11048119" y="2744831"/>
            <a:ext cx="701982" cy="56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 name="矩形 117"/>
          <p:cNvSpPr/>
          <p:nvPr/>
        </p:nvSpPr>
        <p:spPr>
          <a:xfrm>
            <a:off x="7445669" y="2637993"/>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19" name="矩形 118"/>
          <p:cNvSpPr/>
          <p:nvPr/>
        </p:nvSpPr>
        <p:spPr>
          <a:xfrm>
            <a:off x="7444151" y="1567988"/>
            <a:ext cx="1010661"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20" name="矩形 119"/>
          <p:cNvSpPr/>
          <p:nvPr/>
        </p:nvSpPr>
        <p:spPr>
          <a:xfrm>
            <a:off x="8603382" y="2603077"/>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21" name="矩形 120"/>
          <p:cNvSpPr/>
          <p:nvPr/>
        </p:nvSpPr>
        <p:spPr>
          <a:xfrm>
            <a:off x="7429195" y="1160889"/>
            <a:ext cx="2158657" cy="376510"/>
          </a:xfrm>
          <a:prstGeom prst="rect">
            <a:avLst/>
          </a:prstGeom>
          <a:solidFill>
            <a:srgbClr val="18278D"/>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algn="ctr">
              <a:defRPr/>
            </a:pPr>
            <a:r>
              <a:rPr lang="zh-CN" altLang="en-US" sz="1400" b="1" kern="0" dirty="0">
                <a:solidFill>
                  <a:prstClr val="white"/>
                </a:solidFill>
                <a:latin typeface="微软雅黑" panose="020B0503020204020204" pitchFamily="34" charset="-122"/>
                <a:ea typeface="微软雅黑" panose="020B0503020204020204" pitchFamily="34" charset="-122"/>
              </a:rPr>
              <a:t>常规生产车间</a:t>
            </a:r>
            <a:r>
              <a:rPr lang="en-US" altLang="zh-CN" sz="1400" b="1" kern="0" dirty="0">
                <a:solidFill>
                  <a:prstClr val="white"/>
                </a:solidFill>
                <a:latin typeface="微软雅黑" panose="020B0503020204020204" pitchFamily="34" charset="-122"/>
                <a:ea typeface="微软雅黑" panose="020B0503020204020204" pitchFamily="34" charset="-122"/>
              </a:rPr>
              <a:t>/</a:t>
            </a:r>
            <a:r>
              <a:rPr lang="zh-CN" altLang="en-US" sz="1400" b="1" kern="0" dirty="0">
                <a:solidFill>
                  <a:prstClr val="white"/>
                </a:solidFill>
                <a:latin typeface="微软雅黑" panose="020B0503020204020204" pitchFamily="34" charset="-122"/>
                <a:ea typeface="微软雅黑" panose="020B0503020204020204" pitchFamily="34" charset="-122"/>
              </a:rPr>
              <a:t>仓库</a:t>
            </a:r>
            <a:endParaRPr lang="zh-CN" altLang="en-US" sz="1400" b="1" kern="0" dirty="0">
              <a:solidFill>
                <a:prstClr val="white"/>
              </a:solidFill>
              <a:latin typeface="微软雅黑" panose="020B0503020204020204" pitchFamily="34" charset="-122"/>
              <a:ea typeface="微软雅黑" panose="020B0503020204020204" pitchFamily="34" charset="-122"/>
            </a:endParaRPr>
          </a:p>
        </p:txBody>
      </p:sp>
      <p:pic>
        <p:nvPicPr>
          <p:cNvPr id="122" name="图片 121"/>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8563475" y="2746029"/>
            <a:ext cx="1025800" cy="559352"/>
          </a:xfrm>
          <a:prstGeom prst="rect">
            <a:avLst/>
          </a:prstGeom>
        </p:spPr>
      </p:pic>
      <p:sp>
        <p:nvSpPr>
          <p:cNvPr id="123" name="文本框 122"/>
          <p:cNvSpPr txBox="1"/>
          <p:nvPr/>
        </p:nvSpPr>
        <p:spPr>
          <a:xfrm>
            <a:off x="8582021" y="3418659"/>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天棚灯</a:t>
            </a:r>
            <a:r>
              <a:rPr lang="en-US" altLang="zh-CN" sz="1000" kern="0" dirty="0">
                <a:solidFill>
                  <a:prstClr val="black"/>
                </a:solidFill>
                <a:latin typeface="微软雅黑" panose="020B0503020204020204" pitchFamily="34" charset="-122"/>
                <a:ea typeface="微软雅黑" panose="020B0503020204020204" pitchFamily="34" charset="-122"/>
              </a:rPr>
              <a:t>-</a:t>
            </a:r>
            <a:r>
              <a:rPr lang="zh-CN" altLang="en-US" sz="1000" kern="0" dirty="0">
                <a:solidFill>
                  <a:prstClr val="black"/>
                </a:solidFill>
                <a:latin typeface="微软雅黑" panose="020B0503020204020204" pitchFamily="34" charset="-122"/>
                <a:ea typeface="微软雅黑" panose="020B0503020204020204" pitchFamily="34" charset="-122"/>
              </a:rPr>
              <a:t>鹏辰</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24" name="文本框 123"/>
          <p:cNvSpPr txBox="1"/>
          <p:nvPr/>
        </p:nvSpPr>
        <p:spPr>
          <a:xfrm>
            <a:off x="7429196" y="2360106"/>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尚高挂灯盘</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25" name="文本框 124"/>
          <p:cNvSpPr txBox="1"/>
          <p:nvPr/>
        </p:nvSpPr>
        <p:spPr>
          <a:xfrm>
            <a:off x="7425109" y="4491541"/>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佳三防支架</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126" name="图片 125"/>
          <p:cNvPicPr>
            <a:picLocks noChangeAspect="1" noChangeArrowheads="1"/>
          </p:cNvPicPr>
          <p:nvPr/>
        </p:nvPicPr>
        <p:blipFill rotWithShape="1">
          <a:blip r:embed="rId28">
            <a:clrChange>
              <a:clrFrom>
                <a:srgbClr val="FFFFFF"/>
              </a:clrFrom>
              <a:clrTo>
                <a:srgbClr val="FFFFFF">
                  <a:alpha val="0"/>
                </a:srgbClr>
              </a:clrTo>
            </a:clrChange>
            <a:extLst>
              <a:ext uri="{28A0092B-C50C-407E-A947-70E740481C1C}">
                <a14:useLocalDpi xmlns:a14="http://schemas.microsoft.com/office/drawing/2010/main" val="0"/>
              </a:ext>
            </a:extLst>
          </a:blip>
          <a:srcRect l="5124" t="7293" r="3378" b="11457"/>
          <a:stretch>
            <a:fillRect/>
          </a:stretch>
        </p:blipFill>
        <p:spPr bwMode="auto">
          <a:xfrm>
            <a:off x="7548007" y="2869300"/>
            <a:ext cx="826130" cy="2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 name="文本框 126"/>
          <p:cNvSpPr txBox="1"/>
          <p:nvPr/>
        </p:nvSpPr>
        <p:spPr>
          <a:xfrm>
            <a:off x="7377517" y="6520941"/>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昊高挂灯盘</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28" name="矩形 127"/>
          <p:cNvSpPr/>
          <p:nvPr/>
        </p:nvSpPr>
        <p:spPr>
          <a:xfrm>
            <a:off x="7435641" y="5753160"/>
            <a:ext cx="1024998" cy="802657"/>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31" name="图片 130"/>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7393310" y="1721120"/>
            <a:ext cx="1036320" cy="615509"/>
          </a:xfrm>
          <a:prstGeom prst="rect">
            <a:avLst/>
          </a:prstGeom>
        </p:spPr>
      </p:pic>
      <p:sp>
        <p:nvSpPr>
          <p:cNvPr id="135" name="文本框 134"/>
          <p:cNvSpPr txBox="1"/>
          <p:nvPr/>
        </p:nvSpPr>
        <p:spPr>
          <a:xfrm>
            <a:off x="1460986" y="4437700"/>
            <a:ext cx="1147931"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r>
              <a:rPr lang="zh-CN" altLang="en-US" sz="1000" dirty="0">
                <a:solidFill>
                  <a:prstClr val="black"/>
                </a:solidFill>
                <a:latin typeface="微软雅黑" panose="020B0503020204020204" pitchFamily="34" charset="-122"/>
                <a:ea typeface="微软雅黑" panose="020B0503020204020204" pitchFamily="34" charset="-122"/>
              </a:rPr>
              <a:t>皓</a:t>
            </a:r>
            <a:r>
              <a:rPr lang="en-US" altLang="zh-CN" sz="1000" dirty="0">
                <a:solidFill>
                  <a:prstClr val="black"/>
                </a:solidFill>
                <a:latin typeface="微软雅黑" panose="020B0503020204020204" pitchFamily="34" charset="-122"/>
                <a:ea typeface="微软雅黑" panose="020B0503020204020204" pitchFamily="34" charset="-122"/>
              </a:rPr>
              <a:t>/</a:t>
            </a:r>
            <a:r>
              <a:rPr lang="zh-CN" altLang="en-US" sz="1000" dirty="0">
                <a:solidFill>
                  <a:prstClr val="black"/>
                </a:solidFill>
                <a:latin typeface="微软雅黑" panose="020B0503020204020204" pitchFamily="34" charset="-122"/>
                <a:ea typeface="微软雅黑" panose="020B0503020204020204" pitchFamily="34" charset="-122"/>
              </a:rPr>
              <a:t>合</a:t>
            </a:r>
            <a:r>
              <a:rPr lang="en-US" altLang="zh-CN" sz="1000" dirty="0">
                <a:solidFill>
                  <a:prstClr val="black"/>
                </a:solidFill>
                <a:latin typeface="微软雅黑" panose="020B0503020204020204" pitchFamily="34" charset="-122"/>
                <a:ea typeface="微软雅黑" panose="020B0503020204020204" pitchFamily="34" charset="-122"/>
              </a:rPr>
              <a:t>II</a:t>
            </a:r>
            <a:r>
              <a:rPr lang="zh-CN" altLang="en-US" sz="1000" dirty="0">
                <a:solidFill>
                  <a:prstClr val="black"/>
                </a:solidFill>
                <a:latin typeface="微软雅黑" panose="020B0503020204020204" pitchFamily="34" charset="-122"/>
                <a:ea typeface="微软雅黑" panose="020B0503020204020204" pitchFamily="34" charset="-122"/>
              </a:rPr>
              <a:t>筒灯</a:t>
            </a:r>
            <a:endParaRPr lang="zh-CN" altLang="en-US" sz="1000" dirty="0">
              <a:solidFill>
                <a:prstClr val="black"/>
              </a:solidFill>
              <a:latin typeface="微软雅黑" panose="020B0503020204020204" pitchFamily="34" charset="-122"/>
              <a:ea typeface="微软雅黑" panose="020B0503020204020204" pitchFamily="34" charset="-122"/>
            </a:endParaRPr>
          </a:p>
        </p:txBody>
      </p:sp>
      <p:sp>
        <p:nvSpPr>
          <p:cNvPr id="136" name="文本框 135"/>
          <p:cNvSpPr txBox="1"/>
          <p:nvPr/>
        </p:nvSpPr>
        <p:spPr>
          <a:xfrm>
            <a:off x="10705093" y="3362172"/>
            <a:ext cx="1147931"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r>
              <a:rPr lang="zh-CN" altLang="en-US" sz="1000" dirty="0">
                <a:solidFill>
                  <a:prstClr val="black"/>
                </a:solidFill>
                <a:latin typeface="微软雅黑" panose="020B0503020204020204" pitchFamily="34" charset="-122"/>
                <a:ea typeface="微软雅黑" panose="020B0503020204020204" pitchFamily="34" charset="-122"/>
              </a:rPr>
              <a:t>佳</a:t>
            </a:r>
            <a:r>
              <a:rPr lang="en-US" altLang="zh-CN" sz="1000" dirty="0">
                <a:solidFill>
                  <a:prstClr val="black"/>
                </a:solidFill>
                <a:latin typeface="微软雅黑" panose="020B0503020204020204" pitchFamily="34" charset="-122"/>
                <a:ea typeface="微软雅黑" panose="020B0503020204020204" pitchFamily="34" charset="-122"/>
              </a:rPr>
              <a:t>II</a:t>
            </a:r>
            <a:r>
              <a:rPr lang="zh-CN" altLang="en-US" sz="1000" dirty="0">
                <a:solidFill>
                  <a:prstClr val="black"/>
                </a:solidFill>
                <a:latin typeface="微软雅黑" panose="020B0503020204020204" pitchFamily="34" charset="-122"/>
                <a:ea typeface="微软雅黑" panose="020B0503020204020204" pitchFamily="34" charset="-122"/>
              </a:rPr>
              <a:t>直下</a:t>
            </a:r>
            <a:r>
              <a:rPr lang="en-US" altLang="zh-CN" sz="1000" dirty="0">
                <a:solidFill>
                  <a:prstClr val="black"/>
                </a:solidFill>
                <a:latin typeface="微软雅黑" panose="020B0503020204020204" pitchFamily="34" charset="-122"/>
                <a:ea typeface="微软雅黑" panose="020B0503020204020204" pitchFamily="34" charset="-122"/>
              </a:rPr>
              <a:t>/</a:t>
            </a:r>
            <a:r>
              <a:rPr lang="zh-CN" altLang="en-US" sz="1000" dirty="0">
                <a:solidFill>
                  <a:prstClr val="black"/>
                </a:solidFill>
                <a:latin typeface="微软雅黑" panose="020B0503020204020204" pitchFamily="34" charset="-122"/>
                <a:ea typeface="微软雅黑" panose="020B0503020204020204" pitchFamily="34" charset="-122"/>
              </a:rPr>
              <a:t>侧发</a:t>
            </a:r>
            <a:endParaRPr lang="zh-CN" altLang="en-US" sz="1000" dirty="0">
              <a:solidFill>
                <a:prstClr val="black"/>
              </a:solidFill>
              <a:latin typeface="微软雅黑" panose="020B0503020204020204" pitchFamily="34" charset="-122"/>
              <a:ea typeface="微软雅黑" panose="020B0503020204020204" pitchFamily="34" charset="-122"/>
            </a:endParaRPr>
          </a:p>
        </p:txBody>
      </p:sp>
      <p:sp>
        <p:nvSpPr>
          <p:cNvPr id="137" name="矩形 136"/>
          <p:cNvSpPr/>
          <p:nvPr/>
        </p:nvSpPr>
        <p:spPr>
          <a:xfrm>
            <a:off x="10899111" y="3677708"/>
            <a:ext cx="1044088" cy="78678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39" name="图片 138"/>
          <p:cNvPicPr>
            <a:picLocks noChangeAspect="1"/>
          </p:cNvPicPr>
          <p:nvPr/>
        </p:nvPicPr>
        <p:blipFill>
          <a:blip r:embed="rId30"/>
          <a:stretch>
            <a:fillRect/>
          </a:stretch>
        </p:blipFill>
        <p:spPr>
          <a:xfrm>
            <a:off x="11198029" y="3780205"/>
            <a:ext cx="326484" cy="473830"/>
          </a:xfrm>
          <a:prstGeom prst="rect">
            <a:avLst/>
          </a:prstGeom>
        </p:spPr>
      </p:pic>
      <p:sp>
        <p:nvSpPr>
          <p:cNvPr id="143" name="矩形 142"/>
          <p:cNvSpPr/>
          <p:nvPr/>
        </p:nvSpPr>
        <p:spPr>
          <a:xfrm>
            <a:off x="7425109" y="3667741"/>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44" name="文本框 143"/>
          <p:cNvSpPr txBox="1"/>
          <p:nvPr/>
        </p:nvSpPr>
        <p:spPr>
          <a:xfrm>
            <a:off x="7414639" y="5518016"/>
            <a:ext cx="1025800" cy="246221"/>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r>
              <a:rPr lang="zh-CN" altLang="en-US" sz="1000" dirty="0">
                <a:solidFill>
                  <a:prstClr val="black"/>
                </a:solidFill>
                <a:latin typeface="微软雅黑" panose="020B0503020204020204" pitchFamily="34" charset="-122"/>
                <a:ea typeface="微软雅黑" panose="020B0503020204020204" pitchFamily="34" charset="-122"/>
              </a:rPr>
              <a:t>天棚灯</a:t>
            </a:r>
            <a:r>
              <a:rPr lang="en-US" altLang="zh-CN" sz="1000" dirty="0">
                <a:solidFill>
                  <a:prstClr val="black"/>
                </a:solidFill>
                <a:latin typeface="微软雅黑" panose="020B0503020204020204" pitchFamily="34" charset="-122"/>
                <a:ea typeface="微软雅黑" panose="020B0503020204020204" pitchFamily="34" charset="-122"/>
              </a:rPr>
              <a:t>-</a:t>
            </a:r>
            <a:r>
              <a:rPr lang="zh-CN" altLang="en-US" sz="1000" dirty="0">
                <a:solidFill>
                  <a:prstClr val="black"/>
                </a:solidFill>
                <a:latin typeface="微软雅黑" panose="020B0503020204020204" pitchFamily="34" charset="-122"/>
                <a:ea typeface="微软雅黑" panose="020B0503020204020204" pitchFamily="34" charset="-122"/>
              </a:rPr>
              <a:t>鹏皓</a:t>
            </a:r>
            <a:r>
              <a:rPr lang="en-US" altLang="zh-CN" sz="1000" dirty="0">
                <a:solidFill>
                  <a:prstClr val="black"/>
                </a:solidFill>
                <a:latin typeface="微软雅黑" panose="020B0503020204020204" pitchFamily="34" charset="-122"/>
                <a:ea typeface="微软雅黑" panose="020B0503020204020204" pitchFamily="34" charset="-122"/>
              </a:rPr>
              <a:t>Ⅱ</a:t>
            </a:r>
            <a:endParaRPr lang="zh-CN" altLang="en-US" sz="1000" dirty="0">
              <a:solidFill>
                <a:prstClr val="black"/>
              </a:solidFill>
              <a:latin typeface="微软雅黑" panose="020B0503020204020204" pitchFamily="34" charset="-122"/>
              <a:ea typeface="微软雅黑" panose="020B0503020204020204" pitchFamily="34" charset="-122"/>
            </a:endParaRPr>
          </a:p>
        </p:txBody>
      </p:sp>
      <p:sp>
        <p:nvSpPr>
          <p:cNvPr id="146" name="矩形 145"/>
          <p:cNvSpPr/>
          <p:nvPr/>
        </p:nvSpPr>
        <p:spPr>
          <a:xfrm>
            <a:off x="9790644" y="4749627"/>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47" name="文本框 146"/>
          <p:cNvSpPr txBox="1"/>
          <p:nvPr/>
        </p:nvSpPr>
        <p:spPr>
          <a:xfrm>
            <a:off x="9778600" y="5534109"/>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r>
              <a:rPr lang="zh-CN" altLang="en-US" sz="1000" dirty="0">
                <a:solidFill>
                  <a:prstClr val="black"/>
                </a:solidFill>
                <a:latin typeface="微软雅黑" panose="020B0503020204020204" pitchFamily="34" charset="-122"/>
                <a:ea typeface="微软雅黑" panose="020B0503020204020204" pitchFamily="34" charset="-122"/>
              </a:rPr>
              <a:t>北极星路灯</a:t>
            </a:r>
            <a:endParaRPr lang="zh-CN" altLang="en-US" sz="1000" dirty="0">
              <a:solidFill>
                <a:prstClr val="black"/>
              </a:solidFill>
              <a:latin typeface="微软雅黑" panose="020B0503020204020204" pitchFamily="34" charset="-122"/>
              <a:ea typeface="微软雅黑" panose="020B0503020204020204" pitchFamily="34" charset="-122"/>
            </a:endParaRPr>
          </a:p>
        </p:txBody>
      </p:sp>
      <p:pic>
        <p:nvPicPr>
          <p:cNvPr id="148" name="图片 147"/>
          <p:cNvPicPr>
            <a:picLocks noChangeAspect="1"/>
          </p:cNvPicPr>
          <p:nvPr/>
        </p:nvPicPr>
        <p:blipFill>
          <a:blip r:embed="rId31">
            <a:clrChange>
              <a:clrFrom>
                <a:srgbClr val="FFFFFF"/>
              </a:clrFrom>
              <a:clrTo>
                <a:srgbClr val="FFFFFF">
                  <a:alpha val="0"/>
                </a:srgbClr>
              </a:clrTo>
            </a:clrChange>
          </a:blip>
          <a:stretch>
            <a:fillRect/>
          </a:stretch>
        </p:blipFill>
        <p:spPr>
          <a:xfrm>
            <a:off x="9725711" y="4956285"/>
            <a:ext cx="1039815" cy="428771"/>
          </a:xfrm>
          <a:prstGeom prst="rect">
            <a:avLst/>
          </a:prstGeom>
        </p:spPr>
      </p:pic>
      <p:pic>
        <p:nvPicPr>
          <p:cNvPr id="150" name="图片 149"/>
          <p:cNvPicPr>
            <a:picLocks noChangeAspect="1"/>
          </p:cNvPicPr>
          <p:nvPr/>
        </p:nvPicPr>
        <p:blipFill>
          <a:blip r:embed="rId32">
            <a:clrChange>
              <a:clrFrom>
                <a:srgbClr val="FFFFFF"/>
              </a:clrFrom>
              <a:clrTo>
                <a:srgbClr val="FFFFFF">
                  <a:alpha val="0"/>
                </a:srgbClr>
              </a:clrTo>
            </a:clrChange>
          </a:blip>
          <a:stretch>
            <a:fillRect/>
          </a:stretch>
        </p:blipFill>
        <p:spPr>
          <a:xfrm>
            <a:off x="371627" y="1628994"/>
            <a:ext cx="804467" cy="351333"/>
          </a:xfrm>
          <a:prstGeom prst="rect">
            <a:avLst/>
          </a:prstGeom>
        </p:spPr>
      </p:pic>
      <p:pic>
        <p:nvPicPr>
          <p:cNvPr id="151" name="图片 150"/>
          <p:cNvPicPr>
            <a:picLocks noChangeAspect="1"/>
          </p:cNvPicPr>
          <p:nvPr/>
        </p:nvPicPr>
        <p:blipFill>
          <a:blip r:embed="rId33"/>
          <a:stretch>
            <a:fillRect/>
          </a:stretch>
        </p:blipFill>
        <p:spPr>
          <a:xfrm>
            <a:off x="342338" y="1926072"/>
            <a:ext cx="829218" cy="404634"/>
          </a:xfrm>
          <a:prstGeom prst="rect">
            <a:avLst/>
          </a:prstGeom>
        </p:spPr>
      </p:pic>
      <p:sp>
        <p:nvSpPr>
          <p:cNvPr id="152" name="矩形 151"/>
          <p:cNvSpPr/>
          <p:nvPr/>
        </p:nvSpPr>
        <p:spPr>
          <a:xfrm>
            <a:off x="304756" y="3622346"/>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53" name="文本框 152"/>
          <p:cNvSpPr txBox="1"/>
          <p:nvPr/>
        </p:nvSpPr>
        <p:spPr>
          <a:xfrm>
            <a:off x="303895" y="4424553"/>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朗型线条灯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154" name="图片 153"/>
          <p:cNvPicPr>
            <a:picLocks noChangeAspect="1"/>
          </p:cNvPicPr>
          <p:nvPr/>
        </p:nvPicPr>
        <p:blipFill>
          <a:blip r:embed="rId34" cstate="print">
            <a:extLst>
              <a:ext uri="{28A0092B-C50C-407E-A947-70E740481C1C}">
                <a14:useLocalDpi xmlns:a14="http://schemas.microsoft.com/office/drawing/2010/main" val="0"/>
              </a:ext>
            </a:extLst>
          </a:blip>
          <a:stretch>
            <a:fillRect/>
          </a:stretch>
        </p:blipFill>
        <p:spPr>
          <a:xfrm>
            <a:off x="309246" y="3616122"/>
            <a:ext cx="981677" cy="634357"/>
          </a:xfrm>
          <a:prstGeom prst="rect">
            <a:avLst/>
          </a:prstGeom>
          <a:ln>
            <a:noFill/>
          </a:ln>
          <a:effectLst/>
        </p:spPr>
      </p:pic>
      <p:pic>
        <p:nvPicPr>
          <p:cNvPr id="155" name="图片 154"/>
          <p:cNvPicPr>
            <a:picLocks noChangeAspect="1"/>
          </p:cNvPicPr>
          <p:nvPr/>
        </p:nvPicPr>
        <p:blipFill>
          <a:blip r:embed="rId35" cstate="print">
            <a:extLst>
              <a:ext uri="{28A0092B-C50C-407E-A947-70E740481C1C}">
                <a14:useLocalDpi xmlns:a14="http://schemas.microsoft.com/office/drawing/2010/main" val="0"/>
              </a:ext>
            </a:extLst>
          </a:blip>
          <a:stretch>
            <a:fillRect/>
          </a:stretch>
        </p:blipFill>
        <p:spPr>
          <a:xfrm>
            <a:off x="339047" y="3849751"/>
            <a:ext cx="907209" cy="586236"/>
          </a:xfrm>
          <a:prstGeom prst="rect">
            <a:avLst/>
          </a:prstGeom>
          <a:ln>
            <a:noFill/>
          </a:ln>
          <a:effectLst/>
        </p:spPr>
      </p:pic>
      <p:sp>
        <p:nvSpPr>
          <p:cNvPr id="156" name="矩形 155"/>
          <p:cNvSpPr/>
          <p:nvPr/>
        </p:nvSpPr>
        <p:spPr>
          <a:xfrm>
            <a:off x="280676" y="4667877"/>
            <a:ext cx="1042940" cy="787243"/>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57" name="图片 13"/>
          <p:cNvPicPr>
            <a:picLocks noChangeAspect="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416027" y="4631193"/>
            <a:ext cx="721044" cy="59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 name="文本框 157"/>
          <p:cNvSpPr txBox="1"/>
          <p:nvPr/>
        </p:nvSpPr>
        <p:spPr>
          <a:xfrm>
            <a:off x="276059" y="5415429"/>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朗逸线条灯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159" name="图片 158"/>
          <p:cNvPicPr>
            <a:picLocks noChangeAspect="1"/>
          </p:cNvPicPr>
          <p:nvPr/>
        </p:nvPicPr>
        <p:blipFill>
          <a:blip r:embed="rId37">
            <a:clrChange>
              <a:clrFrom>
                <a:srgbClr val="FFFFFF"/>
              </a:clrFrom>
              <a:clrTo>
                <a:srgbClr val="FFFFFF">
                  <a:alpha val="0"/>
                </a:srgbClr>
              </a:clrTo>
            </a:clrChange>
          </a:blip>
          <a:stretch>
            <a:fillRect/>
          </a:stretch>
        </p:blipFill>
        <p:spPr>
          <a:xfrm>
            <a:off x="1560908" y="3704858"/>
            <a:ext cx="783632" cy="636518"/>
          </a:xfrm>
          <a:prstGeom prst="rect">
            <a:avLst/>
          </a:prstGeom>
        </p:spPr>
      </p:pic>
      <p:pic>
        <p:nvPicPr>
          <p:cNvPr id="160" name="图片 53"/>
          <p:cNvPicPr>
            <a:picLocks noChangeAspect="1"/>
          </p:cNvPicPr>
          <p:nvPr/>
        </p:nvPicPr>
        <p:blipFill>
          <a:blip r:embed="rId3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0800000">
            <a:off x="1656239" y="4772727"/>
            <a:ext cx="970183" cy="536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 name="矩形 160"/>
          <p:cNvSpPr/>
          <p:nvPr/>
        </p:nvSpPr>
        <p:spPr>
          <a:xfrm>
            <a:off x="2670689" y="5681027"/>
            <a:ext cx="1042940" cy="787243"/>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62" name="图片 161"/>
          <p:cNvPicPr>
            <a:picLocks noChangeAspect="1"/>
          </p:cNvPicPr>
          <p:nvPr/>
        </p:nvPicPr>
        <p:blipFill>
          <a:blip r:embed="rId39" cstate="print">
            <a:extLst>
              <a:ext uri="{28A0092B-C50C-407E-A947-70E740481C1C}">
                <a14:useLocalDpi xmlns:a14="http://schemas.microsoft.com/office/drawing/2010/main" val="0"/>
              </a:ext>
            </a:extLst>
          </a:blip>
          <a:stretch>
            <a:fillRect/>
          </a:stretch>
        </p:blipFill>
        <p:spPr>
          <a:xfrm rot="10800000">
            <a:off x="2659800" y="5797333"/>
            <a:ext cx="1024204" cy="716091"/>
          </a:xfrm>
          <a:prstGeom prst="rect">
            <a:avLst/>
          </a:prstGeom>
        </p:spPr>
      </p:pic>
      <p:sp>
        <p:nvSpPr>
          <p:cNvPr id="163" name="文本框 162"/>
          <p:cNvSpPr txBox="1"/>
          <p:nvPr/>
        </p:nvSpPr>
        <p:spPr>
          <a:xfrm>
            <a:off x="2609409" y="6450434"/>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皓易筒灯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64" name="矩形 163"/>
          <p:cNvSpPr/>
          <p:nvPr/>
        </p:nvSpPr>
        <p:spPr>
          <a:xfrm>
            <a:off x="1455744" y="5669001"/>
            <a:ext cx="1042940" cy="787243"/>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65" name="图片 164"/>
          <p:cNvPicPr>
            <a:picLocks noChangeAspect="1"/>
          </p:cNvPicPr>
          <p:nvPr/>
        </p:nvPicPr>
        <p:blipFill>
          <a:blip r:embed="rId40"/>
          <a:stretch>
            <a:fillRect/>
          </a:stretch>
        </p:blipFill>
        <p:spPr>
          <a:xfrm>
            <a:off x="1646393" y="5805036"/>
            <a:ext cx="841555" cy="491210"/>
          </a:xfrm>
          <a:prstGeom prst="rect">
            <a:avLst/>
          </a:prstGeom>
        </p:spPr>
      </p:pic>
      <p:pic>
        <p:nvPicPr>
          <p:cNvPr id="166" name="图片 165"/>
          <p:cNvPicPr>
            <a:picLocks noChangeAspect="1"/>
          </p:cNvPicPr>
          <p:nvPr/>
        </p:nvPicPr>
        <p:blipFill>
          <a:blip r:embed="rId41"/>
          <a:stretch>
            <a:fillRect/>
          </a:stretch>
        </p:blipFill>
        <p:spPr>
          <a:xfrm>
            <a:off x="2887281" y="2701068"/>
            <a:ext cx="572546" cy="564839"/>
          </a:xfrm>
          <a:prstGeom prst="rect">
            <a:avLst/>
          </a:prstGeom>
        </p:spPr>
      </p:pic>
      <p:pic>
        <p:nvPicPr>
          <p:cNvPr id="167" name="图片 166"/>
          <p:cNvPicPr>
            <a:picLocks noChangeAspect="1"/>
          </p:cNvPicPr>
          <p:nvPr/>
        </p:nvPicPr>
        <p:blipFill rotWithShape="1">
          <a:blip r:embed="rId42" cstate="print">
            <a:extLst>
              <a:ext uri="{28A0092B-C50C-407E-A947-70E740481C1C}">
                <a14:useLocalDpi xmlns:a14="http://schemas.microsoft.com/office/drawing/2010/main" val="0"/>
              </a:ext>
            </a:extLst>
          </a:blip>
          <a:srcRect l="25110" t="16387" r="25637" b="15298"/>
          <a:stretch>
            <a:fillRect/>
          </a:stretch>
        </p:blipFill>
        <p:spPr>
          <a:xfrm>
            <a:off x="2896692" y="3745075"/>
            <a:ext cx="553724" cy="569099"/>
          </a:xfrm>
          <a:prstGeom prst="rect">
            <a:avLst/>
          </a:prstGeom>
        </p:spPr>
      </p:pic>
      <p:sp>
        <p:nvSpPr>
          <p:cNvPr id="168" name="矩形 167"/>
          <p:cNvSpPr/>
          <p:nvPr/>
        </p:nvSpPr>
        <p:spPr>
          <a:xfrm>
            <a:off x="2677057" y="3628297"/>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13" name="矩形 112"/>
          <p:cNvSpPr/>
          <p:nvPr/>
        </p:nvSpPr>
        <p:spPr>
          <a:xfrm>
            <a:off x="6247852" y="5690701"/>
            <a:ext cx="1024998" cy="802657"/>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14" name="矩形 113"/>
          <p:cNvSpPr/>
          <p:nvPr/>
        </p:nvSpPr>
        <p:spPr>
          <a:xfrm>
            <a:off x="6228850" y="1589659"/>
            <a:ext cx="1010661" cy="775271"/>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15" name="图片 114" descr="C:\Users\Administrator\AppData\Roaming\Tencent\Users\253859237\QQ\WinTemp\RichOle\@AVFY7@2FGUD1A`4B%@HY7G.png"/>
          <p:cNvPicPr>
            <a:picLocks noChangeAspect="1" noChangeArrowheads="1"/>
          </p:cNvPicPr>
          <p:nvPr/>
        </p:nvPicPr>
        <p:blipFill>
          <a:blip r:embed="rId4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6301116" y="6034930"/>
            <a:ext cx="952695" cy="15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 name="矩形 115"/>
          <p:cNvSpPr/>
          <p:nvPr/>
        </p:nvSpPr>
        <p:spPr>
          <a:xfrm>
            <a:off x="6228850" y="1160889"/>
            <a:ext cx="1026000" cy="398243"/>
          </a:xfrm>
          <a:prstGeom prst="rect">
            <a:avLst/>
          </a:prstGeom>
          <a:solidFill>
            <a:srgbClr val="18278D"/>
          </a:soli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algn="ctr">
              <a:defRPr/>
            </a:pPr>
            <a:r>
              <a:rPr lang="zh-CN" altLang="en-US" sz="1400" b="1" kern="0" dirty="0">
                <a:solidFill>
                  <a:prstClr val="white"/>
                </a:solidFill>
                <a:latin typeface="微软雅黑" panose="020B0503020204020204" pitchFamily="34" charset="-122"/>
                <a:ea typeface="微软雅黑" panose="020B0503020204020204" pitchFamily="34" charset="-122"/>
              </a:rPr>
              <a:t>防爆</a:t>
            </a:r>
            <a:endParaRPr lang="zh-CN" altLang="en-US" sz="1400" b="1" kern="0" dirty="0">
              <a:solidFill>
                <a:prstClr val="white"/>
              </a:solidFill>
              <a:latin typeface="微软雅黑" panose="020B0503020204020204" pitchFamily="34" charset="-122"/>
              <a:ea typeface="微软雅黑" panose="020B0503020204020204" pitchFamily="34" charset="-122"/>
            </a:endParaRPr>
          </a:p>
        </p:txBody>
      </p:sp>
      <p:sp>
        <p:nvSpPr>
          <p:cNvPr id="111" name="文本框 110"/>
          <p:cNvSpPr txBox="1"/>
          <p:nvPr/>
        </p:nvSpPr>
        <p:spPr>
          <a:xfrm>
            <a:off x="6245407" y="2362647"/>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辉钛</a:t>
            </a:r>
            <a:r>
              <a:rPr lang="en-US" altLang="zh-CN" sz="1000" kern="0" dirty="0">
                <a:solidFill>
                  <a:prstClr val="black"/>
                </a:solidFill>
                <a:latin typeface="微软雅黑" panose="020B0503020204020204" pitchFamily="34" charset="-122"/>
                <a:ea typeface="微软雅黑" panose="020B0503020204020204" pitchFamily="34" charset="-122"/>
              </a:rPr>
              <a:t>-</a:t>
            </a:r>
            <a:r>
              <a:rPr lang="zh-CN" altLang="en-US" sz="1000" kern="0" dirty="0">
                <a:solidFill>
                  <a:prstClr val="black"/>
                </a:solidFill>
                <a:latin typeface="微软雅黑" panose="020B0503020204020204" pitchFamily="34" charset="-122"/>
                <a:ea typeface="微软雅黑" panose="020B0503020204020204" pitchFamily="34" charset="-122"/>
              </a:rPr>
              <a:t>蝶形</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12" name="文本框 111"/>
          <p:cNvSpPr txBox="1"/>
          <p:nvPr/>
        </p:nvSpPr>
        <p:spPr>
          <a:xfrm>
            <a:off x="6240273" y="6508762"/>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辉钛</a:t>
            </a:r>
            <a:r>
              <a:rPr lang="en-US" altLang="zh-CN" sz="1000" kern="0" dirty="0">
                <a:solidFill>
                  <a:prstClr val="black"/>
                </a:solidFill>
                <a:latin typeface="微软雅黑" panose="020B0503020204020204" pitchFamily="34" charset="-122"/>
                <a:ea typeface="微软雅黑" panose="020B0503020204020204" pitchFamily="34" charset="-122"/>
              </a:rPr>
              <a:t>-</a:t>
            </a:r>
            <a:r>
              <a:rPr lang="zh-CN" altLang="en-US" sz="1000" kern="0" dirty="0">
                <a:solidFill>
                  <a:prstClr val="black"/>
                </a:solidFill>
                <a:latin typeface="微软雅黑" panose="020B0503020204020204" pitchFamily="34" charset="-122"/>
                <a:ea typeface="微软雅黑" panose="020B0503020204020204" pitchFamily="34" charset="-122"/>
              </a:rPr>
              <a:t>空体支架</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40" name="矩形 139"/>
          <p:cNvSpPr/>
          <p:nvPr/>
        </p:nvSpPr>
        <p:spPr>
          <a:xfrm>
            <a:off x="6234194" y="2610830"/>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42" name="文本框 141"/>
          <p:cNvSpPr txBox="1"/>
          <p:nvPr/>
        </p:nvSpPr>
        <p:spPr>
          <a:xfrm>
            <a:off x="6189595" y="3421858"/>
            <a:ext cx="1025800" cy="246221"/>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r>
              <a:rPr lang="zh-CN" altLang="en-US" sz="1000" dirty="0">
                <a:solidFill>
                  <a:prstClr val="black"/>
                </a:solidFill>
                <a:latin typeface="微软雅黑" panose="020B0503020204020204" pitchFamily="34" charset="-122"/>
                <a:ea typeface="微软雅黑" panose="020B0503020204020204" pitchFamily="34" charset="-122"/>
              </a:rPr>
              <a:t>辉钛</a:t>
            </a:r>
            <a:r>
              <a:rPr lang="en-US" altLang="zh-CN" sz="1000" dirty="0">
                <a:solidFill>
                  <a:prstClr val="black"/>
                </a:solidFill>
                <a:latin typeface="微软雅黑" panose="020B0503020204020204" pitchFamily="34" charset="-122"/>
                <a:ea typeface="微软雅黑" panose="020B0503020204020204" pitchFamily="34" charset="-122"/>
              </a:rPr>
              <a:t>-</a:t>
            </a:r>
            <a:r>
              <a:rPr lang="zh-CN" altLang="en-US" sz="1000" dirty="0">
                <a:solidFill>
                  <a:prstClr val="black"/>
                </a:solidFill>
                <a:latin typeface="微软雅黑" panose="020B0503020204020204" pitchFamily="34" charset="-122"/>
                <a:ea typeface="微软雅黑" panose="020B0503020204020204" pitchFamily="34" charset="-122"/>
              </a:rPr>
              <a:t>洁净面板</a:t>
            </a:r>
            <a:endParaRPr lang="zh-CN" altLang="en-US" sz="1000" dirty="0">
              <a:solidFill>
                <a:prstClr val="black"/>
              </a:solidFill>
              <a:latin typeface="微软雅黑" panose="020B0503020204020204" pitchFamily="34" charset="-122"/>
              <a:ea typeface="微软雅黑" panose="020B0503020204020204" pitchFamily="34" charset="-122"/>
            </a:endParaRPr>
          </a:p>
        </p:txBody>
      </p:sp>
      <p:sp>
        <p:nvSpPr>
          <p:cNvPr id="169" name="矩形 168"/>
          <p:cNvSpPr/>
          <p:nvPr/>
        </p:nvSpPr>
        <p:spPr>
          <a:xfrm>
            <a:off x="6236607" y="4704683"/>
            <a:ext cx="1024998" cy="802657"/>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70" name="图片 169"/>
          <p:cNvPicPr>
            <a:picLocks noChangeAspect="1"/>
          </p:cNvPicPr>
          <p:nvPr/>
        </p:nvPicPr>
        <p:blipFill>
          <a:blip r:embed="rId44">
            <a:extLst>
              <a:ext uri="{BEBA8EAE-BF5A-486C-A8C5-ECC9F3942E4B}">
                <a14:imgProps xmlns:a14="http://schemas.microsoft.com/office/drawing/2010/main">
                  <a14:imgLayer r:embed="rId45">
                    <a14:imgEffect>
                      <a14:backgroundRemoval t="10000" b="90000" l="10000" r="90000"/>
                    </a14:imgEffect>
                  </a14:imgLayer>
                </a14:imgProps>
              </a:ext>
            </a:extLst>
          </a:blip>
          <a:stretch>
            <a:fillRect/>
          </a:stretch>
        </p:blipFill>
        <p:spPr>
          <a:xfrm>
            <a:off x="6390542" y="4770164"/>
            <a:ext cx="797695" cy="657966"/>
          </a:xfrm>
          <a:prstGeom prst="rect">
            <a:avLst/>
          </a:prstGeom>
        </p:spPr>
      </p:pic>
      <p:sp>
        <p:nvSpPr>
          <p:cNvPr id="171" name="文本框 170"/>
          <p:cNvSpPr txBox="1"/>
          <p:nvPr/>
        </p:nvSpPr>
        <p:spPr>
          <a:xfrm>
            <a:off x="6228950" y="5478039"/>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防爆开关</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172" name="矩形 171"/>
          <p:cNvSpPr/>
          <p:nvPr/>
        </p:nvSpPr>
        <p:spPr>
          <a:xfrm>
            <a:off x="6252129" y="3671308"/>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73" name="图片 172"/>
          <p:cNvPicPr>
            <a:picLocks noChangeAspect="1"/>
          </p:cNvPicPr>
          <p:nvPr/>
        </p:nvPicPr>
        <p:blipFill>
          <a:blip r:embed="rId46">
            <a:clrChange>
              <a:clrFrom>
                <a:srgbClr val="FEFEFE"/>
              </a:clrFrom>
              <a:clrTo>
                <a:srgbClr val="FEFEFE">
                  <a:alpha val="0"/>
                </a:srgbClr>
              </a:clrTo>
            </a:clrChange>
          </a:blip>
          <a:stretch>
            <a:fillRect/>
          </a:stretch>
        </p:blipFill>
        <p:spPr>
          <a:xfrm>
            <a:off x="6412770" y="3797496"/>
            <a:ext cx="696680" cy="531531"/>
          </a:xfrm>
          <a:prstGeom prst="rect">
            <a:avLst/>
          </a:prstGeom>
        </p:spPr>
      </p:pic>
      <p:sp>
        <p:nvSpPr>
          <p:cNvPr id="174" name="文本框 173"/>
          <p:cNvSpPr txBox="1"/>
          <p:nvPr/>
        </p:nvSpPr>
        <p:spPr>
          <a:xfrm>
            <a:off x="6177367" y="4461648"/>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防爆泛光灯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188" name="图片 187"/>
          <p:cNvPicPr>
            <a:picLocks noChangeAspect="1"/>
          </p:cNvPicPr>
          <p:nvPr/>
        </p:nvPicPr>
        <p:blipFill>
          <a:blip r:embed="rId47">
            <a:clrChange>
              <a:clrFrom>
                <a:srgbClr val="FFFFFF"/>
              </a:clrFrom>
              <a:clrTo>
                <a:srgbClr val="FFFFFF">
                  <a:alpha val="0"/>
                </a:srgbClr>
              </a:clrTo>
            </a:clrChange>
          </a:blip>
          <a:stretch>
            <a:fillRect/>
          </a:stretch>
        </p:blipFill>
        <p:spPr>
          <a:xfrm>
            <a:off x="8687659" y="1747019"/>
            <a:ext cx="742944" cy="440835"/>
          </a:xfrm>
          <a:prstGeom prst="rect">
            <a:avLst/>
          </a:prstGeom>
        </p:spPr>
      </p:pic>
      <p:sp>
        <p:nvSpPr>
          <p:cNvPr id="189" name="矩形 188"/>
          <p:cNvSpPr/>
          <p:nvPr/>
        </p:nvSpPr>
        <p:spPr>
          <a:xfrm>
            <a:off x="8564310" y="1581967"/>
            <a:ext cx="1010661" cy="802405"/>
          </a:xfrm>
          <a:prstGeom prst="rect">
            <a:avLst/>
          </a:prstGeom>
          <a:solidFill>
            <a:srgbClr val="5B9BD5">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90" name="文本框 189"/>
          <p:cNvSpPr txBox="1"/>
          <p:nvPr/>
        </p:nvSpPr>
        <p:spPr>
          <a:xfrm>
            <a:off x="8556157" y="2361561"/>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天棚灯</a:t>
            </a:r>
            <a:r>
              <a:rPr lang="en-US" altLang="zh-CN" sz="1000" kern="0" dirty="0">
                <a:solidFill>
                  <a:prstClr val="black"/>
                </a:solidFill>
                <a:latin typeface="微软雅黑" panose="020B0503020204020204" pitchFamily="34" charset="-122"/>
                <a:ea typeface="微软雅黑" panose="020B0503020204020204" pitchFamily="34" charset="-122"/>
              </a:rPr>
              <a:t>-</a:t>
            </a:r>
            <a:r>
              <a:rPr lang="zh-CN" altLang="en-US" sz="1000" kern="0" dirty="0">
                <a:solidFill>
                  <a:prstClr val="black"/>
                </a:solidFill>
                <a:latin typeface="微软雅黑" panose="020B0503020204020204" pitchFamily="34" charset="-122"/>
                <a:ea typeface="微软雅黑" panose="020B0503020204020204" pitchFamily="34" charset="-122"/>
              </a:rPr>
              <a:t>鹏晖</a:t>
            </a:r>
            <a:r>
              <a:rPr lang="en-US" altLang="zh-CN" sz="1000" kern="0" dirty="0">
                <a:solidFill>
                  <a:prstClr val="black"/>
                </a:solidFill>
                <a:latin typeface="微软雅黑" panose="020B0503020204020204" pitchFamily="34" charset="-122"/>
                <a:ea typeface="微软雅黑" panose="020B0503020204020204" pitchFamily="34" charset="-122"/>
              </a:rPr>
              <a:t>IV</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191" name="图片 190"/>
          <p:cNvPicPr>
            <a:picLocks noChangeAspect="1"/>
          </p:cNvPicPr>
          <p:nvPr/>
        </p:nvPicPr>
        <p:blipFill>
          <a:blip r:embed="rId9">
            <a:clrChange>
              <a:clrFrom>
                <a:srgbClr val="F5F5F5"/>
              </a:clrFrom>
              <a:clrTo>
                <a:srgbClr val="F5F5F5">
                  <a:alpha val="0"/>
                </a:srgbClr>
              </a:clrTo>
            </a:clrChange>
          </a:blip>
          <a:stretch>
            <a:fillRect/>
          </a:stretch>
        </p:blipFill>
        <p:spPr>
          <a:xfrm>
            <a:off x="7606236" y="3904147"/>
            <a:ext cx="873460" cy="388983"/>
          </a:xfrm>
          <a:prstGeom prst="rect">
            <a:avLst/>
          </a:prstGeom>
        </p:spPr>
      </p:pic>
      <p:sp>
        <p:nvSpPr>
          <p:cNvPr id="192" name="矩形 191"/>
          <p:cNvSpPr/>
          <p:nvPr/>
        </p:nvSpPr>
        <p:spPr>
          <a:xfrm>
            <a:off x="8606384" y="3673302"/>
            <a:ext cx="1025801" cy="802657"/>
          </a:xfrm>
          <a:prstGeom prst="rect">
            <a:avLst/>
          </a:prstGeom>
          <a:solidFill>
            <a:srgbClr val="92D050">
              <a:alpha val="35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pic>
        <p:nvPicPr>
          <p:cNvPr id="193" name="图片 19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571308" y="3661193"/>
            <a:ext cx="1020202" cy="659400"/>
          </a:xfrm>
          <a:prstGeom prst="rect">
            <a:avLst/>
          </a:prstGeom>
        </p:spPr>
      </p:pic>
      <p:sp>
        <p:nvSpPr>
          <p:cNvPr id="194" name="文本框 193"/>
          <p:cNvSpPr txBox="1"/>
          <p:nvPr/>
        </p:nvSpPr>
        <p:spPr>
          <a:xfrm>
            <a:off x="8529818" y="4491541"/>
            <a:ext cx="1129497"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旭恒三防吸顶灯</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195" name="图片 194"/>
          <p:cNvPicPr>
            <a:picLocks noChangeAspect="1"/>
          </p:cNvPicPr>
          <p:nvPr/>
        </p:nvPicPr>
        <p:blipFill>
          <a:blip r:embed="rId48" cstate="print">
            <a:extLst>
              <a:ext uri="{28A0092B-C50C-407E-A947-70E740481C1C}">
                <a14:useLocalDpi xmlns:a14="http://schemas.microsoft.com/office/drawing/2010/main" val="0"/>
              </a:ext>
            </a:extLst>
          </a:blip>
          <a:stretch>
            <a:fillRect/>
          </a:stretch>
        </p:blipFill>
        <p:spPr>
          <a:xfrm>
            <a:off x="7456872" y="4683387"/>
            <a:ext cx="953142" cy="740137"/>
          </a:xfrm>
          <a:prstGeom prst="rect">
            <a:avLst/>
          </a:prstGeom>
        </p:spPr>
      </p:pic>
      <p:pic>
        <p:nvPicPr>
          <p:cNvPr id="196" name="图片 195"/>
          <p:cNvPicPr>
            <a:picLocks noChangeAspect="1"/>
          </p:cNvPicPr>
          <p:nvPr/>
        </p:nvPicPr>
        <p:blipFill>
          <a:blip r:embed="rId49">
            <a:clrChange>
              <a:clrFrom>
                <a:srgbClr val="F2F2F2"/>
              </a:clrFrom>
              <a:clrTo>
                <a:srgbClr val="F2F2F2">
                  <a:alpha val="0"/>
                </a:srgbClr>
              </a:clrTo>
            </a:clrChange>
          </a:blip>
          <a:stretch>
            <a:fillRect/>
          </a:stretch>
        </p:blipFill>
        <p:spPr>
          <a:xfrm>
            <a:off x="10077274" y="5959932"/>
            <a:ext cx="417161" cy="459041"/>
          </a:xfrm>
          <a:prstGeom prst="rect">
            <a:avLst/>
          </a:prstGeom>
        </p:spPr>
      </p:pic>
      <p:sp>
        <p:nvSpPr>
          <p:cNvPr id="197" name="矩形 196"/>
          <p:cNvSpPr/>
          <p:nvPr/>
        </p:nvSpPr>
        <p:spPr>
          <a:xfrm>
            <a:off x="8584956" y="5754847"/>
            <a:ext cx="1024998" cy="802657"/>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98" name="矩形 197"/>
          <p:cNvSpPr/>
          <p:nvPr/>
        </p:nvSpPr>
        <p:spPr>
          <a:xfrm>
            <a:off x="7468654" y="4737515"/>
            <a:ext cx="1024998" cy="802657"/>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199" name="矩形 198"/>
          <p:cNvSpPr/>
          <p:nvPr/>
        </p:nvSpPr>
        <p:spPr>
          <a:xfrm>
            <a:off x="8615228" y="4753412"/>
            <a:ext cx="1024998" cy="802657"/>
          </a:xfrm>
          <a:prstGeom prst="rect">
            <a:avLst/>
          </a:prstGeom>
          <a:solidFill>
            <a:srgbClr val="FF0000">
              <a:alpha val="17000"/>
            </a:srgbClr>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sp>
        <p:nvSpPr>
          <p:cNvPr id="200" name="文本框 199"/>
          <p:cNvSpPr txBox="1"/>
          <p:nvPr/>
        </p:nvSpPr>
        <p:spPr>
          <a:xfrm>
            <a:off x="8591085" y="5533174"/>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r>
              <a:rPr lang="zh-CN" altLang="en-US" sz="1000" dirty="0">
                <a:solidFill>
                  <a:prstClr val="black"/>
                </a:solidFill>
                <a:latin typeface="微软雅黑" panose="020B0503020204020204" pitchFamily="34" charset="-122"/>
                <a:ea typeface="微软雅黑" panose="020B0503020204020204" pitchFamily="34" charset="-122"/>
              </a:rPr>
              <a:t>臻皓</a:t>
            </a:r>
            <a:endParaRPr lang="zh-CN" altLang="en-US" sz="1000" dirty="0">
              <a:solidFill>
                <a:prstClr val="black"/>
              </a:solidFill>
              <a:latin typeface="微软雅黑" panose="020B0503020204020204" pitchFamily="34" charset="-122"/>
              <a:ea typeface="微软雅黑" panose="020B0503020204020204" pitchFamily="34" charset="-122"/>
            </a:endParaRPr>
          </a:p>
        </p:txBody>
      </p:sp>
      <p:sp>
        <p:nvSpPr>
          <p:cNvPr id="201" name="文本框 200"/>
          <p:cNvSpPr txBox="1"/>
          <p:nvPr/>
        </p:nvSpPr>
        <p:spPr>
          <a:xfrm>
            <a:off x="8541282" y="6534472"/>
            <a:ext cx="1025800" cy="246221"/>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昊</a:t>
            </a:r>
            <a:r>
              <a:rPr lang="en-US" altLang="zh-CN" sz="1000" kern="0" dirty="0">
                <a:solidFill>
                  <a:prstClr val="black"/>
                </a:solidFill>
                <a:latin typeface="微软雅黑" panose="020B0503020204020204" pitchFamily="34" charset="-122"/>
                <a:ea typeface="微软雅黑" panose="020B0503020204020204" pitchFamily="34" charset="-122"/>
              </a:rPr>
              <a:t>Ⅱ</a:t>
            </a:r>
            <a:r>
              <a:rPr lang="zh-CN" altLang="en-US" sz="1000" kern="0" dirty="0">
                <a:solidFill>
                  <a:prstClr val="black"/>
                </a:solidFill>
                <a:latin typeface="微软雅黑" panose="020B0503020204020204" pitchFamily="34" charset="-122"/>
                <a:ea typeface="微软雅黑" panose="020B0503020204020204" pitchFamily="34" charset="-122"/>
              </a:rPr>
              <a:t>空体三防</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pic>
        <p:nvPicPr>
          <p:cNvPr id="202" name="图片 201"/>
          <p:cNvPicPr>
            <a:picLocks noChangeAspect="1"/>
          </p:cNvPicPr>
          <p:nvPr/>
        </p:nvPicPr>
        <p:blipFill>
          <a:blip r:embed="rId50" cstate="print">
            <a:extLst>
              <a:ext uri="{28A0092B-C50C-407E-A947-70E740481C1C}">
                <a14:useLocalDpi xmlns:a14="http://schemas.microsoft.com/office/drawing/2010/main" val="0"/>
              </a:ext>
            </a:extLst>
          </a:blip>
          <a:stretch>
            <a:fillRect/>
          </a:stretch>
        </p:blipFill>
        <p:spPr>
          <a:xfrm flipH="1">
            <a:off x="8672316" y="6022557"/>
            <a:ext cx="819787" cy="445713"/>
          </a:xfrm>
          <a:prstGeom prst="rect">
            <a:avLst/>
          </a:prstGeom>
        </p:spPr>
      </p:pic>
      <p:pic>
        <p:nvPicPr>
          <p:cNvPr id="203" name="图片 202"/>
          <p:cNvPicPr>
            <a:picLocks noChangeAspect="1"/>
          </p:cNvPicPr>
          <p:nvPr/>
        </p:nvPicPr>
        <p:blipFill>
          <a:blip r:embed="rId51">
            <a:clrChange>
              <a:clrFrom>
                <a:srgbClr val="FEFEFE"/>
              </a:clrFrom>
              <a:clrTo>
                <a:srgbClr val="FEFEFE">
                  <a:alpha val="0"/>
                </a:srgbClr>
              </a:clrTo>
            </a:clrChange>
          </a:blip>
          <a:stretch>
            <a:fillRect/>
          </a:stretch>
        </p:blipFill>
        <p:spPr>
          <a:xfrm flipH="1">
            <a:off x="8726829" y="4998263"/>
            <a:ext cx="789797" cy="362594"/>
          </a:xfrm>
          <a:prstGeom prst="rect">
            <a:avLst/>
          </a:prstGeom>
        </p:spPr>
      </p:pic>
      <p:pic>
        <p:nvPicPr>
          <p:cNvPr id="205" name="图片 204"/>
          <p:cNvPicPr>
            <a:picLocks noChangeAspect="1"/>
          </p:cNvPicPr>
          <p:nvPr/>
        </p:nvPicPr>
        <p:blipFill>
          <a:blip r:embed="rId52">
            <a:clrChange>
              <a:clrFrom>
                <a:srgbClr val="FFFFFF"/>
              </a:clrFrom>
              <a:clrTo>
                <a:srgbClr val="FFFFFF">
                  <a:alpha val="0"/>
                </a:srgbClr>
              </a:clrTo>
            </a:clrChange>
          </a:blip>
          <a:stretch>
            <a:fillRect/>
          </a:stretch>
        </p:blipFill>
        <p:spPr>
          <a:xfrm>
            <a:off x="7521733" y="6018689"/>
            <a:ext cx="895214" cy="340512"/>
          </a:xfrm>
          <a:prstGeom prst="rect">
            <a:avLst/>
          </a:prstGeom>
        </p:spPr>
      </p:pic>
      <p:sp>
        <p:nvSpPr>
          <p:cNvPr id="206" name="文本框 205"/>
          <p:cNvSpPr txBox="1"/>
          <p:nvPr/>
        </p:nvSpPr>
        <p:spPr>
          <a:xfrm>
            <a:off x="7463070" y="3426668"/>
            <a:ext cx="1025800" cy="238685"/>
          </a:xfrm>
          <a:prstGeom prst="rect">
            <a:avLst/>
          </a:prstGeom>
          <a:noFill/>
        </p:spPr>
        <p:txBody>
          <a:bodyPr wrap="square" rtlCol="0">
            <a:spAutoFit/>
          </a:bodyPr>
          <a:lstStyle>
            <a:defPPr>
              <a:defRPr lang="zh-CN"/>
            </a:defPPr>
            <a:lvl1pPr>
              <a:defRPr sz="1500">
                <a:latin typeface="方正兰亭黑简体" pitchFamily="2" charset="-122"/>
                <a:ea typeface="方正兰亭黑简体" pitchFamily="2" charset="-122"/>
              </a:defRPr>
            </a:lvl1pPr>
          </a:lstStyle>
          <a:p>
            <a:pPr algn="ctr">
              <a:defRPr/>
            </a:pPr>
            <a:r>
              <a:rPr lang="zh-CN" altLang="en-US" sz="1000" kern="0" dirty="0">
                <a:solidFill>
                  <a:prstClr val="black"/>
                </a:solidFill>
                <a:latin typeface="微软雅黑" panose="020B0503020204020204" pitchFamily="34" charset="-122"/>
                <a:ea typeface="微软雅黑" panose="020B0503020204020204" pitchFamily="34" charset="-122"/>
              </a:rPr>
              <a:t>佳高挂灯盘</a:t>
            </a:r>
            <a:endParaRPr lang="zh-CN" altLang="en-US" sz="1000" kern="0" dirty="0">
              <a:solidFill>
                <a:prstClr val="black"/>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0" y="500314"/>
            <a:ext cx="12191999" cy="411055"/>
          </a:xfrm>
          <a:prstGeom prst="rect">
            <a:avLst/>
          </a:prstGeom>
          <a:solidFill>
            <a:srgbClr val="44C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工业园区产品库</a:t>
            </a:r>
            <a:endParaRPr lang="zh-CN" altLang="en-US" dirty="0"/>
          </a:p>
        </p:txBody>
      </p:sp>
      <p:pic>
        <p:nvPicPr>
          <p:cNvPr id="6" name="图片 5"/>
          <p:cNvPicPr>
            <a:picLocks noChangeAspect="1"/>
          </p:cNvPicPr>
          <p:nvPr/>
        </p:nvPicPr>
        <p:blipFill>
          <a:blip r:embed="rId53"/>
          <a:stretch>
            <a:fillRect/>
          </a:stretch>
        </p:blipFill>
        <p:spPr>
          <a:xfrm>
            <a:off x="6434961" y="1738465"/>
            <a:ext cx="613777" cy="518648"/>
          </a:xfrm>
          <a:prstGeom prst="rect">
            <a:avLst/>
          </a:prstGeom>
        </p:spPr>
      </p:pic>
      <p:pic>
        <p:nvPicPr>
          <p:cNvPr id="8" name="图片 7" descr="a7119187d4a5d6b2db688be81407422"/>
          <p:cNvPicPr>
            <a:picLocks noChangeAspect="1"/>
          </p:cNvPicPr>
          <p:nvPr/>
        </p:nvPicPr>
        <p:blipFill>
          <a:blip r:embed="rId54"/>
          <a:stretch>
            <a:fillRect/>
          </a:stretch>
        </p:blipFill>
        <p:spPr>
          <a:xfrm>
            <a:off x="6472403" y="2724278"/>
            <a:ext cx="611438" cy="6094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1"/>
          <a:srcRect r="50706"/>
          <a:stretch>
            <a:fillRect/>
          </a:stretch>
        </p:blipFill>
        <p:spPr>
          <a:xfrm>
            <a:off x="7478095" y="1240302"/>
            <a:ext cx="3672505" cy="2136094"/>
          </a:xfrm>
          <a:prstGeom prst="rect">
            <a:avLst/>
          </a:prstGeom>
        </p:spPr>
      </p:pic>
      <p:pic>
        <p:nvPicPr>
          <p:cNvPr id="6" name="图片 5"/>
          <p:cNvPicPr>
            <a:picLocks noChangeAspect="1"/>
          </p:cNvPicPr>
          <p:nvPr/>
        </p:nvPicPr>
        <p:blipFill>
          <a:blip r:embed="rId2"/>
          <a:stretch>
            <a:fillRect/>
          </a:stretch>
        </p:blipFill>
        <p:spPr>
          <a:xfrm>
            <a:off x="272226" y="3649202"/>
            <a:ext cx="6996792" cy="1978100"/>
          </a:xfrm>
          <a:prstGeom prst="rect">
            <a:avLst/>
          </a:prstGeom>
        </p:spPr>
      </p:pic>
      <p:pic>
        <p:nvPicPr>
          <p:cNvPr id="3" name="图片 2"/>
          <p:cNvPicPr>
            <a:picLocks noChangeAspect="1"/>
          </p:cNvPicPr>
          <p:nvPr/>
        </p:nvPicPr>
        <p:blipFill>
          <a:blip r:embed="rId3"/>
          <a:stretch>
            <a:fillRect/>
          </a:stretch>
        </p:blipFill>
        <p:spPr>
          <a:xfrm>
            <a:off x="272227" y="684383"/>
            <a:ext cx="6859634" cy="2540605"/>
          </a:xfrm>
          <a:prstGeom prst="rect">
            <a:avLst/>
          </a:prstGeom>
        </p:spPr>
      </p:pic>
      <p:pic>
        <p:nvPicPr>
          <p:cNvPr id="264" name="图像" descr="图像"/>
          <p:cNvPicPr>
            <a:picLocks noChangeAspect="1"/>
          </p:cNvPicPr>
          <p:nvPr/>
        </p:nvPicPr>
        <p:blipFill>
          <a:blip r:embed="rId4"/>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5"/>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pic>
        <p:nvPicPr>
          <p:cNvPr id="14" name="图片 13"/>
          <p:cNvPicPr>
            <a:picLocks noChangeAspect="1"/>
          </p:cNvPicPr>
          <p:nvPr/>
        </p:nvPicPr>
        <p:blipFill rotWithShape="1">
          <a:blip r:embed="rId1"/>
          <a:srcRect l="49294" t="16958"/>
          <a:stretch>
            <a:fillRect/>
          </a:stretch>
        </p:blipFill>
        <p:spPr>
          <a:xfrm>
            <a:off x="7674471" y="4011446"/>
            <a:ext cx="3777776" cy="1773850"/>
          </a:xfrm>
          <a:prstGeom prst="rect">
            <a:avLst/>
          </a:prstGeom>
        </p:spPr>
      </p:pic>
      <p:pic>
        <p:nvPicPr>
          <p:cNvPr id="15" name="图片 14"/>
          <p:cNvPicPr>
            <a:picLocks noChangeAspect="1"/>
          </p:cNvPicPr>
          <p:nvPr/>
        </p:nvPicPr>
        <p:blipFill rotWithShape="1">
          <a:blip r:embed="rId1"/>
          <a:srcRect r="50706" b="83042"/>
          <a:stretch>
            <a:fillRect/>
          </a:stretch>
        </p:blipFill>
        <p:spPr>
          <a:xfrm>
            <a:off x="7478095" y="3649202"/>
            <a:ext cx="3672505" cy="362239"/>
          </a:xfrm>
          <a:prstGeom prst="rect">
            <a:avLst/>
          </a:prstGeom>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pic>
        <p:nvPicPr>
          <p:cNvPr id="2" name="图片 1"/>
          <p:cNvPicPr>
            <a:picLocks noChangeAspect="1"/>
          </p:cNvPicPr>
          <p:nvPr/>
        </p:nvPicPr>
        <p:blipFill>
          <a:blip r:embed="rId3"/>
          <a:stretch>
            <a:fillRect/>
          </a:stretch>
        </p:blipFill>
        <p:spPr>
          <a:xfrm>
            <a:off x="596900" y="3254628"/>
            <a:ext cx="10998200" cy="2870078"/>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84900" y="-198611"/>
            <a:ext cx="4391586" cy="2927724"/>
          </a:xfrm>
          <a:prstGeom prst="rect">
            <a:avLst/>
          </a:prstGeom>
        </p:spPr>
      </p:pic>
      <p:pic>
        <p:nvPicPr>
          <p:cNvPr id="8" name="图片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7071" y="74618"/>
            <a:ext cx="3595574" cy="2397180"/>
          </a:xfrm>
          <a:prstGeom prst="rect">
            <a:avLst/>
          </a:prstGeom>
        </p:spPr>
      </p:pic>
      <p:sp>
        <p:nvSpPr>
          <p:cNvPr id="9" name="Rectangle 10"/>
          <p:cNvSpPr/>
          <p:nvPr>
            <p:custDataLst>
              <p:tags r:id="rId6"/>
            </p:custDataLst>
          </p:nvPr>
        </p:nvSpPr>
        <p:spPr>
          <a:xfrm>
            <a:off x="2139885" y="2364020"/>
            <a:ext cx="1791245" cy="685158"/>
          </a:xfrm>
          <a:prstGeom prst="roundRect">
            <a:avLst/>
          </a:prstGeom>
          <a:ln>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lnSpc>
                <a:spcPct val="150000"/>
              </a:lnSpc>
            </a:pPr>
            <a:r>
              <a:rPr lang="zh-CN" altLang="en-US" b="1"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rPr>
              <a:t>超高光效</a:t>
            </a:r>
            <a:endParaRPr lang="en-US" altLang="zh-CN" b="1"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endParaRPr>
          </a:p>
          <a:p>
            <a:pPr algn="ctr">
              <a:lnSpc>
                <a:spcPct val="150000"/>
              </a:lnSpc>
            </a:pPr>
            <a:r>
              <a:rPr lang="en-US" sz="1050" dirty="0">
                <a:solidFill>
                  <a:srgbClr val="FF0000"/>
                </a:solidFill>
                <a:latin typeface="方正兰亭准黑简体" panose="02000000000000000000" pitchFamily="2" charset="-122"/>
                <a:ea typeface="方正兰亭准黑简体" panose="02000000000000000000" pitchFamily="2" charset="-122"/>
                <a:cs typeface="+mn-ea"/>
                <a:sym typeface="+mn-lt"/>
              </a:rPr>
              <a:t>200</a:t>
            </a:r>
            <a:r>
              <a:rPr lang="en-US" altLang="zh-CN" sz="1050" dirty="0">
                <a:solidFill>
                  <a:srgbClr val="FF0000"/>
                </a:solidFill>
                <a:latin typeface="方正兰亭准黑简体" panose="02000000000000000000" pitchFamily="2" charset="-122"/>
                <a:ea typeface="方正兰亭准黑简体" panose="02000000000000000000" pitchFamily="2" charset="-122"/>
                <a:cs typeface="+mn-ea"/>
                <a:sym typeface="+mn-lt"/>
              </a:rPr>
              <a:t>lm/W</a:t>
            </a:r>
            <a:endParaRPr lang="en-US" sz="1050" dirty="0">
              <a:solidFill>
                <a:srgbClr val="FF0000"/>
              </a:solidFill>
              <a:latin typeface="方正兰亭准黑简体" panose="02000000000000000000" pitchFamily="2" charset="-122"/>
              <a:ea typeface="方正兰亭准黑简体" panose="02000000000000000000" pitchFamily="2" charset="-122"/>
              <a:cs typeface="+mn-ea"/>
              <a:sym typeface="+mn-lt"/>
            </a:endParaRPr>
          </a:p>
        </p:txBody>
      </p:sp>
      <p:sp>
        <p:nvSpPr>
          <p:cNvPr id="10" name="Rectangle 10"/>
          <p:cNvSpPr/>
          <p:nvPr>
            <p:custDataLst>
              <p:tags r:id="rId7"/>
            </p:custDataLst>
          </p:nvPr>
        </p:nvSpPr>
        <p:spPr>
          <a:xfrm>
            <a:off x="5018935" y="2364020"/>
            <a:ext cx="1791245" cy="685158"/>
          </a:xfrm>
          <a:prstGeom prst="roundRect">
            <a:avLst/>
          </a:prstGeom>
          <a:ln>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lnSpc>
                <a:spcPct val="150000"/>
              </a:lnSpc>
            </a:pPr>
            <a:r>
              <a:rPr lang="zh-CN" altLang="en-US" b="1"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rPr>
              <a:t>超长寿命</a:t>
            </a:r>
            <a:endParaRPr lang="en-US" altLang="zh-CN" b="1"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endParaRPr>
          </a:p>
          <a:p>
            <a:pPr algn="ctr">
              <a:lnSpc>
                <a:spcPct val="150000"/>
              </a:lnSpc>
            </a:pPr>
            <a:r>
              <a:rPr lang="en-US" altLang="zh-CN" sz="1050" dirty="0">
                <a:solidFill>
                  <a:srgbClr val="FF0000"/>
                </a:solidFill>
                <a:latin typeface="方正兰亭准黑简体" panose="02000000000000000000" pitchFamily="2" charset="-122"/>
                <a:ea typeface="方正兰亭准黑简体" panose="02000000000000000000" pitchFamily="2" charset="-122"/>
                <a:cs typeface="+mn-ea"/>
                <a:sym typeface="+mn-lt"/>
              </a:rPr>
              <a:t>100000hrs</a:t>
            </a:r>
            <a:r>
              <a:rPr lang="en-US" altLang="zh-CN" sz="1050"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rPr>
              <a:t>@Ta35</a:t>
            </a:r>
            <a:r>
              <a:rPr lang="zh-CN" altLang="en-US" sz="1050"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rPr>
              <a:t>℃</a:t>
            </a:r>
            <a:endParaRPr lang="en-US" sz="1050"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endParaRPr>
          </a:p>
        </p:txBody>
      </p:sp>
      <p:sp>
        <p:nvSpPr>
          <p:cNvPr id="11" name="Rectangle 10"/>
          <p:cNvSpPr/>
          <p:nvPr>
            <p:custDataLst>
              <p:tags r:id="rId8"/>
            </p:custDataLst>
          </p:nvPr>
        </p:nvSpPr>
        <p:spPr>
          <a:xfrm>
            <a:off x="7897985" y="2364020"/>
            <a:ext cx="1791245" cy="685158"/>
          </a:xfrm>
          <a:prstGeom prst="roundRect">
            <a:avLst/>
          </a:prstGeom>
          <a:ln>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lnSpc>
                <a:spcPct val="150000"/>
              </a:lnSpc>
            </a:pPr>
            <a:r>
              <a:rPr lang="zh-CN" altLang="en-US" b="1"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rPr>
              <a:t>智能控制</a:t>
            </a:r>
            <a:endParaRPr lang="en-US" altLang="zh-CN" b="1"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endParaRPr>
          </a:p>
          <a:p>
            <a:pPr algn="ctr">
              <a:lnSpc>
                <a:spcPct val="150000"/>
              </a:lnSpc>
            </a:pPr>
            <a:r>
              <a:rPr lang="en-US" altLang="zh-CN" sz="1050"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rPr>
              <a:t>DALI+</a:t>
            </a:r>
            <a:r>
              <a:rPr lang="zh-CN" altLang="en-US" sz="1050"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rPr>
              <a:t>蓝牙</a:t>
            </a:r>
            <a:r>
              <a:rPr lang="en-US" altLang="zh-CN" sz="1050"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rPr>
              <a:t>+</a:t>
            </a:r>
            <a:r>
              <a:rPr lang="zh-CN" altLang="en-US" sz="1050"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rPr>
              <a:t>微波感应</a:t>
            </a:r>
            <a:endParaRPr lang="en-US" sz="1050" dirty="0">
              <a:solidFill>
                <a:schemeClr val="tx1">
                  <a:lumMod val="75000"/>
                  <a:lumOff val="25000"/>
                </a:schemeClr>
              </a:solidFill>
              <a:latin typeface="方正兰亭准黑简体" panose="02000000000000000000" pitchFamily="2" charset="-122"/>
              <a:ea typeface="方正兰亭准黑简体" panose="02000000000000000000" pitchFamily="2" charset="-122"/>
              <a:cs typeface="+mn-ea"/>
              <a:sym typeface="+mn-lt"/>
            </a:endParaRPr>
          </a:p>
        </p:txBody>
      </p:sp>
      <p:sp>
        <p:nvSpPr>
          <p:cNvPr id="12" name="文本框 11"/>
          <p:cNvSpPr txBox="1"/>
          <p:nvPr/>
        </p:nvSpPr>
        <p:spPr>
          <a:xfrm>
            <a:off x="5516881" y="4397279"/>
            <a:ext cx="5990684" cy="584775"/>
          </a:xfrm>
          <a:prstGeom prst="rect">
            <a:avLst/>
          </a:prstGeom>
          <a:solidFill>
            <a:schemeClr val="bg1"/>
          </a:solidFill>
        </p:spPr>
        <p:txBody>
          <a:bodyPr wrap="square" rtlCol="0">
            <a:spAutoFit/>
          </a:bodyPr>
          <a:lstStyle/>
          <a:p>
            <a:r>
              <a:rPr lang="zh-CN" altLang="en-US" sz="1400" dirty="0">
                <a:solidFill>
                  <a:srgbClr val="FF0000"/>
                </a:solidFill>
                <a:latin typeface="微软雅黑" panose="020B0503020204020204" pitchFamily="34" charset="-122"/>
                <a:ea typeface="微软雅黑" panose="020B0503020204020204" pitchFamily="34" charset="-122"/>
              </a:rPr>
              <a:t>节能近</a:t>
            </a:r>
            <a:r>
              <a:rPr lang="en-US" altLang="zh-CN" sz="2800" dirty="0">
                <a:solidFill>
                  <a:srgbClr val="FF0000"/>
                </a:solidFill>
                <a:latin typeface="微软雅黑" panose="020B0503020204020204" pitchFamily="34" charset="-122"/>
                <a:ea typeface="微软雅黑" panose="020B0503020204020204" pitchFamily="34" charset="-122"/>
              </a:rPr>
              <a:t>40%/</a:t>
            </a:r>
            <a:r>
              <a:rPr lang="zh-CN" altLang="en-US" sz="1400" dirty="0">
                <a:solidFill>
                  <a:srgbClr val="FF0000"/>
                </a:solidFill>
                <a:latin typeface="微软雅黑" panose="020B0503020204020204" pitchFamily="34" charset="-122"/>
                <a:ea typeface="微软雅黑" panose="020B0503020204020204" pitchFamily="34" charset="-122"/>
              </a:rPr>
              <a:t>节约电量约</a:t>
            </a:r>
            <a:r>
              <a:rPr lang="en-US" altLang="zh-CN" sz="2800" dirty="0">
                <a:solidFill>
                  <a:srgbClr val="FF0000"/>
                </a:solidFill>
                <a:latin typeface="微软雅黑" panose="020B0503020204020204" pitchFamily="34" charset="-122"/>
                <a:ea typeface="微软雅黑" panose="020B0503020204020204" pitchFamily="34" charset="-122"/>
              </a:rPr>
              <a:t>4.3</a:t>
            </a:r>
            <a:r>
              <a:rPr lang="zh-CN" altLang="en-US" sz="2800" dirty="0">
                <a:solidFill>
                  <a:srgbClr val="FF0000"/>
                </a:solidFill>
                <a:latin typeface="微软雅黑" panose="020B0503020204020204" pitchFamily="34" charset="-122"/>
                <a:ea typeface="微软雅黑" panose="020B0503020204020204" pitchFamily="34" charset="-122"/>
              </a:rPr>
              <a:t>万 </a:t>
            </a:r>
            <a:r>
              <a:rPr lang="en-US" altLang="zh-CN" sz="3200" dirty="0">
                <a:solidFill>
                  <a:srgbClr val="FF0000"/>
                </a:solidFill>
                <a:latin typeface="微软雅黑" panose="020B0503020204020204" pitchFamily="34" charset="-122"/>
                <a:ea typeface="微软雅黑" panose="020B0503020204020204" pitchFamily="34" charset="-122"/>
              </a:rPr>
              <a:t>/</a:t>
            </a:r>
            <a:r>
              <a:rPr lang="en-US" altLang="zh-CN" sz="1400" dirty="0">
                <a:solidFill>
                  <a:srgbClr val="FF0000"/>
                </a:solidFill>
                <a:latin typeface="微软雅黑" panose="020B0503020204020204" pitchFamily="34" charset="-122"/>
                <a:ea typeface="微软雅黑" panose="020B0503020204020204" pitchFamily="34" charset="-122"/>
              </a:rPr>
              <a:t>  </a:t>
            </a:r>
            <a:r>
              <a:rPr lang="zh-CN" altLang="en-US" sz="1400" dirty="0">
                <a:solidFill>
                  <a:srgbClr val="FF0000"/>
                </a:solidFill>
                <a:latin typeface="微软雅黑" panose="020B0503020204020204" pitchFamily="34" charset="-122"/>
                <a:ea typeface="微软雅黑" panose="020B0503020204020204" pitchFamily="34" charset="-122"/>
              </a:rPr>
              <a:t>碳排放减少约</a:t>
            </a:r>
            <a:r>
              <a:rPr lang="en-US" altLang="zh-CN" sz="2800" dirty="0">
                <a:solidFill>
                  <a:srgbClr val="FF0000"/>
                </a:solidFill>
                <a:latin typeface="微软雅黑" panose="020B0503020204020204" pitchFamily="34" charset="-122"/>
                <a:ea typeface="微软雅黑" panose="020B0503020204020204" pitchFamily="34" charset="-122"/>
              </a:rPr>
              <a:t>33</a:t>
            </a:r>
            <a:r>
              <a:rPr lang="zh-CN" altLang="en-US" sz="2800" dirty="0">
                <a:solidFill>
                  <a:srgbClr val="FF0000"/>
                </a:solidFill>
                <a:latin typeface="微软雅黑" panose="020B0503020204020204" pitchFamily="34" charset="-122"/>
                <a:ea typeface="微软雅黑" panose="020B0503020204020204" pitchFamily="34" charset="-122"/>
              </a:rPr>
              <a:t>吨</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976423" y="5611595"/>
            <a:ext cx="909223" cy="400110"/>
          </a:xfrm>
          <a:prstGeom prst="rect">
            <a:avLst/>
          </a:prstGeom>
          <a:solidFill>
            <a:schemeClr val="bg1"/>
          </a:solidFill>
        </p:spPr>
        <p:txBody>
          <a:bodyPr wrap="none" rtlCol="0">
            <a:spAutoFit/>
          </a:bodyPr>
          <a:lstStyle/>
          <a:p>
            <a:r>
              <a:rPr lang="en-US" altLang="zh-CN" sz="2000" b="1" dirty="0">
                <a:latin typeface="微软雅黑" panose="020B0503020204020204" pitchFamily="34" charset="-122"/>
                <a:ea typeface="微软雅黑" panose="020B0503020204020204" pitchFamily="34" charset="-122"/>
              </a:rPr>
              <a:t>160</a:t>
            </a:r>
            <a:r>
              <a:rPr lang="en-US" altLang="zh-CN"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瓦</a:t>
            </a:r>
            <a:endParaRPr lang="zh-CN" altLang="en-US" sz="1400" b="1"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3557063" y="5580029"/>
            <a:ext cx="1023037" cy="461665"/>
          </a:xfrm>
          <a:prstGeom prst="rect">
            <a:avLst/>
          </a:prstGeom>
          <a:solidFill>
            <a:schemeClr val="bg1"/>
          </a:solidFill>
        </p:spPr>
        <p:txBody>
          <a:bodyPr wrap="none" rtlCol="0">
            <a:spAutoFit/>
          </a:bodyPr>
          <a:lstStyle/>
          <a:p>
            <a:r>
              <a:rPr lang="en-US" altLang="zh-CN" sz="2400" b="1" dirty="0">
                <a:solidFill>
                  <a:srgbClr val="00B050"/>
                </a:solidFill>
                <a:latin typeface="微软雅黑" panose="020B0503020204020204" pitchFamily="34" charset="-122"/>
                <a:ea typeface="微软雅黑" panose="020B0503020204020204" pitchFamily="34" charset="-122"/>
              </a:rPr>
              <a:t>100 </a:t>
            </a:r>
            <a:r>
              <a:rPr lang="zh-CN" altLang="en-US" sz="1400" b="1" dirty="0">
                <a:solidFill>
                  <a:srgbClr val="00B050"/>
                </a:solidFill>
                <a:latin typeface="微软雅黑" panose="020B0503020204020204" pitchFamily="34" charset="-122"/>
                <a:ea typeface="微软雅黑" panose="020B0503020204020204" pitchFamily="34" charset="-122"/>
              </a:rPr>
              <a:t>瓦</a:t>
            </a:r>
            <a:endParaRPr lang="zh-CN" altLang="en-US" sz="24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pic>
        <p:nvPicPr>
          <p:cNvPr id="2" name="图片 1"/>
          <p:cNvPicPr>
            <a:picLocks noChangeAspect="1"/>
          </p:cNvPicPr>
          <p:nvPr/>
        </p:nvPicPr>
        <p:blipFill>
          <a:blip r:embed="rId3"/>
          <a:stretch>
            <a:fillRect/>
          </a:stretch>
        </p:blipFill>
        <p:spPr>
          <a:xfrm>
            <a:off x="272228" y="672277"/>
            <a:ext cx="6859633" cy="2376528"/>
          </a:xfrm>
          <a:prstGeom prst="rect">
            <a:avLst/>
          </a:prstGeom>
        </p:spPr>
      </p:pic>
      <p:pic>
        <p:nvPicPr>
          <p:cNvPr id="4" name="图片 3"/>
          <p:cNvPicPr>
            <a:picLocks noChangeAspect="1"/>
          </p:cNvPicPr>
          <p:nvPr/>
        </p:nvPicPr>
        <p:blipFill>
          <a:blip r:embed="rId4"/>
          <a:stretch>
            <a:fillRect/>
          </a:stretch>
        </p:blipFill>
        <p:spPr>
          <a:xfrm>
            <a:off x="272228" y="3633012"/>
            <a:ext cx="7131861" cy="1965002"/>
          </a:xfrm>
          <a:prstGeom prst="rect">
            <a:avLst/>
          </a:prstGeom>
        </p:spPr>
      </p:pic>
      <p:pic>
        <p:nvPicPr>
          <p:cNvPr id="5" name="图片 4"/>
          <p:cNvPicPr>
            <a:picLocks noChangeAspect="1"/>
          </p:cNvPicPr>
          <p:nvPr/>
        </p:nvPicPr>
        <p:blipFill rotWithShape="1">
          <a:blip r:embed="rId5"/>
          <a:srcRect r="66881"/>
          <a:stretch>
            <a:fillRect/>
          </a:stretch>
        </p:blipFill>
        <p:spPr>
          <a:xfrm>
            <a:off x="7404089" y="1171027"/>
            <a:ext cx="2441875" cy="2034268"/>
          </a:xfrm>
          <a:prstGeom prst="rect">
            <a:avLst/>
          </a:prstGeom>
        </p:spPr>
      </p:pic>
      <p:pic>
        <p:nvPicPr>
          <p:cNvPr id="9" name="图片 8"/>
          <p:cNvPicPr>
            <a:picLocks noChangeAspect="1"/>
          </p:cNvPicPr>
          <p:nvPr/>
        </p:nvPicPr>
        <p:blipFill rotWithShape="1">
          <a:blip r:embed="rId5"/>
          <a:srcRect l="33811"/>
          <a:stretch>
            <a:fillRect/>
          </a:stretch>
        </p:blipFill>
        <p:spPr>
          <a:xfrm>
            <a:off x="7478095" y="3652705"/>
            <a:ext cx="4713905" cy="1964993"/>
          </a:xfrm>
          <a:prstGeom prst="rect">
            <a:avLst/>
          </a:prstGeom>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pic>
        <p:nvPicPr>
          <p:cNvPr id="3" name="图片 2"/>
          <p:cNvPicPr>
            <a:picLocks noChangeAspect="1"/>
          </p:cNvPicPr>
          <p:nvPr/>
        </p:nvPicPr>
        <p:blipFill rotWithShape="1">
          <a:blip r:embed="rId3"/>
          <a:srcRect b="6156"/>
          <a:stretch>
            <a:fillRect/>
          </a:stretch>
        </p:blipFill>
        <p:spPr>
          <a:xfrm>
            <a:off x="272228" y="904732"/>
            <a:ext cx="11518900" cy="5048535"/>
          </a:xfrm>
          <a:prstGeom prst="rect">
            <a:avLst/>
          </a:prstGeom>
        </p:spPr>
      </p:pic>
      <p:sp>
        <p:nvSpPr>
          <p:cNvPr id="2" name="文本框 1"/>
          <p:cNvSpPr txBox="1"/>
          <p:nvPr/>
        </p:nvSpPr>
        <p:spPr>
          <a:xfrm>
            <a:off x="4907280" y="4378898"/>
            <a:ext cx="6948171" cy="584775"/>
          </a:xfrm>
          <a:prstGeom prst="rect">
            <a:avLst/>
          </a:prstGeom>
          <a:solidFill>
            <a:schemeClr val="bg1"/>
          </a:solidFill>
        </p:spPr>
        <p:txBody>
          <a:bodyPr wrap="square" rtlCol="0">
            <a:spAutoFit/>
          </a:bodyPr>
          <a:lstStyle/>
          <a:p>
            <a:pPr algn="ctr"/>
            <a:r>
              <a:rPr lang="zh-CN" altLang="en-US" sz="1400" dirty="0">
                <a:solidFill>
                  <a:srgbClr val="FF0000"/>
                </a:solidFill>
                <a:latin typeface="微软雅黑" panose="020B0503020204020204" pitchFamily="34" charset="-122"/>
                <a:ea typeface="微软雅黑" panose="020B0503020204020204" pitchFamily="34" charset="-122"/>
              </a:rPr>
              <a:t>节能超</a:t>
            </a:r>
            <a:r>
              <a:rPr lang="en-US" altLang="zh-CN" sz="2800" dirty="0">
                <a:solidFill>
                  <a:srgbClr val="FF0000"/>
                </a:solidFill>
                <a:latin typeface="微软雅黑" panose="020B0503020204020204" pitchFamily="34" charset="-122"/>
                <a:ea typeface="微软雅黑" panose="020B0503020204020204" pitchFamily="34" charset="-122"/>
              </a:rPr>
              <a:t>50%/</a:t>
            </a:r>
            <a:r>
              <a:rPr lang="zh-CN" altLang="en-US" sz="1400" dirty="0">
                <a:solidFill>
                  <a:srgbClr val="FF0000"/>
                </a:solidFill>
                <a:latin typeface="微软雅黑" panose="020B0503020204020204" pitchFamily="34" charset="-122"/>
                <a:ea typeface="微软雅黑" panose="020B0503020204020204" pitchFamily="34" charset="-122"/>
              </a:rPr>
              <a:t>节约电量约</a:t>
            </a:r>
            <a:r>
              <a:rPr lang="en-US" altLang="zh-CN" sz="2800" dirty="0">
                <a:solidFill>
                  <a:srgbClr val="FF0000"/>
                </a:solidFill>
                <a:latin typeface="微软雅黑" panose="020B0503020204020204" pitchFamily="34" charset="-122"/>
                <a:ea typeface="微软雅黑" panose="020B0503020204020204" pitchFamily="34" charset="-122"/>
              </a:rPr>
              <a:t>13</a:t>
            </a:r>
            <a:r>
              <a:rPr lang="zh-CN" altLang="en-US" sz="2800" dirty="0">
                <a:solidFill>
                  <a:srgbClr val="FF0000"/>
                </a:solidFill>
                <a:latin typeface="微软雅黑" panose="020B0503020204020204" pitchFamily="34" charset="-122"/>
                <a:ea typeface="微软雅黑" panose="020B0503020204020204" pitchFamily="34" charset="-122"/>
              </a:rPr>
              <a:t>万 </a:t>
            </a:r>
            <a:r>
              <a:rPr lang="en-US" altLang="zh-CN" sz="3200" dirty="0">
                <a:solidFill>
                  <a:srgbClr val="FF0000"/>
                </a:solidFill>
                <a:latin typeface="微软雅黑" panose="020B0503020204020204" pitchFamily="34" charset="-122"/>
                <a:ea typeface="微软雅黑" panose="020B0503020204020204" pitchFamily="34" charset="-122"/>
              </a:rPr>
              <a:t>/</a:t>
            </a:r>
            <a:r>
              <a:rPr lang="en-US" altLang="zh-CN" sz="1400" dirty="0">
                <a:solidFill>
                  <a:srgbClr val="FF0000"/>
                </a:solidFill>
                <a:latin typeface="微软雅黑" panose="020B0503020204020204" pitchFamily="34" charset="-122"/>
                <a:ea typeface="微软雅黑" panose="020B0503020204020204" pitchFamily="34" charset="-122"/>
              </a:rPr>
              <a:t>  </a:t>
            </a:r>
            <a:r>
              <a:rPr lang="zh-CN" altLang="en-US" sz="1400" dirty="0">
                <a:solidFill>
                  <a:srgbClr val="FF0000"/>
                </a:solidFill>
                <a:latin typeface="微软雅黑" panose="020B0503020204020204" pitchFamily="34" charset="-122"/>
                <a:ea typeface="微软雅黑" panose="020B0503020204020204" pitchFamily="34" charset="-122"/>
              </a:rPr>
              <a:t>碳排放减少约</a:t>
            </a:r>
            <a:r>
              <a:rPr lang="en-US" altLang="zh-CN" sz="2800" dirty="0">
                <a:solidFill>
                  <a:srgbClr val="FF0000"/>
                </a:solidFill>
                <a:latin typeface="微软雅黑" panose="020B0503020204020204" pitchFamily="34" charset="-122"/>
                <a:ea typeface="微软雅黑" panose="020B0503020204020204" pitchFamily="34" charset="-122"/>
              </a:rPr>
              <a:t>102</a:t>
            </a:r>
            <a:r>
              <a:rPr lang="zh-CN" altLang="en-US" sz="2800" dirty="0">
                <a:solidFill>
                  <a:srgbClr val="FF0000"/>
                </a:solidFill>
                <a:latin typeface="微软雅黑" panose="020B0503020204020204" pitchFamily="34" charset="-122"/>
                <a:ea typeface="微软雅黑" panose="020B0503020204020204" pitchFamily="34" charset="-122"/>
              </a:rPr>
              <a:t>吨</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76423" y="5724248"/>
            <a:ext cx="718466" cy="369332"/>
          </a:xfrm>
          <a:prstGeom prst="rect">
            <a:avLst/>
          </a:prstGeom>
          <a:solidFill>
            <a:schemeClr val="bg1"/>
          </a:solidFill>
        </p:spPr>
        <p:txBody>
          <a:bodyPr wrap="none" rtlCol="0">
            <a:spAutoFit/>
          </a:bodyPr>
          <a:lstStyle/>
          <a:p>
            <a:r>
              <a:rPr lang="en-US" altLang="zh-CN" b="1" dirty="0">
                <a:latin typeface="微软雅黑" panose="020B0503020204020204" pitchFamily="34" charset="-122"/>
                <a:ea typeface="微软雅黑" panose="020B0503020204020204" pitchFamily="34" charset="-122"/>
              </a:rPr>
              <a:t>18 </a:t>
            </a:r>
            <a:r>
              <a:rPr lang="zh-CN" altLang="en-US" sz="1400" b="1" dirty="0">
                <a:latin typeface="微软雅黑" panose="020B0503020204020204" pitchFamily="34" charset="-122"/>
                <a:ea typeface="微软雅黑" panose="020B0503020204020204" pitchFamily="34" charset="-122"/>
              </a:rPr>
              <a:t>瓦</a:t>
            </a:r>
            <a:endParaRPr lang="zh-CN" altLang="en-US" sz="14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3587543" y="5631915"/>
            <a:ext cx="644728" cy="461665"/>
          </a:xfrm>
          <a:prstGeom prst="rect">
            <a:avLst/>
          </a:prstGeom>
          <a:solidFill>
            <a:schemeClr val="bg1"/>
          </a:solidFill>
        </p:spPr>
        <p:txBody>
          <a:bodyPr wrap="none" rtlCol="0">
            <a:spAutoFit/>
          </a:bodyPr>
          <a:lstStyle/>
          <a:p>
            <a:r>
              <a:rPr lang="en-US" altLang="zh-CN" sz="2400" b="1" dirty="0">
                <a:solidFill>
                  <a:srgbClr val="00B050"/>
                </a:solidFill>
                <a:latin typeface="微软雅黑" panose="020B0503020204020204" pitchFamily="34" charset="-122"/>
                <a:ea typeface="微软雅黑" panose="020B0503020204020204" pitchFamily="34" charset="-122"/>
              </a:rPr>
              <a:t>8 </a:t>
            </a:r>
            <a:r>
              <a:rPr lang="zh-CN" altLang="en-US" sz="1400" b="1" dirty="0">
                <a:solidFill>
                  <a:srgbClr val="00B050"/>
                </a:solidFill>
                <a:latin typeface="微软雅黑" panose="020B0503020204020204" pitchFamily="34" charset="-122"/>
                <a:ea typeface="微软雅黑" panose="020B0503020204020204" pitchFamily="34" charset="-122"/>
              </a:rPr>
              <a:t>瓦</a:t>
            </a:r>
            <a:endParaRPr lang="zh-CN" altLang="en-US" sz="24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pic>
        <p:nvPicPr>
          <p:cNvPr id="13" name="图片 12"/>
          <p:cNvPicPr>
            <a:picLocks noChangeAspect="1"/>
          </p:cNvPicPr>
          <p:nvPr/>
        </p:nvPicPr>
        <p:blipFill rotWithShape="1">
          <a:blip r:embed="rId3"/>
          <a:srcRect t="1" b="24921"/>
          <a:stretch>
            <a:fillRect/>
          </a:stretch>
        </p:blipFill>
        <p:spPr>
          <a:xfrm>
            <a:off x="0" y="0"/>
            <a:ext cx="12192000" cy="6858000"/>
          </a:xfrm>
          <a:prstGeom prst="rect">
            <a:avLst/>
          </a:prstGeom>
        </p:spPr>
      </p:pic>
      <p:sp>
        <p:nvSpPr>
          <p:cNvPr id="14" name="文本框 13"/>
          <p:cNvSpPr txBox="1"/>
          <p:nvPr/>
        </p:nvSpPr>
        <p:spPr>
          <a:xfrm>
            <a:off x="880757" y="1411193"/>
            <a:ext cx="5112823" cy="1446550"/>
          </a:xfrm>
          <a:prstGeom prst="rect">
            <a:avLst/>
          </a:prstGeom>
          <a:noFill/>
        </p:spPr>
        <p:txBody>
          <a:bodyPr wrap="square" rtlCol="0">
            <a:spAutoFit/>
          </a:bodyPr>
          <a:lstStyle/>
          <a:p>
            <a:r>
              <a:rPr lang="zh-CN" altLang="en-US" sz="3200" dirty="0">
                <a:latin typeface="微软雅黑" panose="020B0503020204020204" pitchFamily="34" charset="-122"/>
                <a:ea typeface="微软雅黑" panose="020B0503020204020204" pitchFamily="34" charset="-122"/>
              </a:rPr>
              <a:t>欧普睿壹系统</a:t>
            </a:r>
            <a:endParaRPr lang="en-US" altLang="zh-CN" sz="3200" dirty="0">
              <a:latin typeface="微软雅黑" panose="020B0503020204020204" pitchFamily="34" charset="-122"/>
              <a:ea typeface="微软雅黑" panose="020B0503020204020204" pitchFamily="34" charset="-122"/>
            </a:endParaRPr>
          </a:p>
          <a:p>
            <a:endParaRPr lang="en-US" altLang="zh-CN" sz="32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智慧能源综合解决方案管理平台</a:t>
            </a:r>
            <a:endParaRPr lang="zh-CN" altLang="en-US" sz="2400" dirty="0">
              <a:latin typeface="微软雅黑" panose="020B0503020204020204" pitchFamily="34" charset="-122"/>
              <a:ea typeface="微软雅黑" panose="020B0503020204020204" pitchFamily="34" charset="-122"/>
            </a:endParaRPr>
          </a:p>
        </p:txBody>
      </p:sp>
      <p:sp>
        <p:nvSpPr>
          <p:cNvPr id="18" name="矩形: 圆角 17"/>
          <p:cNvSpPr/>
          <p:nvPr/>
        </p:nvSpPr>
        <p:spPr>
          <a:xfrm>
            <a:off x="2393156" y="2975718"/>
            <a:ext cx="1248833" cy="378000"/>
          </a:xfrm>
          <a:prstGeom prst="roundRect">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rPr>
              <a:t>30%+</a:t>
            </a:r>
            <a:endParaRPr kumimoji="1" lang="en-US" altLang="zh-CN"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endParaRPr>
          </a:p>
          <a:p>
            <a:pPr algn="ctr"/>
            <a:r>
              <a:rPr kumimoji="1" lang="zh-CN" altLang="en-US" sz="900" dirty="0">
                <a:solidFill>
                  <a:schemeClr val="bg1"/>
                </a:solidFill>
                <a:latin typeface="微软雅黑" panose="020B0503020204020204" pitchFamily="34" charset="-122"/>
                <a:ea typeface="微软雅黑" panose="020B0503020204020204" pitchFamily="34" charset="-122"/>
              </a:rPr>
              <a:t>智慧节能率</a:t>
            </a:r>
            <a:endParaRPr kumimoji="1"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19" name="矩形: 圆角 18"/>
          <p:cNvSpPr/>
          <p:nvPr/>
        </p:nvSpPr>
        <p:spPr>
          <a:xfrm>
            <a:off x="3975902" y="2975718"/>
            <a:ext cx="1290365" cy="378000"/>
          </a:xfrm>
          <a:prstGeom prst="roundRect">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rPr>
              <a:t>90%+</a:t>
            </a:r>
            <a:endParaRPr kumimoji="1" lang="en-US" altLang="zh-CN"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endParaRPr>
          </a:p>
          <a:p>
            <a:pPr algn="ctr"/>
            <a:r>
              <a:rPr kumimoji="1" lang="zh-CN" altLang="en-US" sz="900" dirty="0">
                <a:solidFill>
                  <a:schemeClr val="bg1"/>
                </a:solidFill>
                <a:latin typeface="微软雅黑" panose="020B0503020204020204" pitchFamily="34" charset="-122"/>
                <a:ea typeface="微软雅黑" panose="020B0503020204020204" pitchFamily="34" charset="-122"/>
              </a:rPr>
              <a:t>运维效率提升</a:t>
            </a:r>
            <a:endParaRPr lang="zh-CN" altLang="en-US" sz="1600" dirty="0"/>
          </a:p>
        </p:txBody>
      </p:sp>
      <p:sp>
        <p:nvSpPr>
          <p:cNvPr id="20" name="矩形: 圆角 19"/>
          <p:cNvSpPr/>
          <p:nvPr/>
        </p:nvSpPr>
        <p:spPr>
          <a:xfrm>
            <a:off x="1003299" y="2975718"/>
            <a:ext cx="1055945" cy="378883"/>
          </a:xfrm>
          <a:prstGeom prst="roundRect">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rPr>
              <a:t>  3W+</a:t>
            </a:r>
            <a:endParaRPr kumimoji="1" lang="en-US" altLang="zh-CN"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endParaRPr>
          </a:p>
          <a:p>
            <a:pPr algn="ctr"/>
            <a:r>
              <a:rPr kumimoji="1" lang="zh-CN" altLang="en-US" sz="800" dirty="0">
                <a:solidFill>
                  <a:schemeClr val="bg1"/>
                </a:solidFill>
                <a:latin typeface="微软雅黑" panose="020B0503020204020204" pitchFamily="34" charset="-122"/>
                <a:ea typeface="微软雅黑" panose="020B0503020204020204" pitchFamily="34" charset="-122"/>
              </a:rPr>
              <a:t>节点接入（单项目）</a:t>
            </a:r>
            <a:endParaRPr kumimoji="1" lang="zh-CN" altLang="en-US" sz="800" dirty="0">
              <a:solidFill>
                <a:schemeClr val="bg1"/>
              </a:solidFill>
              <a:latin typeface="微软雅黑" panose="020B0503020204020204" pitchFamily="34" charset="-122"/>
              <a:ea typeface="微软雅黑" panose="020B0503020204020204" pitchFamily="34" charset="-122"/>
            </a:endParaRPr>
          </a:p>
        </p:txBody>
      </p:sp>
      <p:sp>
        <p:nvSpPr>
          <p:cNvPr id="21" name="矩形: 圆角 20"/>
          <p:cNvSpPr/>
          <p:nvPr/>
        </p:nvSpPr>
        <p:spPr>
          <a:xfrm>
            <a:off x="1003299" y="3608247"/>
            <a:ext cx="1053897" cy="378883"/>
          </a:xfrm>
          <a:prstGeom prst="roundRect">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rPr>
              <a:t>全链路</a:t>
            </a:r>
            <a:endParaRPr kumimoji="1" lang="en-US" altLang="zh-CN"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endParaRPr>
          </a:p>
          <a:p>
            <a:pPr algn="ctr"/>
            <a:r>
              <a:rPr kumimoji="1" lang="zh-CN" altLang="en-US" sz="800" b="1" dirty="0">
                <a:solidFill>
                  <a:schemeClr val="bg1"/>
                </a:solidFill>
                <a:latin typeface="微软雅黑" panose="020B0503020204020204" pitchFamily="34" charset="-122"/>
                <a:ea typeface="微软雅黑" panose="020B0503020204020204" pitchFamily="34" charset="-122"/>
              </a:rPr>
              <a:t>闭环能源管控</a:t>
            </a:r>
            <a:endParaRPr kumimoji="1" lang="zh-CN" altLang="en-US" sz="800" b="1" dirty="0">
              <a:solidFill>
                <a:schemeClr val="bg1"/>
              </a:solidFill>
              <a:latin typeface="微软雅黑" panose="020B0503020204020204" pitchFamily="34" charset="-122"/>
              <a:ea typeface="微软雅黑" panose="020B0503020204020204" pitchFamily="34" charset="-122"/>
            </a:endParaRPr>
          </a:p>
        </p:txBody>
      </p:sp>
      <p:sp>
        <p:nvSpPr>
          <p:cNvPr id="22" name="矩形: 圆角 21"/>
          <p:cNvSpPr/>
          <p:nvPr/>
        </p:nvSpPr>
        <p:spPr>
          <a:xfrm>
            <a:off x="2423579" y="3608247"/>
            <a:ext cx="1229585" cy="378000"/>
          </a:xfrm>
          <a:prstGeom prst="roundRect">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rPr>
              <a:t>数据座舱</a:t>
            </a:r>
            <a:endParaRPr kumimoji="1" lang="en-US" altLang="zh-CN"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endParaRPr>
          </a:p>
          <a:p>
            <a:pPr algn="ctr"/>
            <a:r>
              <a:rPr kumimoji="1" lang="zh-CN" altLang="en-US" sz="900" dirty="0">
                <a:solidFill>
                  <a:schemeClr val="bg1"/>
                </a:solidFill>
                <a:latin typeface="微软雅黑" panose="020B0503020204020204" pitchFamily="34" charset="-122"/>
                <a:ea typeface="微软雅黑" panose="020B0503020204020204" pitchFamily="34" charset="-122"/>
              </a:rPr>
              <a:t>模块化能耗管理</a:t>
            </a:r>
            <a:endParaRPr kumimoji="1"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23" name="矩形: 圆角 22"/>
          <p:cNvSpPr/>
          <p:nvPr/>
        </p:nvSpPr>
        <p:spPr>
          <a:xfrm>
            <a:off x="3967839" y="3608247"/>
            <a:ext cx="1298428" cy="378000"/>
          </a:xfrm>
          <a:prstGeom prst="roundRect">
            <a:avLst/>
          </a:prstGeom>
          <a:solidFill>
            <a:schemeClr val="tx1">
              <a:lumMod val="75000"/>
              <a:lumOff val="2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rPr>
              <a:t>安全认证</a:t>
            </a:r>
            <a:endParaRPr kumimoji="1" lang="en-US" altLang="zh-CN" sz="1200" b="1" dirty="0">
              <a:gradFill flip="none" rotWithShape="1">
                <a:gsLst>
                  <a:gs pos="15000">
                    <a:srgbClr val="FC3D23"/>
                  </a:gs>
                  <a:gs pos="100000">
                    <a:srgbClr val="FFE3C6"/>
                  </a:gs>
                </a:gsLst>
                <a:lin ang="2700000" scaled="1"/>
                <a:tileRect/>
              </a:gradFill>
              <a:latin typeface="微软雅黑" panose="020B0503020204020204" pitchFamily="34" charset="-122"/>
              <a:ea typeface="微软雅黑" panose="020B0503020204020204" pitchFamily="34" charset="-122"/>
            </a:endParaRPr>
          </a:p>
          <a:p>
            <a:pPr algn="ctr"/>
            <a:r>
              <a:rPr kumimoji="1" lang="zh-CN" altLang="en-US" sz="800" dirty="0">
                <a:solidFill>
                  <a:schemeClr val="bg1"/>
                </a:solidFill>
                <a:latin typeface="微软雅黑" panose="020B0503020204020204" pitchFamily="34" charset="-122"/>
                <a:ea typeface="微软雅黑" panose="020B0503020204020204" pitchFamily="34" charset="-122"/>
              </a:rPr>
              <a:t>行业首个三级等保认证</a:t>
            </a:r>
            <a:endParaRPr kumimoji="1" lang="zh-CN" altLang="en-US" sz="800" dirty="0">
              <a:solidFill>
                <a:schemeClr val="bg1"/>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5391350" y="3197981"/>
            <a:ext cx="6544733" cy="3215892"/>
            <a:chOff x="5024967" y="2909365"/>
            <a:chExt cx="6544733" cy="3215892"/>
          </a:xfrm>
        </p:grpSpPr>
        <p:sp>
          <p:nvSpPr>
            <p:cNvPr id="15" name="圆角矩形"/>
            <p:cNvSpPr/>
            <p:nvPr/>
          </p:nvSpPr>
          <p:spPr>
            <a:xfrm>
              <a:off x="5024967" y="4411875"/>
              <a:ext cx="835660" cy="1699939"/>
            </a:xfrm>
            <a:prstGeom prst="roundRect">
              <a:avLst>
                <a:gd name="adj" fmla="val 15116"/>
              </a:avLst>
            </a:prstGeom>
          </p:spPr>
          <p:style>
            <a:lnRef idx="1">
              <a:schemeClr val="accent1"/>
            </a:lnRef>
            <a:fillRef idx="3">
              <a:schemeClr val="accent1"/>
            </a:fillRef>
            <a:effectRef idx="2">
              <a:schemeClr val="accent1"/>
            </a:effectRef>
            <a:fontRef idx="minor">
              <a:schemeClr val="lt1"/>
            </a:fontRef>
          </p:style>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16" name="圆角矩形"/>
            <p:cNvSpPr/>
            <p:nvPr/>
          </p:nvSpPr>
          <p:spPr>
            <a:xfrm>
              <a:off x="6096000" y="2909365"/>
              <a:ext cx="5473700" cy="3215892"/>
            </a:xfrm>
            <a:prstGeom prst="roundRect">
              <a:avLst>
                <a:gd name="adj" fmla="val 6823"/>
              </a:avLst>
            </a:prstGeom>
            <a:solidFill>
              <a:srgbClr val="000000"/>
            </a:solidFill>
            <a:ln w="12700">
              <a:miter lim="400000"/>
            </a:ln>
            <a:effectLst/>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17" name="图片 16"/>
            <p:cNvPicPr>
              <a:picLocks noChangeAspect="1"/>
            </p:cNvPicPr>
            <p:nvPr/>
          </p:nvPicPr>
          <p:blipFill>
            <a:blip r:embed="rId4"/>
            <a:stretch>
              <a:fillRect/>
            </a:stretch>
          </p:blipFill>
          <p:spPr>
            <a:xfrm>
              <a:off x="6167964" y="3013287"/>
              <a:ext cx="5389036" cy="2984716"/>
            </a:xfrm>
            <a:prstGeom prst="rect">
              <a:avLst/>
            </a:prstGeom>
          </p:spPr>
        </p:pic>
        <p:pic>
          <p:nvPicPr>
            <p:cNvPr id="25" name="图片 24"/>
            <p:cNvPicPr>
              <a:picLocks noChangeAspect="1"/>
            </p:cNvPicPr>
            <p:nvPr/>
          </p:nvPicPr>
          <p:blipFill>
            <a:blip r:embed="rId5"/>
            <a:stretch>
              <a:fillRect/>
            </a:stretch>
          </p:blipFill>
          <p:spPr>
            <a:xfrm>
              <a:off x="5080000" y="4453156"/>
              <a:ext cx="735555" cy="1591816"/>
            </a:xfrm>
            <a:prstGeom prst="roundRect">
              <a:avLst/>
            </a:prstGeom>
          </p:spPr>
        </p:pic>
      </p:grpSp>
      <p:sp>
        <p:nvSpPr>
          <p:cNvPr id="2" name="矩形 1"/>
          <p:cNvSpPr/>
          <p:nvPr/>
        </p:nvSpPr>
        <p:spPr>
          <a:xfrm>
            <a:off x="1155700" y="466350"/>
            <a:ext cx="10414000"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微软雅黑" panose="020B0503020204020204" pitchFamily="34" charset="-122"/>
                <a:ea typeface="微软雅黑" panose="020B0503020204020204" pitchFamily="34" charset="-122"/>
              </a:rPr>
              <a:t>提升低碳运营水平，省电又省钱，为厂房的绿色低碳贡献力量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pic>
        <p:nvPicPr>
          <p:cNvPr id="10" name="图片 9"/>
          <p:cNvPicPr>
            <a:picLocks noChangeAspect="1"/>
          </p:cNvPicPr>
          <p:nvPr/>
        </p:nvPicPr>
        <p:blipFill>
          <a:blip r:embed="rId3"/>
          <a:stretch>
            <a:fillRect/>
          </a:stretch>
        </p:blipFill>
        <p:spPr>
          <a:xfrm>
            <a:off x="450756" y="753044"/>
            <a:ext cx="11133480" cy="5794469"/>
          </a:xfrm>
          <a:prstGeom prst="rect">
            <a:avLst/>
          </a:prstGeom>
        </p:spPr>
      </p:pic>
      <p:sp>
        <p:nvSpPr>
          <p:cNvPr id="11" name="矩形 10"/>
          <p:cNvSpPr/>
          <p:nvPr/>
        </p:nvSpPr>
        <p:spPr>
          <a:xfrm>
            <a:off x="333036" y="753044"/>
            <a:ext cx="11525928" cy="391807"/>
          </a:xfrm>
          <a:prstGeom prst="rect">
            <a:avLst/>
          </a:prstGeom>
          <a:solidFill>
            <a:srgbClr val="44C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方正兰亭准黑简体" panose="02000000000000000000" pitchFamily="2" charset="-122"/>
                <a:ea typeface="方正兰亭准黑简体" panose="02000000000000000000" pitchFamily="2" charset="-122"/>
              </a:rPr>
              <a:t>具备监测、控制、运维一体化的建筑照明智能解决方案能力</a:t>
            </a:r>
            <a:endParaRPr lang="zh-CN" altLang="en-US" b="1" dirty="0">
              <a:solidFill>
                <a:schemeClr val="bg1"/>
              </a:solidFill>
              <a:latin typeface="方正兰亭准黑简体" panose="02000000000000000000" pitchFamily="2" charset="-122"/>
              <a:ea typeface="方正兰亭准黑简体" panose="02000000000000000000" pitchFamily="2" charset="-122"/>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sp>
        <p:nvSpPr>
          <p:cNvPr id="11" name="矩形 10"/>
          <p:cNvSpPr/>
          <p:nvPr/>
        </p:nvSpPr>
        <p:spPr>
          <a:xfrm>
            <a:off x="333036" y="753044"/>
            <a:ext cx="11525928" cy="391807"/>
          </a:xfrm>
          <a:prstGeom prst="rect">
            <a:avLst/>
          </a:prstGeom>
          <a:solidFill>
            <a:srgbClr val="44C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方正兰亭准黑简体" panose="02000000000000000000" pitchFamily="2" charset="-122"/>
                <a:ea typeface="方正兰亭准黑简体" panose="02000000000000000000" pitchFamily="2" charset="-122"/>
              </a:rPr>
              <a:t>四种自动化照明场景管理策略，因地制宜制定节能管理方案</a:t>
            </a:r>
            <a:endParaRPr lang="zh-CN" altLang="en-US" b="1" dirty="0">
              <a:solidFill>
                <a:schemeClr val="bg1"/>
              </a:solidFill>
              <a:latin typeface="方正兰亭准黑简体" panose="02000000000000000000" pitchFamily="2" charset="-122"/>
              <a:ea typeface="方正兰亭准黑简体" panose="02000000000000000000" pitchFamily="2" charset="-122"/>
            </a:endParaRPr>
          </a:p>
        </p:txBody>
      </p:sp>
      <p:pic>
        <p:nvPicPr>
          <p:cNvPr id="7" name="图片 6"/>
          <p:cNvPicPr>
            <a:picLocks noChangeAspect="1"/>
          </p:cNvPicPr>
          <p:nvPr/>
        </p:nvPicPr>
        <p:blipFill>
          <a:blip r:embed="rId3"/>
          <a:stretch>
            <a:fillRect/>
          </a:stretch>
        </p:blipFill>
        <p:spPr>
          <a:xfrm>
            <a:off x="1578498" y="1463744"/>
            <a:ext cx="9035004" cy="4740800"/>
          </a:xfrm>
          <a:prstGeom prst="rect">
            <a:avLst/>
          </a:prstGeom>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矩形"/>
          <p:cNvSpPr/>
          <p:nvPr/>
        </p:nvSpPr>
        <p:spPr>
          <a:xfrm>
            <a:off x="-31626" y="-4441"/>
            <a:ext cx="12255252" cy="6917681"/>
          </a:xfrm>
          <a:prstGeom prst="rect">
            <a:avLst/>
          </a:prstGeom>
          <a:solidFill>
            <a:srgbClr val="58B7DD"/>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pic>
        <p:nvPicPr>
          <p:cNvPr id="408" name="图像" descr="图像"/>
          <p:cNvPicPr>
            <a:picLocks noChangeAspect="1"/>
          </p:cNvPicPr>
          <p:nvPr/>
        </p:nvPicPr>
        <p:blipFill>
          <a:blip r:embed="rId1"/>
          <a:stretch>
            <a:fillRect/>
          </a:stretch>
        </p:blipFill>
        <p:spPr>
          <a:xfrm>
            <a:off x="272228" y="310487"/>
            <a:ext cx="566585" cy="123664"/>
          </a:xfrm>
          <a:prstGeom prst="rect">
            <a:avLst/>
          </a:prstGeom>
          <a:ln w="12700">
            <a:miter lim="400000"/>
            <a:headEnd/>
            <a:tailEnd/>
          </a:ln>
        </p:spPr>
      </p:pic>
      <p:sp>
        <p:nvSpPr>
          <p:cNvPr id="410" name="主标题示例"/>
          <p:cNvSpPr txBox="1"/>
          <p:nvPr/>
        </p:nvSpPr>
        <p:spPr>
          <a:xfrm>
            <a:off x="6141135" y="5198169"/>
            <a:ext cx="1282402" cy="372474"/>
          </a:xfrm>
          <a:prstGeom prst="rect">
            <a:avLst/>
          </a:prstGeom>
          <a:ln w="12700">
            <a:miter lim="400000"/>
          </a:ln>
        </p:spPr>
        <p:txBody>
          <a:bodyPr wrap="none" lIns="25400" tIns="25400" rIns="25400" bIns="25400" anchor="ctr">
            <a:spAutoFit/>
          </a:bodyPr>
          <a:lstStyle>
            <a:lvl1pPr algn="l">
              <a:lnSpc>
                <a:spcPct val="80000"/>
              </a:lnSpc>
              <a:defRPr sz="5000" spc="-100">
                <a:solidFill>
                  <a:srgbClr val="FFFFFF"/>
                </a:solidFill>
                <a:latin typeface="FZLanTingHeiS-DB1-GB"/>
                <a:ea typeface="FZLanTingHeiS-DB1-GB"/>
                <a:cs typeface="FZLanTingHeiS-DB1-GB"/>
                <a:sym typeface="FZLanTingHeiS-DB1-GB"/>
              </a:defRPr>
            </a:lvl1pPr>
          </a:lstStyle>
          <a:p>
            <a:r>
              <a:rPr lang="zh-CN" altLang="en-US" sz="2500" dirty="0">
                <a:latin typeface="方正兰亭准黑简体" panose="02000000000000000000" pitchFamily="2" charset="-122"/>
                <a:ea typeface="方正兰亭准黑简体" panose="02000000000000000000" pitchFamily="2" charset="-122"/>
              </a:rPr>
              <a:t>项目案例</a:t>
            </a:r>
            <a:endParaRPr sz="2500" dirty="0">
              <a:latin typeface="方正兰亭准黑简体" panose="02000000000000000000" pitchFamily="2" charset="-122"/>
              <a:ea typeface="方正兰亭准黑简体" panose="02000000000000000000" pitchFamily="2" charset="-122"/>
            </a:endParaRPr>
          </a:p>
        </p:txBody>
      </p:sp>
      <p:pic>
        <p:nvPicPr>
          <p:cNvPr id="413" name="图像" descr="图像"/>
          <p:cNvPicPr>
            <a:picLocks noChangeAspect="1"/>
          </p:cNvPicPr>
          <p:nvPr/>
        </p:nvPicPr>
        <p:blipFill>
          <a:blip r:embed="rId2"/>
          <a:stretch>
            <a:fillRect/>
          </a:stretch>
        </p:blipFill>
        <p:spPr>
          <a:xfrm>
            <a:off x="272228" y="6280165"/>
            <a:ext cx="1763117" cy="205789"/>
          </a:xfrm>
          <a:prstGeom prst="rect">
            <a:avLst/>
          </a:prstGeom>
          <a:ln w="12700">
            <a:miter lim="400000"/>
            <a:headEnd/>
            <a:tailEnd/>
          </a:ln>
        </p:spPr>
      </p:pic>
      <p:sp>
        <p:nvSpPr>
          <p:cNvPr id="2" name="0"/>
          <p:cNvSpPr txBox="1"/>
          <p:nvPr/>
        </p:nvSpPr>
        <p:spPr>
          <a:xfrm>
            <a:off x="1224980" y="855626"/>
            <a:ext cx="1982431" cy="3744615"/>
          </a:xfrm>
          <a:prstGeom prst="rect">
            <a:avLst/>
          </a:prstGeom>
          <a:ln w="12700">
            <a:miter lim="400000"/>
          </a:ln>
        </p:spPr>
        <p:txBody>
          <a:bodyPr wrap="square" lIns="25400" tIns="25400" rIns="25400" bIns="25400" anchor="ctr">
            <a:spAutoFit/>
          </a:bodyPr>
          <a:lstStyle>
            <a:lvl1pPr algn="l">
              <a:lnSpc>
                <a:spcPct val="80000"/>
              </a:lnSpc>
              <a:defRPr sz="70000" spc="-1400">
                <a:solidFill>
                  <a:srgbClr val="FFFFFF"/>
                </a:solidFill>
                <a:latin typeface="Alibaba PuHuiTi 3 95 ExtraBold"/>
                <a:ea typeface="Alibaba PuHuiTi 3 95 ExtraBold"/>
                <a:cs typeface="Alibaba PuHuiTi 3 95 ExtraBold"/>
                <a:sym typeface="Alibaba PuHuiTi 3 95 ExtraBold"/>
              </a:defRPr>
            </a:lvl1pPr>
          </a:lstStyle>
          <a:p>
            <a:r>
              <a:rPr lang="en-US" altLang="zh-CN" sz="30000" b="1" dirty="0">
                <a:latin typeface="FZLanTingHeiS-DB1-GB" panose="02000000000000000000" pitchFamily="2" charset="-122"/>
                <a:ea typeface="FZLanTingHeiS-DB1-GB" panose="02000000000000000000" pitchFamily="2" charset="-122"/>
              </a:rPr>
              <a:t>0</a:t>
            </a:r>
            <a:endParaRPr lang="en-US" altLang="zh-CN" sz="30000" b="1" dirty="0">
              <a:latin typeface="FZLanTingHeiS-DB1-GB" panose="02000000000000000000" pitchFamily="2" charset="-122"/>
              <a:ea typeface="FZLanTingHeiS-DB1-GB" panose="02000000000000000000" pitchFamily="2" charset="-122"/>
            </a:endParaRPr>
          </a:p>
        </p:txBody>
      </p:sp>
      <p:sp>
        <p:nvSpPr>
          <p:cNvPr id="3" name="1"/>
          <p:cNvSpPr txBox="1"/>
          <p:nvPr/>
        </p:nvSpPr>
        <p:spPr>
          <a:xfrm>
            <a:off x="3505230" y="2973827"/>
            <a:ext cx="2127185" cy="3744615"/>
          </a:xfrm>
          <a:prstGeom prst="rect">
            <a:avLst/>
          </a:prstGeom>
          <a:ln w="12700">
            <a:miter lim="400000"/>
          </a:ln>
        </p:spPr>
        <p:txBody>
          <a:bodyPr wrap="none" lIns="25400" tIns="25400" rIns="25400" bIns="25400" anchor="ctr">
            <a:spAutoFit/>
          </a:bodyPr>
          <a:lstStyle>
            <a:lvl1pPr algn="l">
              <a:lnSpc>
                <a:spcPct val="80000"/>
              </a:lnSpc>
              <a:defRPr sz="70000" spc="-1400">
                <a:solidFill>
                  <a:srgbClr val="FFFFFF"/>
                </a:solidFill>
                <a:latin typeface="Alibaba PuHuiTi 3 95 ExtraBold"/>
                <a:ea typeface="Alibaba PuHuiTi 3 95 ExtraBold"/>
                <a:cs typeface="Alibaba PuHuiTi 3 95 ExtraBold"/>
                <a:sym typeface="Alibaba PuHuiTi 3 95 ExtraBold"/>
              </a:defRPr>
            </a:lvl1pPr>
          </a:lstStyle>
          <a:p>
            <a:r>
              <a:rPr lang="en-US" altLang="zh-CN" sz="30000" dirty="0">
                <a:latin typeface="FZLanTingHeiS-DB1-GB" panose="02000000000000000000" pitchFamily="2" charset="-122"/>
                <a:ea typeface="FZLanTingHeiS-DB1-GB" panose="02000000000000000000" pitchFamily="2" charset="-122"/>
              </a:rPr>
              <a:t>3</a:t>
            </a:r>
            <a:endParaRPr sz="30000" dirty="0">
              <a:latin typeface="FZLanTingHeiS-DB1-GB" panose="02000000000000000000" pitchFamily="2" charset="-122"/>
              <a:ea typeface="FZLanTingHeiS-DB1-GB" panose="02000000000000000000" pitchFamily="2" charset="-122"/>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
          <a:srcRect l="9590" r="9216"/>
          <a:stretch>
            <a:fillRect/>
          </a:stretch>
        </p:blipFill>
        <p:spPr>
          <a:xfrm>
            <a:off x="4370433" y="3279706"/>
            <a:ext cx="3467100" cy="1750559"/>
          </a:xfrm>
          <a:prstGeom prst="rect">
            <a:avLst/>
          </a:prstGeom>
        </p:spPr>
      </p:pic>
      <p:pic>
        <p:nvPicPr>
          <p:cNvPr id="264" name="图像" descr="图像"/>
          <p:cNvPicPr>
            <a:picLocks noChangeAspect="1"/>
          </p:cNvPicPr>
          <p:nvPr/>
        </p:nvPicPr>
        <p:blipFill>
          <a:blip r:embed="rId2"/>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3"/>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sp>
        <p:nvSpPr>
          <p:cNvPr id="3" name="矩形 2"/>
          <p:cNvSpPr/>
          <p:nvPr/>
        </p:nvSpPr>
        <p:spPr>
          <a:xfrm>
            <a:off x="113879" y="733543"/>
            <a:ext cx="3668008" cy="2508251"/>
          </a:xfrm>
          <a:prstGeom prst="rect">
            <a:avLst/>
          </a:prstGeom>
        </p:spPr>
        <p:txBody>
          <a:bodyPr wrap="square">
            <a:spAutoFit/>
          </a:bodyPr>
          <a:lstStyle/>
          <a:p>
            <a:r>
              <a:rPr lang="zh-CN" altLang="en-US" sz="1400" b="1" dirty="0">
                <a:solidFill>
                  <a:srgbClr val="43BCDC"/>
                </a:solidFill>
                <a:latin typeface="方正兰亭纤黑简体" panose="02000000000000000000" pitchFamily="2" charset="-122"/>
                <a:ea typeface="方正兰亭纤黑简体" panose="02000000000000000000" pitchFamily="2" charset="-122"/>
              </a:rPr>
              <a:t>生产制造</a:t>
            </a:r>
            <a:endParaRPr lang="en-US" altLang="zh-CN" sz="1400" b="1" dirty="0">
              <a:solidFill>
                <a:srgbClr val="43BCDC"/>
              </a:solidFill>
              <a:latin typeface="方正兰亭纤黑简体" panose="02000000000000000000" pitchFamily="2" charset="-122"/>
              <a:ea typeface="方正兰亭纤黑简体" panose="02000000000000000000" pitchFamily="2" charset="-122"/>
            </a:endParaRPr>
          </a:p>
          <a:p>
            <a:r>
              <a:rPr lang="zh-CN" altLang="en-US" sz="1400" b="1" dirty="0">
                <a:solidFill>
                  <a:srgbClr val="43BCDC"/>
                </a:solidFill>
                <a:latin typeface="方正兰亭纤黑简体" panose="02000000000000000000" pitchFamily="2" charset="-122"/>
                <a:ea typeface="方正兰亭纤黑简体" panose="02000000000000000000" pitchFamily="2" charset="-122"/>
              </a:rPr>
              <a:t>三一重工长沙基地</a:t>
            </a:r>
            <a:endParaRPr lang="en-US" altLang="zh-CN" sz="1400" b="1" dirty="0">
              <a:solidFill>
                <a:srgbClr val="43BCDC"/>
              </a:solidFill>
              <a:latin typeface="方正兰亭纤黑简体" panose="02000000000000000000" pitchFamily="2" charset="-122"/>
              <a:ea typeface="方正兰亭纤黑简体" panose="02000000000000000000" pitchFamily="2" charset="-122"/>
            </a:endParaRPr>
          </a:p>
          <a:p>
            <a:endParaRPr lang="en-US" altLang="zh-CN" sz="1400" b="1" dirty="0">
              <a:solidFill>
                <a:srgbClr val="43BCDC"/>
              </a:solidFill>
              <a:latin typeface="方正兰亭纤黑简体" panose="02000000000000000000" pitchFamily="2" charset="-122"/>
              <a:ea typeface="方正兰亭纤黑简体" panose="02000000000000000000" pitchFamily="2" charset="-122"/>
            </a:endParaRPr>
          </a:p>
          <a:p>
            <a:pPr>
              <a:lnSpc>
                <a:spcPts val="2000"/>
              </a:lnSpc>
            </a:pPr>
            <a:r>
              <a:rPr lang="zh-CN" altLang="en-US" sz="1100" dirty="0">
                <a:solidFill>
                  <a:srgbClr val="757677"/>
                </a:solidFill>
                <a:latin typeface="方正兰亭纤黑简体" panose="02000000000000000000" pitchFamily="2" charset="-122"/>
                <a:ea typeface="方正兰亭纤黑简体" panose="02000000000000000000" pitchFamily="2" charset="-122"/>
              </a:rPr>
              <a:t>在工业照明领域，欧普商照用品质诠释实力，以优质的 照明解决方案，与三一重工集团达成多次集采战略合作，为其长沙、娄底、沈阳、昆山、珠海等国内众多工厂打造专属照明，更提供了高达数万盏的改造灯具，采用揽获两项国际大奖的鹏旭天棚灯，使之前传统灯具</a:t>
            </a:r>
            <a:r>
              <a:rPr lang="en-US" altLang="zh-CN" sz="1100" dirty="0">
                <a:solidFill>
                  <a:srgbClr val="757677"/>
                </a:solidFill>
                <a:latin typeface="方正兰亭纤黑简体" panose="02000000000000000000" pitchFamily="2" charset="-122"/>
                <a:ea typeface="方正兰亭纤黑简体" panose="02000000000000000000" pitchFamily="2" charset="-122"/>
              </a:rPr>
              <a:t>250W</a:t>
            </a:r>
            <a:r>
              <a:rPr lang="zh-CN" altLang="en-US" sz="1100" dirty="0">
                <a:solidFill>
                  <a:srgbClr val="757677"/>
                </a:solidFill>
                <a:latin typeface="方正兰亭纤黑简体" panose="02000000000000000000" pitchFamily="2" charset="-122"/>
                <a:ea typeface="方正兰亭纤黑简体" panose="02000000000000000000" pitchFamily="2" charset="-122"/>
              </a:rPr>
              <a:t>电源能耗降至</a:t>
            </a:r>
            <a:r>
              <a:rPr lang="en-US" altLang="zh-CN" sz="1100" dirty="0">
                <a:solidFill>
                  <a:srgbClr val="757677"/>
                </a:solidFill>
                <a:latin typeface="方正兰亭纤黑简体" panose="02000000000000000000" pitchFamily="2" charset="-122"/>
                <a:ea typeface="方正兰亭纤黑简体" panose="02000000000000000000" pitchFamily="2" charset="-122"/>
              </a:rPr>
              <a:t>120W,</a:t>
            </a:r>
            <a:r>
              <a:rPr lang="zh-CN" altLang="en-US" sz="1100" dirty="0">
                <a:solidFill>
                  <a:srgbClr val="757677"/>
                </a:solidFill>
                <a:latin typeface="方正兰亭纤黑简体" panose="02000000000000000000" pitchFamily="2" charset="-122"/>
                <a:ea typeface="方正兰亭纤黑简体" panose="02000000000000000000" pitchFamily="2" charset="-122"/>
              </a:rPr>
              <a:t>每年节约电能</a:t>
            </a:r>
            <a:r>
              <a:rPr lang="en-US" altLang="zh-CN" sz="1100" dirty="0">
                <a:solidFill>
                  <a:srgbClr val="757677"/>
                </a:solidFill>
                <a:latin typeface="方正兰亭纤黑简体" panose="02000000000000000000" pitchFamily="2" charset="-122"/>
                <a:ea typeface="方正兰亭纤黑简体" panose="02000000000000000000" pitchFamily="2" charset="-122"/>
              </a:rPr>
              <a:t>9490000Kwh,</a:t>
            </a:r>
            <a:r>
              <a:rPr lang="zh-CN" altLang="en-US" sz="1100" dirty="0">
                <a:solidFill>
                  <a:srgbClr val="757677"/>
                </a:solidFill>
                <a:latin typeface="方正兰亭纤黑简体" panose="02000000000000000000" pitchFamily="2" charset="-122"/>
                <a:ea typeface="方正兰亭纤黑简体" panose="02000000000000000000" pitchFamily="2" charset="-122"/>
              </a:rPr>
              <a:t>节能比例</a:t>
            </a:r>
            <a:r>
              <a:rPr lang="en-US" altLang="zh-CN" sz="1100" dirty="0">
                <a:solidFill>
                  <a:srgbClr val="757677"/>
                </a:solidFill>
                <a:latin typeface="方正兰亭纤黑简体" panose="02000000000000000000" pitchFamily="2" charset="-122"/>
                <a:ea typeface="方正兰亭纤黑简体" panose="02000000000000000000" pitchFamily="2" charset="-122"/>
              </a:rPr>
              <a:t>52%</a:t>
            </a:r>
            <a:r>
              <a:rPr lang="zh-CN" altLang="en-US" sz="1100" dirty="0">
                <a:solidFill>
                  <a:srgbClr val="757677"/>
                </a:solidFill>
                <a:latin typeface="方正兰亭纤黑简体" panose="02000000000000000000" pitchFamily="2" charset="-122"/>
                <a:ea typeface="方正兰亭纤黑简体" panose="02000000000000000000" pitchFamily="2" charset="-122"/>
              </a:rPr>
              <a:t>，节能率超</a:t>
            </a:r>
            <a:r>
              <a:rPr lang="en-US" altLang="zh-CN" sz="1100" dirty="0">
                <a:solidFill>
                  <a:srgbClr val="757677"/>
                </a:solidFill>
                <a:latin typeface="方正兰亭纤黑简体" panose="02000000000000000000" pitchFamily="2" charset="-122"/>
                <a:ea typeface="方正兰亭纤黑简体" panose="02000000000000000000" pitchFamily="2" charset="-122"/>
              </a:rPr>
              <a:t>60%</a:t>
            </a:r>
            <a:r>
              <a:rPr lang="zh-CN" altLang="en-US" sz="1100" dirty="0">
                <a:solidFill>
                  <a:srgbClr val="757677"/>
                </a:solidFill>
                <a:latin typeface="方正兰亭纤黑简体" panose="02000000000000000000" pitchFamily="2" charset="-122"/>
                <a:ea typeface="方正兰亭纤黑简体" panose="02000000000000000000" pitchFamily="2" charset="-122"/>
              </a:rPr>
              <a:t>。</a:t>
            </a:r>
            <a:endParaRPr lang="zh-CN" altLang="en-US" sz="1100" dirty="0">
              <a:solidFill>
                <a:srgbClr val="757677"/>
              </a:solidFill>
              <a:latin typeface="方正兰亭纤黑简体" panose="02000000000000000000" pitchFamily="2" charset="-122"/>
              <a:ea typeface="方正兰亭纤黑简体" panose="02000000000000000000" pitchFamily="2" charset="-122"/>
            </a:endParaRPr>
          </a:p>
        </p:txBody>
      </p:sp>
      <p:sp>
        <p:nvSpPr>
          <p:cNvPr id="8" name="object 37"/>
          <p:cNvSpPr/>
          <p:nvPr/>
        </p:nvSpPr>
        <p:spPr>
          <a:xfrm>
            <a:off x="210044" y="3295094"/>
            <a:ext cx="3483067" cy="1735172"/>
          </a:xfrm>
          <a:prstGeom prst="rect">
            <a:avLst/>
          </a:prstGeom>
          <a:blipFill>
            <a:blip r:embed="rId4" cstate="email"/>
            <a:stretch>
              <a:fillRect/>
            </a:stretch>
          </a:blipFill>
        </p:spPr>
        <p:txBody>
          <a:bodyPr wrap="square" lIns="0" tIns="0" rIns="0" bIns="0" rtlCol="0"/>
          <a:lstStyle/>
          <a:p>
            <a:endParaRPr>
              <a:solidFill>
                <a:srgbClr val="0046AA"/>
              </a:solidFill>
            </a:endParaRPr>
          </a:p>
        </p:txBody>
      </p:sp>
      <p:sp>
        <p:nvSpPr>
          <p:cNvPr id="9" name="矩形 8"/>
          <p:cNvSpPr/>
          <p:nvPr/>
        </p:nvSpPr>
        <p:spPr>
          <a:xfrm>
            <a:off x="4261996" y="767230"/>
            <a:ext cx="3668008" cy="1995290"/>
          </a:xfrm>
          <a:prstGeom prst="rect">
            <a:avLst/>
          </a:prstGeom>
        </p:spPr>
        <p:txBody>
          <a:bodyPr wrap="square">
            <a:spAutoFit/>
          </a:bodyPr>
          <a:lstStyle/>
          <a:p>
            <a:r>
              <a:rPr lang="zh-CN" altLang="en-US" sz="1400" b="1" dirty="0">
                <a:solidFill>
                  <a:srgbClr val="43BCDC"/>
                </a:solidFill>
                <a:latin typeface="方正兰亭纤黑简体" panose="02000000000000000000" pitchFamily="2" charset="-122"/>
                <a:ea typeface="方正兰亭纤黑简体" panose="02000000000000000000" pitchFamily="2" charset="-122"/>
              </a:rPr>
              <a:t>生产制造</a:t>
            </a:r>
            <a:endParaRPr lang="en-US" altLang="zh-CN" sz="1400" b="1" dirty="0">
              <a:solidFill>
                <a:srgbClr val="43BCDC"/>
              </a:solidFill>
              <a:latin typeface="方正兰亭纤黑简体" panose="02000000000000000000" pitchFamily="2" charset="-122"/>
              <a:ea typeface="方正兰亭纤黑简体" panose="02000000000000000000" pitchFamily="2" charset="-122"/>
            </a:endParaRPr>
          </a:p>
          <a:p>
            <a:r>
              <a:rPr lang="zh-CN" altLang="en-US" sz="1400" b="1" dirty="0">
                <a:solidFill>
                  <a:srgbClr val="43BCDC"/>
                </a:solidFill>
                <a:latin typeface="方正兰亭纤黑简体" panose="02000000000000000000" pitchFamily="2" charset="-122"/>
                <a:ea typeface="方正兰亭纤黑简体" panose="02000000000000000000" pitchFamily="2" charset="-122"/>
              </a:rPr>
              <a:t>安徽海螺水泥股份</a:t>
            </a:r>
            <a:endParaRPr lang="en-US" altLang="zh-CN" sz="1400" b="1" dirty="0">
              <a:solidFill>
                <a:srgbClr val="43BCDC"/>
              </a:solidFill>
              <a:latin typeface="方正兰亭纤黑简体" panose="02000000000000000000" pitchFamily="2" charset="-122"/>
              <a:ea typeface="方正兰亭纤黑简体" panose="02000000000000000000" pitchFamily="2" charset="-122"/>
            </a:endParaRPr>
          </a:p>
          <a:p>
            <a:endParaRPr lang="en-US" altLang="zh-CN" sz="1400" b="1" dirty="0">
              <a:solidFill>
                <a:srgbClr val="43BCDC"/>
              </a:solidFill>
              <a:latin typeface="方正兰亭纤黑简体" panose="02000000000000000000" pitchFamily="2" charset="-122"/>
              <a:ea typeface="方正兰亭纤黑简体" panose="02000000000000000000" pitchFamily="2" charset="-122"/>
            </a:endParaRPr>
          </a:p>
          <a:p>
            <a:pPr>
              <a:lnSpc>
                <a:spcPts val="2000"/>
              </a:lnSpc>
            </a:pPr>
            <a:r>
              <a:rPr lang="zh-CN" altLang="en-US" sz="1100" dirty="0">
                <a:solidFill>
                  <a:srgbClr val="757677"/>
                </a:solidFill>
                <a:latin typeface="方正兰亭纤黑简体" panose="02000000000000000000" pitchFamily="2" charset="-122"/>
                <a:ea typeface="方正兰亭纤黑简体" panose="02000000000000000000" pitchFamily="2" charset="-122"/>
              </a:rPr>
              <a:t>海螺水泥与欧普照明以优质的产品及解决方案达成多次集采战略合作。专业的高光效节能产品为企业带来更多绿色低碳的节能反馈。</a:t>
            </a:r>
            <a:endParaRPr lang="en-US" altLang="zh-CN" sz="1100" dirty="0">
              <a:solidFill>
                <a:srgbClr val="757677"/>
              </a:solidFill>
              <a:latin typeface="方正兰亭纤黑简体" panose="02000000000000000000" pitchFamily="2" charset="-122"/>
              <a:ea typeface="方正兰亭纤黑简体" panose="02000000000000000000" pitchFamily="2" charset="-122"/>
            </a:endParaRPr>
          </a:p>
          <a:p>
            <a:pPr>
              <a:lnSpc>
                <a:spcPts val="2000"/>
              </a:lnSpc>
            </a:pPr>
            <a:r>
              <a:rPr lang="zh-CN" altLang="en-US" sz="1100" dirty="0">
                <a:solidFill>
                  <a:srgbClr val="757677"/>
                </a:solidFill>
                <a:latin typeface="方正兰亭纤黑简体" panose="02000000000000000000" pitchFamily="2" charset="-122"/>
                <a:ea typeface="方正兰亭纤黑简体" panose="02000000000000000000" pitchFamily="2" charset="-122"/>
              </a:rPr>
              <a:t>合作中涉及欧普照明灯盘、三防灯、洁净支架、吸顶灯等等。</a:t>
            </a:r>
            <a:endParaRPr lang="zh-CN" altLang="en-US" sz="1100" dirty="0">
              <a:solidFill>
                <a:srgbClr val="757677"/>
              </a:solidFill>
              <a:latin typeface="方正兰亭纤黑简体" panose="02000000000000000000" pitchFamily="2" charset="-122"/>
              <a:ea typeface="方正兰亭纤黑简体" panose="02000000000000000000" pitchFamily="2" charset="-122"/>
            </a:endParaRPr>
          </a:p>
        </p:txBody>
      </p:sp>
      <p:pic>
        <p:nvPicPr>
          <p:cNvPr id="4" name="图片 3"/>
          <p:cNvPicPr>
            <a:picLocks noChangeAspect="1"/>
          </p:cNvPicPr>
          <p:nvPr/>
        </p:nvPicPr>
        <p:blipFill>
          <a:blip r:embed="rId5"/>
          <a:stretch>
            <a:fillRect/>
          </a:stretch>
        </p:blipFill>
        <p:spPr>
          <a:xfrm>
            <a:off x="4370433" y="5102435"/>
            <a:ext cx="3467100" cy="1219200"/>
          </a:xfrm>
          <a:prstGeom prst="rect">
            <a:avLst/>
          </a:prstGeom>
        </p:spPr>
      </p:pic>
      <p:pic>
        <p:nvPicPr>
          <p:cNvPr id="5" name="图片 4"/>
          <p:cNvPicPr>
            <a:picLocks noChangeAspect="1"/>
          </p:cNvPicPr>
          <p:nvPr/>
        </p:nvPicPr>
        <p:blipFill>
          <a:blip r:embed="rId6"/>
          <a:stretch>
            <a:fillRect/>
          </a:stretch>
        </p:blipFill>
        <p:spPr>
          <a:xfrm>
            <a:off x="1307422" y="5212722"/>
            <a:ext cx="1409700" cy="942975"/>
          </a:xfrm>
          <a:prstGeom prst="rect">
            <a:avLst/>
          </a:prstGeom>
        </p:spPr>
      </p:pic>
      <p:sp>
        <p:nvSpPr>
          <p:cNvPr id="13" name="矩形 12"/>
          <p:cNvSpPr/>
          <p:nvPr/>
        </p:nvSpPr>
        <p:spPr>
          <a:xfrm>
            <a:off x="8410112" y="767229"/>
            <a:ext cx="3668008" cy="1949123"/>
          </a:xfrm>
          <a:prstGeom prst="rect">
            <a:avLst/>
          </a:prstGeom>
        </p:spPr>
        <p:txBody>
          <a:bodyPr wrap="square">
            <a:spAutoFit/>
          </a:bodyPr>
          <a:lstStyle/>
          <a:p>
            <a:r>
              <a:rPr lang="zh-CN" altLang="en-US" sz="1400" b="1" dirty="0">
                <a:solidFill>
                  <a:srgbClr val="43BCDC"/>
                </a:solidFill>
                <a:latin typeface="方正兰亭纤黑简体" panose="02000000000000000000" pitchFamily="2" charset="-122"/>
                <a:ea typeface="方正兰亭纤黑简体" panose="02000000000000000000" pitchFamily="2" charset="-122"/>
              </a:rPr>
              <a:t>生产制造</a:t>
            </a:r>
            <a:endParaRPr lang="en-US" altLang="zh-CN" sz="1400" b="1" dirty="0">
              <a:solidFill>
                <a:srgbClr val="43BCDC"/>
              </a:solidFill>
              <a:latin typeface="方正兰亭纤黑简体" panose="02000000000000000000" pitchFamily="2" charset="-122"/>
              <a:ea typeface="方正兰亭纤黑简体" panose="02000000000000000000" pitchFamily="2" charset="-122"/>
            </a:endParaRPr>
          </a:p>
          <a:p>
            <a:r>
              <a:rPr lang="zh-CN" altLang="en-US" sz="1400" b="1" dirty="0">
                <a:solidFill>
                  <a:srgbClr val="43BCDC"/>
                </a:solidFill>
                <a:latin typeface="方正兰亭纤黑简体" panose="02000000000000000000" pitchFamily="2" charset="-122"/>
                <a:ea typeface="方正兰亭纤黑简体" panose="02000000000000000000" pitchFamily="2" charset="-122"/>
              </a:rPr>
              <a:t>海尔集团</a:t>
            </a:r>
            <a:endParaRPr lang="en-US" altLang="zh-CN" sz="1400" b="1" dirty="0">
              <a:solidFill>
                <a:srgbClr val="43BCDC"/>
              </a:solidFill>
              <a:latin typeface="方正兰亭纤黑简体" panose="02000000000000000000" pitchFamily="2" charset="-122"/>
              <a:ea typeface="方正兰亭纤黑简体" panose="02000000000000000000" pitchFamily="2" charset="-122"/>
            </a:endParaRPr>
          </a:p>
          <a:p>
            <a:endParaRPr lang="en-US" altLang="zh-CN" sz="1100" dirty="0">
              <a:solidFill>
                <a:srgbClr val="757677"/>
              </a:solidFill>
              <a:latin typeface="方正兰亭纤黑简体" panose="02000000000000000000" pitchFamily="2" charset="-122"/>
              <a:ea typeface="方正兰亭纤黑简体" panose="02000000000000000000" pitchFamily="2" charset="-122"/>
            </a:endParaRPr>
          </a:p>
          <a:p>
            <a:pPr>
              <a:lnSpc>
                <a:spcPts val="2000"/>
              </a:lnSpc>
            </a:pPr>
            <a:r>
              <a:rPr lang="zh-CN" altLang="en-US" sz="1100" dirty="0">
                <a:solidFill>
                  <a:srgbClr val="757677"/>
                </a:solidFill>
                <a:latin typeface="方正兰亭纤黑简体" panose="02000000000000000000" pitchFamily="2" charset="-122"/>
                <a:ea typeface="方正兰亭纤黑简体" panose="02000000000000000000" pitchFamily="2" charset="-122"/>
              </a:rPr>
              <a:t>欧普照明为海尔集团提供全球研发中心的户外亮化照明同时又为其工厂提供专业性的照明解决方案及产品。</a:t>
            </a:r>
            <a:endParaRPr lang="en-US" altLang="zh-CN" sz="1100" dirty="0">
              <a:solidFill>
                <a:srgbClr val="757677"/>
              </a:solidFill>
              <a:latin typeface="方正兰亭纤黑简体" panose="02000000000000000000" pitchFamily="2" charset="-122"/>
              <a:ea typeface="方正兰亭纤黑简体" panose="02000000000000000000" pitchFamily="2" charset="-122"/>
            </a:endParaRPr>
          </a:p>
          <a:p>
            <a:pPr>
              <a:lnSpc>
                <a:spcPts val="2000"/>
              </a:lnSpc>
            </a:pPr>
            <a:r>
              <a:rPr lang="zh-CN" altLang="en-US" sz="1100" dirty="0">
                <a:solidFill>
                  <a:srgbClr val="757677"/>
                </a:solidFill>
                <a:latin typeface="方正兰亭纤黑简体" panose="02000000000000000000" pitchFamily="2" charset="-122"/>
                <a:ea typeface="方正兰亭纤黑简体" panose="02000000000000000000" pitchFamily="2" charset="-122"/>
              </a:rPr>
              <a:t>涉及灯具包括天棚灯，专业的高光效天棚灯在满足国家照度标准要求之外同时为厂区提供良好的工作环境。高达</a:t>
            </a:r>
            <a:r>
              <a:rPr lang="en-US" altLang="zh-CN" sz="1100" dirty="0">
                <a:solidFill>
                  <a:srgbClr val="757677"/>
                </a:solidFill>
                <a:latin typeface="方正兰亭纤黑简体" panose="02000000000000000000" pitchFamily="2" charset="-122"/>
                <a:ea typeface="方正兰亭纤黑简体" panose="02000000000000000000" pitchFamily="2" charset="-122"/>
              </a:rPr>
              <a:t>200lm/W</a:t>
            </a:r>
            <a:r>
              <a:rPr lang="zh-CN" altLang="en-US" sz="1100" dirty="0">
                <a:solidFill>
                  <a:srgbClr val="757677"/>
                </a:solidFill>
                <a:latin typeface="方正兰亭纤黑简体" panose="02000000000000000000" pitchFamily="2" charset="-122"/>
                <a:ea typeface="方正兰亭纤黑简体" panose="02000000000000000000" pitchFamily="2" charset="-122"/>
              </a:rPr>
              <a:t>的高光效更有效的解决节能降本需求。</a:t>
            </a:r>
            <a:endParaRPr lang="zh-CN" altLang="en-US" sz="1100" dirty="0">
              <a:solidFill>
                <a:srgbClr val="757677"/>
              </a:solidFill>
              <a:latin typeface="方正兰亭纤黑简体" panose="02000000000000000000" pitchFamily="2" charset="-122"/>
              <a:ea typeface="方正兰亭纤黑简体" panose="02000000000000000000" pitchFamily="2" charset="-122"/>
            </a:endParaRPr>
          </a:p>
        </p:txBody>
      </p:sp>
      <p:pic>
        <p:nvPicPr>
          <p:cNvPr id="7" name="图片 6"/>
          <p:cNvPicPr>
            <a:picLocks noChangeAspect="1"/>
          </p:cNvPicPr>
          <p:nvPr/>
        </p:nvPicPr>
        <p:blipFill>
          <a:blip r:embed="rId7"/>
          <a:stretch>
            <a:fillRect/>
          </a:stretch>
        </p:blipFill>
        <p:spPr>
          <a:xfrm>
            <a:off x="8498888" y="3295094"/>
            <a:ext cx="3483068" cy="1735172"/>
          </a:xfrm>
          <a:prstGeom prst="rect">
            <a:avLst/>
          </a:prstGeom>
        </p:spPr>
      </p:pic>
      <p:pic>
        <p:nvPicPr>
          <p:cNvPr id="17" name="图片 16"/>
          <p:cNvPicPr>
            <a:picLocks noChangeAspect="1"/>
          </p:cNvPicPr>
          <p:nvPr/>
        </p:nvPicPr>
        <p:blipFill>
          <a:blip r:embed="rId6"/>
          <a:stretch>
            <a:fillRect/>
          </a:stretch>
        </p:blipFill>
        <p:spPr>
          <a:xfrm>
            <a:off x="8830722" y="5212721"/>
            <a:ext cx="1409700" cy="942975"/>
          </a:xfrm>
          <a:prstGeom prst="rect">
            <a:avLst/>
          </a:prstGeom>
        </p:spPr>
      </p:pic>
      <p:pic>
        <p:nvPicPr>
          <p:cNvPr id="14" name="图片 13"/>
          <p:cNvPicPr>
            <a:picLocks noChangeAspect="1"/>
          </p:cNvPicPr>
          <p:nvPr/>
        </p:nvPicPr>
        <p:blipFill>
          <a:blip r:embed="rId8"/>
          <a:stretch>
            <a:fillRect/>
          </a:stretch>
        </p:blipFill>
        <p:spPr>
          <a:xfrm>
            <a:off x="10511330" y="5245970"/>
            <a:ext cx="875174" cy="478130"/>
          </a:xfrm>
          <a:prstGeom prst="rect">
            <a:avLst/>
          </a:prstGeom>
        </p:spPr>
      </p:pic>
      <p:sp>
        <p:nvSpPr>
          <p:cNvPr id="15" name="文本框 14"/>
          <p:cNvSpPr txBox="1"/>
          <p:nvPr/>
        </p:nvSpPr>
        <p:spPr>
          <a:xfrm>
            <a:off x="10654605" y="5826001"/>
            <a:ext cx="588623" cy="253916"/>
          </a:xfrm>
          <a:prstGeom prst="rect">
            <a:avLst/>
          </a:prstGeom>
          <a:noFill/>
        </p:spPr>
        <p:txBody>
          <a:bodyPr wrap="none" rtlCol="0">
            <a:spAutoFit/>
          </a:bodyPr>
          <a:lstStyle/>
          <a:p>
            <a:pPr algn="ctr"/>
            <a:r>
              <a:rPr lang="zh-CN" altLang="en-US" sz="1050" dirty="0">
                <a:solidFill>
                  <a:schemeClr val="bg1">
                    <a:lumMod val="50000"/>
                  </a:schemeClr>
                </a:solidFill>
                <a:latin typeface="方正兰亭准黑简体" panose="02000000000000000000" pitchFamily="2" charset="-122"/>
                <a:ea typeface="方正兰亭准黑简体" panose="02000000000000000000" pitchFamily="2" charset="-122"/>
              </a:rPr>
              <a:t>线条灯</a:t>
            </a:r>
            <a:endParaRPr lang="zh-CN" altLang="en-US" sz="1050" dirty="0">
              <a:solidFill>
                <a:schemeClr val="bg1">
                  <a:lumMod val="50000"/>
                </a:schemeClr>
              </a:solidFill>
              <a:latin typeface="方正兰亭准黑简体" panose="02000000000000000000" pitchFamily="2" charset="-122"/>
              <a:ea typeface="方正兰亭准黑简体" panose="02000000000000000000" pitchFamily="2" charset="-122"/>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图像" descr="图像"/>
          <p:cNvPicPr>
            <a:picLocks noChangeAspect="1"/>
          </p:cNvPicPr>
          <p:nvPr/>
        </p:nvPicPr>
        <p:blipFill>
          <a:blip r:embed="rId1"/>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2"/>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pic>
        <p:nvPicPr>
          <p:cNvPr id="3" name="图片 2"/>
          <p:cNvPicPr>
            <a:picLocks noChangeAspect="1"/>
          </p:cNvPicPr>
          <p:nvPr/>
        </p:nvPicPr>
        <p:blipFill>
          <a:blip r:embed="rId3"/>
          <a:stretch>
            <a:fillRect/>
          </a:stretch>
        </p:blipFill>
        <p:spPr>
          <a:xfrm>
            <a:off x="227759" y="771895"/>
            <a:ext cx="11736482" cy="5524130"/>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13879" y="737046"/>
            <a:ext cx="11964241" cy="5383908"/>
          </a:xfrm>
          <a:prstGeom prst="rect">
            <a:avLst/>
          </a:prstGeom>
        </p:spPr>
      </p:pic>
      <p:pic>
        <p:nvPicPr>
          <p:cNvPr id="264" name="图像" descr="图像"/>
          <p:cNvPicPr>
            <a:picLocks noChangeAspect="1"/>
          </p:cNvPicPr>
          <p:nvPr/>
        </p:nvPicPr>
        <p:blipFill>
          <a:blip r:embed="rId2"/>
          <a:stretch>
            <a:fillRect/>
          </a:stretch>
        </p:blipFill>
        <p:spPr>
          <a:xfrm>
            <a:off x="272228" y="310487"/>
            <a:ext cx="566584" cy="123664"/>
          </a:xfrm>
          <a:prstGeom prst="rect">
            <a:avLst/>
          </a:prstGeom>
          <a:ln w="12700">
            <a:miter lim="400000"/>
            <a:headEnd/>
            <a:tailEnd/>
          </a:ln>
        </p:spPr>
      </p:pic>
      <p:pic>
        <p:nvPicPr>
          <p:cNvPr id="275" name="图像" descr="图像"/>
          <p:cNvPicPr>
            <a:picLocks noChangeAspect="1"/>
          </p:cNvPicPr>
          <p:nvPr/>
        </p:nvPicPr>
        <p:blipFill>
          <a:blip r:embed="rId3"/>
          <a:stretch>
            <a:fillRect/>
          </a:stretch>
        </p:blipFill>
        <p:spPr>
          <a:xfrm>
            <a:off x="272228" y="6338154"/>
            <a:ext cx="1408390" cy="164386"/>
          </a:xfrm>
          <a:prstGeom prst="rect">
            <a:avLst/>
          </a:prstGeom>
          <a:ln w="12700">
            <a:miter lim="400000"/>
            <a:headEnd/>
            <a:tailEnd/>
          </a:ln>
        </p:spPr>
      </p:pic>
      <p:sp>
        <p:nvSpPr>
          <p:cNvPr id="276" name="线条"/>
          <p:cNvSpPr/>
          <p:nvPr/>
        </p:nvSpPr>
        <p:spPr>
          <a:xfrm flipH="1" flipV="1">
            <a:off x="1836987" y="6420346"/>
            <a:ext cx="9904257" cy="1"/>
          </a:xfrm>
          <a:prstGeom prst="line">
            <a:avLst/>
          </a:prstGeom>
          <a:ln w="50800" cap="rnd">
            <a:solidFill>
              <a:srgbClr val="000000"/>
            </a:solidFill>
            <a:custDash>
              <a:ds d="100000" sp="200000"/>
            </a:custDash>
            <a:miter lim="400000"/>
          </a:ln>
        </p:spPr>
        <p:txBody>
          <a:bodyPr lIns="25400" tIns="25400" rIns="25400" bIns="25400" anchor="ctr"/>
          <a:lstStyle/>
          <a:p>
            <a:endParaRPr sz="900"/>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 name="ppt封面3.png" descr="ppt封面3.png"/>
          <p:cNvPicPr>
            <a:picLocks noChangeAspect="1"/>
          </p:cNvPicPr>
          <p:nvPr/>
        </p:nvPicPr>
        <p:blipFill>
          <a:blip r:embed="rId1"/>
          <a:stretch>
            <a:fillRect/>
          </a:stretch>
        </p:blipFill>
        <p:spPr>
          <a:xfrm>
            <a:off x="10160" y="0"/>
            <a:ext cx="12192000" cy="6858000"/>
          </a:xfrm>
          <a:prstGeom prst="rect">
            <a:avLst/>
          </a:prstGeom>
          <a:ln w="12700">
            <a:miter lim="400000"/>
            <a:headEnd/>
            <a:tailEnd/>
          </a:ln>
        </p:spPr>
      </p:pic>
      <p:sp>
        <p:nvSpPr>
          <p:cNvPr id="161" name="项目标题示例"/>
          <p:cNvSpPr txBox="1">
            <a:spLocks noGrp="1"/>
          </p:cNvSpPr>
          <p:nvPr>
            <p:ph type="ctrTitle"/>
          </p:nvPr>
        </p:nvSpPr>
        <p:spPr>
          <a:xfrm>
            <a:off x="1543367" y="3144480"/>
            <a:ext cx="1854349" cy="899320"/>
          </a:xfrm>
          <a:prstGeom prst="rect">
            <a:avLst/>
          </a:prstGeom>
        </p:spPr>
        <p:txBody>
          <a:bodyPr>
            <a:noAutofit/>
          </a:bodyPr>
          <a:lstStyle>
            <a:lvl1pPr defTabSz="2365375">
              <a:defRPr sz="11250" b="0" spc="-225">
                <a:solidFill>
                  <a:srgbClr val="1A4395"/>
                </a:solidFill>
                <a:latin typeface="FZLanTingHeiS-DB1-GB"/>
                <a:ea typeface="FZLanTingHeiS-DB1-GB"/>
                <a:cs typeface="FZLanTingHeiS-DB1-GB"/>
                <a:sym typeface="FZLanTingHeiS-DB1-GB"/>
              </a:defRPr>
            </a:lvl1pPr>
          </a:lstStyle>
          <a:p>
            <a:pPr>
              <a:lnSpc>
                <a:spcPct val="100000"/>
              </a:lnSpc>
            </a:pP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姚</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明</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起</a:t>
            </a:r>
            <a:br>
              <a:rPr lang="en-US" altLang="zh-CN" sz="1600" b="1" dirty="0">
                <a:latin typeface="微软雅黑" panose="020B0503020204020204" pitchFamily="34" charset="-122"/>
                <a:ea typeface="微软雅黑" panose="020B0503020204020204" pitchFamily="34" charset="-122"/>
              </a:rPr>
            </a:br>
            <a:r>
              <a:rPr lang="en-US" altLang="zh-CN" sz="1600" b="1" dirty="0">
                <a:latin typeface="微软雅黑" panose="020B0503020204020204" pitchFamily="34" charset="-122"/>
                <a:ea typeface="微软雅黑" panose="020B0503020204020204" pitchFamily="34" charset="-122"/>
              </a:rPr>
              <a:t>18112525787</a:t>
            </a:r>
            <a:endParaRPr sz="1600" dirty="0">
              <a:latin typeface="微软雅黑" panose="020B0503020204020204" pitchFamily="34" charset="-122"/>
              <a:ea typeface="微软雅黑" panose="020B0503020204020204" pitchFamily="34" charset="-122"/>
            </a:endParaRPr>
          </a:p>
        </p:txBody>
      </p:sp>
      <p:sp>
        <p:nvSpPr>
          <p:cNvPr id="166" name="健康    /    科技    /   专业    /    时尚"/>
          <p:cNvSpPr txBox="1"/>
          <p:nvPr/>
        </p:nvSpPr>
        <p:spPr>
          <a:xfrm>
            <a:off x="1375115" y="300409"/>
            <a:ext cx="1946277" cy="194619"/>
          </a:xfrm>
          <a:prstGeom prst="rect">
            <a:avLst/>
          </a:prstGeom>
          <a:ln w="12700">
            <a:miter lim="400000"/>
          </a:ln>
        </p:spPr>
        <p:txBody>
          <a:bodyPr lIns="25400" tIns="25400" rIns="25400" bIns="25400" anchor="b">
            <a:normAutofit fontScale="92500"/>
          </a:bodyPr>
          <a:lstStyle>
            <a:lvl1pPr algn="l" defTabSz="1097280">
              <a:lnSpc>
                <a:spcPct val="80000"/>
              </a:lnSpc>
              <a:defRPr sz="2025" spc="-40">
                <a:solidFill>
                  <a:srgbClr val="1A4395"/>
                </a:solidFill>
                <a:latin typeface="FZLanTingHeiS-EL-GB"/>
                <a:ea typeface="FZLanTingHeiS-EL-GB"/>
                <a:cs typeface="FZLanTingHeiS-EL-GB"/>
                <a:sym typeface="FZLanTingHeiS-EL-GB"/>
              </a:defRPr>
            </a:lvl1pPr>
          </a:lstStyle>
          <a:p>
            <a:r>
              <a:rPr sz="1015" dirty="0" err="1">
                <a:latin typeface="方正兰亭纤黑简体" panose="02000000000000000000" pitchFamily="2" charset="-122"/>
                <a:ea typeface="方正兰亭纤黑简体" panose="02000000000000000000" pitchFamily="2" charset="-122"/>
              </a:rPr>
              <a:t>健康</a:t>
            </a:r>
            <a:r>
              <a:rPr sz="1015" dirty="0">
                <a:latin typeface="方正兰亭纤黑简体" panose="02000000000000000000" pitchFamily="2" charset="-122"/>
                <a:ea typeface="方正兰亭纤黑简体" panose="02000000000000000000" pitchFamily="2" charset="-122"/>
              </a:rPr>
              <a:t>    /    </a:t>
            </a:r>
            <a:r>
              <a:rPr sz="1015" dirty="0" err="1">
                <a:latin typeface="方正兰亭纤黑简体" panose="02000000000000000000" pitchFamily="2" charset="-122"/>
                <a:ea typeface="方正兰亭纤黑简体" panose="02000000000000000000" pitchFamily="2" charset="-122"/>
              </a:rPr>
              <a:t>科技</a:t>
            </a:r>
            <a:r>
              <a:rPr sz="1015" dirty="0">
                <a:latin typeface="方正兰亭纤黑简体" panose="02000000000000000000" pitchFamily="2" charset="-122"/>
                <a:ea typeface="方正兰亭纤黑简体" panose="02000000000000000000" pitchFamily="2" charset="-122"/>
              </a:rPr>
              <a:t>    /   </a:t>
            </a:r>
            <a:r>
              <a:rPr sz="1015" dirty="0" err="1">
                <a:latin typeface="方正兰亭纤黑简体" panose="02000000000000000000" pitchFamily="2" charset="-122"/>
                <a:ea typeface="方正兰亭纤黑简体" panose="02000000000000000000" pitchFamily="2" charset="-122"/>
              </a:rPr>
              <a:t>专业</a:t>
            </a:r>
            <a:r>
              <a:rPr sz="1015" dirty="0">
                <a:latin typeface="方正兰亭纤黑简体" panose="02000000000000000000" pitchFamily="2" charset="-122"/>
                <a:ea typeface="方正兰亭纤黑简体" panose="02000000000000000000" pitchFamily="2" charset="-122"/>
              </a:rPr>
              <a:t>    /    </a:t>
            </a:r>
            <a:r>
              <a:rPr sz="1015" dirty="0" err="1">
                <a:latin typeface="方正兰亭纤黑简体" panose="02000000000000000000" pitchFamily="2" charset="-122"/>
                <a:ea typeface="方正兰亭纤黑简体" panose="02000000000000000000" pitchFamily="2" charset="-122"/>
              </a:rPr>
              <a:t>时尚</a:t>
            </a:r>
            <a:endParaRPr sz="1015" dirty="0">
              <a:latin typeface="方正兰亭纤黑简体" panose="02000000000000000000" pitchFamily="2" charset="-122"/>
              <a:ea typeface="方正兰亭纤黑简体" panose="02000000000000000000" pitchFamily="2" charset="-122"/>
            </a:endParaRPr>
          </a:p>
        </p:txBody>
      </p:sp>
      <p:pic>
        <p:nvPicPr>
          <p:cNvPr id="167" name="图像" descr="图像"/>
          <p:cNvPicPr>
            <a:picLocks noChangeAspect="1"/>
          </p:cNvPicPr>
          <p:nvPr/>
        </p:nvPicPr>
        <p:blipFill>
          <a:blip r:embed="rId2"/>
          <a:stretch>
            <a:fillRect/>
          </a:stretch>
        </p:blipFill>
        <p:spPr>
          <a:xfrm>
            <a:off x="272228" y="310487"/>
            <a:ext cx="566584" cy="123664"/>
          </a:xfrm>
          <a:prstGeom prst="rect">
            <a:avLst/>
          </a:prstGeom>
          <a:ln w="12700">
            <a:miter lim="400000"/>
            <a:headEnd/>
            <a:tailEnd/>
          </a:ln>
        </p:spPr>
      </p:pic>
      <p:grpSp>
        <p:nvGrpSpPr>
          <p:cNvPr id="4" name="组合 3"/>
          <p:cNvGrpSpPr/>
          <p:nvPr/>
        </p:nvGrpSpPr>
        <p:grpSpPr>
          <a:xfrm>
            <a:off x="1543659" y="4156679"/>
            <a:ext cx="3485029" cy="1912527"/>
            <a:chOff x="705971" y="5341544"/>
            <a:chExt cx="2007779" cy="1101836"/>
          </a:xfrm>
        </p:grpSpPr>
        <p:pic>
          <p:nvPicPr>
            <p:cNvPr id="2" name="图片 1"/>
            <p:cNvPicPr>
              <a:picLocks noChangeAspect="1"/>
            </p:cNvPicPr>
            <p:nvPr/>
          </p:nvPicPr>
          <p:blipFill>
            <a:blip r:embed="rId3"/>
            <a:stretch>
              <a:fillRect/>
            </a:stretch>
          </p:blipFill>
          <p:spPr>
            <a:xfrm>
              <a:off x="705971" y="5341544"/>
              <a:ext cx="1662425" cy="495252"/>
            </a:xfrm>
            <a:prstGeom prst="rect">
              <a:avLst/>
            </a:prstGeom>
          </p:spPr>
        </p:pic>
        <p:pic>
          <p:nvPicPr>
            <p:cNvPr id="3" name="图片 2"/>
            <p:cNvPicPr>
              <a:picLocks noChangeAspect="1"/>
            </p:cNvPicPr>
            <p:nvPr/>
          </p:nvPicPr>
          <p:blipFill>
            <a:blip r:embed="rId4"/>
            <a:stretch>
              <a:fillRect/>
            </a:stretch>
          </p:blipFill>
          <p:spPr>
            <a:xfrm>
              <a:off x="705971" y="5948128"/>
              <a:ext cx="2007779" cy="495252"/>
            </a:xfrm>
            <a:prstGeom prst="rect">
              <a:avLst/>
            </a:prstGeom>
          </p:spPr>
        </p:pic>
      </p:grpSp>
      <p:pic>
        <p:nvPicPr>
          <p:cNvPr id="9" name="图像" descr="图像"/>
          <p:cNvPicPr>
            <a:picLocks noChangeAspect="1"/>
          </p:cNvPicPr>
          <p:nvPr/>
        </p:nvPicPr>
        <p:blipFill>
          <a:blip r:embed="rId5"/>
          <a:stretch>
            <a:fillRect/>
          </a:stretch>
        </p:blipFill>
        <p:spPr>
          <a:xfrm>
            <a:off x="8092252" y="3429000"/>
            <a:ext cx="1958549" cy="228600"/>
          </a:xfrm>
          <a:prstGeom prst="rect">
            <a:avLst/>
          </a:prstGeom>
          <a:ln w="12700">
            <a:miter lim="400000"/>
            <a:headEnd/>
            <a:tailEnd/>
          </a:ln>
        </p:spPr>
      </p:pic>
      <p:pic>
        <p:nvPicPr>
          <p:cNvPr id="6" name="图片 5"/>
          <p:cNvPicPr>
            <a:picLocks noChangeAspect="1"/>
          </p:cNvPicPr>
          <p:nvPr/>
        </p:nvPicPr>
        <p:blipFill>
          <a:blip r:embed="rId6"/>
          <a:stretch>
            <a:fillRect/>
          </a:stretch>
        </p:blipFill>
        <p:spPr>
          <a:xfrm>
            <a:off x="1624965" y="1623695"/>
            <a:ext cx="1696720" cy="1677670"/>
          </a:xfrm>
          <a:prstGeom prst="rect">
            <a:avLst/>
          </a:prstGeom>
        </p:spPr>
      </p:pic>
    </p:spTree>
  </p:cSld>
  <p:clrMapOvr>
    <a:masterClrMapping/>
  </p:clrMapOvr>
  <p:transition spd="med"/>
</p:sld>
</file>

<file path=ppt/tags/tag1.xml><?xml version="1.0" encoding="utf-8"?>
<p:tagLst xmlns:p="http://schemas.openxmlformats.org/presentationml/2006/main">
  <p:tag name="POCKET_SHAPE_SH" val="H"/>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POCKET_SHAPE_SH" val="H"/>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2414</Words>
  <Application>WPS 演示</Application>
  <PresentationFormat>宽屏</PresentationFormat>
  <Paragraphs>275</Paragraphs>
  <Slides>26</Slides>
  <Notes>21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26</vt:i4>
      </vt:variant>
    </vt:vector>
  </HeadingPairs>
  <TitlesOfParts>
    <vt:vector size="46" baseType="lpstr">
      <vt:lpstr>Arial</vt:lpstr>
      <vt:lpstr>宋体</vt:lpstr>
      <vt:lpstr>Wingdings</vt:lpstr>
      <vt:lpstr>FZLanTingHeiS-DB1-GB</vt:lpstr>
      <vt:lpstr>AMGDT</vt:lpstr>
      <vt:lpstr>方正兰亭准黑简体</vt:lpstr>
      <vt:lpstr>黑体</vt:lpstr>
      <vt:lpstr>FZLanTingHeiS-EL-GB</vt:lpstr>
      <vt:lpstr>Helvetica Neue Medium</vt:lpstr>
      <vt:lpstr>Alibaba PuHuiTi 3 95 ExtraBold</vt:lpstr>
      <vt:lpstr>FZLanTingHeiS-DB1-GB</vt:lpstr>
      <vt:lpstr>微软雅黑</vt:lpstr>
      <vt:lpstr>Calibri</vt:lpstr>
      <vt:lpstr>Helvetica Neue</vt:lpstr>
      <vt:lpstr>Arial Unicode MS</vt:lpstr>
      <vt:lpstr>等线 Light</vt:lpstr>
      <vt:lpstr>等线</vt:lpstr>
      <vt:lpstr>方正兰亭纤黑简体</vt:lpstr>
      <vt:lpstr>方正兰亭黑简体</vt:lpstr>
      <vt:lpstr>Office 主题​​</vt:lpstr>
      <vt:lpstr> 制造业 节能降碳照明解决方案 张     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张  辉 19921561892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生产制造行业绿色降碳照明 工 业 照 明</dc:title>
  <dc:creator>LUOYU ZHANG(张洛语)</dc:creator>
  <cp:lastModifiedBy>欧普照明℡¹⁸¹¹²⁵²⁵⁷⁸⁷</cp:lastModifiedBy>
  <cp:revision>64</cp:revision>
  <dcterms:created xsi:type="dcterms:W3CDTF">2024-05-09T06:27:00Z</dcterms:created>
  <dcterms:modified xsi:type="dcterms:W3CDTF">2025-07-01T05:36:22Z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B2C89860AA164ADDA10B2B8F575B6B8E_12</vt:lpwstr>
  </property>
  <property fmtid="{D5CDD505-2E9C-101B-9397-08002B2CF9AE}" pid="3" name="KSOProductBuildVer">
    <vt:lpwstr>2052-12.1.0.21171</vt:lpwstr>
  </property>
</Properties>
</file>