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5" r:id="rId2"/>
    <p:sldId id="299" r:id="rId3"/>
    <p:sldId id="300" r:id="rId4"/>
    <p:sldId id="263" r:id="rId5"/>
    <p:sldId id="302" r:id="rId6"/>
    <p:sldId id="264" r:id="rId7"/>
    <p:sldId id="303" r:id="rId8"/>
    <p:sldId id="269" r:id="rId9"/>
    <p:sldId id="306" r:id="rId10"/>
    <p:sldId id="305" r:id="rId11"/>
    <p:sldId id="309" r:id="rId12"/>
    <p:sldId id="310" r:id="rId13"/>
    <p:sldId id="311" r:id="rId14"/>
    <p:sldId id="312" r:id="rId15"/>
    <p:sldId id="272" r:id="rId16"/>
    <p:sldId id="307" r:id="rId17"/>
    <p:sldId id="294" r:id="rId18"/>
    <p:sldId id="298" r:id="rId19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D4A94-C2A2-4A32-907D-1B2DD01BC088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8068B-77C0-49CC-B2B7-95B6B10A34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62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C6536-6527-4913-BCF5-1C46A4129309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5599F-2344-432D-999E-1A713F0C8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15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5599F-2344-432D-999E-1A713F0C88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01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0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0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69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3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339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7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06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65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591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90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526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93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00209-3F0C-4ABB-980E-521F5219909E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6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63DA036F-1320-4927-AB79-5BDCC0E984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3" r="16297"/>
          <a:stretch/>
        </p:blipFill>
        <p:spPr>
          <a:xfrm>
            <a:off x="0" y="853279"/>
            <a:ext cx="12190496" cy="4610383"/>
          </a:xfrm>
          <a:prstGeom prst="rect">
            <a:avLst/>
          </a:prstGeom>
        </p:spPr>
      </p:pic>
      <p:sp>
        <p:nvSpPr>
          <p:cNvPr id="6" name="矩形">
            <a:extLst>
              <a:ext uri="{FF2B5EF4-FFF2-40B4-BE49-F238E27FC236}">
                <a16:creationId xmlns="" xmlns:a16="http://schemas.microsoft.com/office/drawing/2014/main" id="{6D7665B1-6010-BC45-AA75-0A5D324FC6E1}"/>
              </a:ext>
            </a:extLst>
          </p:cNvPr>
          <p:cNvSpPr>
            <a:spLocks/>
          </p:cNvSpPr>
          <p:nvPr/>
        </p:nvSpPr>
        <p:spPr>
          <a:xfrm>
            <a:off x="8729907" y="5260387"/>
            <a:ext cx="2783181" cy="8374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920" tIns="60960" rIns="121920" bIns="60960" anchor="ctr" anchorCtr="0">
            <a:prstTxWarp prst="textNoShape">
              <a:avLst/>
            </a:prstTxWarp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产品与解决方案中心·产品管理部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2022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年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5717E76-4136-CA40-A2EE-F06C62E3A8E0}"/>
              </a:ext>
            </a:extLst>
          </p:cNvPr>
          <p:cNvSpPr/>
          <p:nvPr/>
        </p:nvSpPr>
        <p:spPr>
          <a:xfrm>
            <a:off x="632886" y="3484519"/>
            <a:ext cx="4481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cap="all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CX20</a:t>
            </a:r>
            <a:r>
              <a:rPr lang="zh-CN" altLang="en-US" sz="2400" cap="all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低压轨道系统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AA22D847-502B-FA40-BC5F-AB82A4D60A39}"/>
              </a:ext>
            </a:extLst>
          </p:cNvPr>
          <p:cNvSpPr/>
          <p:nvPr/>
        </p:nvSpPr>
        <p:spPr>
          <a:xfrm>
            <a:off x="632886" y="2738079"/>
            <a:ext cx="51656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cap="all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全案上市新品介绍</a:t>
            </a:r>
            <a:endParaRPr lang="en-US" altLang="zh-CN" sz="3200" cap="all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11155" y="3794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C24AC947-3D44-1047-97E3-5C0CB972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1" y="6491812"/>
            <a:ext cx="697733" cy="942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FFAF964E-6E06-9548-9F11-55BA2D4C538F}"/>
              </a:ext>
            </a:extLst>
          </p:cNvPr>
          <p:cNvSpPr txBox="1"/>
          <p:nvPr/>
        </p:nvSpPr>
        <p:spPr>
          <a:xfrm>
            <a:off x="1221314" y="490866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客厅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2C29D16E-BB80-7344-BEB9-FB3213A39135}"/>
              </a:ext>
            </a:extLst>
          </p:cNvPr>
          <p:cNvSpPr txBox="1"/>
          <p:nvPr/>
        </p:nvSpPr>
        <p:spPr>
          <a:xfrm>
            <a:off x="7177534" y="490866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过道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1B745636-6FCC-594C-9DBC-84C659069B48}"/>
              </a:ext>
            </a:extLst>
          </p:cNvPr>
          <p:cNvSpPr txBox="1"/>
          <p:nvPr/>
        </p:nvSpPr>
        <p:spPr>
          <a:xfrm>
            <a:off x="4346350" y="490866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餐厅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FFAF964E-6E06-9548-9F11-55BA2D4C538F}"/>
              </a:ext>
            </a:extLst>
          </p:cNvPr>
          <p:cNvSpPr txBox="1"/>
          <p:nvPr/>
        </p:nvSpPr>
        <p:spPr>
          <a:xfrm>
            <a:off x="485354" y="5503837"/>
            <a:ext cx="23968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以上仅为典型应用空间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轨道到墙距离不小于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0.5m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2C29D16E-BB80-7344-BEB9-FB3213A39135}"/>
              </a:ext>
            </a:extLst>
          </p:cNvPr>
          <p:cNvSpPr txBox="1"/>
          <p:nvPr/>
        </p:nvSpPr>
        <p:spPr>
          <a:xfrm>
            <a:off x="9962341" y="490866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卧室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61975621-B424-44EE-9B00-9AA9FD9420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9" b="1538"/>
          <a:stretch/>
        </p:blipFill>
        <p:spPr>
          <a:xfrm>
            <a:off x="442913" y="1855304"/>
            <a:ext cx="2842732" cy="291596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16B5E0-D742-4667-859D-290D64B0F89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2"/>
          <a:stretch/>
        </p:blipFill>
        <p:spPr>
          <a:xfrm>
            <a:off x="6104681" y="1855304"/>
            <a:ext cx="2843335" cy="29159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E578B0C9-21DC-443D-8CD4-1B0CF60F21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0" t="19846" r="10751" b="6532"/>
          <a:stretch/>
        </p:blipFill>
        <p:spPr>
          <a:xfrm>
            <a:off x="3285646" y="1855304"/>
            <a:ext cx="2819036" cy="291596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28EB2BFC-1510-4E6A-A14C-CC5D7428019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14"/>
          <a:stretch/>
        </p:blipFill>
        <p:spPr>
          <a:xfrm>
            <a:off x="8948017" y="1855304"/>
            <a:ext cx="2693121" cy="291596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66A55E9A-4664-4E51-9F36-52C408208FB9}"/>
              </a:ext>
            </a:extLst>
          </p:cNvPr>
          <p:cNvSpPr txBox="1"/>
          <p:nvPr/>
        </p:nvSpPr>
        <p:spPr>
          <a:xfrm>
            <a:off x="442913" y="1288515"/>
            <a:ext cx="5653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家居场景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应用场景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43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24AC947-3D44-1047-97E3-5C0CB972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1" y="6491812"/>
            <a:ext cx="697733" cy="942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FFAF964E-6E06-9548-9F11-55BA2D4C538F}"/>
              </a:ext>
            </a:extLst>
          </p:cNvPr>
          <p:cNvSpPr txBox="1"/>
          <p:nvPr/>
        </p:nvSpPr>
        <p:spPr>
          <a:xfrm>
            <a:off x="221456" y="926652"/>
            <a:ext cx="564920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家居空间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现代社会节奏快，压力大，家是心灵的避风港，同时也属于自身的私密空间，它承载着人们不加修饰的真实情感。所以，在照明设计上，建议光线柔和、可调控、无眩光、高显指等特性以营造一个舒心的光环境为心理减压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应用空间典型场景：入口、走廊、客厅、餐厅、卧室、卫生间、健身房等。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FFAF964E-6E06-9548-9F11-55BA2D4C538F}"/>
              </a:ext>
            </a:extLst>
          </p:cNvPr>
          <p:cNvSpPr txBox="1"/>
          <p:nvPr/>
        </p:nvSpPr>
        <p:spPr>
          <a:xfrm>
            <a:off x="6310254" y="3749457"/>
            <a:ext cx="532174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舒适防眩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家居光环境首要是舒适温暖。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外观质感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基本照明需求以外，客户同样注重产品细节品质，搭配对应的装修饰品。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出光效果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干净光斑效果，更高的显色指数及多种角度色温的搭配，可以轻松应对各种场景需求，提升空间的整体档次 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83" y="1"/>
            <a:ext cx="6092118" cy="34289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092118" cy="34573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F36B64C1-A095-4DC4-9CC9-EB0B3D57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21" y="6644212"/>
            <a:ext cx="697733" cy="9428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应用场景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12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062" y="538456"/>
            <a:ext cx="4697738" cy="227231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4543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丰富的安装方式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EDA085D2-9C8C-47AA-BE0A-11DD647A4F96}"/>
              </a:ext>
            </a:extLst>
          </p:cNvPr>
          <p:cNvSpPr txBox="1"/>
          <p:nvPr/>
        </p:nvSpPr>
        <p:spPr>
          <a:xfrm>
            <a:off x="337383" y="1549110"/>
            <a:ext cx="496161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多种安装方式：</a:t>
            </a:r>
            <a:endParaRPr lang="en-US" altLang="zh-CN" sz="1400" b="1" noProof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SKU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适应三种安装方式，通过调节侧翼位置来适配。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吸顶式和吊装式为同一轨道，通过不同安装配件来实现。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41" y="3359983"/>
            <a:ext cx="7421320" cy="231102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84467" y="5949661"/>
            <a:ext cx="1167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嵌装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15mm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360140" y="5949661"/>
            <a:ext cx="1167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嵌装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12mm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735813" y="5949661"/>
            <a:ext cx="1167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嵌装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（单层板）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11486" y="5949661"/>
            <a:ext cx="1167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明装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（吸顶）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87159" y="5949661"/>
            <a:ext cx="1167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明装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（吊线）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28844" y="5998346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建议开孔尺寸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35mm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18F4003-9233-4B56-AE40-4974EA01B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238" y="3352985"/>
            <a:ext cx="1557172" cy="254942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38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96" y="2523889"/>
            <a:ext cx="5378789" cy="35200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6757F3DD-1DD0-420E-8C21-8C6ADCCCBBF5}"/>
              </a:ext>
            </a:extLst>
          </p:cNvPr>
          <p:cNvSpPr txBox="1"/>
          <p:nvPr/>
        </p:nvSpPr>
        <p:spPr>
          <a:xfrm>
            <a:off x="2346777" y="1177672"/>
            <a:ext cx="729770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塑封包装，运输安装过程不易划伤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标配面罩，用于装灯后轨道密封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端盖用于轨道末端，防止短路及灰尘落入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="" xmlns:a16="http://schemas.microsoft.com/office/drawing/2014/main" id="{766B2E9B-E934-460B-8AEE-9589462E83E8}"/>
              </a:ext>
            </a:extLst>
          </p:cNvPr>
          <p:cNvCxnSpPr>
            <a:cxnSpLocks/>
          </p:cNvCxnSpPr>
          <p:nvPr/>
        </p:nvCxnSpPr>
        <p:spPr>
          <a:xfrm flipV="1">
            <a:off x="3430971" y="4283901"/>
            <a:ext cx="0" cy="16357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="" xmlns:a16="http://schemas.microsoft.com/office/drawing/2014/main" id="{7E5F59DB-715A-4C4B-8BFC-5FC0BDC360DD}"/>
              </a:ext>
            </a:extLst>
          </p:cNvPr>
          <p:cNvCxnSpPr>
            <a:cxnSpLocks/>
          </p:cNvCxnSpPr>
          <p:nvPr/>
        </p:nvCxnSpPr>
        <p:spPr>
          <a:xfrm flipV="1">
            <a:off x="4314301" y="4283901"/>
            <a:ext cx="0" cy="16357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="" xmlns:a16="http://schemas.microsoft.com/office/drawing/2014/main" id="{3E2A9530-F393-4009-A9A7-8574860C5FA7}"/>
              </a:ext>
            </a:extLst>
          </p:cNvPr>
          <p:cNvCxnSpPr>
            <a:cxnSpLocks/>
          </p:cNvCxnSpPr>
          <p:nvPr/>
        </p:nvCxnSpPr>
        <p:spPr>
          <a:xfrm flipV="1">
            <a:off x="5210226" y="3956755"/>
            <a:ext cx="0" cy="19635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C9CBC9EA-32C7-4849-B07A-3F1FFD2E7CC4}"/>
              </a:ext>
            </a:extLst>
          </p:cNvPr>
          <p:cNvSpPr txBox="1"/>
          <p:nvPr/>
        </p:nvSpPr>
        <p:spPr>
          <a:xfrm>
            <a:off x="3179345" y="6163953"/>
            <a:ext cx="65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侧翼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857E3178-EB71-42D0-93FD-93CDE7BA4FAD}"/>
              </a:ext>
            </a:extLst>
          </p:cNvPr>
          <p:cNvSpPr txBox="1"/>
          <p:nvPr/>
        </p:nvSpPr>
        <p:spPr>
          <a:xfrm>
            <a:off x="4106506" y="6163953"/>
            <a:ext cx="658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轨道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21A3D4EF-5EB9-4FAD-AF0E-2C7B662D87D0}"/>
              </a:ext>
            </a:extLst>
          </p:cNvPr>
          <p:cNvSpPr txBox="1"/>
          <p:nvPr/>
        </p:nvSpPr>
        <p:spPr>
          <a:xfrm>
            <a:off x="5037695" y="6163953"/>
            <a:ext cx="621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面罩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2A51B276-B5C8-4C6C-9FDD-DB33E36EBCC4}"/>
              </a:ext>
            </a:extLst>
          </p:cNvPr>
          <p:cNvSpPr txBox="1"/>
          <p:nvPr/>
        </p:nvSpPr>
        <p:spPr>
          <a:xfrm>
            <a:off x="5931671" y="6174413"/>
            <a:ext cx="621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="" xmlns:a16="http://schemas.microsoft.com/office/drawing/2014/main" id="{3EBF72B4-E538-40EC-B189-9523268EA260}"/>
              </a:ext>
            </a:extLst>
          </p:cNvPr>
          <p:cNvCxnSpPr>
            <a:cxnSpLocks/>
          </p:cNvCxnSpPr>
          <p:nvPr/>
        </p:nvCxnSpPr>
        <p:spPr>
          <a:xfrm flipV="1">
            <a:off x="6171144" y="5080766"/>
            <a:ext cx="0" cy="8388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4543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– 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齐备的防护手段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09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80" y="2081763"/>
            <a:ext cx="6211529" cy="4064993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 rot="2164334" flipH="1">
            <a:off x="1785640" y="2718030"/>
            <a:ext cx="916682" cy="2388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4543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方便的裁切方式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6757F3DD-1DD0-420E-8C21-8C6ADCCCBBF5}"/>
              </a:ext>
            </a:extLst>
          </p:cNvPr>
          <p:cNvSpPr txBox="1"/>
          <p:nvPr/>
        </p:nvSpPr>
        <p:spPr>
          <a:xfrm>
            <a:off x="5833466" y="5774423"/>
            <a:ext cx="534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轨道随意裁剪：建议最小保留长度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&gt;300mm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A718D1A5-0B58-480E-8CD9-0E4AC243BC5C}"/>
              </a:ext>
            </a:extLst>
          </p:cNvPr>
          <p:cNvCxnSpPr>
            <a:cxnSpLocks/>
          </p:cNvCxnSpPr>
          <p:nvPr/>
        </p:nvCxnSpPr>
        <p:spPr>
          <a:xfrm flipH="1">
            <a:off x="1858642" y="2876132"/>
            <a:ext cx="1121669" cy="15239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5BE45EAB-752D-43AA-A790-3769792D4CD2}"/>
              </a:ext>
            </a:extLst>
          </p:cNvPr>
          <p:cNvCxnSpPr>
            <a:cxnSpLocks/>
          </p:cNvCxnSpPr>
          <p:nvPr/>
        </p:nvCxnSpPr>
        <p:spPr>
          <a:xfrm flipH="1">
            <a:off x="2980312" y="2876132"/>
            <a:ext cx="21061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9D2088B3-EE69-41DC-B198-87B3D4A2ADFB}"/>
              </a:ext>
            </a:extLst>
          </p:cNvPr>
          <p:cNvSpPr txBox="1"/>
          <p:nvPr/>
        </p:nvSpPr>
        <p:spPr>
          <a:xfrm>
            <a:off x="3381680" y="2434280"/>
            <a:ext cx="2106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任意长度裁剪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8748A354-0E87-4FC7-B4D3-A2A97D05555F}"/>
              </a:ext>
            </a:extLst>
          </p:cNvPr>
          <p:cNvSpPr txBox="1"/>
          <p:nvPr/>
        </p:nvSpPr>
        <p:spPr>
          <a:xfrm>
            <a:off x="3381680" y="2917875"/>
            <a:ext cx="2062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建议使用铝材专用切割器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67ACD25D-9E0C-4E82-9831-217E1B0E5440}"/>
              </a:ext>
            </a:extLst>
          </p:cNvPr>
          <p:cNvSpPr txBox="1"/>
          <p:nvPr/>
        </p:nvSpPr>
        <p:spPr>
          <a:xfrm>
            <a:off x="6045690" y="2081763"/>
            <a:ext cx="624037" cy="116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A2FEF3DF-984B-4A7F-9334-726AE890C284}"/>
              </a:ext>
            </a:extLst>
          </p:cNvPr>
          <p:cNvSpPr txBox="1"/>
          <p:nvPr/>
        </p:nvSpPr>
        <p:spPr>
          <a:xfrm>
            <a:off x="7285384" y="1571593"/>
            <a:ext cx="2017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标准长度</a:t>
            </a:r>
            <a:endParaRPr lang="en-US" altLang="zh-CN" sz="20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23" y="2974053"/>
            <a:ext cx="4320000" cy="2827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12" y="1096178"/>
            <a:ext cx="4320000" cy="282712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67ACD25D-9E0C-4E82-9831-217E1B0E5440}"/>
              </a:ext>
            </a:extLst>
          </p:cNvPr>
          <p:cNvSpPr txBox="1"/>
          <p:nvPr/>
        </p:nvSpPr>
        <p:spPr>
          <a:xfrm>
            <a:off x="6045690" y="3803769"/>
            <a:ext cx="624037" cy="116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78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2D589824-04BB-438C-B016-52B9C71D7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00" b="96982" l="329" r="99836">
                        <a14:foregroundMark x1="6743" y1="11664" x2="6743" y2="11664"/>
                        <a14:foregroundMark x1="2385" y1="5954" x2="11184" y2="15171"/>
                        <a14:foregroundMark x1="83717" y1="60522" x2="99836" y2="70636"/>
                        <a14:foregroundMark x1="82155" y1="72838" x2="99836" y2="86215"/>
                        <a14:foregroundMark x1="97615" y1="93638" x2="69079" y2="72268"/>
                        <a14:foregroundMark x1="69079" y1="72268" x2="50082" y2="63377"/>
                        <a14:foregroundMark x1="329" y1="4241" x2="329" y2="3100"/>
                        <a14:foregroundMark x1="63816" y1="60114" x2="96217" y2="78140"/>
                        <a14:foregroundMark x1="96217" y1="78140" x2="99589" y2="81158"/>
                        <a14:foregroundMark x1="93174" y1="90620" x2="99424" y2="96982"/>
                        <a14:foregroundMark x1="59868" y1="66232" x2="99589" y2="90375"/>
                        <a14:foregroundMark x1="18750" y1="28793" x2="40132" y2="425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668" y="1947060"/>
            <a:ext cx="2976147" cy="300062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7A062667-8F7B-4107-A8BC-D68E746D61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17" b="96893" l="0" r="99835">
                        <a14:foregroundMark x1="14180" y1="14963" x2="82" y2="5969"/>
                        <a14:foregroundMark x1="4369" y1="7195" x2="0" y2="2617"/>
                        <a14:foregroundMark x1="82770" y1="54456" x2="99588" y2="63369"/>
                        <a14:foregroundMark x1="84831" y1="83974" x2="99835" y2="968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3186" y="1977174"/>
            <a:ext cx="2916353" cy="294039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="" xmlns:a16="http://schemas.microsoft.com/office/drawing/2014/main" id="{288E9B22-DB5E-4ABB-B44D-053CC9DEB5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29" b="97633" l="0" r="99919">
                        <a14:foregroundMark x1="17127" y1="14857" x2="81" y2="7020"/>
                        <a14:foregroundMark x1="3328" y1="6694" x2="0" y2="3429"/>
                        <a14:foregroundMark x1="84010" y1="54694" x2="99594" y2="65061"/>
                        <a14:foregroundMark x1="80844" y1="83837" x2="99919" y2="976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8910" y="1977465"/>
            <a:ext cx="2956612" cy="293981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11155" y="3794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6757F3DD-1DD0-420E-8C21-8C6ADCCCBBF5}"/>
              </a:ext>
            </a:extLst>
          </p:cNvPr>
          <p:cNvSpPr txBox="1"/>
          <p:nvPr/>
        </p:nvSpPr>
        <p:spPr>
          <a:xfrm>
            <a:off x="442913" y="1230303"/>
            <a:ext cx="5338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拼接不错位：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B19B8C71-BBD2-4319-A383-F42565465BDE}"/>
              </a:ext>
            </a:extLst>
          </p:cNvPr>
          <p:cNvSpPr txBox="1"/>
          <p:nvPr/>
        </p:nvSpPr>
        <p:spPr>
          <a:xfrm>
            <a:off x="1177421" y="5202773"/>
            <a:ext cx="28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移动侧翼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7358F177-5DD5-49E0-B155-34B085A0102F}"/>
              </a:ext>
            </a:extLst>
          </p:cNvPr>
          <p:cNvSpPr txBox="1"/>
          <p:nvPr/>
        </p:nvSpPr>
        <p:spPr>
          <a:xfrm>
            <a:off x="4768561" y="5265194"/>
            <a:ext cx="28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对接轨道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B605E8C5-2A04-46CD-B0D8-493F11275881}"/>
              </a:ext>
            </a:extLst>
          </p:cNvPr>
          <p:cNvSpPr txBox="1"/>
          <p:nvPr/>
        </p:nvSpPr>
        <p:spPr>
          <a:xfrm>
            <a:off x="8328882" y="5281732"/>
            <a:ext cx="281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移动轨道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– 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方便对齐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714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533032"/>
            <a:ext cx="7748016" cy="484049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2827544"/>
            <a:ext cx="4002615" cy="225147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32143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-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方便拿取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CCD98C35-A1FC-4AC6-BFFE-8D7F148A2416}"/>
              </a:ext>
            </a:extLst>
          </p:cNvPr>
          <p:cNvSpPr txBox="1"/>
          <p:nvPr/>
        </p:nvSpPr>
        <p:spPr>
          <a:xfrm>
            <a:off x="1047810" y="4795944"/>
            <a:ext cx="31768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短款的单侧有蓝色按钮，单手辅助，另一端在蓝色按钮处按压然后下拉，即可轻松取下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9D20AEB5-BB88-4FC7-9178-2CD8ACDF5E91}"/>
              </a:ext>
            </a:extLst>
          </p:cNvPr>
          <p:cNvSpPr txBox="1"/>
          <p:nvPr/>
        </p:nvSpPr>
        <p:spPr>
          <a:xfrm>
            <a:off x="6129930" y="4886991"/>
            <a:ext cx="3672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长款的需同时按住两侧的蓝色按钮，按压然后下拉，即可轻松取下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DA68568B-550B-411A-9CA5-C33D064F1E94}"/>
              </a:ext>
            </a:extLst>
          </p:cNvPr>
          <p:cNvSpPr txBox="1"/>
          <p:nvPr/>
        </p:nvSpPr>
        <p:spPr>
          <a:xfrm>
            <a:off x="918401" y="1353939"/>
            <a:ext cx="35253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磁吸加卡扣、便捷更安全：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强力磁吸，灯具一放即可固定在轨道中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边自回弹卡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扣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140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，方便拿取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2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74435092-2437-4788-9266-662CBAA4099E}"/>
              </a:ext>
            </a:extLst>
          </p:cNvPr>
          <p:cNvSpPr/>
          <p:nvPr/>
        </p:nvSpPr>
        <p:spPr>
          <a:xfrm>
            <a:off x="527662" y="5257072"/>
            <a:ext cx="34880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  <a:sym typeface="+mn-lt"/>
              </a:rPr>
              <a:t>Ra≥90</a:t>
            </a:r>
          </a:p>
          <a:p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  <a:sym typeface="+mn-lt"/>
              </a:rPr>
              <a:t>全系标配高显指灯珠，还原更真实的被照物颜色，拥有更靓丽的室内空间。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E63273B6-49DB-434E-89C3-725E3D2906F7}"/>
              </a:ext>
            </a:extLst>
          </p:cNvPr>
          <p:cNvSpPr/>
          <p:nvPr/>
        </p:nvSpPr>
        <p:spPr>
          <a:xfrm>
            <a:off x="4529068" y="5257072"/>
            <a:ext cx="34880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无频闪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  <a:sym typeface="+mn-lt"/>
              </a:rPr>
              <a:t>全系标配欧普无频闪，无视觉闪烁。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DA4F0CD7-B9F9-4E55-BE12-19150ABB3BE0}"/>
              </a:ext>
            </a:extLst>
          </p:cNvPr>
          <p:cNvSpPr/>
          <p:nvPr/>
        </p:nvSpPr>
        <p:spPr>
          <a:xfrm>
            <a:off x="8117619" y="5257072"/>
            <a:ext cx="34880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无蓝光危害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根据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IEC/TR 62778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进行蓝光危害评估，全系产品蓝光危害等级不超过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RG1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F9C950F-724A-4477-B72A-FFCA24A7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703" y="1434198"/>
            <a:ext cx="3929838" cy="35681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DBB6E778-8AEE-47BF-A425-7CD843BC6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77" y="1434198"/>
            <a:ext cx="3561905" cy="3685714"/>
          </a:xfrm>
          <a:prstGeom prst="rect">
            <a:avLst/>
          </a:prstGeom>
        </p:spPr>
      </p:pic>
      <p:pic>
        <p:nvPicPr>
          <p:cNvPr id="12" name="图片 11" descr="13975365.jpg">
            <a:extLst>
              <a:ext uri="{FF2B5EF4-FFF2-40B4-BE49-F238E27FC236}">
                <a16:creationId xmlns="" xmlns:a16="http://schemas.microsoft.com/office/drawing/2014/main" id="{5C93F854-912E-405F-BBDB-6AF4F113D2C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3794" y="1434198"/>
            <a:ext cx="2898593" cy="368571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3932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-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高显指无频闪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748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14934" y="1256068"/>
            <a:ext cx="10037826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CSP(Chip Scale Package)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封装，是芯片级封装的意思。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封装是最新一代的芯片封装技术，其技术性能又有了新的提升。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封装可以让芯片面积与封装面积之比超过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1:1.14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，已经相当接近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的理想情况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35734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产品卖点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-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光色一致性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86" y="2269262"/>
            <a:ext cx="4486648" cy="2520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988046" y="4789262"/>
            <a:ext cx="366141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CSP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芯片能保证不同功率的光源的最小封装封装尺寸一致，从而可以解决不同功率下光色一致性的问题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630" y="4723592"/>
            <a:ext cx="1220534" cy="119316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627" y="4877905"/>
            <a:ext cx="967359" cy="9731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66" y="2164594"/>
            <a:ext cx="4486648" cy="252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9559" y="6153790"/>
            <a:ext cx="4469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备注：智能款的射灯、洗墙灯、格栅灯采用了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CSP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81251" y="513551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5W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633847" y="513305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9W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65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11155" y="3794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1DC037F3-6BE6-4A47-982D-6A389A9B387A}"/>
              </a:ext>
            </a:extLst>
          </p:cNvPr>
          <p:cNvSpPr txBox="1"/>
          <p:nvPr/>
        </p:nvSpPr>
        <p:spPr>
          <a:xfrm>
            <a:off x="442913" y="1230303"/>
            <a:ext cx="5391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一种嵌装轨道、多种天花适应：单层板表面安装、双层板中间安装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9715D543-A574-42CC-91B8-10CD6C92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079912"/>
            <a:ext cx="3718352" cy="35477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67B55EF7-1B1B-4B12-BA97-19946845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064" y="2079912"/>
            <a:ext cx="3717942" cy="354778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安装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805" y="2079912"/>
            <a:ext cx="3718800" cy="36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0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/>
          <a:srcRect l="378" t="329" r="2345"/>
          <a:stretch/>
        </p:blipFill>
        <p:spPr>
          <a:xfrm>
            <a:off x="542480" y="1465114"/>
            <a:ext cx="7073455" cy="498934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安装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B8EC4F93-D1C2-4684-8F59-DB35A0032B98}"/>
              </a:ext>
            </a:extLst>
          </p:cNvPr>
          <p:cNvSpPr txBox="1"/>
          <p:nvPr/>
        </p:nvSpPr>
        <p:spPr>
          <a:xfrm>
            <a:off x="8553225" y="146511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嵌装：</a:t>
            </a:r>
            <a:endParaRPr lang="en-US" altLang="zh-CN" sz="16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0B49E5E0-4568-4573-B949-A7EE9EE70503}"/>
              </a:ext>
            </a:extLst>
          </p:cNvPr>
          <p:cNvSpPr txBox="1"/>
          <p:nvPr/>
        </p:nvSpPr>
        <p:spPr>
          <a:xfrm>
            <a:off x="8551688" y="3795747"/>
            <a:ext cx="1350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吸顶</a:t>
            </a:r>
            <a:r>
              <a:rPr lang="en-US" altLang="zh-CN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明装</a:t>
            </a:r>
            <a:r>
              <a:rPr lang="zh-CN" altLang="en-US" sz="20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42CC5225-AC32-4807-9E39-81B825791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813" y="1803668"/>
            <a:ext cx="2210501" cy="14480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78E0618B-3894-4785-A784-DE1F1F034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7967" y="3244930"/>
            <a:ext cx="546826" cy="4574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A4499E94-9013-4B17-8305-C8CCA3B210CC}"/>
              </a:ext>
            </a:extLst>
          </p:cNvPr>
          <p:cNvSpPr txBox="1"/>
          <p:nvPr/>
        </p:nvSpPr>
        <p:spPr>
          <a:xfrm>
            <a:off x="10204791" y="343198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2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平面接</a:t>
            </a:r>
            <a:endParaRPr lang="en-US" altLang="zh-CN" sz="12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E0E31B02-E43C-402C-BE7C-D899EBFE8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689" y="3251706"/>
            <a:ext cx="459949" cy="4574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3D7ADDAE-FB4C-4DA9-9D03-453270959A5A}"/>
              </a:ext>
            </a:extLst>
          </p:cNvPr>
          <p:cNvSpPr txBox="1"/>
          <p:nvPr/>
        </p:nvSpPr>
        <p:spPr>
          <a:xfrm>
            <a:off x="9011636" y="343211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竖直接</a:t>
            </a:r>
            <a:endParaRPr lang="en-US" altLang="zh-CN" sz="12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41598B2-04E3-4E32-8AEA-6D8E01652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5963"/>
          <a:stretch/>
        </p:blipFill>
        <p:spPr>
          <a:xfrm>
            <a:off x="8552620" y="4202633"/>
            <a:ext cx="2210694" cy="15621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A5DDF9D4-0A7F-4A89-9BD7-BA3EF880E2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8551688" y="5751205"/>
            <a:ext cx="398049" cy="45740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BA0259C3-47C4-4A3E-9C23-F08069C5ADC7}"/>
              </a:ext>
            </a:extLst>
          </p:cNvPr>
          <p:cNvSpPr txBox="1"/>
          <p:nvPr/>
        </p:nvSpPr>
        <p:spPr>
          <a:xfrm>
            <a:off x="8949737" y="593161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2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平面接</a:t>
            </a:r>
            <a:endParaRPr lang="en-US" altLang="zh-CN" sz="12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B044321F-010D-41E1-A81A-E69478AF60CE}"/>
              </a:ext>
            </a:extLst>
          </p:cNvPr>
          <p:cNvSpPr txBox="1"/>
          <p:nvPr/>
        </p:nvSpPr>
        <p:spPr>
          <a:xfrm>
            <a:off x="542480" y="90049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多种拼接方式：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59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DEEBDF72-CC23-472D-A686-101BA9814767}"/>
              </a:ext>
            </a:extLst>
          </p:cNvPr>
          <p:cNvSpPr txBox="1"/>
          <p:nvPr/>
        </p:nvSpPr>
        <p:spPr>
          <a:xfrm>
            <a:off x="4616933" y="1282541"/>
            <a:ext cx="207781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两种电器安装方式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 160W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 160W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A8732301-A43E-4F3A-BF75-45E775ED013F}"/>
              </a:ext>
            </a:extLst>
          </p:cNvPr>
          <p:cNvSpPr txBox="1"/>
          <p:nvPr/>
        </p:nvSpPr>
        <p:spPr>
          <a:xfrm>
            <a:off x="1419319" y="366322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电器连接线</a:t>
            </a:r>
            <a:endParaRPr lang="en-US" altLang="zh-CN" sz="16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BB820E7-5A5E-42B3-AD08-52B5E18B1DA1}"/>
              </a:ext>
            </a:extLst>
          </p:cNvPr>
          <p:cNvSpPr/>
          <p:nvPr/>
        </p:nvSpPr>
        <p:spPr>
          <a:xfrm>
            <a:off x="491086" y="2428942"/>
            <a:ext cx="2168709" cy="24625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DBECA85-8FB1-44C3-A8CB-926876C0C620}"/>
              </a:ext>
            </a:extLst>
          </p:cNvPr>
          <p:cNvSpPr/>
          <p:nvPr/>
        </p:nvSpPr>
        <p:spPr>
          <a:xfrm>
            <a:off x="2930674" y="2445180"/>
            <a:ext cx="6749376" cy="23001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50594B9-70C8-4F58-9968-3AD8CC5C7673}"/>
              </a:ext>
            </a:extLst>
          </p:cNvPr>
          <p:cNvSpPr/>
          <p:nvPr/>
        </p:nvSpPr>
        <p:spPr>
          <a:xfrm>
            <a:off x="3022402" y="2675194"/>
            <a:ext cx="6586617" cy="76402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0B7580C3-E834-4172-B670-C2B03142ECC2}"/>
              </a:ext>
            </a:extLst>
          </p:cNvPr>
          <p:cNvSpPr/>
          <p:nvPr/>
        </p:nvSpPr>
        <p:spPr>
          <a:xfrm>
            <a:off x="7786621" y="2675194"/>
            <a:ext cx="1524920" cy="7640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1E25C5DB-0FAF-4FAC-A3A2-352112938144}"/>
              </a:ext>
            </a:extLst>
          </p:cNvPr>
          <p:cNvSpPr/>
          <p:nvPr/>
        </p:nvSpPr>
        <p:spPr>
          <a:xfrm>
            <a:off x="1000635" y="1650103"/>
            <a:ext cx="1467640" cy="7640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6CB882B-B2D7-4F21-8E36-B6E710926B5D}"/>
              </a:ext>
            </a:extLst>
          </p:cNvPr>
          <p:cNvSpPr/>
          <p:nvPr/>
        </p:nvSpPr>
        <p:spPr>
          <a:xfrm>
            <a:off x="3022403" y="2675194"/>
            <a:ext cx="841700" cy="382012"/>
          </a:xfrm>
          <a:prstGeom prst="rect">
            <a:avLst/>
          </a:prstGeom>
          <a:solidFill>
            <a:srgbClr val="30303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曲线连接符 12">
            <a:extLst>
              <a:ext uri="{FF2B5EF4-FFF2-40B4-BE49-F238E27FC236}">
                <a16:creationId xmlns="" xmlns:a16="http://schemas.microsoft.com/office/drawing/2014/main" id="{9A4D944D-FD26-48C1-991E-287D5A13286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468275" y="2032115"/>
            <a:ext cx="554128" cy="834085"/>
          </a:xfrm>
          <a:prstGeom prst="curvedConnector3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6D28A99E-6FA1-4305-B2B9-0AA1366B480C}"/>
              </a:ext>
            </a:extLst>
          </p:cNvPr>
          <p:cNvSpPr txBox="1"/>
          <p:nvPr/>
        </p:nvSpPr>
        <p:spPr>
          <a:xfrm>
            <a:off x="1000635" y="1917401"/>
            <a:ext cx="1385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外置</a:t>
            </a:r>
            <a:r>
              <a:rPr lang="en-US" altLang="zh-CN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endParaRPr lang="en-US" altLang="zh-CN" sz="16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494F80CF-E4D2-4731-ADAF-81812589AF60}"/>
              </a:ext>
            </a:extLst>
          </p:cNvPr>
          <p:cNvSpPr txBox="1"/>
          <p:nvPr/>
        </p:nvSpPr>
        <p:spPr>
          <a:xfrm>
            <a:off x="7865534" y="2887929"/>
            <a:ext cx="1385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</a:t>
            </a:r>
            <a:r>
              <a:rPr lang="en-US" altLang="zh-CN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endParaRPr lang="en-US" altLang="zh-CN" sz="1600" dirty="0">
              <a:solidFill>
                <a:srgbClr val="2C2C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曲线连接符 12">
            <a:extLst>
              <a:ext uri="{FF2B5EF4-FFF2-40B4-BE49-F238E27FC236}">
                <a16:creationId xmlns="" xmlns:a16="http://schemas.microsoft.com/office/drawing/2014/main" id="{B9AE0B3B-F924-430D-9E0A-80E3939BB3D3}"/>
              </a:ext>
            </a:extLst>
          </p:cNvPr>
          <p:cNvCxnSpPr>
            <a:cxnSpLocks/>
          </p:cNvCxnSpPr>
          <p:nvPr/>
        </p:nvCxnSpPr>
        <p:spPr>
          <a:xfrm>
            <a:off x="2478491" y="1974295"/>
            <a:ext cx="554128" cy="847337"/>
          </a:xfrm>
          <a:prstGeom prst="curvedConnector3">
            <a:avLst/>
          </a:prstGeom>
          <a:ln w="76200">
            <a:solidFill>
              <a:srgbClr val="30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="" xmlns:a16="http://schemas.microsoft.com/office/drawing/2014/main" id="{FE789D08-3A64-488F-971C-38A2D1891DD7}"/>
              </a:ext>
            </a:extLst>
          </p:cNvPr>
          <p:cNvCxnSpPr>
            <a:cxnSpLocks/>
          </p:cNvCxnSpPr>
          <p:nvPr/>
        </p:nvCxnSpPr>
        <p:spPr>
          <a:xfrm flipV="1">
            <a:off x="2381960" y="2829053"/>
            <a:ext cx="495894" cy="8267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A2AC3979-37D7-4AB8-ABFF-B69D41B80D19}"/>
              </a:ext>
            </a:extLst>
          </p:cNvPr>
          <p:cNvSpPr/>
          <p:nvPr/>
        </p:nvSpPr>
        <p:spPr>
          <a:xfrm>
            <a:off x="10016941" y="2439969"/>
            <a:ext cx="1669918" cy="24334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曲线连接符 12">
            <a:extLst>
              <a:ext uri="{FF2B5EF4-FFF2-40B4-BE49-F238E27FC236}">
                <a16:creationId xmlns="" xmlns:a16="http://schemas.microsoft.com/office/drawing/2014/main" id="{83D52A75-1E6C-4CD8-A2DF-06A61FBDF3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9324389" y="2166660"/>
            <a:ext cx="1060052" cy="907717"/>
          </a:xfrm>
          <a:prstGeom prst="curvedConnector3">
            <a:avLst/>
          </a:prstGeom>
          <a:ln w="76200">
            <a:solidFill>
              <a:srgbClr val="30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35BD0FD3-08F2-4ABB-906D-F27FA42B2E99}"/>
              </a:ext>
            </a:extLst>
          </p:cNvPr>
          <p:cNvSpPr txBox="1"/>
          <p:nvPr/>
        </p:nvSpPr>
        <p:spPr>
          <a:xfrm>
            <a:off x="10356875" y="1969400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市电</a:t>
            </a:r>
            <a:r>
              <a:rPr lang="en-US" altLang="zh-CN" sz="1600" dirty="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220V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安装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0006" y="3959415"/>
            <a:ext cx="2301716" cy="150630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9273" y="5406427"/>
            <a:ext cx="2301716" cy="150630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B323F7DE-06AC-4EBB-A314-53E35FAAF966}"/>
              </a:ext>
            </a:extLst>
          </p:cNvPr>
          <p:cNvSpPr/>
          <p:nvPr/>
        </p:nvSpPr>
        <p:spPr>
          <a:xfrm>
            <a:off x="3019156" y="5224630"/>
            <a:ext cx="1013164" cy="23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</a:t>
            </a:r>
            <a:r>
              <a:rPr lang="en-US" altLang="zh-CN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II-</a:t>
            </a:r>
            <a:r>
              <a:rPr lang="zh-CN" altLang="en-US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endParaRPr lang="en-US" altLang="zh-CN" sz="1400" baseline="-25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B323F7DE-06AC-4EBB-A314-53E35FAAF966}"/>
              </a:ext>
            </a:extLst>
          </p:cNvPr>
          <p:cNvSpPr/>
          <p:nvPr/>
        </p:nvSpPr>
        <p:spPr>
          <a:xfrm>
            <a:off x="3285107" y="6494006"/>
            <a:ext cx="1013164" cy="23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CX20-</a:t>
            </a:r>
            <a:r>
              <a:rPr lang="zh-CN" altLang="en-US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endParaRPr lang="en-US" altLang="zh-CN" sz="1400" baseline="-25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721" y="5058531"/>
            <a:ext cx="2804223" cy="183516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5492257" y="7065460"/>
            <a:ext cx="3829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工作电压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24-48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Vdc</a:t>
            </a:r>
          </a:p>
          <a:p>
            <a:pPr algn="ctr">
              <a:lnSpc>
                <a:spcPct val="2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适用范围广，切换无忧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B323F7DE-06AC-4EBB-A314-53E35FAAF966}"/>
              </a:ext>
            </a:extLst>
          </p:cNvPr>
          <p:cNvSpPr/>
          <p:nvPr/>
        </p:nvSpPr>
        <p:spPr>
          <a:xfrm>
            <a:off x="7250888" y="4988668"/>
            <a:ext cx="1013164" cy="23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</a:t>
            </a:r>
            <a:r>
              <a:rPr lang="en-US" altLang="zh-CN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II-</a:t>
            </a:r>
            <a:r>
              <a:rPr lang="zh-CN" altLang="en-US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轨道灯具</a:t>
            </a:r>
            <a:endParaRPr lang="en-US" altLang="zh-CN" sz="1400" baseline="-25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B323F7DE-06AC-4EBB-A314-53E35FAAF966}"/>
              </a:ext>
            </a:extLst>
          </p:cNvPr>
          <p:cNvSpPr/>
          <p:nvPr/>
        </p:nvSpPr>
        <p:spPr>
          <a:xfrm>
            <a:off x="7406782" y="6419263"/>
            <a:ext cx="1013164" cy="23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CX20-</a:t>
            </a:r>
            <a:r>
              <a:rPr lang="zh-CN" altLang="en-US" sz="1400" baseline="-25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轨道灯具</a:t>
            </a:r>
            <a:endParaRPr lang="en-US" altLang="zh-CN" sz="1400" baseline="-25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6860557" y="3909571"/>
            <a:ext cx="2009953" cy="1242204"/>
          </a:xfrm>
          <a:prstGeom prst="rect">
            <a:avLst/>
          </a:prstGeom>
        </p:spPr>
      </p:pic>
      <p:sp>
        <p:nvSpPr>
          <p:cNvPr id="34" name="左右箭头 33"/>
          <p:cNvSpPr/>
          <p:nvPr/>
        </p:nvSpPr>
        <p:spPr>
          <a:xfrm rot="2256815">
            <a:off x="4498163" y="5050196"/>
            <a:ext cx="2447129" cy="366800"/>
          </a:xfrm>
          <a:prstGeom prst="leftRightArrow">
            <a:avLst>
              <a:gd name="adj1" fmla="val 25878"/>
              <a:gd name="adj2" fmla="val 5745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 rot="2229047">
            <a:off x="5340883" y="58120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可以组合使用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4352543" y="4214915"/>
            <a:ext cx="2760500" cy="1158889"/>
            <a:chOff x="6702984" y="2572949"/>
            <a:chExt cx="2760500" cy="1158889"/>
          </a:xfrm>
        </p:grpSpPr>
        <p:sp>
          <p:nvSpPr>
            <p:cNvPr id="37" name="左右箭头 36"/>
            <p:cNvSpPr/>
            <p:nvPr/>
          </p:nvSpPr>
          <p:spPr>
            <a:xfrm rot="19530560">
              <a:off x="6702984" y="3365038"/>
              <a:ext cx="2585292" cy="366800"/>
            </a:xfrm>
            <a:prstGeom prst="leftRightArrow">
              <a:avLst>
                <a:gd name="adj1" fmla="val 25878"/>
                <a:gd name="adj2" fmla="val 57450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 rot="19502792">
              <a:off x="7662991" y="2572949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</a:rPr>
                <a:t>不可以组合使用</a:t>
              </a: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8523999" y="5991304"/>
            <a:ext cx="3829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开关版工作电压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24-48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Vdc</a:t>
            </a:r>
          </a:p>
          <a:p>
            <a:pPr algn="ctr">
              <a:lnSpc>
                <a:spcPct val="2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适用范围广，切换无忧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50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" y="937226"/>
            <a:ext cx="4800000" cy="27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984" y="937226"/>
            <a:ext cx="4800000" cy="27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" y="3815350"/>
            <a:ext cx="4800000" cy="27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984" y="3815350"/>
            <a:ext cx="4800000" cy="2700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安装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496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介绍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-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灯头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3F189774-16DC-E442-B372-13A191791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1" y="6491812"/>
            <a:ext cx="697733" cy="94288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323116" y="1787253"/>
            <a:ext cx="2750498" cy="1800000"/>
            <a:chOff x="391212" y="2195816"/>
            <a:chExt cx="2750498" cy="1800000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212" y="2195816"/>
              <a:ext cx="2750498" cy="18000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="" xmlns:a16="http://schemas.microsoft.com/office/drawing/2014/main" id="{B5FD1772-4677-4CAC-96A8-75858A64C8A8}"/>
                </a:ext>
              </a:extLst>
            </p:cNvPr>
            <p:cNvSpPr txBox="1"/>
            <p:nvPr/>
          </p:nvSpPr>
          <p:spPr>
            <a:xfrm>
              <a:off x="1170281" y="3580175"/>
              <a:ext cx="1201475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线形格栅灯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13978" y="4160164"/>
            <a:ext cx="2750497" cy="1800000"/>
            <a:chOff x="425505" y="4661868"/>
            <a:chExt cx="2750497" cy="1800000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505" y="4661868"/>
              <a:ext cx="2750497" cy="18000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="" xmlns:a16="http://schemas.microsoft.com/office/drawing/2014/main" id="{13C7F7FB-ECEA-43F8-A19F-8797297449F1}"/>
                </a:ext>
              </a:extLst>
            </p:cNvPr>
            <p:cNvSpPr txBox="1"/>
            <p:nvPr/>
          </p:nvSpPr>
          <p:spPr>
            <a:xfrm>
              <a:off x="1193337" y="5922520"/>
              <a:ext cx="1210588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线形泛光灯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99B6C172-CAEF-46D3-9D9D-DEC8D7E0E514}"/>
              </a:ext>
            </a:extLst>
          </p:cNvPr>
          <p:cNvSpPr txBox="1"/>
          <p:nvPr/>
        </p:nvSpPr>
        <p:spPr>
          <a:xfrm>
            <a:off x="445366" y="1327167"/>
            <a:ext cx="5653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种灯型可选，满足个性照明需求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871" y="4019805"/>
            <a:ext cx="2750498" cy="180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872" y="1587027"/>
            <a:ext cx="2750497" cy="1800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676" y="1870107"/>
            <a:ext cx="5839972" cy="328011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311" y="4019805"/>
            <a:ext cx="2363213" cy="132733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875" y="1752496"/>
            <a:ext cx="2750498" cy="18000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13C7F7FB-ECEA-43F8-A19F-8797297449F1}"/>
              </a:ext>
            </a:extLst>
          </p:cNvPr>
          <p:cNvSpPr txBox="1"/>
          <p:nvPr/>
        </p:nvSpPr>
        <p:spPr>
          <a:xfrm>
            <a:off x="3750317" y="5420816"/>
            <a:ext cx="1210588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钛金线条灯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="" xmlns:a16="http://schemas.microsoft.com/office/drawing/2014/main" id="{13C7F7FB-ECEA-43F8-A19F-8797297449F1}"/>
              </a:ext>
            </a:extLst>
          </p:cNvPr>
          <p:cNvSpPr txBox="1"/>
          <p:nvPr/>
        </p:nvSpPr>
        <p:spPr>
          <a:xfrm>
            <a:off x="3636487" y="3175203"/>
            <a:ext cx="1210588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可调格栅灯</a:t>
            </a:r>
            <a:endParaRPr lang="en-US" altLang="zh-CN" dirty="0"/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13C7F7FB-ECEA-43F8-A19F-8797297449F1}"/>
              </a:ext>
            </a:extLst>
          </p:cNvPr>
          <p:cNvSpPr txBox="1"/>
          <p:nvPr/>
        </p:nvSpPr>
        <p:spPr>
          <a:xfrm>
            <a:off x="6414803" y="3171611"/>
            <a:ext cx="1210588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线形洗墙灯</a:t>
            </a:r>
            <a:endParaRPr lang="en-US" altLang="zh-CN" dirty="0"/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13C7F7FB-ECEA-43F8-A19F-8797297449F1}"/>
              </a:ext>
            </a:extLst>
          </p:cNvPr>
          <p:cNvSpPr txBox="1"/>
          <p:nvPr/>
        </p:nvSpPr>
        <p:spPr>
          <a:xfrm>
            <a:off x="6580217" y="5420816"/>
            <a:ext cx="100540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轨道射灯</a:t>
            </a:r>
            <a:endParaRPr lang="en-US" altLang="zh-CN" dirty="0"/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13C7F7FB-ECEA-43F8-A19F-8797297449F1}"/>
              </a:ext>
            </a:extLst>
          </p:cNvPr>
          <p:cNvSpPr txBox="1"/>
          <p:nvPr/>
        </p:nvSpPr>
        <p:spPr>
          <a:xfrm>
            <a:off x="9334960" y="5255130"/>
            <a:ext cx="100540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吊线射灯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4949451" y="53931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760356" y="58563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新增调焦款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0340363" y="5272180"/>
            <a:ext cx="1165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新增调焦款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83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5403"/>
              </p:ext>
            </p:extLst>
          </p:nvPr>
        </p:nvGraphicFramePr>
        <p:xfrm>
          <a:off x="466342" y="2230508"/>
          <a:ext cx="11055095" cy="415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7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8462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846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846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8462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8462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38462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384621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线形格栅灯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可调格栅灯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线形泛光灯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钛金线条灯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洗墙灯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可调射灯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吊线射灯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223mm/440mm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113mm/223mm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223mm/440mm/603mm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223mm/440mm/603mm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223mm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3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9W/18W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5W/9W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9W/18W/27W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9W/18W/27W</a:t>
                      </a:r>
                      <a:endParaRPr lang="zh-CN" altLang="en-US" sz="12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9W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5W/9W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9W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输入电压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24V~48V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3000K/4000K/2700~5700K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光束角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30°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30°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24°/15°~50°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24°/15°~50°</a:t>
                      </a:r>
                      <a:endParaRPr lang="zh-CN" altLang="en-US" sz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开关版单</a:t>
                      </a:r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  <a:r>
                        <a:rPr lang="en-US" altLang="zh-CN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智能款双色温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显色性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</a:t>
                      </a:r>
                      <a:r>
                        <a:rPr lang="zh-CN" altLang="en-US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altLang="zh-C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色容差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SDCM</a:t>
                      </a:r>
                      <a:r>
                        <a:rPr lang="zh-CN" altLang="en-US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＜</a:t>
                      </a:r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（整灯）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灯具寿命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30000Hrs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工作环境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-20°~40</a:t>
                      </a:r>
                      <a:r>
                        <a:rPr lang="zh-CN" altLang="en-US" sz="12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℃</a:t>
                      </a:r>
                      <a:endParaRPr lang="zh-CN" altLang="en-US" sz="12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85" y="848756"/>
            <a:ext cx="1650299" cy="10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235" y="758324"/>
            <a:ext cx="1650298" cy="108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184" y="848756"/>
            <a:ext cx="1650299" cy="108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133" y="803540"/>
            <a:ext cx="1650299" cy="10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60" y="893972"/>
            <a:ext cx="1650299" cy="10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075" y="1033272"/>
            <a:ext cx="1433327" cy="80505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548" y="84556"/>
            <a:ext cx="3122436" cy="175376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496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介绍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-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灯头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6746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47D68F36-8F1A-004B-9533-475EB3F1C606}"/>
              </a:ext>
            </a:extLst>
          </p:cNvPr>
          <p:cNvSpPr/>
          <p:nvPr/>
        </p:nvSpPr>
        <p:spPr>
          <a:xfrm>
            <a:off x="249828" y="276846"/>
            <a:ext cx="2496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-</a:t>
            </a:r>
            <a:r>
              <a:rPr lang="zh-CN" altLang="en-US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附件</a:t>
            </a:r>
            <a:endParaRPr lang="en-US" altLang="zh-CN" sz="2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359392"/>
              </p:ext>
            </p:extLst>
          </p:nvPr>
        </p:nvGraphicFramePr>
        <p:xfrm>
          <a:off x="745779" y="2334932"/>
          <a:ext cx="10473913" cy="338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1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11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1183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11830"/>
                <a:gridCol w="1311830"/>
                <a:gridCol w="1311830"/>
                <a:gridCol w="1311830"/>
                <a:gridCol w="131183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内置电源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内置电源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外置电源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嵌装轨道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明装轨道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平面转角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立面转角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263mm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263mm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0.5m/1m/1.5m/2m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0.5m/1m/1.5m/2m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3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80W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160W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160W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输入电压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220V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220V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220V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输出电压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24V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24V</a:t>
                      </a:r>
                      <a:endParaRPr lang="zh-CN" altLang="en-US" sz="11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24V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开关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开关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开关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功率因素</a:t>
                      </a:r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0.98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0.98</a:t>
                      </a:r>
                      <a:endParaRPr lang="zh-CN" altLang="en-US" sz="11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0.98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1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F0C444B6-4828-4055-89CA-854CF79464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76" y="1042416"/>
            <a:ext cx="2297807" cy="1292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716439CA-0AAA-4FD9-BCB0-5F3FACD5E4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1" t="13901" r="8397" b="27533"/>
          <a:stretch/>
        </p:blipFill>
        <p:spPr>
          <a:xfrm>
            <a:off x="6302775" y="1249762"/>
            <a:ext cx="1992897" cy="87782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7ECD1920-2A92-2A45-A470-D615E9515CFD}"/>
              </a:ext>
            </a:extLst>
          </p:cNvPr>
          <p:cNvSpPr/>
          <p:nvPr/>
        </p:nvSpPr>
        <p:spPr>
          <a:xfrm>
            <a:off x="10302011" y="608020"/>
            <a:ext cx="19919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Calibri" charset="0"/>
              </a:rPr>
              <a:t>内部资料 禁止外发</a:t>
            </a:r>
            <a:endParaRPr lang="zh-CN" altLang="en-US" sz="12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63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摆设布局&#10;&#10;描述已自动生成">
            <a:extLst>
              <a:ext uri="{FF2B5EF4-FFF2-40B4-BE49-F238E27FC236}">
                <a16:creationId xmlns="" xmlns:a16="http://schemas.microsoft.com/office/drawing/2014/main" id="{1FA05F5E-18BD-8A49-B537-C76C6FE6EB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1" t="17321"/>
          <a:stretch/>
        </p:blipFill>
        <p:spPr>
          <a:xfrm>
            <a:off x="0" y="0"/>
            <a:ext cx="9986839" cy="5527497"/>
          </a:xfrm>
          <a:prstGeom prst="rect">
            <a:avLst/>
          </a:prstGeom>
        </p:spPr>
      </p:pic>
      <p:sp>
        <p:nvSpPr>
          <p:cNvPr id="3" name="平行四边形 3">
            <a:extLst>
              <a:ext uri="{FF2B5EF4-FFF2-40B4-BE49-F238E27FC236}">
                <a16:creationId xmlns="" xmlns:a16="http://schemas.microsoft.com/office/drawing/2014/main" id="{B1A43781-579E-AA4F-BE61-894799F6F06D}"/>
              </a:ext>
            </a:extLst>
          </p:cNvPr>
          <p:cNvSpPr/>
          <p:nvPr/>
        </p:nvSpPr>
        <p:spPr>
          <a:xfrm>
            <a:off x="4890051" y="2981739"/>
            <a:ext cx="7354361" cy="3061252"/>
          </a:xfrm>
          <a:custGeom>
            <a:avLst/>
            <a:gdLst>
              <a:gd name="connsiteX0" fmla="*/ 0 w 8083826"/>
              <a:gd name="connsiteY0" fmla="*/ 3061252 h 3061252"/>
              <a:gd name="connsiteX1" fmla="*/ 765313 w 8083826"/>
              <a:gd name="connsiteY1" fmla="*/ 0 h 3061252"/>
              <a:gd name="connsiteX2" fmla="*/ 8083826 w 8083826"/>
              <a:gd name="connsiteY2" fmla="*/ 0 h 3061252"/>
              <a:gd name="connsiteX3" fmla="*/ 7318513 w 8083826"/>
              <a:gd name="connsiteY3" fmla="*/ 3061252 h 3061252"/>
              <a:gd name="connsiteX4" fmla="*/ 0 w 8083826"/>
              <a:gd name="connsiteY4" fmla="*/ 3061252 h 3061252"/>
              <a:gd name="connsiteX0" fmla="*/ 0 w 7354361"/>
              <a:gd name="connsiteY0" fmla="*/ 3061252 h 3061252"/>
              <a:gd name="connsiteX1" fmla="*/ 765313 w 7354361"/>
              <a:gd name="connsiteY1" fmla="*/ 0 h 3061252"/>
              <a:gd name="connsiteX2" fmla="*/ 7354361 w 7354361"/>
              <a:gd name="connsiteY2" fmla="*/ 20549 h 3061252"/>
              <a:gd name="connsiteX3" fmla="*/ 7318513 w 7354361"/>
              <a:gd name="connsiteY3" fmla="*/ 3061252 h 3061252"/>
              <a:gd name="connsiteX4" fmla="*/ 0 w 7354361"/>
              <a:gd name="connsiteY4" fmla="*/ 3061252 h 30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4361" h="3061252">
                <a:moveTo>
                  <a:pt x="0" y="3061252"/>
                </a:moveTo>
                <a:lnTo>
                  <a:pt x="765313" y="0"/>
                </a:lnTo>
                <a:lnTo>
                  <a:pt x="7354361" y="20549"/>
                </a:lnTo>
                <a:lnTo>
                  <a:pt x="7318513" y="3061252"/>
                </a:lnTo>
                <a:lnTo>
                  <a:pt x="0" y="3061252"/>
                </a:lnTo>
                <a:close/>
              </a:path>
            </a:pathLst>
          </a:custGeom>
          <a:solidFill>
            <a:srgbClr val="013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5A324239-267C-ED4D-A90B-BCD056355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21" y="4877323"/>
            <a:ext cx="5811046" cy="4298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7DD858A-3E6E-1C49-9F0F-994A293E0152}"/>
              </a:ext>
            </a:extLst>
          </p:cNvPr>
          <p:cNvSpPr/>
          <p:nvPr/>
        </p:nvSpPr>
        <p:spPr>
          <a:xfrm>
            <a:off x="9199600" y="3521869"/>
            <a:ext cx="30547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" altLang="zh-CN" sz="32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THANK YOU</a:t>
            </a:r>
            <a:endParaRPr lang="zh-CN" altLang="en-US" sz="3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65031DFC-B64B-E142-AC19-AE50998EEEBC}"/>
              </a:ext>
            </a:extLst>
          </p:cNvPr>
          <p:cNvSpPr/>
          <p:nvPr/>
        </p:nvSpPr>
        <p:spPr>
          <a:xfrm>
            <a:off x="10125807" y="401493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感谢您的关注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="" xmlns:a16="http://schemas.microsoft.com/office/drawing/2014/main" id="{0B9A1307-3190-4B41-9E5F-154F264B30D2}"/>
              </a:ext>
            </a:extLst>
          </p:cNvPr>
          <p:cNvCxnSpPr>
            <a:cxnSpLocks/>
          </p:cNvCxnSpPr>
          <p:nvPr/>
        </p:nvCxnSpPr>
        <p:spPr>
          <a:xfrm>
            <a:off x="5757221" y="4446319"/>
            <a:ext cx="58110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84E3E69A-CE30-4344-B909-9EBF097DF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94" y="370182"/>
            <a:ext cx="1153722" cy="4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2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7728</TotalTime>
  <Words>1001</Words>
  <Application>Microsoft Office PowerPoint</Application>
  <PresentationFormat>宽屏</PresentationFormat>
  <Paragraphs>241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FZLanTingHeiS-EL-GB</vt:lpstr>
      <vt:lpstr>Microsoft YaHei Light</vt:lpstr>
      <vt:lpstr>等线</vt:lpstr>
      <vt:lpstr>方正兰亭准黑简体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 Wang(王晨)</dc:creator>
  <cp:lastModifiedBy>Chen Wang(王晨)</cp:lastModifiedBy>
  <cp:revision>117</cp:revision>
  <cp:lastPrinted>2022-04-12T03:25:52Z</cp:lastPrinted>
  <dcterms:created xsi:type="dcterms:W3CDTF">2022-03-20T02:32:01Z</dcterms:created>
  <dcterms:modified xsi:type="dcterms:W3CDTF">2022-05-24T06:54:53Z</dcterms:modified>
</cp:coreProperties>
</file>