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2.svg" ContentType="image/svg+xml"/>
  <Override PartName="/ppt/media/image14.svg" ContentType="image/svg+xml"/>
  <Override PartName="/ppt/media/image16.svg" ContentType="image/svg+xml"/>
  <Override PartName="/ppt/media/image8.svg" ContentType="image/svg+xml"/>
  <Override PartName="/ppt/media/image8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0" r:id="rId3"/>
    <p:sldId id="16767889" r:id="rId5"/>
    <p:sldId id="16767868" r:id="rId6"/>
    <p:sldId id="16767869" r:id="rId7"/>
    <p:sldId id="16767881" r:id="rId8"/>
    <p:sldId id="16767813" r:id="rId9"/>
    <p:sldId id="16767891" r:id="rId10"/>
    <p:sldId id="16767827" r:id="rId11"/>
    <p:sldId id="16767830" r:id="rId12"/>
    <p:sldId id="16767892" r:id="rId13"/>
    <p:sldId id="16767893" r:id="rId14"/>
    <p:sldId id="16767894" r:id="rId15"/>
    <p:sldId id="16767821" r:id="rId16"/>
    <p:sldId id="323" r:id="rId17"/>
    <p:sldId id="16767854" r:id="rId18"/>
    <p:sldId id="16767867" r:id="rId19"/>
    <p:sldId id="16767839" r:id="rId20"/>
    <p:sldId id="16767834" r:id="rId21"/>
    <p:sldId id="14997738" r:id="rId22"/>
    <p:sldId id="16767835" r:id="rId23"/>
    <p:sldId id="14998542" r:id="rId24"/>
    <p:sldId id="16767841" r:id="rId25"/>
    <p:sldId id="16767897" r:id="rId26"/>
    <p:sldId id="16767888" r:id="rId27"/>
    <p:sldId id="16767896" r:id="rId28"/>
    <p:sldId id="322" r:id="rId29"/>
    <p:sldId id="16767817"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5" userDrawn="1">
          <p15:clr>
            <a:srgbClr val="A4A3A4"/>
          </p15:clr>
        </p15:guide>
        <p15:guide id="2" pos="508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OLEI FAN(范耀磊)" initials="YF" lastIdx="3" clrIdx="0"/>
  <p:cmAuthor id="0" name="24t" initials="24t" lastIdx="4" clrIdx="0"/>
  <p:cmAuthor id="2" name="Anson HE(何君健)" initials="AH" lastIdx="1" clrIdx="1"/>
  <p:cmAuthor id="3" name="ledeguang le(乐德广)" initials="ll" lastIdx="1" clrIdx="0"/>
  <p:cmAuthor id="4" name="matebook" initials="m" lastIdx="1" clrIdx="3"/>
  <p:cmAuthor id="5" name="OP063533" initials="O" lastIdx="1" clrIdx="4"/>
  <p:cmAuthor id="6" name="PEIZHI LIAO(廖沛智)" initials="PL" lastIdx="1" clrIdx="5"/>
  <p:cmAuthor id="7" name="yangjx" initials="y" lastIdx="7" clrIdx="0"/>
  <p:cmAuthor id="8" name="于 楠" initials="于" lastIdx="1" clrIdx="1"/>
  <p:cmAuthor id="9" name="利杰" initials="利" lastIdx="1" clrIdx="8"/>
  <p:cmAuthor id="10" name="Jiang Hu(胡江)" initials="JH" lastIdx="1" clrIdx="9"/>
  <p:cmAuthor id="11" name="GaryW" initials="G" lastIdx="2" clrIdx="0"/>
  <p:cmAuthor id="12" name="e-works" initials="e" lastIdx="2" clrIdx="2"/>
  <p:cmAuthor id="13" name="未知用户3" initials="未" lastIdx="1" clrIdx="0"/>
  <p:cmAuthor id="14" name="未知用户2" initials="未" lastIdx="1" clrIdx="0"/>
  <p:cmAuthor id="15" name="未知用户4" initials="未" lastIdx="1" clrIdx="0"/>
  <p:cmAuthor id="16" name="未知用户5" initials="未" lastIdx="1" clrIdx="1"/>
  <p:cmAuthor id="75" name="作者" initials="A" lastIdx="0" clrIdx="24"/>
  <p:cmAuthor id="17" name="Jason" initials="J" lastIdx="1" clrIdx="16"/>
  <p:cmAuthor id="18" name="wangshiqi98@outlook.com" initials="w" lastIdx="2" clrIdx="17"/>
  <p:cmAuthor id="19" name="xiaofangyang" initials="x" lastIdx="1" clrIdx="18"/>
  <p:cmAuthor id="20" name="lll" initials="l" lastIdx="1" clrIdx="19"/>
  <p:cmAuthor id="21" name="op061579" initials="o" lastIdx="1" clrIdx="20"/>
  <p:cmAuthor id="22" name="OP065457" initials="O" lastIdx="5" clrIdx="2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8B5"/>
    <a:srgbClr val="006BB7"/>
    <a:srgbClr val="3E2A60"/>
    <a:srgbClr val="D22D51"/>
    <a:srgbClr val="E7BF86"/>
    <a:srgbClr val="FBEAE5"/>
    <a:srgbClr val="C67FAC"/>
    <a:srgbClr val="1F2D65"/>
    <a:srgbClr val="7BADED"/>
    <a:srgbClr val="EAEE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457" autoAdjust="0"/>
    <p:restoredTop sz="88575" autoAdjust="0"/>
  </p:normalViewPr>
  <p:slideViewPr>
    <p:cSldViewPr snapToGrid="0" showGuides="1">
      <p:cViewPr varScale="1">
        <p:scale>
          <a:sx n="60" d="100"/>
          <a:sy n="60" d="100"/>
        </p:scale>
        <p:origin x="1120" y="40"/>
      </p:cViewPr>
      <p:guideLst>
        <p:guide orient="horz" pos="2175"/>
        <p:guide pos="5087"/>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commentAuthors" Target="commentAuthors.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ADBAC1-3BF8-4559-A6ED-D0ADE232820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FEDA2F-93D4-4A2A-BCBE-999C4792760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043AEA51-B2D5-4211-9F28-4EB6733FB3A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自</a:t>
            </a:r>
            <a:r>
              <a:rPr lang="en-US" altLang="zh-CN" sz="1200" kern="1200" dirty="0">
                <a:solidFill>
                  <a:schemeClr val="tx1"/>
                </a:solidFill>
                <a:effectLst/>
                <a:latin typeface="+mn-lt"/>
                <a:ea typeface="+mn-ea"/>
                <a:cs typeface="+mn-cs"/>
              </a:rPr>
              <a:t>1996</a:t>
            </a:r>
            <a:r>
              <a:rPr lang="zh-CN" altLang="zh-CN" sz="1200" kern="1200" dirty="0">
                <a:solidFill>
                  <a:schemeClr val="tx1"/>
                </a:solidFill>
                <a:effectLst/>
                <a:latin typeface="+mn-lt"/>
                <a:ea typeface="+mn-ea"/>
                <a:cs typeface="+mn-cs"/>
              </a:rPr>
              <a:t>年成立至今，欧普照明已深耕照明行业</a:t>
            </a:r>
            <a:r>
              <a:rPr lang="en-US" altLang="zh-CN" sz="1200" kern="1200" dirty="0">
                <a:solidFill>
                  <a:schemeClr val="tx1"/>
                </a:solidFill>
                <a:effectLst/>
                <a:latin typeface="+mn-lt"/>
                <a:ea typeface="+mn-ea"/>
                <a:cs typeface="+mn-cs"/>
              </a:rPr>
              <a:t>29</a:t>
            </a:r>
            <a:r>
              <a:rPr lang="zh-CN" altLang="zh-CN" sz="1200" kern="1200" dirty="0">
                <a:solidFill>
                  <a:schemeClr val="tx1"/>
                </a:solidFill>
                <a:effectLst/>
                <a:latin typeface="+mn-lt"/>
                <a:ea typeface="+mn-ea"/>
                <a:cs typeface="+mn-cs"/>
              </a:rPr>
              <a:t>年。我们始终秉持健康、时尚、科技与专业的品牌价值观，致力于用光创造价值。我们的愿景，是成为全球第一的智能照明品牌。在这一愿景的驱动下，我们不断探索光的无限可能，让每一束光都能成为提升生活品质、创造价值的利器。</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43AEA51-B2D5-4211-9F28-4EB6733FB3A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目前，欧普照明拥有</a:t>
            </a:r>
            <a:r>
              <a:rPr lang="en-US" altLang="zh-CN" sz="1200" kern="1200" dirty="0">
                <a:solidFill>
                  <a:schemeClr val="tx1"/>
                </a:solidFill>
                <a:effectLst/>
                <a:latin typeface="+mn-lt"/>
                <a:ea typeface="+mn-ea"/>
                <a:cs typeface="+mn-cs"/>
              </a:rPr>
              <a:t>6000</a:t>
            </a:r>
            <a:r>
              <a:rPr lang="zh-CN" altLang="zh-CN" sz="1200" kern="1200" dirty="0">
                <a:solidFill>
                  <a:schemeClr val="tx1"/>
                </a:solidFill>
                <a:effectLst/>
                <a:latin typeface="+mn-lt"/>
                <a:ea typeface="+mn-ea"/>
                <a:cs typeface="+mn-cs"/>
              </a:rPr>
              <a:t>多名员工，业务覆盖全球</a:t>
            </a:r>
            <a:r>
              <a:rPr lang="en-US" altLang="zh-CN" sz="1200" kern="1200" dirty="0">
                <a:solidFill>
                  <a:schemeClr val="tx1"/>
                </a:solidFill>
                <a:effectLst/>
                <a:latin typeface="+mn-lt"/>
                <a:ea typeface="+mn-ea"/>
                <a:cs typeface="+mn-cs"/>
              </a:rPr>
              <a:t>70</a:t>
            </a:r>
            <a:r>
              <a:rPr lang="zh-CN" altLang="zh-CN" sz="1200" kern="1200" dirty="0">
                <a:solidFill>
                  <a:schemeClr val="tx1"/>
                </a:solidFill>
                <a:effectLst/>
                <a:latin typeface="+mn-lt"/>
                <a:ea typeface="+mn-ea"/>
                <a:cs typeface="+mn-cs"/>
              </a:rPr>
              <a:t>多个国家，建立了</a:t>
            </a:r>
            <a:r>
              <a:rPr lang="en-US" altLang="zh-CN" sz="1200" kern="1200" dirty="0">
                <a:solidFill>
                  <a:schemeClr val="tx1"/>
                </a:solidFill>
                <a:effectLst/>
                <a:latin typeface="+mn-lt"/>
                <a:ea typeface="+mn-ea"/>
                <a:cs typeface="+mn-cs"/>
              </a:rPr>
              <a:t>13.5</a:t>
            </a:r>
            <a:r>
              <a:rPr lang="zh-CN" altLang="zh-CN" sz="1200" kern="1200" dirty="0">
                <a:solidFill>
                  <a:schemeClr val="tx1"/>
                </a:solidFill>
                <a:effectLst/>
                <a:latin typeface="+mn-lt"/>
                <a:ea typeface="+mn-ea"/>
                <a:cs typeface="+mn-cs"/>
              </a:rPr>
              <a:t>万个服务终端。从中山起步，我们走出了一条独特的全球化道路。这一切，源于欧普专业团队对“用光创造价值”初心的坚守，携手让光成为连接人与环境的情感纽带。</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43AEA51-B2D5-4211-9F28-4EB6733FB3A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面对快速变化的市场环境，欧普照明始终将研发创新置于战略核心，年研发投入超过</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亿元，研发团队规模达到</a:t>
            </a:r>
            <a:r>
              <a:rPr lang="en-US" altLang="zh-CN" sz="1200" kern="1200" dirty="0">
                <a:solidFill>
                  <a:schemeClr val="tx1"/>
                </a:solidFill>
                <a:effectLst/>
                <a:latin typeface="+mn-lt"/>
                <a:ea typeface="+mn-ea"/>
                <a:cs typeface="+mn-cs"/>
              </a:rPr>
              <a:t>500</a:t>
            </a:r>
            <a:r>
              <a:rPr lang="zh-CN" altLang="zh-CN" sz="1200" kern="1200" dirty="0">
                <a:solidFill>
                  <a:schemeClr val="tx1"/>
                </a:solidFill>
                <a:effectLst/>
                <a:latin typeface="+mn-lt"/>
                <a:ea typeface="+mn-ea"/>
                <a:cs typeface="+mn-cs"/>
              </a:rPr>
              <a:t>人，并获批设立了国家级博士后科研工作站。我们还与武汉大学、同济大学、浙江大学以及复旦大学等国内顶尖学府，主导制定了健康、智能、绿色及空间设计等领域的标准制定，积极推动政产学研协同创新。</a:t>
            </a:r>
            <a:endParaRPr lang="zh-CN" altLang="zh-CN" sz="1200" kern="1200" dirty="0">
              <a:solidFill>
                <a:schemeClr val="tx1"/>
              </a:solidFill>
              <a:effectLst/>
              <a:latin typeface="+mn-lt"/>
              <a:ea typeface="+mn-ea"/>
              <a:cs typeface="+mn-cs"/>
            </a:endParaRP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截至目前，我们的专利授权量已突破</a:t>
            </a:r>
            <a:r>
              <a:rPr lang="en-US" altLang="zh-CN" sz="1200" kern="1200" dirty="0">
                <a:solidFill>
                  <a:schemeClr val="tx1"/>
                </a:solidFill>
                <a:effectLst/>
                <a:latin typeface="+mn-lt"/>
                <a:ea typeface="+mn-ea"/>
                <a:cs typeface="+mn-cs"/>
              </a:rPr>
              <a:t>4000</a:t>
            </a:r>
            <a:r>
              <a:rPr lang="zh-CN" altLang="zh-CN" sz="1200" kern="1200" dirty="0">
                <a:solidFill>
                  <a:schemeClr val="tx1"/>
                </a:solidFill>
                <a:effectLst/>
                <a:latin typeface="+mn-lt"/>
                <a:ea typeface="+mn-ea"/>
                <a:cs typeface="+mn-cs"/>
              </a:rPr>
              <a:t>项，参与制定了</a:t>
            </a:r>
            <a:r>
              <a:rPr lang="en-US" altLang="zh-CN" sz="1200" kern="1200" dirty="0">
                <a:solidFill>
                  <a:schemeClr val="tx1"/>
                </a:solidFill>
                <a:effectLst/>
                <a:latin typeface="+mn-lt"/>
                <a:ea typeface="+mn-ea"/>
                <a:cs typeface="+mn-cs"/>
              </a:rPr>
              <a:t>80</a:t>
            </a:r>
            <a:r>
              <a:rPr lang="zh-CN" altLang="zh-CN" sz="1200" kern="1200" dirty="0">
                <a:solidFill>
                  <a:schemeClr val="tx1"/>
                </a:solidFill>
                <a:effectLst/>
                <a:latin typeface="+mn-lt"/>
                <a:ea typeface="+mn-ea"/>
                <a:cs typeface="+mn-cs"/>
              </a:rPr>
              <a:t>项行业标准，其中含</a:t>
            </a:r>
            <a:r>
              <a:rPr lang="en-US" altLang="zh-CN" sz="1200" kern="1200" dirty="0">
                <a:solidFill>
                  <a:schemeClr val="tx1"/>
                </a:solidFill>
                <a:effectLst/>
                <a:latin typeface="+mn-lt"/>
                <a:ea typeface="+mn-ea"/>
                <a:cs typeface="+mn-cs"/>
              </a:rPr>
              <a:t>24</a:t>
            </a:r>
            <a:r>
              <a:rPr lang="zh-CN" altLang="zh-CN" sz="1200" kern="1200" dirty="0">
                <a:solidFill>
                  <a:schemeClr val="tx1"/>
                </a:solidFill>
                <a:effectLst/>
                <a:latin typeface="+mn-lt"/>
                <a:ea typeface="+mn-ea"/>
                <a:cs typeface="+mn-cs"/>
              </a:rPr>
              <a:t>项国家标准，展现了欧普照明在行业科技创新上的巨大投入与突出贡献。</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43AEA51-B2D5-4211-9F28-4EB6733FB3A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600" b="1" kern="1200" dirty="0" smtClean="0">
                <a:solidFill>
                  <a:srgbClr val="FF0000"/>
                </a:solidFill>
                <a:latin typeface="+mn-lt"/>
                <a:ea typeface="+mn-ea"/>
                <a:cs typeface="+mn-cs"/>
              </a:rPr>
              <a:t>一、总体逻辑</a:t>
            </a:r>
            <a:r>
              <a:rPr lang="zh-CN" altLang="en-US" sz="1600" dirty="0" smtClean="0"/>
              <a:t>：</a:t>
            </a:r>
            <a:r>
              <a:rPr lang="zh-CN" altLang="zh-CN" sz="1200" kern="1200" dirty="0" smtClean="0">
                <a:solidFill>
                  <a:schemeClr val="tx1"/>
                </a:solidFill>
                <a:latin typeface="+mn-lt"/>
                <a:ea typeface="+mn-ea"/>
                <a:cs typeface="+mn-cs"/>
              </a:rPr>
              <a:t>人文价值</a:t>
            </a:r>
            <a:r>
              <a:rPr lang="zh-CN" altLang="en-US" sz="1200" kern="1200" dirty="0" smtClean="0">
                <a:solidFill>
                  <a:schemeClr val="tx1"/>
                </a:solidFill>
                <a:latin typeface="+mn-lt"/>
                <a:ea typeface="+mn-ea"/>
                <a:cs typeface="+mn-cs"/>
              </a:rPr>
              <a:t>、</a:t>
            </a:r>
            <a:r>
              <a:rPr lang="zh-CN" altLang="zh-CN" sz="1200" kern="1200" dirty="0" smtClean="0">
                <a:solidFill>
                  <a:schemeClr val="tx1"/>
                </a:solidFill>
                <a:latin typeface="+mn-lt"/>
                <a:ea typeface="+mn-ea"/>
                <a:cs typeface="+mn-cs"/>
              </a:rPr>
              <a:t>医疗价值</a:t>
            </a:r>
            <a:r>
              <a:rPr lang="zh-CN" altLang="en-US" sz="1200" kern="1200" dirty="0" smtClean="0">
                <a:solidFill>
                  <a:schemeClr val="tx1"/>
                </a:solidFill>
                <a:latin typeface="+mn-lt"/>
                <a:ea typeface="+mn-ea"/>
                <a:cs typeface="+mn-cs"/>
              </a:rPr>
              <a:t>、</a:t>
            </a:r>
            <a:r>
              <a:rPr lang="zh-CN" altLang="zh-CN" sz="1200" kern="1200" dirty="0" smtClean="0">
                <a:solidFill>
                  <a:schemeClr val="tx1"/>
                </a:solidFill>
                <a:latin typeface="+mn-lt"/>
                <a:ea typeface="+mn-ea"/>
                <a:cs typeface="+mn-cs"/>
              </a:rPr>
              <a:t>经济价值</a:t>
            </a:r>
            <a:r>
              <a:rPr lang="zh-CN" altLang="en-US" sz="1200" kern="1200" dirty="0" smtClean="0">
                <a:solidFill>
                  <a:schemeClr val="tx1"/>
                </a:solidFill>
                <a:latin typeface="+mn-lt"/>
                <a:ea typeface="+mn-ea"/>
                <a:cs typeface="+mn-cs"/>
              </a:rPr>
              <a:t>；</a:t>
            </a:r>
            <a:endParaRPr lang="en-US" altLang="zh-CN" sz="1200" kern="1200" dirty="0" smtClean="0">
              <a:solidFill>
                <a:schemeClr val="tx1"/>
              </a:solidFill>
              <a:latin typeface="+mn-lt"/>
              <a:ea typeface="+mn-ea"/>
              <a:cs typeface="+mn-cs"/>
            </a:endParaRPr>
          </a:p>
          <a:p>
            <a:pPr>
              <a:lnSpc>
                <a:spcPct val="200000"/>
              </a:lnSpc>
            </a:pPr>
            <a:r>
              <a:rPr lang="zh-CN" altLang="en-US" sz="1600" b="1" dirty="0" smtClean="0"/>
              <a:t>二、对象</a:t>
            </a:r>
            <a:r>
              <a:rPr lang="zh-CN" altLang="en-US" dirty="0" smtClean="0"/>
              <a:t>：医护人员、患者</a:t>
            </a:r>
            <a:r>
              <a:rPr lang="en-US" altLang="zh-CN" dirty="0" smtClean="0"/>
              <a:t>/</a:t>
            </a:r>
            <a:r>
              <a:rPr lang="zh-CN" altLang="en-US" dirty="0" smtClean="0"/>
              <a:t>家属、运营管理者</a:t>
            </a:r>
            <a:endParaRPr lang="en-US" altLang="zh-CN" dirty="0" smtClean="0"/>
          </a:p>
          <a:p>
            <a:pPr>
              <a:lnSpc>
                <a:spcPct val="200000"/>
              </a:lnSpc>
            </a:pPr>
            <a:r>
              <a:rPr lang="zh-CN" altLang="en-US" sz="1600" b="1" kern="1200" dirty="0" smtClean="0">
                <a:solidFill>
                  <a:schemeClr val="tx1"/>
                </a:solidFill>
                <a:latin typeface="+mn-lt"/>
                <a:ea typeface="+mn-ea"/>
                <a:cs typeface="+mn-cs"/>
              </a:rPr>
              <a:t>三、“按需照明” </a:t>
            </a:r>
            <a:r>
              <a:rPr lang="zh-CN" altLang="en-US" dirty="0" smtClean="0"/>
              <a:t>：</a:t>
            </a:r>
            <a:r>
              <a:rPr lang="zh-CN" altLang="en-US" dirty="0" smtClean="0">
                <a:solidFill>
                  <a:srgbClr val="000000"/>
                </a:solidFill>
                <a:latin typeface="Tahoma" panose="020B0604030504040204" pitchFamily="34" charset="0"/>
              </a:rPr>
              <a:t>是现代照明解决方案的口号。</a:t>
            </a:r>
            <a:endParaRPr lang="en-US" altLang="zh-CN" dirty="0" smtClean="0">
              <a:solidFill>
                <a:srgbClr val="000000"/>
              </a:solidFill>
              <a:latin typeface="Tahoma" panose="020B0604030504040204" pitchFamily="34" charset="0"/>
            </a:endParaRPr>
          </a:p>
          <a:p>
            <a:pPr>
              <a:lnSpc>
                <a:spcPct val="200000"/>
              </a:lnSpc>
            </a:pPr>
            <a:r>
              <a:rPr lang="en-US" altLang="zh-CN" dirty="0" smtClean="0">
                <a:solidFill>
                  <a:srgbClr val="000000"/>
                </a:solidFill>
                <a:latin typeface="Tahoma" panose="020B0604030504040204" pitchFamily="34" charset="0"/>
              </a:rPr>
              <a:t>1</a:t>
            </a:r>
            <a:r>
              <a:rPr lang="zh-CN" altLang="en-US" dirty="0" smtClean="0">
                <a:solidFill>
                  <a:srgbClr val="000000"/>
                </a:solidFill>
                <a:latin typeface="Tahoma" panose="020B0604030504040204" pitchFamily="34" charset="0"/>
              </a:rPr>
              <a:t>、只需按下按钮，即可调整照明以适应特定的视觉任务，理想情况下还可通过日光传感器、存在检测器或自动计时器进行补充。</a:t>
            </a:r>
            <a:endParaRPr lang="en-US" altLang="zh-CN" dirty="0" smtClean="0">
              <a:solidFill>
                <a:srgbClr val="000000"/>
              </a:solidFill>
              <a:latin typeface="Tahoma" panose="020B0604030504040204" pitchFamily="34" charset="0"/>
            </a:endParaRPr>
          </a:p>
          <a:p>
            <a:pPr>
              <a:lnSpc>
                <a:spcPct val="200000"/>
              </a:lnSpc>
            </a:pPr>
            <a:r>
              <a:rPr lang="en-US" altLang="zh-CN" dirty="0" smtClean="0">
                <a:solidFill>
                  <a:srgbClr val="000000"/>
                </a:solidFill>
                <a:latin typeface="Tahoma" panose="020B0604030504040204" pitchFamily="34" charset="0"/>
              </a:rPr>
              <a:t>2</a:t>
            </a:r>
            <a:r>
              <a:rPr lang="zh-CN" altLang="en-US" dirty="0" smtClean="0">
                <a:solidFill>
                  <a:srgbClr val="000000"/>
                </a:solidFill>
                <a:latin typeface="Tahoma" panose="020B0604030504040204" pitchFamily="34" charset="0"/>
              </a:rPr>
              <a:t>、用户界面的简单性很重要。只有在操作简单的情况下，才能使用各种不同的照明场景。</a:t>
            </a:r>
            <a:endParaRPr lang="zh-CN" altLang="en-US" dirty="0" smtClean="0"/>
          </a:p>
          <a:p>
            <a:pPr marL="0" marR="0" lvl="0" indent="0" algn="l" defTabSz="914400" rtl="0" eaLnBrk="1" fontAlgn="auto" latinLnBrk="0" hangingPunct="1">
              <a:lnSpc>
                <a:spcPct val="200000"/>
              </a:lnSpc>
              <a:spcBef>
                <a:spcPts val="0"/>
              </a:spcBef>
              <a:spcAft>
                <a:spcPts val="0"/>
              </a:spcAft>
              <a:buClrTx/>
              <a:buSzTx/>
              <a:buFontTx/>
              <a:buNone/>
              <a:defRPr/>
            </a:pPr>
            <a:r>
              <a:rPr lang="zh-CN" altLang="en-US" sz="1200" b="1" dirty="0" smtClean="0">
                <a:solidFill>
                  <a:srgbClr val="FF0000"/>
                </a:solidFill>
              </a:rPr>
              <a:t>四、评估照明质量：</a:t>
            </a:r>
            <a:r>
              <a:rPr lang="zh-CN" altLang="en-US" dirty="0" smtClean="0">
                <a:solidFill>
                  <a:srgbClr val="FF0000"/>
                </a:solidFill>
              </a:rPr>
              <a:t>照明质量从视觉表现、视觉舒适度以及对活力和灵活性的影响方面进行描述。</a:t>
            </a:r>
            <a:endParaRPr lang="en-US" altLang="zh-CN" dirty="0" smtClean="0"/>
          </a:p>
          <a:p>
            <a:pPr>
              <a:lnSpc>
                <a:spcPct val="200000"/>
              </a:lnSpc>
            </a:pPr>
            <a:r>
              <a:rPr lang="zh-CN" altLang="en-US" sz="1200" b="1" kern="1200" dirty="0" smtClean="0">
                <a:solidFill>
                  <a:srgbClr val="FF0000"/>
                </a:solidFill>
                <a:latin typeface="+mn-lt"/>
                <a:ea typeface="+mn-ea"/>
                <a:cs typeface="+mn-cs"/>
              </a:rPr>
              <a:t>五、牵引标准</a:t>
            </a:r>
            <a:r>
              <a:rPr lang="zh-CN" altLang="en-US" dirty="0" smtClean="0"/>
              <a:t>：提升照明质量（北京照明学会</a:t>
            </a:r>
            <a:r>
              <a:rPr lang="en-US" altLang="zh-CN" dirty="0" smtClean="0"/>
              <a:t>-</a:t>
            </a:r>
            <a:r>
              <a:rPr lang="zh-CN" altLang="en-US" dirty="0" smtClean="0"/>
              <a:t>康养、医疗设计规范、校企合作、参与适老光谱的标准）</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DA298476-84F8-40C3-A8A6-D0C010E1A05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天境</a:t>
            </a:r>
            <a:endParaRPr 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2FEDA2F-93D4-4A2A-BCBE-999C4792760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2FEDA2F-93D4-4A2A-BCBE-999C47927607}"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2FEDA2F-93D4-4A2A-BCBE-999C47927607}"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2FEDA2F-93D4-4A2A-BCBE-999C47927607}"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600" b="1" kern="1200" dirty="0" smtClean="0">
                <a:solidFill>
                  <a:srgbClr val="FF0000"/>
                </a:solidFill>
                <a:latin typeface="+mn-lt"/>
                <a:ea typeface="+mn-ea"/>
                <a:cs typeface="+mn-cs"/>
              </a:rPr>
              <a:t>一、总体逻辑</a:t>
            </a:r>
            <a:r>
              <a:rPr lang="zh-CN" altLang="en-US" sz="1600" dirty="0" smtClean="0"/>
              <a:t>：</a:t>
            </a:r>
            <a:r>
              <a:rPr lang="zh-CN" altLang="zh-CN" sz="1200" kern="1200" dirty="0" smtClean="0">
                <a:solidFill>
                  <a:schemeClr val="tx1"/>
                </a:solidFill>
                <a:latin typeface="+mn-lt"/>
                <a:ea typeface="+mn-ea"/>
                <a:cs typeface="+mn-cs"/>
              </a:rPr>
              <a:t>人文价值</a:t>
            </a:r>
            <a:r>
              <a:rPr lang="zh-CN" altLang="en-US" sz="1200" kern="1200" dirty="0" smtClean="0">
                <a:solidFill>
                  <a:schemeClr val="tx1"/>
                </a:solidFill>
                <a:latin typeface="+mn-lt"/>
                <a:ea typeface="+mn-ea"/>
                <a:cs typeface="+mn-cs"/>
              </a:rPr>
              <a:t>、</a:t>
            </a:r>
            <a:r>
              <a:rPr lang="zh-CN" altLang="zh-CN" sz="1200" kern="1200" dirty="0" smtClean="0">
                <a:solidFill>
                  <a:schemeClr val="tx1"/>
                </a:solidFill>
                <a:latin typeface="+mn-lt"/>
                <a:ea typeface="+mn-ea"/>
                <a:cs typeface="+mn-cs"/>
              </a:rPr>
              <a:t>医疗价值</a:t>
            </a:r>
            <a:r>
              <a:rPr lang="zh-CN" altLang="en-US" sz="1200" kern="1200" dirty="0" smtClean="0">
                <a:solidFill>
                  <a:schemeClr val="tx1"/>
                </a:solidFill>
                <a:latin typeface="+mn-lt"/>
                <a:ea typeface="+mn-ea"/>
                <a:cs typeface="+mn-cs"/>
              </a:rPr>
              <a:t>、</a:t>
            </a:r>
            <a:r>
              <a:rPr lang="zh-CN" altLang="zh-CN" sz="1200" kern="1200" dirty="0" smtClean="0">
                <a:solidFill>
                  <a:schemeClr val="tx1"/>
                </a:solidFill>
                <a:latin typeface="+mn-lt"/>
                <a:ea typeface="+mn-ea"/>
                <a:cs typeface="+mn-cs"/>
              </a:rPr>
              <a:t>经济价值</a:t>
            </a:r>
            <a:r>
              <a:rPr lang="zh-CN" altLang="en-US" sz="1200" kern="1200" dirty="0" smtClean="0">
                <a:solidFill>
                  <a:schemeClr val="tx1"/>
                </a:solidFill>
                <a:latin typeface="+mn-lt"/>
                <a:ea typeface="+mn-ea"/>
                <a:cs typeface="+mn-cs"/>
              </a:rPr>
              <a:t>；</a:t>
            </a:r>
            <a:endParaRPr lang="en-US" altLang="zh-CN" sz="1200" kern="1200" dirty="0" smtClean="0">
              <a:solidFill>
                <a:schemeClr val="tx1"/>
              </a:solidFill>
              <a:latin typeface="+mn-lt"/>
              <a:ea typeface="+mn-ea"/>
              <a:cs typeface="+mn-cs"/>
            </a:endParaRPr>
          </a:p>
          <a:p>
            <a:pPr>
              <a:lnSpc>
                <a:spcPct val="200000"/>
              </a:lnSpc>
            </a:pPr>
            <a:r>
              <a:rPr lang="zh-CN" altLang="en-US" sz="1600" b="1" dirty="0" smtClean="0"/>
              <a:t>二、对象</a:t>
            </a:r>
            <a:r>
              <a:rPr lang="zh-CN" altLang="en-US" dirty="0" smtClean="0"/>
              <a:t>：医护人员、患者</a:t>
            </a:r>
            <a:r>
              <a:rPr lang="en-US" altLang="zh-CN" dirty="0" smtClean="0"/>
              <a:t>/</a:t>
            </a:r>
            <a:r>
              <a:rPr lang="zh-CN" altLang="en-US" dirty="0" smtClean="0"/>
              <a:t>家属、运营管理者</a:t>
            </a:r>
            <a:endParaRPr lang="en-US" altLang="zh-CN" dirty="0" smtClean="0"/>
          </a:p>
          <a:p>
            <a:pPr>
              <a:lnSpc>
                <a:spcPct val="200000"/>
              </a:lnSpc>
            </a:pPr>
            <a:r>
              <a:rPr lang="zh-CN" altLang="en-US" sz="1600" b="1" kern="1200" dirty="0" smtClean="0">
                <a:solidFill>
                  <a:schemeClr val="tx1"/>
                </a:solidFill>
                <a:latin typeface="+mn-lt"/>
                <a:ea typeface="+mn-ea"/>
                <a:cs typeface="+mn-cs"/>
              </a:rPr>
              <a:t>三、“按需照明” </a:t>
            </a:r>
            <a:r>
              <a:rPr lang="zh-CN" altLang="en-US" dirty="0" smtClean="0"/>
              <a:t>：</a:t>
            </a:r>
            <a:r>
              <a:rPr lang="zh-CN" altLang="en-US" dirty="0" smtClean="0">
                <a:solidFill>
                  <a:srgbClr val="000000"/>
                </a:solidFill>
                <a:latin typeface="Tahoma" panose="020B0604030504040204" pitchFamily="34" charset="0"/>
              </a:rPr>
              <a:t>是现代照明解决方案的口号。</a:t>
            </a:r>
            <a:endParaRPr lang="en-US" altLang="zh-CN" dirty="0" smtClean="0">
              <a:solidFill>
                <a:srgbClr val="000000"/>
              </a:solidFill>
              <a:latin typeface="Tahoma" panose="020B0604030504040204" pitchFamily="34" charset="0"/>
            </a:endParaRPr>
          </a:p>
          <a:p>
            <a:pPr>
              <a:lnSpc>
                <a:spcPct val="200000"/>
              </a:lnSpc>
            </a:pPr>
            <a:r>
              <a:rPr lang="en-US" altLang="zh-CN" dirty="0" smtClean="0">
                <a:solidFill>
                  <a:srgbClr val="000000"/>
                </a:solidFill>
                <a:latin typeface="Tahoma" panose="020B0604030504040204" pitchFamily="34" charset="0"/>
              </a:rPr>
              <a:t>1</a:t>
            </a:r>
            <a:r>
              <a:rPr lang="zh-CN" altLang="en-US" dirty="0" smtClean="0">
                <a:solidFill>
                  <a:srgbClr val="000000"/>
                </a:solidFill>
                <a:latin typeface="Tahoma" panose="020B0604030504040204" pitchFamily="34" charset="0"/>
              </a:rPr>
              <a:t>、只需按下按钮，即可调整照明以适应特定的视觉任务，理想情况下还可通过日光传感器、存在检测器或自动计时器进行补充。</a:t>
            </a:r>
            <a:endParaRPr lang="en-US" altLang="zh-CN" dirty="0" smtClean="0">
              <a:solidFill>
                <a:srgbClr val="000000"/>
              </a:solidFill>
              <a:latin typeface="Tahoma" panose="020B0604030504040204" pitchFamily="34" charset="0"/>
            </a:endParaRPr>
          </a:p>
          <a:p>
            <a:pPr>
              <a:lnSpc>
                <a:spcPct val="200000"/>
              </a:lnSpc>
            </a:pPr>
            <a:r>
              <a:rPr lang="en-US" altLang="zh-CN" dirty="0" smtClean="0">
                <a:solidFill>
                  <a:srgbClr val="000000"/>
                </a:solidFill>
                <a:latin typeface="Tahoma" panose="020B0604030504040204" pitchFamily="34" charset="0"/>
              </a:rPr>
              <a:t>2</a:t>
            </a:r>
            <a:r>
              <a:rPr lang="zh-CN" altLang="en-US" dirty="0" smtClean="0">
                <a:solidFill>
                  <a:srgbClr val="000000"/>
                </a:solidFill>
                <a:latin typeface="Tahoma" panose="020B0604030504040204" pitchFamily="34" charset="0"/>
              </a:rPr>
              <a:t>、用户界面的简单性很重要。只有在操作简单的情况下，才能使用各种不同的照明场景。</a:t>
            </a:r>
            <a:endParaRPr lang="zh-CN" altLang="en-US" dirty="0" smtClean="0"/>
          </a:p>
          <a:p>
            <a:pPr marL="0" marR="0" lvl="0" indent="0" algn="l" defTabSz="914400" rtl="0" eaLnBrk="1" fontAlgn="auto" latinLnBrk="0" hangingPunct="1">
              <a:lnSpc>
                <a:spcPct val="200000"/>
              </a:lnSpc>
              <a:spcBef>
                <a:spcPts val="0"/>
              </a:spcBef>
              <a:spcAft>
                <a:spcPts val="0"/>
              </a:spcAft>
              <a:buClrTx/>
              <a:buSzTx/>
              <a:buFontTx/>
              <a:buNone/>
              <a:defRPr/>
            </a:pPr>
            <a:r>
              <a:rPr lang="zh-CN" altLang="en-US" sz="1200" b="1" dirty="0" smtClean="0">
                <a:solidFill>
                  <a:srgbClr val="FF0000"/>
                </a:solidFill>
              </a:rPr>
              <a:t>四、评估照明质量：</a:t>
            </a:r>
            <a:r>
              <a:rPr lang="zh-CN" altLang="en-US" dirty="0" smtClean="0">
                <a:solidFill>
                  <a:srgbClr val="FF0000"/>
                </a:solidFill>
              </a:rPr>
              <a:t>照明质量从视觉表现、视觉舒适度以及对活力和灵活性的影响方面进行描述。</a:t>
            </a:r>
            <a:endParaRPr lang="en-US" altLang="zh-CN" dirty="0" smtClean="0"/>
          </a:p>
          <a:p>
            <a:pPr>
              <a:lnSpc>
                <a:spcPct val="200000"/>
              </a:lnSpc>
            </a:pPr>
            <a:r>
              <a:rPr lang="zh-CN" altLang="en-US" sz="1200" b="1" kern="1200" dirty="0" smtClean="0">
                <a:solidFill>
                  <a:srgbClr val="FF0000"/>
                </a:solidFill>
                <a:latin typeface="+mn-lt"/>
                <a:ea typeface="+mn-ea"/>
                <a:cs typeface="+mn-cs"/>
              </a:rPr>
              <a:t>五、牵引标准</a:t>
            </a:r>
            <a:r>
              <a:rPr lang="zh-CN" altLang="en-US" dirty="0" smtClean="0"/>
              <a:t>：提升照明质量（北京照明学会</a:t>
            </a:r>
            <a:r>
              <a:rPr lang="en-US" altLang="zh-CN" dirty="0" smtClean="0"/>
              <a:t>-</a:t>
            </a:r>
            <a:r>
              <a:rPr lang="zh-CN" altLang="en-US" dirty="0" smtClean="0"/>
              <a:t>康养、医疗设计规范、校企合作、参与适老光谱的标准）</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DA298476-84F8-40C3-A8A6-D0C010E1A057}"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600" b="1" kern="1200" dirty="0" smtClean="0">
                <a:solidFill>
                  <a:srgbClr val="FF0000"/>
                </a:solidFill>
                <a:latin typeface="+mn-lt"/>
                <a:ea typeface="+mn-ea"/>
                <a:cs typeface="+mn-cs"/>
              </a:rPr>
              <a:t>一、总体逻辑</a:t>
            </a:r>
            <a:r>
              <a:rPr lang="zh-CN" altLang="en-US" sz="1600" dirty="0" smtClean="0"/>
              <a:t>：</a:t>
            </a:r>
            <a:r>
              <a:rPr lang="zh-CN" altLang="zh-CN" sz="1200" kern="1200" dirty="0" smtClean="0">
                <a:solidFill>
                  <a:schemeClr val="tx1"/>
                </a:solidFill>
                <a:latin typeface="+mn-lt"/>
                <a:ea typeface="+mn-ea"/>
                <a:cs typeface="+mn-cs"/>
              </a:rPr>
              <a:t>人文价值</a:t>
            </a:r>
            <a:r>
              <a:rPr lang="zh-CN" altLang="en-US" sz="1200" kern="1200" dirty="0" smtClean="0">
                <a:solidFill>
                  <a:schemeClr val="tx1"/>
                </a:solidFill>
                <a:latin typeface="+mn-lt"/>
                <a:ea typeface="+mn-ea"/>
                <a:cs typeface="+mn-cs"/>
              </a:rPr>
              <a:t>、</a:t>
            </a:r>
            <a:r>
              <a:rPr lang="zh-CN" altLang="zh-CN" sz="1200" kern="1200" dirty="0" smtClean="0">
                <a:solidFill>
                  <a:schemeClr val="tx1"/>
                </a:solidFill>
                <a:latin typeface="+mn-lt"/>
                <a:ea typeface="+mn-ea"/>
                <a:cs typeface="+mn-cs"/>
              </a:rPr>
              <a:t>医疗价值</a:t>
            </a:r>
            <a:r>
              <a:rPr lang="zh-CN" altLang="en-US" sz="1200" kern="1200" dirty="0" smtClean="0">
                <a:solidFill>
                  <a:schemeClr val="tx1"/>
                </a:solidFill>
                <a:latin typeface="+mn-lt"/>
                <a:ea typeface="+mn-ea"/>
                <a:cs typeface="+mn-cs"/>
              </a:rPr>
              <a:t>、</a:t>
            </a:r>
            <a:r>
              <a:rPr lang="zh-CN" altLang="zh-CN" sz="1200" kern="1200" dirty="0" smtClean="0">
                <a:solidFill>
                  <a:schemeClr val="tx1"/>
                </a:solidFill>
                <a:latin typeface="+mn-lt"/>
                <a:ea typeface="+mn-ea"/>
                <a:cs typeface="+mn-cs"/>
              </a:rPr>
              <a:t>经济价值</a:t>
            </a:r>
            <a:r>
              <a:rPr lang="zh-CN" altLang="en-US" sz="1200" kern="1200" dirty="0" smtClean="0">
                <a:solidFill>
                  <a:schemeClr val="tx1"/>
                </a:solidFill>
                <a:latin typeface="+mn-lt"/>
                <a:ea typeface="+mn-ea"/>
                <a:cs typeface="+mn-cs"/>
              </a:rPr>
              <a:t>；</a:t>
            </a:r>
            <a:endParaRPr lang="en-US" altLang="zh-CN" sz="1200" kern="1200" dirty="0" smtClean="0">
              <a:solidFill>
                <a:schemeClr val="tx1"/>
              </a:solidFill>
              <a:latin typeface="+mn-lt"/>
              <a:ea typeface="+mn-ea"/>
              <a:cs typeface="+mn-cs"/>
            </a:endParaRPr>
          </a:p>
          <a:p>
            <a:pPr>
              <a:lnSpc>
                <a:spcPct val="200000"/>
              </a:lnSpc>
            </a:pPr>
            <a:r>
              <a:rPr lang="zh-CN" altLang="en-US" sz="1600" b="1" dirty="0" smtClean="0"/>
              <a:t>二、对象</a:t>
            </a:r>
            <a:r>
              <a:rPr lang="zh-CN" altLang="en-US" dirty="0" smtClean="0"/>
              <a:t>：医护人员、患者</a:t>
            </a:r>
            <a:r>
              <a:rPr lang="en-US" altLang="zh-CN" dirty="0" smtClean="0"/>
              <a:t>/</a:t>
            </a:r>
            <a:r>
              <a:rPr lang="zh-CN" altLang="en-US" dirty="0" smtClean="0"/>
              <a:t>家属、运营管理者</a:t>
            </a:r>
            <a:endParaRPr lang="en-US" altLang="zh-CN" dirty="0" smtClean="0"/>
          </a:p>
          <a:p>
            <a:pPr>
              <a:lnSpc>
                <a:spcPct val="200000"/>
              </a:lnSpc>
            </a:pPr>
            <a:r>
              <a:rPr lang="zh-CN" altLang="en-US" sz="1600" b="1" kern="1200" dirty="0" smtClean="0">
                <a:solidFill>
                  <a:schemeClr val="tx1"/>
                </a:solidFill>
                <a:latin typeface="+mn-lt"/>
                <a:ea typeface="+mn-ea"/>
                <a:cs typeface="+mn-cs"/>
              </a:rPr>
              <a:t>三、“按需照明” </a:t>
            </a:r>
            <a:r>
              <a:rPr lang="zh-CN" altLang="en-US" dirty="0" smtClean="0"/>
              <a:t>：</a:t>
            </a:r>
            <a:r>
              <a:rPr lang="zh-CN" altLang="en-US" dirty="0" smtClean="0">
                <a:solidFill>
                  <a:srgbClr val="000000"/>
                </a:solidFill>
                <a:latin typeface="Tahoma" panose="020B0604030504040204" pitchFamily="34" charset="0"/>
              </a:rPr>
              <a:t>是现代照明解决方案的口号。</a:t>
            </a:r>
            <a:endParaRPr lang="en-US" altLang="zh-CN" dirty="0" smtClean="0">
              <a:solidFill>
                <a:srgbClr val="000000"/>
              </a:solidFill>
              <a:latin typeface="Tahoma" panose="020B0604030504040204" pitchFamily="34" charset="0"/>
            </a:endParaRPr>
          </a:p>
          <a:p>
            <a:pPr>
              <a:lnSpc>
                <a:spcPct val="200000"/>
              </a:lnSpc>
            </a:pPr>
            <a:r>
              <a:rPr lang="en-US" altLang="zh-CN" dirty="0" smtClean="0">
                <a:solidFill>
                  <a:srgbClr val="000000"/>
                </a:solidFill>
                <a:latin typeface="Tahoma" panose="020B0604030504040204" pitchFamily="34" charset="0"/>
              </a:rPr>
              <a:t>1</a:t>
            </a:r>
            <a:r>
              <a:rPr lang="zh-CN" altLang="en-US" dirty="0" smtClean="0">
                <a:solidFill>
                  <a:srgbClr val="000000"/>
                </a:solidFill>
                <a:latin typeface="Tahoma" panose="020B0604030504040204" pitchFamily="34" charset="0"/>
              </a:rPr>
              <a:t>、只需按下按钮，即可调整照明以适应特定的视觉任务，理想情况下还可通过日光传感器、存在检测器或自动计时器进行补充。</a:t>
            </a:r>
            <a:endParaRPr lang="en-US" altLang="zh-CN" dirty="0" smtClean="0">
              <a:solidFill>
                <a:srgbClr val="000000"/>
              </a:solidFill>
              <a:latin typeface="Tahoma" panose="020B0604030504040204" pitchFamily="34" charset="0"/>
            </a:endParaRPr>
          </a:p>
          <a:p>
            <a:pPr>
              <a:lnSpc>
                <a:spcPct val="200000"/>
              </a:lnSpc>
            </a:pPr>
            <a:r>
              <a:rPr lang="en-US" altLang="zh-CN" dirty="0" smtClean="0">
                <a:solidFill>
                  <a:srgbClr val="000000"/>
                </a:solidFill>
                <a:latin typeface="Tahoma" panose="020B0604030504040204" pitchFamily="34" charset="0"/>
              </a:rPr>
              <a:t>2</a:t>
            </a:r>
            <a:r>
              <a:rPr lang="zh-CN" altLang="en-US" dirty="0" smtClean="0">
                <a:solidFill>
                  <a:srgbClr val="000000"/>
                </a:solidFill>
                <a:latin typeface="Tahoma" panose="020B0604030504040204" pitchFamily="34" charset="0"/>
              </a:rPr>
              <a:t>、用户界面的简单性很重要。只有在操作简单的情况下，才能使用各种不同的照明场景。</a:t>
            </a:r>
            <a:endParaRPr lang="zh-CN" altLang="en-US" dirty="0" smtClean="0"/>
          </a:p>
          <a:p>
            <a:pPr marL="0" marR="0" lvl="0" indent="0" algn="l" defTabSz="914400" rtl="0" eaLnBrk="1" fontAlgn="auto" latinLnBrk="0" hangingPunct="1">
              <a:lnSpc>
                <a:spcPct val="200000"/>
              </a:lnSpc>
              <a:spcBef>
                <a:spcPts val="0"/>
              </a:spcBef>
              <a:spcAft>
                <a:spcPts val="0"/>
              </a:spcAft>
              <a:buClrTx/>
              <a:buSzTx/>
              <a:buFontTx/>
              <a:buNone/>
              <a:defRPr/>
            </a:pPr>
            <a:r>
              <a:rPr lang="zh-CN" altLang="en-US" sz="1200" b="1" dirty="0" smtClean="0">
                <a:solidFill>
                  <a:srgbClr val="FF0000"/>
                </a:solidFill>
              </a:rPr>
              <a:t>四、评估照明质量：</a:t>
            </a:r>
            <a:r>
              <a:rPr lang="zh-CN" altLang="en-US" dirty="0" smtClean="0">
                <a:solidFill>
                  <a:srgbClr val="FF0000"/>
                </a:solidFill>
              </a:rPr>
              <a:t>照明质量从视觉表现、视觉舒适度以及对活力和灵活性的影响方面进行描述。</a:t>
            </a:r>
            <a:endParaRPr lang="en-US" altLang="zh-CN" dirty="0" smtClean="0"/>
          </a:p>
          <a:p>
            <a:pPr>
              <a:lnSpc>
                <a:spcPct val="200000"/>
              </a:lnSpc>
            </a:pPr>
            <a:r>
              <a:rPr lang="zh-CN" altLang="en-US" sz="1200" b="1" kern="1200" dirty="0" smtClean="0">
                <a:solidFill>
                  <a:srgbClr val="FF0000"/>
                </a:solidFill>
                <a:latin typeface="+mn-lt"/>
                <a:ea typeface="+mn-ea"/>
                <a:cs typeface="+mn-cs"/>
              </a:rPr>
              <a:t>五、牵引标准</a:t>
            </a:r>
            <a:r>
              <a:rPr lang="zh-CN" altLang="en-US" dirty="0" smtClean="0"/>
              <a:t>：提升照明质量（北京照明学会</a:t>
            </a:r>
            <a:r>
              <a:rPr lang="en-US" altLang="zh-CN" dirty="0" smtClean="0"/>
              <a:t>-</a:t>
            </a:r>
            <a:r>
              <a:rPr lang="zh-CN" altLang="en-US" dirty="0" smtClean="0"/>
              <a:t>康养、医疗设计规范、校企合作、参与适老光谱的标准）</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DA298476-84F8-40C3-A8A6-D0C010E1A057}"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2FEDA2F-93D4-4A2A-BCBE-999C4792760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6ABB2EF0-5EA7-480E-92C5-D2397492E2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B13EF5D-99F5-4266-B6A2-326B50C44512}"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ABB2EF0-5EA7-480E-92C5-D2397492E2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B13EF5D-99F5-4266-B6A2-326B50C4451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6ABB2EF0-5EA7-480E-92C5-D2397492E2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B13EF5D-99F5-4266-B6A2-326B50C44512}" type="slidenum">
              <a:rPr lang="zh-CN" altLang="en-US" smtClean="0"/>
            </a:fld>
            <a:endParaRPr lang="zh-CN" altLang="en-US"/>
          </a:p>
        </p:txBody>
      </p:sp>
      <p:sp>
        <p:nvSpPr>
          <p:cNvPr id="7" name="矩形 6"/>
          <p:cNvSpPr/>
          <p:nvPr userDrawn="1"/>
        </p:nvSpPr>
        <p:spPr>
          <a:xfrm>
            <a:off x="230037" y="193345"/>
            <a:ext cx="11731925" cy="6471309"/>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6ABB2EF0-5EA7-480E-92C5-D2397492E2F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B13EF5D-99F5-4266-B6A2-326B50C4451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6ABB2EF0-5EA7-480E-92C5-D2397492E2F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B13EF5D-99F5-4266-B6A2-326B50C44512}" type="slidenum">
              <a:rPr lang="zh-CN" altLang="en-US" smtClean="0"/>
            </a:fld>
            <a:endParaRPr lang="zh-CN" altLang="en-US"/>
          </a:p>
        </p:txBody>
      </p:sp>
      <p:sp>
        <p:nvSpPr>
          <p:cNvPr id="10" name="矩形 9"/>
          <p:cNvSpPr/>
          <p:nvPr userDrawn="1"/>
        </p:nvSpPr>
        <p:spPr>
          <a:xfrm>
            <a:off x="230037" y="193345"/>
            <a:ext cx="11731925" cy="6471309"/>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ABB2EF0-5EA7-480E-92C5-D2397492E2F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B13EF5D-99F5-4266-B6A2-326B50C4451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6ABB2EF0-5EA7-480E-92C5-D2397492E2F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B13EF5D-99F5-4266-B6A2-326B50C4451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6ABB2EF0-5EA7-480E-92C5-D2397492E2F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B13EF5D-99F5-4266-B6A2-326B50C4451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ABB2EF0-5EA7-480E-92C5-D2397492E2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B13EF5D-99F5-4266-B6A2-326B50C4451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ABB2EF0-5EA7-480E-92C5-D2397492E2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B13EF5D-99F5-4266-B6A2-326B50C44512}"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自定义版式">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矩形 1"/>
          <p:cNvSpPr/>
          <p:nvPr userDrawn="1"/>
        </p:nvSpPr>
        <p:spPr>
          <a:xfrm>
            <a:off x="230037" y="193345"/>
            <a:ext cx="11731925" cy="6471309"/>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088EC8A-FF30-4FF2-B1FE-EE82A6BDDB13}" type="datetimeFigureOut">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引用图图片版权来源自网络，仅供内部使用</a:t>
            </a:r>
            <a:endParaRPr lang="zh-CN" altLang="en-US"/>
          </a:p>
        </p:txBody>
      </p:sp>
      <p:sp>
        <p:nvSpPr>
          <p:cNvPr id="6" name="灯片编号占位符 5"/>
          <p:cNvSpPr>
            <a:spLocks noGrp="1"/>
          </p:cNvSpPr>
          <p:nvPr>
            <p:ph type="sldNum" sz="quarter" idx="12"/>
          </p:nvPr>
        </p:nvSpPr>
        <p:spPr/>
        <p:txBody>
          <a:bodyPr/>
          <a:lstStyle/>
          <a:p>
            <a:fld id="{50CDB284-9A72-41E1-86B5-2546A5569B2B}" type="slidenum">
              <a:rPr lang="zh-CN" altLang="en-US" smtClean="0"/>
            </a:fld>
            <a:endParaRPr lang="zh-CN" altLang="en-US"/>
          </a:p>
        </p:txBody>
      </p:sp>
    </p:spTree>
  </p:cSld>
  <p:clrMapOvr>
    <a:masterClrMapping/>
  </p:clrMapOvr>
  <p:hf sldNum="0" hdr="0" dt="0"/>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BB2EF0-5EA7-480E-92C5-D2397492E2F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13EF5D-99F5-4266-B6A2-326B50C4451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14.xml"/><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5.xml"/><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image" Target="../media/image9.jpeg"/></Relationships>
</file>

<file path=ppt/slides/_rels/slide4.xml.rels><?xml version="1.0" encoding="UTF-8" standalone="yes"?>
<Relationships xmlns="http://schemas.openxmlformats.org/package/2006/relationships"><Relationship Id="rId9" Type="http://schemas.openxmlformats.org/officeDocument/2006/relationships/image" Target="../media/image8.svg"/><Relationship Id="rId8" Type="http://schemas.openxmlformats.org/officeDocument/2006/relationships/image" Target="../media/image7.png"/><Relationship Id="rId7" Type="http://schemas.openxmlformats.org/officeDocument/2006/relationships/image" Target="../media/image16.svg"/><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 Id="rId3" Type="http://schemas.openxmlformats.org/officeDocument/2006/relationships/image" Target="../media/image12.svg"/><Relationship Id="rId2" Type="http://schemas.openxmlformats.org/officeDocument/2006/relationships/image" Target="../media/image11.png"/><Relationship Id="rId11" Type="http://schemas.openxmlformats.org/officeDocument/2006/relationships/notesSlide" Target="../notesSlides/notesSlide4.xml"/><Relationship Id="rId10" Type="http://schemas.openxmlformats.org/officeDocument/2006/relationships/slideLayout" Target="../slideLayouts/slideLayout15.xml"/><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14.xml"/><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4.png"/><Relationship Id="rId2" Type="http://schemas.microsoft.com/office/2007/relationships/hdphoto" Target="../media/image23.wdp"/><Relationship Id="rId1"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2.png"/><Relationship Id="rId7" Type="http://schemas.openxmlformats.org/officeDocument/2006/relationships/image" Target="../media/image31.png"/><Relationship Id="rId6" Type="http://schemas.openxmlformats.org/officeDocument/2006/relationships/image" Target="../media/image30.png"/><Relationship Id="rId5" Type="http://schemas.openxmlformats.org/officeDocument/2006/relationships/image" Target="../media/image29.jpeg"/><Relationship Id="rId4" Type="http://schemas.openxmlformats.org/officeDocument/2006/relationships/image" Target="../media/image28.jpeg"/><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image" Target="../media/image25.jpe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12.xml"/><Relationship Id="rId7" Type="http://schemas.openxmlformats.org/officeDocument/2006/relationships/image" Target="../media/image36.png"/><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tags" Target="../tags/tag1.xml"/><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image" Target="../media/image33.jpe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5.xml"/><Relationship Id="rId8" Type="http://schemas.openxmlformats.org/officeDocument/2006/relationships/image" Target="../media/image40.png"/><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image" Target="../media/image39.png"/><Relationship Id="rId3" Type="http://schemas.openxmlformats.org/officeDocument/2006/relationships/tags" Target="../tags/tag4.xml"/><Relationship Id="rId2" Type="http://schemas.openxmlformats.org/officeDocument/2006/relationships/image" Target="../media/image38.png"/><Relationship Id="rId10" Type="http://schemas.openxmlformats.org/officeDocument/2006/relationships/notesSlide" Target="../notesSlides/notesSlide6.xml"/><Relationship Id="rId1" Type="http://schemas.openxmlformats.org/officeDocument/2006/relationships/image" Target="../media/image37.png"/></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16.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jpeg"/></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15.xml"/><Relationship Id="rId8" Type="http://schemas.openxmlformats.org/officeDocument/2006/relationships/image" Target="../media/image54.png"/><Relationship Id="rId7" Type="http://schemas.openxmlformats.org/officeDocument/2006/relationships/image" Target="../media/image53.png"/><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13.xml.rels><?xml version="1.0" encoding="UTF-8" standalone="yes"?>
<Relationships xmlns="http://schemas.openxmlformats.org/package/2006/relationships"><Relationship Id="rId9" Type="http://schemas.openxmlformats.org/officeDocument/2006/relationships/image" Target="../media/image39.png"/><Relationship Id="rId8" Type="http://schemas.microsoft.com/office/2007/relationships/hdphoto" Target="../media/image62.wdp"/><Relationship Id="rId7" Type="http://schemas.openxmlformats.org/officeDocument/2006/relationships/image" Target="../media/image61.png"/><Relationship Id="rId6" Type="http://schemas.openxmlformats.org/officeDocument/2006/relationships/image" Target="../media/image60.png"/><Relationship Id="rId5" Type="http://schemas.openxmlformats.org/officeDocument/2006/relationships/image" Target="../media/image59.jpeg"/><Relationship Id="rId4" Type="http://schemas.openxmlformats.org/officeDocument/2006/relationships/image" Target="../media/image58.jpeg"/><Relationship Id="rId3" Type="http://schemas.openxmlformats.org/officeDocument/2006/relationships/image" Target="../media/image57.jpeg"/><Relationship Id="rId2" Type="http://schemas.openxmlformats.org/officeDocument/2006/relationships/image" Target="../media/image56.jpeg"/><Relationship Id="rId11" Type="http://schemas.openxmlformats.org/officeDocument/2006/relationships/notesSlide" Target="../notesSlides/notesSlide7.xml"/><Relationship Id="rId10" Type="http://schemas.openxmlformats.org/officeDocument/2006/relationships/slideLayout" Target="../slideLayouts/slideLayout2.xml"/><Relationship Id="rId1" Type="http://schemas.openxmlformats.org/officeDocument/2006/relationships/image" Target="../media/image55.jpeg"/></Relationships>
</file>

<file path=ppt/slides/_rels/slide14.xml.rels><?xml version="1.0" encoding="UTF-8" standalone="yes"?>
<Relationships xmlns="http://schemas.openxmlformats.org/package/2006/relationships"><Relationship Id="rId9" Type="http://schemas.openxmlformats.org/officeDocument/2006/relationships/image" Target="../media/image66.png"/><Relationship Id="rId8" Type="http://schemas.openxmlformats.org/officeDocument/2006/relationships/image" Target="../media/image65.png"/><Relationship Id="rId7" Type="http://schemas.openxmlformats.org/officeDocument/2006/relationships/image" Target="../media/image64.png"/><Relationship Id="rId6" Type="http://schemas.openxmlformats.org/officeDocument/2006/relationships/image" Target="../media/image63.png"/><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5" Type="http://schemas.openxmlformats.org/officeDocument/2006/relationships/notesSlide" Target="../notesSlides/notesSlide8.xml"/><Relationship Id="rId14" Type="http://schemas.openxmlformats.org/officeDocument/2006/relationships/slideLayout" Target="../slideLayouts/slideLayout1.xml"/><Relationship Id="rId13" Type="http://schemas.openxmlformats.org/officeDocument/2006/relationships/image" Target="../media/image69.png"/><Relationship Id="rId12" Type="http://schemas.openxmlformats.org/officeDocument/2006/relationships/image" Target="../media/image68.jpeg"/><Relationship Id="rId11" Type="http://schemas.openxmlformats.org/officeDocument/2006/relationships/tags" Target="../tags/tag13.xml"/><Relationship Id="rId10" Type="http://schemas.openxmlformats.org/officeDocument/2006/relationships/image" Target="../media/image67.jpeg"/><Relationship Id="rId1" Type="http://schemas.openxmlformats.org/officeDocument/2006/relationships/tags" Target="../tags/tag8.xml"/></Relationships>
</file>

<file path=ppt/slides/_rels/slide15.xml.rels><?xml version="1.0" encoding="UTF-8" standalone="yes"?>
<Relationships xmlns="http://schemas.openxmlformats.org/package/2006/relationships"><Relationship Id="rId9" Type="http://schemas.openxmlformats.org/officeDocument/2006/relationships/image" Target="../media/image73.png"/><Relationship Id="rId8" Type="http://schemas.openxmlformats.org/officeDocument/2006/relationships/image" Target="../media/image72.png"/><Relationship Id="rId7" Type="http://schemas.openxmlformats.org/officeDocument/2006/relationships/image" Target="../media/image71.png"/><Relationship Id="rId6" Type="http://schemas.openxmlformats.org/officeDocument/2006/relationships/image" Target="../media/image70.png"/><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2" Type="http://schemas.openxmlformats.org/officeDocument/2006/relationships/slideLayout" Target="../slideLayouts/slideLayout1.xml"/><Relationship Id="rId11" Type="http://schemas.microsoft.com/office/2007/relationships/hdphoto" Target="../media/image75.wdp"/><Relationship Id="rId10" Type="http://schemas.openxmlformats.org/officeDocument/2006/relationships/image" Target="../media/image74.png"/><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9" Type="http://schemas.openxmlformats.org/officeDocument/2006/relationships/image" Target="../media/image84.png"/><Relationship Id="rId8" Type="http://schemas.openxmlformats.org/officeDocument/2006/relationships/image" Target="../media/image83.svg"/><Relationship Id="rId7" Type="http://schemas.openxmlformats.org/officeDocument/2006/relationships/image" Target="../media/image82.png"/><Relationship Id="rId6" Type="http://schemas.microsoft.com/office/2007/relationships/hdphoto" Target="../media/image81.wdp"/><Relationship Id="rId5" Type="http://schemas.openxmlformats.org/officeDocument/2006/relationships/image" Target="../media/image80.png"/><Relationship Id="rId4" Type="http://schemas.microsoft.com/office/2007/relationships/hdphoto" Target="../media/image79.wdp"/><Relationship Id="rId3" Type="http://schemas.openxmlformats.org/officeDocument/2006/relationships/image" Target="../media/image78.png"/><Relationship Id="rId2" Type="http://schemas.microsoft.com/office/2007/relationships/hdphoto" Target="../media/image77.wdp"/><Relationship Id="rId17" Type="http://schemas.openxmlformats.org/officeDocument/2006/relationships/slideLayout" Target="../slideLayouts/slideLayout1.xml"/><Relationship Id="rId16" Type="http://schemas.openxmlformats.org/officeDocument/2006/relationships/tags" Target="../tags/tag23.xml"/><Relationship Id="rId15" Type="http://schemas.openxmlformats.org/officeDocument/2006/relationships/tags" Target="../tags/tag22.xml"/><Relationship Id="rId14" Type="http://schemas.openxmlformats.org/officeDocument/2006/relationships/tags" Target="../tags/tag21.xml"/><Relationship Id="rId13" Type="http://schemas.openxmlformats.org/officeDocument/2006/relationships/tags" Target="../tags/tag20.xml"/><Relationship Id="rId12" Type="http://schemas.openxmlformats.org/officeDocument/2006/relationships/tags" Target="../tags/tag19.xml"/><Relationship Id="rId11" Type="http://schemas.openxmlformats.org/officeDocument/2006/relationships/image" Target="../media/image86.png"/><Relationship Id="rId10" Type="http://schemas.openxmlformats.org/officeDocument/2006/relationships/image" Target="../media/image85.png"/><Relationship Id="rId1" Type="http://schemas.openxmlformats.org/officeDocument/2006/relationships/image" Target="../media/image76.png"/></Relationships>
</file>

<file path=ppt/slides/_rels/slide17.xml.rels><?xml version="1.0" encoding="UTF-8" standalone="yes"?>
<Relationships xmlns="http://schemas.openxmlformats.org/package/2006/relationships"><Relationship Id="rId9" Type="http://schemas.microsoft.com/office/2007/relationships/hdphoto" Target="../media/image95.wdp"/><Relationship Id="rId8" Type="http://schemas.openxmlformats.org/officeDocument/2006/relationships/image" Target="../media/image94.png"/><Relationship Id="rId7" Type="http://schemas.openxmlformats.org/officeDocument/2006/relationships/image" Target="../media/image93.png"/><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 Id="rId3" Type="http://schemas.openxmlformats.org/officeDocument/2006/relationships/image" Target="../media/image89.png"/><Relationship Id="rId2" Type="http://schemas.openxmlformats.org/officeDocument/2006/relationships/image" Target="../media/image88.png"/><Relationship Id="rId10" Type="http://schemas.openxmlformats.org/officeDocument/2006/relationships/slideLayout" Target="../slideLayouts/slideLayout7.xml"/><Relationship Id="rId1" Type="http://schemas.openxmlformats.org/officeDocument/2006/relationships/image" Target="../media/image87.png"/></Relationships>
</file>

<file path=ppt/slides/_rels/slide18.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7.xml"/><Relationship Id="rId7" Type="http://schemas.openxmlformats.org/officeDocument/2006/relationships/image" Target="../media/image102.png"/><Relationship Id="rId6" Type="http://schemas.openxmlformats.org/officeDocument/2006/relationships/image" Target="../media/image101.png"/><Relationship Id="rId5" Type="http://schemas.microsoft.com/office/2007/relationships/hdphoto" Target="../media/image100.wdp"/><Relationship Id="rId4" Type="http://schemas.openxmlformats.org/officeDocument/2006/relationships/image" Target="../media/image99.png"/><Relationship Id="rId3" Type="http://schemas.openxmlformats.org/officeDocument/2006/relationships/image" Target="../media/image98.jpeg"/><Relationship Id="rId2" Type="http://schemas.openxmlformats.org/officeDocument/2006/relationships/image" Target="../media/image97.png"/><Relationship Id="rId1" Type="http://schemas.openxmlformats.org/officeDocument/2006/relationships/image" Target="../media/image96.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image" Target="../media/image106.png"/><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image" Target="../media/image103.pn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7.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 Id="rId3" Type="http://schemas.openxmlformats.org/officeDocument/2006/relationships/image" Target="../media/image107.png"/><Relationship Id="rId2" Type="http://schemas.microsoft.com/office/2007/relationships/hdphoto" Target="../media/image62.wdp"/><Relationship Id="rId1" Type="http://schemas.openxmlformats.org/officeDocument/2006/relationships/image" Target="../media/image61.png"/></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17.png"/><Relationship Id="rId6" Type="http://schemas.openxmlformats.org/officeDocument/2006/relationships/image" Target="../media/image116.png"/><Relationship Id="rId5" Type="http://schemas.openxmlformats.org/officeDocument/2006/relationships/image" Target="../media/image115.jpeg"/><Relationship Id="rId4" Type="http://schemas.openxmlformats.org/officeDocument/2006/relationships/image" Target="../media/image114.jpeg"/><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image" Target="../media/image111.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image" Target="../media/image120.png"/><Relationship Id="rId3" Type="http://schemas.openxmlformats.org/officeDocument/2006/relationships/tags" Target="../tags/tag24.xml"/><Relationship Id="rId2" Type="http://schemas.openxmlformats.org/officeDocument/2006/relationships/image" Target="../media/image119.jpeg"/><Relationship Id="rId1" Type="http://schemas.openxmlformats.org/officeDocument/2006/relationships/image" Target="../media/image118.jpeg"/></Relationships>
</file>

<file path=ppt/slides/_rels/slide23.xml.rels><?xml version="1.0" encoding="UTF-8" standalone="yes"?>
<Relationships xmlns="http://schemas.openxmlformats.org/package/2006/relationships"><Relationship Id="rId9" Type="http://schemas.openxmlformats.org/officeDocument/2006/relationships/image" Target="../media/image129.png"/><Relationship Id="rId8" Type="http://schemas.openxmlformats.org/officeDocument/2006/relationships/image" Target="../media/image128.png"/><Relationship Id="rId7" Type="http://schemas.openxmlformats.org/officeDocument/2006/relationships/image" Target="../media/image127.png"/><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 Id="rId3" Type="http://schemas.openxmlformats.org/officeDocument/2006/relationships/image" Target="../media/image123.png"/><Relationship Id="rId2" Type="http://schemas.openxmlformats.org/officeDocument/2006/relationships/image" Target="../media/image122.png"/><Relationship Id="rId13" Type="http://schemas.openxmlformats.org/officeDocument/2006/relationships/notesSlide" Target="../notesSlides/notesSlide13.xml"/><Relationship Id="rId12" Type="http://schemas.openxmlformats.org/officeDocument/2006/relationships/slideLayout" Target="../slideLayouts/slideLayout15.xml"/><Relationship Id="rId11" Type="http://schemas.openxmlformats.org/officeDocument/2006/relationships/image" Target="../media/image131.png"/><Relationship Id="rId10" Type="http://schemas.openxmlformats.org/officeDocument/2006/relationships/image" Target="../media/image130.png"/><Relationship Id="rId1" Type="http://schemas.openxmlformats.org/officeDocument/2006/relationships/image" Target="../media/image121.png"/></Relationships>
</file>

<file path=ppt/slides/_rels/slide24.xml.rels><?xml version="1.0" encoding="UTF-8" standalone="yes"?>
<Relationships xmlns="http://schemas.openxmlformats.org/package/2006/relationships"><Relationship Id="rId9" Type="http://schemas.openxmlformats.org/officeDocument/2006/relationships/image" Target="../media/image138.png"/><Relationship Id="rId8" Type="http://schemas.openxmlformats.org/officeDocument/2006/relationships/image" Target="../media/image137.png"/><Relationship Id="rId7" Type="http://schemas.openxmlformats.org/officeDocument/2006/relationships/image" Target="../media/image136.png"/><Relationship Id="rId6" Type="http://schemas.openxmlformats.org/officeDocument/2006/relationships/image" Target="../media/image135.png"/><Relationship Id="rId5" Type="http://schemas.openxmlformats.org/officeDocument/2006/relationships/image" Target="../media/image134.png"/><Relationship Id="rId40" Type="http://schemas.openxmlformats.org/officeDocument/2006/relationships/slideLayout" Target="../slideLayouts/slideLayout14.xml"/><Relationship Id="rId4" Type="http://schemas.openxmlformats.org/officeDocument/2006/relationships/image" Target="../media/image133.png"/><Relationship Id="rId39" Type="http://schemas.openxmlformats.org/officeDocument/2006/relationships/image" Target="../media/image158.png"/><Relationship Id="rId38" Type="http://schemas.openxmlformats.org/officeDocument/2006/relationships/image" Target="../media/image157.png"/><Relationship Id="rId37" Type="http://schemas.openxmlformats.org/officeDocument/2006/relationships/image" Target="../media/image156.png"/><Relationship Id="rId36" Type="http://schemas.openxmlformats.org/officeDocument/2006/relationships/image" Target="../media/image155.png"/><Relationship Id="rId35" Type="http://schemas.openxmlformats.org/officeDocument/2006/relationships/image" Target="../media/image154.png"/><Relationship Id="rId34" Type="http://schemas.openxmlformats.org/officeDocument/2006/relationships/image" Target="https://pcmp.oss-cn-shanghai.aliyuncs.com/prod/launch/2025-06-25/3020250625135658835.png" TargetMode="External"/><Relationship Id="rId33" Type="http://schemas.openxmlformats.org/officeDocument/2006/relationships/image" Target="../media/image153.png"/><Relationship Id="rId32" Type="http://schemas.openxmlformats.org/officeDocument/2006/relationships/tags" Target="../tags/tag35.xml"/><Relationship Id="rId31" Type="http://schemas.openxmlformats.org/officeDocument/2006/relationships/tags" Target="../tags/tag34.xml"/><Relationship Id="rId30" Type="http://schemas.openxmlformats.org/officeDocument/2006/relationships/image" Target="../media/image152.png"/><Relationship Id="rId3" Type="http://schemas.openxmlformats.org/officeDocument/2006/relationships/image" Target="../media/image132.png"/><Relationship Id="rId29" Type="http://schemas.openxmlformats.org/officeDocument/2006/relationships/tags" Target="../tags/tag33.xml"/><Relationship Id="rId28" Type="http://schemas.openxmlformats.org/officeDocument/2006/relationships/image" Target="../media/image151.png"/><Relationship Id="rId27" Type="http://schemas.openxmlformats.org/officeDocument/2006/relationships/tags" Target="../tags/tag32.xml"/><Relationship Id="rId26" Type="http://schemas.openxmlformats.org/officeDocument/2006/relationships/tags" Target="../tags/tag31.xml"/><Relationship Id="rId25" Type="http://schemas.openxmlformats.org/officeDocument/2006/relationships/tags" Target="../tags/tag30.xml"/><Relationship Id="rId24" Type="http://schemas.openxmlformats.org/officeDocument/2006/relationships/tags" Target="../tags/tag29.xml"/><Relationship Id="rId23" Type="http://schemas.openxmlformats.org/officeDocument/2006/relationships/tags" Target="../tags/tag28.xml"/><Relationship Id="rId22" Type="http://schemas.openxmlformats.org/officeDocument/2006/relationships/tags" Target="../tags/tag27.xml"/><Relationship Id="rId21" Type="http://schemas.openxmlformats.org/officeDocument/2006/relationships/image" Target="../media/image150.png"/><Relationship Id="rId20" Type="http://schemas.openxmlformats.org/officeDocument/2006/relationships/image" Target="../media/image149.png"/><Relationship Id="rId2" Type="http://schemas.openxmlformats.org/officeDocument/2006/relationships/tags" Target="../tags/tag26.xml"/><Relationship Id="rId19" Type="http://schemas.openxmlformats.org/officeDocument/2006/relationships/image" Target="../media/image148.jpeg"/><Relationship Id="rId18" Type="http://schemas.openxmlformats.org/officeDocument/2006/relationships/image" Target="../media/image147.png"/><Relationship Id="rId17" Type="http://schemas.openxmlformats.org/officeDocument/2006/relationships/image" Target="../media/image146.png"/><Relationship Id="rId16" Type="http://schemas.openxmlformats.org/officeDocument/2006/relationships/image" Target="../media/image145.png"/><Relationship Id="rId15" Type="http://schemas.openxmlformats.org/officeDocument/2006/relationships/image" Target="../media/image144.png"/><Relationship Id="rId14" Type="http://schemas.openxmlformats.org/officeDocument/2006/relationships/image" Target="../media/image143.png"/><Relationship Id="rId13" Type="http://schemas.openxmlformats.org/officeDocument/2006/relationships/image" Target="../media/image142.png"/><Relationship Id="rId12" Type="http://schemas.openxmlformats.org/officeDocument/2006/relationships/image" Target="../media/image141.png"/><Relationship Id="rId11" Type="http://schemas.openxmlformats.org/officeDocument/2006/relationships/image" Target="../media/image140.png"/><Relationship Id="rId10" Type="http://schemas.openxmlformats.org/officeDocument/2006/relationships/image" Target="../media/image139.png"/><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15.xml"/><Relationship Id="rId6" Type="http://schemas.openxmlformats.org/officeDocument/2006/relationships/image" Target="../media/image164.png"/><Relationship Id="rId5" Type="http://schemas.openxmlformats.org/officeDocument/2006/relationships/image" Target="../media/image163.png"/><Relationship Id="rId4" Type="http://schemas.openxmlformats.org/officeDocument/2006/relationships/image" Target="../media/image162.jpeg"/><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image" Target="../media/image159.png"/></Relationships>
</file>

<file path=ppt/slides/_rels/slide26.xml.rels><?xml version="1.0" encoding="UTF-8" standalone="yes"?>
<Relationships xmlns="http://schemas.openxmlformats.org/package/2006/relationships"><Relationship Id="rId9" Type="http://schemas.openxmlformats.org/officeDocument/2006/relationships/image" Target="../media/image171.png"/><Relationship Id="rId8" Type="http://schemas.openxmlformats.org/officeDocument/2006/relationships/image" Target="../media/image170.png"/><Relationship Id="rId7" Type="http://schemas.openxmlformats.org/officeDocument/2006/relationships/image" Target="../media/image169.png"/><Relationship Id="rId6" Type="http://schemas.openxmlformats.org/officeDocument/2006/relationships/slide" Target="slide14.xml"/><Relationship Id="rId5" Type="http://schemas.openxmlformats.org/officeDocument/2006/relationships/image" Target="../media/image168.png"/><Relationship Id="rId4" Type="http://schemas.openxmlformats.org/officeDocument/2006/relationships/image" Target="../media/image167.png"/><Relationship Id="rId3" Type="http://schemas.openxmlformats.org/officeDocument/2006/relationships/slide" Target="slide15.xml"/><Relationship Id="rId28" Type="http://schemas.openxmlformats.org/officeDocument/2006/relationships/slideLayout" Target="../slideLayouts/slideLayout1.xml"/><Relationship Id="rId27" Type="http://schemas.openxmlformats.org/officeDocument/2006/relationships/image" Target="../media/image181.png"/><Relationship Id="rId26" Type="http://schemas.openxmlformats.org/officeDocument/2006/relationships/tags" Target="../tags/tag38.xml"/><Relationship Id="rId25" Type="http://schemas.openxmlformats.org/officeDocument/2006/relationships/image" Target="../media/image180.png"/><Relationship Id="rId24" Type="http://schemas.openxmlformats.org/officeDocument/2006/relationships/tags" Target="../tags/tag37.xml"/><Relationship Id="rId23" Type="http://schemas.openxmlformats.org/officeDocument/2006/relationships/image" Target="../media/image179.png"/><Relationship Id="rId22" Type="http://schemas.openxmlformats.org/officeDocument/2006/relationships/tags" Target="../tags/tag36.xml"/><Relationship Id="rId21" Type="http://schemas.openxmlformats.org/officeDocument/2006/relationships/image" Target="../media/image178.png"/><Relationship Id="rId20" Type="http://schemas.microsoft.com/office/2007/relationships/hdphoto" Target="../media/image77.wdp"/><Relationship Id="rId2" Type="http://schemas.openxmlformats.org/officeDocument/2006/relationships/image" Target="../media/image166.png"/><Relationship Id="rId19" Type="http://schemas.openxmlformats.org/officeDocument/2006/relationships/image" Target="../media/image76.png"/><Relationship Id="rId18" Type="http://schemas.openxmlformats.org/officeDocument/2006/relationships/slide" Target="slide16.xml"/><Relationship Id="rId17" Type="http://schemas.openxmlformats.org/officeDocument/2006/relationships/image" Target="../media/image177.png"/><Relationship Id="rId16" Type="http://schemas.openxmlformats.org/officeDocument/2006/relationships/image" Target="../media/image153.png"/><Relationship Id="rId15" Type="http://schemas.openxmlformats.org/officeDocument/2006/relationships/image" Target="../media/image176.png"/><Relationship Id="rId14" Type="http://schemas.openxmlformats.org/officeDocument/2006/relationships/image" Target="../media/image175.png"/><Relationship Id="rId13" Type="http://schemas.openxmlformats.org/officeDocument/2006/relationships/image" Target="../media/image174.png"/><Relationship Id="rId12" Type="http://schemas.openxmlformats.org/officeDocument/2006/relationships/slide" Target="slide1.xml"/><Relationship Id="rId11" Type="http://schemas.openxmlformats.org/officeDocument/2006/relationships/image" Target="../media/image173.png"/><Relationship Id="rId10" Type="http://schemas.openxmlformats.org/officeDocument/2006/relationships/image" Target="../media/image172.png"/><Relationship Id="rId1" Type="http://schemas.openxmlformats.org/officeDocument/2006/relationships/image" Target="../media/image165.png"/></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13.xml"/><Relationship Id="rId5" Type="http://schemas.openxmlformats.org/officeDocument/2006/relationships/image" Target="../media/image186.jpeg"/><Relationship Id="rId4" Type="http://schemas.openxmlformats.org/officeDocument/2006/relationships/image" Target="../media/image185.jpeg"/><Relationship Id="rId3" Type="http://schemas.openxmlformats.org/officeDocument/2006/relationships/image" Target="../media/image184.jpeg"/><Relationship Id="rId2" Type="http://schemas.openxmlformats.org/officeDocument/2006/relationships/image" Target="../media/image183.jpeg"/><Relationship Id="rId1" Type="http://schemas.openxmlformats.org/officeDocument/2006/relationships/image" Target="../media/image18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932" y="-1"/>
            <a:ext cx="12180136" cy="6858002"/>
            <a:chOff x="5932" y="-1"/>
            <a:chExt cx="12180136" cy="6858002"/>
          </a:xfrm>
        </p:grpSpPr>
        <p:sp>
          <p:nvSpPr>
            <p:cNvPr id="42" name="object 2"/>
            <p:cNvSpPr/>
            <p:nvPr/>
          </p:nvSpPr>
          <p:spPr>
            <a:xfrm>
              <a:off x="5932" y="-1"/>
              <a:ext cx="11678068" cy="6858001"/>
            </a:xfrm>
            <a:prstGeom prst="rect">
              <a:avLst/>
            </a:prstGeom>
            <a:blipFill>
              <a:blip r:embed="rId1" cstate="print"/>
              <a:stretch>
                <a:fillRect b="-11041"/>
              </a:stretch>
            </a:blipFill>
          </p:spPr>
          <p:txBody>
            <a:bodyPr wrap="square" lIns="0" tIns="0" rIns="0" bIns="0" rtlCol="0"/>
            <a:lstStyle/>
            <a:p>
              <a:endParaRPr dirty="0"/>
            </a:p>
          </p:txBody>
        </p:sp>
        <p:sp>
          <p:nvSpPr>
            <p:cNvPr id="3" name="object 2"/>
            <p:cNvSpPr/>
            <p:nvPr/>
          </p:nvSpPr>
          <p:spPr>
            <a:xfrm flipH="1">
              <a:off x="11684000" y="0"/>
              <a:ext cx="502068" cy="6858001"/>
            </a:xfrm>
            <a:prstGeom prst="rect">
              <a:avLst/>
            </a:prstGeom>
            <a:blipFill>
              <a:blip r:embed="rId1" cstate="print"/>
              <a:stretch>
                <a:fillRect l="-1739066" b="-11041"/>
              </a:stretch>
            </a:blipFill>
          </p:spPr>
          <p:txBody>
            <a:bodyPr wrap="square" lIns="0" tIns="0" rIns="0" bIns="0" rtlCol="0"/>
            <a:lstStyle/>
            <a:p>
              <a:endParaRPr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p:cNvPicPr>
            <a:picLocks noChangeAspect="1"/>
          </p:cNvPicPr>
          <p:nvPr/>
        </p:nvPicPr>
        <p:blipFill rotWithShape="1">
          <a:blip r:embed="rId1"/>
          <a:srcRect l="860" t="3929" r="899" b="7655"/>
          <a:stretch>
            <a:fillRect/>
          </a:stretch>
        </p:blipFill>
        <p:spPr>
          <a:xfrm>
            <a:off x="0" y="-1"/>
            <a:ext cx="12192000" cy="6858001"/>
          </a:xfrm>
          <a:prstGeom prst="rect">
            <a:avLst/>
          </a:prstGeom>
        </p:spPr>
      </p:pic>
      <p:sp>
        <p:nvSpPr>
          <p:cNvPr id="18" name="矩形 17"/>
          <p:cNvSpPr/>
          <p:nvPr/>
        </p:nvSpPr>
        <p:spPr>
          <a:xfrm rot="10800000">
            <a:off x="0" y="-3359"/>
            <a:ext cx="12192000" cy="6858000"/>
          </a:xfrm>
          <a:prstGeom prst="rect">
            <a:avLst/>
          </a:prstGeom>
          <a:gradFill>
            <a:gsLst>
              <a:gs pos="100000">
                <a:srgbClr val="0A0B0B"/>
              </a:gs>
              <a:gs pos="0">
                <a:srgbClr val="010001">
                  <a:alpha val="5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方正兰亭中粗黑简体" panose="02000000000000000000" pitchFamily="2" charset="-122"/>
              <a:ea typeface="方正兰亭中粗黑简体" panose="02000000000000000000" pitchFamily="2" charset="-122"/>
              <a:cs typeface="+mn-cs"/>
            </a:endParaRPr>
          </a:p>
        </p:txBody>
      </p:sp>
      <p:sp>
        <p:nvSpPr>
          <p:cNvPr id="6" name="文本框 5"/>
          <p:cNvSpPr txBox="1"/>
          <p:nvPr/>
        </p:nvSpPr>
        <p:spPr>
          <a:xfrm>
            <a:off x="586331" y="1749608"/>
            <a:ext cx="10979152" cy="2123658"/>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600" normalizeH="0" baseline="0" noProof="0" dirty="0">
                <a:ln>
                  <a:noFill/>
                </a:ln>
                <a:solidFill>
                  <a:prstClr val="white"/>
                </a:solidFill>
                <a:effectLst>
                  <a:outerShdw blurRad="38100" dist="38100" dir="2700000" algn="tl">
                    <a:srgbClr val="000000">
                      <a:alpha val="43137"/>
                    </a:srgbClr>
                  </a:outerShdw>
                </a:effectLst>
                <a:uLnTx/>
                <a:uFillTx/>
                <a:latin typeface="OPPOSans M" pitchFamily="18" charset="-122"/>
                <a:ea typeface="OPPOSans M" pitchFamily="18" charset="-122"/>
                <a:cs typeface="OPPOSans M" pitchFamily="18" charset="-122"/>
              </a:rPr>
              <a:t>成立</a:t>
            </a:r>
            <a:r>
              <a:rPr kumimoji="0" lang="en-US" altLang="zh-CN" sz="96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rtl val="0"/>
              </a:rPr>
              <a:t>29</a:t>
            </a:r>
            <a:r>
              <a:rPr kumimoji="0" lang="zh-CN" altLang="en-US" sz="3200" b="0" i="0" u="none" strike="noStrike" kern="1200" cap="none" spc="600" normalizeH="0" baseline="0" noProof="0" dirty="0">
                <a:ln>
                  <a:noFill/>
                </a:ln>
                <a:solidFill>
                  <a:prstClr val="white"/>
                </a:solidFill>
                <a:effectLst>
                  <a:outerShdw blurRad="38100" dist="38100" dir="2700000" algn="tl">
                    <a:srgbClr val="000000">
                      <a:alpha val="43137"/>
                    </a:srgbClr>
                  </a:outerShdw>
                </a:effectLst>
                <a:uLnTx/>
                <a:uFillTx/>
                <a:latin typeface="OPPOSans M" pitchFamily="18" charset="-122"/>
                <a:ea typeface="OPPOSans M" pitchFamily="18" charset="-122"/>
                <a:cs typeface="OPPOSans M" pitchFamily="18" charset="-122"/>
              </a:rPr>
              <a:t>年</a:t>
            </a:r>
            <a:endParaRPr kumimoji="0" lang="en-US" altLang="zh-CN" sz="3200" b="0" i="0" u="none" strike="noStrike" kern="1200" cap="none" spc="600" normalizeH="0" baseline="0" noProof="0" dirty="0">
              <a:ln>
                <a:noFill/>
              </a:ln>
              <a:solidFill>
                <a:prstClr val="white"/>
              </a:solidFill>
              <a:effectLst>
                <a:outerShdw blurRad="38100" dist="38100" dir="2700000" algn="tl">
                  <a:srgbClr val="000000">
                    <a:alpha val="43137"/>
                  </a:srgbClr>
                </a:outerShdw>
              </a:effectLst>
              <a:uLnTx/>
              <a:uFillTx/>
              <a:latin typeface="OPPOSans M" pitchFamily="18" charset="-122"/>
              <a:ea typeface="OPPOSans M" pitchFamily="18" charset="-122"/>
              <a:cs typeface="OPPOSans M" pitchFamily="18" charset="-122"/>
            </a:endParaRPr>
          </a:p>
          <a:p>
            <a:pPr marL="0" marR="0" lvl="0" indent="0" algn="ctr" defTabSz="914400" rtl="0" eaLnBrk="1" fontAlgn="auto" latinLnBrk="0" hangingPunct="1">
              <a:lnSpc>
                <a:spcPct val="100000"/>
              </a:lnSpc>
              <a:spcBef>
                <a:spcPct val="0"/>
              </a:spcBef>
              <a:spcAft>
                <a:spcPts val="0"/>
              </a:spcAft>
              <a:buClrTx/>
              <a:buSzTx/>
              <a:buFontTx/>
              <a:buNone/>
              <a:tabLst>
                <a:tab pos="4305300" algn="l"/>
              </a:tabLst>
              <a:defRPr/>
            </a:pPr>
            <a:r>
              <a:rPr kumimoji="0" lang="zh-CN" altLang="en-US" sz="3600" b="0" i="0" u="none" strike="noStrike" kern="1200" cap="none" spc="300" normalizeH="0" baseline="0" noProof="0" dirty="0">
                <a:ln>
                  <a:noFill/>
                </a:ln>
                <a:solidFill>
                  <a:prstClr val="white"/>
                </a:solidFill>
                <a:effectLst/>
                <a:uLnTx/>
                <a:uFillTx/>
                <a:latin typeface="OPPOSans B" pitchFamily="18" charset="-122"/>
                <a:ea typeface="OPPOSans B" pitchFamily="18" charset="-122"/>
                <a:cs typeface="OPPOSans B" pitchFamily="18" charset="-122"/>
              </a:rPr>
              <a:t>用光创造价值</a:t>
            </a:r>
            <a:endParaRPr kumimoji="0" lang="zh-CN" altLang="en-US" sz="3600" b="0" i="0" u="none" strike="noStrike" kern="1200" cap="none" spc="300" normalizeH="0" baseline="0" noProof="0" dirty="0">
              <a:ln>
                <a:noFill/>
              </a:ln>
              <a:solidFill>
                <a:prstClr val="white"/>
              </a:solidFill>
              <a:effectLst/>
              <a:uLnTx/>
              <a:uFillTx/>
              <a:latin typeface="OPPOSans B" pitchFamily="18" charset="-122"/>
              <a:ea typeface="OPPOSans B" pitchFamily="18" charset="-122"/>
              <a:cs typeface="OPPOSans B" pitchFamily="18" charset="-122"/>
            </a:endParaRPr>
          </a:p>
        </p:txBody>
      </p:sp>
      <p:grpSp>
        <p:nvGrpSpPr>
          <p:cNvPr id="15" name="组合 14"/>
          <p:cNvGrpSpPr/>
          <p:nvPr/>
        </p:nvGrpSpPr>
        <p:grpSpPr>
          <a:xfrm>
            <a:off x="880595" y="4298987"/>
            <a:ext cx="10688305" cy="1617444"/>
            <a:chOff x="-1808918" y="2790153"/>
            <a:chExt cx="16894368" cy="2556599"/>
          </a:xfrm>
        </p:grpSpPr>
        <p:pic>
          <p:nvPicPr>
            <p:cNvPr id="2" name="图片 1"/>
            <p:cNvPicPr>
              <a:picLocks noChangeAspect="1"/>
            </p:cNvPicPr>
            <p:nvPr/>
          </p:nvPicPr>
          <p:blipFill rotWithShape="1">
            <a:blip r:embed="rId2"/>
            <a:srcRect t="1" r="24015" b="2645"/>
            <a:stretch>
              <a:fillRect/>
            </a:stretch>
          </p:blipFill>
          <p:spPr>
            <a:xfrm>
              <a:off x="-1804552" y="2790153"/>
              <a:ext cx="3909631" cy="2514600"/>
            </a:xfrm>
            <a:prstGeom prst="rect">
              <a:avLst/>
            </a:prstGeom>
          </p:spPr>
        </p:pic>
        <p:pic>
          <p:nvPicPr>
            <p:cNvPr id="3" name="图片 2"/>
            <p:cNvPicPr>
              <a:picLocks noChangeAspect="1"/>
            </p:cNvPicPr>
            <p:nvPr/>
          </p:nvPicPr>
          <p:blipFill rotWithShape="1">
            <a:blip r:embed="rId3"/>
            <a:srcRect l="12207" t="1522" r="2574" b="1124"/>
            <a:stretch>
              <a:fillRect/>
            </a:stretch>
          </p:blipFill>
          <p:spPr>
            <a:xfrm>
              <a:off x="6683857" y="2812331"/>
              <a:ext cx="3909631" cy="2514598"/>
            </a:xfrm>
            <a:prstGeom prst="rect">
              <a:avLst/>
            </a:prstGeom>
          </p:spPr>
        </p:pic>
        <p:pic>
          <p:nvPicPr>
            <p:cNvPr id="4" name="图片 3"/>
            <p:cNvPicPr>
              <a:picLocks noChangeAspect="1"/>
            </p:cNvPicPr>
            <p:nvPr/>
          </p:nvPicPr>
          <p:blipFill rotWithShape="1">
            <a:blip r:embed="rId4"/>
            <a:srcRect r="8119" b="2481"/>
            <a:stretch>
              <a:fillRect/>
            </a:stretch>
          </p:blipFill>
          <p:spPr>
            <a:xfrm>
              <a:off x="11170419" y="2790153"/>
              <a:ext cx="3909630" cy="2514599"/>
            </a:xfrm>
            <a:prstGeom prst="rect">
              <a:avLst/>
            </a:prstGeom>
          </p:spPr>
        </p:pic>
        <p:pic>
          <p:nvPicPr>
            <p:cNvPr id="5" name="图片 4"/>
            <p:cNvPicPr>
              <a:picLocks noChangeAspect="1"/>
            </p:cNvPicPr>
            <p:nvPr/>
          </p:nvPicPr>
          <p:blipFill rotWithShape="1">
            <a:blip r:embed="rId5"/>
            <a:srcRect l="6040" r="7883" b="1457"/>
            <a:stretch>
              <a:fillRect/>
            </a:stretch>
          </p:blipFill>
          <p:spPr>
            <a:xfrm>
              <a:off x="2367721" y="2790155"/>
              <a:ext cx="3909627" cy="2514598"/>
            </a:xfrm>
            <a:prstGeom prst="rect">
              <a:avLst/>
            </a:prstGeom>
          </p:spPr>
        </p:pic>
        <p:sp>
          <p:nvSpPr>
            <p:cNvPr id="7" name="矩形 6"/>
            <p:cNvSpPr/>
            <p:nvPr/>
          </p:nvSpPr>
          <p:spPr>
            <a:xfrm>
              <a:off x="6681676" y="2816044"/>
              <a:ext cx="3913996" cy="2514600"/>
            </a:xfrm>
            <a:prstGeom prst="rect">
              <a:avLst/>
            </a:prstGeom>
            <a:gradFill>
              <a:gsLst>
                <a:gs pos="17000">
                  <a:schemeClr val="tx1">
                    <a:alpha val="10000"/>
                  </a:schemeClr>
                </a:gs>
                <a:gs pos="100000">
                  <a:schemeClr val="tx1">
                    <a:alpha val="80000"/>
                  </a:schemeClr>
                </a:gs>
              </a:gsLst>
              <a:lin ang="5400000" scaled="1"/>
            </a:gra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方正兰亭中粗黑简体" panose="02000000000000000000" pitchFamily="2" charset="-122"/>
                <a:ea typeface="方正兰亭中粗黑简体" panose="02000000000000000000" pitchFamily="2" charset="-122"/>
                <a:cs typeface="+mn-cs"/>
              </a:endParaRPr>
            </a:p>
          </p:txBody>
        </p:sp>
        <p:sp>
          <p:nvSpPr>
            <p:cNvPr id="8" name="矩形 7"/>
            <p:cNvSpPr/>
            <p:nvPr/>
          </p:nvSpPr>
          <p:spPr>
            <a:xfrm>
              <a:off x="-1808918" y="2812331"/>
              <a:ext cx="3913996" cy="2514598"/>
            </a:xfrm>
            <a:prstGeom prst="rect">
              <a:avLst/>
            </a:prstGeom>
            <a:gradFill>
              <a:gsLst>
                <a:gs pos="17000">
                  <a:schemeClr val="tx1">
                    <a:alpha val="10000"/>
                  </a:schemeClr>
                </a:gs>
                <a:gs pos="100000">
                  <a:schemeClr val="tx1">
                    <a:alpha val="80000"/>
                  </a:schemeClr>
                </a:gs>
              </a:gsLst>
              <a:lin ang="5400000" scaled="1"/>
            </a:gra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方正兰亭中粗黑简体" panose="02000000000000000000" pitchFamily="2" charset="-122"/>
                <a:ea typeface="方正兰亭中粗黑简体" panose="02000000000000000000" pitchFamily="2" charset="-122"/>
                <a:cs typeface="+mn-cs"/>
              </a:endParaRPr>
            </a:p>
          </p:txBody>
        </p:sp>
        <p:sp>
          <p:nvSpPr>
            <p:cNvPr id="9" name="矩形 8"/>
            <p:cNvSpPr/>
            <p:nvPr/>
          </p:nvSpPr>
          <p:spPr>
            <a:xfrm>
              <a:off x="11171454" y="2790154"/>
              <a:ext cx="3913996" cy="2514599"/>
            </a:xfrm>
            <a:prstGeom prst="rect">
              <a:avLst/>
            </a:prstGeom>
            <a:gradFill>
              <a:gsLst>
                <a:gs pos="17000">
                  <a:schemeClr val="tx1">
                    <a:alpha val="10000"/>
                  </a:schemeClr>
                </a:gs>
                <a:gs pos="100000">
                  <a:schemeClr val="tx1">
                    <a:alpha val="80000"/>
                  </a:schemeClr>
                </a:gs>
              </a:gsLst>
              <a:lin ang="5400000" scaled="1"/>
            </a:gra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方正兰亭中粗黑简体" panose="02000000000000000000" pitchFamily="2" charset="-122"/>
                <a:ea typeface="方正兰亭中粗黑简体" panose="02000000000000000000" pitchFamily="2" charset="-122"/>
                <a:cs typeface="+mn-cs"/>
              </a:endParaRPr>
            </a:p>
          </p:txBody>
        </p:sp>
        <p:sp>
          <p:nvSpPr>
            <p:cNvPr id="10" name="矩形 9"/>
            <p:cNvSpPr/>
            <p:nvPr/>
          </p:nvSpPr>
          <p:spPr>
            <a:xfrm>
              <a:off x="2384359" y="2790153"/>
              <a:ext cx="3913996" cy="2514599"/>
            </a:xfrm>
            <a:prstGeom prst="rect">
              <a:avLst/>
            </a:prstGeom>
            <a:gradFill>
              <a:gsLst>
                <a:gs pos="17000">
                  <a:schemeClr val="tx1">
                    <a:alpha val="10000"/>
                  </a:schemeClr>
                </a:gs>
                <a:gs pos="100000">
                  <a:schemeClr val="tx1">
                    <a:alpha val="80000"/>
                  </a:schemeClr>
                </a:gs>
              </a:gsLst>
              <a:lin ang="5400000" scaled="1"/>
            </a:gra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方正兰亭中粗黑简体" panose="02000000000000000000" pitchFamily="2" charset="-122"/>
                <a:ea typeface="方正兰亭中粗黑简体" panose="02000000000000000000" pitchFamily="2" charset="-122"/>
                <a:cs typeface="+mn-cs"/>
              </a:endParaRPr>
            </a:p>
          </p:txBody>
        </p:sp>
        <p:sp>
          <p:nvSpPr>
            <p:cNvPr id="11" name="文本框 10"/>
            <p:cNvSpPr txBox="1"/>
            <p:nvPr/>
          </p:nvSpPr>
          <p:spPr>
            <a:xfrm>
              <a:off x="7492513" y="4393500"/>
              <a:ext cx="2292321" cy="890369"/>
            </a:xfrm>
            <a:prstGeom prst="rect">
              <a:avLst/>
            </a:prstGeom>
            <a:noFill/>
            <a:effectLst/>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1" lang="zh-CN" altLang="en-US" sz="2500" b="0" i="0" u="none" strike="noStrike" kern="1200" cap="none" spc="300" normalizeH="0" baseline="0" noProof="0" dirty="0">
                  <a:ln>
                    <a:noFill/>
                  </a:ln>
                  <a:solidFill>
                    <a:prstClr val="white"/>
                  </a:solidFill>
                  <a:effectLst/>
                  <a:uLnTx/>
                  <a:uFillTx/>
                  <a:latin typeface="OPPOSans M" pitchFamily="18" charset="-122"/>
                  <a:ea typeface="OPPOSans M" pitchFamily="18" charset="-122"/>
                  <a:cs typeface="OPPOSans M" pitchFamily="18" charset="-122"/>
                </a:rPr>
                <a:t>科技</a:t>
              </a:r>
              <a:endParaRPr kumimoji="0" lang="zh-CN" altLang="en-US" sz="2500" b="0" i="0" u="none" strike="noStrike" kern="1200" cap="none" spc="300" normalizeH="0" baseline="0" noProof="0" dirty="0">
                <a:ln>
                  <a:noFill/>
                </a:ln>
                <a:solidFill>
                  <a:prstClr val="white"/>
                </a:solidFill>
                <a:effectLst/>
                <a:uLnTx/>
                <a:uFillTx/>
                <a:latin typeface="OPPOSans M" pitchFamily="18" charset="-122"/>
                <a:ea typeface="OPPOSans M" pitchFamily="18" charset="-122"/>
                <a:cs typeface="OPPOSans M" pitchFamily="18" charset="-122"/>
              </a:endParaRPr>
            </a:p>
          </p:txBody>
        </p:sp>
        <p:sp>
          <p:nvSpPr>
            <p:cNvPr id="12" name="文本框 11"/>
            <p:cNvSpPr txBox="1"/>
            <p:nvPr/>
          </p:nvSpPr>
          <p:spPr>
            <a:xfrm>
              <a:off x="-1160639" y="4456383"/>
              <a:ext cx="2277023" cy="890369"/>
            </a:xfrm>
            <a:prstGeom prst="rect">
              <a:avLst/>
            </a:prstGeom>
            <a:noFill/>
            <a:effectLst/>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1" lang="zh-CN" altLang="en-US" sz="2500" b="0" i="0" u="none" strike="noStrike" kern="1200" cap="none" spc="300" normalizeH="0" baseline="0" noProof="0" dirty="0">
                  <a:ln>
                    <a:noFill/>
                  </a:ln>
                  <a:solidFill>
                    <a:prstClr val="white"/>
                  </a:solidFill>
                  <a:effectLst/>
                  <a:uLnTx/>
                  <a:uFillTx/>
                  <a:latin typeface="OPPOSans M" pitchFamily="18" charset="-122"/>
                  <a:ea typeface="OPPOSans M" pitchFamily="18" charset="-122"/>
                  <a:cs typeface="OPPOSans M" pitchFamily="18" charset="-122"/>
                </a:rPr>
                <a:t>健康</a:t>
              </a:r>
              <a:endParaRPr kumimoji="0" lang="zh-CN" altLang="en-US" sz="2500" b="0" i="0" u="none" strike="noStrike" kern="1200" cap="none" spc="300" normalizeH="0" baseline="0" noProof="0" dirty="0">
                <a:ln>
                  <a:noFill/>
                </a:ln>
                <a:solidFill>
                  <a:prstClr val="white"/>
                </a:solidFill>
                <a:effectLst/>
                <a:uLnTx/>
                <a:uFillTx/>
                <a:latin typeface="OPPOSans M" pitchFamily="18" charset="-122"/>
                <a:ea typeface="OPPOSans M" pitchFamily="18" charset="-122"/>
                <a:cs typeface="OPPOSans M" pitchFamily="18" charset="-122"/>
              </a:endParaRPr>
            </a:p>
          </p:txBody>
        </p:sp>
        <p:sp>
          <p:nvSpPr>
            <p:cNvPr id="13" name="文本框 12"/>
            <p:cNvSpPr txBox="1"/>
            <p:nvPr/>
          </p:nvSpPr>
          <p:spPr>
            <a:xfrm>
              <a:off x="3118896" y="4445296"/>
              <a:ext cx="2277023" cy="890369"/>
            </a:xfrm>
            <a:prstGeom prst="rect">
              <a:avLst/>
            </a:prstGeom>
            <a:noFill/>
            <a:effectLst/>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1" lang="zh-CN" altLang="en-US" sz="2500" b="0" i="0" u="none" strike="noStrike" kern="1200" cap="none" spc="300" normalizeH="0" baseline="0" noProof="0" dirty="0">
                  <a:ln>
                    <a:noFill/>
                  </a:ln>
                  <a:solidFill>
                    <a:prstClr val="white"/>
                  </a:solidFill>
                  <a:effectLst/>
                  <a:uLnTx/>
                  <a:uFillTx/>
                  <a:latin typeface="OPPOSans M" pitchFamily="18" charset="-122"/>
                  <a:ea typeface="OPPOSans M" pitchFamily="18" charset="-122"/>
                  <a:cs typeface="OPPOSans M" pitchFamily="18" charset="-122"/>
                </a:rPr>
                <a:t>时尚</a:t>
              </a:r>
              <a:endParaRPr kumimoji="0" lang="zh-CN" altLang="en-US" sz="2500" b="0" i="0" u="none" strike="noStrike" kern="1200" cap="none" spc="300" normalizeH="0" baseline="0" noProof="0" dirty="0">
                <a:ln>
                  <a:noFill/>
                </a:ln>
                <a:solidFill>
                  <a:prstClr val="white"/>
                </a:solidFill>
                <a:effectLst/>
                <a:uLnTx/>
                <a:uFillTx/>
                <a:latin typeface="OPPOSans M" pitchFamily="18" charset="-122"/>
                <a:ea typeface="OPPOSans M" pitchFamily="18" charset="-122"/>
                <a:cs typeface="OPPOSans M" pitchFamily="18" charset="-122"/>
              </a:endParaRPr>
            </a:p>
          </p:txBody>
        </p:sp>
        <p:sp>
          <p:nvSpPr>
            <p:cNvPr id="14" name="文本框 13"/>
            <p:cNvSpPr txBox="1"/>
            <p:nvPr/>
          </p:nvSpPr>
          <p:spPr>
            <a:xfrm>
              <a:off x="12002148" y="4367611"/>
              <a:ext cx="2256336" cy="890369"/>
            </a:xfrm>
            <a:prstGeom prst="rect">
              <a:avLst/>
            </a:prstGeom>
            <a:noFill/>
            <a:effectLst/>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1" lang="zh-CN" altLang="en-US" sz="2500" b="0" i="0" u="none" strike="noStrike" kern="1200" cap="none" spc="300" normalizeH="0" baseline="0" noProof="0" dirty="0">
                  <a:ln>
                    <a:noFill/>
                  </a:ln>
                  <a:solidFill>
                    <a:prstClr val="white"/>
                  </a:solidFill>
                  <a:effectLst/>
                  <a:uLnTx/>
                  <a:uFillTx/>
                  <a:latin typeface="OPPOSans M" pitchFamily="18" charset="-122"/>
                  <a:ea typeface="OPPOSans M" pitchFamily="18" charset="-122"/>
                  <a:cs typeface="OPPOSans M" pitchFamily="18" charset="-122"/>
                </a:rPr>
                <a:t>专业</a:t>
              </a:r>
              <a:endParaRPr kumimoji="0" lang="zh-CN" altLang="en-US" sz="2500" b="0" i="0" u="none" strike="noStrike" kern="1200" cap="none" spc="300" normalizeH="0" baseline="0" noProof="0" dirty="0">
                <a:ln>
                  <a:noFill/>
                </a:ln>
                <a:solidFill>
                  <a:prstClr val="white"/>
                </a:solidFill>
                <a:effectLst/>
                <a:uLnTx/>
                <a:uFillTx/>
                <a:latin typeface="OPPOSans M" pitchFamily="18" charset="-122"/>
                <a:ea typeface="OPPOSans M" pitchFamily="18" charset="-122"/>
                <a:cs typeface="OPPOSans M" pitchFamily="18" charset="-122"/>
              </a:endParaRPr>
            </a:p>
          </p:txBody>
        </p:sp>
      </p:grpSp>
      <p:sp>
        <p:nvSpPr>
          <p:cNvPr id="16" name="矩形 15"/>
          <p:cNvSpPr/>
          <p:nvPr/>
        </p:nvSpPr>
        <p:spPr>
          <a:xfrm>
            <a:off x="1786358" y="846686"/>
            <a:ext cx="8619284" cy="681277"/>
          </a:xfrm>
          <a:prstGeom prst="rect">
            <a:avLst/>
          </a:prstGeom>
        </p:spPr>
        <p:txBody>
          <a:bodyPr wrap="square">
            <a:spAutoFit/>
          </a:bodyPr>
          <a:lstStyle/>
          <a:p>
            <a:pPr marL="0" marR="0" lvl="0" indent="0" algn="ctr" defTabSz="914400" rtl="0" eaLnBrk="1" fontAlgn="auto" latinLnBrk="0" hangingPunct="1">
              <a:lnSpc>
                <a:spcPct val="150000"/>
              </a:lnSpc>
              <a:spcBef>
                <a:spcPct val="0"/>
              </a:spcBef>
              <a:spcAft>
                <a:spcPts val="0"/>
              </a:spcAft>
              <a:buClrTx/>
              <a:buSzTx/>
              <a:buFontTx/>
              <a:buNone/>
              <a:tabLst>
                <a:tab pos="4305300" algn="l"/>
              </a:tabLst>
              <a:defRPr/>
            </a:pPr>
            <a:r>
              <a:rPr kumimoji="0" lang="zh-CN" altLang="en-US" sz="2800" b="0" i="0" u="none" strike="noStrike" kern="1200" cap="none" spc="600" normalizeH="0" baseline="0" noProof="0" dirty="0">
                <a:ln>
                  <a:noFill/>
                </a:ln>
                <a:solidFill>
                  <a:prstClr val="white"/>
                </a:solidFill>
                <a:effectLst>
                  <a:outerShdw blurRad="38100" dist="38100" dir="2700000" algn="tl">
                    <a:srgbClr val="000000">
                      <a:alpha val="43137"/>
                    </a:srgbClr>
                  </a:outerShdw>
                </a:effectLst>
                <a:uLnTx/>
                <a:uFillTx/>
                <a:latin typeface="OPPOSans M" pitchFamily="18" charset="-122"/>
                <a:ea typeface="OPPOSans M" pitchFamily="18" charset="-122"/>
                <a:cs typeface="OPPOSans M" pitchFamily="18" charset="-122"/>
                <a:sym typeface="+mn-ea"/>
              </a:rPr>
              <a:t>品牌愿景</a:t>
            </a:r>
            <a:r>
              <a:rPr kumimoji="0" lang="en-US" altLang="zh-CN" sz="2800" b="0" i="0" u="none" strike="noStrike" kern="1200" cap="none" spc="600" normalizeH="0" baseline="0" noProof="0" dirty="0">
                <a:ln>
                  <a:noFill/>
                </a:ln>
                <a:solidFill>
                  <a:prstClr val="white"/>
                </a:solidFill>
                <a:effectLst>
                  <a:outerShdw blurRad="38100" dist="38100" dir="2700000" algn="tl">
                    <a:srgbClr val="000000">
                      <a:alpha val="43137"/>
                    </a:srgbClr>
                  </a:outerShdw>
                </a:effectLst>
                <a:uLnTx/>
                <a:uFillTx/>
                <a:latin typeface="OPPOSans M" pitchFamily="18" charset="-122"/>
                <a:ea typeface="OPPOSans M" pitchFamily="18" charset="-122"/>
                <a:cs typeface="OPPOSans M" pitchFamily="18" charset="-122"/>
                <a:sym typeface="+mn-ea"/>
              </a:rPr>
              <a:t>—</a:t>
            </a:r>
            <a:r>
              <a:rPr kumimoji="0" lang="zh-CN" altLang="en-US" sz="2800" b="0" i="0" u="none" strike="noStrike" kern="1200" cap="none" spc="600" normalizeH="0" baseline="0" noProof="0" dirty="0">
                <a:ln>
                  <a:noFill/>
                </a:ln>
                <a:solidFill>
                  <a:prstClr val="white"/>
                </a:solidFill>
                <a:effectLst>
                  <a:outerShdw blurRad="38100" dist="38100" dir="2700000" algn="tl">
                    <a:srgbClr val="000000">
                      <a:alpha val="43137"/>
                    </a:srgbClr>
                  </a:outerShdw>
                </a:effectLst>
                <a:uLnTx/>
                <a:uFillTx/>
                <a:latin typeface="OPPOSans M" pitchFamily="18" charset="-122"/>
                <a:ea typeface="OPPOSans M" pitchFamily="18" charset="-122"/>
                <a:cs typeface="OPPOSans M" pitchFamily="18" charset="-122"/>
                <a:sym typeface="+mn-ea"/>
              </a:rPr>
              <a:t>全球第一智能照明品牌</a:t>
            </a:r>
            <a:endParaRPr kumimoji="0" lang="en-US" altLang="zh-CN" sz="2800" b="0" i="0" u="none" strike="noStrike" kern="1200" cap="none" spc="600" normalizeH="0" baseline="0" noProof="0" dirty="0">
              <a:ln>
                <a:noFill/>
              </a:ln>
              <a:solidFill>
                <a:prstClr val="white"/>
              </a:solidFill>
              <a:effectLst>
                <a:outerShdw blurRad="38100" dist="38100" dir="2700000" algn="tl">
                  <a:srgbClr val="000000">
                    <a:alpha val="43137"/>
                  </a:srgbClr>
                </a:outerShdw>
              </a:effectLst>
              <a:uLnTx/>
              <a:uFillTx/>
              <a:latin typeface="OPPOSans M" pitchFamily="18" charset="-122"/>
              <a:ea typeface="OPPOSans M" pitchFamily="18" charset="-122"/>
              <a:cs typeface="OPPOSans M" pitchFamily="18" charset="-122"/>
              <a:sym typeface="+mn-ea"/>
            </a:endParaRPr>
          </a:p>
        </p:txBody>
      </p:sp>
      <p:pic>
        <p:nvPicPr>
          <p:cNvPr id="21" name="图形 20"/>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8656" y="398194"/>
            <a:ext cx="803879" cy="3534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screen">
            <a:extLst>
              <a:ext uri="{28A0092B-C50C-407E-A947-70E740481C1C}">
                <a14:useLocalDpi xmlns:a14="http://schemas.microsoft.com/office/drawing/2010/main" val="0"/>
              </a:ext>
            </a:extLst>
          </a:blip>
          <a:stretch>
            <a:fillRect/>
          </a:stretch>
        </p:blipFill>
        <p:spPr>
          <a:xfrm>
            <a:off x="0" y="0"/>
            <a:ext cx="12192000" cy="6286500"/>
          </a:xfrm>
          <a:prstGeom prst="rect">
            <a:avLst/>
          </a:prstGeom>
        </p:spPr>
      </p:pic>
      <p:sp>
        <p:nvSpPr>
          <p:cNvPr id="22" name="矩形 21"/>
          <p:cNvSpPr/>
          <p:nvPr/>
        </p:nvSpPr>
        <p:spPr>
          <a:xfrm>
            <a:off x="0" y="0"/>
            <a:ext cx="12192000" cy="6858000"/>
          </a:xfrm>
          <a:prstGeom prst="rect">
            <a:avLst/>
          </a:prstGeom>
          <a:gradFill>
            <a:gsLst>
              <a:gs pos="100000">
                <a:srgbClr val="010001"/>
              </a:gs>
              <a:gs pos="0">
                <a:srgbClr val="1A1B1C">
                  <a:alpha val="70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60985" rtl="0" eaLnBrk="1" fontAlgn="auto" latinLnBrk="0" hangingPunct="1">
              <a:lnSpc>
                <a:spcPct val="100000"/>
              </a:lnSpc>
              <a:spcBef>
                <a:spcPts val="0"/>
              </a:spcBef>
              <a:spcAft>
                <a:spcPts val="0"/>
              </a:spcAft>
              <a:buClrTx/>
              <a:buSzTx/>
              <a:buFontTx/>
              <a:buNone/>
              <a:defRPr/>
            </a:pPr>
            <a:endParaRPr kumimoji="0" lang="zh-CN" altLang="en-US" sz="1030" b="0" i="0" u="none" strike="noStrike" kern="1200" cap="none" spc="0" normalizeH="0" baseline="0" noProof="0" dirty="0">
              <a:ln>
                <a:noFill/>
              </a:ln>
              <a:solidFill>
                <a:prstClr val="white"/>
              </a:solidFill>
              <a:effectLst/>
              <a:uLnTx/>
              <a:uFillTx/>
              <a:latin typeface="方正兰亭中粗黑简体" panose="02000000000000000000" pitchFamily="2" charset="-122"/>
              <a:ea typeface="方正兰亭中粗黑简体" panose="02000000000000000000" pitchFamily="2" charset="-122"/>
              <a:cs typeface="+mn-cs"/>
            </a:endParaRPr>
          </a:p>
        </p:txBody>
      </p:sp>
      <p:sp>
        <p:nvSpPr>
          <p:cNvPr id="23" name="文本框 22"/>
          <p:cNvSpPr txBox="1"/>
          <p:nvPr/>
        </p:nvSpPr>
        <p:spPr>
          <a:xfrm>
            <a:off x="3228211" y="1461593"/>
            <a:ext cx="3105168" cy="1182440"/>
          </a:xfrm>
          <a:prstGeom prst="rect">
            <a:avLst/>
          </a:prstGeom>
          <a:noFill/>
        </p:spPr>
        <p:txBody>
          <a:bodyPr wrap="square" rtlCol="0">
            <a:spAutoFit/>
          </a:bodyPr>
          <a:lstStyle/>
          <a:p>
            <a:pPr marL="0" marR="0" lvl="0" indent="0" algn="ctr" defTabSz="260985" rtl="0" eaLnBrk="1" fontAlgn="auto" latinLnBrk="0" hangingPunct="1">
              <a:lnSpc>
                <a:spcPct val="120000"/>
              </a:lnSpc>
              <a:spcBef>
                <a:spcPts val="0"/>
              </a:spcBef>
              <a:spcAft>
                <a:spcPts val="0"/>
              </a:spcAft>
              <a:buClrTx/>
              <a:buSzTx/>
              <a:buFontTx/>
              <a:buNone/>
              <a:defRPr/>
            </a:pPr>
            <a:r>
              <a:rPr kumimoji="0" lang="zh-CN" altLang="en-US" sz="40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rtl val="0"/>
              </a:rPr>
              <a:t>名列前茅</a:t>
            </a:r>
            <a:endParaRPr kumimoji="0" lang="en-US" altLang="zh-CN" sz="40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rtl val="0"/>
            </a:endParaRPr>
          </a:p>
          <a:p>
            <a:pPr marL="0" marR="0" lvl="0" indent="0" algn="ctr" defTabSz="260985" rtl="0" eaLnBrk="1" fontAlgn="auto" latinLnBrk="0" hangingPunct="1">
              <a:lnSpc>
                <a:spcPct val="120000"/>
              </a:lnSpc>
              <a:spcBef>
                <a:spcPts val="0"/>
              </a:spcBef>
              <a:spcAft>
                <a:spcPts val="0"/>
              </a:spcAft>
              <a:buClrTx/>
              <a:buSzTx/>
              <a:buFontTx/>
              <a:buNone/>
              <a:defRPr/>
            </a:pPr>
            <a:r>
              <a:rPr kumimoji="1" lang="zh-CN" altLang="en-US"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rPr>
              <a:t>市占率</a:t>
            </a:r>
            <a:endParaRPr kumimoji="1" lang="en-US" altLang="zh-CN"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endParaRPr>
          </a:p>
        </p:txBody>
      </p:sp>
      <p:sp>
        <p:nvSpPr>
          <p:cNvPr id="24" name="文本框 23"/>
          <p:cNvSpPr txBox="1"/>
          <p:nvPr/>
        </p:nvSpPr>
        <p:spPr>
          <a:xfrm>
            <a:off x="638085" y="3429169"/>
            <a:ext cx="2681462" cy="1256306"/>
          </a:xfrm>
          <a:prstGeom prst="rect">
            <a:avLst/>
          </a:prstGeom>
          <a:noFill/>
        </p:spPr>
        <p:txBody>
          <a:bodyPr wrap="square" rtlCol="0">
            <a:spAutoFit/>
          </a:bodyPr>
          <a:lstStyle/>
          <a:p>
            <a:pPr marL="0" marR="0" lvl="0" indent="0" algn="ctr" defTabSz="260985" rtl="0" eaLnBrk="1" fontAlgn="auto" latinLnBrk="0" hangingPunct="1">
              <a:lnSpc>
                <a:spcPct val="120000"/>
              </a:lnSpc>
              <a:spcBef>
                <a:spcPts val="0"/>
              </a:spcBef>
              <a:spcAft>
                <a:spcPts val="0"/>
              </a:spcAft>
              <a:buClrTx/>
              <a:buSzTx/>
              <a:buFontTx/>
              <a:buNone/>
              <a:defRPr/>
            </a:pPr>
            <a:r>
              <a:rPr kumimoji="0" lang="en-US" altLang="zh-CN" sz="4400" b="1" i="0" u="none" strike="noStrike" kern="1200" cap="none" spc="0" normalizeH="0" baseline="0" noProof="0" dirty="0">
                <a:ln>
                  <a:noFill/>
                </a:ln>
                <a:gradFill>
                  <a:gsLst>
                    <a:gs pos="0">
                      <a:prstClr val="white"/>
                    </a:gs>
                    <a:gs pos="100000">
                      <a:srgbClr val="FF60E3"/>
                    </a:gs>
                  </a:gsLst>
                  <a:lin ang="5400000" scaled="1"/>
                </a:gradFill>
                <a:effectLst/>
                <a:uLnTx/>
                <a:uFillTx/>
                <a:latin typeface="OPPOSans B" pitchFamily="18" charset="-122"/>
                <a:ea typeface="OPPOSans B" pitchFamily="18" charset="-122"/>
                <a:cs typeface="OPPOSans B" pitchFamily="18" charset="-122"/>
                <a:rtl val="0"/>
              </a:rPr>
              <a:t>4,000 +</a:t>
            </a:r>
            <a:endParaRPr kumimoji="0" lang="en-US" altLang="zh-CN" sz="4400" b="1" i="0" u="none" strike="noStrike" kern="1200" cap="none" spc="0" normalizeH="0" baseline="0" noProof="0" dirty="0">
              <a:ln>
                <a:noFill/>
              </a:ln>
              <a:gradFill>
                <a:gsLst>
                  <a:gs pos="0">
                    <a:prstClr val="white"/>
                  </a:gs>
                  <a:gs pos="100000">
                    <a:srgbClr val="FF60E3"/>
                  </a:gs>
                </a:gsLst>
                <a:lin ang="5400000" scaled="1"/>
              </a:gradFill>
              <a:effectLst/>
              <a:uLnTx/>
              <a:uFillTx/>
              <a:latin typeface="OPPOSans B" pitchFamily="18" charset="-122"/>
              <a:ea typeface="OPPOSans B" pitchFamily="18" charset="-122"/>
              <a:cs typeface="OPPOSans B" pitchFamily="18" charset="-122"/>
              <a:rtl val="0"/>
            </a:endParaRPr>
          </a:p>
          <a:p>
            <a:pPr marL="0" marR="0" lvl="0" indent="0" algn="ctr" defTabSz="260985" rtl="0" eaLnBrk="1" fontAlgn="auto" latinLnBrk="0" hangingPunct="1">
              <a:lnSpc>
                <a:spcPct val="120000"/>
              </a:lnSpc>
              <a:spcBef>
                <a:spcPts val="0"/>
              </a:spcBef>
              <a:spcAft>
                <a:spcPts val="0"/>
              </a:spcAft>
              <a:buClrTx/>
              <a:buSzTx/>
              <a:buFontTx/>
              <a:buNone/>
              <a:defRPr/>
            </a:pPr>
            <a:r>
              <a:rPr kumimoji="1" lang="zh-CN" altLang="en-US"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rPr>
              <a:t>授权有效专利</a:t>
            </a:r>
            <a:endParaRPr kumimoji="1" lang="zh-CN" altLang="en-US"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endParaRPr>
          </a:p>
        </p:txBody>
      </p:sp>
      <p:sp>
        <p:nvSpPr>
          <p:cNvPr id="25" name="文本框 24"/>
          <p:cNvSpPr txBox="1"/>
          <p:nvPr/>
        </p:nvSpPr>
        <p:spPr>
          <a:xfrm>
            <a:off x="6799150" y="1461593"/>
            <a:ext cx="2803060" cy="1256306"/>
          </a:xfrm>
          <a:prstGeom prst="rect">
            <a:avLst/>
          </a:prstGeom>
          <a:noFill/>
        </p:spPr>
        <p:txBody>
          <a:bodyPr wrap="square" rtlCol="0">
            <a:spAutoFit/>
          </a:bodyPr>
          <a:lstStyle/>
          <a:p>
            <a:pPr marL="0" marR="0" lvl="0" indent="0" algn="ctr" defTabSz="260985" rtl="0" eaLnBrk="1" fontAlgn="auto" latinLnBrk="0" hangingPunct="1">
              <a:lnSpc>
                <a:spcPct val="120000"/>
              </a:lnSpc>
              <a:spcBef>
                <a:spcPts val="0"/>
              </a:spcBef>
              <a:spcAft>
                <a:spcPts val="0"/>
              </a:spcAft>
              <a:buClrTx/>
              <a:buSzTx/>
              <a:buFontTx/>
              <a:buNone/>
              <a:defRPr/>
            </a:pPr>
            <a:r>
              <a:rPr kumimoji="0" lang="en-US" altLang="zh-CN" sz="4400" b="1" i="0" u="none" strike="noStrike" kern="1200" cap="none" spc="0" normalizeH="0" baseline="0" noProof="0" dirty="0">
                <a:ln>
                  <a:noFill/>
                </a:ln>
                <a:gradFill>
                  <a:gsLst>
                    <a:gs pos="0">
                      <a:prstClr val="white"/>
                    </a:gs>
                    <a:gs pos="100000">
                      <a:srgbClr val="FF60E3"/>
                    </a:gs>
                  </a:gsLst>
                  <a:lin ang="5400000" scaled="1"/>
                </a:gradFill>
                <a:effectLst/>
                <a:uLnTx/>
                <a:uFillTx/>
                <a:latin typeface="OPPOSans B" pitchFamily="18" charset="-122"/>
                <a:ea typeface="OPPOSans B" pitchFamily="18" charset="-122"/>
                <a:cs typeface="OPPOSans B" pitchFamily="18" charset="-122"/>
                <a:rtl val="0"/>
              </a:rPr>
              <a:t>6,000+</a:t>
            </a:r>
            <a:endParaRPr kumimoji="0" lang="en-US" altLang="zh-CN" sz="4400" b="1" i="0" u="none" strike="noStrike" kern="1200" cap="none" spc="0" normalizeH="0" baseline="0" noProof="0" dirty="0">
              <a:ln>
                <a:noFill/>
              </a:ln>
              <a:gradFill>
                <a:gsLst>
                  <a:gs pos="0">
                    <a:prstClr val="white"/>
                  </a:gs>
                  <a:gs pos="100000">
                    <a:srgbClr val="FF60E3"/>
                  </a:gs>
                </a:gsLst>
                <a:lin ang="5400000" scaled="1"/>
              </a:gradFill>
              <a:effectLst/>
              <a:uLnTx/>
              <a:uFillTx/>
              <a:latin typeface="OPPOSans B" pitchFamily="18" charset="-122"/>
              <a:ea typeface="OPPOSans B" pitchFamily="18" charset="-122"/>
              <a:cs typeface="OPPOSans B" pitchFamily="18" charset="-122"/>
              <a:rtl val="0"/>
            </a:endParaRPr>
          </a:p>
          <a:p>
            <a:pPr marL="0" marR="0" lvl="0" indent="0" algn="ctr" defTabSz="260985" rtl="0" eaLnBrk="1" fontAlgn="auto" latinLnBrk="0" hangingPunct="1">
              <a:lnSpc>
                <a:spcPct val="120000"/>
              </a:lnSpc>
              <a:spcBef>
                <a:spcPts val="0"/>
              </a:spcBef>
              <a:spcAft>
                <a:spcPts val="0"/>
              </a:spcAft>
              <a:buClrTx/>
              <a:buSzTx/>
              <a:buFontTx/>
              <a:buNone/>
              <a:defRPr/>
            </a:pPr>
            <a:r>
              <a:rPr kumimoji="1" lang="zh-CN" altLang="en-US"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rPr>
              <a:t>员工</a:t>
            </a:r>
            <a:endParaRPr kumimoji="1" lang="zh-CN" altLang="en-US"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endParaRPr>
          </a:p>
        </p:txBody>
      </p:sp>
      <p:sp>
        <p:nvSpPr>
          <p:cNvPr id="26" name="矩形 25"/>
          <p:cNvSpPr/>
          <p:nvPr/>
        </p:nvSpPr>
        <p:spPr>
          <a:xfrm>
            <a:off x="3399701" y="3271399"/>
            <a:ext cx="3335949" cy="1459438"/>
          </a:xfrm>
          <a:prstGeom prst="rect">
            <a:avLst/>
          </a:prstGeom>
        </p:spPr>
        <p:txBody>
          <a:bodyPr wrap="square">
            <a:spAutoFit/>
          </a:bodyPr>
          <a:lstStyle/>
          <a:p>
            <a:pPr marL="0" marR="0" lvl="0" indent="0" algn="l" defTabSz="460375" rtl="0" eaLnBrk="1" fontAlgn="auto" latinLnBrk="0" hangingPunct="1">
              <a:lnSpc>
                <a:spcPct val="150000"/>
              </a:lnSpc>
              <a:spcBef>
                <a:spcPct val="0"/>
              </a:spcBef>
              <a:spcAft>
                <a:spcPts val="0"/>
              </a:spcAft>
              <a:buClrTx/>
              <a:buSzTx/>
              <a:buFontTx/>
              <a:buNone/>
              <a:tabLst>
                <a:tab pos="2165985" algn="l"/>
              </a:tabLst>
              <a:defRPr/>
            </a:pPr>
            <a:r>
              <a:rPr kumimoji="0" lang="en-US" altLang="zh-CN" sz="4400" b="1" i="0" u="none" strike="noStrike" kern="1200" cap="none" spc="0" normalizeH="0" baseline="0" noProof="0" dirty="0">
                <a:ln>
                  <a:noFill/>
                </a:ln>
                <a:gradFill>
                  <a:gsLst>
                    <a:gs pos="0">
                      <a:prstClr val="white"/>
                    </a:gs>
                    <a:gs pos="100000">
                      <a:srgbClr val="FF60E3"/>
                    </a:gs>
                  </a:gsLst>
                  <a:lin ang="5400000" scaled="1"/>
                </a:gradFill>
                <a:effectLst/>
                <a:uLnTx/>
                <a:uFillTx/>
                <a:latin typeface="OPPOSans B" pitchFamily="18" charset="-122"/>
                <a:ea typeface="OPPOSans B" pitchFamily="18" charset="-122"/>
                <a:cs typeface="OPPOSans B" pitchFamily="18" charset="-122"/>
                <a:rtl val="0"/>
              </a:rPr>
              <a:t>135,000 +</a:t>
            </a:r>
            <a:endParaRPr kumimoji="0" lang="en-US" altLang="zh-CN" sz="4400" b="1" i="0" u="none" strike="noStrike" kern="1200" cap="none" spc="0" normalizeH="0" baseline="0" noProof="0" dirty="0">
              <a:ln>
                <a:noFill/>
              </a:ln>
              <a:gradFill>
                <a:gsLst>
                  <a:gs pos="0">
                    <a:prstClr val="white"/>
                  </a:gs>
                  <a:gs pos="100000">
                    <a:srgbClr val="FF60E3"/>
                  </a:gs>
                </a:gsLst>
                <a:lin ang="5400000" scaled="1"/>
              </a:gradFill>
              <a:effectLst/>
              <a:uLnTx/>
              <a:uFillTx/>
              <a:latin typeface="OPPOSans B" pitchFamily="18" charset="-122"/>
              <a:ea typeface="OPPOSans B" pitchFamily="18" charset="-122"/>
              <a:cs typeface="OPPOSans B" pitchFamily="18" charset="-122"/>
              <a:rtl val="0"/>
            </a:endParaRPr>
          </a:p>
          <a:p>
            <a:pPr marL="0" marR="0" lvl="0" indent="0" algn="ctr" defTabSz="260985" rtl="0" eaLnBrk="1" fontAlgn="auto" latinLnBrk="0" hangingPunct="1">
              <a:lnSpc>
                <a:spcPct val="120000"/>
              </a:lnSpc>
              <a:spcBef>
                <a:spcPct val="0"/>
              </a:spcBef>
              <a:spcAft>
                <a:spcPts val="0"/>
              </a:spcAft>
              <a:buClrTx/>
              <a:buSzTx/>
              <a:buFontTx/>
              <a:buNone/>
              <a:tabLst>
                <a:tab pos="2165985" algn="l"/>
              </a:tabLst>
              <a:defRPr/>
            </a:pPr>
            <a:r>
              <a:rPr kumimoji="1" lang="zh-CN" altLang="en-US"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rPr>
              <a:t>服务终端</a:t>
            </a:r>
            <a:endParaRPr kumimoji="1" lang="en-US" altLang="zh-CN"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endParaRPr>
          </a:p>
        </p:txBody>
      </p:sp>
      <p:sp>
        <p:nvSpPr>
          <p:cNvPr id="28" name="矩形 27"/>
          <p:cNvSpPr/>
          <p:nvPr/>
        </p:nvSpPr>
        <p:spPr>
          <a:xfrm>
            <a:off x="7052676" y="3278339"/>
            <a:ext cx="2214041" cy="1459438"/>
          </a:xfrm>
          <a:prstGeom prst="rect">
            <a:avLst/>
          </a:prstGeom>
        </p:spPr>
        <p:txBody>
          <a:bodyPr wrap="square">
            <a:spAutoFit/>
          </a:bodyPr>
          <a:lstStyle/>
          <a:p>
            <a:pPr marL="0" marR="0" lvl="0" indent="0" algn="l" defTabSz="460375" rtl="0" eaLnBrk="1" fontAlgn="auto" latinLnBrk="0" hangingPunct="1">
              <a:lnSpc>
                <a:spcPct val="150000"/>
              </a:lnSpc>
              <a:spcBef>
                <a:spcPct val="0"/>
              </a:spcBef>
              <a:spcAft>
                <a:spcPts val="0"/>
              </a:spcAft>
              <a:buClrTx/>
              <a:buSzTx/>
              <a:buFontTx/>
              <a:buNone/>
              <a:tabLst>
                <a:tab pos="2165985" algn="l"/>
              </a:tabLst>
              <a:defRPr/>
            </a:pPr>
            <a:r>
              <a:rPr kumimoji="0" lang="en-US" altLang="zh-CN" sz="4400" b="1" i="0" u="none" strike="noStrike" kern="1200" cap="none" spc="0" normalizeH="0" baseline="0" noProof="0" dirty="0">
                <a:ln>
                  <a:noFill/>
                </a:ln>
                <a:gradFill>
                  <a:gsLst>
                    <a:gs pos="0">
                      <a:prstClr val="white"/>
                    </a:gs>
                    <a:gs pos="100000">
                      <a:srgbClr val="FF60E3"/>
                    </a:gs>
                  </a:gsLst>
                  <a:lin ang="5400000" scaled="1"/>
                </a:gradFill>
                <a:effectLst/>
                <a:uLnTx/>
                <a:uFillTx/>
                <a:latin typeface="OPPOSans B" pitchFamily="18" charset="-122"/>
                <a:ea typeface="OPPOSans B" pitchFamily="18" charset="-122"/>
                <a:cs typeface="OPPOSans B" pitchFamily="18" charset="-122"/>
                <a:rtl val="0"/>
              </a:rPr>
              <a:t>70+</a:t>
            </a:r>
            <a:r>
              <a:rPr kumimoji="1" lang="zh-CN" altLang="en-US"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rPr>
              <a:t>国家</a:t>
            </a:r>
            <a:endParaRPr kumimoji="1" lang="en-US" altLang="zh-CN"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endParaRPr>
          </a:p>
          <a:p>
            <a:pPr marL="0" marR="0" lvl="0" indent="0" algn="ctr" defTabSz="260985" rtl="0" eaLnBrk="1" fontAlgn="auto" latinLnBrk="0" hangingPunct="1">
              <a:lnSpc>
                <a:spcPct val="120000"/>
              </a:lnSpc>
              <a:spcBef>
                <a:spcPct val="0"/>
              </a:spcBef>
              <a:spcAft>
                <a:spcPts val="0"/>
              </a:spcAft>
              <a:buClrTx/>
              <a:buSzTx/>
              <a:buFontTx/>
              <a:buNone/>
              <a:tabLst>
                <a:tab pos="2165985" algn="l"/>
              </a:tabLst>
              <a:defRPr/>
            </a:pPr>
            <a:r>
              <a:rPr kumimoji="1" lang="zh-CN" altLang="en-US"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rPr>
              <a:t>业务覆盖</a:t>
            </a:r>
            <a:endParaRPr kumimoji="1" lang="en-US" altLang="zh-CN"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endParaRPr>
          </a:p>
        </p:txBody>
      </p:sp>
      <p:sp>
        <p:nvSpPr>
          <p:cNvPr id="29" name="矩形 28"/>
          <p:cNvSpPr/>
          <p:nvPr/>
        </p:nvSpPr>
        <p:spPr>
          <a:xfrm>
            <a:off x="8576925" y="1461593"/>
            <a:ext cx="3854931" cy="1256306"/>
          </a:xfrm>
          <a:prstGeom prst="rect">
            <a:avLst/>
          </a:prstGeom>
        </p:spPr>
        <p:txBody>
          <a:bodyPr wrap="square">
            <a:spAutoFit/>
          </a:bodyPr>
          <a:lstStyle/>
          <a:p>
            <a:pPr marL="0" marR="0" lvl="0" indent="0" algn="ctr" defTabSz="260985" rtl="0" eaLnBrk="1" fontAlgn="auto" latinLnBrk="0" hangingPunct="1">
              <a:lnSpc>
                <a:spcPct val="120000"/>
              </a:lnSpc>
              <a:spcBef>
                <a:spcPct val="0"/>
              </a:spcBef>
              <a:spcAft>
                <a:spcPts val="0"/>
              </a:spcAft>
              <a:buClrTx/>
              <a:buSzTx/>
              <a:buFontTx/>
              <a:buNone/>
              <a:tabLst>
                <a:tab pos="2165985" algn="l"/>
              </a:tabLst>
              <a:defRPr/>
            </a:pPr>
            <a:r>
              <a:rPr kumimoji="0" lang="en-US" altLang="zh-CN" sz="4400" b="1" i="0" u="none" strike="noStrike" kern="1200" cap="none" spc="0" normalizeH="0" baseline="0" noProof="0" dirty="0">
                <a:ln>
                  <a:noFill/>
                </a:ln>
                <a:gradFill>
                  <a:gsLst>
                    <a:gs pos="0">
                      <a:prstClr val="white"/>
                    </a:gs>
                    <a:gs pos="100000">
                      <a:srgbClr val="FF60E3"/>
                    </a:gs>
                  </a:gsLst>
                  <a:lin ang="5400000" scaled="1"/>
                </a:gradFill>
                <a:effectLst/>
                <a:uLnTx/>
                <a:uFillTx/>
                <a:latin typeface="OPPOSans B" pitchFamily="18" charset="-122"/>
                <a:ea typeface="OPPOSans B" pitchFamily="18" charset="-122"/>
                <a:cs typeface="OPPOSans B" pitchFamily="18" charset="-122"/>
                <a:rtl val="0"/>
              </a:rPr>
              <a:t>3 </a:t>
            </a:r>
            <a:r>
              <a:rPr kumimoji="1" lang="zh-CN" altLang="en-US"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rPr>
              <a:t>大</a:t>
            </a:r>
            <a:endParaRPr kumimoji="1" lang="en-US" altLang="zh-CN"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endParaRPr>
          </a:p>
          <a:p>
            <a:pPr marL="0" marR="0" lvl="0" indent="0" algn="ctr" defTabSz="260985" rtl="0" eaLnBrk="1" fontAlgn="auto" latinLnBrk="0" hangingPunct="1">
              <a:lnSpc>
                <a:spcPct val="120000"/>
              </a:lnSpc>
              <a:spcBef>
                <a:spcPct val="0"/>
              </a:spcBef>
              <a:spcAft>
                <a:spcPts val="0"/>
              </a:spcAft>
              <a:buClrTx/>
              <a:buSzTx/>
              <a:buFontTx/>
              <a:buNone/>
              <a:tabLst>
                <a:tab pos="2165985" algn="l"/>
              </a:tabLst>
              <a:defRPr/>
            </a:pPr>
            <a:r>
              <a:rPr kumimoji="1" lang="zh-CN" altLang="en-US"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rPr>
              <a:t>生产基地</a:t>
            </a:r>
            <a:endParaRPr kumimoji="1" lang="en-US" altLang="zh-CN"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endParaRPr>
          </a:p>
        </p:txBody>
      </p:sp>
      <p:sp>
        <p:nvSpPr>
          <p:cNvPr id="31" name="矩形 30"/>
          <p:cNvSpPr/>
          <p:nvPr/>
        </p:nvSpPr>
        <p:spPr>
          <a:xfrm>
            <a:off x="9306380" y="3221780"/>
            <a:ext cx="2681462" cy="1459438"/>
          </a:xfrm>
          <a:prstGeom prst="rect">
            <a:avLst/>
          </a:prstGeom>
        </p:spPr>
        <p:txBody>
          <a:bodyPr wrap="square">
            <a:spAutoFit/>
          </a:bodyPr>
          <a:lstStyle/>
          <a:p>
            <a:pPr marL="0" marR="0" lvl="0" indent="0" algn="l" defTabSz="460375" rtl="0" eaLnBrk="1" fontAlgn="auto" latinLnBrk="0" hangingPunct="1">
              <a:lnSpc>
                <a:spcPct val="150000"/>
              </a:lnSpc>
              <a:spcBef>
                <a:spcPct val="0"/>
              </a:spcBef>
              <a:spcAft>
                <a:spcPts val="0"/>
              </a:spcAft>
              <a:buClrTx/>
              <a:buSzTx/>
              <a:buFontTx/>
              <a:buNone/>
              <a:tabLst>
                <a:tab pos="2165985" algn="l"/>
              </a:tabLst>
              <a:defRPr/>
            </a:pPr>
            <a:r>
              <a:rPr kumimoji="0" lang="en-US" altLang="zh-CN" sz="4400" b="1" i="0" u="none" strike="noStrike" kern="1200" cap="none" spc="0" normalizeH="0" baseline="0" noProof="0" dirty="0">
                <a:ln>
                  <a:noFill/>
                </a:ln>
                <a:gradFill>
                  <a:gsLst>
                    <a:gs pos="0">
                      <a:prstClr val="white"/>
                    </a:gs>
                    <a:gs pos="100000">
                      <a:srgbClr val="FF60E3"/>
                    </a:gs>
                  </a:gsLst>
                  <a:lin ang="5400000" scaled="1"/>
                </a:gradFill>
                <a:effectLst/>
                <a:uLnTx/>
                <a:uFillTx/>
                <a:latin typeface="OPPOSans B" pitchFamily="18" charset="-122"/>
                <a:ea typeface="OPPOSans B" pitchFamily="18" charset="-122"/>
                <a:cs typeface="OPPOSans B" pitchFamily="18" charset="-122"/>
                <a:rtl val="0"/>
              </a:rPr>
              <a:t>100+</a:t>
            </a:r>
            <a:r>
              <a:rPr kumimoji="1" lang="zh-CN" altLang="en-US"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rPr>
              <a:t>城市</a:t>
            </a:r>
            <a:endParaRPr kumimoji="1" lang="en-US" altLang="zh-CN"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endParaRPr>
          </a:p>
          <a:p>
            <a:pPr marL="0" marR="0" lvl="0" indent="0" algn="ctr" defTabSz="260985" rtl="0" eaLnBrk="1" fontAlgn="auto" latinLnBrk="0" hangingPunct="1">
              <a:lnSpc>
                <a:spcPct val="120000"/>
              </a:lnSpc>
              <a:spcBef>
                <a:spcPct val="0"/>
              </a:spcBef>
              <a:spcAft>
                <a:spcPts val="0"/>
              </a:spcAft>
              <a:buClrTx/>
              <a:buSzTx/>
              <a:buFontTx/>
              <a:buNone/>
              <a:tabLst>
                <a:tab pos="2165985" algn="l"/>
              </a:tabLst>
              <a:defRPr/>
            </a:pPr>
            <a:r>
              <a:rPr kumimoji="1" lang="zh-CN" altLang="en-US"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rPr>
              <a:t>服务触达</a:t>
            </a:r>
            <a:endParaRPr kumimoji="1" lang="en-US" altLang="zh-CN"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endParaRPr>
          </a:p>
        </p:txBody>
      </p:sp>
      <p:sp>
        <p:nvSpPr>
          <p:cNvPr id="32" name="矩形 31"/>
          <p:cNvSpPr/>
          <p:nvPr/>
        </p:nvSpPr>
        <p:spPr>
          <a:xfrm>
            <a:off x="2926520" y="5316430"/>
            <a:ext cx="6340197" cy="930511"/>
          </a:xfrm>
          <a:prstGeom prst="rect">
            <a:avLst/>
          </a:prstGeom>
        </p:spPr>
        <p:txBody>
          <a:bodyPr wrap="none">
            <a:spAutoFit/>
          </a:bodyPr>
          <a:lstStyle/>
          <a:p>
            <a:pPr marL="0" marR="0" lvl="0" indent="0" algn="l" defTabSz="914400" rtl="0" eaLnBrk="1" fontAlgn="auto" latinLnBrk="0" hangingPunct="1">
              <a:lnSpc>
                <a:spcPct val="150000"/>
              </a:lnSpc>
              <a:spcBef>
                <a:spcPct val="0"/>
              </a:spcBef>
              <a:spcAft>
                <a:spcPts val="0"/>
              </a:spcAft>
              <a:buClrTx/>
              <a:buSzTx/>
              <a:buFontTx/>
              <a:buNone/>
              <a:tabLst>
                <a:tab pos="4305300" algn="l"/>
              </a:tabLst>
              <a:defRPr/>
            </a:pPr>
            <a:r>
              <a:rPr kumimoji="1" lang="zh-CN" altLang="en-US"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rPr>
              <a:t>持续迈向</a:t>
            </a:r>
            <a:r>
              <a:rPr kumimoji="0" lang="zh-CN" altLang="en-US" sz="40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rtl val="0"/>
              </a:rPr>
              <a:t>全球第一智能照明品牌</a:t>
            </a:r>
            <a:endParaRPr kumimoji="0" lang="en-US" altLang="zh-CN" sz="40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rtl val="0"/>
            </a:endParaRPr>
          </a:p>
        </p:txBody>
      </p:sp>
      <p:pic>
        <p:nvPicPr>
          <p:cNvPr id="33" name="图形 3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8656" y="398194"/>
            <a:ext cx="803879" cy="353429"/>
          </a:xfrm>
          <a:prstGeom prst="rect">
            <a:avLst/>
          </a:prstGeom>
        </p:spPr>
      </p:pic>
      <p:sp>
        <p:nvSpPr>
          <p:cNvPr id="34" name="矩形 33"/>
          <p:cNvSpPr/>
          <p:nvPr/>
        </p:nvSpPr>
        <p:spPr>
          <a:xfrm>
            <a:off x="-98115" y="1499939"/>
            <a:ext cx="3854931" cy="1256306"/>
          </a:xfrm>
          <a:prstGeom prst="rect">
            <a:avLst/>
          </a:prstGeom>
        </p:spPr>
        <p:txBody>
          <a:bodyPr wrap="square">
            <a:spAutoFit/>
          </a:bodyPr>
          <a:lstStyle/>
          <a:p>
            <a:pPr marL="0" marR="0" lvl="0" indent="0" algn="ctr" defTabSz="260985" rtl="0" eaLnBrk="1" fontAlgn="auto" latinLnBrk="0" hangingPunct="1">
              <a:lnSpc>
                <a:spcPct val="120000"/>
              </a:lnSpc>
              <a:spcBef>
                <a:spcPct val="0"/>
              </a:spcBef>
              <a:spcAft>
                <a:spcPts val="0"/>
              </a:spcAft>
              <a:buClrTx/>
              <a:buSzTx/>
              <a:buFontTx/>
              <a:buNone/>
              <a:tabLst>
                <a:tab pos="2165985" algn="l"/>
              </a:tabLst>
              <a:defRPr/>
            </a:pPr>
            <a:r>
              <a:rPr kumimoji="0" lang="en-US" altLang="zh-CN" sz="4400" b="1" i="0" u="none" strike="noStrike" kern="1200" cap="none" spc="0" normalizeH="0" baseline="0" noProof="0" dirty="0">
                <a:ln>
                  <a:noFill/>
                </a:ln>
                <a:gradFill>
                  <a:gsLst>
                    <a:gs pos="0">
                      <a:prstClr val="white"/>
                    </a:gs>
                    <a:gs pos="100000">
                      <a:srgbClr val="FF60E3"/>
                    </a:gs>
                  </a:gsLst>
                  <a:lin ang="5400000" scaled="1"/>
                </a:gradFill>
                <a:effectLst/>
                <a:uLnTx/>
                <a:uFillTx/>
                <a:latin typeface="OPPOSans B" pitchFamily="18" charset="-122"/>
                <a:ea typeface="OPPOSans B" pitchFamily="18" charset="-122"/>
                <a:cs typeface="OPPOSans B" pitchFamily="18" charset="-122"/>
                <a:rtl val="0"/>
              </a:rPr>
              <a:t>29</a:t>
            </a:r>
            <a:r>
              <a:rPr kumimoji="0" lang="en-US" altLang="zh-CN" sz="4400" b="1" i="1" u="none" strike="noStrike" kern="1200" cap="none" spc="0" normalizeH="0" baseline="0" noProof="0" dirty="0">
                <a:ln>
                  <a:noFill/>
                </a:ln>
                <a:gradFill flip="none" rotWithShape="1">
                  <a:gsLst>
                    <a:gs pos="15000">
                      <a:srgbClr val="FC3D23"/>
                    </a:gs>
                    <a:gs pos="100000">
                      <a:srgbClr val="FFE3C6"/>
                    </a:gs>
                  </a:gsLst>
                  <a:lin ang="2700000" scaled="1"/>
                  <a:tileRect/>
                </a:gradFill>
                <a:effectLst/>
                <a:uLnTx/>
                <a:uFillTx/>
                <a:latin typeface="OPPOSans M" pitchFamily="18" charset="-122"/>
                <a:ea typeface="OPPOSans M" pitchFamily="18" charset="-122"/>
                <a:cs typeface="OPPOSans M" pitchFamily="18" charset="-122"/>
              </a:rPr>
              <a:t> </a:t>
            </a:r>
            <a:r>
              <a:rPr kumimoji="1" lang="zh-CN" altLang="en-US"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rPr>
              <a:t>年</a:t>
            </a:r>
            <a:endParaRPr kumimoji="1" lang="en-US" altLang="zh-CN"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endParaRPr>
          </a:p>
          <a:p>
            <a:pPr marL="0" marR="0" lvl="0" indent="0" algn="ctr" defTabSz="260985" rtl="0" eaLnBrk="1" fontAlgn="auto" latinLnBrk="0" hangingPunct="1">
              <a:lnSpc>
                <a:spcPct val="120000"/>
              </a:lnSpc>
              <a:spcBef>
                <a:spcPct val="0"/>
              </a:spcBef>
              <a:spcAft>
                <a:spcPts val="0"/>
              </a:spcAft>
              <a:buClrTx/>
              <a:buSzTx/>
              <a:buFontTx/>
              <a:buNone/>
              <a:tabLst>
                <a:tab pos="2165985" algn="l"/>
              </a:tabLst>
              <a:defRPr/>
            </a:pPr>
            <a:r>
              <a:rPr kumimoji="1" lang="zh-CN" altLang="en-US"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rPr>
              <a:t>行业领跑</a:t>
            </a:r>
            <a:endParaRPr kumimoji="1" lang="en-US" altLang="zh-CN"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
          <a:srcRect l="31819" r="26336" b="23998"/>
          <a:stretch>
            <a:fillRect/>
          </a:stretch>
        </p:blipFill>
        <p:spPr>
          <a:xfrm>
            <a:off x="-1" y="0"/>
            <a:ext cx="12192001" cy="6165983"/>
          </a:xfrm>
          <a:prstGeom prst="rect">
            <a:avLst/>
          </a:prstGeom>
        </p:spPr>
      </p:pic>
      <p:sp>
        <p:nvSpPr>
          <p:cNvPr id="14" name="矩形 13"/>
          <p:cNvSpPr/>
          <p:nvPr/>
        </p:nvSpPr>
        <p:spPr>
          <a:xfrm rot="10800000">
            <a:off x="-1" y="-2"/>
            <a:ext cx="12192000" cy="6858001"/>
          </a:xfrm>
          <a:prstGeom prst="rect">
            <a:avLst/>
          </a:prstGeom>
          <a:gradFill>
            <a:gsLst>
              <a:gs pos="100000">
                <a:srgbClr val="0A0B0B">
                  <a:alpha val="80000"/>
                </a:srgbClr>
              </a:gs>
              <a:gs pos="0">
                <a:srgbClr val="010001">
                  <a:alpha val="7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方正兰亭中粗黑简体" panose="02000000000000000000" pitchFamily="2" charset="-122"/>
              <a:ea typeface="方正兰亭中粗黑简体" panose="02000000000000000000" pitchFamily="2" charset="-122"/>
              <a:cs typeface="+mn-cs"/>
            </a:endParaRPr>
          </a:p>
        </p:txBody>
      </p:sp>
      <p:sp>
        <p:nvSpPr>
          <p:cNvPr id="15" name="圆角矩形 33"/>
          <p:cNvSpPr/>
          <p:nvPr/>
        </p:nvSpPr>
        <p:spPr>
          <a:xfrm>
            <a:off x="3932238" y="3429993"/>
            <a:ext cx="2379980" cy="2316846"/>
          </a:xfrm>
          <a:prstGeom prst="roundRect">
            <a:avLst>
              <a:gd name="adj" fmla="val 2949"/>
            </a:avLst>
          </a:prstGeom>
          <a:solidFill>
            <a:schemeClr val="tx1">
              <a:alpha val="2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OPPOSans M" pitchFamily="18" charset="-122"/>
              <a:ea typeface="OPPOSans M" pitchFamily="18" charset="-122"/>
              <a:cs typeface="OPPOSans M" pitchFamily="18" charset="-122"/>
            </a:endParaRPr>
          </a:p>
        </p:txBody>
      </p:sp>
      <p:sp>
        <p:nvSpPr>
          <p:cNvPr id="16" name="文本框 15"/>
          <p:cNvSpPr txBox="1"/>
          <p:nvPr/>
        </p:nvSpPr>
        <p:spPr>
          <a:xfrm>
            <a:off x="4773551" y="3632084"/>
            <a:ext cx="1189099"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rtl val="0"/>
              </a:rPr>
              <a:t>健康</a:t>
            </a:r>
            <a:endParaRPr kumimoji="0" lang="zh-CN" altLang="en-US" sz="24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rtl val="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rtl val="0"/>
              </a:rPr>
              <a:t>照明</a:t>
            </a:r>
            <a:endParaRPr kumimoji="0" lang="en-US" altLang="zh-CN" sz="24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rtl val="0"/>
            </a:endParaRPr>
          </a:p>
        </p:txBody>
      </p:sp>
      <p:pic>
        <p:nvPicPr>
          <p:cNvPr id="17" name="图片 40" descr="32303038313138303b32303131373035323bccabd1f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03793" y="3774985"/>
            <a:ext cx="419666" cy="420963"/>
          </a:xfrm>
          <a:prstGeom prst="rect">
            <a:avLst/>
          </a:prstGeom>
        </p:spPr>
      </p:pic>
      <p:sp>
        <p:nvSpPr>
          <p:cNvPr id="18" name="文本框 17"/>
          <p:cNvSpPr txBox="1"/>
          <p:nvPr/>
        </p:nvSpPr>
        <p:spPr>
          <a:xfrm>
            <a:off x="491673" y="2220454"/>
            <a:ext cx="11497127" cy="66896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30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rPr>
              <a:t>以研发为发展基石，联合行业协会及同济大学、武汉大学、浙江大学、复旦大学多所顶尖高校深化政产学研协同，主导健康照明、智能照明、照明空间设计、绿色照明等领域标准制定，逆势领航全球照明革新。</a:t>
            </a:r>
            <a:endParaRPr kumimoji="0" lang="en-US" altLang="zh-CN" sz="1600" b="0" i="0" u="none" strike="noStrike" kern="1200" cap="none" spc="30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endParaRPr>
          </a:p>
        </p:txBody>
      </p:sp>
      <p:sp>
        <p:nvSpPr>
          <p:cNvPr id="19" name="圆角矩形 47"/>
          <p:cNvSpPr/>
          <p:nvPr/>
        </p:nvSpPr>
        <p:spPr>
          <a:xfrm>
            <a:off x="6520339" y="3442057"/>
            <a:ext cx="2379980" cy="2334167"/>
          </a:xfrm>
          <a:prstGeom prst="roundRect">
            <a:avLst>
              <a:gd name="adj" fmla="val 2949"/>
            </a:avLst>
          </a:prstGeom>
          <a:solidFill>
            <a:schemeClr val="tx1">
              <a:alpha val="2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OPPOSans M" pitchFamily="18" charset="-122"/>
              <a:ea typeface="OPPOSans M" pitchFamily="18" charset="-122"/>
              <a:cs typeface="OPPOSans M" pitchFamily="18" charset="-122"/>
            </a:endParaRPr>
          </a:p>
        </p:txBody>
      </p:sp>
      <p:sp>
        <p:nvSpPr>
          <p:cNvPr id="20" name="文本框 19"/>
          <p:cNvSpPr txBox="1"/>
          <p:nvPr/>
        </p:nvSpPr>
        <p:spPr>
          <a:xfrm>
            <a:off x="7375909" y="3631969"/>
            <a:ext cx="1189099"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rtl val="0"/>
              </a:rPr>
              <a:t>智能</a:t>
            </a:r>
            <a:endParaRPr kumimoji="0" lang="zh-CN" altLang="en-US" sz="24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rtl val="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rtl val="0"/>
              </a:rPr>
              <a:t>照明</a:t>
            </a:r>
            <a:endParaRPr kumimoji="0" lang="en-US" altLang="zh-CN" sz="24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rtl val="0"/>
            </a:endParaRPr>
          </a:p>
        </p:txBody>
      </p:sp>
      <p:sp>
        <p:nvSpPr>
          <p:cNvPr id="21" name="圆角矩形 52"/>
          <p:cNvSpPr/>
          <p:nvPr/>
        </p:nvSpPr>
        <p:spPr>
          <a:xfrm>
            <a:off x="9108440" y="3442057"/>
            <a:ext cx="2379980" cy="2334167"/>
          </a:xfrm>
          <a:prstGeom prst="roundRect">
            <a:avLst>
              <a:gd name="adj" fmla="val 2949"/>
            </a:avLst>
          </a:prstGeom>
          <a:solidFill>
            <a:schemeClr val="tx1">
              <a:alpha val="2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OPPOSans M" pitchFamily="18" charset="-122"/>
              <a:ea typeface="OPPOSans M" pitchFamily="18" charset="-122"/>
              <a:cs typeface="OPPOSans M" pitchFamily="18" charset="-122"/>
            </a:endParaRPr>
          </a:p>
        </p:txBody>
      </p:sp>
      <p:sp>
        <p:nvSpPr>
          <p:cNvPr id="27" name="文本框 26"/>
          <p:cNvSpPr txBox="1"/>
          <p:nvPr/>
        </p:nvSpPr>
        <p:spPr>
          <a:xfrm>
            <a:off x="9954055" y="3631523"/>
            <a:ext cx="1189099"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rtl val="0"/>
              </a:rPr>
              <a:t>绿色</a:t>
            </a:r>
            <a:endParaRPr kumimoji="0" lang="zh-CN" altLang="en-US" sz="24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rtl val="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rtl val="0"/>
              </a:rPr>
              <a:t>照明</a:t>
            </a:r>
            <a:endParaRPr kumimoji="0" lang="zh-CN" altLang="en-US" sz="24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rtl val="0"/>
            </a:endParaRPr>
          </a:p>
        </p:txBody>
      </p:sp>
      <p:sp>
        <p:nvSpPr>
          <p:cNvPr id="33" name="文本框 32"/>
          <p:cNvSpPr txBox="1"/>
          <p:nvPr/>
        </p:nvSpPr>
        <p:spPr>
          <a:xfrm>
            <a:off x="9410065" y="4590836"/>
            <a:ext cx="1776730" cy="81310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rPr>
              <a:t>国家标准</a:t>
            </a:r>
            <a:r>
              <a:rPr kumimoji="0" lang="en-US" altLang="zh-CN" sz="2000" b="1"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rPr>
              <a:t>4</a:t>
            </a:r>
            <a:r>
              <a:rPr kumimoji="0" lang="zh-CN" altLang="en-US" sz="14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rPr>
              <a:t>项</a:t>
            </a:r>
            <a:endParaRPr kumimoji="0" lang="zh-CN" altLang="en-US" sz="14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rPr>
              <a:t>团体标准</a:t>
            </a:r>
            <a:r>
              <a:rPr kumimoji="0" lang="en-US" altLang="zh-CN" sz="2000" b="1"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rPr>
              <a:t>5</a:t>
            </a:r>
            <a:r>
              <a:rPr kumimoji="0" lang="zh-CN" altLang="en-US" sz="14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rPr>
              <a:t>项</a:t>
            </a:r>
            <a:endParaRPr kumimoji="0" lang="zh-CN" altLang="en-US" sz="14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endParaRPr>
          </a:p>
        </p:txBody>
      </p:sp>
      <p:pic>
        <p:nvPicPr>
          <p:cNvPr id="34" name="图片 69" descr="303b333633383533343bc0b6d1c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11977" y="3771471"/>
            <a:ext cx="553720" cy="427990"/>
          </a:xfrm>
          <a:prstGeom prst="rect">
            <a:avLst/>
          </a:prstGeom>
        </p:spPr>
      </p:pic>
      <p:pic>
        <p:nvPicPr>
          <p:cNvPr id="35" name="图片 1" descr="343435383139313b333633363438323bbbb7b1a3bcfdcdb7"/>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696803" y="3780361"/>
            <a:ext cx="410210" cy="410210"/>
          </a:xfrm>
          <a:prstGeom prst="rect">
            <a:avLst/>
          </a:prstGeom>
        </p:spPr>
      </p:pic>
      <p:sp>
        <p:nvSpPr>
          <p:cNvPr id="36" name="文本框 35"/>
          <p:cNvSpPr txBox="1"/>
          <p:nvPr/>
        </p:nvSpPr>
        <p:spPr>
          <a:xfrm>
            <a:off x="4452497" y="4411286"/>
            <a:ext cx="1776730" cy="118244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rPr>
              <a:t>国家标准</a:t>
            </a:r>
            <a:r>
              <a:rPr kumimoji="0" lang="en-US" altLang="zh-CN" sz="2000" b="1"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rPr>
              <a:t>2</a:t>
            </a:r>
            <a:r>
              <a:rPr kumimoji="0" lang="zh-CN" altLang="en-US" sz="14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rPr>
              <a:t>项</a:t>
            </a:r>
            <a:endParaRPr kumimoji="0" lang="zh-CN" altLang="en-US" sz="14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rPr>
              <a:t>团体标准</a:t>
            </a:r>
            <a:r>
              <a:rPr kumimoji="0" lang="en-US" altLang="zh-CN" sz="2000" b="1"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rPr>
              <a:t>21</a:t>
            </a:r>
            <a:r>
              <a:rPr kumimoji="0" lang="zh-CN" altLang="en-US" sz="14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rPr>
              <a:t>项</a:t>
            </a:r>
            <a:endParaRPr kumimoji="0" lang="zh-CN" altLang="en-US" sz="14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rPr>
              <a:t>行业标准</a:t>
            </a:r>
            <a:r>
              <a:rPr kumimoji="0" lang="en-US" altLang="zh-CN" sz="2000" b="1"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rPr>
              <a:t>2</a:t>
            </a:r>
            <a:r>
              <a:rPr kumimoji="0" lang="zh-CN" altLang="en-US" sz="14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rPr>
              <a:t>项</a:t>
            </a:r>
            <a:endParaRPr kumimoji="0" lang="zh-CN" altLang="en-US" sz="14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endParaRPr>
          </a:p>
        </p:txBody>
      </p:sp>
      <p:sp>
        <p:nvSpPr>
          <p:cNvPr id="37" name="文本框 36"/>
          <p:cNvSpPr txBox="1"/>
          <p:nvPr/>
        </p:nvSpPr>
        <p:spPr>
          <a:xfrm>
            <a:off x="6960710" y="4783087"/>
            <a:ext cx="1499235" cy="351443"/>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rPr>
              <a:t>团体标准</a:t>
            </a:r>
            <a:r>
              <a:rPr kumimoji="0" lang="en-US" altLang="zh-CN" sz="2000" b="1"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rPr>
              <a:t>12</a:t>
            </a:r>
            <a:r>
              <a:rPr kumimoji="0" lang="zh-CN" altLang="en-US" sz="14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rPr>
              <a:t>项</a:t>
            </a:r>
            <a:endParaRPr kumimoji="0" lang="zh-CN" altLang="en-US" sz="14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endParaRPr>
          </a:p>
        </p:txBody>
      </p:sp>
      <p:sp>
        <p:nvSpPr>
          <p:cNvPr id="38" name="文本框 37"/>
          <p:cNvSpPr txBox="1"/>
          <p:nvPr/>
        </p:nvSpPr>
        <p:spPr>
          <a:xfrm>
            <a:off x="414711" y="4094386"/>
            <a:ext cx="3309406" cy="180600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1" lang="zh-CN" altLang="en-US"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rPr>
              <a:t>参与制定行业标准 </a:t>
            </a:r>
            <a:r>
              <a:rPr kumimoji="0" lang="en-US" altLang="zh-CN" sz="48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rtl val="0"/>
              </a:rPr>
              <a:t>80+</a:t>
            </a:r>
            <a:endParaRPr kumimoji="0" lang="en-US" altLang="zh-CN" sz="48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rtl val="0"/>
            </a:endParaRPr>
          </a:p>
          <a:p>
            <a:pPr marL="0" marR="0" lvl="0" indent="0" algn="l" defTabSz="914400" rtl="0" eaLnBrk="1" fontAlgn="auto" latinLnBrk="0" hangingPunct="1">
              <a:lnSpc>
                <a:spcPct val="120000"/>
              </a:lnSpc>
              <a:spcBef>
                <a:spcPts val="0"/>
              </a:spcBef>
              <a:spcAft>
                <a:spcPts val="0"/>
              </a:spcAft>
              <a:buClrTx/>
              <a:buSzTx/>
              <a:buFontTx/>
              <a:buNone/>
              <a:defRPr/>
            </a:pPr>
            <a:r>
              <a:rPr kumimoji="1" lang="zh-CN" altLang="en-US"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rPr>
              <a:t>含国家标准</a:t>
            </a:r>
            <a:r>
              <a:rPr kumimoji="0" lang="en-US" altLang="zh-CN" sz="48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rtl val="0"/>
              </a:rPr>
              <a:t>24</a:t>
            </a:r>
            <a:r>
              <a:rPr kumimoji="1" lang="zh-CN" altLang="en-US"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rPr>
              <a:t>项</a:t>
            </a:r>
            <a:endParaRPr kumimoji="1" lang="en-US" altLang="zh-CN"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endParaRPr>
          </a:p>
        </p:txBody>
      </p:sp>
      <p:sp>
        <p:nvSpPr>
          <p:cNvPr id="39" name="矩形 38"/>
          <p:cNvSpPr/>
          <p:nvPr/>
        </p:nvSpPr>
        <p:spPr>
          <a:xfrm>
            <a:off x="2026006" y="468166"/>
            <a:ext cx="8498206" cy="1470724"/>
          </a:xfrm>
          <a:prstGeom prst="rect">
            <a:avLst/>
          </a:prstGeom>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800" b="1" i="0" u="none" strike="noStrike" kern="1200" cap="none" spc="60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rPr>
              <a:t>坚守研发，年投入</a:t>
            </a:r>
            <a:r>
              <a:rPr kumimoji="0" lang="en-US" altLang="zh-CN" sz="48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sym typeface="+mn-ea"/>
                <a:rtl val="0"/>
              </a:rPr>
              <a:t>4 </a:t>
            </a:r>
            <a:r>
              <a:rPr kumimoji="0" lang="zh-CN" altLang="en-US" sz="36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sym typeface="+mn-ea"/>
                <a:rtl val="0"/>
              </a:rPr>
              <a:t>亿</a:t>
            </a:r>
            <a:r>
              <a:rPr kumimoji="0" lang="en-US" altLang="zh-CN" sz="36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sym typeface="+mn-ea"/>
                <a:rtl val="0"/>
              </a:rPr>
              <a:t>+ </a:t>
            </a:r>
            <a:r>
              <a:rPr kumimoji="0" lang="zh-CN" altLang="en-US" sz="2800" b="1" i="0" u="none" strike="noStrike" kern="1200" cap="none" spc="60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rPr>
              <a:t>元</a:t>
            </a:r>
            <a:endParaRPr kumimoji="0" lang="en-US" altLang="zh-CN" sz="2800" b="1" i="0" u="none" strike="noStrike" kern="1200" cap="none" spc="60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800" b="1" i="0" u="none" strike="noStrike" kern="1200" cap="none" spc="60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rPr>
              <a:t>逆势引领全球照明行业革新前行</a:t>
            </a:r>
            <a:endParaRPr kumimoji="0" lang="en-US" altLang="zh-CN" sz="2800" b="1" i="0" u="none" strike="noStrike" kern="1200" cap="none" spc="600" normalizeH="0" baseline="0" noProof="0" dirty="0">
              <a:ln>
                <a:noFill/>
              </a:ln>
              <a:solidFill>
                <a:prstClr val="white"/>
              </a:solidFill>
              <a:effectLst/>
              <a:uLnTx/>
              <a:uFillTx/>
              <a:latin typeface="OPPOSans M" pitchFamily="18" charset="-122"/>
              <a:ea typeface="OPPOSans M" pitchFamily="18" charset="-122"/>
              <a:cs typeface="OPPOSans M" pitchFamily="18" charset="-122"/>
              <a:sym typeface="+mn-ea"/>
            </a:endParaRPr>
          </a:p>
        </p:txBody>
      </p:sp>
      <p:pic>
        <p:nvPicPr>
          <p:cNvPr id="40" name="图形 39"/>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78656" y="398194"/>
            <a:ext cx="803879" cy="353429"/>
          </a:xfrm>
          <a:prstGeom prst="rect">
            <a:avLst/>
          </a:prstGeom>
        </p:spPr>
      </p:pic>
      <p:sp>
        <p:nvSpPr>
          <p:cNvPr id="42" name="文本框 41"/>
          <p:cNvSpPr txBox="1"/>
          <p:nvPr/>
        </p:nvSpPr>
        <p:spPr>
          <a:xfrm>
            <a:off x="422497" y="3246954"/>
            <a:ext cx="3070979" cy="91961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4800" b="1" i="0" u="none" strike="noStrike" kern="1200" cap="none" spc="0" normalizeH="0" baseline="0" noProof="0" dirty="0">
                <a:ln>
                  <a:noFill/>
                </a:ln>
                <a:gradFill>
                  <a:gsLst>
                    <a:gs pos="0">
                      <a:prstClr val="white"/>
                    </a:gs>
                    <a:gs pos="100000">
                      <a:srgbClr val="FF60E3"/>
                    </a:gs>
                  </a:gsLst>
                  <a:lin ang="5400000" scaled="1"/>
                </a:gradFill>
                <a:effectLst/>
                <a:uLnTx/>
                <a:uFillTx/>
                <a:latin typeface="Calibri" panose="020F0502020204030204"/>
                <a:ea typeface="OPPOSans B" pitchFamily="18" charset="-122"/>
                <a:cs typeface="+mn-cs"/>
                <a:rtl val="0"/>
              </a:rPr>
              <a:t>500+</a:t>
            </a:r>
            <a:r>
              <a:rPr kumimoji="1" lang="zh-CN" altLang="en-US"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rPr>
              <a:t>研发团队成员</a:t>
            </a:r>
            <a:endParaRPr kumimoji="1" lang="zh-CN" altLang="en-US" sz="2000" b="0" i="0" u="none" strike="noStrike" kern="1200" cap="none" spc="0" normalizeH="0" baseline="0" noProof="0" dirty="0">
              <a:ln>
                <a:noFill/>
              </a:ln>
              <a:solidFill>
                <a:prstClr val="white"/>
              </a:solidFill>
              <a:effectLst/>
              <a:uLnTx/>
              <a:uFillTx/>
              <a:latin typeface="OPPOSans M" pitchFamily="18" charset="-122"/>
              <a:ea typeface="OPPOSans M" pitchFamily="18" charset="-122"/>
              <a:cs typeface="OPPOSans M" pitchFamily="18"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矩形 100"/>
          <p:cNvSpPr/>
          <p:nvPr/>
        </p:nvSpPr>
        <p:spPr>
          <a:xfrm>
            <a:off x="6516370" y="2438400"/>
            <a:ext cx="4917440" cy="2030095"/>
          </a:xfrm>
          <a:prstGeom prst="rect">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8" name="object 38"/>
          <p:cNvSpPr/>
          <p:nvPr/>
        </p:nvSpPr>
        <p:spPr>
          <a:xfrm>
            <a:off x="6516370" y="2438400"/>
            <a:ext cx="4918075" cy="2030095"/>
          </a:xfrm>
          <a:prstGeom prst="rect">
            <a:avLst/>
          </a:prstGeom>
          <a:blipFill>
            <a:blip r:embed="rId1" cstate="print">
              <a:alphaModFix amt="47000"/>
            </a:blip>
            <a:stretch>
              <a:fillRect/>
            </a:stretch>
          </a:blipFill>
        </p:spPr>
        <p:txBody>
          <a:bodyPr wrap="square" lIns="0" tIns="0" rIns="0" bIns="0" rtlCol="0"/>
          <a:lstStyle/>
          <a:p>
            <a:endParaRPr sz="1180"/>
          </a:p>
        </p:txBody>
      </p:sp>
      <p:sp>
        <p:nvSpPr>
          <p:cNvPr id="17" name="object 39"/>
          <p:cNvSpPr/>
          <p:nvPr/>
        </p:nvSpPr>
        <p:spPr>
          <a:xfrm>
            <a:off x="6516370" y="4559300"/>
            <a:ext cx="4918075" cy="2030095"/>
          </a:xfrm>
          <a:prstGeom prst="rect">
            <a:avLst/>
          </a:prstGeom>
          <a:blipFill>
            <a:blip r:embed="rId2" cstate="print"/>
            <a:stretch>
              <a:fillRect/>
            </a:stretch>
          </a:blipFill>
        </p:spPr>
        <p:txBody>
          <a:bodyPr wrap="square" lIns="0" tIns="0" rIns="0" bIns="0" rtlCol="0"/>
          <a:lstStyle/>
          <a:p>
            <a:endParaRPr sz="1180"/>
          </a:p>
        </p:txBody>
      </p:sp>
      <p:grpSp>
        <p:nvGrpSpPr>
          <p:cNvPr id="46" name="组合 45"/>
          <p:cNvGrpSpPr/>
          <p:nvPr/>
        </p:nvGrpSpPr>
        <p:grpSpPr>
          <a:xfrm>
            <a:off x="990600" y="2438400"/>
            <a:ext cx="4910455" cy="4150995"/>
            <a:chOff x="8389" y="3717"/>
            <a:chExt cx="7733" cy="6537"/>
          </a:xfrm>
        </p:grpSpPr>
        <p:sp>
          <p:nvSpPr>
            <p:cNvPr id="43" name="object 94"/>
            <p:cNvSpPr/>
            <p:nvPr/>
          </p:nvSpPr>
          <p:spPr>
            <a:xfrm>
              <a:off x="12315" y="3717"/>
              <a:ext cx="3807" cy="6537"/>
            </a:xfrm>
            <a:prstGeom prst="rect">
              <a:avLst/>
            </a:prstGeom>
            <a:blipFill>
              <a:blip r:embed="rId3" cstate="print"/>
              <a:stretch>
                <a:fillRect/>
              </a:stretch>
            </a:blipFill>
          </p:spPr>
          <p:txBody>
            <a:bodyPr wrap="square" lIns="0" tIns="0" rIns="0" bIns="0" rtlCol="0"/>
            <a:lstStyle/>
            <a:p>
              <a:endParaRPr sz="1180"/>
            </a:p>
          </p:txBody>
        </p:sp>
        <p:sp>
          <p:nvSpPr>
            <p:cNvPr id="44" name="object 96"/>
            <p:cNvSpPr/>
            <p:nvPr/>
          </p:nvSpPr>
          <p:spPr>
            <a:xfrm>
              <a:off x="8389" y="3717"/>
              <a:ext cx="3807" cy="6536"/>
            </a:xfrm>
            <a:prstGeom prst="rect">
              <a:avLst/>
            </a:prstGeom>
            <a:blipFill>
              <a:blip r:embed="rId4" cstate="print"/>
              <a:stretch>
                <a:fillRect/>
              </a:stretch>
            </a:blipFill>
          </p:spPr>
          <p:txBody>
            <a:bodyPr wrap="square" lIns="0" tIns="0" rIns="0" bIns="0" rtlCol="0"/>
            <a:lstStyle/>
            <a:p>
              <a:endParaRPr sz="1180"/>
            </a:p>
          </p:txBody>
        </p:sp>
      </p:grpSp>
      <p:sp>
        <p:nvSpPr>
          <p:cNvPr id="48" name="object 8"/>
          <p:cNvSpPr/>
          <p:nvPr/>
        </p:nvSpPr>
        <p:spPr>
          <a:xfrm>
            <a:off x="280415" y="252984"/>
            <a:ext cx="198120" cy="196596"/>
          </a:xfrm>
          <a:prstGeom prst="rect">
            <a:avLst/>
          </a:prstGeom>
          <a:blipFill>
            <a:blip r:embed="rId5" cstate="print"/>
            <a:stretch>
              <a:fillRect/>
            </a:stretch>
          </a:blipFill>
        </p:spPr>
        <p:txBody>
          <a:bodyPr wrap="square" lIns="0" tIns="0" rIns="0" bIns="0" rtlCol="0"/>
          <a:lstStyle/>
          <a:p/>
        </p:txBody>
      </p:sp>
      <p:sp>
        <p:nvSpPr>
          <p:cNvPr id="49" name="object 9"/>
          <p:cNvSpPr txBox="1"/>
          <p:nvPr/>
        </p:nvSpPr>
        <p:spPr>
          <a:xfrm>
            <a:off x="556971" y="168091"/>
            <a:ext cx="866775" cy="411480"/>
          </a:xfrm>
          <a:prstGeom prst="rect">
            <a:avLst/>
          </a:prstGeom>
        </p:spPr>
        <p:txBody>
          <a:bodyPr vert="horz" wrap="square" lIns="0" tIns="67945" rIns="0" bIns="0" rtlCol="0">
            <a:spAutoFit/>
          </a:bodyPr>
          <a:lstStyle/>
          <a:p>
            <a:pPr marL="12700">
              <a:lnSpc>
                <a:spcPct val="100000"/>
              </a:lnSpc>
              <a:spcBef>
                <a:spcPts val="535"/>
              </a:spcBef>
            </a:pPr>
            <a:r>
              <a:rPr sz="1100" b="0" dirty="0">
                <a:solidFill>
                  <a:schemeClr val="tx1"/>
                </a:solidFill>
                <a:latin typeface="微软雅黑 Light" panose="020B0502040204020203" charset="-122"/>
                <a:cs typeface="微软雅黑 Light" panose="020B0502040204020203" charset="-122"/>
              </a:rPr>
              <a:t>照明应用案例</a:t>
            </a:r>
            <a:endParaRPr sz="1100">
              <a:solidFill>
                <a:schemeClr val="tx1"/>
              </a:solidFill>
              <a:latin typeface="微软雅黑 Light" panose="020B0502040204020203" charset="-122"/>
              <a:cs typeface="微软雅黑 Light" panose="020B0502040204020203" charset="-122"/>
            </a:endParaRPr>
          </a:p>
          <a:p>
            <a:pPr marL="12700">
              <a:lnSpc>
                <a:spcPct val="100000"/>
              </a:lnSpc>
              <a:spcBef>
                <a:spcPts val="320"/>
              </a:spcBef>
            </a:pPr>
            <a:r>
              <a:rPr sz="800" spc="-5" dirty="0">
                <a:solidFill>
                  <a:schemeClr val="tx1"/>
                </a:solidFill>
                <a:latin typeface="Arial" panose="020B0604020202020204"/>
                <a:cs typeface="Arial" panose="020B0604020202020204"/>
              </a:rPr>
              <a:t>OUR</a:t>
            </a:r>
            <a:r>
              <a:rPr sz="800" spc="-75" dirty="0">
                <a:solidFill>
                  <a:schemeClr val="tx1"/>
                </a:solidFill>
                <a:latin typeface="Arial" panose="020B0604020202020204"/>
                <a:cs typeface="Arial" panose="020B0604020202020204"/>
              </a:rPr>
              <a:t> </a:t>
            </a:r>
            <a:r>
              <a:rPr sz="800" dirty="0">
                <a:solidFill>
                  <a:schemeClr val="tx1"/>
                </a:solidFill>
                <a:latin typeface="Arial" panose="020B0604020202020204"/>
                <a:cs typeface="Arial" panose="020B0604020202020204"/>
              </a:rPr>
              <a:t>PROJECT</a:t>
            </a:r>
            <a:r>
              <a:rPr sz="800" dirty="0">
                <a:solidFill>
                  <a:srgbClr val="FFFFFF"/>
                </a:solidFill>
                <a:latin typeface="Arial" panose="020B0604020202020204"/>
                <a:cs typeface="Arial" panose="020B0604020202020204"/>
              </a:rPr>
              <a:t>S</a:t>
            </a:r>
            <a:endParaRPr sz="800">
              <a:latin typeface="Arial" panose="020B0604020202020204"/>
              <a:cs typeface="Arial" panose="020B0604020202020204"/>
            </a:endParaRPr>
          </a:p>
        </p:txBody>
      </p:sp>
      <p:grpSp>
        <p:nvGrpSpPr>
          <p:cNvPr id="52" name="组合 51"/>
          <p:cNvGrpSpPr/>
          <p:nvPr/>
        </p:nvGrpSpPr>
        <p:grpSpPr>
          <a:xfrm>
            <a:off x="304800" y="281940"/>
            <a:ext cx="167640" cy="167640"/>
            <a:chOff x="5280" y="1560"/>
            <a:chExt cx="1080" cy="1080"/>
          </a:xfrm>
        </p:grpSpPr>
        <p:sp>
          <p:nvSpPr>
            <p:cNvPr id="50" name="椭圆 49"/>
            <p:cNvSpPr/>
            <p:nvPr/>
          </p:nvSpPr>
          <p:spPr>
            <a:xfrm>
              <a:off x="5280" y="1560"/>
              <a:ext cx="1080" cy="1080"/>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1" name="椭圆 50"/>
            <p:cNvSpPr/>
            <p:nvPr/>
          </p:nvSpPr>
          <p:spPr>
            <a:xfrm>
              <a:off x="5480" y="1760"/>
              <a:ext cx="706" cy="706"/>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54" name="文本框 53"/>
          <p:cNvSpPr txBox="1"/>
          <p:nvPr/>
        </p:nvSpPr>
        <p:spPr>
          <a:xfrm>
            <a:off x="6400800" y="1725295"/>
            <a:ext cx="4545330" cy="337185"/>
          </a:xfrm>
          <a:prstGeom prst="rect">
            <a:avLst/>
          </a:prstGeom>
          <a:noFill/>
        </p:spPr>
        <p:txBody>
          <a:bodyPr wrap="square" rtlCol="0">
            <a:spAutoFit/>
          </a:bodyPr>
          <a:lstStyle/>
          <a:p>
            <a:r>
              <a:rPr lang="zh-CN" altLang="en-US" sz="1600"/>
              <a:t>欧普照明×同济大学</a:t>
            </a:r>
            <a:r>
              <a:rPr lang="en-US" altLang="zh-CN" sz="1600"/>
              <a:t>-</a:t>
            </a:r>
            <a:r>
              <a:rPr lang="zh-CN" altLang="en-US" sz="1600"/>
              <a:t>南极健康人因疗愈舱</a:t>
            </a:r>
            <a:endParaRPr lang="zh-CN" altLang="en-US" sz="1600"/>
          </a:p>
        </p:txBody>
      </p:sp>
      <p:sp>
        <p:nvSpPr>
          <p:cNvPr id="55" name="文本框 54"/>
          <p:cNvSpPr txBox="1"/>
          <p:nvPr/>
        </p:nvSpPr>
        <p:spPr>
          <a:xfrm>
            <a:off x="914400" y="1689100"/>
            <a:ext cx="4545330" cy="337185"/>
          </a:xfrm>
          <a:prstGeom prst="rect">
            <a:avLst/>
          </a:prstGeom>
          <a:noFill/>
        </p:spPr>
        <p:txBody>
          <a:bodyPr wrap="square" rtlCol="0">
            <a:spAutoFit/>
          </a:bodyPr>
          <a:lstStyle/>
          <a:p>
            <a:r>
              <a:rPr lang="zh-CN" altLang="en-US" sz="1600"/>
              <a:t>欧普照明</a:t>
            </a:r>
            <a:r>
              <a:rPr lang="en-US" altLang="zh-CN" sz="1600"/>
              <a:t>-</a:t>
            </a:r>
            <a:r>
              <a:rPr lang="zh-CN" altLang="en-US" sz="1600"/>
              <a:t>苍穹模拟器</a:t>
            </a:r>
            <a:endParaRPr lang="zh-CN" altLang="en-US" sz="1600"/>
          </a:p>
        </p:txBody>
      </p:sp>
      <p:sp>
        <p:nvSpPr>
          <p:cNvPr id="56" name="文本框 55"/>
          <p:cNvSpPr txBox="1"/>
          <p:nvPr/>
        </p:nvSpPr>
        <p:spPr>
          <a:xfrm>
            <a:off x="6400800" y="2062480"/>
            <a:ext cx="4905375" cy="368300"/>
          </a:xfrm>
          <a:prstGeom prst="rect">
            <a:avLst/>
          </a:prstGeom>
          <a:noFill/>
        </p:spPr>
        <p:txBody>
          <a:bodyPr wrap="square" rtlCol="0" anchor="t">
            <a:spAutoFit/>
          </a:bodyPr>
          <a:lstStyle/>
          <a:p>
            <a:r>
              <a:rPr lang="zh-CN" altLang="en-US" sz="900"/>
              <a:t>自然光给予人体的情绪疗愈价值，成为人因健康核心探索方向。欧普照明有幸受邀，与同济大学共同研发南极健康人因疗愈舱，为我国科考队员提供重要的生命健康保障。</a:t>
            </a:r>
            <a:endParaRPr lang="zh-CN" altLang="en-US" sz="900"/>
          </a:p>
        </p:txBody>
      </p:sp>
      <p:sp>
        <p:nvSpPr>
          <p:cNvPr id="57" name="文本框 56"/>
          <p:cNvSpPr txBox="1"/>
          <p:nvPr/>
        </p:nvSpPr>
        <p:spPr>
          <a:xfrm>
            <a:off x="914400" y="2057400"/>
            <a:ext cx="4905375" cy="368300"/>
          </a:xfrm>
          <a:prstGeom prst="rect">
            <a:avLst/>
          </a:prstGeom>
          <a:noFill/>
        </p:spPr>
        <p:txBody>
          <a:bodyPr wrap="square" rtlCol="0" anchor="t">
            <a:spAutoFit/>
          </a:bodyPr>
          <a:lstStyle/>
          <a:p>
            <a:r>
              <a:rPr lang="zh-CN" altLang="en-US" sz="900"/>
              <a:t>我们再一次突破技术壁垒，还原太阳光、天空光、云层光、月光，模拟全球任意航线、任意天气、任意时段的任意光照，为航空公司建起一座苍穹模拟器</a:t>
            </a:r>
            <a:endParaRPr lang="zh-CN" altLang="en-US" sz="900"/>
          </a:p>
        </p:txBody>
      </p:sp>
      <p:grpSp>
        <p:nvGrpSpPr>
          <p:cNvPr id="58" name="组合 57"/>
          <p:cNvGrpSpPr/>
          <p:nvPr/>
        </p:nvGrpSpPr>
        <p:grpSpPr>
          <a:xfrm>
            <a:off x="6858059" y="2969867"/>
            <a:ext cx="4257807" cy="776736"/>
            <a:chOff x="782955" y="1845310"/>
            <a:chExt cx="10648950" cy="1942651"/>
          </a:xfrm>
        </p:grpSpPr>
        <p:sp>
          <p:nvSpPr>
            <p:cNvPr id="59" name="圆角矩形 21"/>
            <p:cNvSpPr/>
            <p:nvPr/>
          </p:nvSpPr>
          <p:spPr>
            <a:xfrm>
              <a:off x="840105" y="1868805"/>
              <a:ext cx="2095500" cy="1917700"/>
            </a:xfrm>
            <a:prstGeom prst="roundRect">
              <a:avLst>
                <a:gd name="adj" fmla="val 5356"/>
              </a:avLst>
            </a:prstGeom>
            <a:solidFill>
              <a:schemeClr val="tx1">
                <a:alpha val="2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000">
                <a:solidFill>
                  <a:prstClr val="white"/>
                </a:solidFill>
                <a:latin typeface="微软雅黑" panose="020B0503020204020204" charset="-122"/>
                <a:ea typeface="微软雅黑" panose="020B0503020204020204" charset="-122"/>
                <a:sym typeface="微软雅黑" panose="020B0503020204020204" charset="-122"/>
              </a:endParaRPr>
            </a:p>
          </p:txBody>
        </p:sp>
        <p:sp>
          <p:nvSpPr>
            <p:cNvPr id="60" name="圆角矩形 22"/>
            <p:cNvSpPr/>
            <p:nvPr/>
          </p:nvSpPr>
          <p:spPr>
            <a:xfrm>
              <a:off x="3897630" y="1850390"/>
              <a:ext cx="4111625" cy="1917700"/>
            </a:xfrm>
            <a:prstGeom prst="roundRect">
              <a:avLst>
                <a:gd name="adj" fmla="val 5356"/>
              </a:avLst>
            </a:prstGeom>
            <a:solidFill>
              <a:schemeClr val="tx1">
                <a:alpha val="2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000">
                <a:solidFill>
                  <a:prstClr val="white"/>
                </a:solidFill>
                <a:latin typeface="微软雅黑" panose="020B0503020204020204" charset="-122"/>
                <a:ea typeface="微软雅黑" panose="020B0503020204020204" charset="-122"/>
                <a:sym typeface="微软雅黑" panose="020B0503020204020204" charset="-122"/>
              </a:endParaRPr>
            </a:p>
          </p:txBody>
        </p:sp>
        <p:sp>
          <p:nvSpPr>
            <p:cNvPr id="61" name="圆角矩形 25"/>
            <p:cNvSpPr/>
            <p:nvPr/>
          </p:nvSpPr>
          <p:spPr>
            <a:xfrm>
              <a:off x="8894444" y="1845310"/>
              <a:ext cx="2537461" cy="1917700"/>
            </a:xfrm>
            <a:prstGeom prst="roundRect">
              <a:avLst>
                <a:gd name="adj" fmla="val 5356"/>
              </a:avLst>
            </a:prstGeom>
            <a:solidFill>
              <a:schemeClr val="tx1">
                <a:alpha val="2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000">
                <a:solidFill>
                  <a:prstClr val="white"/>
                </a:solidFill>
                <a:latin typeface="微软雅黑" panose="020B0503020204020204" charset="-122"/>
                <a:ea typeface="微软雅黑" panose="020B0503020204020204" charset="-122"/>
                <a:sym typeface="微软雅黑" panose="020B0503020204020204" charset="-122"/>
              </a:endParaRPr>
            </a:p>
          </p:txBody>
        </p:sp>
        <p:sp>
          <p:nvSpPr>
            <p:cNvPr id="62" name="矩形 61"/>
            <p:cNvSpPr/>
            <p:nvPr/>
          </p:nvSpPr>
          <p:spPr>
            <a:xfrm>
              <a:off x="9333096" y="1966098"/>
              <a:ext cx="1616500" cy="611320"/>
            </a:xfrm>
            <a:prstGeom prst="rect">
              <a:avLst/>
            </a:prstGeom>
          </p:spPr>
          <p:txBody>
            <a:bodyPr wrap="none">
              <a:spAutoFit/>
            </a:bodyPr>
            <a:lstStyle/>
            <a:p>
              <a:pPr algn="ctr">
                <a:lnSpc>
                  <a:spcPct val="120000"/>
                </a:lnSpc>
                <a:defRPr/>
              </a:pPr>
              <a:r>
                <a:rPr lang="zh-CN" altLang="en-US" sz="900" dirty="0">
                  <a:solidFill>
                    <a:prstClr val="white"/>
                  </a:solidFill>
                  <a:latin typeface="微软雅黑" panose="020B0503020204020204" charset="-122"/>
                  <a:ea typeface="微软雅黑" panose="020B0503020204020204" charset="-122"/>
                  <a:sym typeface="微软雅黑" panose="020B0503020204020204" charset="-122"/>
                </a:rPr>
                <a:t>情绪疗愈</a:t>
              </a:r>
              <a:endParaRPr lang="zh-CN" altLang="en-US" sz="900" dirty="0">
                <a:solidFill>
                  <a:prstClr val="white"/>
                </a:solidFill>
                <a:latin typeface="微软雅黑" panose="020B0503020204020204" charset="-122"/>
                <a:ea typeface="微软雅黑" panose="020B0503020204020204" charset="-122"/>
                <a:sym typeface="微软雅黑" panose="020B0503020204020204" charset="-122"/>
              </a:endParaRPr>
            </a:p>
          </p:txBody>
        </p:sp>
        <p:sp>
          <p:nvSpPr>
            <p:cNvPr id="63" name="矩形 62"/>
            <p:cNvSpPr/>
            <p:nvPr/>
          </p:nvSpPr>
          <p:spPr>
            <a:xfrm>
              <a:off x="9381286" y="2444680"/>
              <a:ext cx="1616500" cy="611320"/>
            </a:xfrm>
            <a:prstGeom prst="rect">
              <a:avLst/>
            </a:prstGeom>
          </p:spPr>
          <p:txBody>
            <a:bodyPr wrap="none">
              <a:spAutoFit/>
            </a:bodyPr>
            <a:lstStyle/>
            <a:p>
              <a:pPr algn="ctr">
                <a:lnSpc>
                  <a:spcPct val="120000"/>
                </a:lnSpc>
                <a:defRPr/>
              </a:pPr>
              <a:r>
                <a:rPr lang="zh-CN" altLang="en-US" sz="900" dirty="0">
                  <a:solidFill>
                    <a:prstClr val="white"/>
                  </a:solidFill>
                  <a:latin typeface="微软雅黑" panose="020B0503020204020204" charset="-122"/>
                  <a:ea typeface="微软雅黑" panose="020B0503020204020204" charset="-122"/>
                  <a:sym typeface="微软雅黑" panose="020B0503020204020204" charset="-122"/>
                </a:rPr>
                <a:t>辅助睡眠</a:t>
              </a:r>
              <a:endParaRPr lang="zh-CN" altLang="en-US" sz="900" dirty="0">
                <a:solidFill>
                  <a:prstClr val="white"/>
                </a:solidFill>
                <a:latin typeface="微软雅黑" panose="020B0503020204020204" charset="-122"/>
                <a:ea typeface="微软雅黑" panose="020B0503020204020204" charset="-122"/>
                <a:sym typeface="微软雅黑" panose="020B0503020204020204" charset="-122"/>
              </a:endParaRPr>
            </a:p>
          </p:txBody>
        </p:sp>
        <p:sp>
          <p:nvSpPr>
            <p:cNvPr id="64" name="矩形 63"/>
            <p:cNvSpPr/>
            <p:nvPr/>
          </p:nvSpPr>
          <p:spPr>
            <a:xfrm>
              <a:off x="9036841" y="2923045"/>
              <a:ext cx="2304954" cy="611320"/>
            </a:xfrm>
            <a:prstGeom prst="rect">
              <a:avLst/>
            </a:prstGeom>
          </p:spPr>
          <p:txBody>
            <a:bodyPr wrap="square">
              <a:spAutoFit/>
            </a:bodyPr>
            <a:lstStyle/>
            <a:p>
              <a:pPr algn="ctr">
                <a:lnSpc>
                  <a:spcPct val="120000"/>
                </a:lnSpc>
                <a:defRPr/>
              </a:pPr>
              <a:r>
                <a:rPr lang="zh-CN" altLang="en-US" sz="900" dirty="0">
                  <a:solidFill>
                    <a:prstClr val="white"/>
                  </a:solidFill>
                  <a:latin typeface="微软雅黑" panose="020B0503020204020204" charset="-122"/>
                  <a:ea typeface="微软雅黑" panose="020B0503020204020204" charset="-122"/>
                  <a:sym typeface="微软雅黑" panose="020B0503020204020204" charset="-122"/>
                </a:rPr>
                <a:t>调节身体机能</a:t>
              </a:r>
              <a:endParaRPr lang="zh-CN" altLang="en-US" sz="900" dirty="0">
                <a:solidFill>
                  <a:prstClr val="white"/>
                </a:solidFill>
                <a:latin typeface="微软雅黑" panose="020B0503020204020204" charset="-122"/>
                <a:ea typeface="微软雅黑" panose="020B0503020204020204" charset="-122"/>
                <a:sym typeface="微软雅黑" panose="020B0503020204020204" charset="-122"/>
              </a:endParaRPr>
            </a:p>
          </p:txBody>
        </p:sp>
        <p:sp>
          <p:nvSpPr>
            <p:cNvPr id="65" name="矩形 64"/>
            <p:cNvSpPr/>
            <p:nvPr/>
          </p:nvSpPr>
          <p:spPr>
            <a:xfrm>
              <a:off x="3875152" y="2320981"/>
              <a:ext cx="2144190" cy="1204038"/>
            </a:xfrm>
            <a:prstGeom prst="rect">
              <a:avLst/>
            </a:prstGeom>
          </p:spPr>
          <p:txBody>
            <a:bodyPr wrap="square">
              <a:spAutoFit/>
            </a:bodyPr>
            <a:lstStyle/>
            <a:p>
              <a:pPr algn="ctr">
                <a:lnSpc>
                  <a:spcPct val="120000"/>
                </a:lnSpc>
                <a:defRPr/>
              </a:pPr>
              <a:r>
                <a:rPr lang="zh-CN" altLang="en-US" sz="1100" b="1" dirty="0">
                  <a:solidFill>
                    <a:prstClr val="white"/>
                  </a:solidFill>
                  <a:latin typeface="微软雅黑" panose="020B0503020204020204" charset="-122"/>
                  <a:ea typeface="微软雅黑" panose="020B0503020204020204" charset="-122"/>
                  <a:sym typeface="微软雅黑" panose="020B0503020204020204" charset="-122"/>
                </a:rPr>
                <a:t>欧普</a:t>
              </a:r>
              <a:endParaRPr lang="zh-CN" altLang="en-US" sz="1100" b="1" dirty="0">
                <a:solidFill>
                  <a:prstClr val="white"/>
                </a:solidFill>
                <a:latin typeface="微软雅黑" panose="020B0503020204020204" charset="-122"/>
                <a:ea typeface="微软雅黑" panose="020B0503020204020204" charset="-122"/>
                <a:sym typeface="微软雅黑" panose="020B0503020204020204" charset="-122"/>
              </a:endParaRPr>
            </a:p>
            <a:p>
              <a:pPr algn="ctr">
                <a:lnSpc>
                  <a:spcPct val="120000"/>
                </a:lnSpc>
                <a:defRPr/>
              </a:pPr>
              <a:r>
                <a:rPr lang="en-US" altLang="zh-CN" sz="1100" b="1" dirty="0">
                  <a:gradFill flip="none" rotWithShape="1">
                    <a:gsLst>
                      <a:gs pos="15000">
                        <a:srgbClr val="FC3D23"/>
                      </a:gs>
                      <a:gs pos="100000">
                        <a:srgbClr val="FFE3C6"/>
                      </a:gs>
                    </a:gsLst>
                    <a:lin ang="2700000" scaled="1"/>
                    <a:tileRect/>
                  </a:gradFill>
                  <a:latin typeface="微软雅黑" panose="020B0503020204020204" charset="-122"/>
                  <a:ea typeface="微软雅黑" panose="020B0503020204020204" charset="-122"/>
                  <a:sym typeface="微软雅黑" panose="020B0503020204020204" charset="-122"/>
                </a:rPr>
                <a:t>RGBW</a:t>
              </a:r>
              <a:endParaRPr lang="zh-CN" altLang="en-US" sz="1000" dirty="0">
                <a:solidFill>
                  <a:prstClr val="white"/>
                </a:solidFill>
                <a:latin typeface="微软雅黑" panose="020B0503020204020204" charset="-122"/>
                <a:ea typeface="微软雅黑" panose="020B0503020204020204" charset="-122"/>
                <a:sym typeface="微软雅黑" panose="020B0503020204020204" charset="-122"/>
              </a:endParaRPr>
            </a:p>
          </p:txBody>
        </p:sp>
        <p:sp>
          <p:nvSpPr>
            <p:cNvPr id="66" name="矩形 65"/>
            <p:cNvSpPr/>
            <p:nvPr/>
          </p:nvSpPr>
          <p:spPr>
            <a:xfrm>
              <a:off x="5587132" y="1966098"/>
              <a:ext cx="2385070" cy="896294"/>
            </a:xfrm>
            <a:prstGeom prst="rect">
              <a:avLst/>
            </a:prstGeom>
          </p:spPr>
          <p:txBody>
            <a:bodyPr wrap="square">
              <a:spAutoFit/>
            </a:bodyPr>
            <a:lstStyle/>
            <a:p>
              <a:pPr algn="ctr">
                <a:lnSpc>
                  <a:spcPct val="120000"/>
                </a:lnSpc>
                <a:defRPr/>
              </a:pPr>
              <a:r>
                <a:rPr lang="zh-CN" altLang="en-US" sz="800" b="1" dirty="0">
                  <a:solidFill>
                    <a:prstClr val="white"/>
                  </a:solidFill>
                  <a:latin typeface="微软雅黑" panose="020B0503020204020204" charset="-122"/>
                  <a:ea typeface="微软雅黑" panose="020B0503020204020204" charset="-122"/>
                  <a:sym typeface="微软雅黑" panose="020B0503020204020204" charset="-122"/>
                </a:rPr>
                <a:t>金黄光</a:t>
              </a:r>
              <a:endParaRPr lang="zh-CN" altLang="en-US" sz="800" b="1" dirty="0">
                <a:solidFill>
                  <a:prstClr val="white"/>
                </a:solidFill>
                <a:latin typeface="微软雅黑" panose="020B0503020204020204" charset="-122"/>
                <a:ea typeface="微软雅黑" panose="020B0503020204020204" charset="-122"/>
                <a:sym typeface="微软雅黑" panose="020B0503020204020204" charset="-122"/>
              </a:endParaRPr>
            </a:p>
            <a:p>
              <a:pPr algn="ctr">
                <a:lnSpc>
                  <a:spcPct val="120000"/>
                </a:lnSpc>
                <a:defRPr/>
              </a:pPr>
              <a:r>
                <a:rPr lang="zh-CN" altLang="en-US" sz="700" dirty="0">
                  <a:solidFill>
                    <a:prstClr val="white"/>
                  </a:solidFill>
                  <a:latin typeface="微软雅黑" panose="020B0503020204020204" charset="-122"/>
                  <a:ea typeface="微软雅黑" panose="020B0503020204020204" charset="-122"/>
                  <a:sym typeface="微软雅黑" panose="020B0503020204020204" charset="-122"/>
                </a:rPr>
                <a:t>（促进褪黑素分泌） </a:t>
              </a:r>
              <a:endParaRPr lang="zh-CN" altLang="en-US" sz="700" dirty="0">
                <a:solidFill>
                  <a:prstClr val="white"/>
                </a:solidFill>
                <a:latin typeface="微软雅黑" panose="020B0503020204020204" charset="-122"/>
                <a:ea typeface="微软雅黑" panose="020B0503020204020204" charset="-122"/>
                <a:sym typeface="微软雅黑" panose="020B0503020204020204" charset="-122"/>
              </a:endParaRPr>
            </a:p>
          </p:txBody>
        </p:sp>
        <p:sp>
          <p:nvSpPr>
            <p:cNvPr id="67" name="矩形 66"/>
            <p:cNvSpPr/>
            <p:nvPr/>
          </p:nvSpPr>
          <p:spPr>
            <a:xfrm>
              <a:off x="5662601" y="2832842"/>
              <a:ext cx="2040889" cy="807772"/>
            </a:xfrm>
            <a:prstGeom prst="rect">
              <a:avLst/>
            </a:prstGeom>
          </p:spPr>
          <p:txBody>
            <a:bodyPr wrap="square">
              <a:spAutoFit/>
            </a:bodyPr>
            <a:lstStyle/>
            <a:p>
              <a:pPr algn="ctr">
                <a:lnSpc>
                  <a:spcPct val="120000"/>
                </a:lnSpc>
                <a:defRPr/>
              </a:pPr>
              <a:r>
                <a:rPr lang="zh-CN" altLang="en-US" sz="700" b="1" dirty="0">
                  <a:solidFill>
                    <a:prstClr val="white"/>
                  </a:solidFill>
                  <a:latin typeface="微软雅黑" panose="020B0503020204020204" charset="-122"/>
                  <a:ea typeface="微软雅黑" panose="020B0503020204020204" charset="-122"/>
                  <a:sym typeface="微软雅黑" panose="020B0503020204020204" charset="-122"/>
                </a:rPr>
                <a:t>高色温高照度</a:t>
              </a:r>
              <a:endParaRPr lang="zh-CN" altLang="en-US" sz="700" b="1" dirty="0">
                <a:solidFill>
                  <a:prstClr val="white"/>
                </a:solidFill>
                <a:latin typeface="微软雅黑" panose="020B0503020204020204" charset="-122"/>
                <a:ea typeface="微软雅黑" panose="020B0503020204020204" charset="-122"/>
                <a:sym typeface="微软雅黑" panose="020B0503020204020204" charset="-122"/>
              </a:endParaRPr>
            </a:p>
            <a:p>
              <a:pPr algn="ctr">
                <a:lnSpc>
                  <a:spcPct val="120000"/>
                </a:lnSpc>
                <a:defRPr/>
              </a:pPr>
              <a:r>
                <a:rPr lang="zh-CN" altLang="en-US" sz="600" dirty="0">
                  <a:solidFill>
                    <a:prstClr val="white"/>
                  </a:solidFill>
                  <a:latin typeface="微软雅黑" panose="020B0503020204020204" charset="-122"/>
                  <a:ea typeface="微软雅黑" panose="020B0503020204020204" charset="-122"/>
                  <a:sym typeface="微软雅黑" panose="020B0503020204020204" charset="-122"/>
                </a:rPr>
                <a:t>（促进血清素分泌）</a:t>
              </a:r>
              <a:endParaRPr lang="zh-CN" altLang="en-US" sz="600" dirty="0">
                <a:solidFill>
                  <a:prstClr val="white"/>
                </a:solidFill>
                <a:latin typeface="微软雅黑" panose="020B0503020204020204" charset="-122"/>
                <a:ea typeface="微软雅黑" panose="020B0503020204020204" charset="-122"/>
                <a:sym typeface="微软雅黑" panose="020B0503020204020204" charset="-122"/>
              </a:endParaRPr>
            </a:p>
          </p:txBody>
        </p:sp>
        <p:sp>
          <p:nvSpPr>
            <p:cNvPr id="68" name="矩形 67"/>
            <p:cNvSpPr/>
            <p:nvPr/>
          </p:nvSpPr>
          <p:spPr>
            <a:xfrm>
              <a:off x="820418" y="1926589"/>
              <a:ext cx="2143760" cy="1073178"/>
            </a:xfrm>
            <a:prstGeom prst="rect">
              <a:avLst/>
            </a:prstGeom>
          </p:spPr>
          <p:txBody>
            <a:bodyPr wrap="square">
              <a:spAutoFit/>
            </a:bodyPr>
            <a:lstStyle/>
            <a:p>
              <a:pPr algn="ctr">
                <a:lnSpc>
                  <a:spcPct val="120000"/>
                </a:lnSpc>
                <a:defRPr/>
              </a:pPr>
              <a:r>
                <a:rPr lang="zh-CN" altLang="en-US" sz="1000" b="1" dirty="0">
                  <a:solidFill>
                    <a:prstClr val="white"/>
                  </a:solidFill>
                  <a:latin typeface="微软雅黑" panose="020B0503020204020204" charset="-122"/>
                  <a:ea typeface="微软雅黑" panose="020B0503020204020204" charset="-122"/>
                  <a:sym typeface="微软雅黑" panose="020B0503020204020204" charset="-122"/>
                </a:rPr>
                <a:t>极端环境</a:t>
              </a:r>
              <a:endParaRPr lang="zh-CN" altLang="en-US" sz="1000" b="1" dirty="0">
                <a:solidFill>
                  <a:prstClr val="white"/>
                </a:solidFill>
                <a:latin typeface="微软雅黑" panose="020B0503020204020204" charset="-122"/>
                <a:ea typeface="微软雅黑" panose="020B0503020204020204" charset="-122"/>
                <a:sym typeface="微软雅黑" panose="020B0503020204020204" charset="-122"/>
              </a:endParaRPr>
            </a:p>
            <a:p>
              <a:pPr algn="ctr">
                <a:lnSpc>
                  <a:spcPct val="120000"/>
                </a:lnSpc>
                <a:defRPr/>
              </a:pPr>
              <a:r>
                <a:rPr lang="zh-CN" altLang="en-US" sz="900" dirty="0">
                  <a:solidFill>
                    <a:prstClr val="white"/>
                  </a:solidFill>
                  <a:latin typeface="微软雅黑" panose="020B0503020204020204" charset="-122"/>
                  <a:ea typeface="微软雅黑" panose="020B0503020204020204" charset="-122"/>
                  <a:sym typeface="微软雅黑" panose="020B0503020204020204" charset="-122"/>
                </a:rPr>
                <a:t>（极昼极夜）</a:t>
              </a:r>
              <a:endParaRPr lang="zh-CN" altLang="en-US" sz="900" dirty="0">
                <a:solidFill>
                  <a:prstClr val="white"/>
                </a:solidFill>
                <a:latin typeface="微软雅黑" panose="020B0503020204020204" charset="-122"/>
                <a:ea typeface="微软雅黑" panose="020B0503020204020204" charset="-122"/>
                <a:sym typeface="微软雅黑" panose="020B0503020204020204" charset="-122"/>
              </a:endParaRPr>
            </a:p>
          </p:txBody>
        </p:sp>
        <p:sp>
          <p:nvSpPr>
            <p:cNvPr id="97" name="下箭头 17"/>
            <p:cNvSpPr/>
            <p:nvPr/>
          </p:nvSpPr>
          <p:spPr>
            <a:xfrm rot="16200000">
              <a:off x="3201035" y="2593975"/>
              <a:ext cx="430530" cy="430530"/>
            </a:xfrm>
            <a:prstGeom prst="downArrow">
              <a:avLst/>
            </a:prstGeom>
            <a:noFill/>
            <a:ln>
              <a:solidFill>
                <a:schemeClr val="bg1">
                  <a:lumMod val="9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000">
                <a:solidFill>
                  <a:schemeClr val="tx1"/>
                </a:solidFill>
                <a:latin typeface="微软雅黑" panose="020B0503020204020204" charset="-122"/>
                <a:ea typeface="微软雅黑" panose="020B0503020204020204" charset="-122"/>
                <a:sym typeface="微软雅黑" panose="020B0503020204020204" charset="-122"/>
              </a:endParaRPr>
            </a:p>
          </p:txBody>
        </p:sp>
        <p:sp>
          <p:nvSpPr>
            <p:cNvPr id="98" name="下箭头 24"/>
            <p:cNvSpPr/>
            <p:nvPr/>
          </p:nvSpPr>
          <p:spPr>
            <a:xfrm rot="16200000">
              <a:off x="8256270" y="2564765"/>
              <a:ext cx="430530" cy="430530"/>
            </a:xfrm>
            <a:prstGeom prst="downArrow">
              <a:avLst/>
            </a:prstGeom>
            <a:noFill/>
            <a:ln>
              <a:solidFill>
                <a:schemeClr val="bg1">
                  <a:lumMod val="9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000">
                <a:solidFill>
                  <a:schemeClr val="tx1"/>
                </a:solidFill>
                <a:latin typeface="微软雅黑" panose="020B0503020204020204" charset="-122"/>
                <a:ea typeface="微软雅黑" panose="020B0503020204020204" charset="-122"/>
                <a:sym typeface="微软雅黑" panose="020B0503020204020204" charset="-122"/>
              </a:endParaRPr>
            </a:p>
          </p:txBody>
        </p:sp>
        <p:sp>
          <p:nvSpPr>
            <p:cNvPr id="99" name="下箭头 8"/>
            <p:cNvSpPr/>
            <p:nvPr/>
          </p:nvSpPr>
          <p:spPr>
            <a:xfrm>
              <a:off x="1706880" y="3077290"/>
              <a:ext cx="280670" cy="280670"/>
            </a:xfrm>
            <a:prstGeom prst="downArrow">
              <a:avLst/>
            </a:prstGeom>
            <a:noFill/>
            <a:ln>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000">
                <a:solidFill>
                  <a:prstClr val="white"/>
                </a:solidFill>
                <a:latin typeface="微软雅黑" panose="020B0503020204020204" charset="-122"/>
                <a:ea typeface="微软雅黑" panose="020B0503020204020204" charset="-122"/>
                <a:sym typeface="微软雅黑" panose="020B0503020204020204" charset="-122"/>
              </a:endParaRPr>
            </a:p>
          </p:txBody>
        </p:sp>
        <p:sp>
          <p:nvSpPr>
            <p:cNvPr id="100" name="矩形 99"/>
            <p:cNvSpPr/>
            <p:nvPr/>
          </p:nvSpPr>
          <p:spPr>
            <a:xfrm>
              <a:off x="782955" y="3218816"/>
              <a:ext cx="2143760" cy="569145"/>
            </a:xfrm>
            <a:prstGeom prst="rect">
              <a:avLst/>
            </a:prstGeom>
          </p:spPr>
          <p:txBody>
            <a:bodyPr wrap="square">
              <a:spAutoFit/>
            </a:bodyPr>
            <a:lstStyle/>
            <a:p>
              <a:pPr algn="ctr">
                <a:lnSpc>
                  <a:spcPct val="120000"/>
                </a:lnSpc>
                <a:defRPr/>
              </a:pPr>
              <a:r>
                <a:rPr lang="zh-CN" altLang="en-US" sz="800" dirty="0">
                  <a:solidFill>
                    <a:prstClr val="white"/>
                  </a:solidFill>
                  <a:latin typeface="微软雅黑" panose="020B0503020204020204" charset="-122"/>
                  <a:ea typeface="微软雅黑" panose="020B0503020204020204" charset="-122"/>
                  <a:sym typeface="微软雅黑" panose="020B0503020204020204" charset="-122"/>
                </a:rPr>
                <a:t>生物钟混乱</a:t>
              </a:r>
              <a:endParaRPr lang="zh-CN" altLang="en-US" sz="800" dirty="0">
                <a:solidFill>
                  <a:prstClr val="white"/>
                </a:solidFill>
                <a:latin typeface="微软雅黑" panose="020B0503020204020204" charset="-122"/>
                <a:ea typeface="微软雅黑" panose="020B0503020204020204" charset="-122"/>
                <a:sym typeface="微软雅黑" panose="020B0503020204020204" charset="-122"/>
              </a:endParaRPr>
            </a:p>
          </p:txBody>
        </p:sp>
      </p:grpSp>
      <p:sp>
        <p:nvSpPr>
          <p:cNvPr id="102" name="文本框 101"/>
          <p:cNvSpPr txBox="1"/>
          <p:nvPr/>
        </p:nvSpPr>
        <p:spPr>
          <a:xfrm>
            <a:off x="914400" y="914400"/>
            <a:ext cx="7962265" cy="398780"/>
          </a:xfrm>
          <a:prstGeom prst="rect">
            <a:avLst/>
          </a:prstGeom>
          <a:noFill/>
        </p:spPr>
        <p:txBody>
          <a:bodyPr wrap="square" rtlCol="0">
            <a:spAutoFit/>
          </a:bodyPr>
          <a:lstStyle/>
          <a:p>
            <a:r>
              <a:rPr lang="zh-CN" altLang="en-US" sz="2000" b="1"/>
              <a:t>欧普照明联合政府与顶尖高校，共建智慧照明关键技术研发项目</a:t>
            </a:r>
            <a:endParaRPr lang="zh-CN" altLang="en-US" sz="2000" b="1"/>
          </a:p>
        </p:txBody>
      </p:sp>
      <p:cxnSp>
        <p:nvCxnSpPr>
          <p:cNvPr id="103" name="直接连接符 102"/>
          <p:cNvCxnSpPr/>
          <p:nvPr/>
        </p:nvCxnSpPr>
        <p:spPr>
          <a:xfrm>
            <a:off x="472440" y="1371600"/>
            <a:ext cx="8159750" cy="0"/>
          </a:xfrm>
          <a:prstGeom prst="line">
            <a:avLst/>
          </a:prstGeom>
          <a:ln>
            <a:solidFill>
              <a:schemeClr val="tx1">
                <a:lumMod val="50000"/>
                <a:lumOff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9CB2D2">
            <a:alpha val="80000"/>
          </a:srgbClr>
        </a:solidFill>
        <a:effectLst/>
      </p:bgPr>
    </p:bg>
    <p:spTree>
      <p:nvGrpSpPr>
        <p:cNvPr id="1" name=""/>
        <p:cNvGrpSpPr/>
        <p:nvPr/>
      </p:nvGrpSpPr>
      <p:grpSpPr>
        <a:xfrm>
          <a:off x="0" y="0"/>
          <a:ext cx="0" cy="0"/>
          <a:chOff x="0" y="0"/>
          <a:chExt cx="0" cy="0"/>
        </a:xfrm>
      </p:grpSpPr>
      <p:grpSp>
        <p:nvGrpSpPr>
          <p:cNvPr id="15" name="组合 14"/>
          <p:cNvGrpSpPr/>
          <p:nvPr/>
        </p:nvGrpSpPr>
        <p:grpSpPr>
          <a:xfrm>
            <a:off x="0" y="1"/>
            <a:ext cx="12192000" cy="6858000"/>
            <a:chOff x="-2" y="845960"/>
            <a:chExt cx="13837062" cy="6858005"/>
          </a:xfrm>
        </p:grpSpPr>
        <p:pic>
          <p:nvPicPr>
            <p:cNvPr id="14" name="图片 13"/>
            <p:cNvPicPr>
              <a:picLocks noChangeAspect="1"/>
            </p:cNvPicPr>
            <p:nvPr/>
          </p:nvPicPr>
          <p:blipFill rotWithShape="1">
            <a:blip r:embed="rId1">
              <a:extLst>
                <a:ext uri="{BEBA8EAE-BF5A-486C-A8C5-ECC9F3942E4B}">
                  <a14:imgProps xmlns:a14="http://schemas.microsoft.com/office/drawing/2010/main">
                    <a14:imgLayer r:embed="rId2">
                      <a14:imgEffect>
                        <a14:colorTemperature colorTemp="5300"/>
                      </a14:imgEffect>
                    </a14:imgLayer>
                  </a14:imgProps>
                </a:ext>
                <a:ext uri="{28A0092B-C50C-407E-A947-70E740481C1C}">
                  <a14:useLocalDpi xmlns:a14="http://schemas.microsoft.com/office/drawing/2010/main" val="0"/>
                </a:ext>
              </a:extLst>
            </a:blip>
            <a:srcRect b="20895"/>
            <a:stretch>
              <a:fillRect/>
            </a:stretch>
          </p:blipFill>
          <p:spPr>
            <a:xfrm>
              <a:off x="3490453" y="845960"/>
              <a:ext cx="10346607" cy="6858002"/>
            </a:xfrm>
            <a:prstGeom prst="rect">
              <a:avLst/>
            </a:prstGeom>
          </p:spPr>
        </p:pic>
        <p:pic>
          <p:nvPicPr>
            <p:cNvPr id="22" name="图片 21"/>
            <p:cNvPicPr>
              <a:picLocks noChangeAspect="1"/>
            </p:cNvPicPr>
            <p:nvPr/>
          </p:nvPicPr>
          <p:blipFill rotWithShape="1">
            <a:blip r:embed="rId1">
              <a:extLst>
                <a:ext uri="{BEBA8EAE-BF5A-486C-A8C5-ECC9F3942E4B}">
                  <a14:imgProps xmlns:a14="http://schemas.microsoft.com/office/drawing/2010/main">
                    <a14:imgLayer r:embed="rId2">
                      <a14:imgEffect>
                        <a14:colorTemperature colorTemp="5300"/>
                      </a14:imgEffect>
                    </a14:imgLayer>
                  </a14:imgProps>
                </a:ext>
                <a:ext uri="{28A0092B-C50C-407E-A947-70E740481C1C}">
                  <a14:useLocalDpi xmlns:a14="http://schemas.microsoft.com/office/drawing/2010/main" val="0"/>
                </a:ext>
              </a:extLst>
            </a:blip>
            <a:srcRect r="82164" b="20895"/>
            <a:stretch>
              <a:fillRect/>
            </a:stretch>
          </p:blipFill>
          <p:spPr>
            <a:xfrm flipH="1">
              <a:off x="-2" y="845963"/>
              <a:ext cx="3490453" cy="6858002"/>
            </a:xfrm>
            <a:prstGeom prst="rect">
              <a:avLst/>
            </a:prstGeom>
          </p:spPr>
        </p:pic>
      </p:grpSp>
      <p:sp>
        <p:nvSpPr>
          <p:cNvPr id="31" name="矩形 30"/>
          <p:cNvSpPr/>
          <p:nvPr/>
        </p:nvSpPr>
        <p:spPr>
          <a:xfrm>
            <a:off x="6096000" y="1436914"/>
            <a:ext cx="5602514" cy="4818743"/>
          </a:xfrm>
          <a:custGeom>
            <a:avLst/>
            <a:gdLst>
              <a:gd name="connsiteX0" fmla="*/ 0 w 7143750"/>
              <a:gd name="connsiteY0" fmla="*/ 0 h 3273962"/>
              <a:gd name="connsiteX1" fmla="*/ 7143750 w 7143750"/>
              <a:gd name="connsiteY1" fmla="*/ 0 h 3273962"/>
              <a:gd name="connsiteX2" fmla="*/ 7143750 w 7143750"/>
              <a:gd name="connsiteY2" fmla="*/ 3273962 h 3273962"/>
              <a:gd name="connsiteX3" fmla="*/ 0 w 7143750"/>
              <a:gd name="connsiteY3" fmla="*/ 3273962 h 3273962"/>
              <a:gd name="connsiteX4" fmla="*/ 0 w 7143750"/>
              <a:gd name="connsiteY4" fmla="*/ 0 h 3273962"/>
              <a:gd name="connsiteX0-1" fmla="*/ 0 w 7258050"/>
              <a:gd name="connsiteY0-2" fmla="*/ 304800 h 3273962"/>
              <a:gd name="connsiteX1-3" fmla="*/ 7258050 w 7258050"/>
              <a:gd name="connsiteY1-4" fmla="*/ 0 h 3273962"/>
              <a:gd name="connsiteX2-5" fmla="*/ 7258050 w 7258050"/>
              <a:gd name="connsiteY2-6" fmla="*/ 3273962 h 3273962"/>
              <a:gd name="connsiteX3-7" fmla="*/ 114300 w 7258050"/>
              <a:gd name="connsiteY3-8" fmla="*/ 3273962 h 3273962"/>
              <a:gd name="connsiteX4-9" fmla="*/ 0 w 7258050"/>
              <a:gd name="connsiteY4-10" fmla="*/ 304800 h 3273962"/>
              <a:gd name="connsiteX0-11" fmla="*/ 0 w 7276902"/>
              <a:gd name="connsiteY0-12" fmla="*/ 8960 h 3273962"/>
              <a:gd name="connsiteX1-13" fmla="*/ 7276902 w 7276902"/>
              <a:gd name="connsiteY1-14" fmla="*/ 0 h 3273962"/>
              <a:gd name="connsiteX2-15" fmla="*/ 7276902 w 7276902"/>
              <a:gd name="connsiteY2-16" fmla="*/ 3273962 h 3273962"/>
              <a:gd name="connsiteX3-17" fmla="*/ 133152 w 7276902"/>
              <a:gd name="connsiteY3-18" fmla="*/ 3273962 h 3273962"/>
              <a:gd name="connsiteX4-19" fmla="*/ 0 w 7276902"/>
              <a:gd name="connsiteY4-20" fmla="*/ 8960 h 327396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276902" h="3273962">
                <a:moveTo>
                  <a:pt x="0" y="8960"/>
                </a:moveTo>
                <a:lnTo>
                  <a:pt x="7276902" y="0"/>
                </a:lnTo>
                <a:lnTo>
                  <a:pt x="7276902" y="3273962"/>
                </a:lnTo>
                <a:lnTo>
                  <a:pt x="133152" y="3273962"/>
                </a:lnTo>
                <a:lnTo>
                  <a:pt x="0" y="8960"/>
                </a:lnTo>
                <a:close/>
              </a:path>
            </a:pathLst>
          </a:cu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6254428" y="3904387"/>
            <a:ext cx="3255211" cy="523220"/>
          </a:xfrm>
          <a:prstGeom prst="rect">
            <a:avLst/>
          </a:prstGeom>
          <a:noFill/>
        </p:spPr>
        <p:txBody>
          <a:bodyPr wrap="square" rtlCol="0">
            <a:spAutoFit/>
          </a:bodyPr>
          <a:lstStyle/>
          <a:p>
            <a:pPr algn="dist"/>
            <a:r>
              <a:rPr lang="zh-CN" altLang="en-US" sz="2800" b="1" dirty="0">
                <a:latin typeface="微软雅黑 Light" panose="020B0502040204020203" charset="-122"/>
                <a:ea typeface="微软雅黑 Light" panose="020B0502040204020203" charset="-122"/>
              </a:rPr>
              <a:t>医院照明解决方案</a:t>
            </a:r>
            <a:endParaRPr lang="zh-CN" altLang="en-US" sz="2800" b="1" dirty="0">
              <a:latin typeface="微软雅黑 Light" panose="020B0502040204020203" charset="-122"/>
              <a:ea typeface="微软雅黑 Light" panose="020B0502040204020203" charset="-122"/>
            </a:endParaRPr>
          </a:p>
        </p:txBody>
      </p:sp>
      <p:sp>
        <p:nvSpPr>
          <p:cNvPr id="38" name="文本框 37"/>
          <p:cNvSpPr txBox="1"/>
          <p:nvPr/>
        </p:nvSpPr>
        <p:spPr>
          <a:xfrm>
            <a:off x="6254428" y="2108418"/>
            <a:ext cx="5698086" cy="1937838"/>
          </a:xfrm>
          <a:prstGeom prst="rect">
            <a:avLst/>
          </a:prstGeom>
          <a:noFill/>
        </p:spPr>
        <p:txBody>
          <a:bodyPr wrap="square">
            <a:spAutoFit/>
          </a:bodyPr>
          <a:lstStyle/>
          <a:p>
            <a:pPr>
              <a:lnSpc>
                <a:spcPct val="90000"/>
              </a:lnSpc>
            </a:pPr>
            <a:r>
              <a:rPr lang="en-US" altLang="zh-CN" sz="6600" dirty="0">
                <a:solidFill>
                  <a:schemeClr val="tx1">
                    <a:lumMod val="85000"/>
                    <a:lumOff val="15000"/>
                  </a:schemeClr>
                </a:solidFill>
                <a:latin typeface="Aharoni" panose="02010803020104030203" pitchFamily="2" charset="-79"/>
                <a:cs typeface="Aharoni" panose="02010803020104030203" pitchFamily="2" charset="-79"/>
              </a:rPr>
              <a:t>HEALTHCARE      LIGHTING</a:t>
            </a:r>
            <a:endParaRPr lang="en-US" altLang="zh-CN" sz="6600" b="1" dirty="0">
              <a:solidFill>
                <a:schemeClr val="tx1">
                  <a:lumMod val="85000"/>
                  <a:lumOff val="15000"/>
                </a:schemeClr>
              </a:solidFill>
              <a:latin typeface="微软雅黑" panose="020B0503020204020204" charset="-122"/>
              <a:ea typeface="微软雅黑" panose="020B0503020204020204" charset="-122"/>
            </a:endParaRPr>
          </a:p>
        </p:txBody>
      </p:sp>
      <p:pic>
        <p:nvPicPr>
          <p:cNvPr id="41" name="图片 4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7837" y="296006"/>
            <a:ext cx="1583103" cy="725722"/>
          </a:xfrm>
          <a:prstGeom prst="rect">
            <a:avLst/>
          </a:prstGeom>
        </p:spPr>
      </p:pic>
      <p:sp>
        <p:nvSpPr>
          <p:cNvPr id="3" name="文本框 2"/>
          <p:cNvSpPr txBox="1"/>
          <p:nvPr/>
        </p:nvSpPr>
        <p:spPr>
          <a:xfrm>
            <a:off x="6342744" y="5602910"/>
            <a:ext cx="2656114" cy="584775"/>
          </a:xfrm>
          <a:prstGeom prst="rect">
            <a:avLst/>
          </a:prstGeom>
          <a:noFill/>
        </p:spPr>
        <p:txBody>
          <a:bodyPr wrap="square" rtlCol="0">
            <a:spAutoFit/>
          </a:bodyPr>
          <a:lstStyle/>
          <a:p>
            <a:r>
              <a:rPr lang="en-US" altLang="zh-CN" sz="1600" dirty="0">
                <a:solidFill>
                  <a:schemeClr val="tx1">
                    <a:lumMod val="85000"/>
                    <a:lumOff val="15000"/>
                  </a:schemeClr>
                </a:solidFill>
              </a:rPr>
              <a:t>OPPLE   LIGHTING</a:t>
            </a:r>
            <a:endParaRPr lang="en-US" altLang="zh-CN" sz="1600" dirty="0">
              <a:solidFill>
                <a:schemeClr val="tx1">
                  <a:lumMod val="85000"/>
                  <a:lumOff val="15000"/>
                </a:schemeClr>
              </a:solidFill>
            </a:endParaRPr>
          </a:p>
          <a:p>
            <a:r>
              <a:rPr lang="en-US" altLang="zh-CN" sz="1600" dirty="0">
                <a:solidFill>
                  <a:schemeClr val="tx1">
                    <a:lumMod val="85000"/>
                    <a:lumOff val="15000"/>
                  </a:schemeClr>
                </a:solidFill>
              </a:rPr>
              <a:t>2025 /07</a:t>
            </a:r>
            <a:endParaRPr lang="zh-CN" altLang="en-US" sz="1600" dirty="0">
              <a:solidFill>
                <a:schemeClr val="tx1">
                  <a:lumMod val="85000"/>
                  <a:lumOff val="15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descr="e7d195523061f1c074694c8bbf98be7b1e4b015d796375963FD28840057458461C7CA0DAD340D15583DEDFC2E3241C4F392EF3A8B4D067B40CF4F149DD7E51F346B0CAB1BCCF6DB2480C67273C6C9E4CE0F3004E5C3397E9DBB399E827F1A1B4315D31B4A1FB924AA6F0CE797FFD0048F7FA626F7785968C67936054B24ADCC2455D90D09048EC83"/>
          <p:cNvSpPr/>
          <p:nvPr/>
        </p:nvSpPr>
        <p:spPr>
          <a:xfrm rot="16200000">
            <a:off x="1990282" y="2373796"/>
            <a:ext cx="805815" cy="1634466"/>
          </a:xfrm>
          <a:prstGeom prst="rect">
            <a:avLst/>
          </a:prstGeom>
        </p:spPr>
        <p:txBody>
          <a:bodyPr vert="eaVert" wrap="square">
            <a:spAutoFit/>
          </a:bodyPr>
          <a:lstStyle/>
          <a:p>
            <a:pPr algn="just"/>
            <a:r>
              <a:rPr lang="zh-CN" altLang="en-US" sz="4045" dirty="0">
                <a:latin typeface="微软雅黑" panose="020B0503020204020204" charset="-122"/>
                <a:ea typeface="微软雅黑" panose="020B0503020204020204" charset="-122"/>
              </a:rPr>
              <a:t>目  录</a:t>
            </a:r>
            <a:endParaRPr lang="zh-CN" altLang="en-US" sz="4045" dirty="0">
              <a:latin typeface="微软雅黑" panose="020B0503020204020204" charset="-122"/>
              <a:ea typeface="微软雅黑" panose="020B0503020204020204" charset="-122"/>
            </a:endParaRPr>
          </a:p>
        </p:txBody>
      </p:sp>
      <p:sp>
        <p:nvSpPr>
          <p:cNvPr id="3" name="文本框 2"/>
          <p:cNvSpPr txBox="1"/>
          <p:nvPr/>
        </p:nvSpPr>
        <p:spPr>
          <a:xfrm>
            <a:off x="3987165" y="468630"/>
            <a:ext cx="6057265" cy="5631180"/>
          </a:xfrm>
          <a:prstGeom prst="rect">
            <a:avLst/>
          </a:prstGeom>
          <a:noFill/>
        </p:spPr>
        <p:txBody>
          <a:bodyPr wrap="square" rtlCol="0">
            <a:spAutoFit/>
          </a:bodyPr>
          <a:lstStyle/>
          <a:p>
            <a:pPr algn="just">
              <a:lnSpc>
                <a:spcPct val="250000"/>
              </a:lnSpc>
            </a:pPr>
            <a:r>
              <a:rPr lang="zh-CN" altLang="en-US" b="1" dirty="0">
                <a:solidFill>
                  <a:schemeClr val="tx1"/>
                </a:solidFill>
                <a:latin typeface="微软雅黑" panose="020B0503020204020204" charset="-122"/>
                <a:ea typeface="微软雅黑" panose="020B0503020204020204" charset="-122"/>
              </a:rPr>
              <a:t>欧普医疗照明价值主张</a:t>
            </a:r>
            <a:endParaRPr lang="zh-CN" altLang="en-US" b="1" dirty="0">
              <a:solidFill>
                <a:schemeClr val="tx1"/>
              </a:solidFill>
              <a:latin typeface="微软雅黑" panose="020B0503020204020204" charset="-122"/>
              <a:ea typeface="微软雅黑" panose="020B0503020204020204" charset="-122"/>
            </a:endParaRPr>
          </a:p>
          <a:p>
            <a:pPr algn="just">
              <a:lnSpc>
                <a:spcPct val="250000"/>
              </a:lnSpc>
            </a:pPr>
            <a:r>
              <a:rPr lang="zh-CN" altLang="en-US" b="1" kern="100" dirty="0">
                <a:solidFill>
                  <a:schemeClr val="tx1"/>
                </a:solidFill>
                <a:latin typeface="微软雅黑" panose="020B0503020204020204" charset="-122"/>
                <a:ea typeface="微软雅黑" panose="020B0503020204020204" charset="-122"/>
                <a:cs typeface="Times New Roman" panose="02020603050405020304" pitchFamily="18" charset="0"/>
                <a:sym typeface="+mn-ea"/>
              </a:rPr>
              <a:t>欧普核心技术</a:t>
            </a:r>
            <a:r>
              <a:rPr lang="zh-CN" altLang="zh-CN" sz="1600" kern="100" dirty="0">
                <a:solidFill>
                  <a:schemeClr val="tx1"/>
                </a:solidFill>
                <a:latin typeface="微软雅黑" panose="020B0503020204020204" charset="-122"/>
                <a:ea typeface="微软雅黑" panose="020B0503020204020204" charset="-122"/>
                <a:cs typeface="Times New Roman" panose="02020603050405020304" pitchFamily="18" charset="0"/>
                <a:sym typeface="+mn-ea"/>
              </a:rPr>
              <a:t>：SDL光引擎、智慧平台、白光评价指标</a:t>
            </a:r>
            <a:endParaRPr lang="zh-CN" altLang="zh-CN" sz="1600" kern="100" dirty="0">
              <a:solidFill>
                <a:schemeClr val="tx1"/>
              </a:solidFill>
              <a:latin typeface="微软雅黑" panose="020B0503020204020204" charset="-122"/>
              <a:ea typeface="微软雅黑" panose="020B0503020204020204" charset="-122"/>
              <a:cs typeface="Times New Roman" panose="02020603050405020304" pitchFamily="18" charset="0"/>
              <a:sym typeface="+mn-ea"/>
            </a:endParaRPr>
          </a:p>
          <a:p>
            <a:pPr algn="just">
              <a:lnSpc>
                <a:spcPct val="250000"/>
              </a:lnSpc>
            </a:pPr>
            <a:r>
              <a:rPr lang="zh-CN" altLang="en-US" b="1" kern="100" dirty="0">
                <a:solidFill>
                  <a:schemeClr val="tx1"/>
                </a:solidFill>
                <a:latin typeface="微软雅黑" panose="020B0503020204020204" charset="-122"/>
                <a:ea typeface="微软雅黑" panose="020B0503020204020204" charset="-122"/>
                <a:cs typeface="Times New Roman" panose="02020603050405020304" pitchFamily="18" charset="0"/>
                <a:sym typeface="+mn-ea"/>
              </a:rPr>
              <a:t>创新性产品</a:t>
            </a:r>
            <a:r>
              <a:rPr lang="zh-CN" altLang="zh-CN" sz="1600" kern="100" dirty="0">
                <a:solidFill>
                  <a:schemeClr val="tx1"/>
                </a:solidFill>
                <a:latin typeface="微软雅黑" panose="020B0503020204020204" charset="-122"/>
                <a:ea typeface="微软雅黑" panose="020B0503020204020204" charset="-122"/>
                <a:cs typeface="Times New Roman" panose="02020603050405020304" pitchFamily="18" charset="0"/>
                <a:sym typeface="+mn-ea"/>
              </a:rPr>
              <a:t>：</a:t>
            </a:r>
            <a:r>
              <a:rPr lang="en-US" altLang="zh-CN" sz="1600" kern="100" dirty="0">
                <a:solidFill>
                  <a:schemeClr val="tx1"/>
                </a:solidFill>
                <a:latin typeface="微软雅黑" panose="020B0503020204020204" charset="-122"/>
                <a:ea typeface="微软雅黑" panose="020B0503020204020204" charset="-122"/>
                <a:cs typeface="Times New Roman" panose="02020603050405020304" pitchFamily="18" charset="0"/>
                <a:sym typeface="+mn-ea"/>
              </a:rPr>
              <a:t>SDL</a:t>
            </a:r>
            <a:r>
              <a:rPr lang="zh-CN" altLang="zh-CN" sz="1600" kern="100" dirty="0">
                <a:solidFill>
                  <a:schemeClr val="tx1"/>
                </a:solidFill>
                <a:latin typeface="微软雅黑" panose="020B0503020204020204" charset="-122"/>
                <a:ea typeface="微软雅黑" panose="020B0503020204020204" charset="-122"/>
                <a:cs typeface="Times New Roman" panose="02020603050405020304" pitchFamily="18" charset="0"/>
                <a:sym typeface="+mn-ea"/>
              </a:rPr>
              <a:t>天境、</a:t>
            </a:r>
            <a:r>
              <a:rPr lang="en-US" altLang="zh-CN" sz="1600" kern="100" dirty="0">
                <a:solidFill>
                  <a:schemeClr val="tx1"/>
                </a:solidFill>
                <a:latin typeface="微软雅黑" panose="020B0503020204020204" charset="-122"/>
                <a:ea typeface="微软雅黑" panose="020B0503020204020204" charset="-122"/>
                <a:cs typeface="Times New Roman" panose="02020603050405020304" pitchFamily="18" charset="0"/>
                <a:sym typeface="+mn-ea"/>
              </a:rPr>
              <a:t>SDL</a:t>
            </a:r>
            <a:r>
              <a:rPr lang="zh-CN" altLang="zh-CN" sz="1600" kern="100" dirty="0">
                <a:solidFill>
                  <a:schemeClr val="tx1"/>
                </a:solidFill>
                <a:latin typeface="微软雅黑" panose="020B0503020204020204" charset="-122"/>
                <a:ea typeface="微软雅黑" panose="020B0503020204020204" charset="-122"/>
                <a:cs typeface="Times New Roman" panose="02020603050405020304" pitchFamily="18" charset="0"/>
                <a:sym typeface="+mn-ea"/>
              </a:rPr>
              <a:t>天幕、清澈光格栅灯、壁装床头灯</a:t>
            </a:r>
            <a:endParaRPr lang="zh-CN" altLang="zh-CN" sz="1400" kern="100" dirty="0">
              <a:solidFill>
                <a:schemeClr val="tx1"/>
              </a:solidFill>
              <a:latin typeface="微软雅黑" panose="020B0503020204020204" charset="-122"/>
              <a:ea typeface="微软雅黑" panose="020B0503020204020204" charset="-122"/>
              <a:cs typeface="Times New Roman" panose="02020603050405020304" pitchFamily="18" charset="0"/>
            </a:endParaRPr>
          </a:p>
          <a:p>
            <a:pPr algn="just">
              <a:lnSpc>
                <a:spcPct val="250000"/>
              </a:lnSpc>
            </a:pPr>
            <a:r>
              <a:rPr lang="zh-CN" altLang="en-US" b="1" kern="100" dirty="0">
                <a:solidFill>
                  <a:schemeClr val="tx1"/>
                </a:solidFill>
                <a:latin typeface="微软雅黑" panose="020B0503020204020204" charset="-122"/>
                <a:ea typeface="微软雅黑" panose="020B0503020204020204" charset="-122"/>
                <a:cs typeface="Times New Roman" panose="02020603050405020304" pitchFamily="18" charset="0"/>
              </a:rPr>
              <a:t>医疗空间典型场所</a:t>
            </a:r>
            <a:endParaRPr lang="en-US" altLang="zh-CN" b="1" kern="100" dirty="0">
              <a:solidFill>
                <a:schemeClr val="tx1"/>
              </a:solidFill>
              <a:latin typeface="微软雅黑" panose="020B0503020204020204" charset="-122"/>
              <a:ea typeface="微软雅黑" panose="020B0503020204020204" charset="-122"/>
              <a:cs typeface="Times New Roman" panose="02020603050405020304" pitchFamily="18" charset="0"/>
            </a:endParaRPr>
          </a:p>
          <a:p>
            <a:pPr algn="just">
              <a:lnSpc>
                <a:spcPct val="250000"/>
              </a:lnSpc>
              <a:buClrTx/>
              <a:buSzTx/>
              <a:buNone/>
            </a:pPr>
            <a:r>
              <a:rPr lang="zh-CN" altLang="zh-CN" b="1" kern="100" dirty="0">
                <a:solidFill>
                  <a:schemeClr val="tx1"/>
                </a:solidFill>
                <a:latin typeface="微软雅黑" panose="020B0503020204020204" charset="-122"/>
                <a:ea typeface="微软雅黑" panose="020B0503020204020204" charset="-122"/>
                <a:cs typeface="Times New Roman" panose="02020603050405020304" pitchFamily="18" charset="0"/>
              </a:rPr>
              <a:t>照明智控系统</a:t>
            </a:r>
            <a:r>
              <a:rPr lang="zh-CN" altLang="zh-CN" b="1" kern="100" dirty="0">
                <a:solidFill>
                  <a:schemeClr val="tx1"/>
                </a:solidFill>
                <a:latin typeface="微软雅黑" panose="020B0503020204020204" charset="-122"/>
                <a:ea typeface="微软雅黑" panose="020B0503020204020204" charset="-122"/>
                <a:cs typeface="Times New Roman" panose="02020603050405020304" pitchFamily="18" charset="0"/>
                <a:sym typeface="+mn-ea"/>
              </a:rPr>
              <a:t>管理</a:t>
            </a:r>
            <a:endParaRPr lang="zh-CN" altLang="zh-CN" b="1" kern="100" dirty="0">
              <a:solidFill>
                <a:schemeClr val="tx1"/>
              </a:solidFill>
              <a:latin typeface="微软雅黑" panose="020B0503020204020204" charset="-122"/>
              <a:ea typeface="微软雅黑" panose="020B0503020204020204" charset="-122"/>
              <a:cs typeface="Times New Roman" panose="02020603050405020304" pitchFamily="18" charset="0"/>
            </a:endParaRPr>
          </a:p>
          <a:p>
            <a:pPr algn="just">
              <a:lnSpc>
                <a:spcPct val="250000"/>
              </a:lnSpc>
              <a:buClrTx/>
              <a:buSzTx/>
              <a:buNone/>
            </a:pPr>
            <a:r>
              <a:rPr lang="zh-CN" altLang="zh-CN" b="1" kern="100" dirty="0">
                <a:solidFill>
                  <a:schemeClr val="tx1"/>
                </a:solidFill>
                <a:latin typeface="微软雅黑" panose="020B0503020204020204" charset="-122"/>
                <a:ea typeface="微软雅黑" panose="020B0503020204020204" charset="-122"/>
                <a:cs typeface="Times New Roman" panose="02020603050405020304" pitchFamily="18" charset="0"/>
              </a:rPr>
              <a:t>消防应急照明</a:t>
            </a:r>
            <a:endParaRPr lang="zh-CN" altLang="zh-CN" b="1" kern="100" dirty="0">
              <a:solidFill>
                <a:schemeClr val="tx1"/>
              </a:solidFill>
              <a:latin typeface="微软雅黑" panose="020B0503020204020204" charset="-122"/>
              <a:ea typeface="微软雅黑" panose="020B0503020204020204" charset="-122"/>
              <a:cs typeface="Times New Roman" panose="02020603050405020304" pitchFamily="18" charset="0"/>
            </a:endParaRPr>
          </a:p>
          <a:p>
            <a:pPr algn="just">
              <a:lnSpc>
                <a:spcPct val="250000"/>
              </a:lnSpc>
              <a:buClrTx/>
              <a:buSzTx/>
              <a:buNone/>
            </a:pPr>
            <a:r>
              <a:rPr lang="zh-CN" altLang="zh-CN" b="1" kern="100" dirty="0">
                <a:solidFill>
                  <a:schemeClr val="tx1"/>
                </a:solidFill>
                <a:latin typeface="微软雅黑" panose="020B0503020204020204" charset="-122"/>
                <a:ea typeface="微软雅黑" panose="020B0503020204020204" charset="-122"/>
                <a:cs typeface="Times New Roman" panose="02020603050405020304" pitchFamily="18" charset="0"/>
              </a:rPr>
              <a:t>医疗</a:t>
            </a:r>
            <a:r>
              <a:rPr lang="zh-CN" altLang="zh-CN" b="1" kern="100" dirty="0">
                <a:solidFill>
                  <a:schemeClr val="tx1"/>
                </a:solidFill>
                <a:latin typeface="微软雅黑" panose="020B0503020204020204" charset="-122"/>
                <a:ea typeface="微软雅黑" panose="020B0503020204020204" charset="-122"/>
                <a:cs typeface="Times New Roman" panose="02020603050405020304" pitchFamily="18" charset="0"/>
                <a:sym typeface="+mn-ea"/>
              </a:rPr>
              <a:t>产品系列</a:t>
            </a:r>
            <a:endParaRPr lang="zh-CN" altLang="zh-CN" b="1" kern="100" dirty="0">
              <a:solidFill>
                <a:schemeClr val="tx1"/>
              </a:solidFill>
              <a:latin typeface="微软雅黑" panose="020B0503020204020204" charset="-122"/>
              <a:ea typeface="微软雅黑" panose="020B0503020204020204" charset="-122"/>
              <a:cs typeface="Times New Roman" panose="02020603050405020304" pitchFamily="18" charset="0"/>
              <a:sym typeface="+mn-ea"/>
            </a:endParaRPr>
          </a:p>
          <a:p>
            <a:pPr algn="just">
              <a:lnSpc>
                <a:spcPct val="250000"/>
              </a:lnSpc>
            </a:pPr>
            <a:r>
              <a:rPr lang="zh-CN" altLang="en-US" b="1" kern="100" dirty="0">
                <a:solidFill>
                  <a:schemeClr val="tx1"/>
                </a:solidFill>
                <a:latin typeface="微软雅黑" panose="020B0503020204020204" charset="-122"/>
                <a:ea typeface="微软雅黑" panose="020B0503020204020204" charset="-122"/>
                <a:cs typeface="Times New Roman" panose="02020603050405020304" pitchFamily="18" charset="0"/>
              </a:rPr>
              <a:t>项目</a:t>
            </a:r>
            <a:r>
              <a:rPr lang="zh-CN" altLang="zh-CN" b="1" kern="100" dirty="0">
                <a:solidFill>
                  <a:schemeClr val="tx1"/>
                </a:solidFill>
                <a:latin typeface="微软雅黑" panose="020B0503020204020204" charset="-122"/>
                <a:ea typeface="微软雅黑" panose="020B0503020204020204" charset="-122"/>
                <a:cs typeface="Times New Roman" panose="02020603050405020304" pitchFamily="18" charset="0"/>
              </a:rPr>
              <a:t>案例</a:t>
            </a:r>
            <a:endParaRPr lang="zh-CN" altLang="en-US" b="1" kern="100" dirty="0">
              <a:solidFill>
                <a:schemeClr val="tx1"/>
              </a:solidFill>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图片 47" descr="图片包含 天空, 人员, 户外, 草&#10;&#10;描述已自动生成"/>
          <p:cNvPicPr>
            <a:picLocks noChangeAspect="1"/>
          </p:cNvPicPr>
          <p:nvPr/>
        </p:nvPicPr>
        <p:blipFill rotWithShape="1">
          <a:blip r:embed="rId1" cstate="print">
            <a:extLst>
              <a:ext uri="{28A0092B-C50C-407E-A947-70E740481C1C}">
                <a14:useLocalDpi xmlns:a14="http://schemas.microsoft.com/office/drawing/2010/main" val="0"/>
              </a:ext>
            </a:extLst>
          </a:blip>
          <a:srcRect l="8545" t="469" r="14924" b="293"/>
          <a:stretch>
            <a:fillRect/>
          </a:stretch>
        </p:blipFill>
        <p:spPr>
          <a:xfrm>
            <a:off x="0" y="0"/>
            <a:ext cx="7535025" cy="6858000"/>
          </a:xfrm>
          <a:prstGeom prst="rect">
            <a:avLst/>
          </a:prstGeom>
        </p:spPr>
      </p:pic>
      <p:grpSp>
        <p:nvGrpSpPr>
          <p:cNvPr id="26" name="组合 25"/>
          <p:cNvGrpSpPr/>
          <p:nvPr/>
        </p:nvGrpSpPr>
        <p:grpSpPr>
          <a:xfrm>
            <a:off x="7795965" y="1149751"/>
            <a:ext cx="4147869" cy="814644"/>
            <a:chOff x="6976614" y="2499039"/>
            <a:chExt cx="4147869" cy="814644"/>
          </a:xfrm>
        </p:grpSpPr>
        <p:sp>
          <p:nvSpPr>
            <p:cNvPr id="32" name="箭头: V 形 31"/>
            <p:cNvSpPr/>
            <p:nvPr/>
          </p:nvSpPr>
          <p:spPr>
            <a:xfrm>
              <a:off x="6976614" y="2617260"/>
              <a:ext cx="197284" cy="252920"/>
            </a:xfrm>
            <a:prstGeom prst="chevron">
              <a:avLst>
                <a:gd name="adj" fmla="val 725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charset="-122"/>
                <a:cs typeface="+mn-cs"/>
              </a:endParaRPr>
            </a:p>
          </p:txBody>
        </p:sp>
        <p:grpSp>
          <p:nvGrpSpPr>
            <p:cNvPr id="28" name="组合 27"/>
            <p:cNvGrpSpPr/>
            <p:nvPr/>
          </p:nvGrpSpPr>
          <p:grpSpPr>
            <a:xfrm>
              <a:off x="7175855" y="2499039"/>
              <a:ext cx="3948628" cy="814644"/>
              <a:chOff x="6330443" y="1660425"/>
              <a:chExt cx="3948628" cy="814644"/>
            </a:xfrm>
          </p:grpSpPr>
          <p:sp>
            <p:nvSpPr>
              <p:cNvPr id="29" name="矩形 28"/>
              <p:cNvSpPr/>
              <p:nvPr/>
            </p:nvSpPr>
            <p:spPr>
              <a:xfrm>
                <a:off x="6330443" y="2013404"/>
                <a:ext cx="3948628" cy="461665"/>
              </a:xfrm>
              <a:prstGeom prst="rect">
                <a:avLst/>
              </a:prstGeom>
            </p:spPr>
            <p:txBody>
              <a:bodyPr wrap="square">
                <a:spAutoFit/>
                <a:scene3d>
                  <a:camera prst="orthographicFront"/>
                  <a:lightRig rig="threePt" dir="t"/>
                </a:scene3d>
                <a:sp3d contourW="12700"/>
              </a:bodyPr>
              <a:lstStyle/>
              <a:p>
                <a:r>
                  <a:rPr lang="zh-CN" altLang="en-US" sz="800" dirty="0">
                    <a:solidFill>
                      <a:schemeClr val="tx1">
                        <a:lumMod val="75000"/>
                        <a:lumOff val="25000"/>
                      </a:schemeClr>
                    </a:solidFill>
                    <a:cs typeface="+mn-ea"/>
                    <a:sym typeface="+mn-lt"/>
                  </a:rPr>
                  <a:t>视觉疲劳跟色温的关系</a:t>
                </a:r>
                <a:endParaRPr lang="en-US" altLang="zh-CN" sz="800" dirty="0">
                  <a:solidFill>
                    <a:schemeClr val="tx1">
                      <a:lumMod val="75000"/>
                      <a:lumOff val="25000"/>
                    </a:schemeClr>
                  </a:solidFill>
                  <a:cs typeface="+mn-ea"/>
                  <a:sym typeface="+mn-lt"/>
                </a:endParaRPr>
              </a:p>
              <a:p>
                <a:r>
                  <a:rPr lang="en-US" altLang="zh-CN" sz="800" dirty="0">
                    <a:solidFill>
                      <a:schemeClr val="tx1">
                        <a:lumMod val="75000"/>
                        <a:lumOff val="25000"/>
                      </a:schemeClr>
                    </a:solidFill>
                    <a:cs typeface="+mn-ea"/>
                    <a:sym typeface="+mn-lt"/>
                  </a:rPr>
                  <a:t>4000K</a:t>
                </a:r>
                <a:r>
                  <a:rPr lang="zh-CN" altLang="en-US" sz="800" dirty="0">
                    <a:solidFill>
                      <a:schemeClr val="tx1">
                        <a:lumMod val="75000"/>
                        <a:lumOff val="25000"/>
                      </a:schemeClr>
                    </a:solidFill>
                    <a:cs typeface="+mn-ea"/>
                    <a:sym typeface="+mn-lt"/>
                  </a:rPr>
                  <a:t>的条件下，眨眼频率和闭眼时间平均变化率最低，视疲劳程度最轻；</a:t>
                </a:r>
                <a:r>
                  <a:rPr lang="en-US" altLang="zh-CN" sz="800" dirty="0">
                    <a:solidFill>
                      <a:schemeClr val="tx1">
                        <a:lumMod val="75000"/>
                        <a:lumOff val="25000"/>
                      </a:schemeClr>
                    </a:solidFill>
                    <a:cs typeface="+mn-ea"/>
                    <a:sym typeface="+mn-lt"/>
                  </a:rPr>
                  <a:t>6500K</a:t>
                </a:r>
                <a:r>
                  <a:rPr lang="zh-CN" altLang="en-US" sz="800" dirty="0">
                    <a:solidFill>
                      <a:schemeClr val="tx1">
                        <a:lumMod val="75000"/>
                        <a:lumOff val="25000"/>
                      </a:schemeClr>
                    </a:solidFill>
                    <a:cs typeface="+mn-ea"/>
                    <a:sym typeface="+mn-lt"/>
                  </a:rPr>
                  <a:t>视疲劳较严重，</a:t>
                </a:r>
                <a:r>
                  <a:rPr lang="en-US" altLang="zh-CN" sz="800" dirty="0">
                    <a:solidFill>
                      <a:schemeClr val="tx1">
                        <a:lumMod val="75000"/>
                        <a:lumOff val="25000"/>
                      </a:schemeClr>
                    </a:solidFill>
                    <a:cs typeface="+mn-ea"/>
                    <a:sym typeface="+mn-lt"/>
                  </a:rPr>
                  <a:t>5000k</a:t>
                </a:r>
                <a:r>
                  <a:rPr lang="zh-CN" altLang="en-US" sz="800" dirty="0">
                    <a:solidFill>
                      <a:schemeClr val="tx1">
                        <a:lumMod val="75000"/>
                        <a:lumOff val="25000"/>
                      </a:schemeClr>
                    </a:solidFill>
                    <a:cs typeface="+mn-ea"/>
                    <a:sym typeface="+mn-lt"/>
                  </a:rPr>
                  <a:t>视疲劳最严重</a:t>
                </a:r>
                <a:endParaRPr lang="zh-CN" altLang="en-US" sz="800" dirty="0">
                  <a:solidFill>
                    <a:schemeClr val="tx1">
                      <a:lumMod val="75000"/>
                      <a:lumOff val="25000"/>
                    </a:schemeClr>
                  </a:solidFill>
                  <a:cs typeface="+mn-ea"/>
                </a:endParaRPr>
              </a:p>
            </p:txBody>
          </p:sp>
          <p:sp>
            <p:nvSpPr>
              <p:cNvPr id="30" name="矩形 29"/>
              <p:cNvSpPr/>
              <p:nvPr/>
            </p:nvSpPr>
            <p:spPr>
              <a:xfrm>
                <a:off x="6588235" y="1660425"/>
                <a:ext cx="2241974" cy="261610"/>
              </a:xfrm>
              <a:prstGeom prst="rect">
                <a:avLst/>
              </a:prstGeom>
            </p:spPr>
            <p:txBody>
              <a:bodyPr wrap="square">
                <a:spAutoFit/>
                <a:scene3d>
                  <a:camera prst="orthographicFront"/>
                  <a:lightRig rig="threePt" dir="t"/>
                </a:scene3d>
                <a:sp3d contourW="12700"/>
              </a:bodyPr>
              <a:lstStyle/>
              <a:p>
                <a:r>
                  <a:rPr kumimoji="1" lang="zh-CN" altLang="en-US" sz="1100" b="1" dirty="0">
                    <a:solidFill>
                      <a:srgbClr val="353535"/>
                    </a:solidFill>
                    <a:latin typeface="微软雅黑" panose="020B0503020204020204" charset="-122"/>
                    <a:ea typeface="微软雅黑" panose="020B0503020204020204" charset="-122"/>
                    <a:cs typeface="+mn-ea"/>
                    <a:sym typeface="+mn-lt"/>
                  </a:rPr>
                  <a:t>光的视觉效应</a:t>
                </a:r>
                <a:endParaRPr kumimoji="1" lang="en-US" altLang="zh-CN" sz="1100" b="1" dirty="0">
                  <a:solidFill>
                    <a:srgbClr val="353535"/>
                  </a:solidFill>
                  <a:latin typeface="微软雅黑" panose="020B0503020204020204" charset="-122"/>
                  <a:ea typeface="微软雅黑" panose="020B0503020204020204" charset="-122"/>
                  <a:cs typeface="+mn-ea"/>
                  <a:sym typeface="+mn-lt"/>
                </a:endParaRPr>
              </a:p>
            </p:txBody>
          </p:sp>
        </p:grpSp>
      </p:grpSp>
      <p:sp>
        <p:nvSpPr>
          <p:cNvPr id="49" name="矩形 48"/>
          <p:cNvSpPr/>
          <p:nvPr/>
        </p:nvSpPr>
        <p:spPr>
          <a:xfrm>
            <a:off x="5461731" y="372123"/>
            <a:ext cx="1620957" cy="523220"/>
          </a:xfrm>
          <a:prstGeom prst="rect">
            <a:avLst/>
          </a:prstGeom>
        </p:spPr>
        <p:txBody>
          <a:bodyPr wrap="none">
            <a:spAutoFit/>
          </a:bodyPr>
          <a:lstStyle/>
          <a:p>
            <a:r>
              <a:rPr lang="zh-CN" altLang="en-US" sz="2800" dirty="0">
                <a:solidFill>
                  <a:schemeClr val="tx1">
                    <a:lumMod val="85000"/>
                    <a:lumOff val="15000"/>
                  </a:schemeClr>
                </a:solidFill>
                <a:latin typeface="微软雅黑" panose="020B0503020204020204" charset="-122"/>
                <a:ea typeface="微软雅黑" panose="020B0503020204020204" charset="-122"/>
                <a:cs typeface="Segoe UI" panose="020B0502040204020203" pitchFamily="34" charset="0"/>
              </a:rPr>
              <a:t>光与健康</a:t>
            </a:r>
            <a:endParaRPr lang="zh-CN" altLang="en-US" sz="2800" dirty="0">
              <a:solidFill>
                <a:schemeClr val="tx1">
                  <a:lumMod val="85000"/>
                  <a:lumOff val="15000"/>
                </a:schemeClr>
              </a:solidFill>
              <a:latin typeface="微软雅黑" panose="020B0503020204020204" charset="-122"/>
              <a:ea typeface="微软雅黑" panose="020B0503020204020204" charset="-122"/>
            </a:endParaRPr>
          </a:p>
        </p:txBody>
      </p:sp>
      <p:pic>
        <p:nvPicPr>
          <p:cNvPr id="54" name="图片 53"/>
          <p:cNvPicPr>
            <a:picLocks noChangeAspect="1"/>
          </p:cNvPicPr>
          <p:nvPr/>
        </p:nvPicPr>
        <p:blipFill rotWithShape="1">
          <a:blip r:embed="rId2" cstate="print">
            <a:extLst>
              <a:ext uri="{28A0092B-C50C-407E-A947-70E740481C1C}">
                <a14:useLocalDpi xmlns:a14="http://schemas.microsoft.com/office/drawing/2010/main" val="0"/>
              </a:ext>
            </a:extLst>
          </a:blip>
          <a:srcRect t="8697"/>
          <a:stretch>
            <a:fillRect/>
          </a:stretch>
        </p:blipFill>
        <p:spPr>
          <a:xfrm>
            <a:off x="8043866" y="5631839"/>
            <a:ext cx="2093345" cy="1032786"/>
          </a:xfrm>
          <a:prstGeom prst="rect">
            <a:avLst/>
          </a:prstGeom>
        </p:spPr>
      </p:pic>
      <p:pic>
        <p:nvPicPr>
          <p:cNvPr id="55" name="图片 54"/>
          <p:cNvPicPr>
            <a:picLocks noChangeAspect="1"/>
          </p:cNvPicPr>
          <p:nvPr/>
        </p:nvPicPr>
        <p:blipFill>
          <a:blip r:embed="rId3"/>
          <a:stretch>
            <a:fillRect/>
          </a:stretch>
        </p:blipFill>
        <p:spPr>
          <a:xfrm>
            <a:off x="10258119" y="5631839"/>
            <a:ext cx="1228855" cy="1032786"/>
          </a:xfrm>
          <a:prstGeom prst="rect">
            <a:avLst/>
          </a:prstGeom>
        </p:spPr>
      </p:pic>
      <p:pic>
        <p:nvPicPr>
          <p:cNvPr id="56" name="Picture 2" descr="https://topys-pic.oss-cn-shanghai.aliyuncs.com/attachments/1612/29/586491ef16a9e.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6018"/>
          <a:stretch>
            <a:fillRect/>
          </a:stretch>
        </p:blipFill>
        <p:spPr bwMode="auto">
          <a:xfrm>
            <a:off x="8025088" y="3745099"/>
            <a:ext cx="1678380" cy="1031177"/>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4" descr="https://topys-pic.oss-cn-shanghai.aliyuncs.com/attachments/1612/29/586491ee7083e.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425" r="38294"/>
          <a:stretch>
            <a:fillRect/>
          </a:stretch>
        </p:blipFill>
        <p:spPr bwMode="auto">
          <a:xfrm>
            <a:off x="9729411" y="3735399"/>
            <a:ext cx="1857086" cy="1031177"/>
          </a:xfrm>
          <a:prstGeom prst="rect">
            <a:avLst/>
          </a:prstGeom>
          <a:noFill/>
          <a:extLst>
            <a:ext uri="{909E8E84-426E-40DD-AFC4-6F175D3DCCD1}">
              <a14:hiddenFill xmlns:a14="http://schemas.microsoft.com/office/drawing/2010/main">
                <a:solidFill>
                  <a:srgbClr val="FFFFFF"/>
                </a:solidFill>
              </a14:hiddenFill>
            </a:ext>
          </a:extLst>
        </p:spPr>
      </p:pic>
      <p:grpSp>
        <p:nvGrpSpPr>
          <p:cNvPr id="62" name="组合 61"/>
          <p:cNvGrpSpPr/>
          <p:nvPr/>
        </p:nvGrpSpPr>
        <p:grpSpPr>
          <a:xfrm>
            <a:off x="7996242" y="2048661"/>
            <a:ext cx="3749006" cy="846228"/>
            <a:chOff x="4397636" y="1008359"/>
            <a:chExt cx="7536739" cy="1832771"/>
          </a:xfrm>
        </p:grpSpPr>
        <p:pic>
          <p:nvPicPr>
            <p:cNvPr id="63" name="图片 62"/>
            <p:cNvPicPr>
              <a:picLocks noChangeAspect="1"/>
            </p:cNvPicPr>
            <p:nvPr/>
          </p:nvPicPr>
          <p:blipFill rotWithShape="1">
            <a:blip r:embed="rId6"/>
            <a:srcRect t="1404" r="1106"/>
            <a:stretch>
              <a:fillRect/>
            </a:stretch>
          </p:blipFill>
          <p:spPr>
            <a:xfrm>
              <a:off x="6851364" y="1008359"/>
              <a:ext cx="2328069" cy="1832770"/>
            </a:xfrm>
            <a:prstGeom prst="rect">
              <a:avLst/>
            </a:prstGeom>
          </p:spPr>
        </p:pic>
        <p:pic>
          <p:nvPicPr>
            <p:cNvPr id="64" name="图片 63"/>
            <p:cNvPicPr>
              <a:picLocks noChangeAspect="1"/>
            </p:cNvPicPr>
            <p:nvPr/>
          </p:nvPicPr>
          <p:blipFill rotWithShape="1">
            <a:blip r:embed="rId7"/>
            <a:srcRect l="861" r="614" b="1723"/>
            <a:stretch>
              <a:fillRect/>
            </a:stretch>
          </p:blipFill>
          <p:spPr>
            <a:xfrm>
              <a:off x="4397636" y="1008360"/>
              <a:ext cx="2290823" cy="1832770"/>
            </a:xfrm>
            <a:prstGeom prst="rect">
              <a:avLst/>
            </a:prstGeom>
          </p:spPr>
        </p:pic>
        <p:pic>
          <p:nvPicPr>
            <p:cNvPr id="65" name="图片 64"/>
            <p:cNvPicPr>
              <a:picLocks noChangeAspect="1"/>
            </p:cNvPicPr>
            <p:nvPr/>
          </p:nvPicPr>
          <p:blipFill>
            <a:blip r:embed="rId8"/>
            <a:stretch>
              <a:fillRect/>
            </a:stretch>
          </p:blipFill>
          <p:spPr>
            <a:xfrm>
              <a:off x="9316133" y="1008359"/>
              <a:ext cx="2618242" cy="1832770"/>
            </a:xfrm>
            <a:prstGeom prst="rect">
              <a:avLst/>
            </a:prstGeom>
          </p:spPr>
        </p:pic>
      </p:grpSp>
      <p:sp>
        <p:nvSpPr>
          <p:cNvPr id="4" name="文本框 3"/>
          <p:cNvSpPr txBox="1"/>
          <p:nvPr/>
        </p:nvSpPr>
        <p:spPr>
          <a:xfrm>
            <a:off x="7929587" y="996856"/>
            <a:ext cx="448836" cy="584775"/>
          </a:xfrm>
          <a:prstGeom prst="rect">
            <a:avLst/>
          </a:prstGeom>
          <a:noFill/>
        </p:spPr>
        <p:txBody>
          <a:bodyPr wrap="square" rtlCol="0">
            <a:spAutoFit/>
          </a:bodyPr>
          <a:lstStyle/>
          <a:p>
            <a:r>
              <a:rPr lang="en-US" altLang="zh-CN" sz="3200" dirty="0">
                <a:solidFill>
                  <a:srgbClr val="D6D6D6"/>
                </a:solidFill>
                <a:latin typeface="SALOMON Sans 200 Reg" panose="00000505000000000000" pitchFamily="2" charset="0"/>
                <a:ea typeface="Segoe UI Black" panose="020B0A02040204020203" pitchFamily="34" charset="0"/>
              </a:rPr>
              <a:t>1</a:t>
            </a:r>
            <a:endParaRPr lang="zh-CN" altLang="en-US" sz="3200" dirty="0">
              <a:solidFill>
                <a:srgbClr val="D6D6D6"/>
              </a:solidFill>
              <a:latin typeface="SALOMON Sans 200 Reg" panose="00000505000000000000" pitchFamily="2" charset="0"/>
            </a:endParaRPr>
          </a:p>
        </p:txBody>
      </p:sp>
      <p:grpSp>
        <p:nvGrpSpPr>
          <p:cNvPr id="38" name="组合 37"/>
          <p:cNvGrpSpPr/>
          <p:nvPr/>
        </p:nvGrpSpPr>
        <p:grpSpPr>
          <a:xfrm>
            <a:off x="7786516" y="3081266"/>
            <a:ext cx="4090508" cy="795375"/>
            <a:chOff x="6976614" y="2499039"/>
            <a:chExt cx="4090508" cy="795375"/>
          </a:xfrm>
        </p:grpSpPr>
        <p:sp>
          <p:nvSpPr>
            <p:cNvPr id="41" name="箭头: V 形 40"/>
            <p:cNvSpPr/>
            <p:nvPr/>
          </p:nvSpPr>
          <p:spPr>
            <a:xfrm>
              <a:off x="6976614" y="2617260"/>
              <a:ext cx="197284" cy="252920"/>
            </a:xfrm>
            <a:prstGeom prst="chevron">
              <a:avLst>
                <a:gd name="adj" fmla="val 725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charset="-122"/>
                <a:cs typeface="+mn-cs"/>
              </a:endParaRPr>
            </a:p>
          </p:txBody>
        </p:sp>
        <p:grpSp>
          <p:nvGrpSpPr>
            <p:cNvPr id="42" name="组合 41"/>
            <p:cNvGrpSpPr/>
            <p:nvPr/>
          </p:nvGrpSpPr>
          <p:grpSpPr>
            <a:xfrm>
              <a:off x="7118494" y="2499039"/>
              <a:ext cx="3948628" cy="795375"/>
              <a:chOff x="6273082" y="1660425"/>
              <a:chExt cx="3948628" cy="795375"/>
            </a:xfrm>
          </p:grpSpPr>
          <p:sp>
            <p:nvSpPr>
              <p:cNvPr id="43" name="矩形 42"/>
              <p:cNvSpPr/>
              <p:nvPr/>
            </p:nvSpPr>
            <p:spPr>
              <a:xfrm>
                <a:off x="6273082" y="2072682"/>
                <a:ext cx="3948628" cy="383118"/>
              </a:xfrm>
              <a:prstGeom prst="rect">
                <a:avLst/>
              </a:prstGeom>
            </p:spPr>
            <p:txBody>
              <a:bodyPr wrap="square">
                <a:spAutoFit/>
                <a:scene3d>
                  <a:camera prst="orthographicFront"/>
                  <a:lightRig rig="threePt" dir="t"/>
                </a:scene3d>
                <a:sp3d contourW="12700"/>
              </a:bodyPr>
              <a:lstStyle/>
              <a:p>
                <a:r>
                  <a:rPr lang="zh-CN" altLang="en-US" sz="800" dirty="0">
                    <a:solidFill>
                      <a:schemeClr val="tx1">
                        <a:lumMod val="75000"/>
                        <a:lumOff val="25000"/>
                      </a:schemeClr>
                    </a:solidFill>
                    <a:cs typeface="+mn-ea"/>
                  </a:rPr>
                  <a:t>情感化设计打破医院冰冷氛围，给患者带来积极情绪，营造舒适自在的就医体验</a:t>
                </a:r>
                <a:r>
                  <a:rPr lang="en-US" altLang="zh-CN" sz="800" dirty="0">
                    <a:solidFill>
                      <a:schemeClr val="tx1">
                        <a:lumMod val="75000"/>
                        <a:lumOff val="25000"/>
                      </a:schemeClr>
                    </a:solidFill>
                    <a:cs typeface="+mn-ea"/>
                  </a:rPr>
                  <a:t>.</a:t>
                </a:r>
                <a:endParaRPr lang="zh-CN" altLang="en-US" sz="800" dirty="0">
                  <a:solidFill>
                    <a:schemeClr val="tx1">
                      <a:lumMod val="75000"/>
                      <a:lumOff val="25000"/>
                    </a:schemeClr>
                  </a:solidFill>
                  <a:cs typeface="+mn-ea"/>
                  <a:sym typeface="+mn-lt"/>
                </a:endParaRPr>
              </a:p>
              <a:p>
                <a:pPr>
                  <a:lnSpc>
                    <a:spcPct val="120000"/>
                  </a:lnSpc>
                </a:pPr>
                <a:endParaRPr lang="zh-CN" altLang="en-US" sz="1000" dirty="0">
                  <a:solidFill>
                    <a:schemeClr val="tx1">
                      <a:lumMod val="50000"/>
                      <a:lumOff val="50000"/>
                    </a:schemeClr>
                  </a:solidFill>
                </a:endParaRPr>
              </a:p>
            </p:txBody>
          </p:sp>
          <p:sp>
            <p:nvSpPr>
              <p:cNvPr id="45" name="矩形 44"/>
              <p:cNvSpPr/>
              <p:nvPr/>
            </p:nvSpPr>
            <p:spPr>
              <a:xfrm>
                <a:off x="6630401" y="1660425"/>
                <a:ext cx="2241974" cy="261610"/>
              </a:xfrm>
              <a:prstGeom prst="rect">
                <a:avLst/>
              </a:prstGeom>
            </p:spPr>
            <p:txBody>
              <a:bodyPr wrap="square">
                <a:spAutoFit/>
                <a:scene3d>
                  <a:camera prst="orthographicFront"/>
                  <a:lightRig rig="threePt" dir="t"/>
                </a:scene3d>
                <a:sp3d contourW="12700"/>
              </a:bodyPr>
              <a:lstStyle/>
              <a:p>
                <a:r>
                  <a:rPr kumimoji="1" lang="zh-CN" altLang="en-US" sz="1100" b="1" dirty="0">
                    <a:solidFill>
                      <a:srgbClr val="353535"/>
                    </a:solidFill>
                    <a:latin typeface="微软雅黑" panose="020B0503020204020204" charset="-122"/>
                    <a:ea typeface="微软雅黑" panose="020B0503020204020204" charset="-122"/>
                    <a:cs typeface="+mn-ea"/>
                    <a:sym typeface="+mn-lt"/>
                  </a:rPr>
                  <a:t>光影响情绪</a:t>
                </a:r>
                <a:endParaRPr kumimoji="1" lang="en-US" altLang="zh-CN" sz="1100" b="1" dirty="0">
                  <a:solidFill>
                    <a:srgbClr val="353535"/>
                  </a:solidFill>
                  <a:latin typeface="微软雅黑" panose="020B0503020204020204" charset="-122"/>
                  <a:ea typeface="微软雅黑" panose="020B0503020204020204" charset="-122"/>
                  <a:cs typeface="+mn-ea"/>
                  <a:sym typeface="+mn-lt"/>
                </a:endParaRPr>
              </a:p>
            </p:txBody>
          </p:sp>
        </p:grpSp>
      </p:grpSp>
      <p:sp>
        <p:nvSpPr>
          <p:cNvPr id="47" name="文本框 46"/>
          <p:cNvSpPr txBox="1"/>
          <p:nvPr/>
        </p:nvSpPr>
        <p:spPr>
          <a:xfrm>
            <a:off x="7920138" y="2928371"/>
            <a:ext cx="448836" cy="584775"/>
          </a:xfrm>
          <a:prstGeom prst="rect">
            <a:avLst/>
          </a:prstGeom>
          <a:noFill/>
        </p:spPr>
        <p:txBody>
          <a:bodyPr wrap="square" rtlCol="0">
            <a:spAutoFit/>
          </a:bodyPr>
          <a:lstStyle/>
          <a:p>
            <a:r>
              <a:rPr lang="en-US" altLang="zh-CN" sz="3200" dirty="0">
                <a:solidFill>
                  <a:srgbClr val="D6D6D6"/>
                </a:solidFill>
                <a:latin typeface="SALOMON Sans 200 Reg" panose="00000505000000000000" pitchFamily="2" charset="0"/>
                <a:ea typeface="Segoe UI Black" panose="020B0A02040204020203" pitchFamily="34" charset="0"/>
              </a:rPr>
              <a:t>2</a:t>
            </a:r>
            <a:endParaRPr lang="zh-CN" altLang="en-US" sz="3200" dirty="0">
              <a:solidFill>
                <a:srgbClr val="D6D6D6"/>
              </a:solidFill>
              <a:latin typeface="SALOMON Sans 200 Reg" panose="00000505000000000000" pitchFamily="2" charset="0"/>
            </a:endParaRPr>
          </a:p>
        </p:txBody>
      </p:sp>
      <p:grpSp>
        <p:nvGrpSpPr>
          <p:cNvPr id="51" name="组合 50"/>
          <p:cNvGrpSpPr/>
          <p:nvPr/>
        </p:nvGrpSpPr>
        <p:grpSpPr>
          <a:xfrm>
            <a:off x="7794774" y="4947722"/>
            <a:ext cx="4120712" cy="791373"/>
            <a:chOff x="6976614" y="2502273"/>
            <a:chExt cx="4120712" cy="791373"/>
          </a:xfrm>
        </p:grpSpPr>
        <p:sp>
          <p:nvSpPr>
            <p:cNvPr id="52" name="箭头: V 形 51"/>
            <p:cNvSpPr/>
            <p:nvPr/>
          </p:nvSpPr>
          <p:spPr>
            <a:xfrm>
              <a:off x="6976614" y="2617260"/>
              <a:ext cx="197284" cy="252920"/>
            </a:xfrm>
            <a:prstGeom prst="chevron">
              <a:avLst>
                <a:gd name="adj" fmla="val 725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charset="-122"/>
                <a:cs typeface="+mn-cs"/>
              </a:endParaRPr>
            </a:p>
          </p:txBody>
        </p:sp>
        <p:grpSp>
          <p:nvGrpSpPr>
            <p:cNvPr id="53" name="组合 52"/>
            <p:cNvGrpSpPr/>
            <p:nvPr/>
          </p:nvGrpSpPr>
          <p:grpSpPr>
            <a:xfrm>
              <a:off x="7148698" y="2502273"/>
              <a:ext cx="3948628" cy="791373"/>
              <a:chOff x="6303286" y="1663659"/>
              <a:chExt cx="3948628" cy="791373"/>
            </a:xfrm>
          </p:grpSpPr>
          <p:sp>
            <p:nvSpPr>
              <p:cNvPr id="66" name="矩形 65"/>
              <p:cNvSpPr/>
              <p:nvPr/>
            </p:nvSpPr>
            <p:spPr>
              <a:xfrm>
                <a:off x="6303286" y="2071914"/>
                <a:ext cx="3948628" cy="383118"/>
              </a:xfrm>
              <a:prstGeom prst="rect">
                <a:avLst/>
              </a:prstGeom>
            </p:spPr>
            <p:txBody>
              <a:bodyPr wrap="square">
                <a:spAutoFit/>
                <a:scene3d>
                  <a:camera prst="orthographicFront"/>
                  <a:lightRig rig="threePt" dir="t"/>
                </a:scene3d>
                <a:sp3d contourW="12700"/>
              </a:bodyPr>
              <a:lstStyle/>
              <a:p>
                <a:r>
                  <a:rPr lang="zh-CN" altLang="en-US" sz="800" dirty="0">
                    <a:solidFill>
                      <a:schemeClr val="tx1">
                        <a:lumMod val="75000"/>
                        <a:lumOff val="25000"/>
                      </a:schemeClr>
                    </a:solidFill>
                    <a:cs typeface="+mn-ea"/>
                    <a:sym typeface="+mn-lt"/>
                  </a:rPr>
                  <a:t>光可以调节人的生物节律，有助于患者身体康复</a:t>
                </a:r>
                <a:endParaRPr lang="zh-CN" altLang="en-US" sz="800" dirty="0">
                  <a:solidFill>
                    <a:schemeClr val="tx1">
                      <a:lumMod val="75000"/>
                      <a:lumOff val="25000"/>
                    </a:schemeClr>
                  </a:solidFill>
                  <a:cs typeface="+mn-ea"/>
                  <a:sym typeface="+mn-lt"/>
                </a:endParaRPr>
              </a:p>
              <a:p>
                <a:pPr>
                  <a:lnSpc>
                    <a:spcPct val="120000"/>
                  </a:lnSpc>
                </a:pPr>
                <a:endParaRPr lang="zh-CN" altLang="en-US" sz="1000" dirty="0">
                  <a:solidFill>
                    <a:schemeClr val="tx1">
                      <a:lumMod val="50000"/>
                      <a:lumOff val="50000"/>
                    </a:schemeClr>
                  </a:solidFill>
                </a:endParaRPr>
              </a:p>
            </p:txBody>
          </p:sp>
          <p:sp>
            <p:nvSpPr>
              <p:cNvPr id="67" name="矩形 66"/>
              <p:cNvSpPr/>
              <p:nvPr/>
            </p:nvSpPr>
            <p:spPr>
              <a:xfrm>
                <a:off x="6621025" y="1663659"/>
                <a:ext cx="2241974" cy="261610"/>
              </a:xfrm>
              <a:prstGeom prst="rect">
                <a:avLst/>
              </a:prstGeom>
            </p:spPr>
            <p:txBody>
              <a:bodyPr wrap="square">
                <a:spAutoFit/>
                <a:scene3d>
                  <a:camera prst="orthographicFront"/>
                  <a:lightRig rig="threePt" dir="t"/>
                </a:scene3d>
                <a:sp3d contourW="12700"/>
              </a:bodyPr>
              <a:lstStyle/>
              <a:p>
                <a:r>
                  <a:rPr kumimoji="1" lang="zh-CN" altLang="en-US" sz="1100" b="1" dirty="0">
                    <a:solidFill>
                      <a:srgbClr val="353535"/>
                    </a:solidFill>
                    <a:latin typeface="微软雅黑" panose="020B0503020204020204" charset="-122"/>
                    <a:ea typeface="微软雅黑" panose="020B0503020204020204" charset="-122"/>
                    <a:cs typeface="+mn-ea"/>
                    <a:sym typeface="+mn-lt"/>
                  </a:rPr>
                  <a:t>光影响生物节律</a:t>
                </a:r>
                <a:endParaRPr kumimoji="1" lang="en-US" altLang="zh-CN" sz="1100" b="1" dirty="0">
                  <a:solidFill>
                    <a:srgbClr val="353535"/>
                  </a:solidFill>
                  <a:latin typeface="微软雅黑" panose="020B0503020204020204" charset="-122"/>
                  <a:ea typeface="微软雅黑" panose="020B0503020204020204" charset="-122"/>
                  <a:cs typeface="+mn-ea"/>
                  <a:sym typeface="+mn-lt"/>
                </a:endParaRPr>
              </a:p>
            </p:txBody>
          </p:sp>
        </p:grpSp>
      </p:grpSp>
      <p:sp>
        <p:nvSpPr>
          <p:cNvPr id="68" name="文本框 67"/>
          <p:cNvSpPr txBox="1"/>
          <p:nvPr/>
        </p:nvSpPr>
        <p:spPr>
          <a:xfrm>
            <a:off x="7928396" y="4810643"/>
            <a:ext cx="448836" cy="584775"/>
          </a:xfrm>
          <a:prstGeom prst="rect">
            <a:avLst/>
          </a:prstGeom>
          <a:noFill/>
        </p:spPr>
        <p:txBody>
          <a:bodyPr wrap="square" rtlCol="0">
            <a:spAutoFit/>
          </a:bodyPr>
          <a:lstStyle/>
          <a:p>
            <a:r>
              <a:rPr lang="en-US" altLang="zh-CN" sz="3200" dirty="0">
                <a:solidFill>
                  <a:srgbClr val="D6D6D6"/>
                </a:solidFill>
                <a:latin typeface="SALOMON Sans 200 Reg" panose="00000505000000000000" pitchFamily="2" charset="0"/>
                <a:ea typeface="Segoe UI Black" panose="020B0A02040204020203" pitchFamily="34" charset="0"/>
              </a:rPr>
              <a:t>3</a:t>
            </a:r>
            <a:endParaRPr lang="zh-CN" altLang="en-US" sz="3200" dirty="0">
              <a:solidFill>
                <a:srgbClr val="D6D6D6"/>
              </a:solidFill>
              <a:latin typeface="SALOMON Sans 200 Reg" panose="00000505000000000000" pitchFamily="2"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pSp>
        <p:nvGrpSpPr>
          <p:cNvPr id="2" name="组合 1"/>
          <p:cNvGrpSpPr/>
          <p:nvPr/>
        </p:nvGrpSpPr>
        <p:grpSpPr>
          <a:xfrm>
            <a:off x="0" y="3159890"/>
            <a:ext cx="12192000" cy="3698110"/>
            <a:chOff x="86073" y="2325851"/>
            <a:chExt cx="14919441" cy="4551512"/>
          </a:xfrm>
        </p:grpSpPr>
        <p:pic>
          <p:nvPicPr>
            <p:cNvPr id="2052" name="Picture 4" descr="This may contain: a hospital room with a bed and medical equipment"/>
            <p:cNvPicPr>
              <a:picLocks noChangeAspect="1" noChangeArrowheads="1"/>
            </p:cNvPicPr>
            <p:nvPr/>
          </p:nvPicPr>
          <p:blipFill rotWithShape="1">
            <a:blip r:embed="rId1">
              <a:extLst>
                <a:ext uri="{28A0092B-C50C-407E-A947-70E740481C1C}">
                  <a14:useLocalDpi xmlns:a14="http://schemas.microsoft.com/office/drawing/2010/main" val="0"/>
                </a:ext>
              </a:extLst>
            </a:blip>
            <a:srcRect l="1133" t="9516" r="605" b="26675"/>
            <a:stretch>
              <a:fillRect/>
            </a:stretch>
          </p:blipFill>
          <p:spPr bwMode="auto">
            <a:xfrm>
              <a:off x="86073" y="2338119"/>
              <a:ext cx="4845574" cy="451988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p:cNvPicPr>
              <a:picLocks noChangeAspect="1" noChangeArrowheads="1"/>
            </p:cNvPicPr>
            <p:nvPr/>
          </p:nvPicPr>
          <p:blipFill rotWithShape="1">
            <a:blip r:embed="rId2">
              <a:extLst>
                <a:ext uri="{28A0092B-C50C-407E-A947-70E740481C1C}">
                  <a14:useLocalDpi xmlns:a14="http://schemas.microsoft.com/office/drawing/2010/main" val="0"/>
                </a:ext>
              </a:extLst>
            </a:blip>
            <a:srcRect l="25146" r="29639"/>
            <a:stretch>
              <a:fillRect/>
            </a:stretch>
          </p:blipFill>
          <p:spPr bwMode="auto">
            <a:xfrm>
              <a:off x="9519112" y="2352132"/>
              <a:ext cx="5486402" cy="452523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Full view"/>
            <p:cNvPicPr>
              <a:picLocks noChangeAspect="1" noChangeArrowheads="1"/>
            </p:cNvPicPr>
            <p:nvPr/>
          </p:nvPicPr>
          <p:blipFill rotWithShape="1">
            <a:blip r:embed="rId3">
              <a:extLst>
                <a:ext uri="{28A0092B-C50C-407E-A947-70E740481C1C}">
                  <a14:useLocalDpi xmlns:a14="http://schemas.microsoft.com/office/drawing/2010/main" val="0"/>
                </a:ext>
              </a:extLst>
            </a:blip>
            <a:srcRect l="23874" t="-353" b="166"/>
            <a:stretch>
              <a:fillRect/>
            </a:stretch>
          </p:blipFill>
          <p:spPr bwMode="auto">
            <a:xfrm>
              <a:off x="4931648" y="2325851"/>
              <a:ext cx="5007469" cy="4551512"/>
            </a:xfrm>
            <a:prstGeom prst="rect">
              <a:avLst/>
            </a:prstGeom>
            <a:noFill/>
            <a:extLst>
              <a:ext uri="{909E8E84-426E-40DD-AFC4-6F175D3DCCD1}">
                <a14:hiddenFill xmlns:a14="http://schemas.microsoft.com/office/drawing/2010/main">
                  <a:solidFill>
                    <a:srgbClr val="FFFFFF"/>
                  </a:solidFill>
                </a14:hiddenFill>
              </a:ext>
            </a:extLst>
          </p:spPr>
        </p:pic>
      </p:grpSp>
      <p:sp>
        <p:nvSpPr>
          <p:cNvPr id="17" name="矩形 16"/>
          <p:cNvSpPr/>
          <p:nvPr/>
        </p:nvSpPr>
        <p:spPr>
          <a:xfrm>
            <a:off x="4630563" y="671990"/>
            <a:ext cx="3057247" cy="523220"/>
          </a:xfrm>
          <a:prstGeom prst="rect">
            <a:avLst/>
          </a:prstGeom>
        </p:spPr>
        <p:txBody>
          <a:bodyPr wrap="none">
            <a:spAutoFit/>
          </a:bodyPr>
          <a:lstStyle/>
          <a:p>
            <a:r>
              <a:rPr lang="zh-CN" altLang="en-US" sz="2800" dirty="0">
                <a:solidFill>
                  <a:schemeClr val="tx1">
                    <a:lumMod val="85000"/>
                    <a:lumOff val="15000"/>
                  </a:schemeClr>
                </a:solidFill>
                <a:latin typeface="微软雅黑" panose="020B0503020204020204" charset="-122"/>
                <a:ea typeface="微软雅黑" panose="020B0503020204020204" charset="-122"/>
                <a:cs typeface="Segoe UI" panose="020B0502040204020203" pitchFamily="34" charset="0"/>
              </a:rPr>
              <a:t>医院照明价值主张</a:t>
            </a:r>
            <a:endParaRPr lang="zh-CN" altLang="en-US" sz="2800" dirty="0">
              <a:solidFill>
                <a:schemeClr val="tx1">
                  <a:lumMod val="85000"/>
                  <a:lumOff val="15000"/>
                </a:schemeClr>
              </a:solidFill>
              <a:latin typeface="微软雅黑" panose="020B0503020204020204" charset="-122"/>
              <a:ea typeface="微软雅黑" panose="020B0503020204020204" charset="-122"/>
            </a:endParaRPr>
          </a:p>
        </p:txBody>
      </p:sp>
      <p:sp>
        <p:nvSpPr>
          <p:cNvPr id="18" name="矩形 17"/>
          <p:cNvSpPr/>
          <p:nvPr/>
        </p:nvSpPr>
        <p:spPr>
          <a:xfrm>
            <a:off x="4812030" y="1195070"/>
            <a:ext cx="3966210" cy="306705"/>
          </a:xfrm>
          <a:prstGeom prst="rect">
            <a:avLst/>
          </a:prstGeom>
        </p:spPr>
        <p:txBody>
          <a:bodyPr wrap="square">
            <a:spAutoFit/>
          </a:bodyPr>
          <a:lstStyle/>
          <a:p>
            <a:r>
              <a:rPr lang="en-US" altLang="zh-CN" sz="1400" b="0" i="0" dirty="0">
                <a:solidFill>
                  <a:srgbClr val="404040"/>
                </a:solidFill>
                <a:effectLst/>
                <a:latin typeface="DeepSeek-CJK-patch"/>
              </a:rPr>
              <a:t>LIGHTING VALUE PROPOSITION</a:t>
            </a:r>
            <a:endParaRPr lang="zh-CN" altLang="en-US" sz="14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3" name="矩形 2"/>
          <p:cNvSpPr/>
          <p:nvPr/>
        </p:nvSpPr>
        <p:spPr>
          <a:xfrm>
            <a:off x="0" y="3165472"/>
            <a:ext cx="12192000" cy="950869"/>
          </a:xfrm>
          <a:prstGeom prst="rect">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30" name="矩形 29"/>
          <p:cNvSpPr/>
          <p:nvPr/>
        </p:nvSpPr>
        <p:spPr>
          <a:xfrm>
            <a:off x="5521618" y="2406668"/>
            <a:ext cx="1415772" cy="461665"/>
          </a:xfrm>
          <a:prstGeom prst="rect">
            <a:avLst/>
          </a:prstGeom>
        </p:spPr>
        <p:txBody>
          <a:bodyPr wrap="none">
            <a:spAutoFit/>
          </a:bodyPr>
          <a:lstStyle/>
          <a:p>
            <a:r>
              <a:rPr lang="zh-CN" altLang="en-US" sz="2400" b="1" dirty="0">
                <a:solidFill>
                  <a:schemeClr val="tx1">
                    <a:lumMod val="75000"/>
                    <a:lumOff val="25000"/>
                  </a:schemeClr>
                </a:solidFill>
                <a:latin typeface="Segoe UI" panose="020B0502040204020203" pitchFamily="34" charset="0"/>
                <a:ea typeface="Segoe UI Symbol" panose="020B0502040204020203" pitchFamily="34" charset="0"/>
                <a:cs typeface="Segoe UI" panose="020B0502040204020203" pitchFamily="34" charset="0"/>
              </a:rPr>
              <a:t>助力专业</a:t>
            </a:r>
            <a:endParaRPr lang="zh-CN" altLang="en-US" sz="2400" b="1" dirty="0">
              <a:solidFill>
                <a:schemeClr val="tx1">
                  <a:lumMod val="75000"/>
                  <a:lumOff val="25000"/>
                </a:schemeClr>
              </a:solidFill>
            </a:endParaRPr>
          </a:p>
        </p:txBody>
      </p:sp>
      <p:sp>
        <p:nvSpPr>
          <p:cNvPr id="31" name="文本框 30"/>
          <p:cNvSpPr txBox="1"/>
          <p:nvPr>
            <p:custDataLst>
              <p:tags r:id="rId4"/>
            </p:custDataLst>
          </p:nvPr>
        </p:nvSpPr>
        <p:spPr>
          <a:xfrm>
            <a:off x="4931649" y="3289853"/>
            <a:ext cx="2714742" cy="824200"/>
          </a:xfrm>
          <a:prstGeom prst="rect">
            <a:avLst/>
          </a:prstGeom>
          <a:noFill/>
        </p:spPr>
        <p:txBody>
          <a:bodyPr wrap="square" rtlCol="0">
            <a:spAutoFit/>
          </a:bodyPr>
          <a:lstStyle/>
          <a:p>
            <a:pPr>
              <a:lnSpc>
                <a:spcPct val="150000"/>
              </a:lnSpc>
            </a:pPr>
            <a:r>
              <a:rPr lang="zh-CN" altLang="en-US" sz="1100" b="1" dirty="0">
                <a:solidFill>
                  <a:schemeClr val="tx1">
                    <a:lumMod val="75000"/>
                    <a:lumOff val="25000"/>
                  </a:schemeClr>
                </a:solidFill>
                <a:latin typeface="微软雅黑" panose="020B0503020204020204" charset="-122"/>
                <a:ea typeface="微软雅黑" panose="020B0503020204020204" charset="-122"/>
                <a:sym typeface="+mn-ea"/>
              </a:rPr>
              <a:t>专业光：</a:t>
            </a:r>
            <a:r>
              <a:rPr lang="zh-CN" altLang="en-US" sz="1100" dirty="0">
                <a:solidFill>
                  <a:schemeClr val="tx1">
                    <a:lumMod val="75000"/>
                    <a:lumOff val="25000"/>
                  </a:schemeClr>
                </a:solidFill>
                <a:latin typeface="微软雅黑" panose="020B0503020204020204" charset="-122"/>
                <a:ea typeface="微软雅黑" panose="020B0503020204020204" charset="-122"/>
                <a:sym typeface="+mn-ea"/>
              </a:rPr>
              <a:t>提升发绀诊断效率（</a:t>
            </a:r>
            <a:r>
              <a:rPr lang="en-US" altLang="zh-CN" sz="1100" dirty="0">
                <a:solidFill>
                  <a:schemeClr val="tx1">
                    <a:lumMod val="75000"/>
                    <a:lumOff val="25000"/>
                  </a:schemeClr>
                </a:solidFill>
                <a:latin typeface="微软雅黑" panose="020B0503020204020204" charset="-122"/>
                <a:ea typeface="微软雅黑" panose="020B0503020204020204" charset="-122"/>
                <a:sym typeface="+mn-ea"/>
              </a:rPr>
              <a:t>COI</a:t>
            </a:r>
            <a:r>
              <a:rPr lang="zh-CN" altLang="en-US" sz="1100" dirty="0">
                <a:solidFill>
                  <a:schemeClr val="tx1">
                    <a:lumMod val="75000"/>
                    <a:lumOff val="25000"/>
                  </a:schemeClr>
                </a:solidFill>
                <a:latin typeface="微软雅黑" panose="020B0503020204020204" charset="-122"/>
                <a:ea typeface="微软雅黑" panose="020B0503020204020204" charset="-122"/>
                <a:sym typeface="+mn-ea"/>
              </a:rPr>
              <a:t>）</a:t>
            </a:r>
            <a:endParaRPr lang="en-US" altLang="zh-CN" sz="1100" dirty="0">
              <a:solidFill>
                <a:schemeClr val="tx1">
                  <a:lumMod val="75000"/>
                  <a:lumOff val="25000"/>
                </a:schemeClr>
              </a:solidFill>
              <a:latin typeface="微软雅黑" panose="020B0503020204020204" charset="-122"/>
              <a:ea typeface="微软雅黑" panose="020B0503020204020204" charset="-122"/>
              <a:sym typeface="+mn-ea"/>
            </a:endParaRPr>
          </a:p>
          <a:p>
            <a:pPr>
              <a:lnSpc>
                <a:spcPct val="150000"/>
              </a:lnSpc>
            </a:pPr>
            <a:r>
              <a:rPr lang="zh-CN" altLang="en-US" sz="1100" b="1" dirty="0">
                <a:solidFill>
                  <a:schemeClr val="tx1">
                    <a:lumMod val="75000"/>
                    <a:lumOff val="25000"/>
                  </a:schemeClr>
                </a:solidFill>
                <a:latin typeface="微软雅黑" panose="020B0503020204020204" charset="-122"/>
                <a:ea typeface="微软雅黑" panose="020B0503020204020204" charset="-122"/>
                <a:sym typeface="+mn-ea"/>
              </a:rPr>
              <a:t>清晰光：</a:t>
            </a:r>
            <a:r>
              <a:rPr lang="zh-CN" altLang="en-US" sz="1100" dirty="0">
                <a:solidFill>
                  <a:schemeClr val="tx1">
                    <a:lumMod val="75000"/>
                    <a:lumOff val="25000"/>
                  </a:schemeClr>
                </a:solidFill>
                <a:latin typeface="微软雅黑" panose="020B0503020204020204" charset="-122"/>
                <a:ea typeface="微软雅黑" panose="020B0503020204020204" charset="-122"/>
                <a:sym typeface="+mn-ea"/>
              </a:rPr>
              <a:t>提升辨识度，减缓疲劳</a:t>
            </a:r>
            <a:endParaRPr lang="en-US" altLang="zh-CN" sz="1100" dirty="0">
              <a:solidFill>
                <a:schemeClr val="tx1">
                  <a:lumMod val="75000"/>
                  <a:lumOff val="25000"/>
                </a:schemeClr>
              </a:solidFill>
              <a:latin typeface="微软雅黑" panose="020B0503020204020204" charset="-122"/>
              <a:ea typeface="微软雅黑" panose="020B0503020204020204" charset="-122"/>
              <a:sym typeface="+mn-ea"/>
            </a:endParaRPr>
          </a:p>
          <a:p>
            <a:pPr>
              <a:lnSpc>
                <a:spcPct val="150000"/>
              </a:lnSpc>
            </a:pPr>
            <a:r>
              <a:rPr lang="en-US" altLang="zh-CN" sz="1100" dirty="0">
                <a:solidFill>
                  <a:schemeClr val="tx1">
                    <a:lumMod val="75000"/>
                    <a:lumOff val="25000"/>
                  </a:schemeClr>
                </a:solidFill>
                <a:latin typeface="微软雅黑" panose="020B0503020204020204" charset="-122"/>
                <a:ea typeface="微软雅黑" panose="020B0503020204020204" charset="-122"/>
                <a:sym typeface="+mn-ea"/>
              </a:rPr>
              <a:t>            </a:t>
            </a:r>
            <a:r>
              <a:rPr lang="zh-CN" altLang="en-US" sz="1100" dirty="0">
                <a:solidFill>
                  <a:schemeClr val="tx1">
                    <a:lumMod val="75000"/>
                    <a:lumOff val="25000"/>
                  </a:schemeClr>
                </a:solidFill>
                <a:latin typeface="微软雅黑" panose="020B0503020204020204" charset="-122"/>
                <a:ea typeface="微软雅黑" panose="020B0503020204020204" charset="-122"/>
                <a:sym typeface="+mn-ea"/>
              </a:rPr>
              <a:t>（</a:t>
            </a:r>
            <a:r>
              <a:rPr lang="en-US" altLang="zh-CN" sz="1100" dirty="0">
                <a:solidFill>
                  <a:schemeClr val="tx1">
                    <a:lumMod val="75000"/>
                    <a:lumOff val="25000"/>
                  </a:schemeClr>
                </a:solidFill>
                <a:latin typeface="微软雅黑" panose="020B0503020204020204" charset="-122"/>
                <a:ea typeface="微软雅黑" panose="020B0503020204020204" charset="-122"/>
                <a:sym typeface="+mn-ea"/>
              </a:rPr>
              <a:t>CDM</a:t>
            </a:r>
            <a:r>
              <a:rPr lang="zh-CN" altLang="en-US" sz="1100" dirty="0">
                <a:solidFill>
                  <a:schemeClr val="tx1">
                    <a:lumMod val="75000"/>
                    <a:lumOff val="25000"/>
                  </a:schemeClr>
                </a:solidFill>
                <a:latin typeface="微软雅黑" panose="020B0503020204020204" charset="-122"/>
                <a:ea typeface="微软雅黑" panose="020B0503020204020204" charset="-122"/>
                <a:sym typeface="+mn-ea"/>
              </a:rPr>
              <a:t>、</a:t>
            </a:r>
            <a:r>
              <a:rPr lang="en-US" altLang="zh-CN" sz="1100" dirty="0">
                <a:solidFill>
                  <a:schemeClr val="tx1">
                    <a:lumMod val="75000"/>
                    <a:lumOff val="25000"/>
                  </a:schemeClr>
                </a:solidFill>
                <a:latin typeface="微软雅黑" panose="020B0503020204020204" charset="-122"/>
                <a:ea typeface="微软雅黑" panose="020B0503020204020204" charset="-122"/>
                <a:sym typeface="+mn-ea"/>
              </a:rPr>
              <a:t>MCPI</a:t>
            </a:r>
            <a:r>
              <a:rPr lang="zh-CN" altLang="en-US" sz="1100" dirty="0">
                <a:solidFill>
                  <a:schemeClr val="tx1">
                    <a:lumMod val="75000"/>
                    <a:lumOff val="25000"/>
                  </a:schemeClr>
                </a:solidFill>
                <a:latin typeface="微软雅黑" panose="020B0503020204020204" charset="-122"/>
                <a:ea typeface="微软雅黑" panose="020B0503020204020204" charset="-122"/>
                <a:sym typeface="+mn-ea"/>
              </a:rPr>
              <a:t>）</a:t>
            </a:r>
            <a:endParaRPr lang="zh-CN" altLang="en-US" sz="1100" dirty="0">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32" name="文本框 31"/>
          <p:cNvSpPr txBox="1"/>
          <p:nvPr>
            <p:custDataLst>
              <p:tags r:id="rId5"/>
            </p:custDataLst>
          </p:nvPr>
        </p:nvSpPr>
        <p:spPr>
          <a:xfrm>
            <a:off x="8352536" y="3397847"/>
            <a:ext cx="4457709" cy="569964"/>
          </a:xfrm>
          <a:prstGeom prst="rect">
            <a:avLst/>
          </a:prstGeom>
          <a:noFill/>
        </p:spPr>
        <p:txBody>
          <a:bodyPr wrap="square" rtlCol="0">
            <a:spAutoFit/>
          </a:bodyPr>
          <a:lstStyle/>
          <a:p>
            <a:pPr algn="l">
              <a:lnSpc>
                <a:spcPct val="150000"/>
              </a:lnSpc>
            </a:pPr>
            <a:r>
              <a:rPr lang="zh-CN" altLang="en-US" sz="1100" b="1"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高效照明：</a:t>
            </a:r>
            <a:r>
              <a:rPr lang="zh-CN" altLang="en-US" sz="1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高光效、精准配光，节能50%，助力碳达峰</a:t>
            </a:r>
            <a:endParaRPr lang="zh-CN" altLang="en-US" sz="1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algn="l">
              <a:lnSpc>
                <a:spcPct val="150000"/>
              </a:lnSpc>
            </a:pPr>
            <a:r>
              <a:rPr lang="zh-CN" altLang="en-US" sz="1100" b="1"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数字运营：</a:t>
            </a:r>
            <a:r>
              <a:rPr lang="zh-CN" altLang="en-US" sz="1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按需照明、能耗监测、高效运维，助力数字化</a:t>
            </a:r>
            <a:endParaRPr lang="zh-CN" altLang="en-US" sz="1100" b="1"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p:txBody>
      </p:sp>
      <p:sp>
        <p:nvSpPr>
          <p:cNvPr id="33" name="矩形 32"/>
          <p:cNvSpPr/>
          <p:nvPr/>
        </p:nvSpPr>
        <p:spPr>
          <a:xfrm>
            <a:off x="9643219" y="2404385"/>
            <a:ext cx="1415772" cy="461665"/>
          </a:xfrm>
          <a:prstGeom prst="rect">
            <a:avLst/>
          </a:prstGeom>
        </p:spPr>
        <p:txBody>
          <a:bodyPr wrap="none">
            <a:spAutoFit/>
          </a:bodyPr>
          <a:lstStyle/>
          <a:p>
            <a:r>
              <a:rPr lang="zh-CN" altLang="en-US" sz="2400" b="1" dirty="0">
                <a:solidFill>
                  <a:schemeClr val="tx1">
                    <a:lumMod val="75000"/>
                    <a:lumOff val="25000"/>
                  </a:schemeClr>
                </a:solidFill>
                <a:latin typeface="Segoe UI" panose="020B0502040204020203" pitchFamily="34" charset="0"/>
                <a:ea typeface="Segoe UI Symbol" panose="020B0502040204020203" pitchFamily="34" charset="0"/>
                <a:cs typeface="Segoe UI" panose="020B0502040204020203" pitchFamily="34" charset="0"/>
              </a:rPr>
              <a:t>提效节能</a:t>
            </a:r>
            <a:endParaRPr lang="zh-CN" altLang="en-US" sz="2400" b="1" dirty="0">
              <a:solidFill>
                <a:schemeClr val="tx1">
                  <a:lumMod val="75000"/>
                  <a:lumOff val="25000"/>
                </a:schemeClr>
              </a:solidFill>
            </a:endParaRPr>
          </a:p>
        </p:txBody>
      </p:sp>
      <p:sp>
        <p:nvSpPr>
          <p:cNvPr id="29" name="文本框 28"/>
          <p:cNvSpPr txBox="1"/>
          <p:nvPr>
            <p:custDataLst>
              <p:tags r:id="rId6"/>
            </p:custDataLst>
          </p:nvPr>
        </p:nvSpPr>
        <p:spPr>
          <a:xfrm>
            <a:off x="1098701" y="3335269"/>
            <a:ext cx="2413617" cy="1160382"/>
          </a:xfrm>
          <a:prstGeom prst="rect">
            <a:avLst/>
          </a:prstGeom>
          <a:noFill/>
        </p:spPr>
        <p:txBody>
          <a:bodyPr wrap="square" rtlCol="0">
            <a:spAutoFit/>
          </a:bodyPr>
          <a:lstStyle/>
          <a:p>
            <a:pPr algn="l">
              <a:lnSpc>
                <a:spcPct val="150000"/>
              </a:lnSpc>
            </a:pPr>
            <a:r>
              <a:rPr lang="zh-CN" altLang="en-US" sz="1100" b="1"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舒愈光：</a:t>
            </a:r>
            <a:r>
              <a:rPr lang="zh-CN" altLang="en-US" sz="1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皮质醇、自然环境营造</a:t>
            </a:r>
            <a:endParaRPr lang="zh-CN" altLang="en-US" sz="1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algn="l">
              <a:lnSpc>
                <a:spcPct val="150000"/>
              </a:lnSpc>
            </a:pPr>
            <a:r>
              <a:rPr lang="zh-CN" altLang="en-US" sz="1100" b="1"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助眠光：</a:t>
            </a:r>
            <a:r>
              <a:rPr lang="zh-CN" altLang="en-US" sz="1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褪黑素、助眠放松</a:t>
            </a:r>
            <a:endParaRPr lang="zh-CN" altLang="en-US" sz="11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indent="0" algn="l">
              <a:lnSpc>
                <a:spcPct val="150000"/>
              </a:lnSpc>
              <a:buFont typeface="Arial" panose="020B0604020202020204" pitchFamily="34" charset="0"/>
              <a:buNone/>
            </a:pPr>
            <a:endParaRPr lang="zh-CN" altLang="en-US" sz="1200" b="1"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indent="0" algn="l">
              <a:lnSpc>
                <a:spcPct val="150000"/>
              </a:lnSpc>
              <a:buFont typeface="Arial" panose="020B0604020202020204" pitchFamily="34" charset="0"/>
              <a:buNone/>
            </a:pPr>
            <a:endParaRPr lang="zh-CN" altLang="en-US" sz="1400" b="1"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p:txBody>
      </p:sp>
      <p:sp>
        <p:nvSpPr>
          <p:cNvPr id="15" name="矩形 14"/>
          <p:cNvSpPr/>
          <p:nvPr/>
        </p:nvSpPr>
        <p:spPr>
          <a:xfrm>
            <a:off x="1339488" y="2404385"/>
            <a:ext cx="1415772" cy="461665"/>
          </a:xfrm>
          <a:prstGeom prst="rect">
            <a:avLst/>
          </a:prstGeom>
        </p:spPr>
        <p:txBody>
          <a:bodyPr wrap="none">
            <a:spAutoFit/>
          </a:bodyPr>
          <a:lstStyle/>
          <a:p>
            <a:r>
              <a:rPr lang="zh-CN" altLang="en-US" sz="2400" b="1" dirty="0">
                <a:solidFill>
                  <a:schemeClr val="tx1">
                    <a:lumMod val="75000"/>
                    <a:lumOff val="25000"/>
                  </a:schemeClr>
                </a:solidFill>
                <a:latin typeface="Segoe UI" panose="020B0502040204020203" pitchFamily="34" charset="0"/>
                <a:ea typeface="Segoe UI Symbol" panose="020B0502040204020203" pitchFamily="34" charset="0"/>
                <a:cs typeface="Segoe UI" panose="020B0502040204020203" pitchFamily="34" charset="0"/>
              </a:rPr>
              <a:t>舒缓焦虑</a:t>
            </a:r>
            <a:endParaRPr lang="zh-CN" altLang="en-US" sz="2400" b="1" dirty="0">
              <a:solidFill>
                <a:schemeClr val="tx1">
                  <a:lumMod val="75000"/>
                  <a:lumOff val="25000"/>
                </a:schemeClr>
              </a:solidFill>
            </a:endParaRPr>
          </a:p>
        </p:txBody>
      </p:sp>
      <p:sp>
        <p:nvSpPr>
          <p:cNvPr id="20" name="Oval 14"/>
          <p:cNvSpPr/>
          <p:nvPr/>
        </p:nvSpPr>
        <p:spPr>
          <a:xfrm>
            <a:off x="800893" y="2392668"/>
            <a:ext cx="448275" cy="448275"/>
          </a:xfrm>
          <a:prstGeom prst="ellipse">
            <a:avLst/>
          </a:prstGeom>
          <a:solidFill>
            <a:srgbClr val="F6B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540"/>
          </a:p>
        </p:txBody>
      </p:sp>
      <p:grpSp>
        <p:nvGrpSpPr>
          <p:cNvPr id="25" name="组合 24"/>
          <p:cNvGrpSpPr/>
          <p:nvPr/>
        </p:nvGrpSpPr>
        <p:grpSpPr>
          <a:xfrm>
            <a:off x="9152686" y="2416378"/>
            <a:ext cx="400853" cy="400853"/>
            <a:chOff x="8915579" y="2009177"/>
            <a:chExt cx="805933" cy="805933"/>
          </a:xfrm>
        </p:grpSpPr>
        <p:sp>
          <p:nvSpPr>
            <p:cNvPr id="26" name="Oval 16"/>
            <p:cNvSpPr/>
            <p:nvPr/>
          </p:nvSpPr>
          <p:spPr>
            <a:xfrm>
              <a:off x="8915579" y="2009177"/>
              <a:ext cx="805933" cy="805933"/>
            </a:xfrm>
            <a:prstGeom prst="ellipse">
              <a:avLst/>
            </a:prstGeom>
            <a:solidFill>
              <a:srgbClr val="F6B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540"/>
            </a:p>
          </p:txBody>
        </p:sp>
        <p:sp>
          <p:nvSpPr>
            <p:cNvPr id="27" name="Freeform 71"/>
            <p:cNvSpPr/>
            <p:nvPr/>
          </p:nvSpPr>
          <p:spPr bwMode="auto">
            <a:xfrm>
              <a:off x="9182024" y="2226562"/>
              <a:ext cx="360759" cy="213594"/>
            </a:xfrm>
            <a:custGeom>
              <a:avLst/>
              <a:gdLst>
                <a:gd name="T0" fmla="*/ 84 w 149"/>
                <a:gd name="T1" fmla="*/ 0 h 88"/>
                <a:gd name="T2" fmla="*/ 84 w 149"/>
                <a:gd name="T3" fmla="*/ 15 h 88"/>
                <a:gd name="T4" fmla="*/ 0 w 149"/>
                <a:gd name="T5" fmla="*/ 88 h 88"/>
                <a:gd name="T6" fmla="*/ 84 w 149"/>
                <a:gd name="T7" fmla="*/ 71 h 88"/>
                <a:gd name="T8" fmla="*/ 84 w 149"/>
                <a:gd name="T9" fmla="*/ 86 h 88"/>
                <a:gd name="T10" fmla="*/ 149 w 149"/>
                <a:gd name="T11" fmla="*/ 43 h 88"/>
                <a:gd name="T12" fmla="*/ 84 w 149"/>
                <a:gd name="T13" fmla="*/ 0 h 88"/>
              </a:gdLst>
              <a:ahLst/>
              <a:cxnLst>
                <a:cxn ang="0">
                  <a:pos x="T0" y="T1"/>
                </a:cxn>
                <a:cxn ang="0">
                  <a:pos x="T2" y="T3"/>
                </a:cxn>
                <a:cxn ang="0">
                  <a:pos x="T4" y="T5"/>
                </a:cxn>
                <a:cxn ang="0">
                  <a:pos x="T6" y="T7"/>
                </a:cxn>
                <a:cxn ang="0">
                  <a:pos x="T8" y="T9"/>
                </a:cxn>
                <a:cxn ang="0">
                  <a:pos x="T10" y="T11"/>
                </a:cxn>
                <a:cxn ang="0">
                  <a:pos x="T12" y="T13"/>
                </a:cxn>
              </a:cxnLst>
              <a:rect l="0" t="0" r="r" b="b"/>
              <a:pathLst>
                <a:path w="149" h="88">
                  <a:moveTo>
                    <a:pt x="84" y="0"/>
                  </a:moveTo>
                  <a:cubicBezTo>
                    <a:pt x="84" y="15"/>
                    <a:pt x="84" y="15"/>
                    <a:pt x="84" y="15"/>
                  </a:cubicBezTo>
                  <a:cubicBezTo>
                    <a:pt x="9" y="15"/>
                    <a:pt x="0" y="88"/>
                    <a:pt x="0" y="88"/>
                  </a:cubicBezTo>
                  <a:cubicBezTo>
                    <a:pt x="0" y="88"/>
                    <a:pt x="23" y="71"/>
                    <a:pt x="84" y="71"/>
                  </a:cubicBezTo>
                  <a:cubicBezTo>
                    <a:pt x="84" y="86"/>
                    <a:pt x="84" y="86"/>
                    <a:pt x="84" y="86"/>
                  </a:cubicBezTo>
                  <a:cubicBezTo>
                    <a:pt x="149" y="43"/>
                    <a:pt x="149" y="43"/>
                    <a:pt x="149" y="43"/>
                  </a:cubicBezTo>
                  <a:lnTo>
                    <a:pt x="84" y="0"/>
                  </a:lnTo>
                  <a:close/>
                </a:path>
              </a:pathLst>
            </a:custGeom>
            <a:solidFill>
              <a:schemeClr val="bg1"/>
            </a:solidFill>
            <a:ln>
              <a:noFill/>
            </a:ln>
          </p:spPr>
          <p:txBody>
            <a:bodyPr vert="horz" wrap="square" lIns="96770" tIns="48385" rIns="96770" bIns="48385" numCol="1" anchor="t" anchorCtr="0" compatLnSpc="1"/>
            <a:lstStyle/>
            <a:p>
              <a:endParaRPr lang="id-ID" sz="1905"/>
            </a:p>
          </p:txBody>
        </p:sp>
        <p:sp>
          <p:nvSpPr>
            <p:cNvPr id="28" name="Freeform 72"/>
            <p:cNvSpPr/>
            <p:nvPr/>
          </p:nvSpPr>
          <p:spPr bwMode="auto">
            <a:xfrm>
              <a:off x="9145233" y="2415629"/>
              <a:ext cx="358715" cy="212572"/>
            </a:xfrm>
            <a:custGeom>
              <a:avLst/>
              <a:gdLst>
                <a:gd name="T0" fmla="*/ 65 w 148"/>
                <a:gd name="T1" fmla="*/ 88 h 88"/>
                <a:gd name="T2" fmla="*/ 65 w 148"/>
                <a:gd name="T3" fmla="*/ 73 h 88"/>
                <a:gd name="T4" fmla="*/ 148 w 148"/>
                <a:gd name="T5" fmla="*/ 0 h 88"/>
                <a:gd name="T6" fmla="*/ 65 w 148"/>
                <a:gd name="T7" fmla="*/ 17 h 88"/>
                <a:gd name="T8" fmla="*/ 65 w 148"/>
                <a:gd name="T9" fmla="*/ 2 h 88"/>
                <a:gd name="T10" fmla="*/ 0 w 148"/>
                <a:gd name="T11" fmla="*/ 45 h 88"/>
                <a:gd name="T12" fmla="*/ 65 w 148"/>
                <a:gd name="T13" fmla="*/ 88 h 88"/>
              </a:gdLst>
              <a:ahLst/>
              <a:cxnLst>
                <a:cxn ang="0">
                  <a:pos x="T0" y="T1"/>
                </a:cxn>
                <a:cxn ang="0">
                  <a:pos x="T2" y="T3"/>
                </a:cxn>
                <a:cxn ang="0">
                  <a:pos x="T4" y="T5"/>
                </a:cxn>
                <a:cxn ang="0">
                  <a:pos x="T6" y="T7"/>
                </a:cxn>
                <a:cxn ang="0">
                  <a:pos x="T8" y="T9"/>
                </a:cxn>
                <a:cxn ang="0">
                  <a:pos x="T10" y="T11"/>
                </a:cxn>
                <a:cxn ang="0">
                  <a:pos x="T12" y="T13"/>
                </a:cxn>
              </a:cxnLst>
              <a:rect l="0" t="0" r="r" b="b"/>
              <a:pathLst>
                <a:path w="148" h="88">
                  <a:moveTo>
                    <a:pt x="65" y="88"/>
                  </a:moveTo>
                  <a:cubicBezTo>
                    <a:pt x="65" y="73"/>
                    <a:pt x="65" y="73"/>
                    <a:pt x="65" y="73"/>
                  </a:cubicBezTo>
                  <a:cubicBezTo>
                    <a:pt x="140" y="73"/>
                    <a:pt x="148" y="0"/>
                    <a:pt x="148" y="0"/>
                  </a:cubicBezTo>
                  <a:cubicBezTo>
                    <a:pt x="148" y="0"/>
                    <a:pt x="126" y="17"/>
                    <a:pt x="65" y="17"/>
                  </a:cubicBezTo>
                  <a:cubicBezTo>
                    <a:pt x="65" y="2"/>
                    <a:pt x="65" y="2"/>
                    <a:pt x="65" y="2"/>
                  </a:cubicBezTo>
                  <a:cubicBezTo>
                    <a:pt x="0" y="45"/>
                    <a:pt x="0" y="45"/>
                    <a:pt x="0" y="45"/>
                  </a:cubicBezTo>
                  <a:lnTo>
                    <a:pt x="65" y="88"/>
                  </a:lnTo>
                  <a:close/>
                </a:path>
              </a:pathLst>
            </a:custGeom>
            <a:solidFill>
              <a:schemeClr val="bg1"/>
            </a:solidFill>
            <a:ln>
              <a:noFill/>
            </a:ln>
          </p:spPr>
          <p:txBody>
            <a:bodyPr vert="horz" wrap="square" lIns="96770" tIns="48385" rIns="96770" bIns="48385" numCol="1" anchor="t" anchorCtr="0" compatLnSpc="1"/>
            <a:lstStyle/>
            <a:p>
              <a:endParaRPr lang="id-ID" sz="1905"/>
            </a:p>
          </p:txBody>
        </p:sp>
      </p:grpSp>
      <p:grpSp>
        <p:nvGrpSpPr>
          <p:cNvPr id="34" name="组合 33"/>
          <p:cNvGrpSpPr/>
          <p:nvPr/>
        </p:nvGrpSpPr>
        <p:grpSpPr>
          <a:xfrm>
            <a:off x="4932590" y="2384439"/>
            <a:ext cx="456504" cy="456504"/>
            <a:chOff x="5171168" y="2023691"/>
            <a:chExt cx="805933" cy="805933"/>
          </a:xfrm>
        </p:grpSpPr>
        <p:sp>
          <p:nvSpPr>
            <p:cNvPr id="35" name="Oval 15"/>
            <p:cNvSpPr/>
            <p:nvPr/>
          </p:nvSpPr>
          <p:spPr>
            <a:xfrm>
              <a:off x="5171168" y="2023691"/>
              <a:ext cx="805933" cy="805933"/>
            </a:xfrm>
            <a:prstGeom prst="ellipse">
              <a:avLst/>
            </a:prstGeom>
            <a:solidFill>
              <a:srgbClr val="F6B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540"/>
            </a:p>
          </p:txBody>
        </p:sp>
        <p:sp>
          <p:nvSpPr>
            <p:cNvPr id="36" name="Freeform 6"/>
            <p:cNvSpPr>
              <a:spLocks noEditPoints="1"/>
            </p:cNvSpPr>
            <p:nvPr/>
          </p:nvSpPr>
          <p:spPr bwMode="auto">
            <a:xfrm flipH="1">
              <a:off x="5370874" y="2185836"/>
              <a:ext cx="443581" cy="472735"/>
            </a:xfrm>
            <a:custGeom>
              <a:avLst/>
              <a:gdLst>
                <a:gd name="T0" fmla="*/ 743 w 957"/>
                <a:gd name="T1" fmla="*/ 313 h 1020"/>
                <a:gd name="T2" fmla="*/ 756 w 957"/>
                <a:gd name="T3" fmla="*/ 428 h 1020"/>
                <a:gd name="T4" fmla="*/ 704 w 957"/>
                <a:gd name="T5" fmla="*/ 513 h 1020"/>
                <a:gd name="T6" fmla="*/ 724 w 957"/>
                <a:gd name="T7" fmla="*/ 341 h 1020"/>
                <a:gd name="T8" fmla="*/ 704 w 957"/>
                <a:gd name="T9" fmla="*/ 152 h 1020"/>
                <a:gd name="T10" fmla="*/ 953 w 957"/>
                <a:gd name="T11" fmla="*/ 925 h 1020"/>
                <a:gd name="T12" fmla="*/ 704 w 957"/>
                <a:gd name="T13" fmla="*/ 1020 h 1020"/>
                <a:gd name="T14" fmla="*/ 478 w 957"/>
                <a:gd name="T15" fmla="*/ 16 h 1020"/>
                <a:gd name="T16" fmla="*/ 704 w 957"/>
                <a:gd name="T17" fmla="*/ 308 h 1020"/>
                <a:gd name="T18" fmla="*/ 679 w 957"/>
                <a:gd name="T19" fmla="*/ 494 h 1020"/>
                <a:gd name="T20" fmla="*/ 704 w 957"/>
                <a:gd name="T21" fmla="*/ 513 h 1020"/>
                <a:gd name="T22" fmla="*/ 665 w 957"/>
                <a:gd name="T23" fmla="*/ 566 h 1020"/>
                <a:gd name="T24" fmla="*/ 684 w 957"/>
                <a:gd name="T25" fmla="*/ 723 h 1020"/>
                <a:gd name="T26" fmla="*/ 704 w 957"/>
                <a:gd name="T27" fmla="*/ 1020 h 1020"/>
                <a:gd name="T28" fmla="*/ 478 w 957"/>
                <a:gd name="T29" fmla="*/ 984 h 1020"/>
                <a:gd name="T30" fmla="*/ 493 w 957"/>
                <a:gd name="T31" fmla="*/ 969 h 1020"/>
                <a:gd name="T32" fmla="*/ 478 w 957"/>
                <a:gd name="T33" fmla="*/ 955 h 1020"/>
                <a:gd name="T34" fmla="*/ 480 w 957"/>
                <a:gd name="T35" fmla="*/ 945 h 1020"/>
                <a:gd name="T36" fmla="*/ 480 w 957"/>
                <a:gd name="T37" fmla="*/ 916 h 1020"/>
                <a:gd name="T38" fmla="*/ 478 w 957"/>
                <a:gd name="T39" fmla="*/ 901 h 1020"/>
                <a:gd name="T40" fmla="*/ 589 w 957"/>
                <a:gd name="T41" fmla="*/ 663 h 1020"/>
                <a:gd name="T42" fmla="*/ 479 w 957"/>
                <a:gd name="T43" fmla="*/ 709 h 1020"/>
                <a:gd name="T44" fmla="*/ 478 w 957"/>
                <a:gd name="T45" fmla="*/ 613 h 1020"/>
                <a:gd name="T46" fmla="*/ 519 w 957"/>
                <a:gd name="T47" fmla="*/ 628 h 1020"/>
                <a:gd name="T48" fmla="*/ 478 w 957"/>
                <a:gd name="T49" fmla="*/ 512 h 1020"/>
                <a:gd name="T50" fmla="*/ 587 w 957"/>
                <a:gd name="T51" fmla="*/ 502 h 1020"/>
                <a:gd name="T52" fmla="*/ 664 w 957"/>
                <a:gd name="T53" fmla="*/ 319 h 1020"/>
                <a:gd name="T54" fmla="*/ 478 w 957"/>
                <a:gd name="T55" fmla="*/ 16 h 1020"/>
                <a:gd name="T56" fmla="*/ 395 w 957"/>
                <a:gd name="T57" fmla="*/ 35 h 1020"/>
                <a:gd name="T58" fmla="*/ 478 w 957"/>
                <a:gd name="T59" fmla="*/ 16 h 1020"/>
                <a:gd name="T60" fmla="*/ 425 w 957"/>
                <a:gd name="T61" fmla="*/ 204 h 1020"/>
                <a:gd name="T62" fmla="*/ 294 w 957"/>
                <a:gd name="T63" fmla="*/ 284 h 1020"/>
                <a:gd name="T64" fmla="*/ 362 w 957"/>
                <a:gd name="T65" fmla="*/ 506 h 1020"/>
                <a:gd name="T66" fmla="*/ 477 w 957"/>
                <a:gd name="T67" fmla="*/ 478 h 1020"/>
                <a:gd name="T68" fmla="*/ 478 w 957"/>
                <a:gd name="T69" fmla="*/ 512 h 1020"/>
                <a:gd name="T70" fmla="*/ 438 w 957"/>
                <a:gd name="T71" fmla="*/ 628 h 1020"/>
                <a:gd name="T72" fmla="*/ 478 w 957"/>
                <a:gd name="T73" fmla="*/ 709 h 1020"/>
                <a:gd name="T74" fmla="*/ 370 w 957"/>
                <a:gd name="T75" fmla="*/ 665 h 1020"/>
                <a:gd name="T76" fmla="*/ 478 w 957"/>
                <a:gd name="T77" fmla="*/ 901 h 1020"/>
                <a:gd name="T78" fmla="*/ 478 w 957"/>
                <a:gd name="T79" fmla="*/ 916 h 1020"/>
                <a:gd name="T80" fmla="*/ 478 w 957"/>
                <a:gd name="T81" fmla="*/ 945 h 1020"/>
                <a:gd name="T82" fmla="*/ 466 w 957"/>
                <a:gd name="T83" fmla="*/ 969 h 1020"/>
                <a:gd name="T84" fmla="*/ 478 w 957"/>
                <a:gd name="T85" fmla="*/ 1020 h 1020"/>
                <a:gd name="T86" fmla="*/ 253 w 957"/>
                <a:gd name="T87" fmla="*/ 730 h 1020"/>
                <a:gd name="T88" fmla="*/ 342 w 957"/>
                <a:gd name="T89" fmla="*/ 640 h 1020"/>
                <a:gd name="T90" fmla="*/ 265 w 957"/>
                <a:gd name="T91" fmla="*/ 519 h 1020"/>
                <a:gd name="T92" fmla="*/ 253 w 957"/>
                <a:gd name="T93" fmla="*/ 477 h 1020"/>
                <a:gd name="T94" fmla="*/ 276 w 957"/>
                <a:gd name="T95" fmla="*/ 341 h 1020"/>
                <a:gd name="T96" fmla="*/ 253 w 957"/>
                <a:gd name="T97" fmla="*/ 143 h 1020"/>
                <a:gd name="T98" fmla="*/ 214 w 957"/>
                <a:gd name="T99" fmla="*/ 313 h 1020"/>
                <a:gd name="T100" fmla="*/ 253 w 957"/>
                <a:gd name="T101" fmla="*/ 310 h 1020"/>
                <a:gd name="T102" fmla="*/ 253 w 957"/>
                <a:gd name="T103" fmla="*/ 477 h 1020"/>
                <a:gd name="T104" fmla="*/ 227 w 957"/>
                <a:gd name="T105" fmla="*/ 490 h 1020"/>
                <a:gd name="T106" fmla="*/ 199 w 957"/>
                <a:gd name="T107" fmla="*/ 359 h 1020"/>
                <a:gd name="T108" fmla="*/ 253 w 957"/>
                <a:gd name="T109" fmla="*/ 1020 h 1020"/>
                <a:gd name="T110" fmla="*/ 3 w 957"/>
                <a:gd name="T111" fmla="*/ 925 h 1020"/>
                <a:gd name="T112" fmla="*/ 253 w 957"/>
                <a:gd name="T113" fmla="*/ 1020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57" h="1020">
                  <a:moveTo>
                    <a:pt x="704" y="152"/>
                  </a:moveTo>
                  <a:cubicBezTo>
                    <a:pt x="723" y="197"/>
                    <a:pt x="736" y="251"/>
                    <a:pt x="743" y="313"/>
                  </a:cubicBezTo>
                  <a:cubicBezTo>
                    <a:pt x="750" y="327"/>
                    <a:pt x="755" y="342"/>
                    <a:pt x="757" y="359"/>
                  </a:cubicBezTo>
                  <a:cubicBezTo>
                    <a:pt x="761" y="381"/>
                    <a:pt x="760" y="406"/>
                    <a:pt x="756" y="428"/>
                  </a:cubicBezTo>
                  <a:cubicBezTo>
                    <a:pt x="751" y="452"/>
                    <a:pt x="742" y="473"/>
                    <a:pt x="729" y="490"/>
                  </a:cubicBezTo>
                  <a:cubicBezTo>
                    <a:pt x="722" y="500"/>
                    <a:pt x="713" y="508"/>
                    <a:pt x="704" y="513"/>
                  </a:cubicBezTo>
                  <a:cubicBezTo>
                    <a:pt x="704" y="476"/>
                    <a:pt x="704" y="476"/>
                    <a:pt x="704" y="476"/>
                  </a:cubicBezTo>
                  <a:cubicBezTo>
                    <a:pt x="730" y="445"/>
                    <a:pt x="739" y="384"/>
                    <a:pt x="724" y="341"/>
                  </a:cubicBezTo>
                  <a:cubicBezTo>
                    <a:pt x="718" y="320"/>
                    <a:pt x="710" y="310"/>
                    <a:pt x="704" y="308"/>
                  </a:cubicBezTo>
                  <a:lnTo>
                    <a:pt x="704" y="152"/>
                  </a:lnTo>
                  <a:close/>
                  <a:moveTo>
                    <a:pt x="704" y="731"/>
                  </a:moveTo>
                  <a:cubicBezTo>
                    <a:pt x="815" y="772"/>
                    <a:pt x="957" y="791"/>
                    <a:pt x="953" y="925"/>
                  </a:cubicBezTo>
                  <a:cubicBezTo>
                    <a:pt x="952" y="956"/>
                    <a:pt x="940" y="988"/>
                    <a:pt x="921" y="1020"/>
                  </a:cubicBezTo>
                  <a:cubicBezTo>
                    <a:pt x="704" y="1020"/>
                    <a:pt x="704" y="1020"/>
                    <a:pt x="704" y="1020"/>
                  </a:cubicBezTo>
                  <a:lnTo>
                    <a:pt x="704" y="731"/>
                  </a:lnTo>
                  <a:close/>
                  <a:moveTo>
                    <a:pt x="478" y="16"/>
                  </a:moveTo>
                  <a:cubicBezTo>
                    <a:pt x="588" y="0"/>
                    <a:pt x="661" y="52"/>
                    <a:pt x="704" y="152"/>
                  </a:cubicBezTo>
                  <a:cubicBezTo>
                    <a:pt x="704" y="308"/>
                    <a:pt x="704" y="308"/>
                    <a:pt x="704" y="308"/>
                  </a:cubicBezTo>
                  <a:cubicBezTo>
                    <a:pt x="693" y="305"/>
                    <a:pt x="684" y="321"/>
                    <a:pt x="680" y="350"/>
                  </a:cubicBezTo>
                  <a:cubicBezTo>
                    <a:pt x="675" y="381"/>
                    <a:pt x="674" y="429"/>
                    <a:pt x="679" y="494"/>
                  </a:cubicBezTo>
                  <a:cubicBezTo>
                    <a:pt x="688" y="491"/>
                    <a:pt x="697" y="484"/>
                    <a:pt x="704" y="476"/>
                  </a:cubicBezTo>
                  <a:cubicBezTo>
                    <a:pt x="704" y="513"/>
                    <a:pt x="704" y="513"/>
                    <a:pt x="704" y="513"/>
                  </a:cubicBezTo>
                  <a:cubicBezTo>
                    <a:pt x="700" y="515"/>
                    <a:pt x="696" y="517"/>
                    <a:pt x="692" y="519"/>
                  </a:cubicBezTo>
                  <a:cubicBezTo>
                    <a:pt x="684" y="535"/>
                    <a:pt x="675" y="552"/>
                    <a:pt x="665" y="566"/>
                  </a:cubicBezTo>
                  <a:cubicBezTo>
                    <a:pt x="654" y="594"/>
                    <a:pt x="635" y="619"/>
                    <a:pt x="614" y="640"/>
                  </a:cubicBezTo>
                  <a:cubicBezTo>
                    <a:pt x="621" y="675"/>
                    <a:pt x="640" y="705"/>
                    <a:pt x="684" y="723"/>
                  </a:cubicBezTo>
                  <a:cubicBezTo>
                    <a:pt x="690" y="726"/>
                    <a:pt x="697" y="728"/>
                    <a:pt x="704" y="731"/>
                  </a:cubicBezTo>
                  <a:cubicBezTo>
                    <a:pt x="704" y="1020"/>
                    <a:pt x="704" y="1020"/>
                    <a:pt x="704" y="1020"/>
                  </a:cubicBezTo>
                  <a:cubicBezTo>
                    <a:pt x="478" y="1020"/>
                    <a:pt x="478" y="1020"/>
                    <a:pt x="478" y="1020"/>
                  </a:cubicBezTo>
                  <a:cubicBezTo>
                    <a:pt x="478" y="984"/>
                    <a:pt x="478" y="984"/>
                    <a:pt x="478" y="984"/>
                  </a:cubicBezTo>
                  <a:cubicBezTo>
                    <a:pt x="479" y="984"/>
                    <a:pt x="479" y="984"/>
                    <a:pt x="480" y="984"/>
                  </a:cubicBezTo>
                  <a:cubicBezTo>
                    <a:pt x="487" y="984"/>
                    <a:pt x="493" y="977"/>
                    <a:pt x="493" y="969"/>
                  </a:cubicBezTo>
                  <a:cubicBezTo>
                    <a:pt x="493" y="961"/>
                    <a:pt x="487" y="955"/>
                    <a:pt x="480" y="955"/>
                  </a:cubicBezTo>
                  <a:cubicBezTo>
                    <a:pt x="479" y="955"/>
                    <a:pt x="479" y="955"/>
                    <a:pt x="478" y="955"/>
                  </a:cubicBezTo>
                  <a:cubicBezTo>
                    <a:pt x="478" y="945"/>
                    <a:pt x="478" y="945"/>
                    <a:pt x="478" y="945"/>
                  </a:cubicBezTo>
                  <a:cubicBezTo>
                    <a:pt x="479" y="945"/>
                    <a:pt x="479" y="945"/>
                    <a:pt x="480" y="945"/>
                  </a:cubicBezTo>
                  <a:cubicBezTo>
                    <a:pt x="487" y="945"/>
                    <a:pt x="493" y="938"/>
                    <a:pt x="493" y="930"/>
                  </a:cubicBezTo>
                  <a:cubicBezTo>
                    <a:pt x="493" y="922"/>
                    <a:pt x="487" y="916"/>
                    <a:pt x="480" y="916"/>
                  </a:cubicBezTo>
                  <a:cubicBezTo>
                    <a:pt x="479" y="916"/>
                    <a:pt x="479" y="916"/>
                    <a:pt x="478" y="916"/>
                  </a:cubicBezTo>
                  <a:cubicBezTo>
                    <a:pt x="478" y="901"/>
                    <a:pt x="478" y="901"/>
                    <a:pt x="478" y="901"/>
                  </a:cubicBezTo>
                  <a:cubicBezTo>
                    <a:pt x="556" y="871"/>
                    <a:pt x="598" y="831"/>
                    <a:pt x="661" y="751"/>
                  </a:cubicBezTo>
                  <a:cubicBezTo>
                    <a:pt x="625" y="737"/>
                    <a:pt x="602" y="703"/>
                    <a:pt x="589" y="663"/>
                  </a:cubicBezTo>
                  <a:cubicBezTo>
                    <a:pt x="553" y="691"/>
                    <a:pt x="514" y="709"/>
                    <a:pt x="485" y="709"/>
                  </a:cubicBezTo>
                  <a:cubicBezTo>
                    <a:pt x="483" y="709"/>
                    <a:pt x="481" y="709"/>
                    <a:pt x="479" y="709"/>
                  </a:cubicBezTo>
                  <a:cubicBezTo>
                    <a:pt x="478" y="709"/>
                    <a:pt x="478" y="709"/>
                    <a:pt x="478" y="709"/>
                  </a:cubicBezTo>
                  <a:cubicBezTo>
                    <a:pt x="478" y="613"/>
                    <a:pt x="478" y="613"/>
                    <a:pt x="478" y="613"/>
                  </a:cubicBezTo>
                  <a:cubicBezTo>
                    <a:pt x="479" y="613"/>
                    <a:pt x="479" y="613"/>
                    <a:pt x="479" y="613"/>
                  </a:cubicBezTo>
                  <a:cubicBezTo>
                    <a:pt x="493" y="613"/>
                    <a:pt x="503" y="634"/>
                    <a:pt x="519" y="628"/>
                  </a:cubicBezTo>
                  <a:cubicBezTo>
                    <a:pt x="555" y="615"/>
                    <a:pt x="571" y="591"/>
                    <a:pt x="571" y="565"/>
                  </a:cubicBezTo>
                  <a:cubicBezTo>
                    <a:pt x="571" y="529"/>
                    <a:pt x="525" y="512"/>
                    <a:pt x="478" y="512"/>
                  </a:cubicBezTo>
                  <a:cubicBezTo>
                    <a:pt x="478" y="478"/>
                    <a:pt x="478" y="478"/>
                    <a:pt x="478" y="478"/>
                  </a:cubicBezTo>
                  <a:cubicBezTo>
                    <a:pt x="531" y="470"/>
                    <a:pt x="566" y="485"/>
                    <a:pt x="587" y="502"/>
                  </a:cubicBezTo>
                  <a:cubicBezTo>
                    <a:pt x="588" y="503"/>
                    <a:pt x="590" y="504"/>
                    <a:pt x="591" y="506"/>
                  </a:cubicBezTo>
                  <a:cubicBezTo>
                    <a:pt x="644" y="538"/>
                    <a:pt x="663" y="405"/>
                    <a:pt x="664" y="319"/>
                  </a:cubicBezTo>
                  <a:cubicBezTo>
                    <a:pt x="580" y="314"/>
                    <a:pt x="531" y="271"/>
                    <a:pt x="478" y="235"/>
                  </a:cubicBezTo>
                  <a:lnTo>
                    <a:pt x="478" y="16"/>
                  </a:lnTo>
                  <a:close/>
                  <a:moveTo>
                    <a:pt x="253" y="143"/>
                  </a:moveTo>
                  <a:cubicBezTo>
                    <a:pt x="281" y="83"/>
                    <a:pt x="325" y="38"/>
                    <a:pt x="395" y="35"/>
                  </a:cubicBezTo>
                  <a:cubicBezTo>
                    <a:pt x="408" y="31"/>
                    <a:pt x="422" y="27"/>
                    <a:pt x="437" y="25"/>
                  </a:cubicBezTo>
                  <a:cubicBezTo>
                    <a:pt x="451" y="21"/>
                    <a:pt x="465" y="18"/>
                    <a:pt x="478" y="16"/>
                  </a:cubicBezTo>
                  <a:cubicBezTo>
                    <a:pt x="478" y="235"/>
                    <a:pt x="478" y="235"/>
                    <a:pt x="478" y="235"/>
                  </a:cubicBezTo>
                  <a:cubicBezTo>
                    <a:pt x="461" y="223"/>
                    <a:pt x="444" y="212"/>
                    <a:pt x="425" y="204"/>
                  </a:cubicBezTo>
                  <a:cubicBezTo>
                    <a:pt x="378" y="183"/>
                    <a:pt x="333" y="179"/>
                    <a:pt x="316" y="207"/>
                  </a:cubicBezTo>
                  <a:cubicBezTo>
                    <a:pt x="303" y="228"/>
                    <a:pt x="296" y="254"/>
                    <a:pt x="294" y="284"/>
                  </a:cubicBezTo>
                  <a:cubicBezTo>
                    <a:pt x="294" y="285"/>
                    <a:pt x="294" y="287"/>
                    <a:pt x="294" y="289"/>
                  </a:cubicBezTo>
                  <a:cubicBezTo>
                    <a:pt x="290" y="370"/>
                    <a:pt x="303" y="542"/>
                    <a:pt x="362" y="506"/>
                  </a:cubicBezTo>
                  <a:cubicBezTo>
                    <a:pt x="364" y="504"/>
                    <a:pt x="365" y="503"/>
                    <a:pt x="367" y="502"/>
                  </a:cubicBezTo>
                  <a:cubicBezTo>
                    <a:pt x="388" y="485"/>
                    <a:pt x="423" y="469"/>
                    <a:pt x="477" y="478"/>
                  </a:cubicBezTo>
                  <a:cubicBezTo>
                    <a:pt x="478" y="478"/>
                    <a:pt x="478" y="478"/>
                    <a:pt x="478" y="478"/>
                  </a:cubicBezTo>
                  <a:cubicBezTo>
                    <a:pt x="478" y="512"/>
                    <a:pt x="478" y="512"/>
                    <a:pt x="478" y="512"/>
                  </a:cubicBezTo>
                  <a:cubicBezTo>
                    <a:pt x="432" y="512"/>
                    <a:pt x="384" y="529"/>
                    <a:pt x="382" y="561"/>
                  </a:cubicBezTo>
                  <a:cubicBezTo>
                    <a:pt x="380" y="588"/>
                    <a:pt x="400" y="615"/>
                    <a:pt x="438" y="628"/>
                  </a:cubicBezTo>
                  <a:cubicBezTo>
                    <a:pt x="454" y="634"/>
                    <a:pt x="464" y="613"/>
                    <a:pt x="478" y="613"/>
                  </a:cubicBezTo>
                  <a:cubicBezTo>
                    <a:pt x="478" y="709"/>
                    <a:pt x="478" y="709"/>
                    <a:pt x="478" y="709"/>
                  </a:cubicBezTo>
                  <a:cubicBezTo>
                    <a:pt x="477" y="709"/>
                    <a:pt x="475" y="709"/>
                    <a:pt x="472" y="709"/>
                  </a:cubicBezTo>
                  <a:cubicBezTo>
                    <a:pt x="444" y="709"/>
                    <a:pt x="405" y="692"/>
                    <a:pt x="370" y="665"/>
                  </a:cubicBezTo>
                  <a:cubicBezTo>
                    <a:pt x="357" y="704"/>
                    <a:pt x="334" y="737"/>
                    <a:pt x="298" y="751"/>
                  </a:cubicBezTo>
                  <a:cubicBezTo>
                    <a:pt x="358" y="841"/>
                    <a:pt x="407" y="878"/>
                    <a:pt x="478" y="901"/>
                  </a:cubicBezTo>
                  <a:cubicBezTo>
                    <a:pt x="478" y="901"/>
                    <a:pt x="478" y="901"/>
                    <a:pt x="478" y="901"/>
                  </a:cubicBezTo>
                  <a:cubicBezTo>
                    <a:pt x="478" y="916"/>
                    <a:pt x="478" y="916"/>
                    <a:pt x="478" y="916"/>
                  </a:cubicBezTo>
                  <a:cubicBezTo>
                    <a:pt x="471" y="916"/>
                    <a:pt x="466" y="923"/>
                    <a:pt x="466" y="930"/>
                  </a:cubicBezTo>
                  <a:cubicBezTo>
                    <a:pt x="466" y="938"/>
                    <a:pt x="471" y="944"/>
                    <a:pt x="478" y="945"/>
                  </a:cubicBezTo>
                  <a:cubicBezTo>
                    <a:pt x="478" y="955"/>
                    <a:pt x="478" y="955"/>
                    <a:pt x="478" y="955"/>
                  </a:cubicBezTo>
                  <a:cubicBezTo>
                    <a:pt x="471" y="956"/>
                    <a:pt x="466" y="962"/>
                    <a:pt x="466" y="969"/>
                  </a:cubicBezTo>
                  <a:cubicBezTo>
                    <a:pt x="466" y="977"/>
                    <a:pt x="471" y="983"/>
                    <a:pt x="478" y="984"/>
                  </a:cubicBezTo>
                  <a:cubicBezTo>
                    <a:pt x="478" y="1020"/>
                    <a:pt x="478" y="1020"/>
                    <a:pt x="478" y="1020"/>
                  </a:cubicBezTo>
                  <a:cubicBezTo>
                    <a:pt x="253" y="1020"/>
                    <a:pt x="253" y="1020"/>
                    <a:pt x="253" y="1020"/>
                  </a:cubicBezTo>
                  <a:cubicBezTo>
                    <a:pt x="253" y="730"/>
                    <a:pt x="253" y="730"/>
                    <a:pt x="253" y="730"/>
                  </a:cubicBezTo>
                  <a:cubicBezTo>
                    <a:pt x="260" y="728"/>
                    <a:pt x="266" y="726"/>
                    <a:pt x="272" y="723"/>
                  </a:cubicBezTo>
                  <a:cubicBezTo>
                    <a:pt x="317" y="704"/>
                    <a:pt x="336" y="675"/>
                    <a:pt x="342" y="640"/>
                  </a:cubicBezTo>
                  <a:cubicBezTo>
                    <a:pt x="322" y="619"/>
                    <a:pt x="304" y="595"/>
                    <a:pt x="293" y="569"/>
                  </a:cubicBezTo>
                  <a:cubicBezTo>
                    <a:pt x="282" y="554"/>
                    <a:pt x="273" y="537"/>
                    <a:pt x="265" y="519"/>
                  </a:cubicBezTo>
                  <a:cubicBezTo>
                    <a:pt x="261" y="517"/>
                    <a:pt x="257" y="516"/>
                    <a:pt x="253" y="513"/>
                  </a:cubicBezTo>
                  <a:cubicBezTo>
                    <a:pt x="253" y="477"/>
                    <a:pt x="253" y="477"/>
                    <a:pt x="253" y="477"/>
                  </a:cubicBezTo>
                  <a:cubicBezTo>
                    <a:pt x="260" y="485"/>
                    <a:pt x="269" y="491"/>
                    <a:pt x="278" y="494"/>
                  </a:cubicBezTo>
                  <a:cubicBezTo>
                    <a:pt x="283" y="431"/>
                    <a:pt x="283" y="374"/>
                    <a:pt x="276" y="341"/>
                  </a:cubicBezTo>
                  <a:cubicBezTo>
                    <a:pt x="271" y="317"/>
                    <a:pt x="262" y="308"/>
                    <a:pt x="253" y="310"/>
                  </a:cubicBezTo>
                  <a:lnTo>
                    <a:pt x="253" y="143"/>
                  </a:lnTo>
                  <a:close/>
                  <a:moveTo>
                    <a:pt x="214" y="313"/>
                  </a:moveTo>
                  <a:cubicBezTo>
                    <a:pt x="214" y="313"/>
                    <a:pt x="214" y="313"/>
                    <a:pt x="214" y="313"/>
                  </a:cubicBezTo>
                  <a:cubicBezTo>
                    <a:pt x="218" y="258"/>
                    <a:pt x="229" y="195"/>
                    <a:pt x="253" y="143"/>
                  </a:cubicBezTo>
                  <a:cubicBezTo>
                    <a:pt x="253" y="310"/>
                    <a:pt x="253" y="310"/>
                    <a:pt x="253" y="310"/>
                  </a:cubicBezTo>
                  <a:cubicBezTo>
                    <a:pt x="246" y="312"/>
                    <a:pt x="238" y="323"/>
                    <a:pt x="233" y="339"/>
                  </a:cubicBezTo>
                  <a:cubicBezTo>
                    <a:pt x="217" y="383"/>
                    <a:pt x="226" y="445"/>
                    <a:pt x="253" y="477"/>
                  </a:cubicBezTo>
                  <a:cubicBezTo>
                    <a:pt x="253" y="513"/>
                    <a:pt x="253" y="513"/>
                    <a:pt x="253" y="513"/>
                  </a:cubicBezTo>
                  <a:cubicBezTo>
                    <a:pt x="243" y="508"/>
                    <a:pt x="235" y="500"/>
                    <a:pt x="227" y="490"/>
                  </a:cubicBezTo>
                  <a:cubicBezTo>
                    <a:pt x="214" y="473"/>
                    <a:pt x="206" y="452"/>
                    <a:pt x="201" y="428"/>
                  </a:cubicBezTo>
                  <a:cubicBezTo>
                    <a:pt x="196" y="406"/>
                    <a:pt x="195" y="381"/>
                    <a:pt x="199" y="359"/>
                  </a:cubicBezTo>
                  <a:cubicBezTo>
                    <a:pt x="202" y="342"/>
                    <a:pt x="206" y="326"/>
                    <a:pt x="214" y="313"/>
                  </a:cubicBezTo>
                  <a:moveTo>
                    <a:pt x="253" y="1020"/>
                  </a:moveTo>
                  <a:cubicBezTo>
                    <a:pt x="35" y="1020"/>
                    <a:pt x="35" y="1020"/>
                    <a:pt x="35" y="1020"/>
                  </a:cubicBezTo>
                  <a:cubicBezTo>
                    <a:pt x="16" y="988"/>
                    <a:pt x="4" y="956"/>
                    <a:pt x="3" y="925"/>
                  </a:cubicBezTo>
                  <a:cubicBezTo>
                    <a:pt x="0" y="791"/>
                    <a:pt x="142" y="772"/>
                    <a:pt x="253" y="730"/>
                  </a:cubicBezTo>
                  <a:lnTo>
                    <a:pt x="253" y="1020"/>
                  </a:lnTo>
                  <a:close/>
                </a:path>
              </a:pathLst>
            </a:custGeom>
            <a:solidFill>
              <a:schemeClr val="bg1"/>
            </a:solidFill>
            <a:ln>
              <a:noFill/>
            </a:ln>
          </p:spPr>
          <p:txBody>
            <a:bodyPr vert="horz" wrap="square" lIns="129027" tIns="64513" rIns="129027" bIns="64513" numCol="1" anchor="t" anchorCtr="0" compatLnSpc="1"/>
            <a:lstStyle/>
            <a:p>
              <a:endParaRPr lang="id-ID" sz="2540" dirty="0"/>
            </a:p>
          </p:txBody>
        </p:sp>
      </p:grpSp>
      <p:pic>
        <p:nvPicPr>
          <p:cNvPr id="37" name="图片 5" descr="888.png"/>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94144" y="2488546"/>
            <a:ext cx="261706" cy="279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页脚占位符 4"/>
          <p:cNvSpPr txBox="1"/>
          <p:nvPr/>
        </p:nvSpPr>
        <p:spPr>
          <a:xfrm>
            <a:off x="410845" y="307975"/>
            <a:ext cx="3131185" cy="411480"/>
          </a:xfrm>
          <a:prstGeom prst="rect">
            <a:avLst/>
          </a:prstGeom>
        </p:spPr>
        <p:txBody>
          <a:bodyPr vert="horz" lIns="121906" tIns="60952" rIns="121906" bIns="60952" rtlCol="0" anchor="ctr"/>
          <a:lstStyle>
            <a:defPPr>
              <a:defRPr lang="zh-CN"/>
            </a:defPPr>
            <a:lvl1pPr marL="0" algn="ctr" defTabSz="914400" rtl="0" eaLnBrk="1" latinLnBrk="0" hangingPunct="1">
              <a:defRPr sz="1200" kern="1200">
                <a:solidFill>
                  <a:srgbClr val="00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914400">
              <a:defRPr/>
            </a:pPr>
            <a:r>
              <a:rPr lang="zh-CN" altLang="en-US" sz="2800" dirty="0">
                <a:solidFill>
                  <a:schemeClr val="tx1">
                    <a:lumMod val="85000"/>
                    <a:lumOff val="15000"/>
                  </a:schemeClr>
                </a:solidFill>
                <a:latin typeface="微软雅黑" panose="020B0503020204020204" charset="-122"/>
                <a:ea typeface="微软雅黑" panose="020B0503020204020204" charset="-122"/>
                <a:cs typeface="Segoe UI" panose="020B0502040204020203" pitchFamily="34" charset="0"/>
                <a:sym typeface="Arial" panose="020B0604020202020204" pitchFamily="34" charset="0"/>
              </a:rPr>
              <a:t>核心技术</a:t>
            </a:r>
            <a:endParaRPr lang="zh-CN" altLang="en-US" sz="2800" dirty="0">
              <a:solidFill>
                <a:schemeClr val="tx1">
                  <a:lumMod val="85000"/>
                  <a:lumOff val="15000"/>
                </a:schemeClr>
              </a:solidFill>
              <a:latin typeface="微软雅黑" panose="020B0503020204020204" charset="-122"/>
              <a:ea typeface="微软雅黑" panose="020B0503020204020204" charset="-122"/>
              <a:cs typeface="Segoe UI" panose="020B0502040204020203" pitchFamily="34" charset="0"/>
              <a:sym typeface="Arial" panose="020B0604020202020204" pitchFamily="34" charset="0"/>
            </a:endParaRPr>
          </a:p>
        </p:txBody>
      </p:sp>
      <p:sp>
        <p:nvSpPr>
          <p:cNvPr id="3" name="文本框 2"/>
          <p:cNvSpPr txBox="1"/>
          <p:nvPr/>
        </p:nvSpPr>
        <p:spPr>
          <a:xfrm>
            <a:off x="4288155" y="3709035"/>
            <a:ext cx="3404870" cy="1884680"/>
          </a:xfrm>
          <a:prstGeom prst="rect">
            <a:avLst/>
          </a:prstGeom>
          <a:noFill/>
        </p:spPr>
        <p:txBody>
          <a:bodyPr wrap="square" rtlCol="0">
            <a:noAutofit/>
          </a:bodyPr>
          <a:p>
            <a:pPr algn="l">
              <a:lnSpc>
                <a:spcPct val="150000"/>
              </a:lnSpc>
              <a:buClrTx/>
              <a:buSzTx/>
              <a:buFontTx/>
            </a:pPr>
            <a:r>
              <a:rPr lang="zh-CN" altLang="en-US" sz="1800" b="1">
                <a:latin typeface="微软雅黑" panose="020B0503020204020204" charset="-122"/>
                <a:ea typeface="微软雅黑" panose="020B0503020204020204" charset="-122"/>
                <a:cs typeface="微软雅黑" panose="020B0503020204020204" charset="-122"/>
                <a:sym typeface="+mn-ea"/>
              </a:rPr>
              <a:t>白光</a:t>
            </a:r>
            <a:r>
              <a:rPr lang="zh-CN" altLang="en-US" sz="1800" b="1">
                <a:solidFill>
                  <a:schemeClr val="tx1"/>
                </a:solidFill>
                <a:latin typeface="微软雅黑" panose="020B0503020204020204" charset="-122"/>
                <a:ea typeface="微软雅黑" panose="020B0503020204020204" charset="-122"/>
                <a:cs typeface="微软雅黑" panose="020B0503020204020204" charset="-122"/>
                <a:sym typeface="+mn-ea"/>
              </a:rPr>
              <a:t>高品质的全新</a:t>
            </a:r>
            <a:r>
              <a:rPr lang="zh-CN" altLang="en-US" sz="1800" b="1">
                <a:solidFill>
                  <a:schemeClr val="tx1"/>
                </a:solidFill>
                <a:latin typeface="微软雅黑" panose="020B0503020204020204" charset="-122"/>
                <a:ea typeface="微软雅黑" panose="020B0503020204020204" charset="-122"/>
                <a:cs typeface="微软雅黑" panose="020B0503020204020204" charset="-122"/>
              </a:rPr>
              <a:t>评价维度</a:t>
            </a:r>
            <a:endParaRPr lang="zh-CN" altLang="en-US" sz="1600" b="1">
              <a:solidFill>
                <a:schemeClr val="tx1"/>
              </a:solidFill>
              <a:latin typeface="微软雅黑" panose="020B0503020204020204" charset="-122"/>
              <a:ea typeface="微软雅黑" panose="020B0503020204020204" charset="-122"/>
              <a:cs typeface="微软雅黑" panose="020B0503020204020204" charset="-122"/>
            </a:endParaRPr>
          </a:p>
          <a:p>
            <a:pPr algn="l">
              <a:lnSpc>
                <a:spcPct val="150000"/>
              </a:lnSpc>
              <a:buClrTx/>
              <a:buSzTx/>
              <a:buNone/>
            </a:pPr>
            <a:r>
              <a:rPr lang="en-US" altLang="zh-CN" sz="1400">
                <a:solidFill>
                  <a:schemeClr val="tx1"/>
                </a:solidFill>
                <a:latin typeface="微软雅黑" panose="020B0503020204020204" charset="-122"/>
                <a:ea typeface="微软雅黑" panose="020B0503020204020204" charset="-122"/>
                <a:cs typeface="微软雅黑" panose="020B0503020204020204" charset="-122"/>
                <a:sym typeface="+mn-ea"/>
              </a:rPr>
              <a:t>颜色保真度Rf：色彩逼真</a:t>
            </a:r>
            <a:endParaRPr lang="en-US" altLang="zh-CN" sz="1400">
              <a:solidFill>
                <a:schemeClr val="tx1"/>
              </a:solidFill>
              <a:latin typeface="微软雅黑" panose="020B0503020204020204" charset="-122"/>
              <a:ea typeface="微软雅黑" panose="020B0503020204020204" charset="-122"/>
              <a:cs typeface="微软雅黑" panose="020B0503020204020204" charset="-122"/>
            </a:endParaRPr>
          </a:p>
          <a:p>
            <a:pPr algn="l">
              <a:lnSpc>
                <a:spcPct val="150000"/>
              </a:lnSpc>
              <a:buClrTx/>
              <a:buSzTx/>
              <a:buNone/>
            </a:pPr>
            <a:r>
              <a:rPr lang="en-US" altLang="zh-CN" sz="1400">
                <a:solidFill>
                  <a:schemeClr val="tx1"/>
                </a:solidFill>
                <a:latin typeface="微软雅黑" panose="020B0503020204020204" charset="-122"/>
                <a:ea typeface="微软雅黑" panose="020B0503020204020204" charset="-122"/>
                <a:cs typeface="微软雅黑" panose="020B0503020204020204" charset="-122"/>
                <a:sym typeface="+mn-ea"/>
              </a:rPr>
              <a:t>颜色喜好度MCPI：灯光舒适</a:t>
            </a:r>
            <a:endParaRPr lang="en-US" altLang="zh-CN" sz="1400">
              <a:solidFill>
                <a:schemeClr val="tx1"/>
              </a:solidFill>
              <a:latin typeface="微软雅黑" panose="020B0503020204020204" charset="-122"/>
              <a:ea typeface="微软雅黑" panose="020B0503020204020204" charset="-122"/>
              <a:cs typeface="微软雅黑" panose="020B0503020204020204" charset="-122"/>
            </a:endParaRPr>
          </a:p>
          <a:p>
            <a:pPr algn="l">
              <a:lnSpc>
                <a:spcPct val="150000"/>
              </a:lnSpc>
              <a:buClrTx/>
              <a:buSzTx/>
              <a:buNone/>
            </a:pPr>
            <a:r>
              <a:rPr lang="en-US" altLang="zh-CN" sz="1400">
                <a:solidFill>
                  <a:schemeClr val="tx1"/>
                </a:solidFill>
                <a:latin typeface="微软雅黑" panose="020B0503020204020204" charset="-122"/>
                <a:ea typeface="微软雅黑" panose="020B0503020204020204" charset="-122"/>
                <a:cs typeface="微软雅黑" panose="020B0503020204020204" charset="-122"/>
                <a:sym typeface="+mn-ea"/>
              </a:rPr>
              <a:t>颜色分辨性CDM：视物清晰</a:t>
            </a:r>
            <a:endParaRPr lang="en-US" altLang="zh-CN" sz="140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546704" y="3709034"/>
            <a:ext cx="3334211" cy="2122805"/>
          </a:xfrm>
          <a:prstGeom prst="rect">
            <a:avLst/>
          </a:prstGeom>
          <a:noFill/>
        </p:spPr>
        <p:txBody>
          <a:bodyPr wrap="square" rtlCol="0" anchor="t">
            <a:spAutoFit/>
          </a:bodyPr>
          <a:p>
            <a:pPr>
              <a:lnSpc>
                <a:spcPct val="150000"/>
              </a:lnSpc>
            </a:pPr>
            <a:r>
              <a:rPr lang="zh-CN" altLang="en-US" b="1">
                <a:solidFill>
                  <a:schemeClr val="tx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SDL光引擎</a:t>
            </a:r>
            <a:endParaRPr lang="zh-CN" altLang="en-US" b="1">
              <a:solidFill>
                <a:schemeClr val="tx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l">
              <a:lnSpc>
                <a:spcPct val="150000"/>
              </a:lnSpc>
              <a:buClrTx/>
              <a:buSzTx/>
              <a:buNone/>
            </a:pPr>
            <a:r>
              <a:rPr lang="en-US" altLang="zh-CN" sz="1400">
                <a:solidFill>
                  <a:schemeClr val="tx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行业首</a:t>
            </a:r>
            <a:r>
              <a:rPr lang="en-US" altLang="zh-CN" sz="1400">
                <a:solidFill>
                  <a:schemeClr val="tx1"/>
                </a:solidFill>
                <a:latin typeface="微软雅黑" panose="020B0503020204020204" charset="-122"/>
                <a:ea typeface="微软雅黑" panose="020B0503020204020204" charset="-122"/>
                <a:cs typeface="微软雅黑" panose="020B0503020204020204" charset="-122"/>
                <a:sym typeface="+mn-ea"/>
              </a:rPr>
              <a:t>创可由软件控制的高品质健康光“智慧光谱调谐系统”</a:t>
            </a:r>
            <a:r>
              <a:rPr lang="zh-CN" altLang="en-US" sz="1400">
                <a:solidFill>
                  <a:schemeClr val="tx1"/>
                </a:solidFill>
                <a:latin typeface="微软雅黑" panose="020B0503020204020204" charset="-122"/>
                <a:ea typeface="微软雅黑" panose="020B0503020204020204" charset="-122"/>
                <a:cs typeface="微软雅黑" panose="020B0503020204020204" charset="-122"/>
                <a:sym typeface="+mn-ea"/>
              </a:rPr>
              <a:t>：</a:t>
            </a:r>
            <a:endParaRPr lang="zh-CN" altLang="en-US" sz="1400">
              <a:solidFill>
                <a:schemeClr val="tx1"/>
              </a:solidFill>
              <a:latin typeface="微软雅黑" panose="020B0503020204020204" charset="-122"/>
              <a:ea typeface="微软雅黑" panose="020B0503020204020204" charset="-122"/>
              <a:cs typeface="微软雅黑" panose="020B0503020204020204" charset="-122"/>
              <a:sym typeface="+mn-ea"/>
            </a:endParaRPr>
          </a:p>
          <a:p>
            <a:pPr algn="l">
              <a:lnSpc>
                <a:spcPct val="150000"/>
              </a:lnSpc>
              <a:buClrTx/>
              <a:buSzTx/>
              <a:buNone/>
            </a:pPr>
            <a:r>
              <a:rPr lang="zh-CN" altLang="en-US" sz="1400">
                <a:solidFill>
                  <a:schemeClr val="tx1"/>
                </a:solidFill>
                <a:latin typeface="微软雅黑" panose="020B0503020204020204" charset="-122"/>
                <a:ea typeface="微软雅黑" panose="020B0503020204020204" charset="-122"/>
                <a:cs typeface="微软雅黑" panose="020B0503020204020204" charset="-122"/>
                <a:sym typeface="+mn-ea"/>
              </a:rPr>
              <a:t>宽色域</a:t>
            </a:r>
            <a:endParaRPr lang="zh-CN" altLang="en-US" sz="1400">
              <a:solidFill>
                <a:schemeClr val="tx1"/>
              </a:solidFill>
              <a:latin typeface="微软雅黑" panose="020B0503020204020204" charset="-122"/>
              <a:ea typeface="微软雅黑" panose="020B0503020204020204" charset="-122"/>
              <a:cs typeface="微软雅黑" panose="020B0503020204020204" charset="-122"/>
              <a:sym typeface="+mn-ea"/>
            </a:endParaRPr>
          </a:p>
          <a:p>
            <a:pPr algn="l">
              <a:lnSpc>
                <a:spcPct val="150000"/>
              </a:lnSpc>
              <a:buClrTx/>
              <a:buSzTx/>
              <a:buNone/>
            </a:pPr>
            <a:r>
              <a:rPr lang="zh-CN" altLang="en-US" sz="1400">
                <a:solidFill>
                  <a:schemeClr val="tx1"/>
                </a:solidFill>
                <a:latin typeface="微软雅黑" panose="020B0503020204020204" charset="-122"/>
                <a:ea typeface="微软雅黑" panose="020B0503020204020204" charset="-122"/>
                <a:cs typeface="微软雅黑" panose="020B0503020204020204" charset="-122"/>
                <a:sym typeface="+mn-ea"/>
              </a:rPr>
              <a:t>光谱可定制</a:t>
            </a:r>
            <a:endParaRPr lang="zh-CN" altLang="en-US" sz="1400">
              <a:solidFill>
                <a:schemeClr val="tx1"/>
              </a:solidFill>
              <a:latin typeface="微软雅黑" panose="020B0503020204020204" charset="-122"/>
              <a:ea typeface="微软雅黑" panose="020B0503020204020204" charset="-122"/>
              <a:cs typeface="微软雅黑" panose="020B0503020204020204" charset="-122"/>
              <a:sym typeface="+mn-ea"/>
            </a:endParaRPr>
          </a:p>
          <a:p>
            <a:pPr algn="l">
              <a:lnSpc>
                <a:spcPct val="150000"/>
              </a:lnSpc>
              <a:buClrTx/>
              <a:buSzTx/>
              <a:buNone/>
            </a:pPr>
            <a:r>
              <a:rPr lang="zh-CN" altLang="en-US" sz="1400">
                <a:solidFill>
                  <a:schemeClr val="tx1"/>
                </a:solidFill>
                <a:latin typeface="微软雅黑" panose="020B0503020204020204" charset="-122"/>
                <a:ea typeface="微软雅黑" panose="020B0503020204020204" charset="-122"/>
                <a:cs typeface="微软雅黑" panose="020B0503020204020204" charset="-122"/>
                <a:sym typeface="+mn-ea"/>
              </a:rPr>
              <a:t>光强可调</a:t>
            </a:r>
            <a:endParaRPr lang="zh-CN" altLang="en-US" sz="140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9" name="文本框 8"/>
          <p:cNvSpPr txBox="1"/>
          <p:nvPr/>
        </p:nvSpPr>
        <p:spPr>
          <a:xfrm>
            <a:off x="4288155" y="5593715"/>
            <a:ext cx="3227705" cy="506730"/>
          </a:xfrm>
          <a:prstGeom prst="rect">
            <a:avLst/>
          </a:prstGeom>
          <a:noFill/>
        </p:spPr>
        <p:txBody>
          <a:bodyPr wrap="square" rtlCol="0" anchor="t">
            <a:spAutoFit/>
          </a:bodyPr>
          <a:p>
            <a:pPr>
              <a:lnSpc>
                <a:spcPct val="150000"/>
              </a:lnSpc>
            </a:pPr>
            <a:r>
              <a:rPr lang="en-US" altLang="zh-CN" sz="900">
                <a:latin typeface="微软雅黑" panose="020B0503020204020204" charset="-122"/>
                <a:ea typeface="微软雅黑" panose="020B0503020204020204" charset="-122"/>
                <a:cs typeface="微软雅黑" panose="020B0503020204020204" charset="-122"/>
              </a:rPr>
              <a:t>TCIES 036—2025 </a:t>
            </a:r>
            <a:r>
              <a:rPr lang="zh-CN" altLang="en-US" sz="900">
                <a:latin typeface="微软雅黑" panose="020B0503020204020204" charset="-122"/>
                <a:ea typeface="微软雅黑" panose="020B0503020204020204" charset="-122"/>
                <a:cs typeface="微软雅黑" panose="020B0503020204020204" charset="-122"/>
              </a:rPr>
              <a:t>白光光源显色品质综合评价方法</a:t>
            </a:r>
            <a:r>
              <a:rPr lang="en-US" altLang="zh-CN" sz="900">
                <a:latin typeface="微软雅黑" panose="020B0503020204020204" charset="-122"/>
                <a:ea typeface="微软雅黑" panose="020B0503020204020204" charset="-122"/>
                <a:cs typeface="微软雅黑" panose="020B0503020204020204" charset="-122"/>
              </a:rPr>
              <a:t>(CIES)</a:t>
            </a:r>
            <a:endParaRPr lang="en-US" altLang="zh-CN" sz="900">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900">
                <a:latin typeface="微软雅黑" panose="020B0503020204020204" charset="-122"/>
                <a:ea typeface="微软雅黑" panose="020B0503020204020204" charset="-122"/>
                <a:cs typeface="微软雅黑" panose="020B0503020204020204" charset="-122"/>
                <a:sym typeface="+mn-ea"/>
              </a:rPr>
              <a:t>白光光源显色品质评价指标：颜色偏好度与颜色分辨力</a:t>
            </a:r>
            <a:endParaRPr lang="zh-CN" altLang="en-US" sz="900">
              <a:latin typeface="微软雅黑" panose="020B0503020204020204" charset="-122"/>
              <a:ea typeface="微软雅黑" panose="020B0503020204020204" charset="-122"/>
              <a:cs typeface="微软雅黑" panose="020B0503020204020204" charset="-122"/>
              <a:sym typeface="+mn-ea"/>
            </a:endParaRPr>
          </a:p>
        </p:txBody>
      </p:sp>
      <p:pic>
        <p:nvPicPr>
          <p:cNvPr id="11" name="图片 10"/>
          <p:cNvPicPr>
            <a:picLocks noChangeAspect="1"/>
          </p:cNvPicPr>
          <p:nvPr/>
        </p:nvPicPr>
        <p:blipFill>
          <a:blip r:embed="rId1"/>
          <a:stretch>
            <a:fillRect/>
          </a:stretch>
        </p:blipFill>
        <p:spPr>
          <a:xfrm>
            <a:off x="4443281" y="901836"/>
            <a:ext cx="2469386" cy="1259774"/>
          </a:xfrm>
          <a:prstGeom prst="rect">
            <a:avLst/>
          </a:prstGeom>
        </p:spPr>
      </p:pic>
      <p:pic>
        <p:nvPicPr>
          <p:cNvPr id="13" name="图片 12"/>
          <p:cNvPicPr>
            <a:picLocks noChangeAspect="1"/>
          </p:cNvPicPr>
          <p:nvPr/>
        </p:nvPicPr>
        <p:blipFill>
          <a:blip r:embed="rId2"/>
          <a:stretch>
            <a:fillRect/>
          </a:stretch>
        </p:blipFill>
        <p:spPr>
          <a:xfrm>
            <a:off x="4443281" y="2192719"/>
            <a:ext cx="2468790" cy="1259934"/>
          </a:xfrm>
          <a:prstGeom prst="rect">
            <a:avLst/>
          </a:prstGeom>
        </p:spPr>
      </p:pic>
      <p:cxnSp>
        <p:nvCxnSpPr>
          <p:cNvPr id="6" name="直接连接符 5"/>
          <p:cNvCxnSpPr/>
          <p:nvPr/>
        </p:nvCxnSpPr>
        <p:spPr>
          <a:xfrm flipH="1">
            <a:off x="3996474" y="1071986"/>
            <a:ext cx="19684" cy="5011794"/>
          </a:xfrm>
          <a:prstGeom prst="line">
            <a:avLst/>
          </a:prstGeom>
        </p:spPr>
        <p:style>
          <a:lnRef idx="2">
            <a:schemeClr val="accent1"/>
          </a:lnRef>
          <a:fillRef idx="0">
            <a:srgbClr val="FFFFFF"/>
          </a:fillRef>
          <a:effectRef idx="0">
            <a:srgbClr val="FFFFFF"/>
          </a:effectRef>
          <a:fontRef idx="minor">
            <a:schemeClr val="tx1"/>
          </a:fontRef>
        </p:style>
      </p:cxnSp>
      <p:cxnSp>
        <p:nvCxnSpPr>
          <p:cNvPr id="14" name="直接连接符 13"/>
          <p:cNvCxnSpPr/>
          <p:nvPr/>
        </p:nvCxnSpPr>
        <p:spPr>
          <a:xfrm flipH="1">
            <a:off x="7338902" y="1071995"/>
            <a:ext cx="19684" cy="5011794"/>
          </a:xfrm>
          <a:prstGeom prst="line">
            <a:avLst/>
          </a:prstGeom>
        </p:spPr>
        <p:style>
          <a:lnRef idx="2">
            <a:schemeClr val="accent1"/>
          </a:lnRef>
          <a:fillRef idx="0">
            <a:srgbClr val="FFFFFF"/>
          </a:fillRef>
          <a:effectRef idx="0">
            <a:srgbClr val="FFFFFF"/>
          </a:effectRef>
          <a:fontRef idx="minor">
            <a:schemeClr val="tx1"/>
          </a:fontRef>
        </p:style>
      </p:cxnSp>
      <p:pic>
        <p:nvPicPr>
          <p:cNvPr id="51" name="图片 50" descr="医养大屏"/>
          <p:cNvPicPr>
            <a:picLocks noChangeAspect="1"/>
          </p:cNvPicPr>
          <p:nvPr>
            <p:custDataLst>
              <p:tags r:id="rId3"/>
            </p:custDataLst>
          </p:nvPr>
        </p:nvPicPr>
        <p:blipFill>
          <a:blip r:embed="rId4"/>
          <a:stretch>
            <a:fillRect/>
          </a:stretch>
        </p:blipFill>
        <p:spPr>
          <a:xfrm>
            <a:off x="7726680" y="1310640"/>
            <a:ext cx="3809365" cy="2141220"/>
          </a:xfrm>
          <a:prstGeom prst="rect">
            <a:avLst/>
          </a:prstGeom>
        </p:spPr>
      </p:pic>
      <p:sp>
        <p:nvSpPr>
          <p:cNvPr id="182" name="Google Shape;1295;p86"/>
          <p:cNvSpPr txBox="1"/>
          <p:nvPr>
            <p:custDataLst>
              <p:tags r:id="rId5"/>
            </p:custDataLst>
          </p:nvPr>
        </p:nvSpPr>
        <p:spPr>
          <a:xfrm flipH="1">
            <a:off x="10455275" y="3709034"/>
            <a:ext cx="1297940" cy="1081405"/>
          </a:xfrm>
          <a:prstGeom prst="rect">
            <a:avLst/>
          </a:prstGeom>
          <a:noFill/>
          <a:ln>
            <a:noFill/>
          </a:ln>
        </p:spPr>
        <p:txBody>
          <a:bodyPr spcFirstLastPara="1" wrap="square" lIns="91425" tIns="91425" rIns="91425" bIns="91425" anchor="ctr" anchorCtr="0">
            <a:noAutofit/>
          </a:bodyPr>
          <a:p>
            <a:pPr marL="0" lvl="0" algn="l" rtl="0">
              <a:lnSpc>
                <a:spcPct val="150000"/>
              </a:lnSpc>
              <a:spcBef>
                <a:spcPts val="0"/>
              </a:spcBef>
              <a:buClrTx/>
              <a:buSzTx/>
              <a:buFontTx/>
              <a:buNone/>
            </a:pPr>
            <a:r>
              <a:rPr lang="zh-CN" altLang="en-US" sz="1800" b="1">
                <a:solidFill>
                  <a:schemeClr val="tx1"/>
                </a:solidFill>
                <a:latin typeface="微软雅黑" panose="020B0503020204020204" charset="-122"/>
                <a:ea typeface="微软雅黑" panose="020B0503020204020204" charset="-122"/>
                <a:cs typeface="微软雅黑" panose="020B0503020204020204" charset="-122"/>
                <a:sym typeface="DM Serif Display"/>
              </a:rPr>
              <a:t>安全</a:t>
            </a:r>
            <a:endParaRPr lang="zh-CN" altLang="en-US" sz="1600" b="1">
              <a:solidFill>
                <a:schemeClr val="tx1"/>
              </a:solidFill>
              <a:latin typeface="微软雅黑" panose="020B0503020204020204" charset="-122"/>
              <a:ea typeface="微软雅黑" panose="020B0503020204020204" charset="-122"/>
              <a:cs typeface="微软雅黑" panose="020B0503020204020204" charset="-122"/>
              <a:sym typeface="DM Serif Display"/>
            </a:endParaRPr>
          </a:p>
          <a:p>
            <a:pPr algn="l">
              <a:lnSpc>
                <a:spcPct val="150000"/>
              </a:lnSpc>
              <a:spcBef>
                <a:spcPts val="0"/>
              </a:spcBef>
              <a:buClrTx/>
              <a:buSzTx/>
              <a:buNone/>
            </a:pPr>
            <a:r>
              <a:rPr lang="en-US" altLang="zh-CN" sz="1400">
                <a:latin typeface="微软雅黑" panose="020B0503020204020204" charset="-122"/>
                <a:ea typeface="微软雅黑" panose="020B0503020204020204" charset="-122"/>
                <a:cs typeface="微软雅黑" panose="020B0503020204020204" charset="-122"/>
                <a:sym typeface="Open Sans Light"/>
              </a:rPr>
              <a:t>应急疏散</a:t>
            </a:r>
            <a:endParaRPr lang="en-US" altLang="zh-CN" sz="1400">
              <a:solidFill>
                <a:schemeClr val="tx1"/>
              </a:solidFill>
              <a:latin typeface="微软雅黑" panose="020B0503020204020204" charset="-122"/>
              <a:ea typeface="微软雅黑" panose="020B0503020204020204" charset="-122"/>
              <a:cs typeface="微软雅黑" panose="020B0503020204020204" charset="-122"/>
              <a:sym typeface="Open Sans Light"/>
            </a:endParaRPr>
          </a:p>
          <a:p>
            <a:pPr algn="l">
              <a:lnSpc>
                <a:spcPct val="150000"/>
              </a:lnSpc>
              <a:spcBef>
                <a:spcPts val="0"/>
              </a:spcBef>
              <a:buClrTx/>
              <a:buSzTx/>
              <a:buNone/>
            </a:pPr>
            <a:r>
              <a:rPr lang="en-US" altLang="zh-CN" sz="1400">
                <a:latin typeface="微软雅黑" panose="020B0503020204020204" charset="-122"/>
                <a:ea typeface="微软雅黑" panose="020B0503020204020204" charset="-122"/>
                <a:cs typeface="微软雅黑" panose="020B0503020204020204" charset="-122"/>
                <a:sym typeface="Open Sans Light"/>
              </a:rPr>
              <a:t>单灯设备监测</a:t>
            </a:r>
            <a:endParaRPr lang="en-US" altLang="zh-CN" sz="1400">
              <a:solidFill>
                <a:schemeClr val="tx1"/>
              </a:solidFill>
              <a:latin typeface="微软雅黑" panose="020B0503020204020204" charset="-122"/>
              <a:ea typeface="微软雅黑" panose="020B0503020204020204" charset="-122"/>
              <a:cs typeface="微软雅黑" panose="020B0503020204020204" charset="-122"/>
              <a:sym typeface="DM Serif Display"/>
            </a:endParaRPr>
          </a:p>
        </p:txBody>
      </p:sp>
      <p:sp>
        <p:nvSpPr>
          <p:cNvPr id="183" name="Google Shape;1295;p86"/>
          <p:cNvSpPr txBox="1"/>
          <p:nvPr>
            <p:custDataLst>
              <p:tags r:id="rId6"/>
            </p:custDataLst>
          </p:nvPr>
        </p:nvSpPr>
        <p:spPr>
          <a:xfrm flipH="1">
            <a:off x="7581900" y="3709034"/>
            <a:ext cx="1452880" cy="1395730"/>
          </a:xfrm>
          <a:prstGeom prst="rect">
            <a:avLst/>
          </a:prstGeom>
          <a:noFill/>
          <a:ln>
            <a:noFill/>
          </a:ln>
        </p:spPr>
        <p:txBody>
          <a:bodyPr spcFirstLastPara="1" wrap="square" lIns="91425" tIns="91425" rIns="91425" bIns="91425" anchor="ctr" anchorCtr="0">
            <a:noAutofit/>
          </a:bodyPr>
          <a:p>
            <a:pPr marL="0" lvl="0" algn="l" rtl="0">
              <a:lnSpc>
                <a:spcPct val="150000"/>
              </a:lnSpc>
              <a:spcBef>
                <a:spcPts val="0"/>
              </a:spcBef>
              <a:buClrTx/>
              <a:buSzTx/>
              <a:buFontTx/>
              <a:buNone/>
            </a:pPr>
            <a:r>
              <a:rPr lang="zh-CN" altLang="en-US" sz="1800" b="1">
                <a:solidFill>
                  <a:schemeClr val="tx1"/>
                </a:solidFill>
                <a:latin typeface="微软雅黑" panose="020B0503020204020204" charset="-122"/>
                <a:ea typeface="微软雅黑" panose="020B0503020204020204" charset="-122"/>
                <a:cs typeface="微软雅黑" panose="020B0503020204020204" charset="-122"/>
                <a:sym typeface="DM Serif Display"/>
              </a:rPr>
              <a:t>节能</a:t>
            </a:r>
            <a:endParaRPr lang="zh-CN" altLang="en-US" sz="1600" b="1">
              <a:solidFill>
                <a:schemeClr val="tx1"/>
              </a:solidFill>
              <a:latin typeface="微软雅黑" panose="020B0503020204020204" charset="-122"/>
              <a:ea typeface="微软雅黑" panose="020B0503020204020204" charset="-122"/>
              <a:cs typeface="微软雅黑" panose="020B0503020204020204" charset="-122"/>
              <a:sym typeface="DM Serif Display"/>
            </a:endParaRPr>
          </a:p>
          <a:p>
            <a:pPr marL="0" marR="0" lvl="0" algn="l" rtl="0">
              <a:lnSpc>
                <a:spcPct val="150000"/>
              </a:lnSpc>
              <a:spcBef>
                <a:spcPts val="0"/>
              </a:spcBef>
              <a:buClrTx/>
              <a:buSzTx/>
              <a:buNone/>
            </a:pPr>
            <a:r>
              <a:rPr lang="en-US" altLang="zh-CN" sz="1400">
                <a:latin typeface="微软雅黑" panose="020B0503020204020204" charset="-122"/>
                <a:ea typeface="微软雅黑" panose="020B0503020204020204" charset="-122"/>
                <a:cs typeface="微软雅黑" panose="020B0503020204020204" charset="-122"/>
                <a:sym typeface="Open Sans Light"/>
              </a:rPr>
              <a:t>自适应照明系统</a:t>
            </a:r>
            <a:endParaRPr lang="en-US" altLang="zh-CN" sz="1400">
              <a:solidFill>
                <a:schemeClr val="tx1"/>
              </a:solidFill>
              <a:latin typeface="微软雅黑" panose="020B0503020204020204" charset="-122"/>
              <a:ea typeface="微软雅黑" panose="020B0503020204020204" charset="-122"/>
              <a:cs typeface="微软雅黑" panose="020B0503020204020204" charset="-122"/>
              <a:sym typeface="Open Sans Light"/>
            </a:endParaRPr>
          </a:p>
          <a:p>
            <a:pPr marL="0" marR="0" lvl="0" algn="l" rtl="0">
              <a:lnSpc>
                <a:spcPct val="150000"/>
              </a:lnSpc>
              <a:spcBef>
                <a:spcPts val="0"/>
              </a:spcBef>
              <a:buClrTx/>
              <a:buSzTx/>
              <a:buNone/>
            </a:pPr>
            <a:r>
              <a:rPr lang="en-US" altLang="zh-CN" sz="1400">
                <a:latin typeface="微软雅黑" panose="020B0503020204020204" charset="-122"/>
                <a:ea typeface="微软雅黑" panose="020B0503020204020204" charset="-122"/>
                <a:cs typeface="微软雅黑" panose="020B0503020204020204" charset="-122"/>
                <a:sym typeface="Open Sans Light"/>
              </a:rPr>
              <a:t>时间控制</a:t>
            </a:r>
            <a:endParaRPr lang="en-US" altLang="zh-CN" sz="1400">
              <a:solidFill>
                <a:schemeClr val="tx1"/>
              </a:solidFill>
              <a:latin typeface="微软雅黑" panose="020B0503020204020204" charset="-122"/>
              <a:ea typeface="微软雅黑" panose="020B0503020204020204" charset="-122"/>
              <a:cs typeface="微软雅黑" panose="020B0503020204020204" charset="-122"/>
              <a:sym typeface="Open Sans Light"/>
            </a:endParaRPr>
          </a:p>
          <a:p>
            <a:pPr marL="0" marR="0" lvl="0" algn="l" rtl="0">
              <a:lnSpc>
                <a:spcPct val="150000"/>
              </a:lnSpc>
              <a:spcBef>
                <a:spcPts val="0"/>
              </a:spcBef>
              <a:buClrTx/>
              <a:buSzTx/>
              <a:buNone/>
            </a:pPr>
            <a:r>
              <a:rPr lang="en-US" altLang="zh-CN" sz="1400">
                <a:latin typeface="微软雅黑" panose="020B0503020204020204" charset="-122"/>
                <a:ea typeface="微软雅黑" panose="020B0503020204020204" charset="-122"/>
                <a:cs typeface="微软雅黑" panose="020B0503020204020204" charset="-122"/>
                <a:sym typeface="Open Sans Light"/>
              </a:rPr>
              <a:t>感应控制</a:t>
            </a:r>
            <a:endParaRPr lang="en-US" altLang="zh-CN" sz="1400">
              <a:solidFill>
                <a:schemeClr val="tx1"/>
              </a:solidFill>
              <a:latin typeface="微软雅黑" panose="020B0503020204020204" charset="-122"/>
              <a:ea typeface="微软雅黑" panose="020B0503020204020204" charset="-122"/>
              <a:cs typeface="微软雅黑" panose="020B0503020204020204" charset="-122"/>
              <a:sym typeface="Open Sans Light"/>
            </a:endParaRPr>
          </a:p>
        </p:txBody>
      </p:sp>
      <p:sp>
        <p:nvSpPr>
          <p:cNvPr id="184" name="Google Shape;1295;p86"/>
          <p:cNvSpPr txBox="1"/>
          <p:nvPr>
            <p:custDataLst>
              <p:tags r:id="rId7"/>
            </p:custDataLst>
          </p:nvPr>
        </p:nvSpPr>
        <p:spPr>
          <a:xfrm flipH="1">
            <a:off x="8956675" y="3709034"/>
            <a:ext cx="1489075" cy="1395730"/>
          </a:xfrm>
          <a:prstGeom prst="rect">
            <a:avLst/>
          </a:prstGeom>
          <a:noFill/>
          <a:ln>
            <a:noFill/>
          </a:ln>
        </p:spPr>
        <p:txBody>
          <a:bodyPr spcFirstLastPara="1" wrap="square" lIns="91425" tIns="91425" rIns="91425" bIns="91425" anchor="ctr" anchorCtr="0">
            <a:noAutofit/>
          </a:bodyPr>
          <a:p>
            <a:pPr marL="0" lvl="0" algn="l" rtl="0">
              <a:lnSpc>
                <a:spcPct val="150000"/>
              </a:lnSpc>
              <a:spcBef>
                <a:spcPts val="0"/>
              </a:spcBef>
              <a:buClrTx/>
              <a:buSzTx/>
              <a:buFontTx/>
              <a:buNone/>
            </a:pPr>
            <a:r>
              <a:rPr lang="zh-CN" altLang="en-US" sz="1800" b="1">
                <a:solidFill>
                  <a:schemeClr val="tx1"/>
                </a:solidFill>
                <a:latin typeface="微软雅黑" panose="020B0503020204020204" charset="-122"/>
                <a:ea typeface="微软雅黑" panose="020B0503020204020204" charset="-122"/>
                <a:cs typeface="微软雅黑" panose="020B0503020204020204" charset="-122"/>
                <a:sym typeface="DM Serif Display"/>
              </a:rPr>
              <a:t>集中管理</a:t>
            </a:r>
            <a:endParaRPr lang="zh-CN" altLang="en-US" sz="1600" b="1">
              <a:solidFill>
                <a:schemeClr val="tx1"/>
              </a:solidFill>
              <a:latin typeface="微软雅黑" panose="020B0503020204020204" charset="-122"/>
              <a:ea typeface="微软雅黑" panose="020B0503020204020204" charset="-122"/>
              <a:cs typeface="微软雅黑" panose="020B0503020204020204" charset="-122"/>
              <a:sym typeface="DM Serif Display"/>
            </a:endParaRPr>
          </a:p>
          <a:p>
            <a:pPr marR="0" lvl="0" algn="l">
              <a:lnSpc>
                <a:spcPct val="150000"/>
              </a:lnSpc>
              <a:spcBef>
                <a:spcPts val="0"/>
              </a:spcBef>
              <a:buClrTx/>
              <a:buSzTx/>
              <a:buNone/>
            </a:pPr>
            <a:r>
              <a:rPr lang="en-US" altLang="zh-CN" sz="1400">
                <a:latin typeface="微软雅黑" panose="020B0503020204020204" charset="-122"/>
                <a:ea typeface="微软雅黑" panose="020B0503020204020204" charset="-122"/>
                <a:cs typeface="微软雅黑" panose="020B0503020204020204" charset="-122"/>
                <a:sym typeface="Open Sans Light"/>
              </a:rPr>
              <a:t>可视化能耗监测</a:t>
            </a:r>
            <a:endParaRPr lang="en-US" altLang="zh-CN" sz="1400">
              <a:solidFill>
                <a:schemeClr val="tx1"/>
              </a:solidFill>
              <a:latin typeface="微软雅黑" panose="020B0503020204020204" charset="-122"/>
              <a:ea typeface="微软雅黑" panose="020B0503020204020204" charset="-122"/>
              <a:cs typeface="微软雅黑" panose="020B0503020204020204" charset="-122"/>
              <a:sym typeface="Open Sans Light"/>
            </a:endParaRPr>
          </a:p>
          <a:p>
            <a:pPr marR="0" lvl="0" algn="l">
              <a:lnSpc>
                <a:spcPct val="150000"/>
              </a:lnSpc>
              <a:spcBef>
                <a:spcPts val="0"/>
              </a:spcBef>
              <a:buClrTx/>
              <a:buSzTx/>
              <a:buNone/>
            </a:pPr>
            <a:r>
              <a:rPr lang="en-US" altLang="zh-CN" sz="1400">
                <a:latin typeface="微软雅黑" panose="020B0503020204020204" charset="-122"/>
                <a:ea typeface="微软雅黑" panose="020B0503020204020204" charset="-122"/>
                <a:cs typeface="微软雅黑" panose="020B0503020204020204" charset="-122"/>
                <a:sym typeface="Open Sans Light"/>
              </a:rPr>
              <a:t>远程控制</a:t>
            </a:r>
            <a:endParaRPr lang="en-US" altLang="zh-CN" sz="1400">
              <a:solidFill>
                <a:schemeClr val="tx1"/>
              </a:solidFill>
              <a:latin typeface="微软雅黑" panose="020B0503020204020204" charset="-122"/>
              <a:ea typeface="微软雅黑" panose="020B0503020204020204" charset="-122"/>
              <a:cs typeface="微软雅黑" panose="020B0503020204020204" charset="-122"/>
              <a:sym typeface="Open Sans Light"/>
            </a:endParaRPr>
          </a:p>
          <a:p>
            <a:pPr marL="0" lvl="0" algn="l" rtl="0">
              <a:lnSpc>
                <a:spcPct val="150000"/>
              </a:lnSpc>
              <a:spcBef>
                <a:spcPts val="0"/>
              </a:spcBef>
              <a:buClrTx/>
              <a:buSzTx/>
              <a:buNone/>
            </a:pPr>
            <a:r>
              <a:rPr lang="en-US" altLang="zh-CN" sz="1400">
                <a:latin typeface="微软雅黑" panose="020B0503020204020204" charset="-122"/>
                <a:ea typeface="微软雅黑" panose="020B0503020204020204" charset="-122"/>
                <a:cs typeface="微软雅黑" panose="020B0503020204020204" charset="-122"/>
                <a:sym typeface="Open Sans Light"/>
              </a:rPr>
              <a:t>运维提效</a:t>
            </a:r>
            <a:endParaRPr lang="en-US" altLang="zh-CN" sz="1400">
              <a:solidFill>
                <a:schemeClr val="tx1"/>
              </a:solidFill>
              <a:latin typeface="微软雅黑" panose="020B0503020204020204" charset="-122"/>
              <a:ea typeface="微软雅黑" panose="020B0503020204020204" charset="-122"/>
              <a:cs typeface="微软雅黑" panose="020B0503020204020204" charset="-122"/>
              <a:sym typeface="DM Serif Display"/>
            </a:endParaRPr>
          </a:p>
        </p:txBody>
      </p:sp>
      <p:pic>
        <p:nvPicPr>
          <p:cNvPr id="4" name="图片 3"/>
          <p:cNvPicPr>
            <a:picLocks noChangeAspect="1"/>
          </p:cNvPicPr>
          <p:nvPr/>
        </p:nvPicPr>
        <p:blipFill>
          <a:blip r:embed="rId8"/>
          <a:stretch>
            <a:fillRect/>
          </a:stretch>
        </p:blipFill>
        <p:spPr>
          <a:xfrm>
            <a:off x="72390" y="1148715"/>
            <a:ext cx="3856355" cy="230378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textbox 8"/>
          <p:cNvSpPr/>
          <p:nvPr/>
        </p:nvSpPr>
        <p:spPr>
          <a:xfrm>
            <a:off x="2937992" y="2949600"/>
            <a:ext cx="2154443" cy="1696632"/>
          </a:xfrm>
          <a:prstGeom prst="rect">
            <a:avLst/>
          </a:prstGeom>
          <a:noFill/>
          <a:ln w="0" cap="flat">
            <a:noFill/>
            <a:prstDash val="solid"/>
            <a:miter lim="0"/>
          </a:ln>
        </p:spPr>
        <p:txBody>
          <a:bodyPr vert="horz" wrap="square" lIns="0" tIns="0" rIns="0" bIns="0"/>
          <a:p>
            <a:pPr algn="l" rtl="0" eaLnBrk="0">
              <a:lnSpc>
                <a:spcPct val="150000"/>
              </a:lnSpc>
            </a:pPr>
            <a:r>
              <a:rPr sz="14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灵活精准光的呈现</a:t>
            </a:r>
            <a:endParaRPr sz="14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algn="l" rtl="0" eaLnBrk="0">
              <a:lnSpc>
                <a:spcPct val="150000"/>
              </a:lnSpc>
            </a:pPr>
            <a:r>
              <a:rPr sz="1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时空的变化、环境的迁移，对光环境都会</a:t>
            </a:r>
            <a:r>
              <a:rPr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提出不</a:t>
            </a:r>
            <a:r>
              <a:rPr sz="1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同的要求，作为空间的</a:t>
            </a:r>
            <a:r>
              <a:rPr sz="1000" kern="0" dirty="0">
                <a:solidFill>
                  <a:srgbClr val="000000">
                    <a:alpha val="100000"/>
                  </a:srgbClr>
                </a:solidFill>
                <a:latin typeface="微软雅黑" panose="020B0503020204020204" charset="-122"/>
                <a:ea typeface="微软雅黑" panose="020B0503020204020204" charset="-122"/>
                <a:cs typeface="微软雅黑" panose="020B0503020204020204" charset="-122"/>
              </a:rPr>
              <a:t>一个</a:t>
            </a:r>
            <a:r>
              <a:rPr sz="1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重要维度</a:t>
            </a:r>
            <a:r>
              <a:rPr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：光，需要</a:t>
            </a:r>
            <a:r>
              <a:rPr sz="10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不同的颜色、强弱和表现</a:t>
            </a:r>
            <a:r>
              <a:rPr sz="10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手法，</a:t>
            </a:r>
            <a:r>
              <a:rPr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SDL</a:t>
            </a:r>
            <a:r>
              <a:rPr sz="10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智慧光谱</a:t>
            </a:r>
            <a:r>
              <a:rPr sz="1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可定制出最精准的光。</a:t>
            </a:r>
            <a:endParaRPr sz="1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
        <p:nvSpPr>
          <p:cNvPr id="12" name="textbox 12"/>
          <p:cNvSpPr/>
          <p:nvPr/>
        </p:nvSpPr>
        <p:spPr>
          <a:xfrm>
            <a:off x="367011" y="2949600"/>
            <a:ext cx="2235084" cy="1778542"/>
          </a:xfrm>
          <a:prstGeom prst="rect">
            <a:avLst/>
          </a:prstGeom>
          <a:noFill/>
          <a:ln w="0" cap="flat">
            <a:noFill/>
            <a:prstDash val="solid"/>
            <a:miter lim="0"/>
          </a:ln>
        </p:spPr>
        <p:txBody>
          <a:bodyPr vert="horz" wrap="square" lIns="0" tIns="0" rIns="0" bIns="0"/>
          <a:p>
            <a:pPr algn="l" rtl="0" eaLnBrk="0">
              <a:lnSpc>
                <a:spcPct val="150000"/>
              </a:lnSpc>
            </a:pP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高品质的全光谱和广覆</a:t>
            </a:r>
            <a:r>
              <a:rPr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盖</a:t>
            </a:r>
            <a:endParaRPr sz="1400" dirty="0">
              <a:latin typeface="微软雅黑" panose="020B0503020204020204" charset="-122"/>
              <a:ea typeface="微软雅黑" panose="020B0503020204020204" charset="-122"/>
              <a:cs typeface="微软雅黑" panose="020B0503020204020204" charset="-122"/>
            </a:endParaRPr>
          </a:p>
          <a:p>
            <a:pPr marL="12700" algn="l" rtl="0" eaLnBrk="0">
              <a:lnSpc>
                <a:spcPct val="150000"/>
              </a:lnSpc>
              <a:spcBef>
                <a:spcPts val="220"/>
              </a:spcBef>
            </a:pPr>
            <a:r>
              <a:rPr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SDL</a:t>
            </a:r>
            <a:r>
              <a:rPr sz="10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智慧光谱技术结合算法和特制的芯片组</a:t>
            </a:r>
            <a:r>
              <a:rPr sz="1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合，获得优秀的光品质，各种色温的白光品显</a:t>
            </a:r>
            <a:r>
              <a:rPr sz="10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色性都达到最优级，更</a:t>
            </a:r>
            <a:r>
              <a:rPr sz="1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与专业大学科研机构的</a:t>
            </a:r>
            <a:r>
              <a:rPr sz="1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共创研究，在光的喜好度及分辨率评价方面更</a:t>
            </a:r>
            <a:r>
              <a:rPr sz="10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是独树一帜。</a:t>
            </a:r>
            <a:endParaRPr sz="10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
        <p:nvSpPr>
          <p:cNvPr id="14" name="textbox 14"/>
          <p:cNvSpPr/>
          <p:nvPr/>
        </p:nvSpPr>
        <p:spPr>
          <a:xfrm>
            <a:off x="5428332" y="2949600"/>
            <a:ext cx="1756319" cy="1778542"/>
          </a:xfrm>
          <a:prstGeom prst="rect">
            <a:avLst/>
          </a:prstGeom>
          <a:noFill/>
          <a:ln w="0" cap="flat">
            <a:noFill/>
            <a:prstDash val="solid"/>
            <a:miter lim="0"/>
          </a:ln>
        </p:spPr>
        <p:txBody>
          <a:bodyPr vert="horz" wrap="square" lIns="0" tIns="0" rIns="0" bIns="0"/>
          <a:p>
            <a:pPr algn="l" rtl="0" eaLnBrk="0">
              <a:lnSpc>
                <a:spcPct val="150000"/>
              </a:lnSpc>
            </a:pPr>
            <a:r>
              <a:rPr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人因照明的应用</a:t>
            </a:r>
            <a:endParaRPr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algn="l" rtl="0" eaLnBrk="0">
              <a:lnSpc>
                <a:spcPct val="150000"/>
              </a:lnSpc>
            </a:pPr>
            <a:r>
              <a:rPr sz="1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从视觉、生理和情绪出发，可实现真正的</a:t>
            </a:r>
            <a:r>
              <a:rPr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动态照</a:t>
            </a:r>
            <a:r>
              <a:rPr sz="1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明，以科技融合健康光学与视觉感知</a:t>
            </a:r>
            <a:r>
              <a:rPr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，结合人体</a:t>
            </a:r>
            <a:r>
              <a:rPr sz="10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生物节律，改善身心健康和提升生活、工作质</a:t>
            </a:r>
            <a:r>
              <a:rPr sz="10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量。</a:t>
            </a:r>
            <a:endParaRPr sz="10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
        <p:nvSpPr>
          <p:cNvPr id="18" name="textbox 18"/>
          <p:cNvSpPr/>
          <p:nvPr/>
        </p:nvSpPr>
        <p:spPr>
          <a:xfrm>
            <a:off x="7520548" y="2949600"/>
            <a:ext cx="2205875" cy="1692822"/>
          </a:xfrm>
          <a:prstGeom prst="rect">
            <a:avLst/>
          </a:prstGeom>
          <a:noFill/>
          <a:ln w="0" cap="flat">
            <a:noFill/>
            <a:prstDash val="solid"/>
            <a:miter lim="0"/>
          </a:ln>
        </p:spPr>
        <p:txBody>
          <a:bodyPr vert="horz" wrap="square" lIns="0" tIns="0" rIns="0" bIns="0"/>
          <a:p>
            <a:pPr algn="l" rtl="0" eaLnBrk="0">
              <a:lnSpc>
                <a:spcPct val="150000"/>
              </a:lnSpc>
            </a:pP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光成为创作媒介和艺术装置</a:t>
            </a:r>
            <a:r>
              <a:rPr sz="10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融合艺术、建筑与空间，SDL智慧光谱技术</a:t>
            </a:r>
            <a:r>
              <a:rPr sz="10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把人、</a:t>
            </a:r>
            <a:r>
              <a:rPr sz="1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空间、时间进行联结，呈现不同的景象、时态和</a:t>
            </a:r>
            <a:r>
              <a:rPr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动态，在艺术表达上开拓新的路径。</a:t>
            </a:r>
            <a:endParaRPr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
        <p:nvSpPr>
          <p:cNvPr id="22" name="textbox 22"/>
          <p:cNvSpPr/>
          <p:nvPr/>
        </p:nvSpPr>
        <p:spPr>
          <a:xfrm>
            <a:off x="10062321" y="2949600"/>
            <a:ext cx="1657899" cy="1779177"/>
          </a:xfrm>
          <a:prstGeom prst="rect">
            <a:avLst/>
          </a:prstGeom>
          <a:noFill/>
          <a:ln w="0" cap="flat">
            <a:noFill/>
            <a:prstDash val="solid"/>
            <a:miter lim="0"/>
          </a:ln>
        </p:spPr>
        <p:txBody>
          <a:bodyPr vert="horz" wrap="square" lIns="0" tIns="0" rIns="0" bIns="0"/>
          <a:p>
            <a:pPr algn="l" rtl="0" eaLnBrk="0">
              <a:lnSpc>
                <a:spcPct val="150000"/>
              </a:lnSpc>
            </a:pPr>
            <a:r>
              <a:rPr sz="1400" b="1"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数字智能控制</a:t>
            </a:r>
            <a:endParaRPr sz="1400" b="1"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algn="l" rtl="0" eaLnBrk="0">
              <a:lnSpc>
                <a:spcPct val="150000"/>
              </a:lnSpc>
            </a:pPr>
            <a:r>
              <a:rPr sz="1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通过数字软件控制，可获得延黑体辐射曲线的白光或所有</a:t>
            </a:r>
            <a:r>
              <a:rPr sz="10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色域高品质的彩色光，同时从视觉延</a:t>
            </a:r>
            <a:r>
              <a:rPr sz="1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伸到听觉，结合调谐</a:t>
            </a:r>
            <a:r>
              <a:rPr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声音，与光同频，获</a:t>
            </a:r>
            <a:r>
              <a:rPr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得</a:t>
            </a:r>
            <a:r>
              <a:rPr lang="zh-CN"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视觉</a:t>
            </a:r>
            <a:r>
              <a:rPr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效果。</a:t>
            </a:r>
            <a:endParaRPr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
        <p:nvSpPr>
          <p:cNvPr id="6" name="textbox 6"/>
          <p:cNvSpPr/>
          <p:nvPr/>
        </p:nvSpPr>
        <p:spPr>
          <a:xfrm>
            <a:off x="230493" y="1028190"/>
            <a:ext cx="9287661" cy="1820450"/>
          </a:xfrm>
          <a:prstGeom prst="rect">
            <a:avLst/>
          </a:prstGeom>
          <a:noFill/>
          <a:ln w="0" cap="flat">
            <a:noFill/>
            <a:prstDash val="solid"/>
            <a:miter lim="0"/>
          </a:ln>
        </p:spPr>
        <p:txBody>
          <a:bodyPr vert="horz" wrap="square" lIns="0" tIns="0" rIns="0" bIns="0"/>
          <a:p>
            <a:pPr algn="l" rtl="0" eaLnBrk="0">
              <a:lnSpc>
                <a:spcPct val="150000"/>
              </a:lnSpc>
            </a:pPr>
            <a:r>
              <a:rPr lang="en-US" sz="1400" kern="0" spc="0" dirty="0">
                <a:solidFill>
                  <a:schemeClr val="tx1">
                    <a:alpha val="100000"/>
                  </a:schemeClr>
                </a:solidFill>
                <a:latin typeface="微软雅黑" panose="020B0503020204020204" charset="-122"/>
                <a:ea typeface="微软雅黑" panose="020B0503020204020204" charset="-122"/>
                <a:cs typeface="微软雅黑" panose="020B0503020204020204" charset="-122"/>
              </a:rPr>
              <a:t>       </a:t>
            </a:r>
            <a:r>
              <a:rPr sz="1400" kern="0" spc="0" dirty="0">
                <a:solidFill>
                  <a:schemeClr val="tx1">
                    <a:alpha val="100000"/>
                  </a:schemeClr>
                </a:solidFill>
                <a:latin typeface="微软雅黑" panose="020B0503020204020204" charset="-122"/>
                <a:ea typeface="微软雅黑" panose="020B0503020204020204" charset="-122"/>
                <a:cs typeface="微软雅黑" panose="020B0503020204020204" charset="-122"/>
              </a:rPr>
              <a:t>SDL</a:t>
            </a:r>
            <a:r>
              <a:rPr sz="1400" kern="0" spc="10" dirty="0">
                <a:solidFill>
                  <a:schemeClr val="tx1">
                    <a:alpha val="100000"/>
                  </a:schemeClr>
                </a:solidFill>
                <a:latin typeface="微软雅黑" panose="020B0503020204020204" charset="-122"/>
                <a:ea typeface="微软雅黑" panose="020B0503020204020204" charset="-122"/>
                <a:cs typeface="微软雅黑" panose="020B0503020204020204" charset="-122"/>
              </a:rPr>
              <a:t>智慧光谱技术，是以软件算法驱动照明，通过自主独</a:t>
            </a:r>
            <a:r>
              <a:rPr sz="1400" kern="0" spc="0" dirty="0">
                <a:solidFill>
                  <a:schemeClr val="tx1">
                    <a:alpha val="100000"/>
                  </a:schemeClr>
                </a:solidFill>
                <a:latin typeface="微软雅黑" panose="020B0503020204020204" charset="-122"/>
                <a:ea typeface="微软雅黑" panose="020B0503020204020204" charset="-122"/>
                <a:cs typeface="微软雅黑" panose="020B0503020204020204" charset="-122"/>
              </a:rPr>
              <a:t>立研发的光学引擎，输出接近自然光光色的光谱。通过</a:t>
            </a:r>
            <a:r>
              <a:rPr sz="1400" kern="0" spc="20" dirty="0">
                <a:solidFill>
                  <a:schemeClr val="tx1">
                    <a:alpha val="100000"/>
                  </a:schemeClr>
                </a:solidFill>
                <a:latin typeface="微软雅黑" panose="020B0503020204020204" charset="-122"/>
                <a:ea typeface="微软雅黑" panose="020B0503020204020204" charset="-122"/>
                <a:cs typeface="微软雅黑" panose="020B0503020204020204" charset="-122"/>
              </a:rPr>
              <a:t>算法中台调控，能够做到1800K-</a:t>
            </a:r>
            <a:r>
              <a:rPr sz="1400" kern="0" spc="10" dirty="0">
                <a:solidFill>
                  <a:schemeClr val="tx1">
                    <a:alpha val="100000"/>
                  </a:schemeClr>
                </a:solidFill>
                <a:latin typeface="微软雅黑" panose="020B0503020204020204" charset="-122"/>
                <a:ea typeface="微软雅黑" panose="020B0503020204020204" charset="-122"/>
                <a:cs typeface="微软雅黑" panose="020B0503020204020204" charset="-122"/>
              </a:rPr>
              <a:t>12000K色温段，同时做到超广色域，以及领先的高显指的光学亮点。从生理节律及心理层面积极呼应，通过算法控制</a:t>
            </a:r>
            <a:r>
              <a:rPr sz="1400" kern="0" spc="0" dirty="0">
                <a:solidFill>
                  <a:schemeClr val="tx1">
                    <a:alpha val="100000"/>
                  </a:schemeClr>
                </a:solidFill>
                <a:latin typeface="微软雅黑" panose="020B0503020204020204" charset="-122"/>
                <a:ea typeface="微软雅黑" panose="020B0503020204020204" charset="-122"/>
                <a:cs typeface="微软雅黑" panose="020B0503020204020204" charset="-122"/>
              </a:rPr>
              <a:t>，打破时间和空间的限制，根据实际场景需求，生成定制化的光环境。</a:t>
            </a:r>
            <a:endParaRPr sz="1400" dirty="0">
              <a:solidFill>
                <a:schemeClr val="tx1"/>
              </a:solidFill>
              <a:latin typeface="微软雅黑" panose="020B0503020204020204" charset="-122"/>
              <a:ea typeface="微软雅黑" panose="020B0503020204020204" charset="-122"/>
              <a:cs typeface="微软雅黑" panose="020B0503020204020204" charset="-122"/>
            </a:endParaRPr>
          </a:p>
          <a:p>
            <a:pPr marL="12700" algn="l" rtl="0" eaLnBrk="0">
              <a:lnSpc>
                <a:spcPct val="150000"/>
              </a:lnSpc>
              <a:spcBef>
                <a:spcPts val="675"/>
              </a:spcBef>
            </a:pPr>
            <a:r>
              <a:rPr lang="en-US" sz="1400" kern="0" spc="10" dirty="0">
                <a:solidFill>
                  <a:schemeClr val="tx1">
                    <a:alpha val="100000"/>
                  </a:schemeClr>
                </a:solidFill>
                <a:latin typeface="微软雅黑" panose="020B0503020204020204" charset="-122"/>
                <a:ea typeface="微软雅黑" panose="020B0503020204020204" charset="-122"/>
                <a:cs typeface="微软雅黑" panose="020B0503020204020204" charset="-122"/>
              </a:rPr>
              <a:t>       </a:t>
            </a:r>
            <a:r>
              <a:rPr sz="1400" kern="0" spc="10" dirty="0">
                <a:solidFill>
                  <a:schemeClr val="tx1">
                    <a:alpha val="100000"/>
                  </a:schemeClr>
                </a:solidFill>
                <a:latin typeface="微软雅黑" panose="020B0503020204020204" charset="-122"/>
                <a:ea typeface="微软雅黑" panose="020B0503020204020204" charset="-122"/>
                <a:cs typeface="微软雅黑" panose="020B0503020204020204" charset="-122"/>
              </a:rPr>
              <a:t>通过追踪日升日落自然光的轨迹，再进行数据分析，还原全场景自然光，且不失真，呈现出上亿种色彩调制</a:t>
            </a:r>
            <a:r>
              <a:rPr sz="1400" kern="0" spc="0" dirty="0">
                <a:solidFill>
                  <a:schemeClr val="tx1">
                    <a:alpha val="100000"/>
                  </a:schemeClr>
                </a:solidFill>
                <a:latin typeface="微软雅黑" panose="020B0503020204020204" charset="-122"/>
                <a:ea typeface="微软雅黑" panose="020B0503020204020204" charset="-122"/>
                <a:cs typeface="微软雅黑" panose="020B0503020204020204" charset="-122"/>
              </a:rPr>
              <a:t>，光</a:t>
            </a:r>
            <a:r>
              <a:rPr sz="1400" kern="0" spc="10" dirty="0">
                <a:solidFill>
                  <a:schemeClr val="tx1">
                    <a:alpha val="100000"/>
                  </a:schemeClr>
                </a:solidFill>
                <a:latin typeface="微软雅黑" panose="020B0503020204020204" charset="-122"/>
                <a:ea typeface="微软雅黑" panose="020B0503020204020204" charset="-122"/>
                <a:cs typeface="微软雅黑" panose="020B0503020204020204" charset="-122"/>
              </a:rPr>
              <a:t>线质感如水彩般柔和清澈，能够实现一年四</a:t>
            </a:r>
            <a:r>
              <a:rPr sz="1400" kern="0" spc="0" dirty="0">
                <a:solidFill>
                  <a:schemeClr val="tx1">
                    <a:alpha val="100000"/>
                  </a:schemeClr>
                </a:solidFill>
                <a:latin typeface="微软雅黑" panose="020B0503020204020204" charset="-122"/>
                <a:ea typeface="微软雅黑" panose="020B0503020204020204" charset="-122"/>
                <a:cs typeface="微软雅黑" panose="020B0503020204020204" charset="-122"/>
              </a:rPr>
              <a:t>季、</a:t>
            </a:r>
            <a:r>
              <a:rPr sz="1400" kern="0" spc="-200" dirty="0">
                <a:solidFill>
                  <a:schemeClr val="tx1">
                    <a:alpha val="100000"/>
                  </a:schemeClr>
                </a:solidFill>
                <a:latin typeface="微软雅黑" panose="020B0503020204020204" charset="-122"/>
                <a:ea typeface="微软雅黑" panose="020B0503020204020204" charset="-122"/>
                <a:cs typeface="微软雅黑" panose="020B0503020204020204" charset="-122"/>
              </a:rPr>
              <a:t> </a:t>
            </a:r>
            <a:r>
              <a:rPr sz="1400" kern="0" spc="0" dirty="0">
                <a:solidFill>
                  <a:schemeClr val="tx1">
                    <a:alpha val="100000"/>
                  </a:schemeClr>
                </a:solidFill>
                <a:latin typeface="微软雅黑" panose="020B0503020204020204" charset="-122"/>
                <a:ea typeface="微软雅黑" panose="020B0503020204020204" charset="-122"/>
                <a:cs typeface="微软雅黑" panose="020B0503020204020204" charset="-122"/>
              </a:rPr>
              <a:t>一日24小时的自然光流转。</a:t>
            </a:r>
            <a:endParaRPr sz="1400" kern="0" spc="0" dirty="0">
              <a:solidFill>
                <a:schemeClr val="tx1">
                  <a:alpha val="100000"/>
                </a:schemeClr>
              </a:solidFill>
              <a:latin typeface="微软雅黑" panose="020B0503020204020204" charset="-122"/>
              <a:ea typeface="微软雅黑" panose="020B0503020204020204" charset="-122"/>
              <a:cs typeface="微软雅黑" panose="020B0503020204020204" charset="-122"/>
            </a:endParaRPr>
          </a:p>
        </p:txBody>
      </p:sp>
      <p:pic>
        <p:nvPicPr>
          <p:cNvPr id="4" name="picture 4"/>
          <p:cNvPicPr>
            <a:picLocks noChangeAspect="1"/>
          </p:cNvPicPr>
          <p:nvPr/>
        </p:nvPicPr>
        <p:blipFill>
          <a:blip r:embed="rId1"/>
          <a:stretch>
            <a:fillRect/>
          </a:stretch>
        </p:blipFill>
        <p:spPr>
          <a:xfrm rot="21600000">
            <a:off x="10167725" y="1028190"/>
            <a:ext cx="1553129" cy="1529000"/>
          </a:xfrm>
          <a:prstGeom prst="rect">
            <a:avLst/>
          </a:prstGeom>
        </p:spPr>
      </p:pic>
      <p:pic>
        <p:nvPicPr>
          <p:cNvPr id="2" name="图片 1"/>
          <p:cNvPicPr>
            <a:picLocks noChangeAspect="1"/>
          </p:cNvPicPr>
          <p:nvPr/>
        </p:nvPicPr>
        <p:blipFill>
          <a:blip r:embed="rId2"/>
          <a:stretch>
            <a:fillRect/>
          </a:stretch>
        </p:blipFill>
        <p:spPr>
          <a:xfrm>
            <a:off x="363836" y="4728142"/>
            <a:ext cx="2490926" cy="1799906"/>
          </a:xfrm>
          <a:prstGeom prst="rect">
            <a:avLst/>
          </a:prstGeom>
        </p:spPr>
      </p:pic>
      <p:pic>
        <p:nvPicPr>
          <p:cNvPr id="3" name="图片 2"/>
          <p:cNvPicPr>
            <a:picLocks noChangeAspect="1"/>
          </p:cNvPicPr>
          <p:nvPr/>
        </p:nvPicPr>
        <p:blipFill>
          <a:blip r:embed="rId3"/>
          <a:stretch>
            <a:fillRect/>
          </a:stretch>
        </p:blipFill>
        <p:spPr>
          <a:xfrm>
            <a:off x="2943658" y="4728142"/>
            <a:ext cx="2484626" cy="1799906"/>
          </a:xfrm>
          <a:prstGeom prst="rect">
            <a:avLst/>
          </a:prstGeom>
        </p:spPr>
      </p:pic>
      <p:pic>
        <p:nvPicPr>
          <p:cNvPr id="5" name="图片 4"/>
          <p:cNvPicPr>
            <a:picLocks noChangeAspect="1"/>
          </p:cNvPicPr>
          <p:nvPr/>
        </p:nvPicPr>
        <p:blipFill>
          <a:blip r:embed="rId4"/>
          <a:stretch>
            <a:fillRect/>
          </a:stretch>
        </p:blipFill>
        <p:spPr>
          <a:xfrm>
            <a:off x="5517179" y="4728142"/>
            <a:ext cx="2501770" cy="1799906"/>
          </a:xfrm>
          <a:prstGeom prst="rect">
            <a:avLst/>
          </a:prstGeom>
        </p:spPr>
      </p:pic>
      <p:pic>
        <p:nvPicPr>
          <p:cNvPr id="7" name="图片 6"/>
          <p:cNvPicPr>
            <a:picLocks noChangeAspect="1"/>
          </p:cNvPicPr>
          <p:nvPr/>
        </p:nvPicPr>
        <p:blipFill>
          <a:blip r:embed="rId5"/>
          <a:stretch>
            <a:fillRect/>
          </a:stretch>
        </p:blipFill>
        <p:spPr>
          <a:xfrm>
            <a:off x="8107844" y="4728142"/>
            <a:ext cx="3807897" cy="1799906"/>
          </a:xfrm>
          <a:prstGeom prst="rect">
            <a:avLst/>
          </a:prstGeom>
        </p:spPr>
      </p:pic>
      <p:pic>
        <p:nvPicPr>
          <p:cNvPr id="9" name="图片 8"/>
          <p:cNvPicPr>
            <a:picLocks noChangeAspect="1"/>
          </p:cNvPicPr>
          <p:nvPr/>
        </p:nvPicPr>
        <p:blipFill rotWithShape="1">
          <a:blip r:embed="rId6"/>
          <a:srcRect l="218" t="45819" r="1141" b="28572"/>
          <a:stretch>
            <a:fillRect/>
          </a:stretch>
        </p:blipFill>
        <p:spPr>
          <a:xfrm>
            <a:off x="319" y="179"/>
            <a:ext cx="12191365" cy="910019"/>
          </a:xfrm>
          <a:prstGeom prst="rect">
            <a:avLst/>
          </a:prstGeom>
        </p:spPr>
      </p:pic>
      <p:sp>
        <p:nvSpPr>
          <p:cNvPr id="10" name="文本框 9"/>
          <p:cNvSpPr txBox="1"/>
          <p:nvPr/>
        </p:nvSpPr>
        <p:spPr>
          <a:xfrm>
            <a:off x="161902" y="272495"/>
            <a:ext cx="1504950" cy="583565"/>
          </a:xfrm>
          <a:prstGeom prst="rect">
            <a:avLst/>
          </a:prstGeom>
          <a:noFill/>
        </p:spPr>
        <p:txBody>
          <a:bodyPr wrap="none" rtlCol="0">
            <a:spAutoFit/>
          </a:bodyPr>
          <a:p>
            <a:r>
              <a:rPr lang="en-US" altLang="zh-CN" sz="3200" b="1" dirty="0">
                <a:solidFill>
                  <a:schemeClr val="bg1"/>
                </a:solidFill>
                <a:latin typeface="微软雅黑" panose="020B0503020204020204" charset="-122"/>
                <a:ea typeface="微软雅黑" panose="020B0503020204020204" charset="-122"/>
                <a:cs typeface="Ebrima" panose="02000000000000000000" pitchFamily="2" charset="0"/>
              </a:rPr>
              <a:t>OPPLE</a:t>
            </a:r>
            <a:endParaRPr lang="zh-CN" altLang="en-US" sz="3200" b="1" dirty="0">
              <a:solidFill>
                <a:schemeClr val="bg1"/>
              </a:solidFill>
              <a:latin typeface="微软雅黑" panose="020B0503020204020204" charset="-122"/>
              <a:ea typeface="微软雅黑" panose="020B0503020204020204" charset="-122"/>
              <a:cs typeface="Ebrima" panose="02000000000000000000" pitchFamily="2" charset="0"/>
            </a:endParaRPr>
          </a:p>
        </p:txBody>
      </p:sp>
      <p:sp>
        <p:nvSpPr>
          <p:cNvPr id="11" name="矩形 10"/>
          <p:cNvSpPr/>
          <p:nvPr/>
        </p:nvSpPr>
        <p:spPr>
          <a:xfrm>
            <a:off x="7154025" y="97289"/>
            <a:ext cx="5037659" cy="679327"/>
          </a:xfrm>
          <a:prstGeom prst="rect">
            <a:avLst/>
          </a:prstGeom>
          <a:gradFill flip="none" rotWithShape="1">
            <a:gsLst>
              <a:gs pos="49000">
                <a:schemeClr val="bg1"/>
              </a:gs>
              <a:gs pos="0">
                <a:srgbClr val="DAE3F3"/>
              </a:gs>
              <a:gs pos="100000">
                <a:schemeClr val="accent4">
                  <a:lumMod val="40000"/>
                  <a:lumOff val="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7443348" y="143932"/>
            <a:ext cx="4544060" cy="337185"/>
          </a:xfrm>
          <a:prstGeom prst="rect">
            <a:avLst/>
          </a:prstGeom>
          <a:noFill/>
        </p:spPr>
        <p:txBody>
          <a:bodyPr wrap="none" rtlCol="0">
            <a:spAutoFit/>
          </a:bodyPr>
          <a:p>
            <a:r>
              <a:rPr lang="en-US" altLang="zh-CN" sz="1600" b="1" dirty="0">
                <a:solidFill>
                  <a:srgbClr val="003399"/>
                </a:solidFill>
                <a:latin typeface="微软雅黑" panose="020B0503020204020204" charset="-122"/>
                <a:ea typeface="微软雅黑" panose="020B0503020204020204" charset="-122"/>
                <a:cs typeface="Ebrima" panose="02000000000000000000" pitchFamily="2" charset="0"/>
              </a:rPr>
              <a:t>SDL</a:t>
            </a:r>
            <a:r>
              <a:rPr lang="zh-TW" altLang="en-US" sz="1600" b="1" dirty="0">
                <a:solidFill>
                  <a:srgbClr val="003399"/>
                </a:solidFill>
                <a:latin typeface="微软雅黑" panose="020B0503020204020204" charset="-122"/>
                <a:ea typeface="微软雅黑" panose="020B0503020204020204" charset="-122"/>
                <a:cs typeface="Ebrima" panose="02000000000000000000" pitchFamily="2" charset="0"/>
              </a:rPr>
              <a:t>（</a:t>
            </a:r>
            <a:r>
              <a:rPr lang="en-US" altLang="zh-TW" sz="1600" b="1" u="sng" dirty="0">
                <a:solidFill>
                  <a:srgbClr val="003399"/>
                </a:solidFill>
                <a:latin typeface="微软雅黑" panose="020B0503020204020204" charset="-122"/>
                <a:ea typeface="微软雅黑" panose="020B0503020204020204" charset="-122"/>
                <a:cs typeface="Ebrima" panose="02000000000000000000" pitchFamily="2" charset="0"/>
              </a:rPr>
              <a:t>S</a:t>
            </a:r>
            <a:r>
              <a:rPr lang="en-US" altLang="zh-TW" sz="1600" b="1" dirty="0">
                <a:solidFill>
                  <a:srgbClr val="003399"/>
                </a:solidFill>
                <a:latin typeface="微软雅黑" panose="020B0503020204020204" charset="-122"/>
                <a:ea typeface="微软雅黑" panose="020B0503020204020204" charset="-122"/>
                <a:cs typeface="Ebrima" panose="02000000000000000000" pitchFamily="2" charset="0"/>
              </a:rPr>
              <a:t>oftware-</a:t>
            </a:r>
            <a:r>
              <a:rPr lang="en-US" altLang="zh-TW" sz="1600" b="1" u="sng" dirty="0">
                <a:solidFill>
                  <a:srgbClr val="003399"/>
                </a:solidFill>
                <a:latin typeface="微软雅黑" panose="020B0503020204020204" charset="-122"/>
                <a:ea typeface="微软雅黑" panose="020B0503020204020204" charset="-122"/>
                <a:cs typeface="Ebrima" panose="02000000000000000000" pitchFamily="2" charset="0"/>
              </a:rPr>
              <a:t>D</a:t>
            </a:r>
            <a:r>
              <a:rPr lang="en-US" altLang="zh-TW" sz="1600" b="1" dirty="0">
                <a:solidFill>
                  <a:srgbClr val="003399"/>
                </a:solidFill>
                <a:latin typeface="微软雅黑" panose="020B0503020204020204" charset="-122"/>
                <a:ea typeface="微软雅黑" panose="020B0503020204020204" charset="-122"/>
                <a:cs typeface="Ebrima" panose="02000000000000000000" pitchFamily="2" charset="0"/>
              </a:rPr>
              <a:t>efined </a:t>
            </a:r>
            <a:r>
              <a:rPr lang="en-US" altLang="zh-TW" sz="1600" b="1" u="sng" dirty="0">
                <a:solidFill>
                  <a:srgbClr val="003399"/>
                </a:solidFill>
                <a:latin typeface="微软雅黑" panose="020B0503020204020204" charset="-122"/>
                <a:ea typeface="微软雅黑" panose="020B0503020204020204" charset="-122"/>
                <a:cs typeface="Ebrima" panose="02000000000000000000" pitchFamily="2" charset="0"/>
              </a:rPr>
              <a:t>L</a:t>
            </a:r>
            <a:r>
              <a:rPr lang="en-US" altLang="zh-TW" sz="1600" b="1" dirty="0">
                <a:solidFill>
                  <a:srgbClr val="003399"/>
                </a:solidFill>
                <a:latin typeface="微软雅黑" panose="020B0503020204020204" charset="-122"/>
                <a:ea typeface="微软雅黑" panose="020B0503020204020204" charset="-122"/>
                <a:cs typeface="Ebrima" panose="02000000000000000000" pitchFamily="2" charset="0"/>
              </a:rPr>
              <a:t>ight</a:t>
            </a:r>
            <a:r>
              <a:rPr lang="zh-TW" altLang="en-US" sz="1600" b="1" dirty="0">
                <a:solidFill>
                  <a:srgbClr val="003399"/>
                </a:solidFill>
                <a:latin typeface="微软雅黑" panose="020B0503020204020204" charset="-122"/>
                <a:ea typeface="微软雅黑" panose="020B0503020204020204" charset="-122"/>
                <a:cs typeface="Ebrima" panose="02000000000000000000" pitchFamily="2" charset="0"/>
              </a:rPr>
              <a:t>）</a:t>
            </a:r>
            <a:r>
              <a:rPr lang="en-US" altLang="zh-TW" sz="1600" b="1" dirty="0">
                <a:solidFill>
                  <a:srgbClr val="003399"/>
                </a:solidFill>
                <a:latin typeface="微软雅黑" panose="020B0503020204020204" charset="-122"/>
                <a:ea typeface="微软雅黑" panose="020B0503020204020204" charset="-122"/>
                <a:cs typeface="Ebrima" panose="02000000000000000000" pitchFamily="2" charset="0"/>
              </a:rPr>
              <a:t>- </a:t>
            </a:r>
            <a:r>
              <a:rPr lang="zh-TW" altLang="en-US" sz="1600" b="1" dirty="0">
                <a:solidFill>
                  <a:srgbClr val="003399"/>
                </a:solidFill>
                <a:latin typeface="微软雅黑" panose="020B0503020204020204" charset="-122"/>
                <a:ea typeface="微软雅黑" panose="020B0503020204020204" charset="-122"/>
                <a:cs typeface="Ebrima" panose="02000000000000000000" pitchFamily="2" charset="0"/>
              </a:rPr>
              <a:t>软件定义光</a:t>
            </a:r>
            <a:endParaRPr lang="zh-CN" altLang="en-US" sz="1600" b="1" dirty="0">
              <a:solidFill>
                <a:srgbClr val="003399"/>
              </a:solidFill>
              <a:latin typeface="微软雅黑" panose="020B0503020204020204" charset="-122"/>
              <a:ea typeface="微软雅黑" panose="020B0503020204020204" charset="-122"/>
              <a:cs typeface="Ebrima" panose="02000000000000000000" pitchFamily="2" charset="0"/>
            </a:endParaRPr>
          </a:p>
        </p:txBody>
      </p:sp>
      <p:sp>
        <p:nvSpPr>
          <p:cNvPr id="15" name="文本框 14"/>
          <p:cNvSpPr txBox="1"/>
          <p:nvPr/>
        </p:nvSpPr>
        <p:spPr>
          <a:xfrm>
            <a:off x="7469119" y="466367"/>
            <a:ext cx="4627880" cy="306705"/>
          </a:xfrm>
          <a:prstGeom prst="rect">
            <a:avLst/>
          </a:prstGeom>
          <a:noFill/>
        </p:spPr>
        <p:txBody>
          <a:bodyPr wrap="none" rtlCol="0">
            <a:spAutoFit/>
          </a:bodyPr>
          <a:p>
            <a:r>
              <a:rPr lang="zh-TW" altLang="en-US" sz="1400" b="1" dirty="0">
                <a:latin typeface="微软雅黑" panose="020B0503020204020204" charset="-122"/>
                <a:ea typeface="微软雅黑" panose="020B0503020204020204" charset="-122"/>
                <a:cs typeface="Ebrima" panose="02000000000000000000" pitchFamily="2" charset="0"/>
              </a:rPr>
              <a:t>首创可由软件控制的高品质健康光“智慧光谱调谐系统”</a:t>
            </a:r>
            <a:endParaRPr lang="zh-CN" altLang="en-US" sz="1400" b="1" dirty="0">
              <a:latin typeface="微软雅黑" panose="020B0503020204020204" charset="-122"/>
              <a:ea typeface="微软雅黑" panose="020B0503020204020204" charset="-122"/>
              <a:cs typeface="Ebrima" panose="02000000000000000000" pitchFamily="2" charset="0"/>
            </a:endParaRPr>
          </a:p>
        </p:txBody>
      </p:sp>
      <p:sp>
        <p:nvSpPr>
          <p:cNvPr id="16" name="文本框 15"/>
          <p:cNvSpPr txBox="1"/>
          <p:nvPr/>
        </p:nvSpPr>
        <p:spPr>
          <a:xfrm>
            <a:off x="1647505" y="-15349"/>
            <a:ext cx="1568450" cy="922020"/>
          </a:xfrm>
          <a:prstGeom prst="rect">
            <a:avLst/>
          </a:prstGeom>
          <a:noFill/>
        </p:spPr>
        <p:txBody>
          <a:bodyPr wrap="none" rtlCol="0">
            <a:spAutoFit/>
          </a:bodyPr>
          <a:p>
            <a:r>
              <a:rPr lang="en-US" altLang="zh-CN" sz="5400" b="1" dirty="0">
                <a:gradFill>
                  <a:gsLst>
                    <a:gs pos="22000">
                      <a:srgbClr val="FF5050"/>
                    </a:gs>
                    <a:gs pos="47000">
                      <a:srgbClr val="FFFF00"/>
                    </a:gs>
                    <a:gs pos="74000">
                      <a:srgbClr val="00A4DE"/>
                    </a:gs>
                  </a:gsLst>
                  <a:lin ang="5400000" scaled="1"/>
                </a:gradFill>
                <a:latin typeface="Broadway" panose="04040905080B02020502" pitchFamily="82" charset="0"/>
              </a:rPr>
              <a:t>SDL</a:t>
            </a:r>
            <a:endParaRPr lang="zh-CN" altLang="en-US" sz="5400" b="1" dirty="0">
              <a:gradFill>
                <a:gsLst>
                  <a:gs pos="22000">
                    <a:srgbClr val="FF5050"/>
                  </a:gs>
                  <a:gs pos="47000">
                    <a:srgbClr val="FFFF00"/>
                  </a:gs>
                  <a:gs pos="74000">
                    <a:srgbClr val="00A4DE"/>
                  </a:gs>
                </a:gsLst>
                <a:lin ang="5400000" scaled="1"/>
              </a:gradFill>
              <a:latin typeface="Broadway" panose="04040905080B02020502" pitchFamily="82"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3750" y="179"/>
            <a:ext cx="12177933" cy="6857643"/>
          </a:xfrm>
          <a:prstGeom prst="rect">
            <a:avLst/>
          </a:prstGeom>
          <a:solidFill>
            <a:schemeClr val="bg1"/>
          </a:solidFill>
          <a:ln w="12700"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13" tIns="60956" rIns="121913" bIns="60956" numCol="1" spcCol="0" rtlCol="0" fromWordArt="0" anchor="ctr" anchorCtr="0" forceAA="0" compatLnSpc="1">
            <a:noAutofit/>
          </a:bodyPr>
          <a:lstStyle/>
          <a:p>
            <a:pPr algn="ctr"/>
            <a:endParaRPr lang="zh-CN" altLang="en-US" sz="2400"/>
          </a:p>
        </p:txBody>
      </p:sp>
      <p:sp>
        <p:nvSpPr>
          <p:cNvPr id="7" name="矩形 6"/>
          <p:cNvSpPr/>
          <p:nvPr/>
        </p:nvSpPr>
        <p:spPr>
          <a:xfrm>
            <a:off x="335661" y="740841"/>
            <a:ext cx="3744221" cy="2906892"/>
          </a:xfrm>
          <a:prstGeom prst="rect">
            <a:avLst/>
          </a:prstGeom>
          <a:gradFill>
            <a:gsLst>
              <a:gs pos="0">
                <a:schemeClr val="bg1"/>
              </a:gs>
              <a:gs pos="100000">
                <a:schemeClr val="accent6">
                  <a:lumMod val="60000"/>
                  <a:lumOff val="40000"/>
                </a:schemeClr>
              </a:gs>
              <a:gs pos="100000">
                <a:schemeClr val="accent1">
                  <a:lumMod val="45000"/>
                  <a:lumOff val="55000"/>
                </a:schemeClr>
              </a:gs>
              <a:gs pos="100000">
                <a:schemeClr val="accent1">
                  <a:lumMod val="30000"/>
                  <a:lumOff val="70000"/>
                </a:schemeClr>
              </a:gs>
            </a:gsLst>
            <a:lin ang="5400000" scaled="1"/>
          </a:gradFill>
          <a:ln w="12700"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13" tIns="60956" rIns="121913" bIns="60956" numCol="1" spcCol="0" rtlCol="0" fromWordArt="0" anchor="ctr" anchorCtr="0" forceAA="0" compatLnSpc="1">
            <a:noAutofit/>
          </a:bodyPr>
          <a:lstStyle/>
          <a:p>
            <a:pPr algn="ctr"/>
            <a:endParaRPr lang="zh-CN" altLang="en-US" sz="2400"/>
          </a:p>
        </p:txBody>
      </p:sp>
      <p:pic>
        <p:nvPicPr>
          <p:cNvPr id="8" name="图片 7"/>
          <p:cNvPicPr>
            <a:picLocks noChangeAspect="1"/>
          </p:cNvPicPr>
          <p:nvPr/>
        </p:nvPicPr>
        <p:blipFill rotWithShape="1">
          <a:blip r:embed="rId1"/>
          <a:srcRect l="10552" t="87799" r="50655" b="1001"/>
          <a:stretch>
            <a:fillRect/>
          </a:stretch>
        </p:blipFill>
        <p:spPr>
          <a:xfrm>
            <a:off x="318" y="179"/>
            <a:ext cx="3313912" cy="589140"/>
          </a:xfrm>
          <a:prstGeom prst="rect">
            <a:avLst/>
          </a:prstGeom>
          <a:effectLst/>
        </p:spPr>
      </p:pic>
      <p:pic>
        <p:nvPicPr>
          <p:cNvPr id="14" name="图片 13"/>
          <p:cNvPicPr>
            <a:picLocks noChangeAspect="1"/>
          </p:cNvPicPr>
          <p:nvPr/>
        </p:nvPicPr>
        <p:blipFill rotWithShape="1">
          <a:blip r:embed="rId2"/>
          <a:srcRect r="93504"/>
          <a:stretch>
            <a:fillRect/>
          </a:stretch>
        </p:blipFill>
        <p:spPr>
          <a:xfrm>
            <a:off x="330955" y="740843"/>
            <a:ext cx="600806" cy="931988"/>
          </a:xfrm>
          <a:prstGeom prst="rect">
            <a:avLst/>
          </a:prstGeom>
        </p:spPr>
      </p:pic>
      <p:sp>
        <p:nvSpPr>
          <p:cNvPr id="15" name="文本框 14"/>
          <p:cNvSpPr txBox="1"/>
          <p:nvPr/>
        </p:nvSpPr>
        <p:spPr>
          <a:xfrm>
            <a:off x="919160" y="734092"/>
            <a:ext cx="1460500" cy="1014730"/>
          </a:xfrm>
          <a:prstGeom prst="rect">
            <a:avLst/>
          </a:prstGeom>
          <a:noFill/>
        </p:spPr>
        <p:txBody>
          <a:bodyPr wrap="none" rtlCol="0">
            <a:spAutoFit/>
          </a:bodyPr>
          <a:lstStyle/>
          <a:p>
            <a:pPr>
              <a:lnSpc>
                <a:spcPct val="125000"/>
              </a:lnSpc>
            </a:pPr>
            <a:r>
              <a:rPr lang="zh-TW" altLang="en-US" sz="1600" b="1" dirty="0" smtClean="0">
                <a:solidFill>
                  <a:schemeClr val="bg1">
                    <a:lumMod val="50000"/>
                  </a:schemeClr>
                </a:solidFill>
                <a:latin typeface="微软雅黑" panose="020B0503020204020204" charset="-122"/>
                <a:ea typeface="微软雅黑" panose="020B0503020204020204" charset="-122"/>
              </a:rPr>
              <a:t>视觉偏好</a:t>
            </a:r>
            <a:endParaRPr lang="en-US" altLang="zh-TW" sz="1600" b="1" dirty="0">
              <a:solidFill>
                <a:schemeClr val="bg1">
                  <a:lumMod val="50000"/>
                </a:schemeClr>
              </a:solidFill>
              <a:latin typeface="微软雅黑" panose="020B0503020204020204" charset="-122"/>
              <a:ea typeface="微软雅黑" panose="020B0503020204020204" charset="-122"/>
            </a:endParaRPr>
          </a:p>
          <a:p>
            <a:pPr>
              <a:lnSpc>
                <a:spcPct val="125000"/>
              </a:lnSpc>
            </a:pPr>
            <a:r>
              <a:rPr lang="zh-TW" altLang="en-US" sz="1600" b="1" dirty="0" smtClean="0">
                <a:solidFill>
                  <a:schemeClr val="bg1">
                    <a:lumMod val="50000"/>
                  </a:schemeClr>
                </a:solidFill>
                <a:latin typeface="微软雅黑" panose="020B0503020204020204" charset="-122"/>
                <a:ea typeface="微软雅黑" panose="020B0503020204020204" charset="-122"/>
              </a:rPr>
              <a:t>高显指</a:t>
            </a:r>
            <a:r>
              <a:rPr lang="en-US" altLang="zh-TW" sz="1600" b="1" dirty="0" smtClean="0">
                <a:solidFill>
                  <a:schemeClr val="bg1">
                    <a:lumMod val="50000"/>
                  </a:schemeClr>
                </a:solidFill>
                <a:latin typeface="微软雅黑" panose="020B0503020204020204" charset="-122"/>
                <a:ea typeface="微软雅黑" panose="020B0503020204020204" charset="-122"/>
              </a:rPr>
              <a:t>(Ra90)</a:t>
            </a:r>
            <a:endParaRPr lang="en-US" altLang="zh-TW" sz="1600" b="1" dirty="0">
              <a:solidFill>
                <a:schemeClr val="bg1">
                  <a:lumMod val="50000"/>
                </a:schemeClr>
              </a:solidFill>
              <a:latin typeface="微软雅黑" panose="020B0503020204020204" charset="-122"/>
              <a:ea typeface="微软雅黑" panose="020B0503020204020204" charset="-122"/>
            </a:endParaRPr>
          </a:p>
          <a:p>
            <a:pPr>
              <a:lnSpc>
                <a:spcPct val="125000"/>
              </a:lnSpc>
            </a:pPr>
            <a:r>
              <a:rPr lang="zh-TW" altLang="en-US" sz="1600" b="1" dirty="0" smtClean="0">
                <a:solidFill>
                  <a:schemeClr val="bg1">
                    <a:lumMod val="50000"/>
                  </a:schemeClr>
                </a:solidFill>
                <a:latin typeface="微软雅黑" panose="020B0503020204020204" charset="-122"/>
                <a:ea typeface="微软雅黑" panose="020B0503020204020204" charset="-122"/>
              </a:rPr>
              <a:t>舒适光色</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6" name="矩形 15"/>
          <p:cNvSpPr/>
          <p:nvPr/>
        </p:nvSpPr>
        <p:spPr>
          <a:xfrm>
            <a:off x="4231116" y="3767533"/>
            <a:ext cx="3840227" cy="2912256"/>
          </a:xfrm>
          <a:prstGeom prst="rect">
            <a:avLst/>
          </a:prstGeom>
          <a:gradFill>
            <a:gsLst>
              <a:gs pos="0">
                <a:schemeClr val="bg1"/>
              </a:gs>
              <a:gs pos="100000">
                <a:srgbClr val="FFEBFF"/>
              </a:gs>
            </a:gsLst>
            <a:lin ang="5400000" scaled="1"/>
          </a:gradFill>
          <a:ln w="12700"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13" tIns="60956" rIns="121913" bIns="60956" numCol="1" spcCol="0" rtlCol="0" fromWordArt="0" anchor="ctr" anchorCtr="0" forceAA="0" compatLnSpc="1">
            <a:noAutofit/>
          </a:bodyPr>
          <a:lstStyle/>
          <a:p>
            <a:pPr algn="ctr"/>
            <a:endParaRPr lang="zh-CN" altLang="en-US" sz="2400"/>
          </a:p>
        </p:txBody>
      </p:sp>
      <p:pic>
        <p:nvPicPr>
          <p:cNvPr id="18" name="图片 17"/>
          <p:cNvPicPr>
            <a:picLocks noChangeAspect="1"/>
          </p:cNvPicPr>
          <p:nvPr/>
        </p:nvPicPr>
        <p:blipFill rotWithShape="1">
          <a:blip r:embed="rId2"/>
          <a:srcRect l="92570"/>
          <a:stretch>
            <a:fillRect/>
          </a:stretch>
        </p:blipFill>
        <p:spPr>
          <a:xfrm>
            <a:off x="4231116" y="3767533"/>
            <a:ext cx="638499" cy="931990"/>
          </a:xfrm>
          <a:prstGeom prst="rect">
            <a:avLst/>
          </a:prstGeom>
        </p:spPr>
      </p:pic>
      <p:sp>
        <p:nvSpPr>
          <p:cNvPr id="19" name="矩形 18"/>
          <p:cNvSpPr/>
          <p:nvPr/>
        </p:nvSpPr>
        <p:spPr>
          <a:xfrm>
            <a:off x="154412" y="3799489"/>
            <a:ext cx="3869150" cy="2906892"/>
          </a:xfrm>
          <a:prstGeom prst="rect">
            <a:avLst/>
          </a:prstGeom>
          <a:gradFill>
            <a:gsLst>
              <a:gs pos="0">
                <a:schemeClr val="bg1"/>
              </a:gs>
              <a:gs pos="100000">
                <a:schemeClr val="accent5">
                  <a:lumMod val="20000"/>
                  <a:lumOff val="80000"/>
                </a:schemeClr>
              </a:gs>
            </a:gsLst>
            <a:lin ang="5400000" scaled="1"/>
          </a:gradFill>
          <a:ln w="12700"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13" tIns="60956" rIns="121913" bIns="60956" numCol="1" spcCol="0" rtlCol="0" fromWordArt="0" anchor="ctr" anchorCtr="0" forceAA="0" compatLnSpc="1">
            <a:noAutofit/>
          </a:bodyPr>
          <a:lstStyle/>
          <a:p>
            <a:pPr algn="ctr"/>
            <a:endParaRPr lang="zh-CN" altLang="en-US" sz="2400"/>
          </a:p>
        </p:txBody>
      </p:sp>
      <p:pic>
        <p:nvPicPr>
          <p:cNvPr id="20" name="图片 19"/>
          <p:cNvPicPr>
            <a:picLocks noChangeAspect="1"/>
          </p:cNvPicPr>
          <p:nvPr/>
        </p:nvPicPr>
        <p:blipFill rotWithShape="1">
          <a:blip r:embed="rId2"/>
          <a:srcRect l="69834" r="23670"/>
          <a:stretch>
            <a:fillRect/>
          </a:stretch>
        </p:blipFill>
        <p:spPr>
          <a:xfrm>
            <a:off x="154411" y="3799488"/>
            <a:ext cx="604957" cy="931990"/>
          </a:xfrm>
          <a:prstGeom prst="rect">
            <a:avLst/>
          </a:prstGeom>
        </p:spPr>
      </p:pic>
      <p:sp>
        <p:nvSpPr>
          <p:cNvPr id="23" name="矩形 22"/>
          <p:cNvSpPr/>
          <p:nvPr/>
        </p:nvSpPr>
        <p:spPr>
          <a:xfrm>
            <a:off x="4220010" y="725869"/>
            <a:ext cx="3825028" cy="2920541"/>
          </a:xfrm>
          <a:prstGeom prst="rect">
            <a:avLst/>
          </a:prstGeom>
          <a:gradFill>
            <a:gsLst>
              <a:gs pos="0">
                <a:schemeClr val="bg1"/>
              </a:gs>
              <a:gs pos="100000">
                <a:schemeClr val="accent5"/>
              </a:gs>
            </a:gsLst>
            <a:lin ang="5400000" scaled="1"/>
          </a:gradFill>
          <a:ln w="12700"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13" tIns="60956" rIns="121913" bIns="60956" numCol="1" spcCol="0" rtlCol="0" fromWordArt="0" anchor="ctr" anchorCtr="0" forceAA="0" compatLnSpc="1">
            <a:noAutofit/>
          </a:bodyPr>
          <a:lstStyle/>
          <a:p>
            <a:pPr algn="ctr"/>
            <a:endParaRPr lang="zh-CN" altLang="en-US" sz="2400"/>
          </a:p>
        </p:txBody>
      </p:sp>
      <p:pic>
        <p:nvPicPr>
          <p:cNvPr id="24" name="图片 23"/>
          <p:cNvPicPr>
            <a:picLocks noChangeAspect="1"/>
          </p:cNvPicPr>
          <p:nvPr/>
        </p:nvPicPr>
        <p:blipFill rotWithShape="1">
          <a:blip r:embed="rId2"/>
          <a:srcRect l="47097" r="46407"/>
          <a:stretch>
            <a:fillRect/>
          </a:stretch>
        </p:blipFill>
        <p:spPr>
          <a:xfrm>
            <a:off x="4220010" y="725869"/>
            <a:ext cx="600806" cy="884567"/>
          </a:xfrm>
          <a:prstGeom prst="rect">
            <a:avLst/>
          </a:prstGeom>
        </p:spPr>
      </p:pic>
      <p:sp>
        <p:nvSpPr>
          <p:cNvPr id="25" name="矩形 24"/>
          <p:cNvSpPr/>
          <p:nvPr/>
        </p:nvSpPr>
        <p:spPr>
          <a:xfrm>
            <a:off x="8171578" y="723248"/>
            <a:ext cx="3840228" cy="2920541"/>
          </a:xfrm>
          <a:prstGeom prst="rect">
            <a:avLst/>
          </a:prstGeom>
          <a:gradFill flip="none" rotWithShape="1">
            <a:gsLst>
              <a:gs pos="0">
                <a:schemeClr val="bg1"/>
              </a:gs>
              <a:gs pos="100000">
                <a:schemeClr val="accent6">
                  <a:lumMod val="60000"/>
                  <a:lumOff val="40000"/>
                </a:schemeClr>
              </a:gs>
            </a:gsLst>
            <a:lin ang="18900000" scaled="1"/>
            <a:tileRect/>
          </a:gradFill>
          <a:ln w="12700"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13" tIns="60956" rIns="121913" bIns="60956" numCol="1" spcCol="0" rtlCol="0" fromWordArt="0" anchor="ctr" anchorCtr="0" forceAA="0" compatLnSpc="1">
            <a:noAutofit/>
          </a:bodyPr>
          <a:lstStyle/>
          <a:p>
            <a:pPr algn="ctr"/>
            <a:endParaRPr lang="zh-CN" altLang="en-US" sz="2400"/>
          </a:p>
        </p:txBody>
      </p:sp>
      <p:pic>
        <p:nvPicPr>
          <p:cNvPr id="26" name="图片 25"/>
          <p:cNvPicPr>
            <a:picLocks noChangeAspect="1"/>
          </p:cNvPicPr>
          <p:nvPr/>
        </p:nvPicPr>
        <p:blipFill rotWithShape="1">
          <a:blip r:embed="rId2"/>
          <a:srcRect l="22737" r="70767"/>
          <a:stretch>
            <a:fillRect/>
          </a:stretch>
        </p:blipFill>
        <p:spPr>
          <a:xfrm>
            <a:off x="8212336" y="714593"/>
            <a:ext cx="638500" cy="884567"/>
          </a:xfrm>
          <a:prstGeom prst="rect">
            <a:avLst/>
          </a:prstGeom>
        </p:spPr>
      </p:pic>
      <p:sp>
        <p:nvSpPr>
          <p:cNvPr id="27" name="矩形 26"/>
          <p:cNvSpPr/>
          <p:nvPr/>
        </p:nvSpPr>
        <p:spPr>
          <a:xfrm>
            <a:off x="8179200" y="3792506"/>
            <a:ext cx="3869153" cy="2920541"/>
          </a:xfrm>
          <a:prstGeom prst="rect">
            <a:avLst/>
          </a:prstGeom>
          <a:gradFill>
            <a:gsLst>
              <a:gs pos="0">
                <a:schemeClr val="bg1"/>
              </a:gs>
              <a:gs pos="100000">
                <a:schemeClr val="accent2">
                  <a:lumMod val="20000"/>
                  <a:lumOff val="80000"/>
                </a:schemeClr>
              </a:gs>
            </a:gsLst>
            <a:lin ang="5400000" scaled="1"/>
          </a:gradFill>
          <a:ln w="12700"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13" tIns="60956" rIns="121913" bIns="60956" numCol="1" spcCol="0" rtlCol="0" fromWordArt="0" anchor="ctr" anchorCtr="0" forceAA="0" compatLnSpc="1">
            <a:noAutofit/>
          </a:bodyPr>
          <a:lstStyle/>
          <a:p>
            <a:pPr algn="ctr"/>
            <a:endParaRPr lang="zh-CN" altLang="en-US" sz="2400"/>
          </a:p>
        </p:txBody>
      </p:sp>
      <p:pic>
        <p:nvPicPr>
          <p:cNvPr id="28" name="图片 27"/>
          <p:cNvPicPr>
            <a:picLocks noChangeAspect="1"/>
          </p:cNvPicPr>
          <p:nvPr/>
        </p:nvPicPr>
        <p:blipFill rotWithShape="1">
          <a:blip r:embed="rId3"/>
          <a:srcRect l="2045" t="1617" r="2045"/>
          <a:stretch>
            <a:fillRect/>
          </a:stretch>
        </p:blipFill>
        <p:spPr>
          <a:xfrm>
            <a:off x="8179198" y="3792506"/>
            <a:ext cx="604959" cy="884567"/>
          </a:xfrm>
          <a:prstGeom prst="rect">
            <a:avLst/>
          </a:prstGeom>
          <a:effectLst/>
        </p:spPr>
      </p:pic>
      <p:sp>
        <p:nvSpPr>
          <p:cNvPr id="29" name="文本框 28"/>
          <p:cNvSpPr txBox="1"/>
          <p:nvPr/>
        </p:nvSpPr>
        <p:spPr>
          <a:xfrm>
            <a:off x="4869614" y="3760952"/>
            <a:ext cx="1967230" cy="1014730"/>
          </a:xfrm>
          <a:prstGeom prst="rect">
            <a:avLst/>
          </a:prstGeom>
          <a:noFill/>
        </p:spPr>
        <p:txBody>
          <a:bodyPr wrap="none" rtlCol="0">
            <a:spAutoFit/>
          </a:bodyPr>
          <a:lstStyle/>
          <a:p>
            <a:pPr>
              <a:lnSpc>
                <a:spcPct val="125000"/>
              </a:lnSpc>
            </a:pPr>
            <a:r>
              <a:rPr lang="zh-TW" altLang="en-US" sz="1600" b="1" dirty="0" smtClean="0">
                <a:solidFill>
                  <a:schemeClr val="bg1">
                    <a:lumMod val="50000"/>
                  </a:schemeClr>
                </a:solidFill>
                <a:latin typeface="微软雅黑" panose="020B0503020204020204" charset="-122"/>
                <a:ea typeface="微软雅黑" panose="020B0503020204020204" charset="-122"/>
              </a:rPr>
              <a:t>色彩心理学</a:t>
            </a:r>
            <a:r>
              <a:rPr lang="en-US" altLang="zh-TW" sz="1600" b="1" dirty="0" smtClean="0">
                <a:solidFill>
                  <a:schemeClr val="bg1">
                    <a:lumMod val="50000"/>
                  </a:schemeClr>
                </a:solidFill>
                <a:latin typeface="微软雅黑" panose="020B0503020204020204" charset="-122"/>
                <a:ea typeface="微软雅黑" panose="020B0503020204020204" charset="-122"/>
              </a:rPr>
              <a:t>(</a:t>
            </a:r>
            <a:r>
              <a:rPr lang="zh-TW" altLang="en-US" sz="1600" b="1" dirty="0" smtClean="0">
                <a:solidFill>
                  <a:schemeClr val="bg1">
                    <a:lumMod val="50000"/>
                  </a:schemeClr>
                </a:solidFill>
                <a:latin typeface="微软雅黑" panose="020B0503020204020204" charset="-122"/>
                <a:ea typeface="微软雅黑" panose="020B0503020204020204" charset="-122"/>
              </a:rPr>
              <a:t>孟赛尔</a:t>
            </a:r>
            <a:r>
              <a:rPr lang="en-US" altLang="zh-TW" sz="1600" b="1" dirty="0" smtClean="0">
                <a:solidFill>
                  <a:schemeClr val="bg1">
                    <a:lumMod val="50000"/>
                  </a:schemeClr>
                </a:solidFill>
                <a:latin typeface="微软雅黑" panose="020B0503020204020204" charset="-122"/>
                <a:ea typeface="微软雅黑" panose="020B0503020204020204" charset="-122"/>
              </a:rPr>
              <a:t>)</a:t>
            </a:r>
            <a:endParaRPr lang="en-US" altLang="zh-TW" sz="1600" b="1" dirty="0" smtClean="0">
              <a:solidFill>
                <a:schemeClr val="bg1">
                  <a:lumMod val="50000"/>
                </a:schemeClr>
              </a:solidFill>
              <a:latin typeface="微软雅黑" panose="020B0503020204020204" charset="-122"/>
              <a:ea typeface="微软雅黑" panose="020B0503020204020204" charset="-122"/>
            </a:endParaRPr>
          </a:p>
          <a:p>
            <a:pPr>
              <a:lnSpc>
                <a:spcPct val="125000"/>
              </a:lnSpc>
            </a:pPr>
            <a:r>
              <a:rPr lang="zh-TW" altLang="en-US" sz="1600" b="1" dirty="0" smtClean="0">
                <a:solidFill>
                  <a:schemeClr val="bg1">
                    <a:lumMod val="50000"/>
                  </a:schemeClr>
                </a:solidFill>
                <a:latin typeface="微软雅黑" panose="020B0503020204020204" charset="-122"/>
                <a:ea typeface="微软雅黑" panose="020B0503020204020204" charset="-122"/>
              </a:rPr>
              <a:t>助眠光色</a:t>
            </a:r>
            <a:endParaRPr lang="en-US" altLang="zh-TW" sz="1600" b="1" dirty="0">
              <a:solidFill>
                <a:schemeClr val="bg1">
                  <a:lumMod val="50000"/>
                </a:schemeClr>
              </a:solidFill>
              <a:latin typeface="微软雅黑" panose="020B0503020204020204" charset="-122"/>
              <a:ea typeface="微软雅黑" panose="020B0503020204020204" charset="-122"/>
            </a:endParaRPr>
          </a:p>
          <a:p>
            <a:pPr>
              <a:lnSpc>
                <a:spcPct val="125000"/>
              </a:lnSpc>
            </a:pPr>
            <a:r>
              <a:rPr lang="zh-TW" altLang="en-US" sz="1600" b="1" dirty="0" smtClean="0">
                <a:solidFill>
                  <a:schemeClr val="bg1">
                    <a:lumMod val="50000"/>
                  </a:schemeClr>
                </a:solidFill>
                <a:latin typeface="微软雅黑" panose="020B0503020204020204" charset="-122"/>
                <a:ea typeface="微软雅黑" panose="020B0503020204020204" charset="-122"/>
              </a:rPr>
              <a:t>提</a:t>
            </a:r>
            <a:r>
              <a:rPr lang="zh-CN" altLang="en-US" sz="1600" b="1" dirty="0" smtClean="0">
                <a:solidFill>
                  <a:schemeClr val="bg1">
                    <a:lumMod val="50000"/>
                  </a:schemeClr>
                </a:solidFill>
                <a:latin typeface="微软雅黑" panose="020B0503020204020204" charset="-122"/>
                <a:ea typeface="微软雅黑" panose="020B0503020204020204" charset="-122"/>
              </a:rPr>
              <a:t>高放松</a:t>
            </a:r>
            <a:r>
              <a:rPr lang="zh-TW" altLang="en-US" sz="1600" b="1" dirty="0">
                <a:solidFill>
                  <a:schemeClr val="bg1">
                    <a:lumMod val="50000"/>
                  </a:schemeClr>
                </a:solidFill>
                <a:latin typeface="微软雅黑" panose="020B0503020204020204" charset="-122"/>
                <a:ea typeface="微软雅黑" panose="020B0503020204020204" charset="-122"/>
              </a:rPr>
              <a:t>度</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0" name="文本框 29"/>
          <p:cNvSpPr txBox="1"/>
          <p:nvPr/>
        </p:nvSpPr>
        <p:spPr>
          <a:xfrm>
            <a:off x="663363" y="3792738"/>
            <a:ext cx="2654266" cy="583565"/>
          </a:xfrm>
          <a:prstGeom prst="rect">
            <a:avLst/>
          </a:prstGeom>
          <a:noFill/>
        </p:spPr>
        <p:txBody>
          <a:bodyPr wrap="square" rtlCol="0">
            <a:spAutoFit/>
          </a:bodyPr>
          <a:lstStyle/>
          <a:p>
            <a:r>
              <a:rPr lang="zh-TW" altLang="en-US" sz="1600" b="1" dirty="0" smtClean="0">
                <a:solidFill>
                  <a:schemeClr val="bg1">
                    <a:lumMod val="50000"/>
                  </a:schemeClr>
                </a:solidFill>
                <a:latin typeface="微软雅黑" panose="020B0503020204020204" charset="-122"/>
                <a:ea typeface="微软雅黑" panose="020B0503020204020204" charset="-122"/>
              </a:rPr>
              <a:t>视物清晰</a:t>
            </a:r>
            <a:endParaRPr lang="en-US" altLang="zh-TW" sz="1600" b="1" dirty="0">
              <a:solidFill>
                <a:schemeClr val="bg1">
                  <a:lumMod val="50000"/>
                </a:schemeClr>
              </a:solidFill>
              <a:latin typeface="微软雅黑" panose="020B0503020204020204" charset="-122"/>
              <a:ea typeface="微软雅黑" panose="020B0503020204020204" charset="-122"/>
            </a:endParaRPr>
          </a:p>
          <a:p>
            <a:r>
              <a:rPr lang="zh-TW" altLang="en-US" sz="1600" b="1" dirty="0" smtClean="0">
                <a:solidFill>
                  <a:schemeClr val="bg1">
                    <a:lumMod val="50000"/>
                  </a:schemeClr>
                </a:solidFill>
                <a:latin typeface="微软雅黑" panose="020B0503020204020204" charset="-122"/>
                <a:ea typeface="微软雅黑" panose="020B0503020204020204" charset="-122"/>
              </a:rPr>
              <a:t>提高辨色能力</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1" name="文本框 30"/>
          <p:cNvSpPr txBox="1"/>
          <p:nvPr/>
        </p:nvSpPr>
        <p:spPr>
          <a:xfrm>
            <a:off x="4807703" y="676271"/>
            <a:ext cx="1721485" cy="1014730"/>
          </a:xfrm>
          <a:prstGeom prst="rect">
            <a:avLst/>
          </a:prstGeom>
          <a:noFill/>
        </p:spPr>
        <p:txBody>
          <a:bodyPr wrap="none" rtlCol="0">
            <a:spAutoFit/>
          </a:bodyPr>
          <a:lstStyle/>
          <a:p>
            <a:pPr>
              <a:lnSpc>
                <a:spcPct val="125000"/>
              </a:lnSpc>
            </a:pPr>
            <a:r>
              <a:rPr lang="zh-TW" altLang="en-US" sz="1600" b="1" dirty="0" smtClean="0">
                <a:solidFill>
                  <a:schemeClr val="bg1">
                    <a:lumMod val="50000"/>
                  </a:schemeClr>
                </a:solidFill>
                <a:latin typeface="微软雅黑" panose="020B0503020204020204" charset="-122"/>
                <a:ea typeface="微软雅黑" panose="020B0503020204020204" charset="-122"/>
              </a:rPr>
              <a:t>高</a:t>
            </a:r>
            <a:r>
              <a:rPr lang="zh-TW" altLang="en-US" sz="1600" b="1" dirty="0">
                <a:solidFill>
                  <a:schemeClr val="bg1">
                    <a:lumMod val="50000"/>
                  </a:schemeClr>
                </a:solidFill>
                <a:latin typeface="微软雅黑" panose="020B0503020204020204" charset="-122"/>
                <a:ea typeface="微软雅黑" panose="020B0503020204020204" charset="-122"/>
              </a:rPr>
              <a:t>昼夜刺激</a:t>
            </a:r>
            <a:r>
              <a:rPr lang="en-US" altLang="zh-TW" sz="1600" b="1" dirty="0" smtClean="0">
                <a:solidFill>
                  <a:schemeClr val="bg1">
                    <a:lumMod val="50000"/>
                  </a:schemeClr>
                </a:solidFill>
                <a:latin typeface="微软雅黑" panose="020B0503020204020204" charset="-122"/>
                <a:ea typeface="微软雅黑" panose="020B0503020204020204" charset="-122"/>
              </a:rPr>
              <a:t>CS</a:t>
            </a:r>
            <a:r>
              <a:rPr lang="zh-TW" altLang="en-US" sz="1600" b="1" dirty="0" smtClean="0">
                <a:solidFill>
                  <a:schemeClr val="bg1">
                    <a:lumMod val="50000"/>
                  </a:schemeClr>
                </a:solidFill>
                <a:latin typeface="微软雅黑" panose="020B0503020204020204" charset="-122"/>
                <a:ea typeface="微软雅黑" panose="020B0503020204020204" charset="-122"/>
              </a:rPr>
              <a:t>值</a:t>
            </a:r>
            <a:r>
              <a:rPr lang="en-US" altLang="zh-TW" sz="1600" b="1" dirty="0" smtClean="0">
                <a:solidFill>
                  <a:schemeClr val="bg1">
                    <a:lumMod val="50000"/>
                  </a:schemeClr>
                </a:solidFill>
                <a:latin typeface="微软雅黑" panose="020B0503020204020204" charset="-122"/>
                <a:ea typeface="微软雅黑" panose="020B0503020204020204" charset="-122"/>
              </a:rPr>
              <a:t> </a:t>
            </a:r>
            <a:endParaRPr lang="en-US" altLang="zh-TW" sz="1600" b="1" dirty="0" smtClean="0">
              <a:solidFill>
                <a:schemeClr val="bg1">
                  <a:lumMod val="50000"/>
                </a:schemeClr>
              </a:solidFill>
              <a:latin typeface="微软雅黑" panose="020B0503020204020204" charset="-122"/>
              <a:ea typeface="微软雅黑" panose="020B0503020204020204" charset="-122"/>
            </a:endParaRPr>
          </a:p>
          <a:p>
            <a:pPr>
              <a:lnSpc>
                <a:spcPct val="125000"/>
              </a:lnSpc>
            </a:pPr>
            <a:r>
              <a:rPr lang="zh-TW" altLang="en-US" sz="1600" b="1" dirty="0" smtClean="0">
                <a:solidFill>
                  <a:schemeClr val="bg1">
                    <a:lumMod val="50000"/>
                  </a:schemeClr>
                </a:solidFill>
                <a:latin typeface="微软雅黑" panose="020B0503020204020204" charset="-122"/>
                <a:ea typeface="微软雅黑" panose="020B0503020204020204" charset="-122"/>
              </a:rPr>
              <a:t>提升专注力</a:t>
            </a:r>
            <a:endParaRPr lang="en-US" altLang="zh-TW" sz="1600" b="1" dirty="0">
              <a:solidFill>
                <a:schemeClr val="bg1">
                  <a:lumMod val="50000"/>
                </a:schemeClr>
              </a:solidFill>
              <a:latin typeface="微软雅黑" panose="020B0503020204020204" charset="-122"/>
              <a:ea typeface="微软雅黑" panose="020B0503020204020204" charset="-122"/>
            </a:endParaRPr>
          </a:p>
          <a:p>
            <a:pPr>
              <a:lnSpc>
                <a:spcPct val="125000"/>
              </a:lnSpc>
            </a:pPr>
            <a:r>
              <a:rPr lang="zh-TW" altLang="en-US" sz="1600" b="1" dirty="0" smtClean="0">
                <a:solidFill>
                  <a:schemeClr val="bg1">
                    <a:lumMod val="50000"/>
                  </a:schemeClr>
                </a:solidFill>
                <a:latin typeface="微软雅黑" panose="020B0503020204020204" charset="-122"/>
                <a:ea typeface="微软雅黑" panose="020B0503020204020204" charset="-122"/>
              </a:rPr>
              <a:t>缓解</a:t>
            </a:r>
            <a:r>
              <a:rPr lang="zh-TW" altLang="en-US" sz="1600" b="1" dirty="0">
                <a:solidFill>
                  <a:schemeClr val="bg1">
                    <a:lumMod val="50000"/>
                  </a:schemeClr>
                </a:solidFill>
                <a:latin typeface="微软雅黑" panose="020B0503020204020204" charset="-122"/>
                <a:ea typeface="微软雅黑" panose="020B0503020204020204" charset="-122"/>
              </a:rPr>
              <a:t>视觉疲劳</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2" name="文本框 31"/>
          <p:cNvSpPr txBox="1"/>
          <p:nvPr/>
        </p:nvSpPr>
        <p:spPr>
          <a:xfrm>
            <a:off x="8810079" y="673651"/>
            <a:ext cx="2058670" cy="706755"/>
          </a:xfrm>
          <a:prstGeom prst="rect">
            <a:avLst/>
          </a:prstGeom>
          <a:noFill/>
        </p:spPr>
        <p:txBody>
          <a:bodyPr wrap="none" rtlCol="0">
            <a:spAutoFit/>
          </a:bodyPr>
          <a:lstStyle/>
          <a:p>
            <a:pPr>
              <a:lnSpc>
                <a:spcPct val="125000"/>
              </a:lnSpc>
            </a:pPr>
            <a:r>
              <a:rPr lang="en-US" altLang="zh-CN" sz="1600" b="1" dirty="0" smtClean="0">
                <a:solidFill>
                  <a:schemeClr val="bg1">
                    <a:lumMod val="50000"/>
                  </a:schemeClr>
                </a:solidFill>
                <a:latin typeface="微软雅黑" panose="020B0503020204020204" charset="-122"/>
                <a:ea typeface="微软雅黑" panose="020B0503020204020204" charset="-122"/>
              </a:rPr>
              <a:t>24</a:t>
            </a:r>
            <a:r>
              <a:rPr lang="zh-TW" altLang="en-US" sz="1600" b="1" dirty="0" smtClean="0">
                <a:solidFill>
                  <a:schemeClr val="bg1">
                    <a:lumMod val="50000"/>
                  </a:schemeClr>
                </a:solidFill>
                <a:latin typeface="微软雅黑" panose="020B0503020204020204" charset="-122"/>
                <a:ea typeface="微软雅黑" panose="020B0503020204020204" charset="-122"/>
              </a:rPr>
              <a:t>小时自动光照环境</a:t>
            </a:r>
            <a:endParaRPr lang="en-US" altLang="zh-TW" sz="1600" b="1" dirty="0">
              <a:solidFill>
                <a:schemeClr val="bg1">
                  <a:lumMod val="50000"/>
                </a:schemeClr>
              </a:solidFill>
              <a:latin typeface="微软雅黑" panose="020B0503020204020204" charset="-122"/>
              <a:ea typeface="微软雅黑" panose="020B0503020204020204" charset="-122"/>
            </a:endParaRPr>
          </a:p>
          <a:p>
            <a:pPr>
              <a:lnSpc>
                <a:spcPct val="125000"/>
              </a:lnSpc>
            </a:pPr>
            <a:r>
              <a:rPr lang="zh-TW" altLang="en-US" sz="1600" b="1" dirty="0" smtClean="0">
                <a:solidFill>
                  <a:schemeClr val="bg1">
                    <a:lumMod val="50000"/>
                  </a:schemeClr>
                </a:solidFill>
                <a:latin typeface="微软雅黑" panose="020B0503020204020204" charset="-122"/>
                <a:ea typeface="微软雅黑" panose="020B0503020204020204" charset="-122"/>
              </a:rPr>
              <a:t>维护健</a:t>
            </a:r>
            <a:r>
              <a:rPr lang="zh-TW" altLang="en-US" sz="1600" b="1" dirty="0">
                <a:solidFill>
                  <a:schemeClr val="bg1">
                    <a:lumMod val="50000"/>
                  </a:schemeClr>
                </a:solidFill>
                <a:latin typeface="微软雅黑" panose="020B0503020204020204" charset="-122"/>
                <a:ea typeface="微软雅黑" panose="020B0503020204020204" charset="-122"/>
              </a:rPr>
              <a:t>康</a:t>
            </a:r>
            <a:r>
              <a:rPr lang="zh-TW" altLang="en-US" sz="1600" b="1" dirty="0" smtClean="0">
                <a:solidFill>
                  <a:schemeClr val="bg1">
                    <a:lumMod val="50000"/>
                  </a:schemeClr>
                </a:solidFill>
                <a:latin typeface="微软雅黑" panose="020B0503020204020204" charset="-122"/>
                <a:ea typeface="微软雅黑" panose="020B0503020204020204" charset="-122"/>
              </a:rPr>
              <a:t>生理节律</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3" name="文本框 32"/>
          <p:cNvSpPr txBox="1"/>
          <p:nvPr/>
        </p:nvSpPr>
        <p:spPr>
          <a:xfrm>
            <a:off x="8784157" y="3711126"/>
            <a:ext cx="2418080" cy="706755"/>
          </a:xfrm>
          <a:prstGeom prst="rect">
            <a:avLst/>
          </a:prstGeom>
          <a:noFill/>
        </p:spPr>
        <p:txBody>
          <a:bodyPr wrap="none" rtlCol="0">
            <a:spAutoFit/>
          </a:bodyPr>
          <a:lstStyle/>
          <a:p>
            <a:pPr>
              <a:lnSpc>
                <a:spcPct val="125000"/>
              </a:lnSpc>
            </a:pPr>
            <a:r>
              <a:rPr lang="en-US" altLang="zh-CN" sz="1600" b="1" dirty="0" smtClean="0">
                <a:solidFill>
                  <a:schemeClr val="bg1">
                    <a:lumMod val="50000"/>
                  </a:schemeClr>
                </a:solidFill>
                <a:latin typeface="微软雅黑" panose="020B0503020204020204" charset="-122"/>
                <a:ea typeface="微软雅黑" panose="020B0503020204020204" charset="-122"/>
              </a:rPr>
              <a:t>R9 90/R15</a:t>
            </a:r>
            <a:r>
              <a:rPr lang="zh-TW" altLang="en-US" sz="1600" b="1" dirty="0" smtClean="0">
                <a:solidFill>
                  <a:schemeClr val="bg1">
                    <a:lumMod val="50000"/>
                  </a:schemeClr>
                </a:solidFill>
                <a:latin typeface="微软雅黑" panose="020B0503020204020204" charset="-122"/>
                <a:ea typeface="微软雅黑" panose="020B0503020204020204" charset="-122"/>
              </a:rPr>
              <a:t> </a:t>
            </a:r>
            <a:r>
              <a:rPr lang="en-US" altLang="zh-CN" sz="1600" b="1" dirty="0" smtClean="0">
                <a:solidFill>
                  <a:schemeClr val="bg1">
                    <a:lumMod val="50000"/>
                  </a:schemeClr>
                </a:solidFill>
                <a:latin typeface="微软雅黑" panose="020B0503020204020204" charset="-122"/>
                <a:ea typeface="微软雅黑" panose="020B0503020204020204" charset="-122"/>
              </a:rPr>
              <a:t>99</a:t>
            </a:r>
            <a:endParaRPr lang="en-US" altLang="zh-CN" sz="1600" b="1" dirty="0">
              <a:solidFill>
                <a:schemeClr val="bg1">
                  <a:lumMod val="50000"/>
                </a:schemeClr>
              </a:solidFill>
              <a:latin typeface="微软雅黑" panose="020B0503020204020204" charset="-122"/>
              <a:ea typeface="微软雅黑" panose="020B0503020204020204" charset="-122"/>
            </a:endParaRPr>
          </a:p>
          <a:p>
            <a:pPr>
              <a:lnSpc>
                <a:spcPct val="125000"/>
              </a:lnSpc>
            </a:pPr>
            <a:r>
              <a:rPr lang="zh-CN" altLang="en-US" sz="1600" b="1" dirty="0" smtClean="0">
                <a:solidFill>
                  <a:schemeClr val="bg1">
                    <a:lumMod val="50000"/>
                  </a:schemeClr>
                </a:solidFill>
                <a:latin typeface="微软雅黑" panose="020B0503020204020204" charset="-122"/>
                <a:ea typeface="微软雅黑" panose="020B0503020204020204" charset="-122"/>
              </a:rPr>
              <a:t>提升肤色红润度</a:t>
            </a:r>
            <a:r>
              <a:rPr lang="zh-TW" altLang="en-US" sz="1600" b="1" dirty="0">
                <a:solidFill>
                  <a:schemeClr val="bg1">
                    <a:lumMod val="50000"/>
                  </a:schemeClr>
                </a:solidFill>
                <a:latin typeface="微软雅黑" panose="020B0503020204020204" charset="-122"/>
                <a:ea typeface="微软雅黑" panose="020B0503020204020204" charset="-122"/>
              </a:rPr>
              <a:t>与白皙度</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4" name="文本框 33"/>
          <p:cNvSpPr txBox="1"/>
          <p:nvPr/>
        </p:nvSpPr>
        <p:spPr bwMode="ltGray">
          <a:xfrm>
            <a:off x="2320684" y="3247956"/>
            <a:ext cx="1774825" cy="378460"/>
          </a:xfrm>
          <a:prstGeom prst="rect">
            <a:avLst/>
          </a:prstGeom>
          <a:noFill/>
        </p:spPr>
        <p:txBody>
          <a:bodyPr wrap="none" rtlCol="0">
            <a:spAutoFit/>
          </a:bodyPr>
          <a:lstStyle/>
          <a:p>
            <a:pPr algn="r"/>
            <a:r>
              <a:rPr lang="en-US" altLang="zh-CN" sz="1865" dirty="0" smtClean="0">
                <a:ln w="0"/>
                <a:solidFill>
                  <a:schemeClr val="bg1"/>
                </a:solidFill>
                <a:effectLst>
                  <a:reflection blurRad="6350" stA="53000" endA="300" endPos="35500" dir="5400000" sy="-90000" algn="bl" rotWithShape="0"/>
                </a:effectLst>
                <a:latin typeface="Broadway" panose="04040905080B02020502" pitchFamily="82" charset="0"/>
                <a:ea typeface="微软雅黑" panose="020B0503020204020204" charset="-122"/>
              </a:rPr>
              <a:t>TRUE COLOR</a:t>
            </a:r>
            <a:endParaRPr lang="zh-CN" altLang="en-US" sz="1865" dirty="0" smtClean="0">
              <a:ln w="0"/>
              <a:solidFill>
                <a:schemeClr val="bg1"/>
              </a:solidFill>
              <a:effectLst>
                <a:reflection blurRad="6350" stA="53000" endA="300" endPos="35500" dir="5400000" sy="-90000" algn="bl" rotWithShape="0"/>
              </a:effectLst>
              <a:latin typeface="Broadway" panose="04040905080B02020502" pitchFamily="82" charset="0"/>
              <a:ea typeface="微软雅黑" panose="020B0503020204020204" charset="-122"/>
            </a:endParaRPr>
          </a:p>
        </p:txBody>
      </p:sp>
      <p:sp>
        <p:nvSpPr>
          <p:cNvPr id="35" name="文本框 34"/>
          <p:cNvSpPr txBox="1"/>
          <p:nvPr/>
        </p:nvSpPr>
        <p:spPr bwMode="ltGray">
          <a:xfrm>
            <a:off x="6175666" y="6281919"/>
            <a:ext cx="1842135" cy="378460"/>
          </a:xfrm>
          <a:prstGeom prst="rect">
            <a:avLst/>
          </a:prstGeom>
          <a:noFill/>
        </p:spPr>
        <p:txBody>
          <a:bodyPr wrap="none" rtlCol="0">
            <a:spAutoFit/>
          </a:bodyPr>
          <a:lstStyle/>
          <a:p>
            <a:pPr algn="l"/>
            <a:r>
              <a:rPr lang="en-US" altLang="zh-CN" sz="1865" dirty="0" smtClean="0">
                <a:ln w="0"/>
                <a:solidFill>
                  <a:srgbClr val="FF9BFF"/>
                </a:solidFill>
                <a:effectLst>
                  <a:reflection blurRad="6350" stA="53000" endA="300" endPos="35500" dir="5400000" sy="-90000" algn="bl" rotWithShape="0"/>
                </a:effectLst>
                <a:latin typeface="Broadway" panose="04040905080B02020502" pitchFamily="82" charset="0"/>
                <a:ea typeface="微软雅黑" panose="020B0503020204020204" charset="-122"/>
              </a:rPr>
              <a:t>RELAXATION</a:t>
            </a:r>
            <a:endParaRPr lang="zh-CN" altLang="en-US" sz="1865" dirty="0" smtClean="0">
              <a:ln w="0"/>
              <a:solidFill>
                <a:srgbClr val="FF9BFF"/>
              </a:solidFill>
              <a:effectLst>
                <a:reflection blurRad="6350" stA="53000" endA="300" endPos="35500" dir="5400000" sy="-90000" algn="bl" rotWithShape="0"/>
              </a:effectLst>
              <a:latin typeface="Broadway" panose="04040905080B02020502" pitchFamily="82" charset="0"/>
              <a:ea typeface="微软雅黑" panose="020B0503020204020204" charset="-122"/>
            </a:endParaRPr>
          </a:p>
        </p:txBody>
      </p:sp>
      <p:sp>
        <p:nvSpPr>
          <p:cNvPr id="36" name="文本框 35"/>
          <p:cNvSpPr txBox="1"/>
          <p:nvPr/>
        </p:nvSpPr>
        <p:spPr bwMode="ltGray">
          <a:xfrm>
            <a:off x="1898438" y="6281336"/>
            <a:ext cx="2094865" cy="378460"/>
          </a:xfrm>
          <a:prstGeom prst="rect">
            <a:avLst/>
          </a:prstGeom>
          <a:noFill/>
        </p:spPr>
        <p:txBody>
          <a:bodyPr wrap="none" rtlCol="0">
            <a:spAutoFit/>
          </a:bodyPr>
          <a:lstStyle/>
          <a:p>
            <a:pPr algn="l"/>
            <a:r>
              <a:rPr lang="en-US" altLang="zh-TW" sz="1865" dirty="0" smtClean="0">
                <a:ln w="0"/>
                <a:solidFill>
                  <a:schemeClr val="accent1">
                    <a:lumMod val="40000"/>
                    <a:lumOff val="60000"/>
                  </a:schemeClr>
                </a:solidFill>
                <a:effectLst>
                  <a:reflection blurRad="6350" stA="53000" endA="300" endPos="35500" dir="5400000" sy="-90000" algn="bl" rotWithShape="0"/>
                </a:effectLst>
                <a:latin typeface="Broadway" panose="04040905080B02020502" pitchFamily="82" charset="0"/>
                <a:ea typeface="微软雅黑" panose="020B0503020204020204" charset="-122"/>
              </a:rPr>
              <a:t>VISION</a:t>
            </a:r>
            <a:r>
              <a:rPr lang="zh-TW" altLang="en-US" sz="1865" dirty="0" smtClean="0">
                <a:ln w="0"/>
                <a:solidFill>
                  <a:schemeClr val="accent1">
                    <a:lumMod val="40000"/>
                    <a:lumOff val="60000"/>
                  </a:schemeClr>
                </a:solidFill>
                <a:effectLst>
                  <a:reflection blurRad="6350" stA="53000" endA="300" endPos="35500" dir="5400000" sy="-90000" algn="bl" rotWithShape="0"/>
                </a:effectLst>
                <a:latin typeface="Broadway" panose="04040905080B02020502" pitchFamily="82" charset="0"/>
                <a:ea typeface="微软雅黑" panose="020B0503020204020204" charset="-122"/>
              </a:rPr>
              <a:t> </a:t>
            </a:r>
            <a:r>
              <a:rPr lang="en-US" altLang="zh-TW" sz="1865" dirty="0" smtClean="0">
                <a:ln w="0"/>
                <a:solidFill>
                  <a:schemeClr val="accent1">
                    <a:lumMod val="40000"/>
                    <a:lumOff val="60000"/>
                  </a:schemeClr>
                </a:solidFill>
                <a:effectLst>
                  <a:reflection blurRad="6350" stA="53000" endA="300" endPos="35500" dir="5400000" sy="-90000" algn="bl" rotWithShape="0"/>
                </a:effectLst>
                <a:latin typeface="Broadway" panose="04040905080B02020502" pitchFamily="82" charset="0"/>
                <a:ea typeface="微软雅黑" panose="020B0503020204020204" charset="-122"/>
              </a:rPr>
              <a:t>BRIGHT</a:t>
            </a:r>
            <a:endParaRPr lang="zh-CN" altLang="en-US" sz="1865" dirty="0" smtClean="0">
              <a:ln w="0"/>
              <a:solidFill>
                <a:schemeClr val="accent1">
                  <a:lumMod val="40000"/>
                  <a:lumOff val="60000"/>
                </a:schemeClr>
              </a:solidFill>
              <a:effectLst>
                <a:reflection blurRad="6350" stA="53000" endA="300" endPos="35500" dir="5400000" sy="-90000" algn="bl" rotWithShape="0"/>
              </a:effectLst>
              <a:latin typeface="Broadway" panose="04040905080B02020502" pitchFamily="82" charset="0"/>
              <a:ea typeface="微软雅黑" panose="020B0503020204020204" charset="-122"/>
            </a:endParaRPr>
          </a:p>
        </p:txBody>
      </p:sp>
      <p:sp>
        <p:nvSpPr>
          <p:cNvPr id="37" name="文本框 36"/>
          <p:cNvSpPr txBox="1"/>
          <p:nvPr/>
        </p:nvSpPr>
        <p:spPr bwMode="ltGray">
          <a:xfrm>
            <a:off x="6907514" y="3229394"/>
            <a:ext cx="1005205" cy="378460"/>
          </a:xfrm>
          <a:prstGeom prst="rect">
            <a:avLst/>
          </a:prstGeom>
          <a:noFill/>
        </p:spPr>
        <p:txBody>
          <a:bodyPr wrap="none" rtlCol="0">
            <a:spAutoFit/>
          </a:bodyPr>
          <a:lstStyle/>
          <a:p>
            <a:pPr algn="l"/>
            <a:r>
              <a:rPr lang="en-US" altLang="zh-TW" sz="1865" dirty="0" smtClean="0">
                <a:ln w="0"/>
                <a:solidFill>
                  <a:schemeClr val="accent5">
                    <a:lumMod val="20000"/>
                    <a:lumOff val="80000"/>
                  </a:schemeClr>
                </a:solidFill>
                <a:effectLst>
                  <a:reflection blurRad="6350" stA="53000" endA="300" endPos="35500" dir="5400000" sy="-90000" algn="bl" rotWithShape="0"/>
                </a:effectLst>
                <a:latin typeface="Broadway" panose="04040905080B02020502" pitchFamily="82" charset="0"/>
                <a:ea typeface="微软雅黑" panose="020B0503020204020204" charset="-122"/>
              </a:rPr>
              <a:t>FOCUS</a:t>
            </a:r>
            <a:endParaRPr lang="zh-CN" altLang="en-US" sz="1865" dirty="0" smtClean="0">
              <a:ln w="0"/>
              <a:solidFill>
                <a:schemeClr val="accent5">
                  <a:lumMod val="20000"/>
                  <a:lumOff val="80000"/>
                </a:schemeClr>
              </a:solidFill>
              <a:effectLst>
                <a:reflection blurRad="6350" stA="53000" endA="300" endPos="35500" dir="5400000" sy="-90000" algn="bl" rotWithShape="0"/>
              </a:effectLst>
              <a:latin typeface="Broadway" panose="04040905080B02020502" pitchFamily="82" charset="0"/>
              <a:ea typeface="微软雅黑" panose="020B0503020204020204" charset="-122"/>
            </a:endParaRPr>
          </a:p>
        </p:txBody>
      </p:sp>
      <p:sp>
        <p:nvSpPr>
          <p:cNvPr id="38" name="文本框 37"/>
          <p:cNvSpPr txBox="1"/>
          <p:nvPr/>
        </p:nvSpPr>
        <p:spPr bwMode="ltGray">
          <a:xfrm>
            <a:off x="10546226" y="3245429"/>
            <a:ext cx="1465580" cy="378460"/>
          </a:xfrm>
          <a:prstGeom prst="rect">
            <a:avLst/>
          </a:prstGeom>
          <a:noFill/>
        </p:spPr>
        <p:txBody>
          <a:bodyPr wrap="none" rtlCol="0">
            <a:spAutoFit/>
          </a:bodyPr>
          <a:lstStyle/>
          <a:p>
            <a:pPr algn="r"/>
            <a:r>
              <a:rPr lang="en-US" altLang="zh-TW" sz="1865" dirty="0" smtClean="0">
                <a:ln w="0"/>
                <a:solidFill>
                  <a:schemeClr val="accent6"/>
                </a:solidFill>
                <a:effectLst>
                  <a:reflection blurRad="6350" stA="53000" endA="300" endPos="35500" dir="5400000" sy="-90000" algn="bl" rotWithShape="0"/>
                </a:effectLst>
                <a:latin typeface="Broadway" panose="04040905080B02020502" pitchFamily="82" charset="0"/>
                <a:ea typeface="微软雅黑" panose="020B0503020204020204" charset="-122"/>
              </a:rPr>
              <a:t>Circadian</a:t>
            </a:r>
            <a:endParaRPr lang="zh-CN" altLang="en-US" sz="1865" dirty="0" smtClean="0">
              <a:ln w="0"/>
              <a:solidFill>
                <a:schemeClr val="accent6"/>
              </a:solidFill>
              <a:effectLst>
                <a:reflection blurRad="6350" stA="53000" endA="300" endPos="35500" dir="5400000" sy="-90000" algn="bl" rotWithShape="0"/>
              </a:effectLst>
              <a:latin typeface="Broadway" panose="04040905080B02020502" pitchFamily="82" charset="0"/>
              <a:ea typeface="微软雅黑" panose="020B0503020204020204" charset="-122"/>
            </a:endParaRPr>
          </a:p>
        </p:txBody>
      </p:sp>
      <p:sp>
        <p:nvSpPr>
          <p:cNvPr id="39" name="文本框 38"/>
          <p:cNvSpPr txBox="1"/>
          <p:nvPr/>
        </p:nvSpPr>
        <p:spPr bwMode="ltGray">
          <a:xfrm>
            <a:off x="10817881" y="6296032"/>
            <a:ext cx="1208405" cy="378460"/>
          </a:xfrm>
          <a:prstGeom prst="rect">
            <a:avLst/>
          </a:prstGeom>
          <a:noFill/>
        </p:spPr>
        <p:txBody>
          <a:bodyPr wrap="none" rtlCol="0">
            <a:spAutoFit/>
          </a:bodyPr>
          <a:lstStyle/>
          <a:p>
            <a:pPr algn="r"/>
            <a:r>
              <a:rPr lang="en-US" altLang="zh-TW" sz="1865" dirty="0" smtClean="0">
                <a:ln w="0"/>
                <a:solidFill>
                  <a:schemeClr val="accent2">
                    <a:lumMod val="60000"/>
                    <a:lumOff val="40000"/>
                  </a:schemeClr>
                </a:solidFill>
                <a:effectLst>
                  <a:reflection blurRad="6350" stA="53000" endA="300" endPos="35500" dir="5400000" sy="-90000" algn="bl" rotWithShape="0"/>
                </a:effectLst>
                <a:latin typeface="Broadway" panose="04040905080B02020502" pitchFamily="82" charset="0"/>
                <a:ea typeface="微软雅黑" panose="020B0503020204020204" charset="-122"/>
              </a:rPr>
              <a:t>BEAUTY</a:t>
            </a:r>
            <a:endParaRPr lang="zh-CN" altLang="en-US" sz="1865" dirty="0" smtClean="0">
              <a:ln w="0"/>
              <a:solidFill>
                <a:schemeClr val="accent2">
                  <a:lumMod val="60000"/>
                  <a:lumOff val="40000"/>
                </a:schemeClr>
              </a:solidFill>
              <a:effectLst>
                <a:reflection blurRad="6350" stA="53000" endA="300" endPos="35500" dir="5400000" sy="-90000" algn="bl" rotWithShape="0"/>
              </a:effectLst>
              <a:latin typeface="Broadway" panose="04040905080B02020502" pitchFamily="82" charset="0"/>
              <a:ea typeface="微软雅黑" panose="020B0503020204020204" charset="-122"/>
            </a:endParaRPr>
          </a:p>
        </p:txBody>
      </p:sp>
      <p:sp>
        <p:nvSpPr>
          <p:cNvPr id="41" name="文本框 40"/>
          <p:cNvSpPr txBox="1"/>
          <p:nvPr/>
        </p:nvSpPr>
        <p:spPr>
          <a:xfrm>
            <a:off x="390470" y="1659131"/>
            <a:ext cx="1714500" cy="584835"/>
          </a:xfrm>
          <a:prstGeom prst="rect">
            <a:avLst/>
          </a:prstGeom>
          <a:noFill/>
        </p:spPr>
        <p:txBody>
          <a:bodyPr wrap="none" rtlCol="0">
            <a:spAutoFit/>
          </a:bodyPr>
          <a:lstStyle/>
          <a:p>
            <a:pPr>
              <a:lnSpc>
                <a:spcPct val="120000"/>
              </a:lnSpc>
            </a:pPr>
            <a:r>
              <a:rPr lang="zh-TW" altLang="en-US" sz="1335" b="1" u="sng" dirty="0" smtClean="0">
                <a:solidFill>
                  <a:srgbClr val="000000"/>
                </a:solidFill>
                <a:latin typeface="微软雅黑" panose="020B0503020204020204" charset="-122"/>
                <a:ea typeface="微软雅黑" panose="020B0503020204020204" charset="-122"/>
              </a:rPr>
              <a:t>企业标准</a:t>
            </a:r>
            <a:endParaRPr lang="en-US" altLang="zh-TW" sz="1335" b="1" u="sng" dirty="0" smtClean="0">
              <a:solidFill>
                <a:srgbClr val="000000"/>
              </a:solidFill>
              <a:latin typeface="微软雅黑" panose="020B0503020204020204" charset="-122"/>
              <a:ea typeface="微软雅黑" panose="020B0503020204020204" charset="-122"/>
            </a:endParaRPr>
          </a:p>
          <a:p>
            <a:pPr>
              <a:lnSpc>
                <a:spcPct val="120000"/>
              </a:lnSpc>
            </a:pPr>
            <a:r>
              <a:rPr lang="zh-TW" altLang="en-US" sz="1335" dirty="0" smtClean="0">
                <a:solidFill>
                  <a:srgbClr val="000000"/>
                </a:solidFill>
                <a:latin typeface="微软雅黑" panose="020B0503020204020204" charset="-122"/>
                <a:ea typeface="微软雅黑" panose="020B0503020204020204" charset="-122"/>
              </a:rPr>
              <a:t>自定义白光色点中心</a:t>
            </a:r>
            <a:endParaRPr lang="en-US" altLang="zh-TW" sz="1335" dirty="0" smtClean="0">
              <a:solidFill>
                <a:srgbClr val="000000"/>
              </a:solidFill>
              <a:latin typeface="微软雅黑" panose="020B0503020204020204" charset="-122"/>
              <a:ea typeface="微软雅黑" panose="020B0503020204020204" charset="-122"/>
            </a:endParaRPr>
          </a:p>
        </p:txBody>
      </p:sp>
      <p:pic>
        <p:nvPicPr>
          <p:cNvPr id="44" name="图片 43"/>
          <p:cNvPicPr>
            <a:picLocks noChangeAspect="1"/>
          </p:cNvPicPr>
          <p:nvPr/>
        </p:nvPicPr>
        <p:blipFill rotWithShape="1">
          <a:blip r:embed="rId4"/>
          <a:srcRect r="33379" b="53588"/>
          <a:stretch>
            <a:fillRect/>
          </a:stretch>
        </p:blipFill>
        <p:spPr>
          <a:xfrm>
            <a:off x="479681" y="2274653"/>
            <a:ext cx="1705983" cy="1250354"/>
          </a:xfrm>
          <a:prstGeom prst="rect">
            <a:avLst/>
          </a:prstGeom>
        </p:spPr>
      </p:pic>
      <p:sp>
        <p:nvSpPr>
          <p:cNvPr id="45" name="文本框 44"/>
          <p:cNvSpPr txBox="1"/>
          <p:nvPr/>
        </p:nvSpPr>
        <p:spPr>
          <a:xfrm>
            <a:off x="548491" y="2849615"/>
            <a:ext cx="755569" cy="316865"/>
          </a:xfrm>
          <a:prstGeom prst="rect">
            <a:avLst/>
          </a:prstGeom>
          <a:noFill/>
        </p:spPr>
        <p:txBody>
          <a:bodyPr wrap="square" rtlCol="0">
            <a:spAutoFit/>
          </a:bodyPr>
          <a:lstStyle/>
          <a:p>
            <a:pPr algn="l"/>
            <a:r>
              <a:rPr lang="en-US" altLang="zh-TW" sz="1465" b="1" dirty="0" smtClean="0">
                <a:solidFill>
                  <a:schemeClr val="bg1"/>
                </a:solidFill>
                <a:latin typeface="微软雅黑" panose="020B0503020204020204" charset="-122"/>
                <a:ea typeface="微软雅黑" panose="020B0503020204020204" charset="-122"/>
              </a:rPr>
              <a:t>Ra80</a:t>
            </a:r>
            <a:endParaRPr lang="zh-CN" altLang="en-US" sz="1465" b="1" dirty="0" smtClean="0">
              <a:solidFill>
                <a:schemeClr val="bg1"/>
              </a:solidFill>
              <a:latin typeface="微软雅黑" panose="020B0503020204020204" charset="-122"/>
              <a:ea typeface="微软雅黑" panose="020B0503020204020204" charset="-122"/>
            </a:endParaRPr>
          </a:p>
        </p:txBody>
      </p:sp>
      <p:sp>
        <p:nvSpPr>
          <p:cNvPr id="46" name="文本框 45"/>
          <p:cNvSpPr txBox="1"/>
          <p:nvPr/>
        </p:nvSpPr>
        <p:spPr>
          <a:xfrm>
            <a:off x="1386660" y="2840918"/>
            <a:ext cx="812437" cy="316865"/>
          </a:xfrm>
          <a:prstGeom prst="rect">
            <a:avLst/>
          </a:prstGeom>
          <a:noFill/>
        </p:spPr>
        <p:txBody>
          <a:bodyPr wrap="square" rtlCol="0">
            <a:spAutoFit/>
          </a:bodyPr>
          <a:lstStyle/>
          <a:p>
            <a:pPr algn="l"/>
            <a:r>
              <a:rPr lang="zh-TW" altLang="en-US" sz="1465" b="1" dirty="0" smtClean="0">
                <a:solidFill>
                  <a:schemeClr val="bg1"/>
                </a:solidFill>
                <a:latin typeface="微软雅黑" panose="020B0503020204020204" charset="-122"/>
                <a:ea typeface="微软雅黑" panose="020B0503020204020204" charset="-122"/>
              </a:rPr>
              <a:t>真彩光</a:t>
            </a:r>
            <a:endParaRPr lang="zh-CN" altLang="en-US" sz="1465" b="1" dirty="0" smtClean="0">
              <a:solidFill>
                <a:schemeClr val="bg1"/>
              </a:solidFill>
              <a:latin typeface="微软雅黑" panose="020B0503020204020204" charset="-122"/>
              <a:ea typeface="微软雅黑" panose="020B0503020204020204" charset="-122"/>
            </a:endParaRPr>
          </a:p>
        </p:txBody>
      </p:sp>
      <p:pic>
        <p:nvPicPr>
          <p:cNvPr id="47" name="图片 46"/>
          <p:cNvPicPr>
            <a:picLocks noChangeAspect="1"/>
          </p:cNvPicPr>
          <p:nvPr/>
        </p:nvPicPr>
        <p:blipFill>
          <a:blip r:embed="rId5"/>
          <a:stretch>
            <a:fillRect/>
          </a:stretch>
        </p:blipFill>
        <p:spPr>
          <a:xfrm>
            <a:off x="4433920" y="5279703"/>
            <a:ext cx="3411869" cy="1053600"/>
          </a:xfrm>
          <a:prstGeom prst="rect">
            <a:avLst/>
          </a:prstGeom>
        </p:spPr>
      </p:pic>
      <p:sp>
        <p:nvSpPr>
          <p:cNvPr id="49" name="文本框 48"/>
          <p:cNvSpPr txBox="1"/>
          <p:nvPr/>
        </p:nvSpPr>
        <p:spPr>
          <a:xfrm>
            <a:off x="4336369" y="4699523"/>
            <a:ext cx="3599180" cy="584835"/>
          </a:xfrm>
          <a:prstGeom prst="rect">
            <a:avLst/>
          </a:prstGeom>
          <a:noFill/>
        </p:spPr>
        <p:txBody>
          <a:bodyPr wrap="none" rtlCol="0">
            <a:spAutoFit/>
          </a:bodyPr>
          <a:lstStyle/>
          <a:p>
            <a:pPr>
              <a:lnSpc>
                <a:spcPct val="120000"/>
              </a:lnSpc>
            </a:pPr>
            <a:r>
              <a:rPr lang="zh-TW" altLang="en-US" sz="1335" b="1" u="sng" dirty="0">
                <a:solidFill>
                  <a:srgbClr val="000000"/>
                </a:solidFill>
                <a:latin typeface="微软雅黑" panose="020B0503020204020204" charset="-122"/>
                <a:ea typeface="微软雅黑" panose="020B0503020204020204" charset="-122"/>
              </a:rPr>
              <a:t>浙大合作</a:t>
            </a:r>
            <a:endParaRPr lang="en-US" altLang="zh-TW" sz="1335" b="1" u="sng" dirty="0" smtClean="0">
              <a:solidFill>
                <a:srgbClr val="000000"/>
              </a:solidFill>
              <a:latin typeface="微软雅黑" panose="020B0503020204020204" charset="-122"/>
              <a:ea typeface="微软雅黑" panose="020B0503020204020204" charset="-122"/>
            </a:endParaRPr>
          </a:p>
          <a:p>
            <a:pPr>
              <a:lnSpc>
                <a:spcPct val="120000"/>
              </a:lnSpc>
            </a:pPr>
            <a:r>
              <a:rPr lang="zh-TW" altLang="en-US" sz="1335" dirty="0">
                <a:solidFill>
                  <a:srgbClr val="000000"/>
                </a:solidFill>
                <a:latin typeface="微软雅黑" panose="020B0503020204020204" charset="-122"/>
                <a:ea typeface="微软雅黑" panose="020B0503020204020204" charset="-122"/>
              </a:rPr>
              <a:t>提升</a:t>
            </a:r>
            <a:r>
              <a:rPr lang="zh-CN" altLang="en-US" sz="1335" dirty="0" smtClean="0">
                <a:solidFill>
                  <a:srgbClr val="000000"/>
                </a:solidFill>
                <a:latin typeface="微软雅黑" panose="020B0503020204020204" charset="-122"/>
                <a:ea typeface="微软雅黑" panose="020B0503020204020204" charset="-122"/>
              </a:rPr>
              <a:t>褪黑激素浓度</a:t>
            </a:r>
            <a:r>
              <a:rPr lang="en-US" altLang="zh-CN" sz="1335" dirty="0" smtClean="0">
                <a:solidFill>
                  <a:srgbClr val="000000"/>
                </a:solidFill>
                <a:latin typeface="微软雅黑" panose="020B0503020204020204" charset="-122"/>
                <a:ea typeface="微软雅黑" panose="020B0503020204020204" charset="-122"/>
              </a:rPr>
              <a:t>, </a:t>
            </a:r>
            <a:r>
              <a:rPr lang="zh-TW" altLang="en-US" sz="1335" dirty="0" smtClean="0">
                <a:solidFill>
                  <a:srgbClr val="000000"/>
                </a:solidFill>
                <a:latin typeface="微软雅黑" panose="020B0503020204020204" charset="-122"/>
                <a:ea typeface="微软雅黑" panose="020B0503020204020204" charset="-122"/>
              </a:rPr>
              <a:t>缓解眼疲劳</a:t>
            </a:r>
            <a:r>
              <a:rPr lang="en-US" altLang="zh-TW" sz="1335" dirty="0" smtClean="0">
                <a:solidFill>
                  <a:srgbClr val="000000"/>
                </a:solidFill>
                <a:latin typeface="微软雅黑" panose="020B0503020204020204" charset="-122"/>
                <a:ea typeface="微软雅黑" panose="020B0503020204020204" charset="-122"/>
              </a:rPr>
              <a:t>, </a:t>
            </a:r>
            <a:r>
              <a:rPr lang="zh-TW" altLang="en-US" sz="1335" dirty="0" smtClean="0">
                <a:solidFill>
                  <a:srgbClr val="000000"/>
                </a:solidFill>
                <a:latin typeface="微软雅黑" panose="020B0503020204020204" charset="-122"/>
                <a:ea typeface="微软雅黑" panose="020B0503020204020204" charset="-122"/>
              </a:rPr>
              <a:t>提高睡眠质量</a:t>
            </a:r>
            <a:endParaRPr lang="zh-CN" altLang="en-US" sz="1335" dirty="0">
              <a:solidFill>
                <a:srgbClr val="000000"/>
              </a:solidFill>
              <a:latin typeface="微软雅黑" panose="020B0503020204020204" charset="-122"/>
              <a:ea typeface="微软雅黑" panose="020B0503020204020204" charset="-122"/>
            </a:endParaRPr>
          </a:p>
        </p:txBody>
      </p:sp>
      <p:sp>
        <p:nvSpPr>
          <p:cNvPr id="50" name="文本框 49"/>
          <p:cNvSpPr txBox="1"/>
          <p:nvPr/>
        </p:nvSpPr>
        <p:spPr>
          <a:xfrm>
            <a:off x="171289" y="4715877"/>
            <a:ext cx="2565400" cy="584835"/>
          </a:xfrm>
          <a:prstGeom prst="rect">
            <a:avLst/>
          </a:prstGeom>
          <a:noFill/>
        </p:spPr>
        <p:txBody>
          <a:bodyPr wrap="none" rtlCol="0">
            <a:spAutoFit/>
          </a:bodyPr>
          <a:lstStyle/>
          <a:p>
            <a:pPr>
              <a:lnSpc>
                <a:spcPct val="120000"/>
              </a:lnSpc>
            </a:pPr>
            <a:r>
              <a:rPr lang="zh-TW" altLang="en-US" sz="1335" b="1" u="sng" dirty="0" smtClean="0">
                <a:solidFill>
                  <a:srgbClr val="000000"/>
                </a:solidFill>
                <a:latin typeface="微软雅黑" panose="020B0503020204020204" charset="-122"/>
                <a:ea typeface="微软雅黑" panose="020B0503020204020204" charset="-122"/>
              </a:rPr>
              <a:t>补偿老年人视觉老化缺陷</a:t>
            </a:r>
            <a:endParaRPr lang="en-US" altLang="zh-CN" sz="1335" dirty="0" smtClean="0">
              <a:solidFill>
                <a:srgbClr val="000000"/>
              </a:solidFill>
              <a:latin typeface="微软雅黑" panose="020B0503020204020204" charset="-122"/>
              <a:ea typeface="微软雅黑" panose="020B0503020204020204" charset="-122"/>
            </a:endParaRPr>
          </a:p>
          <a:p>
            <a:pPr>
              <a:lnSpc>
                <a:spcPct val="120000"/>
              </a:lnSpc>
            </a:pPr>
            <a:r>
              <a:rPr lang="zh-TW" altLang="en-US" sz="1335" dirty="0" smtClean="0">
                <a:solidFill>
                  <a:srgbClr val="000000"/>
                </a:solidFill>
                <a:latin typeface="微软雅黑" panose="020B0503020204020204" charset="-122"/>
                <a:ea typeface="微软雅黑" panose="020B0503020204020204" charset="-122"/>
              </a:rPr>
              <a:t>降低黄光波段改善视觉黄化问题</a:t>
            </a:r>
            <a:endParaRPr lang="zh-CN" altLang="en-US" sz="1335" dirty="0">
              <a:solidFill>
                <a:srgbClr val="000000"/>
              </a:solidFill>
              <a:latin typeface="微软雅黑" panose="020B0503020204020204" charset="-122"/>
              <a:ea typeface="微软雅黑" panose="020B0503020204020204" charset="-122"/>
            </a:endParaRPr>
          </a:p>
        </p:txBody>
      </p:sp>
      <p:pic>
        <p:nvPicPr>
          <p:cNvPr id="51" name="图片 50"/>
          <p:cNvPicPr>
            <a:picLocks noChangeAspect="1"/>
          </p:cNvPicPr>
          <p:nvPr/>
        </p:nvPicPr>
        <p:blipFill rotWithShape="1">
          <a:blip r:embed="rId6"/>
          <a:srcRect r="440" b="3200"/>
          <a:stretch>
            <a:fillRect/>
          </a:stretch>
        </p:blipFill>
        <p:spPr>
          <a:xfrm>
            <a:off x="287136" y="5327138"/>
            <a:ext cx="3670622" cy="1032607"/>
          </a:xfrm>
          <a:prstGeom prst="rect">
            <a:avLst/>
          </a:prstGeom>
        </p:spPr>
      </p:pic>
      <p:pic>
        <p:nvPicPr>
          <p:cNvPr id="53" name="图片 52"/>
          <p:cNvPicPr>
            <a:picLocks noChangeAspect="1"/>
          </p:cNvPicPr>
          <p:nvPr/>
        </p:nvPicPr>
        <p:blipFill rotWithShape="1">
          <a:blip r:embed="rId7"/>
          <a:srcRect t="1710" r="502"/>
          <a:stretch>
            <a:fillRect/>
          </a:stretch>
        </p:blipFill>
        <p:spPr>
          <a:xfrm>
            <a:off x="8276833" y="2087843"/>
            <a:ext cx="3615216" cy="1202730"/>
          </a:xfrm>
          <a:prstGeom prst="rect">
            <a:avLst/>
          </a:prstGeom>
        </p:spPr>
      </p:pic>
      <p:sp>
        <p:nvSpPr>
          <p:cNvPr id="54" name="文本框 53"/>
          <p:cNvSpPr txBox="1"/>
          <p:nvPr/>
        </p:nvSpPr>
        <p:spPr>
          <a:xfrm>
            <a:off x="8199561" y="1623959"/>
            <a:ext cx="1203960" cy="337820"/>
          </a:xfrm>
          <a:prstGeom prst="rect">
            <a:avLst/>
          </a:prstGeom>
          <a:noFill/>
        </p:spPr>
        <p:txBody>
          <a:bodyPr wrap="none" rtlCol="0">
            <a:spAutoFit/>
          </a:bodyPr>
          <a:lstStyle/>
          <a:p>
            <a:pPr>
              <a:lnSpc>
                <a:spcPct val="120000"/>
              </a:lnSpc>
            </a:pPr>
            <a:r>
              <a:rPr lang="zh-TW" altLang="en-US" sz="1335" b="1" u="sng" dirty="0">
                <a:solidFill>
                  <a:srgbClr val="000000"/>
                </a:solidFill>
                <a:latin typeface="微软雅黑" panose="020B0503020204020204" charset="-122"/>
                <a:ea typeface="微软雅黑" panose="020B0503020204020204" charset="-122"/>
              </a:rPr>
              <a:t>自研节律算法</a:t>
            </a:r>
            <a:endParaRPr lang="en-US" altLang="zh-CN" sz="1335" dirty="0" smtClean="0">
              <a:solidFill>
                <a:srgbClr val="000000"/>
              </a:solidFill>
              <a:latin typeface="微软雅黑" panose="020B0503020204020204" charset="-122"/>
              <a:ea typeface="微软雅黑" panose="020B0503020204020204" charset="-122"/>
            </a:endParaRPr>
          </a:p>
        </p:txBody>
      </p:sp>
      <p:graphicFrame>
        <p:nvGraphicFramePr>
          <p:cNvPr id="55" name="表格 54"/>
          <p:cNvGraphicFramePr>
            <a:graphicFrameLocks noGrp="1"/>
          </p:cNvGraphicFramePr>
          <p:nvPr/>
        </p:nvGraphicFramePr>
        <p:xfrm>
          <a:off x="8326213" y="5157841"/>
          <a:ext cx="3641090" cy="1264920"/>
        </p:xfrm>
        <a:graphic>
          <a:graphicData uri="http://schemas.openxmlformats.org/drawingml/2006/table">
            <a:tbl>
              <a:tblPr firstRow="1" bandRow="1">
                <a:tableStyleId>{3B4B98B0-60AC-42C2-AFA5-B58CD77FA1E5}</a:tableStyleId>
              </a:tblPr>
              <a:tblGrid>
                <a:gridCol w="1469390"/>
                <a:gridCol w="706120"/>
                <a:gridCol w="732790"/>
                <a:gridCol w="732790"/>
              </a:tblGrid>
              <a:tr h="347980">
                <a:tc>
                  <a:txBody>
                    <a:bodyPr/>
                    <a:lstStyle/>
                    <a:p>
                      <a:pPr algn="ctr"/>
                      <a:endParaRPr lang="zh-CN" altLang="en-US" sz="1065" dirty="0">
                        <a:latin typeface="微软雅黑" panose="020B0503020204020204" charset="-122"/>
                        <a:ea typeface="微软雅黑" panose="020B0503020204020204" charset="-122"/>
                      </a:endParaRPr>
                    </a:p>
                  </a:txBody>
                  <a:tcPr marL="121913" marR="121913" marT="60956" marB="60956" anchor="ctr"/>
                </a:tc>
                <a:tc>
                  <a:txBody>
                    <a:bodyPr/>
                    <a:lstStyle/>
                    <a:p>
                      <a:pPr algn="ctr"/>
                      <a:r>
                        <a:rPr lang="zh-TW" altLang="en-US" sz="1065" dirty="0" smtClean="0">
                          <a:latin typeface="微软雅黑" panose="020B0503020204020204" charset="-122"/>
                          <a:ea typeface="微软雅黑" panose="020B0503020204020204" charset="-122"/>
                        </a:rPr>
                        <a:t>美肤光</a:t>
                      </a:r>
                      <a:endParaRPr lang="zh-CN" altLang="en-US" sz="1065" dirty="0">
                        <a:latin typeface="微软雅黑" panose="020B0503020204020204" charset="-122"/>
                        <a:ea typeface="微软雅黑" panose="020B0503020204020204" charset="-122"/>
                      </a:endParaRPr>
                    </a:p>
                  </a:txBody>
                  <a:tcPr marL="121913" marR="121913" marT="60956" marB="60956" anchor="ctr"/>
                </a:tc>
                <a:tc>
                  <a:txBody>
                    <a:bodyPr/>
                    <a:lstStyle/>
                    <a:p>
                      <a:pPr algn="ctr"/>
                      <a:r>
                        <a:rPr lang="en-US" altLang="zh-CN" sz="1065" dirty="0" smtClean="0">
                          <a:latin typeface="微软雅黑" panose="020B0503020204020204" charset="-122"/>
                          <a:ea typeface="微软雅黑" panose="020B0503020204020204" charset="-122"/>
                        </a:rPr>
                        <a:t>Ra80</a:t>
                      </a:r>
                      <a:endParaRPr lang="zh-CN" altLang="en-US" sz="1065" dirty="0">
                        <a:latin typeface="微软雅黑" panose="020B0503020204020204" charset="-122"/>
                        <a:ea typeface="微软雅黑" panose="020B0503020204020204" charset="-122"/>
                      </a:endParaRPr>
                    </a:p>
                  </a:txBody>
                  <a:tcPr marL="121913" marR="121913" marT="60956" marB="60956" anchor="ctr"/>
                </a:tc>
                <a:tc>
                  <a:txBody>
                    <a:bodyPr/>
                    <a:lstStyle/>
                    <a:p>
                      <a:pPr algn="ctr"/>
                      <a:r>
                        <a:rPr lang="en-US" altLang="zh-CN" sz="1065" dirty="0" smtClean="0">
                          <a:latin typeface="微软雅黑" panose="020B0503020204020204" charset="-122"/>
                          <a:ea typeface="微软雅黑" panose="020B0503020204020204" charset="-122"/>
                        </a:rPr>
                        <a:t>Ra90</a:t>
                      </a:r>
                      <a:endParaRPr lang="zh-CN" altLang="en-US" sz="1065" dirty="0">
                        <a:latin typeface="微软雅黑" panose="020B0503020204020204" charset="-122"/>
                        <a:ea typeface="微软雅黑" panose="020B0503020204020204" charset="-122"/>
                      </a:endParaRPr>
                    </a:p>
                  </a:txBody>
                  <a:tcPr marL="121913" marR="121913" marT="60956" marB="60956" anchor="ctr"/>
                </a:tc>
              </a:tr>
              <a:tr h="284480">
                <a:tc>
                  <a:txBody>
                    <a:bodyPr/>
                    <a:lstStyle/>
                    <a:p>
                      <a:pPr algn="ctr"/>
                      <a:r>
                        <a:rPr lang="en-US" altLang="zh-CN" sz="1065" dirty="0" smtClean="0">
                          <a:latin typeface="微软雅黑" panose="020B0503020204020204" charset="-122"/>
                          <a:ea typeface="微软雅黑" panose="020B0503020204020204" charset="-122"/>
                        </a:rPr>
                        <a:t>Ra, typ.</a:t>
                      </a:r>
                      <a:endParaRPr lang="zh-CN" altLang="en-US" sz="1065" dirty="0">
                        <a:latin typeface="微软雅黑" panose="020B0503020204020204" charset="-122"/>
                        <a:ea typeface="微软雅黑" panose="020B0503020204020204" charset="-122"/>
                      </a:endParaRPr>
                    </a:p>
                  </a:txBody>
                  <a:tcPr marL="121913" marR="121913" marT="60956" marB="60956" anchor="ctr"/>
                </a:tc>
                <a:tc>
                  <a:txBody>
                    <a:bodyPr/>
                    <a:lstStyle/>
                    <a:p>
                      <a:pPr algn="ctr"/>
                      <a:r>
                        <a:rPr lang="en-US" altLang="zh-CN" sz="1065" dirty="0" smtClean="0">
                          <a:latin typeface="微软雅黑" panose="020B0503020204020204" charset="-122"/>
                          <a:ea typeface="微软雅黑" panose="020B0503020204020204" charset="-122"/>
                        </a:rPr>
                        <a:t>94</a:t>
                      </a:r>
                      <a:endParaRPr lang="zh-CN" altLang="en-US" sz="1065" dirty="0">
                        <a:latin typeface="微软雅黑" panose="020B0503020204020204" charset="-122"/>
                        <a:ea typeface="微软雅黑" panose="020B0503020204020204" charset="-122"/>
                      </a:endParaRPr>
                    </a:p>
                  </a:txBody>
                  <a:tcPr marL="121913" marR="121913" marT="60956" marB="60956" anchor="ctr"/>
                </a:tc>
                <a:tc>
                  <a:txBody>
                    <a:bodyPr/>
                    <a:lstStyle/>
                    <a:p>
                      <a:pPr algn="ctr"/>
                      <a:r>
                        <a:rPr lang="en-US" altLang="zh-CN" sz="1065" dirty="0" smtClean="0">
                          <a:latin typeface="微软雅黑" panose="020B0503020204020204" charset="-122"/>
                          <a:ea typeface="微软雅黑" panose="020B0503020204020204" charset="-122"/>
                        </a:rPr>
                        <a:t>82</a:t>
                      </a:r>
                      <a:endParaRPr lang="zh-CN" altLang="en-US" sz="1065" dirty="0">
                        <a:latin typeface="微软雅黑" panose="020B0503020204020204" charset="-122"/>
                        <a:ea typeface="微软雅黑" panose="020B0503020204020204" charset="-122"/>
                      </a:endParaRPr>
                    </a:p>
                  </a:txBody>
                  <a:tcPr marL="121913" marR="121913" marT="60956" marB="60956" anchor="ctr"/>
                </a:tc>
                <a:tc>
                  <a:txBody>
                    <a:bodyPr/>
                    <a:lstStyle/>
                    <a:p>
                      <a:pPr algn="ctr"/>
                      <a:r>
                        <a:rPr lang="en-US" altLang="zh-CN" sz="1065" dirty="0" smtClean="0">
                          <a:latin typeface="微软雅黑" panose="020B0503020204020204" charset="-122"/>
                          <a:ea typeface="微软雅黑" panose="020B0503020204020204" charset="-122"/>
                        </a:rPr>
                        <a:t>93</a:t>
                      </a:r>
                      <a:endParaRPr lang="zh-CN" altLang="en-US" sz="1065" dirty="0">
                        <a:latin typeface="微软雅黑" panose="020B0503020204020204" charset="-122"/>
                        <a:ea typeface="微软雅黑" panose="020B0503020204020204" charset="-122"/>
                      </a:endParaRPr>
                    </a:p>
                  </a:txBody>
                  <a:tcPr marL="121913" marR="121913" marT="60956" marB="60956" anchor="ctr"/>
                </a:tc>
              </a:tr>
              <a:tr h="284480">
                <a:tc>
                  <a:txBody>
                    <a:bodyPr/>
                    <a:lstStyle/>
                    <a:p>
                      <a:pPr algn="ctr"/>
                      <a:r>
                        <a:rPr lang="en-US" altLang="zh-CN" sz="1065" dirty="0" smtClean="0">
                          <a:solidFill>
                            <a:srgbClr val="FF0000"/>
                          </a:solidFill>
                          <a:latin typeface="微软雅黑" panose="020B0503020204020204" charset="-122"/>
                          <a:ea typeface="微软雅黑" panose="020B0503020204020204" charset="-122"/>
                        </a:rPr>
                        <a:t>R9(</a:t>
                      </a:r>
                      <a:r>
                        <a:rPr lang="zh-TW" altLang="en-US" sz="1065" dirty="0" smtClean="0">
                          <a:solidFill>
                            <a:srgbClr val="FF0000"/>
                          </a:solidFill>
                          <a:latin typeface="微软雅黑" panose="020B0503020204020204" charset="-122"/>
                          <a:ea typeface="微软雅黑" panose="020B0503020204020204" charset="-122"/>
                        </a:rPr>
                        <a:t>饱和红色</a:t>
                      </a:r>
                      <a:r>
                        <a:rPr lang="en-US" altLang="zh-CN" sz="1065" dirty="0" smtClean="0">
                          <a:solidFill>
                            <a:srgbClr val="FF0000"/>
                          </a:solidFill>
                          <a:latin typeface="微软雅黑" panose="020B0503020204020204" charset="-122"/>
                          <a:ea typeface="微软雅黑" panose="020B0503020204020204" charset="-122"/>
                        </a:rPr>
                        <a:t>)</a:t>
                      </a:r>
                      <a:endParaRPr lang="zh-CN" altLang="en-US" sz="1065" dirty="0">
                        <a:solidFill>
                          <a:srgbClr val="FF0000"/>
                        </a:solidFill>
                        <a:latin typeface="微软雅黑" panose="020B0503020204020204" charset="-122"/>
                        <a:ea typeface="微软雅黑" panose="020B0503020204020204" charset="-122"/>
                      </a:endParaRPr>
                    </a:p>
                  </a:txBody>
                  <a:tcPr marL="121913" marR="121913" marT="60956" marB="60956" anchor="ctr"/>
                </a:tc>
                <a:tc>
                  <a:txBody>
                    <a:bodyPr/>
                    <a:lstStyle/>
                    <a:p>
                      <a:pPr algn="ctr"/>
                      <a:r>
                        <a:rPr lang="en-US" altLang="zh-CN" sz="1065" dirty="0" smtClean="0">
                          <a:solidFill>
                            <a:srgbClr val="FF0000"/>
                          </a:solidFill>
                          <a:latin typeface="微软雅黑" panose="020B0503020204020204" charset="-122"/>
                          <a:ea typeface="微软雅黑" panose="020B0503020204020204" charset="-122"/>
                        </a:rPr>
                        <a:t>94</a:t>
                      </a:r>
                      <a:endParaRPr lang="zh-CN" altLang="en-US" sz="1065" dirty="0">
                        <a:solidFill>
                          <a:srgbClr val="FF0000"/>
                        </a:solidFill>
                        <a:latin typeface="微软雅黑" panose="020B0503020204020204" charset="-122"/>
                        <a:ea typeface="微软雅黑" panose="020B0503020204020204" charset="-122"/>
                      </a:endParaRPr>
                    </a:p>
                  </a:txBody>
                  <a:tcPr marL="121913" marR="121913" marT="60956" marB="60956" anchor="ctr"/>
                </a:tc>
                <a:tc>
                  <a:txBody>
                    <a:bodyPr/>
                    <a:lstStyle/>
                    <a:p>
                      <a:pPr algn="ctr"/>
                      <a:r>
                        <a:rPr lang="en-US" altLang="zh-CN" sz="1065" dirty="0" smtClean="0">
                          <a:solidFill>
                            <a:srgbClr val="FF0000"/>
                          </a:solidFill>
                          <a:latin typeface="微软雅黑" panose="020B0503020204020204" charset="-122"/>
                          <a:ea typeface="微软雅黑" panose="020B0503020204020204" charset="-122"/>
                        </a:rPr>
                        <a:t>9</a:t>
                      </a:r>
                      <a:endParaRPr lang="zh-CN" altLang="en-US" sz="1065" dirty="0">
                        <a:solidFill>
                          <a:srgbClr val="FF0000"/>
                        </a:solidFill>
                        <a:latin typeface="微软雅黑" panose="020B0503020204020204" charset="-122"/>
                        <a:ea typeface="微软雅黑" panose="020B0503020204020204" charset="-122"/>
                      </a:endParaRPr>
                    </a:p>
                  </a:txBody>
                  <a:tcPr marL="121913" marR="121913" marT="60956" marB="60956" anchor="ctr"/>
                </a:tc>
                <a:tc>
                  <a:txBody>
                    <a:bodyPr/>
                    <a:lstStyle/>
                    <a:p>
                      <a:pPr algn="ctr"/>
                      <a:r>
                        <a:rPr lang="en-US" altLang="zh-CN" sz="1065" dirty="0" smtClean="0">
                          <a:solidFill>
                            <a:srgbClr val="FF0000"/>
                          </a:solidFill>
                          <a:latin typeface="微软雅黑" panose="020B0503020204020204" charset="-122"/>
                          <a:ea typeface="微软雅黑" panose="020B0503020204020204" charset="-122"/>
                        </a:rPr>
                        <a:t>66</a:t>
                      </a:r>
                      <a:endParaRPr lang="zh-CN" altLang="en-US" sz="1065" dirty="0">
                        <a:solidFill>
                          <a:srgbClr val="FF0000"/>
                        </a:solidFill>
                        <a:latin typeface="微软雅黑" panose="020B0503020204020204" charset="-122"/>
                        <a:ea typeface="微软雅黑" panose="020B0503020204020204" charset="-122"/>
                      </a:endParaRPr>
                    </a:p>
                  </a:txBody>
                  <a:tcPr marL="121913" marR="121913" marT="60956" marB="60956" anchor="ctr"/>
                </a:tc>
              </a:tr>
              <a:tr h="347980">
                <a:tc>
                  <a:txBody>
                    <a:bodyPr/>
                    <a:lstStyle/>
                    <a:p>
                      <a:pPr algn="ctr"/>
                      <a:r>
                        <a:rPr lang="en-US" altLang="zh-CN" sz="1065" dirty="0" smtClean="0">
                          <a:solidFill>
                            <a:schemeClr val="accent6">
                              <a:lumMod val="75000"/>
                            </a:schemeClr>
                          </a:solidFill>
                          <a:latin typeface="微软雅黑" panose="020B0503020204020204" charset="-122"/>
                          <a:ea typeface="微软雅黑" panose="020B0503020204020204" charset="-122"/>
                        </a:rPr>
                        <a:t>R15(</a:t>
                      </a:r>
                      <a:r>
                        <a:rPr lang="zh-TW" altLang="en-US" sz="1065" dirty="0" smtClean="0">
                          <a:solidFill>
                            <a:schemeClr val="accent6">
                              <a:lumMod val="75000"/>
                            </a:schemeClr>
                          </a:solidFill>
                          <a:latin typeface="微软雅黑" panose="020B0503020204020204" charset="-122"/>
                          <a:ea typeface="微软雅黑" panose="020B0503020204020204" charset="-122"/>
                        </a:rPr>
                        <a:t>亚洲人肤色</a:t>
                      </a:r>
                      <a:r>
                        <a:rPr lang="en-US" altLang="zh-CN" sz="1065" dirty="0" smtClean="0">
                          <a:solidFill>
                            <a:schemeClr val="accent6">
                              <a:lumMod val="75000"/>
                            </a:schemeClr>
                          </a:solidFill>
                          <a:latin typeface="微软雅黑" panose="020B0503020204020204" charset="-122"/>
                          <a:ea typeface="微软雅黑" panose="020B0503020204020204" charset="-122"/>
                        </a:rPr>
                        <a:t>)</a:t>
                      </a:r>
                      <a:endParaRPr lang="zh-CN" altLang="en-US" sz="1065" dirty="0">
                        <a:solidFill>
                          <a:schemeClr val="accent6">
                            <a:lumMod val="75000"/>
                          </a:schemeClr>
                        </a:solidFill>
                        <a:latin typeface="微软雅黑" panose="020B0503020204020204" charset="-122"/>
                        <a:ea typeface="微软雅黑" panose="020B0503020204020204" charset="-122"/>
                      </a:endParaRPr>
                    </a:p>
                  </a:txBody>
                  <a:tcPr marL="121913" marR="121913" marT="60956" marB="60956" anchor="ctr"/>
                </a:tc>
                <a:tc>
                  <a:txBody>
                    <a:bodyPr/>
                    <a:lstStyle/>
                    <a:p>
                      <a:pPr algn="ctr"/>
                      <a:r>
                        <a:rPr lang="en-US" altLang="zh-CN" sz="1065" dirty="0" smtClean="0">
                          <a:solidFill>
                            <a:schemeClr val="accent6">
                              <a:lumMod val="75000"/>
                            </a:schemeClr>
                          </a:solidFill>
                          <a:latin typeface="微软雅黑" panose="020B0503020204020204" charset="-122"/>
                          <a:ea typeface="微软雅黑" panose="020B0503020204020204" charset="-122"/>
                        </a:rPr>
                        <a:t>99</a:t>
                      </a:r>
                      <a:endParaRPr lang="zh-CN" altLang="en-US" sz="1065" dirty="0">
                        <a:solidFill>
                          <a:schemeClr val="accent6">
                            <a:lumMod val="75000"/>
                          </a:schemeClr>
                        </a:solidFill>
                        <a:latin typeface="微软雅黑" panose="020B0503020204020204" charset="-122"/>
                        <a:ea typeface="微软雅黑" panose="020B0503020204020204" charset="-122"/>
                      </a:endParaRPr>
                    </a:p>
                  </a:txBody>
                  <a:tcPr marL="121913" marR="121913" marT="60956" marB="60956" anchor="ctr"/>
                </a:tc>
                <a:tc>
                  <a:txBody>
                    <a:bodyPr/>
                    <a:lstStyle/>
                    <a:p>
                      <a:pPr algn="ctr"/>
                      <a:r>
                        <a:rPr lang="en-US" altLang="zh-CN" sz="1065" dirty="0" smtClean="0">
                          <a:solidFill>
                            <a:schemeClr val="accent6">
                              <a:lumMod val="75000"/>
                            </a:schemeClr>
                          </a:solidFill>
                          <a:latin typeface="微软雅黑" panose="020B0503020204020204" charset="-122"/>
                          <a:ea typeface="微软雅黑" panose="020B0503020204020204" charset="-122"/>
                        </a:rPr>
                        <a:t>74</a:t>
                      </a:r>
                      <a:endParaRPr lang="zh-CN" altLang="en-US" sz="1065" dirty="0">
                        <a:solidFill>
                          <a:schemeClr val="accent6">
                            <a:lumMod val="75000"/>
                          </a:schemeClr>
                        </a:solidFill>
                        <a:latin typeface="微软雅黑" panose="020B0503020204020204" charset="-122"/>
                        <a:ea typeface="微软雅黑" panose="020B0503020204020204" charset="-122"/>
                      </a:endParaRPr>
                    </a:p>
                  </a:txBody>
                  <a:tcPr marL="121913" marR="121913" marT="60956" marB="60956" anchor="ctr"/>
                </a:tc>
                <a:tc>
                  <a:txBody>
                    <a:bodyPr/>
                    <a:lstStyle/>
                    <a:p>
                      <a:pPr algn="ctr"/>
                      <a:r>
                        <a:rPr lang="en-US" altLang="zh-CN" sz="1065" dirty="0" smtClean="0">
                          <a:solidFill>
                            <a:schemeClr val="accent6">
                              <a:lumMod val="75000"/>
                            </a:schemeClr>
                          </a:solidFill>
                          <a:latin typeface="微软雅黑" panose="020B0503020204020204" charset="-122"/>
                          <a:ea typeface="微软雅黑" panose="020B0503020204020204" charset="-122"/>
                        </a:rPr>
                        <a:t>92</a:t>
                      </a:r>
                      <a:endParaRPr lang="zh-CN" altLang="en-US" sz="1065" dirty="0">
                        <a:solidFill>
                          <a:schemeClr val="accent6">
                            <a:lumMod val="75000"/>
                          </a:schemeClr>
                        </a:solidFill>
                        <a:latin typeface="微软雅黑" panose="020B0503020204020204" charset="-122"/>
                        <a:ea typeface="微软雅黑" panose="020B0503020204020204" charset="-122"/>
                      </a:endParaRPr>
                    </a:p>
                  </a:txBody>
                  <a:tcPr marL="121913" marR="121913" marT="60956" marB="60956" anchor="ctr"/>
                </a:tc>
              </a:tr>
            </a:tbl>
          </a:graphicData>
        </a:graphic>
      </p:graphicFrame>
      <p:sp>
        <p:nvSpPr>
          <p:cNvPr id="56" name="文本框 55"/>
          <p:cNvSpPr txBox="1"/>
          <p:nvPr/>
        </p:nvSpPr>
        <p:spPr>
          <a:xfrm>
            <a:off x="8208124" y="4695774"/>
            <a:ext cx="1714500" cy="337820"/>
          </a:xfrm>
          <a:prstGeom prst="rect">
            <a:avLst/>
          </a:prstGeom>
          <a:noFill/>
        </p:spPr>
        <p:txBody>
          <a:bodyPr wrap="none" rtlCol="0">
            <a:spAutoFit/>
          </a:bodyPr>
          <a:lstStyle/>
          <a:p>
            <a:pPr>
              <a:lnSpc>
                <a:spcPct val="120000"/>
              </a:lnSpc>
            </a:pPr>
            <a:r>
              <a:rPr lang="zh-TW" altLang="en-US" sz="1335" b="1" u="sng" dirty="0" smtClean="0">
                <a:solidFill>
                  <a:srgbClr val="000000"/>
                </a:solidFill>
                <a:latin typeface="微软雅黑" panose="020B0503020204020204" charset="-122"/>
                <a:ea typeface="微软雅黑" panose="020B0503020204020204" charset="-122"/>
              </a:rPr>
              <a:t>针对亚洲人肤色设计</a:t>
            </a:r>
            <a:endParaRPr lang="en-US" altLang="zh-CN" sz="1335" dirty="0" smtClean="0">
              <a:solidFill>
                <a:srgbClr val="000000"/>
              </a:solidFill>
              <a:latin typeface="微软雅黑" panose="020B0503020204020204" charset="-122"/>
              <a:ea typeface="微软雅黑" panose="020B0503020204020204" charset="-122"/>
            </a:endParaRPr>
          </a:p>
        </p:txBody>
      </p:sp>
      <p:sp>
        <p:nvSpPr>
          <p:cNvPr id="57" name="文本框 56"/>
          <p:cNvSpPr txBox="1"/>
          <p:nvPr/>
        </p:nvSpPr>
        <p:spPr>
          <a:xfrm>
            <a:off x="4224715" y="1637740"/>
            <a:ext cx="863600" cy="297180"/>
          </a:xfrm>
          <a:prstGeom prst="rect">
            <a:avLst/>
          </a:prstGeom>
          <a:noFill/>
        </p:spPr>
        <p:txBody>
          <a:bodyPr wrap="none" rtlCol="0">
            <a:spAutoFit/>
          </a:bodyPr>
          <a:lstStyle/>
          <a:p>
            <a:r>
              <a:rPr lang="zh-TW" altLang="en-US" sz="1335" b="1" u="sng" dirty="0" smtClean="0">
                <a:solidFill>
                  <a:srgbClr val="000000"/>
                </a:solidFill>
                <a:latin typeface="微软雅黑" panose="020B0503020204020204" charset="-122"/>
                <a:ea typeface="微软雅黑" panose="020B0503020204020204" charset="-122"/>
              </a:rPr>
              <a:t>浙江大学</a:t>
            </a:r>
            <a:endParaRPr lang="zh-CN" altLang="en-US" sz="1335" b="1" u="sng" dirty="0">
              <a:solidFill>
                <a:srgbClr val="000000"/>
              </a:solidFill>
              <a:latin typeface="微软雅黑" panose="020B0503020204020204" charset="-122"/>
              <a:ea typeface="微软雅黑" panose="020B0503020204020204" charset="-122"/>
            </a:endParaRPr>
          </a:p>
        </p:txBody>
      </p:sp>
      <p:sp>
        <p:nvSpPr>
          <p:cNvPr id="58" name="矩形 57"/>
          <p:cNvSpPr/>
          <p:nvPr/>
        </p:nvSpPr>
        <p:spPr>
          <a:xfrm>
            <a:off x="5344561" y="1576663"/>
            <a:ext cx="2276629" cy="400050"/>
          </a:xfrm>
          <a:prstGeom prst="rect">
            <a:avLst/>
          </a:prstGeom>
        </p:spPr>
        <p:txBody>
          <a:bodyPr wrap="square">
            <a:spAutoFit/>
          </a:bodyPr>
          <a:lstStyle/>
          <a:p>
            <a:pPr algn="ctr">
              <a:lnSpc>
                <a:spcPct val="150000"/>
              </a:lnSpc>
            </a:pPr>
            <a:r>
              <a:rPr lang="zh-TW" altLang="en-US" sz="1335" dirty="0" smtClean="0">
                <a:solidFill>
                  <a:schemeClr val="bg2">
                    <a:lumMod val="10000"/>
                  </a:schemeClr>
                </a:solidFill>
                <a:latin typeface="微软雅黑" panose="020B0503020204020204" charset="-122"/>
                <a:ea typeface="微软雅黑" panose="020B0503020204020204" charset="-122"/>
              </a:rPr>
              <a:t>有效提升注意力及阅读速度</a:t>
            </a:r>
            <a:endParaRPr lang="zh-CN" altLang="en-US" sz="1335" dirty="0">
              <a:solidFill>
                <a:schemeClr val="bg2">
                  <a:lumMod val="10000"/>
                </a:schemeClr>
              </a:solidFill>
              <a:latin typeface="微软雅黑" panose="020B0503020204020204" charset="-122"/>
              <a:ea typeface="微软雅黑" panose="020B0503020204020204" charset="-122"/>
            </a:endParaRPr>
          </a:p>
        </p:txBody>
      </p:sp>
      <p:sp>
        <p:nvSpPr>
          <p:cNvPr id="59" name="文本框 58"/>
          <p:cNvSpPr txBox="1"/>
          <p:nvPr/>
        </p:nvSpPr>
        <p:spPr>
          <a:xfrm>
            <a:off x="4206577" y="1936081"/>
            <a:ext cx="1203960" cy="297180"/>
          </a:xfrm>
          <a:prstGeom prst="rect">
            <a:avLst/>
          </a:prstGeom>
          <a:noFill/>
        </p:spPr>
        <p:txBody>
          <a:bodyPr wrap="none" rtlCol="0">
            <a:spAutoFit/>
          </a:bodyPr>
          <a:lstStyle/>
          <a:p>
            <a:r>
              <a:rPr lang="zh-TW" altLang="en-US" sz="1335" b="1" u="sng" dirty="0" smtClean="0">
                <a:solidFill>
                  <a:srgbClr val="000000"/>
                </a:solidFill>
                <a:latin typeface="微软雅黑" panose="020B0503020204020204" charset="-122"/>
                <a:ea typeface="微软雅黑" panose="020B0503020204020204" charset="-122"/>
              </a:rPr>
              <a:t>上海眼科医院</a:t>
            </a:r>
            <a:endParaRPr lang="zh-CN" altLang="en-US" sz="1335" b="1" u="sng" dirty="0">
              <a:solidFill>
                <a:srgbClr val="000000"/>
              </a:solidFill>
              <a:latin typeface="微软雅黑" panose="020B0503020204020204" charset="-122"/>
              <a:ea typeface="微软雅黑" panose="020B0503020204020204" charset="-122"/>
            </a:endParaRPr>
          </a:p>
        </p:txBody>
      </p:sp>
      <p:sp>
        <p:nvSpPr>
          <p:cNvPr id="60" name="矩形 59"/>
          <p:cNvSpPr/>
          <p:nvPr/>
        </p:nvSpPr>
        <p:spPr>
          <a:xfrm>
            <a:off x="5335598" y="1860798"/>
            <a:ext cx="2629508" cy="400050"/>
          </a:xfrm>
          <a:prstGeom prst="rect">
            <a:avLst/>
          </a:prstGeom>
        </p:spPr>
        <p:txBody>
          <a:bodyPr wrap="square">
            <a:spAutoFit/>
          </a:bodyPr>
          <a:lstStyle/>
          <a:p>
            <a:pPr>
              <a:lnSpc>
                <a:spcPct val="150000"/>
              </a:lnSpc>
            </a:pPr>
            <a:r>
              <a:rPr lang="zh-TW" altLang="en-US" sz="1335" dirty="0" smtClean="0">
                <a:solidFill>
                  <a:schemeClr val="bg2">
                    <a:lumMod val="10000"/>
                  </a:schemeClr>
                </a:solidFill>
                <a:latin typeface="微软雅黑" panose="020B0503020204020204" charset="-122"/>
                <a:ea typeface="微软雅黑" panose="020B0503020204020204" charset="-122"/>
              </a:rPr>
              <a:t>缓解视疲劳及降低任务错误率</a:t>
            </a:r>
            <a:endParaRPr lang="zh-CN" altLang="en-US" sz="1335" dirty="0">
              <a:solidFill>
                <a:schemeClr val="bg2">
                  <a:lumMod val="10000"/>
                </a:schemeClr>
              </a:solidFill>
              <a:latin typeface="微软雅黑" panose="020B0503020204020204" charset="-122"/>
              <a:ea typeface="微软雅黑" panose="020B0503020204020204" charset="-122"/>
            </a:endParaRPr>
          </a:p>
        </p:txBody>
      </p:sp>
      <p:pic>
        <p:nvPicPr>
          <p:cNvPr id="61" name="图片 60"/>
          <p:cNvPicPr>
            <a:picLocks noChangeAspect="1"/>
          </p:cNvPicPr>
          <p:nvPr/>
        </p:nvPicPr>
        <p:blipFill>
          <a:blip r:embed="rId8"/>
          <a:stretch>
            <a:fillRect/>
          </a:stretch>
        </p:blipFill>
        <p:spPr>
          <a:xfrm>
            <a:off x="4482353" y="2291662"/>
            <a:ext cx="2127953" cy="1284740"/>
          </a:xfrm>
          <a:prstGeom prst="rect">
            <a:avLst/>
          </a:prstGeom>
        </p:spPr>
      </p:pic>
      <p:cxnSp>
        <p:nvCxnSpPr>
          <p:cNvPr id="3" name="直接连接符 2"/>
          <p:cNvCxnSpPr/>
          <p:nvPr/>
        </p:nvCxnSpPr>
        <p:spPr>
          <a:xfrm>
            <a:off x="13750" y="3711126"/>
            <a:ext cx="12177933" cy="31782"/>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4120432" y="589319"/>
            <a:ext cx="0" cy="626850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8112119" y="589319"/>
            <a:ext cx="0" cy="6268503"/>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319" y="589319"/>
            <a:ext cx="12191365" cy="6268502"/>
          </a:xfrm>
          <a:prstGeom prst="rect">
            <a:avLst/>
          </a:prstGeom>
          <a:noFill/>
          <a:ln w="9525" cmpd="sng">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13" tIns="60956" rIns="121913" bIns="60956" numCol="1" spcCol="0" rtlCol="0" fromWordArt="0" anchor="ctr" anchorCtr="0" forceAA="0" compatLnSpc="1">
            <a:noAutofit/>
          </a:bodyPr>
          <a:lstStyle/>
          <a:p>
            <a:pPr algn="ctr"/>
            <a:endParaRPr lang="zh-CN" altLang="en-US" sz="240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rotWithShape="1">
          <a:blip r:embed="rId1">
            <a:extLst>
              <a:ext uri="{28A0092B-C50C-407E-A947-70E740481C1C}">
                <a14:useLocalDpi xmlns:a14="http://schemas.microsoft.com/office/drawing/2010/main" val="0"/>
              </a:ext>
            </a:extLst>
          </a:blip>
          <a:srcRect t="24502"/>
          <a:stretch>
            <a:fillRect/>
          </a:stretch>
        </p:blipFill>
        <p:spPr>
          <a:xfrm>
            <a:off x="0" y="0"/>
            <a:ext cx="12192000" cy="6858000"/>
          </a:xfrm>
          <a:prstGeom prst="rect">
            <a:avLst/>
          </a:prstGeom>
        </p:spPr>
      </p:pic>
      <p:sp>
        <p:nvSpPr>
          <p:cNvPr id="4" name="矩形 3"/>
          <p:cNvSpPr/>
          <p:nvPr/>
        </p:nvSpPr>
        <p:spPr>
          <a:xfrm>
            <a:off x="0" y="0"/>
            <a:ext cx="12192000" cy="6858000"/>
          </a:xfrm>
          <a:prstGeom prst="rect">
            <a:avLst/>
          </a:prstGeom>
          <a:gradFill>
            <a:gsLst>
              <a:gs pos="0">
                <a:schemeClr val="accent1">
                  <a:lumMod val="5000"/>
                  <a:lumOff val="95000"/>
                  <a:alpha val="39000"/>
                </a:schemeClr>
              </a:gs>
              <a:gs pos="58000">
                <a:schemeClr val="tx1">
                  <a:lumMod val="85000"/>
                  <a:lumOff val="15000"/>
                  <a:alpha val="61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cs"/>
            </a:endParaRPr>
          </a:p>
        </p:txBody>
      </p:sp>
      <p:pic>
        <p:nvPicPr>
          <p:cNvPr id="78" name="图片 77"/>
          <p:cNvPicPr>
            <a:picLocks noChangeAspect="1"/>
          </p:cNvPicPr>
          <p:nvPr/>
        </p:nvPicPr>
        <p:blipFill>
          <a:blip r:embed="rId2" cstate="print">
            <a:extLst>
              <a:ext uri="{28A0092B-C50C-407E-A947-70E740481C1C}">
                <a14:useLocalDpi xmlns:a14="http://schemas.microsoft.com/office/drawing/2010/main" val="0"/>
              </a:ext>
            </a:extLst>
          </a:blip>
          <a:srcRect l="2346" t="4646" r="7451"/>
          <a:stretch>
            <a:fillRect/>
          </a:stretch>
        </p:blipFill>
        <p:spPr>
          <a:xfrm>
            <a:off x="441992" y="4661428"/>
            <a:ext cx="1610525" cy="1474181"/>
          </a:xfrm>
          <a:custGeom>
            <a:avLst/>
            <a:gdLst>
              <a:gd name="connsiteX0" fmla="*/ 240480 w 1566836"/>
              <a:gd name="connsiteY0" fmla="*/ 0 h 1434191"/>
              <a:gd name="connsiteX1" fmla="*/ 1326356 w 1566836"/>
              <a:gd name="connsiteY1" fmla="*/ 0 h 1434191"/>
              <a:gd name="connsiteX2" fmla="*/ 1566836 w 1566836"/>
              <a:gd name="connsiteY2" fmla="*/ 240480 h 1434191"/>
              <a:gd name="connsiteX3" fmla="*/ 1566836 w 1566836"/>
              <a:gd name="connsiteY3" fmla="*/ 1202369 h 1434191"/>
              <a:gd name="connsiteX4" fmla="*/ 1419962 w 1566836"/>
              <a:gd name="connsiteY4" fmla="*/ 1423951 h 1434191"/>
              <a:gd name="connsiteX5" fmla="*/ 1386973 w 1566836"/>
              <a:gd name="connsiteY5" fmla="*/ 1434191 h 1434191"/>
              <a:gd name="connsiteX6" fmla="*/ 179863 w 1566836"/>
              <a:gd name="connsiteY6" fmla="*/ 1434191 h 1434191"/>
              <a:gd name="connsiteX7" fmla="*/ 146875 w 1566836"/>
              <a:gd name="connsiteY7" fmla="*/ 1423951 h 1434191"/>
              <a:gd name="connsiteX8" fmla="*/ 0 w 1566836"/>
              <a:gd name="connsiteY8" fmla="*/ 1202369 h 1434191"/>
              <a:gd name="connsiteX9" fmla="*/ 0 w 1566836"/>
              <a:gd name="connsiteY9" fmla="*/ 240480 h 1434191"/>
              <a:gd name="connsiteX10" fmla="*/ 240480 w 1566836"/>
              <a:gd name="connsiteY10" fmla="*/ 0 h 143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66836" h="1434191">
                <a:moveTo>
                  <a:pt x="240480" y="0"/>
                </a:moveTo>
                <a:lnTo>
                  <a:pt x="1326356" y="0"/>
                </a:lnTo>
                <a:cubicBezTo>
                  <a:pt x="1459169" y="0"/>
                  <a:pt x="1566836" y="107667"/>
                  <a:pt x="1566836" y="240480"/>
                </a:cubicBezTo>
                <a:lnTo>
                  <a:pt x="1566836" y="1202369"/>
                </a:lnTo>
                <a:cubicBezTo>
                  <a:pt x="1566836" y="1301979"/>
                  <a:pt x="1506273" y="1387444"/>
                  <a:pt x="1419962" y="1423951"/>
                </a:cubicBezTo>
                <a:lnTo>
                  <a:pt x="1386973" y="1434191"/>
                </a:lnTo>
                <a:lnTo>
                  <a:pt x="179863" y="1434191"/>
                </a:lnTo>
                <a:lnTo>
                  <a:pt x="146875" y="1423951"/>
                </a:lnTo>
                <a:cubicBezTo>
                  <a:pt x="60563" y="1387444"/>
                  <a:pt x="0" y="1301979"/>
                  <a:pt x="0" y="1202369"/>
                </a:cubicBezTo>
                <a:lnTo>
                  <a:pt x="0" y="240480"/>
                </a:lnTo>
                <a:cubicBezTo>
                  <a:pt x="0" y="107667"/>
                  <a:pt x="107667" y="0"/>
                  <a:pt x="240480" y="0"/>
                </a:cubicBezTo>
                <a:close/>
              </a:path>
            </a:pathLst>
          </a:custGeom>
        </p:spPr>
      </p:pic>
      <p:sp>
        <p:nvSpPr>
          <p:cNvPr id="14" name="文本框 13"/>
          <p:cNvSpPr txBox="1"/>
          <p:nvPr/>
        </p:nvSpPr>
        <p:spPr>
          <a:xfrm>
            <a:off x="8507855" y="6129524"/>
            <a:ext cx="814043" cy="245110"/>
          </a:xfrm>
          <a:prstGeom prst="rect">
            <a:avLst/>
          </a:prstGeom>
          <a:no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护士站</a:t>
            </a:r>
            <a:endPar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p:txBody>
      </p:sp>
      <p:sp>
        <p:nvSpPr>
          <p:cNvPr id="15" name="矩形: 圆角 14"/>
          <p:cNvSpPr/>
          <p:nvPr/>
        </p:nvSpPr>
        <p:spPr>
          <a:xfrm>
            <a:off x="10087132" y="4664463"/>
            <a:ext cx="1591293" cy="1442851"/>
          </a:xfrm>
          <a:prstGeom prst="roundRect">
            <a:avLst>
              <a:gd name="adj" fmla="val 13375"/>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ea"/>
              <a:sym typeface="+mn-lt"/>
            </a:endParaRPr>
          </a:p>
        </p:txBody>
      </p:sp>
      <p:sp>
        <p:nvSpPr>
          <p:cNvPr id="16" name="文本框 15"/>
          <p:cNvSpPr txBox="1"/>
          <p:nvPr/>
        </p:nvSpPr>
        <p:spPr>
          <a:xfrm>
            <a:off x="10475757" y="6146789"/>
            <a:ext cx="949268" cy="245110"/>
          </a:xfrm>
          <a:prstGeom prst="rect">
            <a:avLst/>
          </a:prstGeom>
          <a:no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通道</a:t>
            </a:r>
            <a:r>
              <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a:t>
            </a:r>
            <a:r>
              <a:rPr kumimoji="0" lang="zh-CN" altLang="en-US"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车库</a:t>
            </a:r>
            <a:endPar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p:txBody>
      </p:sp>
      <p:sp>
        <p:nvSpPr>
          <p:cNvPr id="17" name="矩形: 圆角 16"/>
          <p:cNvSpPr/>
          <p:nvPr/>
        </p:nvSpPr>
        <p:spPr>
          <a:xfrm>
            <a:off x="6236769" y="4664463"/>
            <a:ext cx="1591293" cy="1442851"/>
          </a:xfrm>
          <a:prstGeom prst="roundRect">
            <a:avLst>
              <a:gd name="adj" fmla="val 13375"/>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ea"/>
              <a:sym typeface="+mn-lt"/>
            </a:endParaRPr>
          </a:p>
        </p:txBody>
      </p:sp>
      <p:sp>
        <p:nvSpPr>
          <p:cNvPr id="18" name="文本框 17"/>
          <p:cNvSpPr txBox="1"/>
          <p:nvPr/>
        </p:nvSpPr>
        <p:spPr>
          <a:xfrm>
            <a:off x="6603726" y="6129524"/>
            <a:ext cx="814043" cy="245110"/>
          </a:xfrm>
          <a:prstGeom prst="rect">
            <a:avLst/>
          </a:prstGeom>
          <a:no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病房</a:t>
            </a:r>
            <a:endPar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p:txBody>
      </p:sp>
      <p:sp>
        <p:nvSpPr>
          <p:cNvPr id="23" name="八边形 22"/>
          <p:cNvSpPr/>
          <p:nvPr/>
        </p:nvSpPr>
        <p:spPr>
          <a:xfrm>
            <a:off x="8400977" y="6167809"/>
            <a:ext cx="213756" cy="190587"/>
          </a:xfrm>
          <a:prstGeom prst="octagon">
            <a:avLst>
              <a:gd name="adj" fmla="val 0"/>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1000" b="1"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5</a:t>
            </a:r>
            <a:endParaRPr kumimoji="0" lang="zh-CN" altLang="en-US" sz="1000" b="1"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p:txBody>
      </p:sp>
      <p:sp>
        <p:nvSpPr>
          <p:cNvPr id="24" name="八边形 23"/>
          <p:cNvSpPr/>
          <p:nvPr/>
        </p:nvSpPr>
        <p:spPr>
          <a:xfrm>
            <a:off x="10368879" y="6167809"/>
            <a:ext cx="213756" cy="190587"/>
          </a:xfrm>
          <a:prstGeom prst="octagon">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1000" b="1"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6</a:t>
            </a:r>
            <a:endParaRPr kumimoji="0" lang="zh-CN" altLang="en-US" sz="1000" b="1"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p:txBody>
      </p:sp>
      <p:sp>
        <p:nvSpPr>
          <p:cNvPr id="25" name="八边形 24"/>
          <p:cNvSpPr/>
          <p:nvPr/>
        </p:nvSpPr>
        <p:spPr>
          <a:xfrm>
            <a:off x="6496848" y="6167809"/>
            <a:ext cx="213756" cy="190587"/>
          </a:xfrm>
          <a:prstGeom prst="octagon">
            <a:avLst>
              <a:gd name="adj" fmla="val 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1000" b="1"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4</a:t>
            </a:r>
            <a:endParaRPr kumimoji="0" lang="zh-CN" altLang="en-US" sz="1000" b="1"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p:txBody>
      </p:sp>
      <p:sp>
        <p:nvSpPr>
          <p:cNvPr id="40" name="文本框 39"/>
          <p:cNvSpPr txBox="1"/>
          <p:nvPr/>
        </p:nvSpPr>
        <p:spPr>
          <a:xfrm>
            <a:off x="823828" y="6146789"/>
            <a:ext cx="814042" cy="245110"/>
          </a:xfrm>
          <a:prstGeom prst="rect">
            <a:avLst/>
          </a:prstGeom>
          <a:no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门诊大厅</a:t>
            </a:r>
            <a:endPar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p:txBody>
      </p:sp>
      <p:sp>
        <p:nvSpPr>
          <p:cNvPr id="41" name="八边形 40"/>
          <p:cNvSpPr/>
          <p:nvPr/>
        </p:nvSpPr>
        <p:spPr>
          <a:xfrm>
            <a:off x="658889" y="6167809"/>
            <a:ext cx="213756" cy="190587"/>
          </a:xfrm>
          <a:prstGeom prst="octagon">
            <a:avLst>
              <a:gd name="adj" fmla="val 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1000" b="1"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1</a:t>
            </a:r>
            <a:endParaRPr kumimoji="0" lang="zh-CN" altLang="en-US" sz="1000" b="1"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p:txBody>
      </p:sp>
      <p:sp>
        <p:nvSpPr>
          <p:cNvPr id="42" name="文本框 41"/>
          <p:cNvSpPr txBox="1"/>
          <p:nvPr/>
        </p:nvSpPr>
        <p:spPr>
          <a:xfrm>
            <a:off x="873379" y="6429684"/>
            <a:ext cx="1321927" cy="400110"/>
          </a:xfrm>
          <a:prstGeom prst="rect">
            <a:avLst/>
          </a:prstGeom>
          <a:noFill/>
        </p:spPr>
        <p:txBody>
          <a:bodyPr wrap="square" rtlCol="0">
            <a:spAutoFit/>
          </a:bodyPr>
          <a:lstStyle/>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SDL</a:t>
            </a:r>
            <a:endPar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恒照度</a:t>
            </a:r>
            <a:endPar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p:txBody>
      </p:sp>
      <p:sp>
        <p:nvSpPr>
          <p:cNvPr id="43" name="矩形: 圆角 42"/>
          <p:cNvSpPr/>
          <p:nvPr/>
        </p:nvSpPr>
        <p:spPr>
          <a:xfrm>
            <a:off x="4273797" y="4643762"/>
            <a:ext cx="1591293" cy="1469524"/>
          </a:xfrm>
          <a:prstGeom prst="roundRect">
            <a:avLst>
              <a:gd name="adj" fmla="val 13375"/>
            </a:avLst>
          </a:prstGeom>
          <a:blipFill>
            <a:blip r:embed="rId5"/>
            <a:stretch>
              <a:fillRect t="-2250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p:txBody>
      </p:sp>
      <p:sp>
        <p:nvSpPr>
          <p:cNvPr id="44" name="文本框 43"/>
          <p:cNvSpPr txBox="1"/>
          <p:nvPr/>
        </p:nvSpPr>
        <p:spPr>
          <a:xfrm>
            <a:off x="4746431" y="6150528"/>
            <a:ext cx="814042" cy="245110"/>
          </a:xfrm>
          <a:prstGeom prst="rect">
            <a:avLst/>
          </a:prstGeom>
          <a:no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诊疗室</a:t>
            </a:r>
            <a:endPar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p:txBody>
      </p:sp>
      <p:sp>
        <p:nvSpPr>
          <p:cNvPr id="45" name="八边形 44"/>
          <p:cNvSpPr/>
          <p:nvPr/>
        </p:nvSpPr>
        <p:spPr>
          <a:xfrm>
            <a:off x="4639553" y="6167809"/>
            <a:ext cx="213756" cy="190587"/>
          </a:xfrm>
          <a:prstGeom prst="octagon">
            <a:avLst>
              <a:gd name="adj" fmla="val 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1000" b="1"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3</a:t>
            </a:r>
            <a:endParaRPr kumimoji="0" lang="zh-CN" altLang="en-US" sz="1000" b="1"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p:txBody>
      </p:sp>
      <p:sp>
        <p:nvSpPr>
          <p:cNvPr id="46" name="文本框 45"/>
          <p:cNvSpPr txBox="1"/>
          <p:nvPr/>
        </p:nvSpPr>
        <p:spPr>
          <a:xfrm>
            <a:off x="4645282" y="6421219"/>
            <a:ext cx="1321927" cy="246221"/>
          </a:xfrm>
          <a:prstGeom prst="rect">
            <a:avLst/>
          </a:prstGeom>
          <a:noFill/>
        </p:spPr>
        <p:txBody>
          <a:bodyPr wrap="square" rtlCol="0">
            <a:spAutoFit/>
          </a:bodyPr>
          <a:lstStyle/>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恒照度</a:t>
            </a:r>
            <a:endPar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p:txBody>
      </p:sp>
      <p:pic>
        <p:nvPicPr>
          <p:cNvPr id="48" name="图片 47"/>
          <p:cNvPicPr>
            <a:picLocks noChangeAspect="1"/>
          </p:cNvPicPr>
          <p:nvPr/>
        </p:nvPicPr>
        <p:blipFill rotWithShape="1">
          <a:blip r:embed="rId6"/>
          <a:srcRect r="7834"/>
          <a:stretch>
            <a:fillRect/>
          </a:stretch>
        </p:blipFill>
        <p:spPr>
          <a:xfrm>
            <a:off x="2386406" y="4664463"/>
            <a:ext cx="1591294" cy="144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9" name="文本框 48"/>
          <p:cNvSpPr txBox="1"/>
          <p:nvPr/>
        </p:nvSpPr>
        <p:spPr>
          <a:xfrm>
            <a:off x="2870102" y="6140547"/>
            <a:ext cx="814042" cy="245110"/>
          </a:xfrm>
          <a:prstGeom prst="rect">
            <a:avLst/>
          </a:prstGeom>
          <a:no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候诊区</a:t>
            </a:r>
            <a:endPar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p:txBody>
      </p:sp>
      <p:sp>
        <p:nvSpPr>
          <p:cNvPr id="50" name="八边形 49"/>
          <p:cNvSpPr/>
          <p:nvPr/>
        </p:nvSpPr>
        <p:spPr>
          <a:xfrm>
            <a:off x="2763710" y="6167809"/>
            <a:ext cx="213756" cy="190587"/>
          </a:xfrm>
          <a:prstGeom prst="octagon">
            <a:avLst>
              <a:gd name="adj" fmla="val 0"/>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1000" b="1"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2</a:t>
            </a:r>
            <a:endParaRPr kumimoji="0" lang="zh-CN" altLang="en-US" sz="1000" b="1"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p:txBody>
      </p:sp>
      <p:sp>
        <p:nvSpPr>
          <p:cNvPr id="51" name="文本框 50"/>
          <p:cNvSpPr txBox="1"/>
          <p:nvPr/>
        </p:nvSpPr>
        <p:spPr>
          <a:xfrm>
            <a:off x="2799642" y="6421219"/>
            <a:ext cx="1321927" cy="246221"/>
          </a:xfrm>
          <a:prstGeom prst="rect">
            <a:avLst/>
          </a:prstGeom>
          <a:noFill/>
        </p:spPr>
        <p:txBody>
          <a:bodyPr wrap="square" rtlCol="0">
            <a:spAutoFit/>
          </a:bodyPr>
          <a:lstStyle/>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SDL</a:t>
            </a:r>
            <a:endPar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p:txBody>
      </p:sp>
      <p:sp>
        <p:nvSpPr>
          <p:cNvPr id="52" name="文本框 51"/>
          <p:cNvSpPr txBox="1"/>
          <p:nvPr/>
        </p:nvSpPr>
        <p:spPr>
          <a:xfrm>
            <a:off x="6577860" y="6421219"/>
            <a:ext cx="1321927" cy="400110"/>
          </a:xfrm>
          <a:prstGeom prst="rect">
            <a:avLst/>
          </a:prstGeom>
          <a:noFill/>
        </p:spPr>
        <p:txBody>
          <a:bodyPr wrap="square" rtlCol="0">
            <a:spAutoFit/>
          </a:bodyPr>
          <a:lstStyle/>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SDL</a:t>
            </a:r>
            <a:endPar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调光调色</a:t>
            </a:r>
            <a:endPar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p:txBody>
      </p:sp>
      <p:sp>
        <p:nvSpPr>
          <p:cNvPr id="55" name="文本框 54"/>
          <p:cNvSpPr txBox="1"/>
          <p:nvPr/>
        </p:nvSpPr>
        <p:spPr>
          <a:xfrm>
            <a:off x="8431316" y="6421219"/>
            <a:ext cx="1321927" cy="400110"/>
          </a:xfrm>
          <a:prstGeom prst="rect">
            <a:avLst/>
          </a:prstGeom>
          <a:noFill/>
        </p:spPr>
        <p:txBody>
          <a:bodyPr wrap="square" rtlCol="0">
            <a:spAutoFit/>
          </a:bodyPr>
          <a:lstStyle/>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SDL</a:t>
            </a:r>
            <a:endPar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调光调色</a:t>
            </a:r>
            <a:endPar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p:txBody>
      </p:sp>
      <p:sp>
        <p:nvSpPr>
          <p:cNvPr id="56" name="文本框 55"/>
          <p:cNvSpPr txBox="1"/>
          <p:nvPr/>
        </p:nvSpPr>
        <p:spPr>
          <a:xfrm>
            <a:off x="10394530" y="6421219"/>
            <a:ext cx="1321927" cy="400110"/>
          </a:xfrm>
          <a:prstGeom prst="rect">
            <a:avLst/>
          </a:prstGeom>
          <a:noFill/>
        </p:spPr>
        <p:txBody>
          <a:bodyPr wrap="square" rtlCol="0">
            <a:spAutoFit/>
          </a:bodyPr>
          <a:lstStyle/>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回路控</a:t>
            </a:r>
            <a:endPar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自组网</a:t>
            </a:r>
            <a:endPar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p:txBody>
      </p:sp>
      <p:grpSp>
        <p:nvGrpSpPr>
          <p:cNvPr id="69" name="组合 68"/>
          <p:cNvGrpSpPr/>
          <p:nvPr/>
        </p:nvGrpSpPr>
        <p:grpSpPr>
          <a:xfrm>
            <a:off x="1291533" y="4007750"/>
            <a:ext cx="7560000" cy="674196"/>
            <a:chOff x="1376856" y="3891507"/>
            <a:chExt cx="7560000" cy="674196"/>
          </a:xfrm>
        </p:grpSpPr>
        <p:cxnSp>
          <p:nvCxnSpPr>
            <p:cNvPr id="7" name="直接连接符 6"/>
            <p:cNvCxnSpPr/>
            <p:nvPr/>
          </p:nvCxnSpPr>
          <p:spPr>
            <a:xfrm flipV="1">
              <a:off x="1387366" y="4277703"/>
              <a:ext cx="0" cy="288000"/>
            </a:xfrm>
            <a:prstGeom prst="line">
              <a:avLst/>
            </a:prstGeom>
            <a:ln>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57" name="直接连接符 56"/>
            <p:cNvCxnSpPr/>
            <p:nvPr/>
          </p:nvCxnSpPr>
          <p:spPr>
            <a:xfrm flipV="1">
              <a:off x="3300248" y="4277703"/>
              <a:ext cx="0" cy="288000"/>
            </a:xfrm>
            <a:prstGeom prst="line">
              <a:avLst/>
            </a:prstGeom>
            <a:ln>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58" name="直接连接符 57"/>
            <p:cNvCxnSpPr/>
            <p:nvPr/>
          </p:nvCxnSpPr>
          <p:spPr>
            <a:xfrm flipV="1">
              <a:off x="5244661" y="4277703"/>
              <a:ext cx="0" cy="288000"/>
            </a:xfrm>
            <a:prstGeom prst="line">
              <a:avLst/>
            </a:prstGeom>
            <a:ln>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59" name="直接连接符 58"/>
            <p:cNvCxnSpPr/>
            <p:nvPr/>
          </p:nvCxnSpPr>
          <p:spPr>
            <a:xfrm flipV="1">
              <a:off x="7189075" y="4277703"/>
              <a:ext cx="0" cy="288000"/>
            </a:xfrm>
            <a:prstGeom prst="line">
              <a:avLst/>
            </a:prstGeom>
            <a:ln>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60" name="直接连接符 59"/>
            <p:cNvCxnSpPr/>
            <p:nvPr/>
          </p:nvCxnSpPr>
          <p:spPr>
            <a:xfrm flipV="1">
              <a:off x="8933792" y="4277703"/>
              <a:ext cx="0" cy="288000"/>
            </a:xfrm>
            <a:prstGeom prst="line">
              <a:avLst/>
            </a:prstGeom>
            <a:ln>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a:xfrm>
              <a:off x="1376856" y="4277703"/>
              <a:ext cx="756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V="1">
              <a:off x="6085489" y="3891507"/>
              <a:ext cx="0" cy="388381"/>
            </a:xfrm>
            <a:prstGeom prst="line">
              <a:avLst/>
            </a:prstGeom>
            <a:ln>
              <a:solidFill>
                <a:schemeClr val="bg1">
                  <a:lumMod val="85000"/>
                </a:schemeClr>
              </a:solidFill>
            </a:ln>
          </p:spPr>
          <p:style>
            <a:lnRef idx="1">
              <a:schemeClr val="dk1"/>
            </a:lnRef>
            <a:fillRef idx="0">
              <a:schemeClr val="dk1"/>
            </a:fillRef>
            <a:effectRef idx="0">
              <a:schemeClr val="dk1"/>
            </a:effectRef>
            <a:fontRef idx="minor">
              <a:schemeClr val="tx1"/>
            </a:fontRef>
          </p:style>
        </p:cxnSp>
      </p:grpSp>
      <p:grpSp>
        <p:nvGrpSpPr>
          <p:cNvPr id="68" name="组合 67"/>
          <p:cNvGrpSpPr/>
          <p:nvPr/>
        </p:nvGrpSpPr>
        <p:grpSpPr>
          <a:xfrm>
            <a:off x="7417768" y="4082362"/>
            <a:ext cx="3444240" cy="544470"/>
            <a:chOff x="9039331" y="4018669"/>
            <a:chExt cx="1908000" cy="544470"/>
          </a:xfrm>
        </p:grpSpPr>
        <p:cxnSp>
          <p:nvCxnSpPr>
            <p:cNvPr id="61" name="直接连接符 60"/>
            <p:cNvCxnSpPr/>
            <p:nvPr/>
          </p:nvCxnSpPr>
          <p:spPr>
            <a:xfrm flipV="1">
              <a:off x="9039331" y="4018669"/>
              <a:ext cx="0" cy="252000"/>
            </a:xfrm>
            <a:prstGeom prst="line">
              <a:avLst/>
            </a:prstGeom>
            <a:ln>
              <a:solidFill>
                <a:schemeClr val="bg1">
                  <a:lumMod val="85000"/>
                </a:schemeClr>
              </a:solidFill>
              <a:prstDash val="sysDash"/>
            </a:ln>
          </p:spPr>
          <p:style>
            <a:lnRef idx="1">
              <a:schemeClr val="dk1"/>
            </a:lnRef>
            <a:fillRef idx="0">
              <a:schemeClr val="dk1"/>
            </a:fillRef>
            <a:effectRef idx="0">
              <a:schemeClr val="dk1"/>
            </a:effectRef>
            <a:fontRef idx="minor">
              <a:schemeClr val="tx1"/>
            </a:fontRef>
          </p:style>
        </p:cxnSp>
        <p:cxnSp>
          <p:nvCxnSpPr>
            <p:cNvPr id="64" name="连接符: 肘形 63"/>
            <p:cNvCxnSpPr/>
            <p:nvPr/>
          </p:nvCxnSpPr>
          <p:spPr>
            <a:xfrm>
              <a:off x="9039331" y="4275139"/>
              <a:ext cx="1908000" cy="288000"/>
            </a:xfrm>
            <a:prstGeom prst="bentConnector3">
              <a:avLst>
                <a:gd name="adj1" fmla="val 100376"/>
              </a:avLst>
            </a:prstGeom>
            <a:ln>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grpSp>
      <p:sp>
        <p:nvSpPr>
          <p:cNvPr id="70" name="文本框 69"/>
          <p:cNvSpPr txBox="1"/>
          <p:nvPr/>
        </p:nvSpPr>
        <p:spPr>
          <a:xfrm>
            <a:off x="6352001" y="4086013"/>
            <a:ext cx="814043" cy="245110"/>
          </a:xfrm>
          <a:prstGeom prst="rect">
            <a:avLst/>
          </a:prstGeom>
          <a:no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控制平台</a:t>
            </a:r>
            <a:endPar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p:txBody>
      </p:sp>
      <p:sp>
        <p:nvSpPr>
          <p:cNvPr id="71" name="文本框 70"/>
          <p:cNvSpPr txBox="1"/>
          <p:nvPr/>
        </p:nvSpPr>
        <p:spPr>
          <a:xfrm>
            <a:off x="3527271" y="4137931"/>
            <a:ext cx="814043" cy="245110"/>
          </a:xfrm>
          <a:prstGeom prst="rect">
            <a:avLst/>
          </a:prstGeom>
          <a:no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有线系统</a:t>
            </a:r>
            <a:endPar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p:txBody>
      </p:sp>
      <p:sp>
        <p:nvSpPr>
          <p:cNvPr id="72" name="文本框 71"/>
          <p:cNvSpPr txBox="1"/>
          <p:nvPr/>
        </p:nvSpPr>
        <p:spPr>
          <a:xfrm>
            <a:off x="9676206" y="4158023"/>
            <a:ext cx="814043" cy="245110"/>
          </a:xfrm>
          <a:prstGeom prst="rect">
            <a:avLst/>
          </a:prstGeom>
          <a:no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无线系统</a:t>
            </a:r>
            <a:endParaRPr kumimoji="0" lang="en-US" altLang="zh-CN" sz="1000" b="0"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p:txBody>
      </p:sp>
      <p:sp>
        <p:nvSpPr>
          <p:cNvPr id="73" name="矩形 72"/>
          <p:cNvSpPr/>
          <p:nvPr/>
        </p:nvSpPr>
        <p:spPr>
          <a:xfrm>
            <a:off x="8431316" y="1168385"/>
            <a:ext cx="3617930" cy="1846146"/>
          </a:xfrm>
          <a:prstGeom prst="rect">
            <a:avLst/>
          </a:prstGeom>
        </p:spPr>
        <p:txBody>
          <a:bodyPr wrap="square">
            <a:spAutoFit/>
          </a:bodyPr>
          <a:lstStyle/>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Ø"/>
              <a:defRPr/>
            </a:pPr>
            <a:r>
              <a:rPr kumimoji="0" lang="zh-CN" altLang="en-US" sz="20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医院专属特色场景展示</a:t>
            </a:r>
            <a:endParaRPr kumimoji="0" lang="en-US" altLang="zh-CN" sz="20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Ø"/>
              <a:defRPr/>
            </a:pPr>
            <a:r>
              <a:rPr kumimoji="0" lang="zh-CN" altLang="en-US" sz="20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可视化能耗监测、运维提效</a:t>
            </a:r>
            <a:endParaRPr kumimoji="0" lang="zh-CN" altLang="en-US" sz="20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Ø"/>
              <a:defRPr/>
            </a:pPr>
            <a:r>
              <a:rPr kumimoji="0" lang="zh-CN" altLang="en-US" sz="20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专业光环境打造</a:t>
            </a:r>
            <a:endParaRPr kumimoji="0" lang="zh-CN" altLang="en-US" sz="20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74" name="八边形 73"/>
          <p:cNvSpPr/>
          <p:nvPr/>
        </p:nvSpPr>
        <p:spPr>
          <a:xfrm>
            <a:off x="6241150" y="4120064"/>
            <a:ext cx="213756" cy="190587"/>
          </a:xfrm>
          <a:prstGeom prst="octagon">
            <a:avLst>
              <a:gd name="adj" fmla="val 0"/>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1000" b="1"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rPr>
              <a:t>0</a:t>
            </a:r>
            <a:endParaRPr kumimoji="0" lang="zh-CN" altLang="en-US" sz="1000" b="1" i="0" u="none" strike="noStrike" kern="1200" cap="none" spc="0" normalizeH="0" baseline="0" noProof="0" dirty="0">
              <a:ln>
                <a:noFill/>
              </a:ln>
              <a:solidFill>
                <a:prstClr val="white"/>
              </a:solidFill>
              <a:effectLst/>
              <a:uLnTx/>
              <a:uFillTx/>
              <a:latin typeface="Arial" panose="020B0604020202020204"/>
              <a:ea typeface="黑体" panose="02010609060101010101" charset="-122"/>
              <a:cs typeface="+mn-ea"/>
              <a:sym typeface="+mn-lt"/>
            </a:endParaRPr>
          </a:p>
        </p:txBody>
      </p:sp>
      <p:sp>
        <p:nvSpPr>
          <p:cNvPr id="47" name="矩形 46"/>
          <p:cNvSpPr/>
          <p:nvPr/>
        </p:nvSpPr>
        <p:spPr>
          <a:xfrm>
            <a:off x="4438585" y="0"/>
            <a:ext cx="3738880" cy="5219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Segoe UI" panose="020B0502040204020203" pitchFamily="34" charset="0"/>
              </a:rPr>
              <a:t>医院智慧场景解决方案</a:t>
            </a:r>
            <a:endParaRPr kumimoji="0" lang="zh-CN" altLang="en-US" sz="2800" b="0"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cs"/>
            </a:endParaRPr>
          </a:p>
        </p:txBody>
      </p:sp>
      <p:sp>
        <p:nvSpPr>
          <p:cNvPr id="53" name="矩形 52"/>
          <p:cNvSpPr/>
          <p:nvPr/>
        </p:nvSpPr>
        <p:spPr>
          <a:xfrm>
            <a:off x="4619736" y="523220"/>
            <a:ext cx="3056368" cy="30777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Segoe UI" panose="020B0502040204020203" pitchFamily="34" charset="0"/>
                <a:ea typeface="黑体" panose="02010609060101010101" charset="-122"/>
                <a:cs typeface="Segoe UI" panose="020B0502040204020203" pitchFamily="34" charset="0"/>
              </a:rPr>
              <a:t>OVERALL LIGHTING SOLUTIONS</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Segoe UI" panose="020B0502040204020203" pitchFamily="34" charset="0"/>
              <a:ea typeface="黑体" panose="02010609060101010101" charset="-122"/>
              <a:cs typeface="Segoe UI" panose="020B0502040204020203" pitchFamily="34" charset="0"/>
            </a:endParaRPr>
          </a:p>
        </p:txBody>
      </p:sp>
      <p:pic>
        <p:nvPicPr>
          <p:cNvPr id="80" name="图片 79" descr="G:\2022光工作文件OPPLE\hospital\001-suzhou-dushu-lake-hospital-china-by-lemanarc-sa.jpg"/>
          <p:cNvPicPr>
            <a:picLocks noChangeAspect="1" noChangeArrowheads="1"/>
          </p:cNvPicPr>
          <p:nvPr/>
        </p:nvPicPr>
        <p:blipFill rotWithShape="1">
          <a:blip r:embed="rId7" cstate="print">
            <a:extLst>
              <a:ext uri="{BEBA8EAE-BF5A-486C-A8C5-ECC9F3942E4B}">
                <a14:imgProps xmlns:a14="http://schemas.microsoft.com/office/drawing/2010/main">
                  <a14:imgLayer r:embed="rId8">
                    <a14:imgEffect>
                      <a14:saturation sat="66000"/>
                    </a14:imgEffect>
                  </a14:imgLayer>
                </a14:imgProps>
              </a:ext>
            </a:extLst>
          </a:blip>
          <a:srcRect l="3817" t="2791" r="21809" b="3187"/>
          <a:stretch>
            <a:fillRect/>
          </a:stretch>
        </p:blipFill>
        <p:spPr bwMode="auto">
          <a:xfrm>
            <a:off x="8130918" y="4670435"/>
            <a:ext cx="1590495" cy="1442851"/>
          </a:xfrm>
          <a:custGeom>
            <a:avLst/>
            <a:gdLst>
              <a:gd name="connsiteX0" fmla="*/ 240480 w 1630397"/>
              <a:gd name="connsiteY0" fmla="*/ 0 h 1442851"/>
              <a:gd name="connsiteX1" fmla="*/ 1389917 w 1630397"/>
              <a:gd name="connsiteY1" fmla="*/ 0 h 1442851"/>
              <a:gd name="connsiteX2" fmla="*/ 1630397 w 1630397"/>
              <a:gd name="connsiteY2" fmla="*/ 240480 h 1442851"/>
              <a:gd name="connsiteX3" fmla="*/ 1630397 w 1630397"/>
              <a:gd name="connsiteY3" fmla="*/ 1202371 h 1442851"/>
              <a:gd name="connsiteX4" fmla="*/ 1389917 w 1630397"/>
              <a:gd name="connsiteY4" fmla="*/ 1442851 h 1442851"/>
              <a:gd name="connsiteX5" fmla="*/ 240480 w 1630397"/>
              <a:gd name="connsiteY5" fmla="*/ 1442851 h 1442851"/>
              <a:gd name="connsiteX6" fmla="*/ 0 w 1630397"/>
              <a:gd name="connsiteY6" fmla="*/ 1202371 h 1442851"/>
              <a:gd name="connsiteX7" fmla="*/ 0 w 1630397"/>
              <a:gd name="connsiteY7" fmla="*/ 240480 h 1442851"/>
              <a:gd name="connsiteX8" fmla="*/ 240480 w 1630397"/>
              <a:gd name="connsiteY8" fmla="*/ 0 h 1442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0397" h="1442851">
                <a:moveTo>
                  <a:pt x="240480" y="0"/>
                </a:moveTo>
                <a:lnTo>
                  <a:pt x="1389917" y="0"/>
                </a:lnTo>
                <a:cubicBezTo>
                  <a:pt x="1522730" y="0"/>
                  <a:pt x="1630397" y="107667"/>
                  <a:pt x="1630397" y="240480"/>
                </a:cubicBezTo>
                <a:lnTo>
                  <a:pt x="1630397" y="1202371"/>
                </a:lnTo>
                <a:cubicBezTo>
                  <a:pt x="1630397" y="1335184"/>
                  <a:pt x="1522730" y="1442851"/>
                  <a:pt x="1389917" y="1442851"/>
                </a:cubicBezTo>
                <a:lnTo>
                  <a:pt x="240480" y="1442851"/>
                </a:lnTo>
                <a:cubicBezTo>
                  <a:pt x="107667" y="1442851"/>
                  <a:pt x="0" y="1335184"/>
                  <a:pt x="0" y="1202371"/>
                </a:cubicBezTo>
                <a:lnTo>
                  <a:pt x="0" y="240480"/>
                </a:lnTo>
                <a:cubicBezTo>
                  <a:pt x="0" y="107667"/>
                  <a:pt x="107667" y="0"/>
                  <a:pt x="240480" y="0"/>
                </a:cubicBezTo>
                <a:close/>
              </a:path>
            </a:pathLst>
          </a:custGeom>
          <a:noFill/>
        </p:spPr>
      </p:pic>
      <p:pic>
        <p:nvPicPr>
          <p:cNvPr id="2" name="图片 1" descr="医养大屏"/>
          <p:cNvPicPr>
            <a:picLocks noChangeAspect="1"/>
          </p:cNvPicPr>
          <p:nvPr/>
        </p:nvPicPr>
        <p:blipFill>
          <a:blip r:embed="rId9"/>
          <a:stretch>
            <a:fillRect/>
          </a:stretch>
        </p:blipFill>
        <p:spPr>
          <a:xfrm>
            <a:off x="2445028" y="793736"/>
            <a:ext cx="5778806" cy="324753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506585" y="431800"/>
            <a:ext cx="2440305" cy="8147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医院照明产品介绍</a:t>
            </a:r>
            <a:endParaRPr kumimoji="0" lang="en-US" altLang="zh-CN" sz="1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a:p>
            <a:pPr marL="0" marR="0" lvl="0" indent="0" algn="l" defTabSz="914400" rtl="0" eaLnBrk="1" fontAlgn="base" latinLnBrk="0" hangingPunct="1">
              <a:lnSpc>
                <a:spcPct val="100000"/>
              </a:lnSpc>
              <a:spcBef>
                <a:spcPts val="0"/>
              </a:spcBef>
              <a:spcAft>
                <a:spcPts val="0"/>
              </a:spcAft>
              <a:buClrTx/>
              <a:buSzTx/>
              <a:buFontTx/>
              <a:buNone/>
              <a:defRPr/>
            </a:pPr>
            <a:r>
              <a:rPr kumimoji="0" lang="en-US" altLang="zh-CN" sz="7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Introduction to Convenience Store Lighting Products</a:t>
            </a:r>
            <a:endParaRPr kumimoji="0" lang="en-US" altLang="zh-CN" sz="7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b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charset="-122"/>
                <a:cs typeface="+mn-cs"/>
              </a:rPr>
            </a:br>
            <a:endParaRPr kumimoji="0" lang="zh-CN" altLang="en-US" sz="6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nvGrpSpPr>
          <p:cNvPr id="4" name="组合 3"/>
          <p:cNvGrpSpPr/>
          <p:nvPr/>
        </p:nvGrpSpPr>
        <p:grpSpPr>
          <a:xfrm>
            <a:off x="414777" y="781453"/>
            <a:ext cx="1530250" cy="225944"/>
            <a:chOff x="910402" y="1095391"/>
            <a:chExt cx="1530250" cy="225944"/>
          </a:xfrm>
        </p:grpSpPr>
        <p:grpSp>
          <p:nvGrpSpPr>
            <p:cNvPr id="8" name="组合 7"/>
            <p:cNvGrpSpPr/>
            <p:nvPr/>
          </p:nvGrpSpPr>
          <p:grpSpPr>
            <a:xfrm>
              <a:off x="910402" y="1101092"/>
              <a:ext cx="1530250" cy="220243"/>
              <a:chOff x="2774711" y="2691633"/>
              <a:chExt cx="2476039" cy="356367"/>
            </a:xfrm>
          </p:grpSpPr>
          <p:sp>
            <p:nvSpPr>
              <p:cNvPr id="7" name="等腰三角形 6"/>
              <p:cNvSpPr/>
              <p:nvPr/>
            </p:nvSpPr>
            <p:spPr>
              <a:xfrm>
                <a:off x="2774711" y="2691633"/>
                <a:ext cx="472894" cy="355983"/>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5" name="箭头: V 形 4"/>
              <p:cNvSpPr/>
              <p:nvPr/>
            </p:nvSpPr>
            <p:spPr>
              <a:xfrm rot="10800000">
                <a:off x="3891280" y="2692400"/>
                <a:ext cx="568960" cy="355600"/>
              </a:xfrm>
              <a:prstGeom prst="chevron">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charset="-122"/>
                  <a:cs typeface="+mn-cs"/>
                </a:endParaRPr>
              </a:p>
            </p:txBody>
          </p:sp>
          <p:sp>
            <p:nvSpPr>
              <p:cNvPr id="6" name="矩形 5"/>
              <p:cNvSpPr/>
              <p:nvPr/>
            </p:nvSpPr>
            <p:spPr>
              <a:xfrm>
                <a:off x="3015945" y="2692016"/>
                <a:ext cx="2234805" cy="3556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grpSp>
        <p:sp>
          <p:nvSpPr>
            <p:cNvPr id="37" name="矩形 36"/>
            <p:cNvSpPr/>
            <p:nvPr/>
          </p:nvSpPr>
          <p:spPr>
            <a:xfrm>
              <a:off x="1140473" y="1095391"/>
              <a:ext cx="1217000" cy="21544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sv-SE"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天境（</a:t>
              </a:r>
              <a:r>
                <a:rPr kumimoji="0" lang="sv-SE" altLang="zh-CN"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Well Sky</a:t>
              </a:r>
              <a:r>
                <a:rPr kumimoji="0" lang="zh-CN" altLang="sv-SE"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）系列</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sp>
        <p:nvSpPr>
          <p:cNvPr id="125" name="矩形 124"/>
          <p:cNvSpPr/>
          <p:nvPr/>
        </p:nvSpPr>
        <p:spPr>
          <a:xfrm>
            <a:off x="858015" y="5609815"/>
            <a:ext cx="679130" cy="988476"/>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65W</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130W</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360W</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520W</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126" name="矩形 125"/>
          <p:cNvSpPr/>
          <p:nvPr/>
        </p:nvSpPr>
        <p:spPr>
          <a:xfrm>
            <a:off x="1724634" y="5609815"/>
            <a:ext cx="679130" cy="295978"/>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0.98</a:t>
            </a:r>
            <a:endPar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127" name="矩形 126"/>
          <p:cNvSpPr/>
          <p:nvPr/>
        </p:nvSpPr>
        <p:spPr>
          <a:xfrm>
            <a:off x="2637064" y="5609815"/>
            <a:ext cx="679130" cy="988476"/>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3600</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7400</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19800</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28600</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128" name="矩形 127"/>
          <p:cNvSpPr/>
          <p:nvPr/>
        </p:nvSpPr>
        <p:spPr>
          <a:xfrm>
            <a:off x="3516725" y="5609815"/>
            <a:ext cx="679130" cy="757643"/>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1800-12000K(</a:t>
            </a:r>
            <a:r>
              <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白光</a:t>
            </a: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129" name="矩形 128"/>
          <p:cNvSpPr/>
          <p:nvPr/>
        </p:nvSpPr>
        <p:spPr>
          <a:xfrm>
            <a:off x="4416042" y="5609815"/>
            <a:ext cx="679130" cy="295978"/>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Max 97</a:t>
            </a:r>
            <a:endPar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130" name="矩形 129"/>
          <p:cNvSpPr/>
          <p:nvPr/>
        </p:nvSpPr>
        <p:spPr>
          <a:xfrm>
            <a:off x="5287497" y="5609815"/>
            <a:ext cx="679130" cy="295978"/>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a:t>
            </a:r>
            <a:endPar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131" name="矩形 130"/>
          <p:cNvSpPr/>
          <p:nvPr/>
        </p:nvSpPr>
        <p:spPr>
          <a:xfrm>
            <a:off x="6146134" y="5609815"/>
            <a:ext cx="780027" cy="295978"/>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白色</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132" name="矩形 131"/>
          <p:cNvSpPr/>
          <p:nvPr/>
        </p:nvSpPr>
        <p:spPr>
          <a:xfrm>
            <a:off x="6979674" y="5609815"/>
            <a:ext cx="780027" cy="295978"/>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30000hr</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141" name="矩形 140"/>
          <p:cNvSpPr/>
          <p:nvPr/>
        </p:nvSpPr>
        <p:spPr>
          <a:xfrm>
            <a:off x="10601813" y="5609815"/>
            <a:ext cx="1518222" cy="988476"/>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320</a:t>
            </a:r>
            <a:r>
              <a:rPr kumimoji="0" lang="el-GR"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a:t>
            </a: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620*88mm</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620*620*88mm</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640*1240*230mm</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640*1840*230mm</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grpSp>
        <p:nvGrpSpPr>
          <p:cNvPr id="28" name="组合 27"/>
          <p:cNvGrpSpPr/>
          <p:nvPr/>
        </p:nvGrpSpPr>
        <p:grpSpPr>
          <a:xfrm>
            <a:off x="8218119" y="915718"/>
            <a:ext cx="3728615" cy="3984641"/>
            <a:chOff x="9659268" y="471820"/>
            <a:chExt cx="3728615" cy="3984641"/>
          </a:xfrm>
        </p:grpSpPr>
        <p:sp>
          <p:nvSpPr>
            <p:cNvPr id="22" name="object 9"/>
            <p:cNvSpPr txBox="1"/>
            <p:nvPr>
              <p:custDataLst>
                <p:tags r:id="rId1"/>
              </p:custDataLst>
            </p:nvPr>
          </p:nvSpPr>
          <p:spPr>
            <a:xfrm>
              <a:off x="10698042" y="1975046"/>
              <a:ext cx="2689841" cy="1239955"/>
            </a:xfrm>
            <a:prstGeom prst="rect">
              <a:avLst/>
            </a:prstGeom>
          </p:spPr>
          <p:txBody>
            <a:bodyPr vert="horz" wrap="square" lIns="0" tIns="12700" rIns="0" bIns="0" rtlCol="0">
              <a:spAutoFit/>
            </a:bodyPr>
            <a:lstStyle/>
            <a:p>
              <a:pPr marL="12700" marR="5080" lvl="0" indent="0" algn="l" defTabSz="914400" rtl="0" eaLnBrk="1" fontAlgn="auto" latinLnBrk="0" hangingPunct="1">
                <a:lnSpc>
                  <a:spcPct val="150000"/>
                </a:lnSpc>
                <a:spcBef>
                  <a:spcPts val="38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全色温高显指，光色自然舒适</a:t>
              </a:r>
              <a:endParaRPr kumimoji="0" lang="zh-CN" alt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a:p>
              <a:pPr marL="12700" marR="5080" lvl="0" indent="0" algn="l" defTabSz="914400" rtl="0" eaLnBrk="1" fontAlgn="auto" latinLnBrk="0" hangingPunct="1">
                <a:lnSpc>
                  <a:spcPct val="150000"/>
                </a:lnSpc>
                <a:spcBef>
                  <a:spcPts val="380"/>
                </a:spcBef>
                <a:spcAft>
                  <a:spcPts val="0"/>
                </a:spcAft>
                <a:buClrTx/>
                <a:buSzTx/>
                <a:buFontTx/>
                <a:buNone/>
                <a:defRPr/>
              </a:pPr>
              <a:r>
                <a:rPr kumimoji="0" lang="zh-CN" altLang="en-US" sz="900" b="0" i="0" u="none" strike="noStrike" kern="1200" cap="none" spc="-1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在超太阳光引擎支持下，白光品质最高可达</a:t>
              </a:r>
              <a:r>
                <a:rPr kumimoji="0" lang="en-US" altLang="zh-CN" sz="900" b="0" i="0" u="none" strike="noStrike" kern="1200" cap="none" spc="-1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Ra97</a:t>
              </a:r>
              <a:r>
                <a:rPr kumimoji="0" lang="zh-CN" altLang="en-US" sz="900" b="0" i="0" u="none" strike="noStrike" kern="1200" cap="none" spc="-1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及</a:t>
              </a:r>
              <a:r>
                <a:rPr kumimoji="0" lang="en-US" altLang="zh-CN" sz="900" b="0" i="0" u="none" strike="noStrike" kern="1200" cap="none" spc="-1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CQS97</a:t>
              </a:r>
              <a:r>
                <a:rPr kumimoji="0" lang="zh-CN" altLang="en-US" sz="900" b="0" i="0" u="none" strike="noStrike" kern="1200" cap="none" spc="-1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，全色温段（</a:t>
              </a:r>
              <a:r>
                <a:rPr kumimoji="0" lang="en-US" altLang="zh-CN" sz="1600" b="1" i="0" u="none" strike="noStrike" kern="1200" cap="none" spc="-10" normalizeH="0" baseline="0" noProof="0" dirty="0">
                  <a:ln>
                    <a:noFill/>
                  </a:ln>
                  <a:solidFill>
                    <a:srgbClr val="ED7D31"/>
                  </a:solidFill>
                  <a:effectLst/>
                  <a:uLnTx/>
                  <a:uFillTx/>
                  <a:latin typeface="微软雅黑" panose="020B0503020204020204" charset="-122"/>
                  <a:ea typeface="微软雅黑" panose="020B0503020204020204" charset="-122"/>
                  <a:cs typeface="微软雅黑" panose="020B0503020204020204" charset="-122"/>
                </a:rPr>
                <a:t>1800K-12000K</a:t>
              </a:r>
              <a:r>
                <a:rPr kumimoji="0" lang="zh-CN" altLang="en-US" sz="900" b="0" i="0" u="none" strike="noStrike" kern="1200" cap="none" spc="-1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）均可达</a:t>
              </a:r>
              <a:r>
                <a:rPr kumimoji="0" lang="en-US" altLang="zh-CN" sz="900" b="0" i="0" u="none" strike="noStrike" kern="1200" cap="none" spc="-1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Ra90</a:t>
              </a:r>
              <a:r>
                <a:rPr kumimoji="0" lang="zh-CN" altLang="en-US" sz="900" b="0" i="0" u="none" strike="noStrike" kern="1200" cap="none" spc="-1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以上，</a:t>
              </a:r>
              <a:endParaRPr kumimoji="0" lang="zh-CN" altLang="en-US" sz="900" b="1" i="0" u="none" strike="noStrike" kern="1200" cap="none" spc="-10" normalizeH="0" baseline="0" noProof="0" dirty="0">
                <a:ln>
                  <a:noFill/>
                </a:ln>
                <a:solidFill>
                  <a:srgbClr val="ED7D3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3" name="object 10"/>
            <p:cNvSpPr txBox="1"/>
            <p:nvPr>
              <p:custDataLst>
                <p:tags r:id="rId2"/>
              </p:custDataLst>
            </p:nvPr>
          </p:nvSpPr>
          <p:spPr>
            <a:xfrm>
              <a:off x="10698042" y="471820"/>
              <a:ext cx="2689841" cy="1193788"/>
            </a:xfrm>
            <a:prstGeom prst="rect">
              <a:avLst/>
            </a:prstGeom>
          </p:spPr>
          <p:txBody>
            <a:bodyPr vert="horz" wrap="square" lIns="0" tIns="12700" rIns="0" bIns="0" rtlCol="0">
              <a:spAutoFit/>
            </a:bodyPr>
            <a:lstStyle/>
            <a:p>
              <a:pPr marL="12700" marR="5080" lvl="0" indent="0" algn="l" defTabSz="914400" rtl="0" eaLnBrk="1" fontAlgn="auto" latinLnBrk="0" hangingPunct="1">
                <a:lnSpc>
                  <a:spcPct val="150000"/>
                </a:lnSpc>
                <a:spcBef>
                  <a:spcPts val="385"/>
                </a:spcBef>
                <a:spcAft>
                  <a:spcPts val="0"/>
                </a:spcAft>
                <a:buClrTx/>
                <a:buSzTx/>
                <a:buFontTx/>
                <a:buNone/>
                <a:defRPr/>
              </a:pPr>
              <a:r>
                <a:rPr kumimoji="0" lang="en-US" altLang="zh-CN"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AI</a:t>
              </a:r>
              <a:r>
                <a:rPr kumimoji="0" lang="zh-CN" alt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淡彩环境光引擎</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12700" marR="5080" lvl="0" indent="0" algn="l" defTabSz="914400" rtl="0" eaLnBrk="1" fontAlgn="auto" latinLnBrk="0" hangingPunct="1">
                <a:lnSpc>
                  <a:spcPct val="150000"/>
                </a:lnSpc>
                <a:spcBef>
                  <a:spcPts val="385"/>
                </a:spcBef>
                <a:spcAft>
                  <a:spcPts val="0"/>
                </a:spcAft>
                <a:buClrTx/>
                <a:buSzTx/>
                <a:buFontTx/>
                <a:buNone/>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支持上亿颜色调制，定制专属灯光。上千种颜色炫彩光，</a:t>
              </a:r>
              <a:r>
                <a:rPr kumimoji="0" lang="zh-CN" altLang="en-US" sz="1600" b="1" i="0" u="none" strike="noStrike" kern="1200" cap="none" spc="0" normalizeH="0" baseline="0" noProof="0" dirty="0">
                  <a:ln>
                    <a:noFill/>
                  </a:ln>
                  <a:solidFill>
                    <a:srgbClr val="ED7D31"/>
                  </a:solidFill>
                  <a:effectLst/>
                  <a:uLnTx/>
                  <a:uFillTx/>
                  <a:latin typeface="微软雅黑" panose="020B0503020204020204" charset="-122"/>
                  <a:ea typeface="微软雅黑" panose="020B0503020204020204" charset="-122"/>
                  <a:cs typeface="+mn-cs"/>
                  <a:sym typeface="+mn-ea"/>
                </a:rPr>
                <a:t>全模拟阳光色彩</a:t>
              </a:r>
              <a:r>
                <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。低饱和度光谱，营造水彩般柔和的色彩</a:t>
              </a:r>
              <a:endParaRPr kumimoji="0" lang="en-US" altLang="zh-CN"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sp>
          <p:nvSpPr>
            <p:cNvPr id="24" name="object 11"/>
            <p:cNvSpPr txBox="1"/>
            <p:nvPr>
              <p:custDataLst>
                <p:tags r:id="rId3"/>
              </p:custDataLst>
            </p:nvPr>
          </p:nvSpPr>
          <p:spPr>
            <a:xfrm>
              <a:off x="10698042" y="3462727"/>
              <a:ext cx="2689840" cy="993734"/>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50000"/>
                </a:lnSpc>
                <a:spcBef>
                  <a:spcPts val="10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灯体超薄设计</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a:p>
              <a:pPr marL="12700" marR="0" lvl="0" indent="0" algn="l" defTabSz="914400" rtl="0" eaLnBrk="1" fontAlgn="auto" latinLnBrk="0" hangingPunct="1">
                <a:lnSpc>
                  <a:spcPct val="150000"/>
                </a:lnSpc>
                <a:spcBef>
                  <a:spcPts val="100"/>
                </a:spcBef>
                <a:spcAft>
                  <a:spcPts val="0"/>
                </a:spcAft>
                <a:buClrTx/>
                <a:buSzTx/>
                <a:buFontTx/>
                <a:buNone/>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最低</a:t>
              </a:r>
              <a:r>
                <a:rPr kumimoji="0" lang="en-US" altLang="zh-CN" sz="1800" b="1" i="0" u="none" strike="noStrike" kern="1200" cap="none" spc="0" normalizeH="0" baseline="0" noProof="0" dirty="0">
                  <a:ln>
                    <a:noFill/>
                  </a:ln>
                  <a:solidFill>
                    <a:srgbClr val="ED7D31"/>
                  </a:solidFill>
                  <a:effectLst/>
                  <a:uLnTx/>
                  <a:uFillTx/>
                  <a:latin typeface="微软雅黑" panose="020B0503020204020204" charset="-122"/>
                  <a:ea typeface="微软雅黑" panose="020B0503020204020204" charset="-122"/>
                  <a:cs typeface="+mn-cs"/>
                  <a:sym typeface="+mn-ea"/>
                </a:rPr>
                <a:t>88mm</a:t>
              </a:r>
              <a:r>
                <a:rPr kumimoji="0" lang="zh-CN" altLang="en-US" sz="1800" b="1" i="0" u="none" strike="noStrike" kern="1200" cap="none" spc="0" normalizeH="0" baseline="0" noProof="0" dirty="0">
                  <a:ln>
                    <a:noFill/>
                  </a:ln>
                  <a:solidFill>
                    <a:srgbClr val="ED7D31"/>
                  </a:solidFill>
                  <a:effectLst/>
                  <a:uLnTx/>
                  <a:uFillTx/>
                  <a:latin typeface="微软雅黑" panose="020B0503020204020204" charset="-122"/>
                  <a:ea typeface="微软雅黑" panose="020B0503020204020204" charset="-122"/>
                  <a:cs typeface="+mn-cs"/>
                  <a:sym typeface="+mn-ea"/>
                </a:rPr>
                <a:t>超薄灯体</a:t>
              </a:r>
              <a:r>
                <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，安装限制大大降低</a:t>
              </a:r>
              <a:endParaRPr kumimoji="0" lang="zh-CN" altLang="en-US" sz="900" b="1" i="0" u="none" strike="noStrike" kern="1200" cap="none" spc="0" normalizeH="0" baseline="0" noProof="0" dirty="0">
                <a:ln>
                  <a:noFill/>
                </a:ln>
                <a:solidFill>
                  <a:srgbClr val="ED7D31"/>
                </a:solidFill>
                <a:effectLst/>
                <a:uLnTx/>
                <a:uFillTx/>
                <a:latin typeface="微软雅黑" panose="020B0503020204020204" charset="-122"/>
                <a:ea typeface="微软雅黑" panose="020B0503020204020204" charset="-122"/>
                <a:cs typeface="+mn-cs"/>
                <a:sym typeface="+mn-ea"/>
              </a:endParaRPr>
            </a:p>
          </p:txBody>
        </p:sp>
        <p:sp>
          <p:nvSpPr>
            <p:cNvPr id="25" name="object 12"/>
            <p:cNvSpPr/>
            <p:nvPr>
              <p:custDataLst>
                <p:tags r:id="rId4"/>
              </p:custDataLst>
            </p:nvPr>
          </p:nvSpPr>
          <p:spPr>
            <a:xfrm>
              <a:off x="9659268" y="741054"/>
              <a:ext cx="653415" cy="655320"/>
            </a:xfrm>
            <a:custGeom>
              <a:avLst/>
              <a:gdLst/>
              <a:ahLst/>
              <a:cxnLst/>
              <a:rect l="l" t="t" r="r" b="b"/>
              <a:pathLst>
                <a:path w="527685" h="528954">
                  <a:moveTo>
                    <a:pt x="265783" y="108631"/>
                  </a:moveTo>
                  <a:lnTo>
                    <a:pt x="200064" y="121484"/>
                  </a:lnTo>
                  <a:lnTo>
                    <a:pt x="144966" y="158783"/>
                  </a:lnTo>
                  <a:lnTo>
                    <a:pt x="107791" y="214358"/>
                  </a:lnTo>
                  <a:lnTo>
                    <a:pt x="94980" y="279961"/>
                  </a:lnTo>
                  <a:lnTo>
                    <a:pt x="98821" y="316418"/>
                  </a:lnTo>
                  <a:lnTo>
                    <a:pt x="128372" y="382440"/>
                  </a:lnTo>
                  <a:lnTo>
                    <a:pt x="156630" y="412838"/>
                  </a:lnTo>
                  <a:lnTo>
                    <a:pt x="369930" y="414508"/>
                  </a:lnTo>
                  <a:lnTo>
                    <a:pt x="374091" y="412838"/>
                  </a:lnTo>
                  <a:lnTo>
                    <a:pt x="377421" y="409498"/>
                  </a:lnTo>
                  <a:lnTo>
                    <a:pt x="402480" y="382440"/>
                  </a:lnTo>
                  <a:lnTo>
                    <a:pt x="406245" y="376068"/>
                  </a:lnTo>
                  <a:lnTo>
                    <a:pt x="173300" y="376067"/>
                  </a:lnTo>
                  <a:lnTo>
                    <a:pt x="156025" y="355528"/>
                  </a:lnTo>
                  <a:lnTo>
                    <a:pt x="143200" y="332089"/>
                  </a:lnTo>
                  <a:lnTo>
                    <a:pt x="135217" y="306612"/>
                  </a:lnTo>
                  <a:lnTo>
                    <a:pt x="132469" y="279961"/>
                  </a:lnTo>
                  <a:lnTo>
                    <a:pt x="139295" y="237815"/>
                  </a:lnTo>
                  <a:lnTo>
                    <a:pt x="158278" y="201124"/>
                  </a:lnTo>
                  <a:lnTo>
                    <a:pt x="187179" y="172135"/>
                  </a:lnTo>
                  <a:lnTo>
                    <a:pt x="223761" y="153094"/>
                  </a:lnTo>
                  <a:lnTo>
                    <a:pt x="265783" y="146248"/>
                  </a:lnTo>
                  <a:lnTo>
                    <a:pt x="371341" y="146248"/>
                  </a:lnTo>
                  <a:lnTo>
                    <a:pt x="360330" y="137196"/>
                  </a:lnTo>
                  <a:lnTo>
                    <a:pt x="330872" y="121484"/>
                  </a:lnTo>
                  <a:lnTo>
                    <a:pt x="299070" y="111884"/>
                  </a:lnTo>
                  <a:lnTo>
                    <a:pt x="265783" y="108631"/>
                  </a:lnTo>
                  <a:close/>
                </a:path>
                <a:path w="527685" h="528954">
                  <a:moveTo>
                    <a:pt x="371341" y="146248"/>
                  </a:moveTo>
                  <a:lnTo>
                    <a:pt x="265783" y="146248"/>
                  </a:lnTo>
                  <a:lnTo>
                    <a:pt x="307713" y="153094"/>
                  </a:lnTo>
                  <a:lnTo>
                    <a:pt x="344084" y="172135"/>
                  </a:lnTo>
                  <a:lnTo>
                    <a:pt x="372738" y="201124"/>
                  </a:lnTo>
                  <a:lnTo>
                    <a:pt x="391514" y="237815"/>
                  </a:lnTo>
                  <a:lnTo>
                    <a:pt x="398253" y="279961"/>
                  </a:lnTo>
                  <a:lnTo>
                    <a:pt x="395506" y="306612"/>
                  </a:lnTo>
                  <a:lnTo>
                    <a:pt x="387526" y="332089"/>
                  </a:lnTo>
                  <a:lnTo>
                    <a:pt x="374702" y="355528"/>
                  </a:lnTo>
                  <a:lnTo>
                    <a:pt x="357422" y="376068"/>
                  </a:lnTo>
                  <a:lnTo>
                    <a:pt x="406245" y="376068"/>
                  </a:lnTo>
                  <a:lnTo>
                    <a:pt x="421057" y="350996"/>
                  </a:lnTo>
                  <a:lnTo>
                    <a:pt x="432604" y="316418"/>
                  </a:lnTo>
                  <a:lnTo>
                    <a:pt x="436575" y="279961"/>
                  </a:lnTo>
                  <a:lnTo>
                    <a:pt x="433217" y="246219"/>
                  </a:lnTo>
                  <a:lnTo>
                    <a:pt x="423456" y="214358"/>
                  </a:lnTo>
                  <a:lnTo>
                    <a:pt x="407757" y="185005"/>
                  </a:lnTo>
                  <a:lnTo>
                    <a:pt x="386588" y="158783"/>
                  </a:lnTo>
                  <a:lnTo>
                    <a:pt x="371341" y="146248"/>
                  </a:lnTo>
                  <a:close/>
                </a:path>
                <a:path w="527685" h="528954">
                  <a:moveTo>
                    <a:pt x="56654" y="301691"/>
                  </a:moveTo>
                  <a:lnTo>
                    <a:pt x="18329" y="301691"/>
                  </a:lnTo>
                  <a:lnTo>
                    <a:pt x="0" y="320071"/>
                  </a:lnTo>
                  <a:lnTo>
                    <a:pt x="1457" y="327659"/>
                  </a:lnTo>
                  <a:lnTo>
                    <a:pt x="5415" y="333758"/>
                  </a:lnTo>
                  <a:lnTo>
                    <a:pt x="11247" y="337821"/>
                  </a:lnTo>
                  <a:lnTo>
                    <a:pt x="18329" y="339297"/>
                  </a:lnTo>
                  <a:lnTo>
                    <a:pt x="56654" y="339297"/>
                  </a:lnTo>
                  <a:lnTo>
                    <a:pt x="64218" y="337821"/>
                  </a:lnTo>
                  <a:lnTo>
                    <a:pt x="70298" y="333758"/>
                  </a:lnTo>
                  <a:lnTo>
                    <a:pt x="74347" y="327659"/>
                  </a:lnTo>
                  <a:lnTo>
                    <a:pt x="75818" y="320071"/>
                  </a:lnTo>
                  <a:lnTo>
                    <a:pt x="74347" y="312972"/>
                  </a:lnTo>
                  <a:lnTo>
                    <a:pt x="70298" y="307124"/>
                  </a:lnTo>
                  <a:lnTo>
                    <a:pt x="64218" y="303154"/>
                  </a:lnTo>
                  <a:lnTo>
                    <a:pt x="56654" y="301691"/>
                  </a:lnTo>
                  <a:close/>
                </a:path>
                <a:path w="527685" h="528954">
                  <a:moveTo>
                    <a:pt x="512399" y="301691"/>
                  </a:moveTo>
                  <a:lnTo>
                    <a:pt x="474065" y="301691"/>
                  </a:lnTo>
                  <a:lnTo>
                    <a:pt x="454910" y="320071"/>
                  </a:lnTo>
                  <a:lnTo>
                    <a:pt x="456498" y="327659"/>
                  </a:lnTo>
                  <a:lnTo>
                    <a:pt x="460742" y="333758"/>
                  </a:lnTo>
                  <a:lnTo>
                    <a:pt x="466858" y="337821"/>
                  </a:lnTo>
                  <a:lnTo>
                    <a:pt x="474065" y="339297"/>
                  </a:lnTo>
                  <a:lnTo>
                    <a:pt x="512399" y="339297"/>
                  </a:lnTo>
                  <a:lnTo>
                    <a:pt x="519962" y="337821"/>
                  </a:lnTo>
                  <a:lnTo>
                    <a:pt x="526039" y="333758"/>
                  </a:lnTo>
                  <a:lnTo>
                    <a:pt x="527303" y="331852"/>
                  </a:lnTo>
                  <a:lnTo>
                    <a:pt x="527303" y="308952"/>
                  </a:lnTo>
                  <a:lnTo>
                    <a:pt x="526039" y="307124"/>
                  </a:lnTo>
                  <a:lnTo>
                    <a:pt x="519962" y="303154"/>
                  </a:lnTo>
                  <a:lnTo>
                    <a:pt x="512399" y="301691"/>
                  </a:lnTo>
                  <a:close/>
                </a:path>
                <a:path w="527685" h="528954">
                  <a:moveTo>
                    <a:pt x="463759" y="81268"/>
                  </a:moveTo>
                  <a:lnTo>
                    <a:pt x="423246" y="114487"/>
                  </a:lnTo>
                  <a:lnTo>
                    <a:pt x="417619" y="127548"/>
                  </a:lnTo>
                  <a:lnTo>
                    <a:pt x="419026" y="134820"/>
                  </a:lnTo>
                  <a:lnTo>
                    <a:pt x="423246" y="141227"/>
                  </a:lnTo>
                  <a:lnTo>
                    <a:pt x="429523" y="145461"/>
                  </a:lnTo>
                  <a:lnTo>
                    <a:pt x="436579" y="146872"/>
                  </a:lnTo>
                  <a:lnTo>
                    <a:pt x="443634" y="145461"/>
                  </a:lnTo>
                  <a:lnTo>
                    <a:pt x="449904" y="141227"/>
                  </a:lnTo>
                  <a:lnTo>
                    <a:pt x="477406" y="113652"/>
                  </a:lnTo>
                  <a:lnTo>
                    <a:pt x="481620" y="107356"/>
                  </a:lnTo>
                  <a:lnTo>
                    <a:pt x="483025" y="100278"/>
                  </a:lnTo>
                  <a:lnTo>
                    <a:pt x="481620" y="93202"/>
                  </a:lnTo>
                  <a:lnTo>
                    <a:pt x="477406" y="86912"/>
                  </a:lnTo>
                  <a:lnTo>
                    <a:pt x="471012" y="82679"/>
                  </a:lnTo>
                  <a:lnTo>
                    <a:pt x="463759" y="81268"/>
                  </a:lnTo>
                  <a:close/>
                </a:path>
                <a:path w="527685" h="528954">
                  <a:moveTo>
                    <a:pt x="64153" y="80433"/>
                  </a:moveTo>
                  <a:lnTo>
                    <a:pt x="57097" y="81844"/>
                  </a:lnTo>
                  <a:lnTo>
                    <a:pt x="50822" y="86077"/>
                  </a:lnTo>
                  <a:lnTo>
                    <a:pt x="46604" y="92367"/>
                  </a:lnTo>
                  <a:lnTo>
                    <a:pt x="45199" y="99443"/>
                  </a:lnTo>
                  <a:lnTo>
                    <a:pt x="46604" y="106521"/>
                  </a:lnTo>
                  <a:lnTo>
                    <a:pt x="50822" y="112817"/>
                  </a:lnTo>
                  <a:lnTo>
                    <a:pt x="77484" y="140392"/>
                  </a:lnTo>
                  <a:lnTo>
                    <a:pt x="83889" y="144626"/>
                  </a:lnTo>
                  <a:lnTo>
                    <a:pt x="91231" y="146037"/>
                  </a:lnTo>
                  <a:lnTo>
                    <a:pt x="98573" y="144626"/>
                  </a:lnTo>
                  <a:lnTo>
                    <a:pt x="104979" y="140392"/>
                  </a:lnTo>
                  <a:lnTo>
                    <a:pt x="109199" y="134102"/>
                  </a:lnTo>
                  <a:lnTo>
                    <a:pt x="110606" y="127026"/>
                  </a:lnTo>
                  <a:lnTo>
                    <a:pt x="109199" y="119948"/>
                  </a:lnTo>
                  <a:lnTo>
                    <a:pt x="104979" y="113652"/>
                  </a:lnTo>
                  <a:lnTo>
                    <a:pt x="77484" y="86077"/>
                  </a:lnTo>
                  <a:lnTo>
                    <a:pt x="71209" y="81844"/>
                  </a:lnTo>
                  <a:lnTo>
                    <a:pt x="64153" y="80433"/>
                  </a:lnTo>
                  <a:close/>
                </a:path>
                <a:path w="527685" h="528954">
                  <a:moveTo>
                    <a:pt x="343260" y="432900"/>
                  </a:moveTo>
                  <a:lnTo>
                    <a:pt x="187462" y="432900"/>
                  </a:lnTo>
                  <a:lnTo>
                    <a:pt x="168295" y="452121"/>
                  </a:lnTo>
                  <a:lnTo>
                    <a:pt x="169883" y="459708"/>
                  </a:lnTo>
                  <a:lnTo>
                    <a:pt x="174128" y="465806"/>
                  </a:lnTo>
                  <a:lnTo>
                    <a:pt x="180248" y="469867"/>
                  </a:lnTo>
                  <a:lnTo>
                    <a:pt x="187462" y="471343"/>
                  </a:lnTo>
                  <a:lnTo>
                    <a:pt x="343260" y="471343"/>
                  </a:lnTo>
                  <a:lnTo>
                    <a:pt x="350825" y="469867"/>
                  </a:lnTo>
                  <a:lnTo>
                    <a:pt x="356906" y="465806"/>
                  </a:lnTo>
                  <a:lnTo>
                    <a:pt x="360956" y="459708"/>
                  </a:lnTo>
                  <a:lnTo>
                    <a:pt x="362427" y="452121"/>
                  </a:lnTo>
                  <a:lnTo>
                    <a:pt x="360956" y="444887"/>
                  </a:lnTo>
                  <a:lnTo>
                    <a:pt x="356906" y="438750"/>
                  </a:lnTo>
                  <a:lnTo>
                    <a:pt x="350825" y="434493"/>
                  </a:lnTo>
                  <a:lnTo>
                    <a:pt x="343260" y="432900"/>
                  </a:lnTo>
                  <a:close/>
                </a:path>
                <a:path w="527685" h="528954">
                  <a:moveTo>
                    <a:pt x="280411" y="0"/>
                  </a:moveTo>
                  <a:lnTo>
                    <a:pt x="253508" y="0"/>
                  </a:lnTo>
                  <a:lnTo>
                    <a:pt x="252137" y="830"/>
                  </a:lnTo>
                  <a:lnTo>
                    <a:pt x="248087" y="6391"/>
                  </a:lnTo>
                  <a:lnTo>
                    <a:pt x="246616" y="13360"/>
                  </a:lnTo>
                  <a:lnTo>
                    <a:pt x="246616" y="52646"/>
                  </a:lnTo>
                  <a:lnTo>
                    <a:pt x="248087" y="59750"/>
                  </a:lnTo>
                  <a:lnTo>
                    <a:pt x="252137" y="65597"/>
                  </a:lnTo>
                  <a:lnTo>
                    <a:pt x="258218" y="69565"/>
                  </a:lnTo>
                  <a:lnTo>
                    <a:pt x="265783" y="71026"/>
                  </a:lnTo>
                  <a:lnTo>
                    <a:pt x="272864" y="69565"/>
                  </a:lnTo>
                  <a:lnTo>
                    <a:pt x="278694" y="65597"/>
                  </a:lnTo>
                  <a:lnTo>
                    <a:pt x="282649" y="59750"/>
                  </a:lnTo>
                  <a:lnTo>
                    <a:pt x="284106" y="52646"/>
                  </a:lnTo>
                  <a:lnTo>
                    <a:pt x="284106" y="3340"/>
                  </a:lnTo>
                  <a:lnTo>
                    <a:pt x="280411" y="0"/>
                  </a:lnTo>
                  <a:close/>
                </a:path>
                <a:path w="527685" h="528954">
                  <a:moveTo>
                    <a:pt x="322440" y="490565"/>
                  </a:moveTo>
                  <a:lnTo>
                    <a:pt x="208293" y="490565"/>
                  </a:lnTo>
                  <a:lnTo>
                    <a:pt x="189126" y="509787"/>
                  </a:lnTo>
                  <a:lnTo>
                    <a:pt x="190715" y="517021"/>
                  </a:lnTo>
                  <a:lnTo>
                    <a:pt x="194960" y="523158"/>
                  </a:lnTo>
                  <a:lnTo>
                    <a:pt x="201080" y="527415"/>
                  </a:lnTo>
                  <a:lnTo>
                    <a:pt x="207475" y="528828"/>
                  </a:lnTo>
                  <a:lnTo>
                    <a:pt x="323297" y="528828"/>
                  </a:lnTo>
                  <a:lnTo>
                    <a:pt x="329998" y="527415"/>
                  </a:lnTo>
                  <a:lnTo>
                    <a:pt x="336076" y="523158"/>
                  </a:lnTo>
                  <a:lnTo>
                    <a:pt x="340124" y="517021"/>
                  </a:lnTo>
                  <a:lnTo>
                    <a:pt x="341596" y="509787"/>
                  </a:lnTo>
                  <a:lnTo>
                    <a:pt x="340124" y="502200"/>
                  </a:lnTo>
                  <a:lnTo>
                    <a:pt x="336076" y="496102"/>
                  </a:lnTo>
                  <a:lnTo>
                    <a:pt x="329998" y="492041"/>
                  </a:lnTo>
                  <a:lnTo>
                    <a:pt x="322440" y="490565"/>
                  </a:lnTo>
                  <a:close/>
                </a:path>
              </a:pathLst>
            </a:custGeom>
            <a:solidFill>
              <a:schemeClr val="tx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6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6" name="object 14"/>
            <p:cNvSpPr/>
            <p:nvPr>
              <p:custDataLst>
                <p:tags r:id="rId5"/>
              </p:custDataLst>
            </p:nvPr>
          </p:nvSpPr>
          <p:spPr>
            <a:xfrm>
              <a:off x="9674449" y="3501147"/>
              <a:ext cx="628015" cy="566420"/>
            </a:xfrm>
            <a:custGeom>
              <a:avLst/>
              <a:gdLst/>
              <a:ahLst/>
              <a:cxnLst/>
              <a:rect l="l" t="t" r="r" b="b"/>
              <a:pathLst>
                <a:path w="523240" h="471804">
                  <a:moveTo>
                    <a:pt x="182333" y="371678"/>
                  </a:moveTo>
                  <a:lnTo>
                    <a:pt x="170154" y="354863"/>
                  </a:lnTo>
                  <a:lnTo>
                    <a:pt x="161429" y="354863"/>
                  </a:lnTo>
                  <a:lnTo>
                    <a:pt x="157073" y="356336"/>
                  </a:lnTo>
                  <a:lnTo>
                    <a:pt x="154152" y="359270"/>
                  </a:lnTo>
                  <a:lnTo>
                    <a:pt x="143510" y="367131"/>
                  </a:lnTo>
                  <a:lnTo>
                    <a:pt x="131152" y="369747"/>
                  </a:lnTo>
                  <a:lnTo>
                    <a:pt x="118668" y="367131"/>
                  </a:lnTo>
                  <a:lnTo>
                    <a:pt x="107607" y="359270"/>
                  </a:lnTo>
                  <a:lnTo>
                    <a:pt x="104711" y="356336"/>
                  </a:lnTo>
                  <a:lnTo>
                    <a:pt x="100342" y="354863"/>
                  </a:lnTo>
                  <a:lnTo>
                    <a:pt x="91617" y="354863"/>
                  </a:lnTo>
                  <a:lnTo>
                    <a:pt x="87985" y="356336"/>
                  </a:lnTo>
                  <a:lnTo>
                    <a:pt x="84340" y="359270"/>
                  </a:lnTo>
                  <a:lnTo>
                    <a:pt x="80670" y="365239"/>
                  </a:lnTo>
                  <a:lnTo>
                    <a:pt x="79438" y="371678"/>
                  </a:lnTo>
                  <a:lnTo>
                    <a:pt x="80670" y="377977"/>
                  </a:lnTo>
                  <a:lnTo>
                    <a:pt x="117983" y="402742"/>
                  </a:lnTo>
                  <a:lnTo>
                    <a:pt x="130886" y="404088"/>
                  </a:lnTo>
                  <a:lnTo>
                    <a:pt x="143776" y="402742"/>
                  </a:lnTo>
                  <a:lnTo>
                    <a:pt x="156057" y="398767"/>
                  </a:lnTo>
                  <a:lnTo>
                    <a:pt x="167386" y="392315"/>
                  </a:lnTo>
                  <a:lnTo>
                    <a:pt x="177419" y="383514"/>
                  </a:lnTo>
                  <a:lnTo>
                    <a:pt x="181102" y="377977"/>
                  </a:lnTo>
                  <a:lnTo>
                    <a:pt x="182333" y="371678"/>
                  </a:lnTo>
                  <a:close/>
                </a:path>
                <a:path w="523240" h="471804">
                  <a:moveTo>
                    <a:pt x="313944" y="94399"/>
                  </a:moveTo>
                  <a:lnTo>
                    <a:pt x="275399" y="63792"/>
                  </a:lnTo>
                  <a:lnTo>
                    <a:pt x="262509" y="62445"/>
                  </a:lnTo>
                  <a:lnTo>
                    <a:pt x="249605" y="63792"/>
                  </a:lnTo>
                  <a:lnTo>
                    <a:pt x="215963" y="82283"/>
                  </a:lnTo>
                  <a:lnTo>
                    <a:pt x="211061" y="94399"/>
                  </a:lnTo>
                  <a:lnTo>
                    <a:pt x="212280" y="100876"/>
                  </a:lnTo>
                  <a:lnTo>
                    <a:pt x="215963" y="106527"/>
                  </a:lnTo>
                  <a:lnTo>
                    <a:pt x="221437" y="110248"/>
                  </a:lnTo>
                  <a:lnTo>
                    <a:pt x="227596" y="111493"/>
                  </a:lnTo>
                  <a:lnTo>
                    <a:pt x="233756" y="110248"/>
                  </a:lnTo>
                  <a:lnTo>
                    <a:pt x="250190" y="99085"/>
                  </a:lnTo>
                  <a:lnTo>
                    <a:pt x="262496" y="96608"/>
                  </a:lnTo>
                  <a:lnTo>
                    <a:pt x="274815" y="99085"/>
                  </a:lnTo>
                  <a:lnTo>
                    <a:pt x="291249" y="110248"/>
                  </a:lnTo>
                  <a:lnTo>
                    <a:pt x="297408" y="111493"/>
                  </a:lnTo>
                  <a:lnTo>
                    <a:pt x="303568" y="110248"/>
                  </a:lnTo>
                  <a:lnTo>
                    <a:pt x="309041" y="106527"/>
                  </a:lnTo>
                  <a:lnTo>
                    <a:pt x="312724" y="100876"/>
                  </a:lnTo>
                  <a:lnTo>
                    <a:pt x="313524" y="96608"/>
                  </a:lnTo>
                  <a:lnTo>
                    <a:pt x="313944" y="94399"/>
                  </a:lnTo>
                  <a:close/>
                </a:path>
                <a:path w="523240" h="471804">
                  <a:moveTo>
                    <a:pt x="445020" y="371678"/>
                  </a:moveTo>
                  <a:lnTo>
                    <a:pt x="433387" y="354863"/>
                  </a:lnTo>
                  <a:lnTo>
                    <a:pt x="424662" y="354863"/>
                  </a:lnTo>
                  <a:lnTo>
                    <a:pt x="420293" y="356336"/>
                  </a:lnTo>
                  <a:lnTo>
                    <a:pt x="417398" y="359270"/>
                  </a:lnTo>
                  <a:lnTo>
                    <a:pt x="406336" y="367131"/>
                  </a:lnTo>
                  <a:lnTo>
                    <a:pt x="393852" y="369747"/>
                  </a:lnTo>
                  <a:lnTo>
                    <a:pt x="381495" y="367131"/>
                  </a:lnTo>
                  <a:lnTo>
                    <a:pt x="370852" y="359270"/>
                  </a:lnTo>
                  <a:lnTo>
                    <a:pt x="367944" y="356336"/>
                  </a:lnTo>
                  <a:lnTo>
                    <a:pt x="363575" y="354863"/>
                  </a:lnTo>
                  <a:lnTo>
                    <a:pt x="354850" y="354863"/>
                  </a:lnTo>
                  <a:lnTo>
                    <a:pt x="350494" y="356336"/>
                  </a:lnTo>
                  <a:lnTo>
                    <a:pt x="347586" y="359270"/>
                  </a:lnTo>
                  <a:lnTo>
                    <a:pt x="343903" y="365239"/>
                  </a:lnTo>
                  <a:lnTo>
                    <a:pt x="342671" y="371678"/>
                  </a:lnTo>
                  <a:lnTo>
                    <a:pt x="343903" y="377977"/>
                  </a:lnTo>
                  <a:lnTo>
                    <a:pt x="381228" y="402742"/>
                  </a:lnTo>
                  <a:lnTo>
                    <a:pt x="394131" y="404088"/>
                  </a:lnTo>
                  <a:lnTo>
                    <a:pt x="407022" y="402742"/>
                  </a:lnTo>
                  <a:lnTo>
                    <a:pt x="419303" y="398767"/>
                  </a:lnTo>
                  <a:lnTo>
                    <a:pt x="430631" y="392315"/>
                  </a:lnTo>
                  <a:lnTo>
                    <a:pt x="440664" y="383514"/>
                  </a:lnTo>
                  <a:lnTo>
                    <a:pt x="443928" y="377977"/>
                  </a:lnTo>
                  <a:lnTo>
                    <a:pt x="445020" y="371678"/>
                  </a:lnTo>
                  <a:close/>
                </a:path>
                <a:path w="523240" h="471804">
                  <a:moveTo>
                    <a:pt x="522732" y="320852"/>
                  </a:moveTo>
                  <a:lnTo>
                    <a:pt x="518375" y="292493"/>
                  </a:lnTo>
                  <a:lnTo>
                    <a:pt x="499884" y="254965"/>
                  </a:lnTo>
                  <a:lnTo>
                    <a:pt x="492290" y="247027"/>
                  </a:lnTo>
                  <a:lnTo>
                    <a:pt x="492290" y="335775"/>
                  </a:lnTo>
                  <a:lnTo>
                    <a:pt x="484517" y="375285"/>
                  </a:lnTo>
                  <a:lnTo>
                    <a:pt x="463384" y="407771"/>
                  </a:lnTo>
                  <a:lnTo>
                    <a:pt x="432168" y="429780"/>
                  </a:lnTo>
                  <a:lnTo>
                    <a:pt x="394131" y="437896"/>
                  </a:lnTo>
                  <a:lnTo>
                    <a:pt x="355663" y="429780"/>
                  </a:lnTo>
                  <a:lnTo>
                    <a:pt x="324218" y="407771"/>
                  </a:lnTo>
                  <a:lnTo>
                    <a:pt x="303009" y="375285"/>
                  </a:lnTo>
                  <a:lnTo>
                    <a:pt x="295224" y="335762"/>
                  </a:lnTo>
                  <a:lnTo>
                    <a:pt x="303009" y="295821"/>
                  </a:lnTo>
                  <a:lnTo>
                    <a:pt x="322859" y="265226"/>
                  </a:lnTo>
                  <a:lnTo>
                    <a:pt x="324218" y="263118"/>
                  </a:lnTo>
                  <a:lnTo>
                    <a:pt x="355663" y="241020"/>
                  </a:lnTo>
                  <a:lnTo>
                    <a:pt x="394131" y="232892"/>
                  </a:lnTo>
                  <a:lnTo>
                    <a:pt x="432168" y="241020"/>
                  </a:lnTo>
                  <a:lnTo>
                    <a:pt x="463384" y="263118"/>
                  </a:lnTo>
                  <a:lnTo>
                    <a:pt x="484517" y="295821"/>
                  </a:lnTo>
                  <a:lnTo>
                    <a:pt x="492290" y="335775"/>
                  </a:lnTo>
                  <a:lnTo>
                    <a:pt x="492290" y="247027"/>
                  </a:lnTo>
                  <a:lnTo>
                    <a:pt x="471614" y="225412"/>
                  </a:lnTo>
                  <a:lnTo>
                    <a:pt x="435660" y="206044"/>
                  </a:lnTo>
                  <a:lnTo>
                    <a:pt x="402907" y="200571"/>
                  </a:lnTo>
                  <a:lnTo>
                    <a:pt x="394131" y="199097"/>
                  </a:lnTo>
                  <a:lnTo>
                    <a:pt x="387578" y="199097"/>
                  </a:lnTo>
                  <a:lnTo>
                    <a:pt x="374497" y="200571"/>
                  </a:lnTo>
                  <a:lnTo>
                    <a:pt x="382778" y="184086"/>
                  </a:lnTo>
                  <a:lnTo>
                    <a:pt x="388937" y="166776"/>
                  </a:lnTo>
                  <a:lnTo>
                    <a:pt x="392798" y="148907"/>
                  </a:lnTo>
                  <a:lnTo>
                    <a:pt x="394131" y="130771"/>
                  </a:lnTo>
                  <a:lnTo>
                    <a:pt x="387413" y="87579"/>
                  </a:lnTo>
                  <a:lnTo>
                    <a:pt x="368744" y="50241"/>
                  </a:lnTo>
                  <a:lnTo>
                    <a:pt x="361403" y="42697"/>
                  </a:lnTo>
                  <a:lnTo>
                    <a:pt x="361403" y="130771"/>
                  </a:lnTo>
                  <a:lnTo>
                    <a:pt x="353618" y="170599"/>
                  </a:lnTo>
                  <a:lnTo>
                    <a:pt x="332397" y="203047"/>
                  </a:lnTo>
                  <a:lnTo>
                    <a:pt x="300964" y="224891"/>
                  </a:lnTo>
                  <a:lnTo>
                    <a:pt x="262509" y="232892"/>
                  </a:lnTo>
                  <a:lnTo>
                    <a:pt x="229781" y="226098"/>
                  </a:lnTo>
                  <a:lnTo>
                    <a:pt x="229781" y="335775"/>
                  </a:lnTo>
                  <a:lnTo>
                    <a:pt x="221996" y="375285"/>
                  </a:lnTo>
                  <a:lnTo>
                    <a:pt x="200787" y="407771"/>
                  </a:lnTo>
                  <a:lnTo>
                    <a:pt x="169354" y="429780"/>
                  </a:lnTo>
                  <a:lnTo>
                    <a:pt x="130886" y="437896"/>
                  </a:lnTo>
                  <a:lnTo>
                    <a:pt x="92849" y="429780"/>
                  </a:lnTo>
                  <a:lnTo>
                    <a:pt x="61620" y="407771"/>
                  </a:lnTo>
                  <a:lnTo>
                    <a:pt x="40487" y="375285"/>
                  </a:lnTo>
                  <a:lnTo>
                    <a:pt x="32715" y="335762"/>
                  </a:lnTo>
                  <a:lnTo>
                    <a:pt x="40487" y="295821"/>
                  </a:lnTo>
                  <a:lnTo>
                    <a:pt x="61620" y="263118"/>
                  </a:lnTo>
                  <a:lnTo>
                    <a:pt x="92849" y="241020"/>
                  </a:lnTo>
                  <a:lnTo>
                    <a:pt x="130886" y="232892"/>
                  </a:lnTo>
                  <a:lnTo>
                    <a:pt x="169354" y="241020"/>
                  </a:lnTo>
                  <a:lnTo>
                    <a:pt x="200787" y="263118"/>
                  </a:lnTo>
                  <a:lnTo>
                    <a:pt x="221996" y="295821"/>
                  </a:lnTo>
                  <a:lnTo>
                    <a:pt x="229781" y="335775"/>
                  </a:lnTo>
                  <a:lnTo>
                    <a:pt x="229781" y="226098"/>
                  </a:lnTo>
                  <a:lnTo>
                    <a:pt x="192608" y="203047"/>
                  </a:lnTo>
                  <a:lnTo>
                    <a:pt x="171386" y="170599"/>
                  </a:lnTo>
                  <a:lnTo>
                    <a:pt x="163601" y="130771"/>
                  </a:lnTo>
                  <a:lnTo>
                    <a:pt x="171386" y="90830"/>
                  </a:lnTo>
                  <a:lnTo>
                    <a:pt x="192608" y="58127"/>
                  </a:lnTo>
                  <a:lnTo>
                    <a:pt x="224040" y="36029"/>
                  </a:lnTo>
                  <a:lnTo>
                    <a:pt x="262509" y="27914"/>
                  </a:lnTo>
                  <a:lnTo>
                    <a:pt x="300964" y="36029"/>
                  </a:lnTo>
                  <a:lnTo>
                    <a:pt x="332397" y="58127"/>
                  </a:lnTo>
                  <a:lnTo>
                    <a:pt x="353618" y="90830"/>
                  </a:lnTo>
                  <a:lnTo>
                    <a:pt x="361403" y="130771"/>
                  </a:lnTo>
                  <a:lnTo>
                    <a:pt x="361403" y="42697"/>
                  </a:lnTo>
                  <a:lnTo>
                    <a:pt x="347052" y="27914"/>
                  </a:lnTo>
                  <a:lnTo>
                    <a:pt x="340245" y="20904"/>
                  </a:lnTo>
                  <a:lnTo>
                    <a:pt x="304114" y="1727"/>
                  </a:lnTo>
                  <a:lnTo>
                    <a:pt x="293649" y="0"/>
                  </a:lnTo>
                  <a:lnTo>
                    <a:pt x="231355" y="0"/>
                  </a:lnTo>
                  <a:lnTo>
                    <a:pt x="184759" y="20904"/>
                  </a:lnTo>
                  <a:lnTo>
                    <a:pt x="156273" y="50241"/>
                  </a:lnTo>
                  <a:lnTo>
                    <a:pt x="137591" y="87579"/>
                  </a:lnTo>
                  <a:lnTo>
                    <a:pt x="130886" y="130771"/>
                  </a:lnTo>
                  <a:lnTo>
                    <a:pt x="132219" y="149631"/>
                  </a:lnTo>
                  <a:lnTo>
                    <a:pt x="136067" y="167601"/>
                  </a:lnTo>
                  <a:lnTo>
                    <a:pt x="142240" y="184607"/>
                  </a:lnTo>
                  <a:lnTo>
                    <a:pt x="150520" y="200571"/>
                  </a:lnTo>
                  <a:lnTo>
                    <a:pt x="137426" y="199097"/>
                  </a:lnTo>
                  <a:lnTo>
                    <a:pt x="130886" y="199097"/>
                  </a:lnTo>
                  <a:lnTo>
                    <a:pt x="89344" y="206044"/>
                  </a:lnTo>
                  <a:lnTo>
                    <a:pt x="53403" y="225412"/>
                  </a:lnTo>
                  <a:lnTo>
                    <a:pt x="25120" y="254965"/>
                  </a:lnTo>
                  <a:lnTo>
                    <a:pt x="6629" y="292493"/>
                  </a:lnTo>
                  <a:lnTo>
                    <a:pt x="0" y="335775"/>
                  </a:lnTo>
                  <a:lnTo>
                    <a:pt x="6629" y="378675"/>
                  </a:lnTo>
                  <a:lnTo>
                    <a:pt x="25120" y="415988"/>
                  </a:lnTo>
                  <a:lnTo>
                    <a:pt x="53403" y="445427"/>
                  </a:lnTo>
                  <a:lnTo>
                    <a:pt x="89344" y="464743"/>
                  </a:lnTo>
                  <a:lnTo>
                    <a:pt x="130886" y="471690"/>
                  </a:lnTo>
                  <a:lnTo>
                    <a:pt x="172504" y="464743"/>
                  </a:lnTo>
                  <a:lnTo>
                    <a:pt x="208635" y="445427"/>
                  </a:lnTo>
                  <a:lnTo>
                    <a:pt x="237121" y="415988"/>
                  </a:lnTo>
                  <a:lnTo>
                    <a:pt x="255803" y="378675"/>
                  </a:lnTo>
                  <a:lnTo>
                    <a:pt x="262509" y="335762"/>
                  </a:lnTo>
                  <a:lnTo>
                    <a:pt x="261175" y="316484"/>
                  </a:lnTo>
                  <a:lnTo>
                    <a:pt x="257327" y="298297"/>
                  </a:lnTo>
                  <a:lnTo>
                    <a:pt x="251155" y="281203"/>
                  </a:lnTo>
                  <a:lnTo>
                    <a:pt x="242874" y="265226"/>
                  </a:lnTo>
                  <a:lnTo>
                    <a:pt x="249415" y="265963"/>
                  </a:lnTo>
                  <a:lnTo>
                    <a:pt x="255955" y="267423"/>
                  </a:lnTo>
                  <a:lnTo>
                    <a:pt x="269049" y="267423"/>
                  </a:lnTo>
                  <a:lnTo>
                    <a:pt x="275602" y="265963"/>
                  </a:lnTo>
                  <a:lnTo>
                    <a:pt x="282130" y="265226"/>
                  </a:lnTo>
                  <a:lnTo>
                    <a:pt x="273545" y="281724"/>
                  </a:lnTo>
                  <a:lnTo>
                    <a:pt x="267411" y="299123"/>
                  </a:lnTo>
                  <a:lnTo>
                    <a:pt x="263728" y="317207"/>
                  </a:lnTo>
                  <a:lnTo>
                    <a:pt x="262509" y="335762"/>
                  </a:lnTo>
                  <a:lnTo>
                    <a:pt x="269214" y="378675"/>
                  </a:lnTo>
                  <a:lnTo>
                    <a:pt x="287896" y="415988"/>
                  </a:lnTo>
                  <a:lnTo>
                    <a:pt x="316382" y="445427"/>
                  </a:lnTo>
                  <a:lnTo>
                    <a:pt x="352513" y="464743"/>
                  </a:lnTo>
                  <a:lnTo>
                    <a:pt x="394131" y="471690"/>
                  </a:lnTo>
                  <a:lnTo>
                    <a:pt x="435660" y="464743"/>
                  </a:lnTo>
                  <a:lnTo>
                    <a:pt x="471614" y="445427"/>
                  </a:lnTo>
                  <a:lnTo>
                    <a:pt x="478840" y="437896"/>
                  </a:lnTo>
                  <a:lnTo>
                    <a:pt x="499884" y="415988"/>
                  </a:lnTo>
                  <a:lnTo>
                    <a:pt x="518375" y="378675"/>
                  </a:lnTo>
                  <a:lnTo>
                    <a:pt x="522732" y="350558"/>
                  </a:lnTo>
                  <a:lnTo>
                    <a:pt x="522732" y="320852"/>
                  </a:lnTo>
                  <a:close/>
                </a:path>
              </a:pathLst>
            </a:custGeom>
            <a:solidFill>
              <a:schemeClr val="tx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6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7" name="太阳形 26"/>
            <p:cNvSpPr/>
            <p:nvPr/>
          </p:nvSpPr>
          <p:spPr>
            <a:xfrm>
              <a:off x="9659268" y="2212017"/>
              <a:ext cx="659130" cy="622935"/>
            </a:xfrm>
            <a:prstGeom prst="sun">
              <a:avLst/>
            </a:prstGeom>
            <a:solidFill>
              <a:schemeClr val="tx2"/>
            </a:solidFill>
            <a:ln w="12700" cap="flat" cmpd="sng" algn="ctr">
              <a:noFill/>
              <a:prstDash val="solid"/>
              <a:headEnd type="none"/>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Arial" panose="020B0604020202020204"/>
                <a:ea typeface="黑体" panose="02010609060101010101" charset="-122"/>
                <a:cs typeface="+mn-cs"/>
              </a:endParaRPr>
            </a:p>
          </p:txBody>
        </p:sp>
      </p:grpSp>
      <p:sp>
        <p:nvSpPr>
          <p:cNvPr id="34" name="矩形 33"/>
          <p:cNvSpPr/>
          <p:nvPr/>
        </p:nvSpPr>
        <p:spPr>
          <a:xfrm>
            <a:off x="7912812" y="5609815"/>
            <a:ext cx="679130" cy="295978"/>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RG1</a:t>
            </a:r>
            <a:endPar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39" name="矩形 38"/>
          <p:cNvSpPr/>
          <p:nvPr/>
        </p:nvSpPr>
        <p:spPr>
          <a:xfrm>
            <a:off x="8812129" y="5609815"/>
            <a:ext cx="679130" cy="295978"/>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IP40</a:t>
            </a:r>
            <a:endPar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grpSp>
        <p:nvGrpSpPr>
          <p:cNvPr id="55" name="组合 54"/>
          <p:cNvGrpSpPr/>
          <p:nvPr/>
        </p:nvGrpSpPr>
        <p:grpSpPr>
          <a:xfrm>
            <a:off x="918268" y="5324291"/>
            <a:ext cx="538204" cy="276737"/>
            <a:chOff x="918268" y="5324291"/>
            <a:chExt cx="538204" cy="276737"/>
          </a:xfrm>
        </p:grpSpPr>
        <p:sp>
          <p:nvSpPr>
            <p:cNvPr id="54" name="矩形 53"/>
            <p:cNvSpPr/>
            <p:nvPr/>
          </p:nvSpPr>
          <p:spPr>
            <a:xfrm>
              <a:off x="918268" y="5324291"/>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96" name="矩形 95"/>
            <p:cNvSpPr/>
            <p:nvPr/>
          </p:nvSpPr>
          <p:spPr>
            <a:xfrm>
              <a:off x="1004605" y="5369269"/>
              <a:ext cx="365529" cy="20200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功率</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53" name="组合 52"/>
          <p:cNvGrpSpPr/>
          <p:nvPr/>
        </p:nvGrpSpPr>
        <p:grpSpPr>
          <a:xfrm>
            <a:off x="1779868" y="5324290"/>
            <a:ext cx="565428" cy="276737"/>
            <a:chOff x="1537284" y="5324290"/>
            <a:chExt cx="565428" cy="276737"/>
          </a:xfrm>
        </p:grpSpPr>
        <p:sp>
          <p:nvSpPr>
            <p:cNvPr id="92" name="矩形 91"/>
            <p:cNvSpPr/>
            <p:nvPr/>
          </p:nvSpPr>
          <p:spPr>
            <a:xfrm>
              <a:off x="1556176" y="5324290"/>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98" name="矩形 97"/>
            <p:cNvSpPr/>
            <p:nvPr/>
          </p:nvSpPr>
          <p:spPr>
            <a:xfrm>
              <a:off x="1537284" y="5369269"/>
              <a:ext cx="565428" cy="20200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功率因素</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52" name="组合 51"/>
          <p:cNvGrpSpPr/>
          <p:nvPr/>
        </p:nvGrpSpPr>
        <p:grpSpPr>
          <a:xfrm>
            <a:off x="2668692" y="5324289"/>
            <a:ext cx="615874" cy="276737"/>
            <a:chOff x="2152747" y="5324289"/>
            <a:chExt cx="615874" cy="276737"/>
          </a:xfrm>
        </p:grpSpPr>
        <p:sp>
          <p:nvSpPr>
            <p:cNvPr id="93" name="矩形 92"/>
            <p:cNvSpPr/>
            <p:nvPr/>
          </p:nvSpPr>
          <p:spPr>
            <a:xfrm>
              <a:off x="2194085" y="5324289"/>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99" name="矩形 98"/>
            <p:cNvSpPr/>
            <p:nvPr/>
          </p:nvSpPr>
          <p:spPr>
            <a:xfrm>
              <a:off x="2152747" y="5369269"/>
              <a:ext cx="615874" cy="21544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光通量</a:t>
              </a:r>
              <a:r>
                <a:rPr kumimoji="0" lang="en-US" altLang="zh-CN" sz="800" b="0" i="0" u="none" strike="noStrike" kern="1200" cap="none" spc="0" normalizeH="0" baseline="0" noProof="0" dirty="0" err="1">
                  <a:ln>
                    <a:noFill/>
                  </a:ln>
                  <a:solidFill>
                    <a:srgbClr val="C00000"/>
                  </a:solidFill>
                  <a:effectLst/>
                  <a:uLnTx/>
                  <a:uFillTx/>
                  <a:latin typeface="微软雅黑" panose="020B0503020204020204" charset="-122"/>
                  <a:ea typeface="微软雅黑" panose="020B0503020204020204" charset="-122"/>
                  <a:cs typeface="+mn-cs"/>
                </a:rPr>
                <a:t>lm</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51" name="组合 50"/>
          <p:cNvGrpSpPr/>
          <p:nvPr/>
        </p:nvGrpSpPr>
        <p:grpSpPr>
          <a:xfrm>
            <a:off x="3607962" y="5324286"/>
            <a:ext cx="538204" cy="276737"/>
            <a:chOff x="2831993" y="5324286"/>
            <a:chExt cx="538204" cy="276737"/>
          </a:xfrm>
        </p:grpSpPr>
        <p:sp>
          <p:nvSpPr>
            <p:cNvPr id="94" name="矩形 93"/>
            <p:cNvSpPr/>
            <p:nvPr/>
          </p:nvSpPr>
          <p:spPr>
            <a:xfrm>
              <a:off x="2831993" y="5324286"/>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100" name="矩形 99"/>
            <p:cNvSpPr/>
            <p:nvPr/>
          </p:nvSpPr>
          <p:spPr>
            <a:xfrm>
              <a:off x="2921941" y="5369269"/>
              <a:ext cx="365529" cy="20200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色温</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50" name="组合 49"/>
          <p:cNvGrpSpPr/>
          <p:nvPr/>
        </p:nvGrpSpPr>
        <p:grpSpPr>
          <a:xfrm>
            <a:off x="4469562" y="5324287"/>
            <a:ext cx="565002" cy="276737"/>
            <a:chOff x="3469902" y="5324287"/>
            <a:chExt cx="565002" cy="276737"/>
          </a:xfrm>
        </p:grpSpPr>
        <p:sp>
          <p:nvSpPr>
            <p:cNvPr id="95" name="矩形 94"/>
            <p:cNvSpPr/>
            <p:nvPr/>
          </p:nvSpPr>
          <p:spPr>
            <a:xfrm>
              <a:off x="3469902" y="5324287"/>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101" name="矩形 100"/>
            <p:cNvSpPr/>
            <p:nvPr/>
          </p:nvSpPr>
          <p:spPr>
            <a:xfrm>
              <a:off x="3476991" y="5369269"/>
              <a:ext cx="557913" cy="20200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显色指数</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49" name="组合 48"/>
          <p:cNvGrpSpPr/>
          <p:nvPr/>
        </p:nvGrpSpPr>
        <p:grpSpPr>
          <a:xfrm>
            <a:off x="5357960" y="5324121"/>
            <a:ext cx="538204" cy="276737"/>
            <a:chOff x="4107810" y="5324121"/>
            <a:chExt cx="538204" cy="276737"/>
          </a:xfrm>
        </p:grpSpPr>
        <p:sp>
          <p:nvSpPr>
            <p:cNvPr id="102" name="矩形 101"/>
            <p:cNvSpPr/>
            <p:nvPr/>
          </p:nvSpPr>
          <p:spPr>
            <a:xfrm>
              <a:off x="4107810" y="5324121"/>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103" name="矩形 102"/>
            <p:cNvSpPr/>
            <p:nvPr/>
          </p:nvSpPr>
          <p:spPr>
            <a:xfrm>
              <a:off x="4132674" y="5369103"/>
              <a:ext cx="461721" cy="20200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光束角</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48" name="组合 47"/>
          <p:cNvGrpSpPr/>
          <p:nvPr/>
        </p:nvGrpSpPr>
        <p:grpSpPr>
          <a:xfrm>
            <a:off x="6219560" y="5324291"/>
            <a:ext cx="562855" cy="276737"/>
            <a:chOff x="4745719" y="5324291"/>
            <a:chExt cx="562855" cy="276737"/>
          </a:xfrm>
        </p:grpSpPr>
        <p:sp>
          <p:nvSpPr>
            <p:cNvPr id="104" name="矩形 103"/>
            <p:cNvSpPr/>
            <p:nvPr/>
          </p:nvSpPr>
          <p:spPr>
            <a:xfrm>
              <a:off x="4745719" y="5324291"/>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105" name="矩形 104"/>
            <p:cNvSpPr/>
            <p:nvPr/>
          </p:nvSpPr>
          <p:spPr>
            <a:xfrm>
              <a:off x="4750661" y="5369273"/>
              <a:ext cx="557913" cy="20200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灯体颜色</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47" name="组合 46"/>
          <p:cNvGrpSpPr/>
          <p:nvPr/>
        </p:nvGrpSpPr>
        <p:grpSpPr>
          <a:xfrm>
            <a:off x="7105811" y="5324121"/>
            <a:ext cx="538204" cy="276737"/>
            <a:chOff x="5383626" y="5324121"/>
            <a:chExt cx="538204" cy="276737"/>
          </a:xfrm>
        </p:grpSpPr>
        <p:sp>
          <p:nvSpPr>
            <p:cNvPr id="106" name="矩形 105"/>
            <p:cNvSpPr/>
            <p:nvPr/>
          </p:nvSpPr>
          <p:spPr>
            <a:xfrm>
              <a:off x="5383626" y="5324121"/>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107" name="矩形 106"/>
            <p:cNvSpPr/>
            <p:nvPr/>
          </p:nvSpPr>
          <p:spPr>
            <a:xfrm>
              <a:off x="5463159" y="5369103"/>
              <a:ext cx="365529" cy="20200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寿命</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43" name="组合 42"/>
          <p:cNvGrpSpPr/>
          <p:nvPr/>
        </p:nvGrpSpPr>
        <p:grpSpPr>
          <a:xfrm>
            <a:off x="10735528" y="5324121"/>
            <a:ext cx="538204" cy="276737"/>
            <a:chOff x="8072279" y="5324121"/>
            <a:chExt cx="538204" cy="276737"/>
          </a:xfrm>
        </p:grpSpPr>
        <p:sp>
          <p:nvSpPr>
            <p:cNvPr id="123" name="矩形 122"/>
            <p:cNvSpPr/>
            <p:nvPr/>
          </p:nvSpPr>
          <p:spPr>
            <a:xfrm>
              <a:off x="8072279" y="5324121"/>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124" name="矩形 123"/>
            <p:cNvSpPr/>
            <p:nvPr/>
          </p:nvSpPr>
          <p:spPr>
            <a:xfrm>
              <a:off x="8151812" y="5369103"/>
              <a:ext cx="389850" cy="21544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尺寸</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46" name="组合 45"/>
          <p:cNvGrpSpPr/>
          <p:nvPr/>
        </p:nvGrpSpPr>
        <p:grpSpPr>
          <a:xfrm>
            <a:off x="7967411" y="5324290"/>
            <a:ext cx="595035" cy="276737"/>
            <a:chOff x="5976223" y="5324290"/>
            <a:chExt cx="595035" cy="276737"/>
          </a:xfrm>
        </p:grpSpPr>
        <p:sp>
          <p:nvSpPr>
            <p:cNvPr id="32" name="矩形 31"/>
            <p:cNvSpPr/>
            <p:nvPr/>
          </p:nvSpPr>
          <p:spPr>
            <a:xfrm>
              <a:off x="5995115" y="5324290"/>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33" name="矩形 32"/>
            <p:cNvSpPr/>
            <p:nvPr/>
          </p:nvSpPr>
          <p:spPr>
            <a:xfrm>
              <a:off x="5976223" y="5369269"/>
              <a:ext cx="595035" cy="21544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蓝光危害</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45" name="组合 44"/>
          <p:cNvGrpSpPr/>
          <p:nvPr/>
        </p:nvGrpSpPr>
        <p:grpSpPr>
          <a:xfrm>
            <a:off x="8885842" y="5324290"/>
            <a:ext cx="595035" cy="276737"/>
            <a:chOff x="6674245" y="5324290"/>
            <a:chExt cx="595035" cy="276737"/>
          </a:xfrm>
        </p:grpSpPr>
        <p:sp>
          <p:nvSpPr>
            <p:cNvPr id="35" name="矩形 34"/>
            <p:cNvSpPr/>
            <p:nvPr/>
          </p:nvSpPr>
          <p:spPr>
            <a:xfrm>
              <a:off x="6693137" y="5324290"/>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38" name="矩形 37"/>
            <p:cNvSpPr/>
            <p:nvPr/>
          </p:nvSpPr>
          <p:spPr>
            <a:xfrm>
              <a:off x="6674245" y="5369269"/>
              <a:ext cx="595035" cy="21544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防护等级</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44" name="组合 43"/>
          <p:cNvGrpSpPr/>
          <p:nvPr/>
        </p:nvGrpSpPr>
        <p:grpSpPr>
          <a:xfrm>
            <a:off x="9804273" y="5324290"/>
            <a:ext cx="607859" cy="276737"/>
            <a:chOff x="7367082" y="5324290"/>
            <a:chExt cx="607859" cy="276737"/>
          </a:xfrm>
        </p:grpSpPr>
        <p:sp>
          <p:nvSpPr>
            <p:cNvPr id="40" name="矩形 39"/>
            <p:cNvSpPr/>
            <p:nvPr/>
          </p:nvSpPr>
          <p:spPr>
            <a:xfrm>
              <a:off x="7385974" y="5324290"/>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41" name="矩形 40"/>
            <p:cNvSpPr/>
            <p:nvPr/>
          </p:nvSpPr>
          <p:spPr>
            <a:xfrm>
              <a:off x="7367082" y="5369269"/>
              <a:ext cx="607859" cy="21544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开孔尺寸</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sp>
        <p:nvSpPr>
          <p:cNvPr id="42" name="矩形 41"/>
          <p:cNvSpPr/>
          <p:nvPr/>
        </p:nvSpPr>
        <p:spPr>
          <a:xfrm>
            <a:off x="9554937" y="5609815"/>
            <a:ext cx="1051878" cy="988476"/>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295*595mm</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595*595mm</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600*1200mm</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600*1800mm</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grpSp>
        <p:nvGrpSpPr>
          <p:cNvPr id="3" name="组合 2"/>
          <p:cNvGrpSpPr/>
          <p:nvPr/>
        </p:nvGrpSpPr>
        <p:grpSpPr>
          <a:xfrm>
            <a:off x="424859" y="1468616"/>
            <a:ext cx="5678432" cy="1459409"/>
            <a:chOff x="1661971" y="2178931"/>
            <a:chExt cx="6736394" cy="1781523"/>
          </a:xfrm>
        </p:grpSpPr>
        <p:pic>
          <p:nvPicPr>
            <p:cNvPr id="9" name="图片 8"/>
            <p:cNvPicPr>
              <a:picLocks noChangeAspect="1"/>
            </p:cNvPicPr>
            <p:nvPr/>
          </p:nvPicPr>
          <p:blipFill rotWithShape="1">
            <a:blip r:embed="rId6" cstate="print">
              <a:extLst>
                <a:ext uri="{28A0092B-C50C-407E-A947-70E740481C1C}">
                  <a14:useLocalDpi xmlns:a14="http://schemas.microsoft.com/office/drawing/2010/main" val="0"/>
                </a:ext>
              </a:extLst>
            </a:blip>
            <a:srcRect l="25746" t="27437" r="26153" b="29912"/>
            <a:stretch>
              <a:fillRect/>
            </a:stretch>
          </p:blipFill>
          <p:spPr>
            <a:xfrm>
              <a:off x="1661971" y="3395003"/>
              <a:ext cx="1133716" cy="565451"/>
            </a:xfrm>
            <a:prstGeom prst="rect">
              <a:avLst/>
            </a:prstGeom>
          </p:spPr>
        </p:pic>
        <p:pic>
          <p:nvPicPr>
            <p:cNvPr id="10" name="图片 9"/>
            <p:cNvPicPr>
              <a:picLocks noChangeAspect="1"/>
            </p:cNvPicPr>
            <p:nvPr/>
          </p:nvPicPr>
          <p:blipFill rotWithShape="1">
            <a:blip r:embed="rId7" cstate="print">
              <a:extLst>
                <a:ext uri="{28A0092B-C50C-407E-A947-70E740481C1C}">
                  <a14:useLocalDpi xmlns:a14="http://schemas.microsoft.com/office/drawing/2010/main" val="0"/>
                </a:ext>
              </a:extLst>
            </a:blip>
            <a:srcRect l="21196" t="19653" r="22467" b="23965"/>
            <a:stretch>
              <a:fillRect/>
            </a:stretch>
          </p:blipFill>
          <p:spPr>
            <a:xfrm>
              <a:off x="3029769" y="3198801"/>
              <a:ext cx="1327826" cy="747504"/>
            </a:xfrm>
            <a:prstGeom prst="rect">
              <a:avLst/>
            </a:prstGeom>
          </p:spPr>
        </p:pic>
        <p:pic>
          <p:nvPicPr>
            <p:cNvPr id="12" name="图片 11"/>
            <p:cNvPicPr>
              <a:picLocks noChangeAspect="1"/>
            </p:cNvPicPr>
            <p:nvPr/>
          </p:nvPicPr>
          <p:blipFill rotWithShape="1">
            <a:blip r:embed="rId8" cstate="print">
              <a:extLst>
                <a:ext uri="{28A0092B-C50C-407E-A947-70E740481C1C}">
                  <a14:useLocalDpi xmlns:a14="http://schemas.microsoft.com/office/drawing/2010/main" val="0"/>
                </a:ext>
              </a:extLst>
            </a:blip>
            <a:srcRect l="24269" t="17364" r="25906" b="19073"/>
            <a:stretch>
              <a:fillRect/>
            </a:stretch>
          </p:blipFill>
          <p:spPr>
            <a:xfrm>
              <a:off x="4510688" y="2564985"/>
              <a:ext cx="1891302" cy="1357184"/>
            </a:xfrm>
            <a:prstGeom prst="rect">
              <a:avLst/>
            </a:prstGeom>
          </p:spPr>
        </p:pic>
        <p:pic>
          <p:nvPicPr>
            <p:cNvPr id="14" name="图片 13"/>
            <p:cNvPicPr>
              <a:picLocks noChangeAspect="1"/>
            </p:cNvPicPr>
            <p:nvPr/>
          </p:nvPicPr>
          <p:blipFill rotWithShape="1">
            <a:blip r:embed="rId9" cstate="print">
              <a:extLst>
                <a:ext uri="{28A0092B-C50C-407E-A947-70E740481C1C}">
                  <a14:useLocalDpi xmlns:a14="http://schemas.microsoft.com/office/drawing/2010/main" val="0"/>
                </a:ext>
              </a:extLst>
            </a:blip>
            <a:srcRect l="17250" t="6943" r="22007" b="11042"/>
            <a:stretch>
              <a:fillRect/>
            </a:stretch>
          </p:blipFill>
          <p:spPr>
            <a:xfrm>
              <a:off x="6092610" y="2178931"/>
              <a:ext cx="2305755" cy="1751205"/>
            </a:xfrm>
            <a:prstGeom prst="rect">
              <a:avLst/>
            </a:prstGeom>
          </p:spPr>
        </p:pic>
      </p:grpSp>
      <p:sp>
        <p:nvSpPr>
          <p:cNvPr id="21" name="文本框 20"/>
          <p:cNvSpPr txBox="1"/>
          <p:nvPr/>
        </p:nvSpPr>
        <p:spPr>
          <a:xfrm>
            <a:off x="335640" y="1099872"/>
            <a:ext cx="109185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rPr>
              <a:t>MX3060</a:t>
            </a: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sp>
        <p:nvSpPr>
          <p:cNvPr id="36" name="文本框 35"/>
          <p:cNvSpPr txBox="1"/>
          <p:nvPr/>
        </p:nvSpPr>
        <p:spPr>
          <a:xfrm>
            <a:off x="1508799" y="1099872"/>
            <a:ext cx="109185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rPr>
              <a:t>MX6060</a:t>
            </a: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sp>
        <p:nvSpPr>
          <p:cNvPr id="56" name="文本框 55"/>
          <p:cNvSpPr txBox="1"/>
          <p:nvPr/>
        </p:nvSpPr>
        <p:spPr>
          <a:xfrm>
            <a:off x="2796668" y="1099872"/>
            <a:ext cx="122970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rPr>
              <a:t>MX60120</a:t>
            </a: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sp>
        <p:nvSpPr>
          <p:cNvPr id="57" name="文本框 56"/>
          <p:cNvSpPr txBox="1"/>
          <p:nvPr/>
        </p:nvSpPr>
        <p:spPr>
          <a:xfrm>
            <a:off x="4601057" y="1099872"/>
            <a:ext cx="122970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rPr>
              <a:t>MX60180</a:t>
            </a: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pic>
        <p:nvPicPr>
          <p:cNvPr id="59" name="图片 58" descr="/Users/wuwangbosheng/Library/Containers/com.kingsoft.wpsoffice.mac/Data/tmp/picturecompress_20240621162351/output_1.jpgoutput_1"/>
          <p:cNvPicPr>
            <a:picLocks noChangeAspect="1"/>
          </p:cNvPicPr>
          <p:nvPr/>
        </p:nvPicPr>
        <p:blipFill>
          <a:blip r:embed="rId10"/>
          <a:srcRect/>
          <a:stretch>
            <a:fillRect/>
          </a:stretch>
        </p:blipFill>
        <p:spPr>
          <a:xfrm>
            <a:off x="6380083" y="821905"/>
            <a:ext cx="1787217" cy="2081284"/>
          </a:xfrm>
          <a:prstGeom prst="rect">
            <a:avLst/>
          </a:prstGeom>
        </p:spPr>
      </p:pic>
      <p:pic>
        <p:nvPicPr>
          <p:cNvPr id="60" name="图片 59" descr="/Users/wuwangbosheng/Library/Containers/com.kingsoft.wpsoffice.mac/Data/tmp/picturecompress_20240621162351/output_2.jpgoutput_2"/>
          <p:cNvPicPr>
            <a:picLocks noChangeAspect="1"/>
          </p:cNvPicPr>
          <p:nvPr>
            <p:custDataLst>
              <p:tags r:id="rId11"/>
            </p:custDataLst>
          </p:nvPr>
        </p:nvPicPr>
        <p:blipFill>
          <a:blip r:embed="rId12"/>
          <a:srcRect/>
          <a:stretch>
            <a:fillRect/>
          </a:stretch>
        </p:blipFill>
        <p:spPr>
          <a:xfrm>
            <a:off x="6386246" y="3038922"/>
            <a:ext cx="1787217" cy="2081284"/>
          </a:xfrm>
          <a:prstGeom prst="rect">
            <a:avLst/>
          </a:prstGeom>
        </p:spPr>
      </p:pic>
      <p:pic>
        <p:nvPicPr>
          <p:cNvPr id="62" name="图片 61"/>
          <p:cNvPicPr>
            <a:picLocks noChangeAspect="1"/>
          </p:cNvPicPr>
          <p:nvPr/>
        </p:nvPicPr>
        <p:blipFill>
          <a:blip r:embed="rId13"/>
          <a:stretch>
            <a:fillRect/>
          </a:stretch>
        </p:blipFill>
        <p:spPr>
          <a:xfrm>
            <a:off x="424859" y="3039926"/>
            <a:ext cx="5940217" cy="209076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506450" y="431771"/>
            <a:ext cx="2616819" cy="5386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医院照明产品介绍</a:t>
            </a:r>
            <a:endParaRPr kumimoji="0" lang="en-US" altLang="zh-CN" sz="1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a:p>
            <a:pPr marL="0" marR="0" lvl="0" indent="0" algn="l" defTabSz="914400" rtl="0" eaLnBrk="1" fontAlgn="base" latinLnBrk="0" hangingPunct="1">
              <a:lnSpc>
                <a:spcPct val="100000"/>
              </a:lnSpc>
              <a:spcBef>
                <a:spcPts val="0"/>
              </a:spcBef>
              <a:spcAft>
                <a:spcPts val="0"/>
              </a:spcAft>
              <a:buClrTx/>
              <a:buSzTx/>
              <a:buFontTx/>
              <a:buNone/>
              <a:defRPr/>
            </a:pPr>
            <a:r>
              <a:rPr kumimoji="0" lang="en-US" altLang="zh-CN" sz="7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Introduction to Convenience Store Lighting Products</a:t>
            </a:r>
            <a:b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charset="-122"/>
                <a:cs typeface="+mn-cs"/>
              </a:rPr>
            </a:br>
            <a:endParaRPr kumimoji="0" lang="zh-CN" altLang="en-US" sz="6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nvGrpSpPr>
          <p:cNvPr id="4" name="组合 3"/>
          <p:cNvGrpSpPr/>
          <p:nvPr/>
        </p:nvGrpSpPr>
        <p:grpSpPr>
          <a:xfrm>
            <a:off x="414776" y="781453"/>
            <a:ext cx="1041696" cy="225944"/>
            <a:chOff x="910401" y="1095391"/>
            <a:chExt cx="1041696" cy="225944"/>
          </a:xfrm>
        </p:grpSpPr>
        <p:grpSp>
          <p:nvGrpSpPr>
            <p:cNvPr id="8" name="组合 7"/>
            <p:cNvGrpSpPr/>
            <p:nvPr/>
          </p:nvGrpSpPr>
          <p:grpSpPr>
            <a:xfrm>
              <a:off x="910401" y="1101092"/>
              <a:ext cx="1041696" cy="220243"/>
              <a:chOff x="2774711" y="2691633"/>
              <a:chExt cx="1685529" cy="356367"/>
            </a:xfrm>
          </p:grpSpPr>
          <p:sp>
            <p:nvSpPr>
              <p:cNvPr id="7" name="等腰三角形 6"/>
              <p:cNvSpPr/>
              <p:nvPr/>
            </p:nvSpPr>
            <p:spPr>
              <a:xfrm>
                <a:off x="2774711" y="2691633"/>
                <a:ext cx="472894" cy="355983"/>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5" name="箭头: V 形 4"/>
              <p:cNvSpPr/>
              <p:nvPr/>
            </p:nvSpPr>
            <p:spPr>
              <a:xfrm rot="10800000">
                <a:off x="3891280" y="2692400"/>
                <a:ext cx="568960" cy="355600"/>
              </a:xfrm>
              <a:prstGeom prst="chevron">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charset="-122"/>
                  <a:cs typeface="+mn-cs"/>
                </a:endParaRPr>
              </a:p>
            </p:txBody>
          </p:sp>
          <p:sp>
            <p:nvSpPr>
              <p:cNvPr id="6" name="矩形 5"/>
              <p:cNvSpPr/>
              <p:nvPr/>
            </p:nvSpPr>
            <p:spPr>
              <a:xfrm>
                <a:off x="3015946" y="2692017"/>
                <a:ext cx="1259840" cy="3556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grpSp>
        <p:sp>
          <p:nvSpPr>
            <p:cNvPr id="37" name="矩形 36"/>
            <p:cNvSpPr/>
            <p:nvPr/>
          </p:nvSpPr>
          <p:spPr>
            <a:xfrm>
              <a:off x="1140473" y="1095391"/>
              <a:ext cx="595035" cy="21544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健康灯盘</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sp>
        <p:nvSpPr>
          <p:cNvPr id="125" name="矩形 124"/>
          <p:cNvSpPr/>
          <p:nvPr/>
        </p:nvSpPr>
        <p:spPr>
          <a:xfrm>
            <a:off x="858015" y="5775191"/>
            <a:ext cx="679130" cy="295978"/>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24W</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126" name="矩形 125"/>
          <p:cNvSpPr/>
          <p:nvPr/>
        </p:nvSpPr>
        <p:spPr>
          <a:xfrm>
            <a:off x="1723017" y="5775191"/>
            <a:ext cx="679130" cy="295978"/>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0.9</a:t>
            </a:r>
            <a:endPar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127" name="矩形 126"/>
          <p:cNvSpPr/>
          <p:nvPr/>
        </p:nvSpPr>
        <p:spPr>
          <a:xfrm>
            <a:off x="2624239" y="5775191"/>
            <a:ext cx="679130" cy="295978"/>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3840</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128" name="矩形 127"/>
          <p:cNvSpPr/>
          <p:nvPr/>
        </p:nvSpPr>
        <p:spPr>
          <a:xfrm>
            <a:off x="3488398" y="5775191"/>
            <a:ext cx="679130" cy="526811"/>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清澈光</a:t>
            </a: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(4000K)</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129" name="矩形 128"/>
          <p:cNvSpPr/>
          <p:nvPr/>
        </p:nvSpPr>
        <p:spPr>
          <a:xfrm>
            <a:off x="4370666" y="5775191"/>
            <a:ext cx="679130" cy="295978"/>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80</a:t>
            </a:r>
            <a:endPar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130" name="矩形 129"/>
          <p:cNvSpPr/>
          <p:nvPr/>
        </p:nvSpPr>
        <p:spPr>
          <a:xfrm>
            <a:off x="5262605" y="5775191"/>
            <a:ext cx="679130" cy="295978"/>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100°</a:t>
            </a:r>
            <a:endPar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131" name="矩形 130"/>
          <p:cNvSpPr/>
          <p:nvPr/>
        </p:nvSpPr>
        <p:spPr>
          <a:xfrm>
            <a:off x="6113444" y="5775191"/>
            <a:ext cx="780027" cy="295978"/>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白色</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132" name="矩形 131"/>
          <p:cNvSpPr/>
          <p:nvPr/>
        </p:nvSpPr>
        <p:spPr>
          <a:xfrm>
            <a:off x="6979996" y="5775191"/>
            <a:ext cx="780027" cy="295978"/>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30000hr</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141" name="矩形 140"/>
          <p:cNvSpPr/>
          <p:nvPr/>
        </p:nvSpPr>
        <p:spPr>
          <a:xfrm>
            <a:off x="10644005" y="5775191"/>
            <a:ext cx="1224010" cy="24622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600</a:t>
            </a:r>
            <a:r>
              <a:rPr kumimoji="0" lang="el-GR"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a:t>
            </a: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600*35mm</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grpSp>
        <p:nvGrpSpPr>
          <p:cNvPr id="28" name="组合 27"/>
          <p:cNvGrpSpPr/>
          <p:nvPr/>
        </p:nvGrpSpPr>
        <p:grpSpPr>
          <a:xfrm>
            <a:off x="8382946" y="1083250"/>
            <a:ext cx="3153515" cy="3698411"/>
            <a:chOff x="9659268" y="1007687"/>
            <a:chExt cx="3153515" cy="3698411"/>
          </a:xfrm>
        </p:grpSpPr>
        <p:sp>
          <p:nvSpPr>
            <p:cNvPr id="22" name="object 9"/>
            <p:cNvSpPr txBox="1"/>
            <p:nvPr>
              <p:custDataLst>
                <p:tags r:id="rId1"/>
              </p:custDataLst>
            </p:nvPr>
          </p:nvSpPr>
          <p:spPr>
            <a:xfrm>
              <a:off x="10698042" y="1007687"/>
              <a:ext cx="1795145" cy="1032206"/>
            </a:xfrm>
            <a:prstGeom prst="rect">
              <a:avLst/>
            </a:prstGeom>
          </p:spPr>
          <p:txBody>
            <a:bodyPr vert="horz" wrap="square" lIns="0" tIns="12700" rIns="0" bIns="0" rtlCol="0">
              <a:spAutoFit/>
            </a:bodyPr>
            <a:lstStyle/>
            <a:p>
              <a:pPr marL="12700" marR="5080" lvl="0" indent="0" algn="l" defTabSz="914400" rtl="0" eaLnBrk="1" fontAlgn="auto" latinLnBrk="0" hangingPunct="1">
                <a:lnSpc>
                  <a:spcPct val="150000"/>
                </a:lnSpc>
                <a:spcBef>
                  <a:spcPts val="38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专业光谱</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a:p>
              <a:pPr marL="12700" marR="5080" lvl="0" indent="0" algn="l" defTabSz="914400" rtl="0" eaLnBrk="1" fontAlgn="auto" latinLnBrk="0" hangingPunct="1">
                <a:lnSpc>
                  <a:spcPct val="150000"/>
                </a:lnSpc>
                <a:spcBef>
                  <a:spcPts val="380"/>
                </a:spcBef>
                <a:spcAft>
                  <a:spcPts val="0"/>
                </a:spcAft>
                <a:buClrTx/>
                <a:buSzTx/>
                <a:buFontTx/>
                <a:buNone/>
                <a:defRPr/>
              </a:pPr>
              <a:r>
                <a:rPr kumimoji="0" lang="zh-CN" altLang="en-US" sz="900" b="0" i="0" u="none" strike="noStrike" kern="1200" cap="none" spc="-1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专业定制光谱：</a:t>
              </a:r>
              <a:r>
                <a:rPr kumimoji="0" lang="zh-CN" altLang="en-US" sz="1800" b="1" i="0" u="none" strike="noStrike" kern="1200" cap="none" spc="0" normalizeH="0" baseline="0" noProof="0" dirty="0">
                  <a:ln>
                    <a:noFill/>
                  </a:ln>
                  <a:solidFill>
                    <a:srgbClr val="ED7D31"/>
                  </a:solidFill>
                  <a:effectLst/>
                  <a:uLnTx/>
                  <a:uFillTx/>
                  <a:latin typeface="微软雅黑" panose="020B0503020204020204" charset="-122"/>
                  <a:ea typeface="微软雅黑" panose="020B0503020204020204" charset="-122"/>
                  <a:cs typeface="+mn-cs"/>
                </a:rPr>
                <a:t>清澈光</a:t>
              </a:r>
              <a:r>
                <a:rPr kumimoji="0" lang="zh-CN" altLang="en-US" sz="900" b="0" i="0" u="none" strike="noStrike" kern="1200" cap="none" spc="-10" normalizeH="0" baseline="0" noProof="0" dirty="0">
                  <a:ln>
                    <a:noFill/>
                  </a:ln>
                  <a:solidFill>
                    <a:prstClr val="black"/>
                  </a:solidFill>
                  <a:effectLst/>
                  <a:uLnTx/>
                  <a:uFillTx/>
                  <a:latin typeface="微软雅黑" panose="020B0503020204020204" charset="-122"/>
                  <a:ea typeface="微软雅黑" panose="020B0503020204020204" charset="-122"/>
                  <a:cs typeface="+mn-cs"/>
                </a:rPr>
                <a:t>灯珠</a:t>
              </a:r>
              <a:r>
                <a:rPr kumimoji="0" lang="zh-CN" altLang="en-US" sz="900" b="0" i="0" u="none" strike="noStrike" kern="1200" cap="none" spc="-1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，提升专注不疲劳，全情投入不疲劳</a:t>
              </a:r>
              <a:endParaRPr kumimoji="0" sz="900" b="1" i="0" u="none" strike="noStrike" kern="1200" cap="none" spc="0" normalizeH="0" baseline="0" noProof="0" dirty="0">
                <a:ln>
                  <a:noFill/>
                </a:ln>
                <a:solidFill>
                  <a:srgbClr val="ED7D31"/>
                </a:solidFill>
                <a:effectLst/>
                <a:uLnTx/>
                <a:uFillTx/>
                <a:latin typeface="微软雅黑" panose="020B0503020204020204" charset="-122"/>
                <a:ea typeface="微软雅黑" panose="020B0503020204020204" charset="-122"/>
                <a:cs typeface="+mn-cs"/>
              </a:endParaRPr>
            </a:p>
          </p:txBody>
        </p:sp>
        <p:sp>
          <p:nvSpPr>
            <p:cNvPr id="23" name="object 10"/>
            <p:cNvSpPr txBox="1"/>
            <p:nvPr>
              <p:custDataLst>
                <p:tags r:id="rId2"/>
              </p:custDataLst>
            </p:nvPr>
          </p:nvSpPr>
          <p:spPr>
            <a:xfrm>
              <a:off x="10698042" y="2156689"/>
              <a:ext cx="2114741" cy="1291251"/>
            </a:xfrm>
            <a:prstGeom prst="rect">
              <a:avLst/>
            </a:prstGeom>
          </p:spPr>
          <p:txBody>
            <a:bodyPr vert="horz" wrap="square" lIns="0" tIns="12700" rIns="0" bIns="0" rtlCol="0">
              <a:spAutoFit/>
            </a:bodyPr>
            <a:lstStyle/>
            <a:p>
              <a:pPr marL="12700" marR="5080" lvl="0" indent="0" algn="l" defTabSz="914400" rtl="0" eaLnBrk="1" fontAlgn="auto" latinLnBrk="0" hangingPunct="1">
                <a:lnSpc>
                  <a:spcPct val="150000"/>
                </a:lnSpc>
                <a:spcBef>
                  <a:spcPts val="385"/>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高防眩</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12700" marR="5080" lvl="0" indent="0" algn="l" defTabSz="914400" rtl="0" eaLnBrk="1" fontAlgn="auto" latinLnBrk="0" hangingPunct="1">
                <a:lnSpc>
                  <a:spcPct val="150000"/>
                </a:lnSpc>
                <a:spcBef>
                  <a:spcPts val="385"/>
                </a:spcBef>
                <a:spcAft>
                  <a:spcPts val="0"/>
                </a:spcAft>
                <a:buClrTx/>
                <a:buSzTx/>
                <a:buFontTx/>
                <a:buNone/>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微晶颗粒感高透光面罩搭配光学格栅面罩</a:t>
              </a:r>
              <a:endPar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a:p>
              <a:pPr marL="12700" marR="5080" lvl="0" indent="0" algn="l" defTabSz="914400" rtl="0" eaLnBrk="1" fontAlgn="auto" latinLnBrk="0" hangingPunct="1">
                <a:lnSpc>
                  <a:spcPct val="150000"/>
                </a:lnSpc>
                <a:spcBef>
                  <a:spcPts val="385"/>
                </a:spcBef>
                <a:spcAft>
                  <a:spcPts val="0"/>
                </a:spcAft>
                <a:buClrTx/>
                <a:buSzTx/>
                <a:buFontTx/>
                <a:buNone/>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防眩指数</a:t>
              </a:r>
              <a:r>
                <a:rPr kumimoji="0" lang="en-US" altLang="zh-CN" sz="1800" b="1" i="0" u="none" strike="noStrike" kern="1200" cap="none" spc="0" normalizeH="0" baseline="0" noProof="0" dirty="0">
                  <a:ln>
                    <a:noFill/>
                  </a:ln>
                  <a:solidFill>
                    <a:srgbClr val="ED7D31"/>
                  </a:solidFill>
                  <a:effectLst/>
                  <a:uLnTx/>
                  <a:uFillTx/>
                  <a:latin typeface="微软雅黑" panose="020B0503020204020204" charset="-122"/>
                  <a:ea typeface="微软雅黑" panose="020B0503020204020204" charset="-122"/>
                  <a:cs typeface="+mn-cs"/>
                  <a:sym typeface="+mn-ea"/>
                </a:rPr>
                <a:t>UGR16</a:t>
              </a:r>
              <a:r>
                <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，进一步提升舒适柔度</a:t>
              </a:r>
              <a:endPar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sp>
          <p:nvSpPr>
            <p:cNvPr id="24" name="object 11"/>
            <p:cNvSpPr txBox="1"/>
            <p:nvPr>
              <p:custDataLst>
                <p:tags r:id="rId3"/>
              </p:custDataLst>
            </p:nvPr>
          </p:nvSpPr>
          <p:spPr>
            <a:xfrm>
              <a:off x="10698042" y="3658504"/>
              <a:ext cx="1856740" cy="1047594"/>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高品质</a:t>
              </a:r>
              <a:endParaRPr kumimoji="0"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12700" marR="5080" lvl="0" indent="0" algn="l" defTabSz="914400" rtl="0" eaLnBrk="1" fontAlgn="auto" latinLnBrk="0" hangingPunct="1">
                <a:lnSpc>
                  <a:spcPct val="150000"/>
                </a:lnSpc>
                <a:spcBef>
                  <a:spcPts val="380"/>
                </a:spcBef>
                <a:spcAft>
                  <a:spcPts val="0"/>
                </a:spcAft>
                <a:buClrTx/>
                <a:buSzTx/>
                <a:buFontTx/>
                <a:buNone/>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蓝光危害</a:t>
              </a:r>
              <a:r>
                <a:rPr kumimoji="0" lang="en-US" altLang="zh-CN" sz="2400" b="1" i="0" u="none" strike="noStrike" kern="1200" cap="none" spc="0" normalizeH="0" baseline="0" noProof="0" dirty="0">
                  <a:ln>
                    <a:noFill/>
                  </a:ln>
                  <a:solidFill>
                    <a:srgbClr val="ED7D31"/>
                  </a:solidFill>
                  <a:effectLst/>
                  <a:uLnTx/>
                  <a:uFillTx/>
                  <a:latin typeface="微软雅黑" panose="020B0503020204020204" charset="-122"/>
                  <a:ea typeface="微软雅黑" panose="020B0503020204020204" charset="-122"/>
                  <a:cs typeface="+mn-cs"/>
                  <a:sym typeface="+mn-ea"/>
                </a:rPr>
                <a:t>RG0</a:t>
              </a:r>
              <a:r>
                <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无限制级别，有效降低蓝光伤害</a:t>
              </a:r>
              <a:r>
                <a:rPr kumimoji="0" lang="en-US" altLang="zh-CN"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r>
                <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导致视网膜黄化。</a:t>
              </a:r>
              <a:endPar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sp>
          <p:nvSpPr>
            <p:cNvPr id="25" name="object 12"/>
            <p:cNvSpPr/>
            <p:nvPr>
              <p:custDataLst>
                <p:tags r:id="rId4"/>
              </p:custDataLst>
            </p:nvPr>
          </p:nvSpPr>
          <p:spPr>
            <a:xfrm>
              <a:off x="9659268" y="1167538"/>
              <a:ext cx="653415" cy="655320"/>
            </a:xfrm>
            <a:custGeom>
              <a:avLst/>
              <a:gdLst/>
              <a:ahLst/>
              <a:cxnLst/>
              <a:rect l="l" t="t" r="r" b="b"/>
              <a:pathLst>
                <a:path w="527685" h="528954">
                  <a:moveTo>
                    <a:pt x="265783" y="108631"/>
                  </a:moveTo>
                  <a:lnTo>
                    <a:pt x="200064" y="121484"/>
                  </a:lnTo>
                  <a:lnTo>
                    <a:pt x="144966" y="158783"/>
                  </a:lnTo>
                  <a:lnTo>
                    <a:pt x="107791" y="214358"/>
                  </a:lnTo>
                  <a:lnTo>
                    <a:pt x="94980" y="279961"/>
                  </a:lnTo>
                  <a:lnTo>
                    <a:pt x="98821" y="316418"/>
                  </a:lnTo>
                  <a:lnTo>
                    <a:pt x="128372" y="382440"/>
                  </a:lnTo>
                  <a:lnTo>
                    <a:pt x="156630" y="412838"/>
                  </a:lnTo>
                  <a:lnTo>
                    <a:pt x="369930" y="414508"/>
                  </a:lnTo>
                  <a:lnTo>
                    <a:pt x="374091" y="412838"/>
                  </a:lnTo>
                  <a:lnTo>
                    <a:pt x="377421" y="409498"/>
                  </a:lnTo>
                  <a:lnTo>
                    <a:pt x="402480" y="382440"/>
                  </a:lnTo>
                  <a:lnTo>
                    <a:pt x="406245" y="376068"/>
                  </a:lnTo>
                  <a:lnTo>
                    <a:pt x="173300" y="376067"/>
                  </a:lnTo>
                  <a:lnTo>
                    <a:pt x="156025" y="355528"/>
                  </a:lnTo>
                  <a:lnTo>
                    <a:pt x="143200" y="332089"/>
                  </a:lnTo>
                  <a:lnTo>
                    <a:pt x="135217" y="306612"/>
                  </a:lnTo>
                  <a:lnTo>
                    <a:pt x="132469" y="279961"/>
                  </a:lnTo>
                  <a:lnTo>
                    <a:pt x="139295" y="237815"/>
                  </a:lnTo>
                  <a:lnTo>
                    <a:pt x="158278" y="201124"/>
                  </a:lnTo>
                  <a:lnTo>
                    <a:pt x="187179" y="172135"/>
                  </a:lnTo>
                  <a:lnTo>
                    <a:pt x="223761" y="153094"/>
                  </a:lnTo>
                  <a:lnTo>
                    <a:pt x="265783" y="146248"/>
                  </a:lnTo>
                  <a:lnTo>
                    <a:pt x="371341" y="146248"/>
                  </a:lnTo>
                  <a:lnTo>
                    <a:pt x="360330" y="137196"/>
                  </a:lnTo>
                  <a:lnTo>
                    <a:pt x="330872" y="121484"/>
                  </a:lnTo>
                  <a:lnTo>
                    <a:pt x="299070" y="111884"/>
                  </a:lnTo>
                  <a:lnTo>
                    <a:pt x="265783" y="108631"/>
                  </a:lnTo>
                  <a:close/>
                </a:path>
                <a:path w="527685" h="528954">
                  <a:moveTo>
                    <a:pt x="371341" y="146248"/>
                  </a:moveTo>
                  <a:lnTo>
                    <a:pt x="265783" y="146248"/>
                  </a:lnTo>
                  <a:lnTo>
                    <a:pt x="307713" y="153094"/>
                  </a:lnTo>
                  <a:lnTo>
                    <a:pt x="344084" y="172135"/>
                  </a:lnTo>
                  <a:lnTo>
                    <a:pt x="372738" y="201124"/>
                  </a:lnTo>
                  <a:lnTo>
                    <a:pt x="391514" y="237815"/>
                  </a:lnTo>
                  <a:lnTo>
                    <a:pt x="398253" y="279961"/>
                  </a:lnTo>
                  <a:lnTo>
                    <a:pt x="395506" y="306612"/>
                  </a:lnTo>
                  <a:lnTo>
                    <a:pt x="387526" y="332089"/>
                  </a:lnTo>
                  <a:lnTo>
                    <a:pt x="374702" y="355528"/>
                  </a:lnTo>
                  <a:lnTo>
                    <a:pt x="357422" y="376068"/>
                  </a:lnTo>
                  <a:lnTo>
                    <a:pt x="406245" y="376068"/>
                  </a:lnTo>
                  <a:lnTo>
                    <a:pt x="421057" y="350996"/>
                  </a:lnTo>
                  <a:lnTo>
                    <a:pt x="432604" y="316418"/>
                  </a:lnTo>
                  <a:lnTo>
                    <a:pt x="436575" y="279961"/>
                  </a:lnTo>
                  <a:lnTo>
                    <a:pt x="433217" y="246219"/>
                  </a:lnTo>
                  <a:lnTo>
                    <a:pt x="423456" y="214358"/>
                  </a:lnTo>
                  <a:lnTo>
                    <a:pt x="407757" y="185005"/>
                  </a:lnTo>
                  <a:lnTo>
                    <a:pt x="386588" y="158783"/>
                  </a:lnTo>
                  <a:lnTo>
                    <a:pt x="371341" y="146248"/>
                  </a:lnTo>
                  <a:close/>
                </a:path>
                <a:path w="527685" h="528954">
                  <a:moveTo>
                    <a:pt x="56654" y="301691"/>
                  </a:moveTo>
                  <a:lnTo>
                    <a:pt x="18329" y="301691"/>
                  </a:lnTo>
                  <a:lnTo>
                    <a:pt x="0" y="320071"/>
                  </a:lnTo>
                  <a:lnTo>
                    <a:pt x="1457" y="327659"/>
                  </a:lnTo>
                  <a:lnTo>
                    <a:pt x="5415" y="333758"/>
                  </a:lnTo>
                  <a:lnTo>
                    <a:pt x="11247" y="337821"/>
                  </a:lnTo>
                  <a:lnTo>
                    <a:pt x="18329" y="339297"/>
                  </a:lnTo>
                  <a:lnTo>
                    <a:pt x="56654" y="339297"/>
                  </a:lnTo>
                  <a:lnTo>
                    <a:pt x="64218" y="337821"/>
                  </a:lnTo>
                  <a:lnTo>
                    <a:pt x="70298" y="333758"/>
                  </a:lnTo>
                  <a:lnTo>
                    <a:pt x="74347" y="327659"/>
                  </a:lnTo>
                  <a:lnTo>
                    <a:pt x="75818" y="320071"/>
                  </a:lnTo>
                  <a:lnTo>
                    <a:pt x="74347" y="312972"/>
                  </a:lnTo>
                  <a:lnTo>
                    <a:pt x="70298" y="307124"/>
                  </a:lnTo>
                  <a:lnTo>
                    <a:pt x="64218" y="303154"/>
                  </a:lnTo>
                  <a:lnTo>
                    <a:pt x="56654" y="301691"/>
                  </a:lnTo>
                  <a:close/>
                </a:path>
                <a:path w="527685" h="528954">
                  <a:moveTo>
                    <a:pt x="512399" y="301691"/>
                  </a:moveTo>
                  <a:lnTo>
                    <a:pt x="474065" y="301691"/>
                  </a:lnTo>
                  <a:lnTo>
                    <a:pt x="454910" y="320071"/>
                  </a:lnTo>
                  <a:lnTo>
                    <a:pt x="456498" y="327659"/>
                  </a:lnTo>
                  <a:lnTo>
                    <a:pt x="460742" y="333758"/>
                  </a:lnTo>
                  <a:lnTo>
                    <a:pt x="466858" y="337821"/>
                  </a:lnTo>
                  <a:lnTo>
                    <a:pt x="474065" y="339297"/>
                  </a:lnTo>
                  <a:lnTo>
                    <a:pt x="512399" y="339297"/>
                  </a:lnTo>
                  <a:lnTo>
                    <a:pt x="519962" y="337821"/>
                  </a:lnTo>
                  <a:lnTo>
                    <a:pt x="526039" y="333758"/>
                  </a:lnTo>
                  <a:lnTo>
                    <a:pt x="527303" y="331852"/>
                  </a:lnTo>
                  <a:lnTo>
                    <a:pt x="527303" y="308952"/>
                  </a:lnTo>
                  <a:lnTo>
                    <a:pt x="526039" y="307124"/>
                  </a:lnTo>
                  <a:lnTo>
                    <a:pt x="519962" y="303154"/>
                  </a:lnTo>
                  <a:lnTo>
                    <a:pt x="512399" y="301691"/>
                  </a:lnTo>
                  <a:close/>
                </a:path>
                <a:path w="527685" h="528954">
                  <a:moveTo>
                    <a:pt x="463759" y="81268"/>
                  </a:moveTo>
                  <a:lnTo>
                    <a:pt x="423246" y="114487"/>
                  </a:lnTo>
                  <a:lnTo>
                    <a:pt x="417619" y="127548"/>
                  </a:lnTo>
                  <a:lnTo>
                    <a:pt x="419026" y="134820"/>
                  </a:lnTo>
                  <a:lnTo>
                    <a:pt x="423246" y="141227"/>
                  </a:lnTo>
                  <a:lnTo>
                    <a:pt x="429523" y="145461"/>
                  </a:lnTo>
                  <a:lnTo>
                    <a:pt x="436579" y="146872"/>
                  </a:lnTo>
                  <a:lnTo>
                    <a:pt x="443634" y="145461"/>
                  </a:lnTo>
                  <a:lnTo>
                    <a:pt x="449904" y="141227"/>
                  </a:lnTo>
                  <a:lnTo>
                    <a:pt x="477406" y="113652"/>
                  </a:lnTo>
                  <a:lnTo>
                    <a:pt x="481620" y="107356"/>
                  </a:lnTo>
                  <a:lnTo>
                    <a:pt x="483025" y="100278"/>
                  </a:lnTo>
                  <a:lnTo>
                    <a:pt x="481620" y="93202"/>
                  </a:lnTo>
                  <a:lnTo>
                    <a:pt x="477406" y="86912"/>
                  </a:lnTo>
                  <a:lnTo>
                    <a:pt x="471012" y="82679"/>
                  </a:lnTo>
                  <a:lnTo>
                    <a:pt x="463759" y="81268"/>
                  </a:lnTo>
                  <a:close/>
                </a:path>
                <a:path w="527685" h="528954">
                  <a:moveTo>
                    <a:pt x="64153" y="80433"/>
                  </a:moveTo>
                  <a:lnTo>
                    <a:pt x="57097" y="81844"/>
                  </a:lnTo>
                  <a:lnTo>
                    <a:pt x="50822" y="86077"/>
                  </a:lnTo>
                  <a:lnTo>
                    <a:pt x="46604" y="92367"/>
                  </a:lnTo>
                  <a:lnTo>
                    <a:pt x="45199" y="99443"/>
                  </a:lnTo>
                  <a:lnTo>
                    <a:pt x="46604" y="106521"/>
                  </a:lnTo>
                  <a:lnTo>
                    <a:pt x="50822" y="112817"/>
                  </a:lnTo>
                  <a:lnTo>
                    <a:pt x="77484" y="140392"/>
                  </a:lnTo>
                  <a:lnTo>
                    <a:pt x="83889" y="144626"/>
                  </a:lnTo>
                  <a:lnTo>
                    <a:pt x="91231" y="146037"/>
                  </a:lnTo>
                  <a:lnTo>
                    <a:pt x="98573" y="144626"/>
                  </a:lnTo>
                  <a:lnTo>
                    <a:pt x="104979" y="140392"/>
                  </a:lnTo>
                  <a:lnTo>
                    <a:pt x="109199" y="134102"/>
                  </a:lnTo>
                  <a:lnTo>
                    <a:pt x="110606" y="127026"/>
                  </a:lnTo>
                  <a:lnTo>
                    <a:pt x="109199" y="119948"/>
                  </a:lnTo>
                  <a:lnTo>
                    <a:pt x="104979" y="113652"/>
                  </a:lnTo>
                  <a:lnTo>
                    <a:pt x="77484" y="86077"/>
                  </a:lnTo>
                  <a:lnTo>
                    <a:pt x="71209" y="81844"/>
                  </a:lnTo>
                  <a:lnTo>
                    <a:pt x="64153" y="80433"/>
                  </a:lnTo>
                  <a:close/>
                </a:path>
                <a:path w="527685" h="528954">
                  <a:moveTo>
                    <a:pt x="343260" y="432900"/>
                  </a:moveTo>
                  <a:lnTo>
                    <a:pt x="187462" y="432900"/>
                  </a:lnTo>
                  <a:lnTo>
                    <a:pt x="168295" y="452121"/>
                  </a:lnTo>
                  <a:lnTo>
                    <a:pt x="169883" y="459708"/>
                  </a:lnTo>
                  <a:lnTo>
                    <a:pt x="174128" y="465806"/>
                  </a:lnTo>
                  <a:lnTo>
                    <a:pt x="180248" y="469867"/>
                  </a:lnTo>
                  <a:lnTo>
                    <a:pt x="187462" y="471343"/>
                  </a:lnTo>
                  <a:lnTo>
                    <a:pt x="343260" y="471343"/>
                  </a:lnTo>
                  <a:lnTo>
                    <a:pt x="350825" y="469867"/>
                  </a:lnTo>
                  <a:lnTo>
                    <a:pt x="356906" y="465806"/>
                  </a:lnTo>
                  <a:lnTo>
                    <a:pt x="360956" y="459708"/>
                  </a:lnTo>
                  <a:lnTo>
                    <a:pt x="362427" y="452121"/>
                  </a:lnTo>
                  <a:lnTo>
                    <a:pt x="360956" y="444887"/>
                  </a:lnTo>
                  <a:lnTo>
                    <a:pt x="356906" y="438750"/>
                  </a:lnTo>
                  <a:lnTo>
                    <a:pt x="350825" y="434493"/>
                  </a:lnTo>
                  <a:lnTo>
                    <a:pt x="343260" y="432900"/>
                  </a:lnTo>
                  <a:close/>
                </a:path>
                <a:path w="527685" h="528954">
                  <a:moveTo>
                    <a:pt x="280411" y="0"/>
                  </a:moveTo>
                  <a:lnTo>
                    <a:pt x="253508" y="0"/>
                  </a:lnTo>
                  <a:lnTo>
                    <a:pt x="252137" y="830"/>
                  </a:lnTo>
                  <a:lnTo>
                    <a:pt x="248087" y="6391"/>
                  </a:lnTo>
                  <a:lnTo>
                    <a:pt x="246616" y="13360"/>
                  </a:lnTo>
                  <a:lnTo>
                    <a:pt x="246616" y="52646"/>
                  </a:lnTo>
                  <a:lnTo>
                    <a:pt x="248087" y="59750"/>
                  </a:lnTo>
                  <a:lnTo>
                    <a:pt x="252137" y="65597"/>
                  </a:lnTo>
                  <a:lnTo>
                    <a:pt x="258218" y="69565"/>
                  </a:lnTo>
                  <a:lnTo>
                    <a:pt x="265783" y="71026"/>
                  </a:lnTo>
                  <a:lnTo>
                    <a:pt x="272864" y="69565"/>
                  </a:lnTo>
                  <a:lnTo>
                    <a:pt x="278694" y="65597"/>
                  </a:lnTo>
                  <a:lnTo>
                    <a:pt x="282649" y="59750"/>
                  </a:lnTo>
                  <a:lnTo>
                    <a:pt x="284106" y="52646"/>
                  </a:lnTo>
                  <a:lnTo>
                    <a:pt x="284106" y="3340"/>
                  </a:lnTo>
                  <a:lnTo>
                    <a:pt x="280411" y="0"/>
                  </a:lnTo>
                  <a:close/>
                </a:path>
                <a:path w="527685" h="528954">
                  <a:moveTo>
                    <a:pt x="322440" y="490565"/>
                  </a:moveTo>
                  <a:lnTo>
                    <a:pt x="208293" y="490565"/>
                  </a:lnTo>
                  <a:lnTo>
                    <a:pt x="189126" y="509787"/>
                  </a:lnTo>
                  <a:lnTo>
                    <a:pt x="190715" y="517021"/>
                  </a:lnTo>
                  <a:lnTo>
                    <a:pt x="194960" y="523158"/>
                  </a:lnTo>
                  <a:lnTo>
                    <a:pt x="201080" y="527415"/>
                  </a:lnTo>
                  <a:lnTo>
                    <a:pt x="207475" y="528828"/>
                  </a:lnTo>
                  <a:lnTo>
                    <a:pt x="323297" y="528828"/>
                  </a:lnTo>
                  <a:lnTo>
                    <a:pt x="329998" y="527415"/>
                  </a:lnTo>
                  <a:lnTo>
                    <a:pt x="336076" y="523158"/>
                  </a:lnTo>
                  <a:lnTo>
                    <a:pt x="340124" y="517021"/>
                  </a:lnTo>
                  <a:lnTo>
                    <a:pt x="341596" y="509787"/>
                  </a:lnTo>
                  <a:lnTo>
                    <a:pt x="340124" y="502200"/>
                  </a:lnTo>
                  <a:lnTo>
                    <a:pt x="336076" y="496102"/>
                  </a:lnTo>
                  <a:lnTo>
                    <a:pt x="329998" y="492041"/>
                  </a:lnTo>
                  <a:lnTo>
                    <a:pt x="322440" y="490565"/>
                  </a:lnTo>
                  <a:close/>
                </a:path>
              </a:pathLst>
            </a:custGeom>
            <a:solidFill>
              <a:schemeClr val="tx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6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6" name="object 14"/>
            <p:cNvSpPr/>
            <p:nvPr>
              <p:custDataLst>
                <p:tags r:id="rId5"/>
              </p:custDataLst>
            </p:nvPr>
          </p:nvSpPr>
          <p:spPr>
            <a:xfrm>
              <a:off x="9674449" y="3501147"/>
              <a:ext cx="628015" cy="566420"/>
            </a:xfrm>
            <a:custGeom>
              <a:avLst/>
              <a:gdLst/>
              <a:ahLst/>
              <a:cxnLst/>
              <a:rect l="l" t="t" r="r" b="b"/>
              <a:pathLst>
                <a:path w="523240" h="471804">
                  <a:moveTo>
                    <a:pt x="182333" y="371678"/>
                  </a:moveTo>
                  <a:lnTo>
                    <a:pt x="170154" y="354863"/>
                  </a:lnTo>
                  <a:lnTo>
                    <a:pt x="161429" y="354863"/>
                  </a:lnTo>
                  <a:lnTo>
                    <a:pt x="157073" y="356336"/>
                  </a:lnTo>
                  <a:lnTo>
                    <a:pt x="154152" y="359270"/>
                  </a:lnTo>
                  <a:lnTo>
                    <a:pt x="143510" y="367131"/>
                  </a:lnTo>
                  <a:lnTo>
                    <a:pt x="131152" y="369747"/>
                  </a:lnTo>
                  <a:lnTo>
                    <a:pt x="118668" y="367131"/>
                  </a:lnTo>
                  <a:lnTo>
                    <a:pt x="107607" y="359270"/>
                  </a:lnTo>
                  <a:lnTo>
                    <a:pt x="104711" y="356336"/>
                  </a:lnTo>
                  <a:lnTo>
                    <a:pt x="100342" y="354863"/>
                  </a:lnTo>
                  <a:lnTo>
                    <a:pt x="91617" y="354863"/>
                  </a:lnTo>
                  <a:lnTo>
                    <a:pt x="87985" y="356336"/>
                  </a:lnTo>
                  <a:lnTo>
                    <a:pt x="84340" y="359270"/>
                  </a:lnTo>
                  <a:lnTo>
                    <a:pt x="80670" y="365239"/>
                  </a:lnTo>
                  <a:lnTo>
                    <a:pt x="79438" y="371678"/>
                  </a:lnTo>
                  <a:lnTo>
                    <a:pt x="80670" y="377977"/>
                  </a:lnTo>
                  <a:lnTo>
                    <a:pt x="117983" y="402742"/>
                  </a:lnTo>
                  <a:lnTo>
                    <a:pt x="130886" y="404088"/>
                  </a:lnTo>
                  <a:lnTo>
                    <a:pt x="143776" y="402742"/>
                  </a:lnTo>
                  <a:lnTo>
                    <a:pt x="156057" y="398767"/>
                  </a:lnTo>
                  <a:lnTo>
                    <a:pt x="167386" y="392315"/>
                  </a:lnTo>
                  <a:lnTo>
                    <a:pt x="177419" y="383514"/>
                  </a:lnTo>
                  <a:lnTo>
                    <a:pt x="181102" y="377977"/>
                  </a:lnTo>
                  <a:lnTo>
                    <a:pt x="182333" y="371678"/>
                  </a:lnTo>
                  <a:close/>
                </a:path>
                <a:path w="523240" h="471804">
                  <a:moveTo>
                    <a:pt x="313944" y="94399"/>
                  </a:moveTo>
                  <a:lnTo>
                    <a:pt x="275399" y="63792"/>
                  </a:lnTo>
                  <a:lnTo>
                    <a:pt x="262509" y="62445"/>
                  </a:lnTo>
                  <a:lnTo>
                    <a:pt x="249605" y="63792"/>
                  </a:lnTo>
                  <a:lnTo>
                    <a:pt x="215963" y="82283"/>
                  </a:lnTo>
                  <a:lnTo>
                    <a:pt x="211061" y="94399"/>
                  </a:lnTo>
                  <a:lnTo>
                    <a:pt x="212280" y="100876"/>
                  </a:lnTo>
                  <a:lnTo>
                    <a:pt x="215963" y="106527"/>
                  </a:lnTo>
                  <a:lnTo>
                    <a:pt x="221437" y="110248"/>
                  </a:lnTo>
                  <a:lnTo>
                    <a:pt x="227596" y="111493"/>
                  </a:lnTo>
                  <a:lnTo>
                    <a:pt x="233756" y="110248"/>
                  </a:lnTo>
                  <a:lnTo>
                    <a:pt x="250190" y="99085"/>
                  </a:lnTo>
                  <a:lnTo>
                    <a:pt x="262496" y="96608"/>
                  </a:lnTo>
                  <a:lnTo>
                    <a:pt x="274815" y="99085"/>
                  </a:lnTo>
                  <a:lnTo>
                    <a:pt x="291249" y="110248"/>
                  </a:lnTo>
                  <a:lnTo>
                    <a:pt x="297408" y="111493"/>
                  </a:lnTo>
                  <a:lnTo>
                    <a:pt x="303568" y="110248"/>
                  </a:lnTo>
                  <a:lnTo>
                    <a:pt x="309041" y="106527"/>
                  </a:lnTo>
                  <a:lnTo>
                    <a:pt x="312724" y="100876"/>
                  </a:lnTo>
                  <a:lnTo>
                    <a:pt x="313524" y="96608"/>
                  </a:lnTo>
                  <a:lnTo>
                    <a:pt x="313944" y="94399"/>
                  </a:lnTo>
                  <a:close/>
                </a:path>
                <a:path w="523240" h="471804">
                  <a:moveTo>
                    <a:pt x="445020" y="371678"/>
                  </a:moveTo>
                  <a:lnTo>
                    <a:pt x="433387" y="354863"/>
                  </a:lnTo>
                  <a:lnTo>
                    <a:pt x="424662" y="354863"/>
                  </a:lnTo>
                  <a:lnTo>
                    <a:pt x="420293" y="356336"/>
                  </a:lnTo>
                  <a:lnTo>
                    <a:pt x="417398" y="359270"/>
                  </a:lnTo>
                  <a:lnTo>
                    <a:pt x="406336" y="367131"/>
                  </a:lnTo>
                  <a:lnTo>
                    <a:pt x="393852" y="369747"/>
                  </a:lnTo>
                  <a:lnTo>
                    <a:pt x="381495" y="367131"/>
                  </a:lnTo>
                  <a:lnTo>
                    <a:pt x="370852" y="359270"/>
                  </a:lnTo>
                  <a:lnTo>
                    <a:pt x="367944" y="356336"/>
                  </a:lnTo>
                  <a:lnTo>
                    <a:pt x="363575" y="354863"/>
                  </a:lnTo>
                  <a:lnTo>
                    <a:pt x="354850" y="354863"/>
                  </a:lnTo>
                  <a:lnTo>
                    <a:pt x="350494" y="356336"/>
                  </a:lnTo>
                  <a:lnTo>
                    <a:pt x="347586" y="359270"/>
                  </a:lnTo>
                  <a:lnTo>
                    <a:pt x="343903" y="365239"/>
                  </a:lnTo>
                  <a:lnTo>
                    <a:pt x="342671" y="371678"/>
                  </a:lnTo>
                  <a:lnTo>
                    <a:pt x="343903" y="377977"/>
                  </a:lnTo>
                  <a:lnTo>
                    <a:pt x="381228" y="402742"/>
                  </a:lnTo>
                  <a:lnTo>
                    <a:pt x="394131" y="404088"/>
                  </a:lnTo>
                  <a:lnTo>
                    <a:pt x="407022" y="402742"/>
                  </a:lnTo>
                  <a:lnTo>
                    <a:pt x="419303" y="398767"/>
                  </a:lnTo>
                  <a:lnTo>
                    <a:pt x="430631" y="392315"/>
                  </a:lnTo>
                  <a:lnTo>
                    <a:pt x="440664" y="383514"/>
                  </a:lnTo>
                  <a:lnTo>
                    <a:pt x="443928" y="377977"/>
                  </a:lnTo>
                  <a:lnTo>
                    <a:pt x="445020" y="371678"/>
                  </a:lnTo>
                  <a:close/>
                </a:path>
                <a:path w="523240" h="471804">
                  <a:moveTo>
                    <a:pt x="522732" y="320852"/>
                  </a:moveTo>
                  <a:lnTo>
                    <a:pt x="518375" y="292493"/>
                  </a:lnTo>
                  <a:lnTo>
                    <a:pt x="499884" y="254965"/>
                  </a:lnTo>
                  <a:lnTo>
                    <a:pt x="492290" y="247027"/>
                  </a:lnTo>
                  <a:lnTo>
                    <a:pt x="492290" y="335775"/>
                  </a:lnTo>
                  <a:lnTo>
                    <a:pt x="484517" y="375285"/>
                  </a:lnTo>
                  <a:lnTo>
                    <a:pt x="463384" y="407771"/>
                  </a:lnTo>
                  <a:lnTo>
                    <a:pt x="432168" y="429780"/>
                  </a:lnTo>
                  <a:lnTo>
                    <a:pt x="394131" y="437896"/>
                  </a:lnTo>
                  <a:lnTo>
                    <a:pt x="355663" y="429780"/>
                  </a:lnTo>
                  <a:lnTo>
                    <a:pt x="324218" y="407771"/>
                  </a:lnTo>
                  <a:lnTo>
                    <a:pt x="303009" y="375285"/>
                  </a:lnTo>
                  <a:lnTo>
                    <a:pt x="295224" y="335762"/>
                  </a:lnTo>
                  <a:lnTo>
                    <a:pt x="303009" y="295821"/>
                  </a:lnTo>
                  <a:lnTo>
                    <a:pt x="322859" y="265226"/>
                  </a:lnTo>
                  <a:lnTo>
                    <a:pt x="324218" y="263118"/>
                  </a:lnTo>
                  <a:lnTo>
                    <a:pt x="355663" y="241020"/>
                  </a:lnTo>
                  <a:lnTo>
                    <a:pt x="394131" y="232892"/>
                  </a:lnTo>
                  <a:lnTo>
                    <a:pt x="432168" y="241020"/>
                  </a:lnTo>
                  <a:lnTo>
                    <a:pt x="463384" y="263118"/>
                  </a:lnTo>
                  <a:lnTo>
                    <a:pt x="484517" y="295821"/>
                  </a:lnTo>
                  <a:lnTo>
                    <a:pt x="492290" y="335775"/>
                  </a:lnTo>
                  <a:lnTo>
                    <a:pt x="492290" y="247027"/>
                  </a:lnTo>
                  <a:lnTo>
                    <a:pt x="471614" y="225412"/>
                  </a:lnTo>
                  <a:lnTo>
                    <a:pt x="435660" y="206044"/>
                  </a:lnTo>
                  <a:lnTo>
                    <a:pt x="402907" y="200571"/>
                  </a:lnTo>
                  <a:lnTo>
                    <a:pt x="394131" y="199097"/>
                  </a:lnTo>
                  <a:lnTo>
                    <a:pt x="387578" y="199097"/>
                  </a:lnTo>
                  <a:lnTo>
                    <a:pt x="374497" y="200571"/>
                  </a:lnTo>
                  <a:lnTo>
                    <a:pt x="382778" y="184086"/>
                  </a:lnTo>
                  <a:lnTo>
                    <a:pt x="388937" y="166776"/>
                  </a:lnTo>
                  <a:lnTo>
                    <a:pt x="392798" y="148907"/>
                  </a:lnTo>
                  <a:lnTo>
                    <a:pt x="394131" y="130771"/>
                  </a:lnTo>
                  <a:lnTo>
                    <a:pt x="387413" y="87579"/>
                  </a:lnTo>
                  <a:lnTo>
                    <a:pt x="368744" y="50241"/>
                  </a:lnTo>
                  <a:lnTo>
                    <a:pt x="361403" y="42697"/>
                  </a:lnTo>
                  <a:lnTo>
                    <a:pt x="361403" y="130771"/>
                  </a:lnTo>
                  <a:lnTo>
                    <a:pt x="353618" y="170599"/>
                  </a:lnTo>
                  <a:lnTo>
                    <a:pt x="332397" y="203047"/>
                  </a:lnTo>
                  <a:lnTo>
                    <a:pt x="300964" y="224891"/>
                  </a:lnTo>
                  <a:lnTo>
                    <a:pt x="262509" y="232892"/>
                  </a:lnTo>
                  <a:lnTo>
                    <a:pt x="229781" y="226098"/>
                  </a:lnTo>
                  <a:lnTo>
                    <a:pt x="229781" y="335775"/>
                  </a:lnTo>
                  <a:lnTo>
                    <a:pt x="221996" y="375285"/>
                  </a:lnTo>
                  <a:lnTo>
                    <a:pt x="200787" y="407771"/>
                  </a:lnTo>
                  <a:lnTo>
                    <a:pt x="169354" y="429780"/>
                  </a:lnTo>
                  <a:lnTo>
                    <a:pt x="130886" y="437896"/>
                  </a:lnTo>
                  <a:lnTo>
                    <a:pt x="92849" y="429780"/>
                  </a:lnTo>
                  <a:lnTo>
                    <a:pt x="61620" y="407771"/>
                  </a:lnTo>
                  <a:lnTo>
                    <a:pt x="40487" y="375285"/>
                  </a:lnTo>
                  <a:lnTo>
                    <a:pt x="32715" y="335762"/>
                  </a:lnTo>
                  <a:lnTo>
                    <a:pt x="40487" y="295821"/>
                  </a:lnTo>
                  <a:lnTo>
                    <a:pt x="61620" y="263118"/>
                  </a:lnTo>
                  <a:lnTo>
                    <a:pt x="92849" y="241020"/>
                  </a:lnTo>
                  <a:lnTo>
                    <a:pt x="130886" y="232892"/>
                  </a:lnTo>
                  <a:lnTo>
                    <a:pt x="169354" y="241020"/>
                  </a:lnTo>
                  <a:lnTo>
                    <a:pt x="200787" y="263118"/>
                  </a:lnTo>
                  <a:lnTo>
                    <a:pt x="221996" y="295821"/>
                  </a:lnTo>
                  <a:lnTo>
                    <a:pt x="229781" y="335775"/>
                  </a:lnTo>
                  <a:lnTo>
                    <a:pt x="229781" y="226098"/>
                  </a:lnTo>
                  <a:lnTo>
                    <a:pt x="192608" y="203047"/>
                  </a:lnTo>
                  <a:lnTo>
                    <a:pt x="171386" y="170599"/>
                  </a:lnTo>
                  <a:lnTo>
                    <a:pt x="163601" y="130771"/>
                  </a:lnTo>
                  <a:lnTo>
                    <a:pt x="171386" y="90830"/>
                  </a:lnTo>
                  <a:lnTo>
                    <a:pt x="192608" y="58127"/>
                  </a:lnTo>
                  <a:lnTo>
                    <a:pt x="224040" y="36029"/>
                  </a:lnTo>
                  <a:lnTo>
                    <a:pt x="262509" y="27914"/>
                  </a:lnTo>
                  <a:lnTo>
                    <a:pt x="300964" y="36029"/>
                  </a:lnTo>
                  <a:lnTo>
                    <a:pt x="332397" y="58127"/>
                  </a:lnTo>
                  <a:lnTo>
                    <a:pt x="353618" y="90830"/>
                  </a:lnTo>
                  <a:lnTo>
                    <a:pt x="361403" y="130771"/>
                  </a:lnTo>
                  <a:lnTo>
                    <a:pt x="361403" y="42697"/>
                  </a:lnTo>
                  <a:lnTo>
                    <a:pt x="347052" y="27914"/>
                  </a:lnTo>
                  <a:lnTo>
                    <a:pt x="340245" y="20904"/>
                  </a:lnTo>
                  <a:lnTo>
                    <a:pt x="304114" y="1727"/>
                  </a:lnTo>
                  <a:lnTo>
                    <a:pt x="293649" y="0"/>
                  </a:lnTo>
                  <a:lnTo>
                    <a:pt x="231355" y="0"/>
                  </a:lnTo>
                  <a:lnTo>
                    <a:pt x="184759" y="20904"/>
                  </a:lnTo>
                  <a:lnTo>
                    <a:pt x="156273" y="50241"/>
                  </a:lnTo>
                  <a:lnTo>
                    <a:pt x="137591" y="87579"/>
                  </a:lnTo>
                  <a:lnTo>
                    <a:pt x="130886" y="130771"/>
                  </a:lnTo>
                  <a:lnTo>
                    <a:pt x="132219" y="149631"/>
                  </a:lnTo>
                  <a:lnTo>
                    <a:pt x="136067" y="167601"/>
                  </a:lnTo>
                  <a:lnTo>
                    <a:pt x="142240" y="184607"/>
                  </a:lnTo>
                  <a:lnTo>
                    <a:pt x="150520" y="200571"/>
                  </a:lnTo>
                  <a:lnTo>
                    <a:pt x="137426" y="199097"/>
                  </a:lnTo>
                  <a:lnTo>
                    <a:pt x="130886" y="199097"/>
                  </a:lnTo>
                  <a:lnTo>
                    <a:pt x="89344" y="206044"/>
                  </a:lnTo>
                  <a:lnTo>
                    <a:pt x="53403" y="225412"/>
                  </a:lnTo>
                  <a:lnTo>
                    <a:pt x="25120" y="254965"/>
                  </a:lnTo>
                  <a:lnTo>
                    <a:pt x="6629" y="292493"/>
                  </a:lnTo>
                  <a:lnTo>
                    <a:pt x="0" y="335775"/>
                  </a:lnTo>
                  <a:lnTo>
                    <a:pt x="6629" y="378675"/>
                  </a:lnTo>
                  <a:lnTo>
                    <a:pt x="25120" y="415988"/>
                  </a:lnTo>
                  <a:lnTo>
                    <a:pt x="53403" y="445427"/>
                  </a:lnTo>
                  <a:lnTo>
                    <a:pt x="89344" y="464743"/>
                  </a:lnTo>
                  <a:lnTo>
                    <a:pt x="130886" y="471690"/>
                  </a:lnTo>
                  <a:lnTo>
                    <a:pt x="172504" y="464743"/>
                  </a:lnTo>
                  <a:lnTo>
                    <a:pt x="208635" y="445427"/>
                  </a:lnTo>
                  <a:lnTo>
                    <a:pt x="237121" y="415988"/>
                  </a:lnTo>
                  <a:lnTo>
                    <a:pt x="255803" y="378675"/>
                  </a:lnTo>
                  <a:lnTo>
                    <a:pt x="262509" y="335762"/>
                  </a:lnTo>
                  <a:lnTo>
                    <a:pt x="261175" y="316484"/>
                  </a:lnTo>
                  <a:lnTo>
                    <a:pt x="257327" y="298297"/>
                  </a:lnTo>
                  <a:lnTo>
                    <a:pt x="251155" y="281203"/>
                  </a:lnTo>
                  <a:lnTo>
                    <a:pt x="242874" y="265226"/>
                  </a:lnTo>
                  <a:lnTo>
                    <a:pt x="249415" y="265963"/>
                  </a:lnTo>
                  <a:lnTo>
                    <a:pt x="255955" y="267423"/>
                  </a:lnTo>
                  <a:lnTo>
                    <a:pt x="269049" y="267423"/>
                  </a:lnTo>
                  <a:lnTo>
                    <a:pt x="275602" y="265963"/>
                  </a:lnTo>
                  <a:lnTo>
                    <a:pt x="282130" y="265226"/>
                  </a:lnTo>
                  <a:lnTo>
                    <a:pt x="273545" y="281724"/>
                  </a:lnTo>
                  <a:lnTo>
                    <a:pt x="267411" y="299123"/>
                  </a:lnTo>
                  <a:lnTo>
                    <a:pt x="263728" y="317207"/>
                  </a:lnTo>
                  <a:lnTo>
                    <a:pt x="262509" y="335762"/>
                  </a:lnTo>
                  <a:lnTo>
                    <a:pt x="269214" y="378675"/>
                  </a:lnTo>
                  <a:lnTo>
                    <a:pt x="287896" y="415988"/>
                  </a:lnTo>
                  <a:lnTo>
                    <a:pt x="316382" y="445427"/>
                  </a:lnTo>
                  <a:lnTo>
                    <a:pt x="352513" y="464743"/>
                  </a:lnTo>
                  <a:lnTo>
                    <a:pt x="394131" y="471690"/>
                  </a:lnTo>
                  <a:lnTo>
                    <a:pt x="435660" y="464743"/>
                  </a:lnTo>
                  <a:lnTo>
                    <a:pt x="471614" y="445427"/>
                  </a:lnTo>
                  <a:lnTo>
                    <a:pt x="478840" y="437896"/>
                  </a:lnTo>
                  <a:lnTo>
                    <a:pt x="499884" y="415988"/>
                  </a:lnTo>
                  <a:lnTo>
                    <a:pt x="518375" y="378675"/>
                  </a:lnTo>
                  <a:lnTo>
                    <a:pt x="522732" y="350558"/>
                  </a:lnTo>
                  <a:lnTo>
                    <a:pt x="522732" y="320852"/>
                  </a:lnTo>
                  <a:close/>
                </a:path>
              </a:pathLst>
            </a:custGeom>
            <a:solidFill>
              <a:schemeClr val="tx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6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7" name="太阳形 26"/>
            <p:cNvSpPr/>
            <p:nvPr/>
          </p:nvSpPr>
          <p:spPr>
            <a:xfrm>
              <a:off x="9659268" y="2360582"/>
              <a:ext cx="659130" cy="622935"/>
            </a:xfrm>
            <a:prstGeom prst="sun">
              <a:avLst/>
            </a:prstGeom>
            <a:solidFill>
              <a:schemeClr val="tx2"/>
            </a:solidFill>
            <a:ln w="12700" cap="flat" cmpd="sng" algn="ctr">
              <a:noFill/>
              <a:prstDash val="solid"/>
              <a:headEnd type="none"/>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Arial" panose="020B0604020202020204"/>
                <a:ea typeface="黑体" panose="02010609060101010101" charset="-122"/>
                <a:cs typeface="+mn-cs"/>
              </a:endParaRPr>
            </a:p>
          </p:txBody>
        </p:sp>
      </p:grpSp>
      <p:sp>
        <p:nvSpPr>
          <p:cNvPr id="34" name="矩形 33"/>
          <p:cNvSpPr/>
          <p:nvPr/>
        </p:nvSpPr>
        <p:spPr>
          <a:xfrm>
            <a:off x="7883316" y="5775191"/>
            <a:ext cx="679130" cy="295978"/>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RG0</a:t>
            </a:r>
            <a:endPar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39" name="矩形 38"/>
          <p:cNvSpPr/>
          <p:nvPr/>
        </p:nvSpPr>
        <p:spPr>
          <a:xfrm>
            <a:off x="8827320" y="5775191"/>
            <a:ext cx="679130" cy="295978"/>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IP20</a:t>
            </a:r>
            <a:endPar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pic>
        <p:nvPicPr>
          <p:cNvPr id="99" name="图片 98"/>
          <p:cNvPicPr>
            <a:picLocks noChangeAspect="1"/>
          </p:cNvPicPr>
          <p:nvPr/>
        </p:nvPicPr>
        <p:blipFill>
          <a:blip r:embed="rId6"/>
          <a:stretch>
            <a:fillRect/>
          </a:stretch>
        </p:blipFill>
        <p:spPr>
          <a:xfrm>
            <a:off x="3193693" y="778260"/>
            <a:ext cx="1360052" cy="1337195"/>
          </a:xfrm>
          <a:prstGeom prst="rect">
            <a:avLst/>
          </a:prstGeom>
        </p:spPr>
      </p:pic>
      <p:grpSp>
        <p:nvGrpSpPr>
          <p:cNvPr id="61" name="组合 60"/>
          <p:cNvGrpSpPr/>
          <p:nvPr/>
        </p:nvGrpSpPr>
        <p:grpSpPr>
          <a:xfrm>
            <a:off x="918268" y="5324121"/>
            <a:ext cx="10355464" cy="276907"/>
            <a:chOff x="918268" y="5324121"/>
            <a:chExt cx="10355464" cy="276907"/>
          </a:xfrm>
        </p:grpSpPr>
        <p:grpSp>
          <p:nvGrpSpPr>
            <p:cNvPr id="62" name="组合 61"/>
            <p:cNvGrpSpPr/>
            <p:nvPr/>
          </p:nvGrpSpPr>
          <p:grpSpPr>
            <a:xfrm>
              <a:off x="918268" y="5324291"/>
              <a:ext cx="538204" cy="276737"/>
              <a:chOff x="918268" y="5324291"/>
              <a:chExt cx="538204" cy="276737"/>
            </a:xfrm>
          </p:grpSpPr>
          <p:sp>
            <p:nvSpPr>
              <p:cNvPr id="118" name="矩形 117"/>
              <p:cNvSpPr/>
              <p:nvPr/>
            </p:nvSpPr>
            <p:spPr>
              <a:xfrm>
                <a:off x="918268" y="5324291"/>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119" name="矩形 118"/>
              <p:cNvSpPr/>
              <p:nvPr/>
            </p:nvSpPr>
            <p:spPr>
              <a:xfrm>
                <a:off x="1004605" y="5369269"/>
                <a:ext cx="365529" cy="20200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功率</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63" name="组合 62"/>
            <p:cNvGrpSpPr/>
            <p:nvPr/>
          </p:nvGrpSpPr>
          <p:grpSpPr>
            <a:xfrm>
              <a:off x="1779868" y="5324290"/>
              <a:ext cx="565428" cy="276737"/>
              <a:chOff x="1537284" y="5324290"/>
              <a:chExt cx="565428" cy="276737"/>
            </a:xfrm>
          </p:grpSpPr>
          <p:sp>
            <p:nvSpPr>
              <p:cNvPr id="116" name="矩形 115"/>
              <p:cNvSpPr/>
              <p:nvPr/>
            </p:nvSpPr>
            <p:spPr>
              <a:xfrm>
                <a:off x="1556176" y="5324290"/>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117" name="矩形 116"/>
              <p:cNvSpPr/>
              <p:nvPr/>
            </p:nvSpPr>
            <p:spPr>
              <a:xfrm>
                <a:off x="1537284" y="5369269"/>
                <a:ext cx="565428" cy="20200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功率因素</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64" name="组合 63"/>
            <p:cNvGrpSpPr/>
            <p:nvPr/>
          </p:nvGrpSpPr>
          <p:grpSpPr>
            <a:xfrm>
              <a:off x="2668692" y="5324289"/>
              <a:ext cx="615874" cy="276737"/>
              <a:chOff x="2152747" y="5324289"/>
              <a:chExt cx="615874" cy="276737"/>
            </a:xfrm>
          </p:grpSpPr>
          <p:sp>
            <p:nvSpPr>
              <p:cNvPr id="112" name="矩形 111"/>
              <p:cNvSpPr/>
              <p:nvPr/>
            </p:nvSpPr>
            <p:spPr>
              <a:xfrm>
                <a:off x="2194085" y="5324289"/>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113" name="矩形 112"/>
              <p:cNvSpPr/>
              <p:nvPr/>
            </p:nvSpPr>
            <p:spPr>
              <a:xfrm>
                <a:off x="2152747" y="5369269"/>
                <a:ext cx="615874" cy="21544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光通量</a:t>
                </a:r>
                <a:r>
                  <a:rPr kumimoji="0" lang="en-US" altLang="zh-CN" sz="800" b="0" i="0" u="none" strike="noStrike" kern="1200" cap="none" spc="0" normalizeH="0" baseline="0" noProof="0" dirty="0" err="1">
                    <a:ln>
                      <a:noFill/>
                    </a:ln>
                    <a:solidFill>
                      <a:srgbClr val="C00000"/>
                    </a:solidFill>
                    <a:effectLst/>
                    <a:uLnTx/>
                    <a:uFillTx/>
                    <a:latin typeface="微软雅黑" panose="020B0503020204020204" charset="-122"/>
                    <a:ea typeface="微软雅黑" panose="020B0503020204020204" charset="-122"/>
                    <a:cs typeface="+mn-cs"/>
                  </a:rPr>
                  <a:t>lm</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65" name="组合 64"/>
            <p:cNvGrpSpPr/>
            <p:nvPr/>
          </p:nvGrpSpPr>
          <p:grpSpPr>
            <a:xfrm>
              <a:off x="3607962" y="5324286"/>
              <a:ext cx="538204" cy="276737"/>
              <a:chOff x="2831993" y="5324286"/>
              <a:chExt cx="538204" cy="276737"/>
            </a:xfrm>
          </p:grpSpPr>
          <p:sp>
            <p:nvSpPr>
              <p:cNvPr id="108" name="矩形 107"/>
              <p:cNvSpPr/>
              <p:nvPr/>
            </p:nvSpPr>
            <p:spPr>
              <a:xfrm>
                <a:off x="2831993" y="5324286"/>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111" name="矩形 110"/>
              <p:cNvSpPr/>
              <p:nvPr/>
            </p:nvSpPr>
            <p:spPr>
              <a:xfrm>
                <a:off x="2921941" y="5369269"/>
                <a:ext cx="389850" cy="21544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光谱</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66" name="组合 65"/>
            <p:cNvGrpSpPr/>
            <p:nvPr/>
          </p:nvGrpSpPr>
          <p:grpSpPr>
            <a:xfrm>
              <a:off x="4469562" y="5324287"/>
              <a:ext cx="565002" cy="276737"/>
              <a:chOff x="3469902" y="5324287"/>
              <a:chExt cx="565002" cy="276737"/>
            </a:xfrm>
          </p:grpSpPr>
          <p:sp>
            <p:nvSpPr>
              <p:cNvPr id="91" name="矩形 90"/>
              <p:cNvSpPr/>
              <p:nvPr/>
            </p:nvSpPr>
            <p:spPr>
              <a:xfrm>
                <a:off x="3469902" y="5324287"/>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97" name="矩形 96"/>
              <p:cNvSpPr/>
              <p:nvPr/>
            </p:nvSpPr>
            <p:spPr>
              <a:xfrm>
                <a:off x="3476991" y="5369269"/>
                <a:ext cx="557913" cy="20200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显色指数</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67" name="组合 66"/>
            <p:cNvGrpSpPr/>
            <p:nvPr/>
          </p:nvGrpSpPr>
          <p:grpSpPr>
            <a:xfrm>
              <a:off x="5357960" y="5324121"/>
              <a:ext cx="538204" cy="276737"/>
              <a:chOff x="4107810" y="5324121"/>
              <a:chExt cx="538204" cy="276737"/>
            </a:xfrm>
          </p:grpSpPr>
          <p:sp>
            <p:nvSpPr>
              <p:cNvPr id="89" name="矩形 88"/>
              <p:cNvSpPr/>
              <p:nvPr/>
            </p:nvSpPr>
            <p:spPr>
              <a:xfrm>
                <a:off x="4107810" y="5324121"/>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90" name="矩形 89"/>
              <p:cNvSpPr/>
              <p:nvPr/>
            </p:nvSpPr>
            <p:spPr>
              <a:xfrm>
                <a:off x="4132674" y="5369103"/>
                <a:ext cx="461721" cy="20200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光束角</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68" name="组合 67"/>
            <p:cNvGrpSpPr/>
            <p:nvPr/>
          </p:nvGrpSpPr>
          <p:grpSpPr>
            <a:xfrm>
              <a:off x="6219560" y="5324291"/>
              <a:ext cx="562855" cy="276737"/>
              <a:chOff x="4745719" y="5324291"/>
              <a:chExt cx="562855" cy="276737"/>
            </a:xfrm>
          </p:grpSpPr>
          <p:sp>
            <p:nvSpPr>
              <p:cNvPr id="87" name="矩形 86"/>
              <p:cNvSpPr/>
              <p:nvPr/>
            </p:nvSpPr>
            <p:spPr>
              <a:xfrm>
                <a:off x="4745719" y="5324291"/>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88" name="矩形 87"/>
              <p:cNvSpPr/>
              <p:nvPr/>
            </p:nvSpPr>
            <p:spPr>
              <a:xfrm>
                <a:off x="4750661" y="5369273"/>
                <a:ext cx="557913" cy="20200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灯体颜色</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69" name="组合 68"/>
            <p:cNvGrpSpPr/>
            <p:nvPr/>
          </p:nvGrpSpPr>
          <p:grpSpPr>
            <a:xfrm>
              <a:off x="7105811" y="5324121"/>
              <a:ext cx="538204" cy="276737"/>
              <a:chOff x="5383626" y="5324121"/>
              <a:chExt cx="538204" cy="276737"/>
            </a:xfrm>
          </p:grpSpPr>
          <p:sp>
            <p:nvSpPr>
              <p:cNvPr id="85" name="矩形 84"/>
              <p:cNvSpPr/>
              <p:nvPr/>
            </p:nvSpPr>
            <p:spPr>
              <a:xfrm>
                <a:off x="5383626" y="5324121"/>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86" name="矩形 85"/>
              <p:cNvSpPr/>
              <p:nvPr/>
            </p:nvSpPr>
            <p:spPr>
              <a:xfrm>
                <a:off x="5463159" y="5369103"/>
                <a:ext cx="365529" cy="20200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寿命</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70" name="组合 69"/>
            <p:cNvGrpSpPr/>
            <p:nvPr/>
          </p:nvGrpSpPr>
          <p:grpSpPr>
            <a:xfrm>
              <a:off x="10735528" y="5324121"/>
              <a:ext cx="538204" cy="276737"/>
              <a:chOff x="8072279" y="5324121"/>
              <a:chExt cx="538204" cy="276737"/>
            </a:xfrm>
          </p:grpSpPr>
          <p:sp>
            <p:nvSpPr>
              <p:cNvPr id="83" name="矩形 82"/>
              <p:cNvSpPr/>
              <p:nvPr/>
            </p:nvSpPr>
            <p:spPr>
              <a:xfrm>
                <a:off x="8072279" y="5324121"/>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84" name="矩形 83"/>
              <p:cNvSpPr/>
              <p:nvPr/>
            </p:nvSpPr>
            <p:spPr>
              <a:xfrm>
                <a:off x="8151812" y="5369103"/>
                <a:ext cx="389850" cy="21544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尺寸</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71" name="组合 70"/>
            <p:cNvGrpSpPr/>
            <p:nvPr/>
          </p:nvGrpSpPr>
          <p:grpSpPr>
            <a:xfrm>
              <a:off x="7967411" y="5324290"/>
              <a:ext cx="595035" cy="276737"/>
              <a:chOff x="5976223" y="5324290"/>
              <a:chExt cx="595035" cy="276737"/>
            </a:xfrm>
          </p:grpSpPr>
          <p:sp>
            <p:nvSpPr>
              <p:cNvPr id="81" name="矩形 80"/>
              <p:cNvSpPr/>
              <p:nvPr/>
            </p:nvSpPr>
            <p:spPr>
              <a:xfrm>
                <a:off x="5995115" y="5324290"/>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82" name="矩形 81"/>
              <p:cNvSpPr/>
              <p:nvPr/>
            </p:nvSpPr>
            <p:spPr>
              <a:xfrm>
                <a:off x="5976223" y="5369269"/>
                <a:ext cx="595035" cy="21544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蓝光危害</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73" name="组合 72"/>
            <p:cNvGrpSpPr/>
            <p:nvPr/>
          </p:nvGrpSpPr>
          <p:grpSpPr>
            <a:xfrm>
              <a:off x="8885842" y="5324290"/>
              <a:ext cx="595035" cy="276737"/>
              <a:chOff x="6674245" y="5324290"/>
              <a:chExt cx="595035" cy="276737"/>
            </a:xfrm>
          </p:grpSpPr>
          <p:sp>
            <p:nvSpPr>
              <p:cNvPr id="79" name="矩形 78"/>
              <p:cNvSpPr/>
              <p:nvPr/>
            </p:nvSpPr>
            <p:spPr>
              <a:xfrm>
                <a:off x="6693137" y="5324290"/>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80" name="矩形 79"/>
              <p:cNvSpPr/>
              <p:nvPr/>
            </p:nvSpPr>
            <p:spPr>
              <a:xfrm>
                <a:off x="6674245" y="5369269"/>
                <a:ext cx="595035" cy="21544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防护等级</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76" name="组合 75"/>
            <p:cNvGrpSpPr/>
            <p:nvPr/>
          </p:nvGrpSpPr>
          <p:grpSpPr>
            <a:xfrm>
              <a:off x="9804273" y="5324290"/>
              <a:ext cx="607859" cy="276737"/>
              <a:chOff x="7367082" y="5324290"/>
              <a:chExt cx="607859" cy="276737"/>
            </a:xfrm>
          </p:grpSpPr>
          <p:sp>
            <p:nvSpPr>
              <p:cNvPr id="77" name="矩形 76"/>
              <p:cNvSpPr/>
              <p:nvPr/>
            </p:nvSpPr>
            <p:spPr>
              <a:xfrm>
                <a:off x="7385974" y="5324290"/>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78" name="矩形 77"/>
              <p:cNvSpPr/>
              <p:nvPr/>
            </p:nvSpPr>
            <p:spPr>
              <a:xfrm>
                <a:off x="7367082" y="5369269"/>
                <a:ext cx="607859" cy="21544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开孔尺寸</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sp>
        <p:nvSpPr>
          <p:cNvPr id="120" name="矩形 119"/>
          <p:cNvSpPr/>
          <p:nvPr/>
        </p:nvSpPr>
        <p:spPr>
          <a:xfrm>
            <a:off x="9607736" y="5775191"/>
            <a:ext cx="1224010" cy="24622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570</a:t>
            </a:r>
            <a:r>
              <a:rPr kumimoji="0" lang="el-GR"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a:t>
            </a: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570mm </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pic>
        <p:nvPicPr>
          <p:cNvPr id="3" name="图片 2"/>
          <p:cNvPicPr>
            <a:picLocks noChangeAspect="1"/>
          </p:cNvPicPr>
          <p:nvPr/>
        </p:nvPicPr>
        <p:blipFill rotWithShape="1">
          <a:blip r:embed="rId7" cstate="print">
            <a:extLst>
              <a:ext uri="{28A0092B-C50C-407E-A947-70E740481C1C}">
                <a14:useLocalDpi xmlns:a14="http://schemas.microsoft.com/office/drawing/2010/main" val="0"/>
              </a:ext>
            </a:extLst>
          </a:blip>
          <a:srcRect l="21910" t="23195" r="6627" b="17778"/>
          <a:stretch>
            <a:fillRect/>
          </a:stretch>
        </p:blipFill>
        <p:spPr>
          <a:xfrm>
            <a:off x="172521" y="1346070"/>
            <a:ext cx="4114800" cy="1911843"/>
          </a:xfrm>
          <a:prstGeom prst="rect">
            <a:avLst/>
          </a:prstGeom>
        </p:spPr>
      </p:pic>
      <p:grpSp>
        <p:nvGrpSpPr>
          <p:cNvPr id="11" name="组合 10"/>
          <p:cNvGrpSpPr/>
          <p:nvPr/>
        </p:nvGrpSpPr>
        <p:grpSpPr>
          <a:xfrm>
            <a:off x="405437" y="3734067"/>
            <a:ext cx="1379996" cy="935390"/>
            <a:chOff x="3745148" y="1046481"/>
            <a:chExt cx="6585625" cy="4463876"/>
          </a:xfrm>
        </p:grpSpPr>
        <p:sp>
          <p:nvSpPr>
            <p:cNvPr id="12" name="矩形 11"/>
            <p:cNvSpPr/>
            <p:nvPr/>
          </p:nvSpPr>
          <p:spPr>
            <a:xfrm>
              <a:off x="3745148" y="1215957"/>
              <a:ext cx="6585625" cy="4280171"/>
            </a:xfrm>
            <a:prstGeom prst="rect">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3" name="矩形 12"/>
            <p:cNvSpPr/>
            <p:nvPr/>
          </p:nvSpPr>
          <p:spPr>
            <a:xfrm>
              <a:off x="3745149" y="1215957"/>
              <a:ext cx="6585624" cy="145915"/>
            </a:xfrm>
            <a:prstGeom prst="rect">
              <a:avLst/>
            </a:prstGeom>
            <a:solidFill>
              <a:schemeClr val="accent3">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4" name="矩形 13"/>
            <p:cNvSpPr/>
            <p:nvPr/>
          </p:nvSpPr>
          <p:spPr>
            <a:xfrm>
              <a:off x="4503906" y="1046481"/>
              <a:ext cx="1592094" cy="315392"/>
            </a:xfrm>
            <a:prstGeom prst="rect">
              <a:avLst/>
            </a:prstGeom>
            <a:solidFill>
              <a:schemeClr val="bg2">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cxnSp>
          <p:nvCxnSpPr>
            <p:cNvPr id="16" name="直接连接符 15"/>
            <p:cNvCxnSpPr/>
            <p:nvPr/>
          </p:nvCxnSpPr>
          <p:spPr>
            <a:xfrm flipH="1">
              <a:off x="3745149" y="1361872"/>
              <a:ext cx="758757" cy="466928"/>
            </a:xfrm>
            <a:prstGeom prst="line">
              <a:avLst/>
            </a:prstGeom>
            <a:ln w="19050">
              <a:prstDash val="dash"/>
            </a:ln>
          </p:spPr>
          <p:style>
            <a:lnRef idx="1">
              <a:schemeClr val="accent2"/>
            </a:lnRef>
            <a:fillRef idx="0">
              <a:schemeClr val="accent2"/>
            </a:fillRef>
            <a:effectRef idx="0">
              <a:schemeClr val="accent2"/>
            </a:effectRef>
            <a:fontRef idx="minor">
              <a:schemeClr val="tx1"/>
            </a:fontRef>
          </p:style>
        </p:cxnSp>
        <p:cxnSp>
          <p:nvCxnSpPr>
            <p:cNvPr id="18" name="直接连接符 17"/>
            <p:cNvCxnSpPr/>
            <p:nvPr/>
          </p:nvCxnSpPr>
          <p:spPr>
            <a:xfrm>
              <a:off x="6096000" y="1361872"/>
              <a:ext cx="4234773" cy="2742978"/>
            </a:xfrm>
            <a:prstGeom prst="line">
              <a:avLst/>
            </a:prstGeom>
            <a:ln w="19050">
              <a:prstDash val="dash"/>
            </a:ln>
          </p:spPr>
          <p:style>
            <a:lnRef idx="1">
              <a:schemeClr val="accent2"/>
            </a:lnRef>
            <a:fillRef idx="0">
              <a:schemeClr val="accent2"/>
            </a:fillRef>
            <a:effectRef idx="0">
              <a:schemeClr val="accent2"/>
            </a:effectRef>
            <a:fontRef idx="minor">
              <a:schemeClr val="tx1"/>
            </a:fontRef>
          </p:style>
        </p:cxnSp>
        <p:cxnSp>
          <p:nvCxnSpPr>
            <p:cNvPr id="20" name="直接连接符 19"/>
            <p:cNvCxnSpPr/>
            <p:nvPr/>
          </p:nvCxnSpPr>
          <p:spPr>
            <a:xfrm flipH="1">
              <a:off x="3745149" y="1361872"/>
              <a:ext cx="758757" cy="1575881"/>
            </a:xfrm>
            <a:prstGeom prst="line">
              <a:avLst/>
            </a:prstGeom>
            <a:ln>
              <a:solidFill>
                <a:schemeClr val="tx1"/>
              </a:solidFill>
            </a:ln>
          </p:spPr>
          <p:style>
            <a:lnRef idx="2">
              <a:schemeClr val="accent4"/>
            </a:lnRef>
            <a:fillRef idx="0">
              <a:schemeClr val="accent4"/>
            </a:fillRef>
            <a:effectRef idx="1">
              <a:schemeClr val="accent4"/>
            </a:effectRef>
            <a:fontRef idx="minor">
              <a:schemeClr val="tx1"/>
            </a:fontRef>
          </p:style>
        </p:cxnSp>
        <p:cxnSp>
          <p:nvCxnSpPr>
            <p:cNvPr id="29" name="直接连接符 28"/>
            <p:cNvCxnSpPr/>
            <p:nvPr/>
          </p:nvCxnSpPr>
          <p:spPr>
            <a:xfrm>
              <a:off x="6096000" y="1361872"/>
              <a:ext cx="1990567" cy="4134256"/>
            </a:xfrm>
            <a:prstGeom prst="line">
              <a:avLst/>
            </a:prstGeom>
            <a:ln>
              <a:solidFill>
                <a:schemeClr val="tx1"/>
              </a:solidFill>
            </a:ln>
          </p:spPr>
          <p:style>
            <a:lnRef idx="2">
              <a:schemeClr val="accent4"/>
            </a:lnRef>
            <a:fillRef idx="0">
              <a:schemeClr val="accent4"/>
            </a:fillRef>
            <a:effectRef idx="1">
              <a:schemeClr val="accent4"/>
            </a:effectRef>
            <a:fontRef idx="minor">
              <a:schemeClr val="tx1"/>
            </a:fontRef>
          </p:style>
        </p:cxnSp>
        <p:sp>
          <p:nvSpPr>
            <p:cNvPr id="30" name="任意多边形: 形状 29"/>
            <p:cNvSpPr/>
            <p:nvPr/>
          </p:nvSpPr>
          <p:spPr>
            <a:xfrm>
              <a:off x="3749040" y="1351280"/>
              <a:ext cx="4348480" cy="4145280"/>
            </a:xfrm>
            <a:custGeom>
              <a:avLst/>
              <a:gdLst>
                <a:gd name="connsiteX0" fmla="*/ 772160 w 4348480"/>
                <a:gd name="connsiteY0" fmla="*/ 0 h 4145280"/>
                <a:gd name="connsiteX1" fmla="*/ 10160 w 4348480"/>
                <a:gd name="connsiteY1" fmla="*/ 1574800 h 4145280"/>
                <a:gd name="connsiteX2" fmla="*/ 0 w 4348480"/>
                <a:gd name="connsiteY2" fmla="*/ 4145280 h 4145280"/>
                <a:gd name="connsiteX3" fmla="*/ 4348480 w 4348480"/>
                <a:gd name="connsiteY3" fmla="*/ 4145280 h 4145280"/>
                <a:gd name="connsiteX4" fmla="*/ 2336800 w 4348480"/>
                <a:gd name="connsiteY4" fmla="*/ 0 h 4145280"/>
                <a:gd name="connsiteX5" fmla="*/ 772160 w 4348480"/>
                <a:gd name="connsiteY5" fmla="*/ 0 h 414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48480" h="4145280">
                  <a:moveTo>
                    <a:pt x="772160" y="0"/>
                  </a:moveTo>
                  <a:lnTo>
                    <a:pt x="10160" y="1574800"/>
                  </a:lnTo>
                  <a:cubicBezTo>
                    <a:pt x="6773" y="2431627"/>
                    <a:pt x="3387" y="3288453"/>
                    <a:pt x="0" y="4145280"/>
                  </a:cubicBezTo>
                  <a:lnTo>
                    <a:pt x="4348480" y="4145280"/>
                  </a:lnTo>
                  <a:lnTo>
                    <a:pt x="2336800" y="0"/>
                  </a:lnTo>
                  <a:lnTo>
                    <a:pt x="772160" y="0"/>
                  </a:lnTo>
                  <a:close/>
                </a:path>
              </a:pathLst>
            </a:cu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nvGrpSpPr>
            <p:cNvPr id="31" name="组合 30"/>
            <p:cNvGrpSpPr/>
            <p:nvPr/>
          </p:nvGrpSpPr>
          <p:grpSpPr>
            <a:xfrm>
              <a:off x="7050642" y="2503415"/>
              <a:ext cx="587831" cy="2827857"/>
              <a:chOff x="7050642" y="2985203"/>
              <a:chExt cx="487681" cy="2346069"/>
            </a:xfrm>
          </p:grpSpPr>
          <p:sp>
            <p:nvSpPr>
              <p:cNvPr id="33" name="椭圆 32"/>
              <p:cNvSpPr/>
              <p:nvPr/>
            </p:nvSpPr>
            <p:spPr>
              <a:xfrm>
                <a:off x="7091283" y="2985203"/>
                <a:ext cx="370840" cy="370840"/>
              </a:xfrm>
              <a:prstGeom prst="ellipse">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nvGrpSpPr>
              <p:cNvPr id="35" name="组合 34"/>
              <p:cNvGrpSpPr/>
              <p:nvPr/>
            </p:nvGrpSpPr>
            <p:grpSpPr>
              <a:xfrm>
                <a:off x="7050642" y="3434080"/>
                <a:ext cx="487681" cy="1038860"/>
                <a:chOff x="7050642" y="3434080"/>
                <a:chExt cx="487681" cy="1038860"/>
              </a:xfrm>
            </p:grpSpPr>
            <p:sp>
              <p:nvSpPr>
                <p:cNvPr id="40" name="椭圆 39"/>
                <p:cNvSpPr/>
                <p:nvPr/>
              </p:nvSpPr>
              <p:spPr>
                <a:xfrm>
                  <a:off x="7050643" y="3434080"/>
                  <a:ext cx="487680" cy="487680"/>
                </a:xfrm>
                <a:prstGeom prst="ellipse">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1" name="矩形 40"/>
                <p:cNvSpPr/>
                <p:nvPr/>
              </p:nvSpPr>
              <p:spPr>
                <a:xfrm>
                  <a:off x="7050642" y="3677920"/>
                  <a:ext cx="487681" cy="795020"/>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sp>
            <p:nvSpPr>
              <p:cNvPr id="38" name="任意多边形: 形状 37"/>
              <p:cNvSpPr/>
              <p:nvPr/>
            </p:nvSpPr>
            <p:spPr>
              <a:xfrm>
                <a:off x="7168751" y="4537062"/>
                <a:ext cx="251461" cy="794210"/>
              </a:xfrm>
              <a:custGeom>
                <a:avLst/>
                <a:gdLst>
                  <a:gd name="connsiteX0" fmla="*/ 0 w 251461"/>
                  <a:gd name="connsiteY0" fmla="*/ 0 h 794210"/>
                  <a:gd name="connsiteX1" fmla="*/ 251461 w 251461"/>
                  <a:gd name="connsiteY1" fmla="*/ 0 h 794210"/>
                  <a:gd name="connsiteX2" fmla="*/ 251461 w 251461"/>
                  <a:gd name="connsiteY2" fmla="*/ 264014 h 794210"/>
                  <a:gd name="connsiteX3" fmla="*/ 251461 w 251461"/>
                  <a:gd name="connsiteY3" fmla="*/ 794210 h 794210"/>
                  <a:gd name="connsiteX4" fmla="*/ 207038 w 251461"/>
                  <a:gd name="connsiteY4" fmla="*/ 789618 h 794210"/>
                  <a:gd name="connsiteX5" fmla="*/ 5267 w 251461"/>
                  <a:gd name="connsiteY5" fmla="*/ 582702 h 794210"/>
                  <a:gd name="connsiteX6" fmla="*/ 0 w 251461"/>
                  <a:gd name="connsiteY6" fmla="*/ 529122 h 794210"/>
                  <a:gd name="connsiteX7" fmla="*/ 0 w 251461"/>
                  <a:gd name="connsiteY7" fmla="*/ 529102 h 794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461" h="794210">
                    <a:moveTo>
                      <a:pt x="0" y="0"/>
                    </a:moveTo>
                    <a:lnTo>
                      <a:pt x="251461" y="0"/>
                    </a:lnTo>
                    <a:lnTo>
                      <a:pt x="251461" y="264014"/>
                    </a:lnTo>
                    <a:lnTo>
                      <a:pt x="251461" y="794210"/>
                    </a:lnTo>
                    <a:lnTo>
                      <a:pt x="207038" y="789618"/>
                    </a:lnTo>
                    <a:cubicBezTo>
                      <a:pt x="105761" y="768365"/>
                      <a:pt x="25992" y="686562"/>
                      <a:pt x="5267" y="582702"/>
                    </a:cubicBezTo>
                    <a:lnTo>
                      <a:pt x="0" y="529122"/>
                    </a:lnTo>
                    <a:lnTo>
                      <a:pt x="0" y="529102"/>
                    </a:lnTo>
                    <a:close/>
                  </a:path>
                </a:pathLst>
              </a:cu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sp>
          <p:nvSpPr>
            <p:cNvPr id="32" name="矩形 31"/>
            <p:cNvSpPr/>
            <p:nvPr/>
          </p:nvSpPr>
          <p:spPr>
            <a:xfrm>
              <a:off x="3745149" y="5364442"/>
              <a:ext cx="6585624" cy="145915"/>
            </a:xfrm>
            <a:prstGeom prst="rect">
              <a:avLst/>
            </a:prstGeom>
            <a:solidFill>
              <a:schemeClr val="accent3">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pic>
        <p:nvPicPr>
          <p:cNvPr id="43" name="图片 42"/>
          <p:cNvPicPr>
            <a:picLocks noChangeAspect="1"/>
          </p:cNvPicPr>
          <p:nvPr/>
        </p:nvPicPr>
        <p:blipFill>
          <a:blip r:embed="rId8"/>
          <a:srcRect l="5443" t="3948" r="3494" b="4435"/>
          <a:stretch>
            <a:fillRect/>
          </a:stretch>
        </p:blipFill>
        <p:spPr>
          <a:xfrm>
            <a:off x="1829881" y="3767605"/>
            <a:ext cx="2473433" cy="904214"/>
          </a:xfrm>
          <a:prstGeom prst="rect">
            <a:avLst/>
          </a:prstGeom>
        </p:spPr>
      </p:pic>
      <p:sp>
        <p:nvSpPr>
          <p:cNvPr id="49" name="矩形 48"/>
          <p:cNvSpPr/>
          <p:nvPr/>
        </p:nvSpPr>
        <p:spPr>
          <a:xfrm>
            <a:off x="4593533" y="4827205"/>
            <a:ext cx="3595544" cy="304022"/>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white"/>
                </a:solidFill>
                <a:effectLst/>
                <a:uLnTx/>
                <a:uFillTx/>
                <a:latin typeface="微软雅黑 Light" panose="020B0502040204020203" charset="-122"/>
                <a:ea typeface="微软雅黑 Light" panose="020B0502040204020203" charset="-122"/>
                <a:cs typeface="+mn-cs"/>
              </a:rPr>
              <a:t>结论来源</a:t>
            </a:r>
            <a:r>
              <a:rPr kumimoji="0" lang="en-US" altLang="zh-CN" sz="800" b="0" i="0" u="none" strike="noStrike" kern="1200" cap="none" spc="0" normalizeH="0" baseline="0" noProof="0" dirty="0">
                <a:ln>
                  <a:noFill/>
                </a:ln>
                <a:solidFill>
                  <a:prstClr val="white"/>
                </a:solidFill>
                <a:effectLst/>
                <a:uLnTx/>
                <a:uFillTx/>
                <a:latin typeface="微软雅黑 Light" panose="020B0502040204020203" charset="-122"/>
                <a:ea typeface="微软雅黑 Light" panose="020B0502040204020203" charset="-122"/>
                <a:cs typeface="+mn-cs"/>
              </a:rPr>
              <a:t>:</a:t>
            </a:r>
            <a:r>
              <a:rPr kumimoji="0" lang="zh-CN" altLang="en-US" sz="800" b="0" i="0" u="none" strike="noStrike" kern="1200" cap="none" spc="0" normalizeH="0" baseline="0" noProof="0" dirty="0">
                <a:ln>
                  <a:noFill/>
                </a:ln>
                <a:solidFill>
                  <a:prstClr val="white"/>
                </a:solidFill>
                <a:effectLst/>
                <a:uLnTx/>
                <a:uFillTx/>
                <a:latin typeface="微软雅黑 Light" panose="020B0502040204020203" charset="-122"/>
                <a:ea typeface="微软雅黑 Light" panose="020B0502040204020203" charset="-122"/>
                <a:cs typeface="+mn-cs"/>
              </a:rPr>
              <a:t>浙江大学与欧普照明联合发表论文</a:t>
            </a:r>
            <a:endParaRPr kumimoji="0" lang="en-US" sz="800" b="0" i="0" u="none" strike="noStrike" kern="1200" cap="none" spc="0" normalizeH="0" baseline="0" noProof="0" dirty="0">
              <a:ln>
                <a:noFill/>
              </a:ln>
              <a:solidFill>
                <a:prstClr val="white"/>
              </a:solidFill>
              <a:effectLst/>
              <a:uLnTx/>
              <a:uFillTx/>
              <a:latin typeface="微软雅黑 Light" panose="020B0502040204020203" charset="-122"/>
              <a:ea typeface="微软雅黑 Light" panose="020B0502040204020203" charset="-122"/>
              <a:cs typeface="+mn-cs"/>
            </a:endParaRPr>
          </a:p>
        </p:txBody>
      </p:sp>
      <p:grpSp>
        <p:nvGrpSpPr>
          <p:cNvPr id="75" name="组合 74"/>
          <p:cNvGrpSpPr/>
          <p:nvPr/>
        </p:nvGrpSpPr>
        <p:grpSpPr>
          <a:xfrm>
            <a:off x="4648642" y="345560"/>
            <a:ext cx="3595544" cy="3023787"/>
            <a:chOff x="4631949" y="1150070"/>
            <a:chExt cx="3711469" cy="3121278"/>
          </a:xfrm>
        </p:grpSpPr>
        <p:grpSp>
          <p:nvGrpSpPr>
            <p:cNvPr id="54" name="组合 53"/>
            <p:cNvGrpSpPr/>
            <p:nvPr/>
          </p:nvGrpSpPr>
          <p:grpSpPr>
            <a:xfrm>
              <a:off x="4631949" y="1150070"/>
              <a:ext cx="3711469" cy="3121278"/>
              <a:chOff x="4631949" y="1150070"/>
              <a:chExt cx="3711469" cy="3121278"/>
            </a:xfrm>
          </p:grpSpPr>
          <p:pic>
            <p:nvPicPr>
              <p:cNvPr id="47" name="图片 46"/>
              <p:cNvPicPr>
                <a:picLocks noChangeAspect="1"/>
              </p:cNvPicPr>
              <p:nvPr/>
            </p:nvPicPr>
            <p:blipFill>
              <a:blip r:embed="rId9"/>
              <a:stretch>
                <a:fillRect/>
              </a:stretch>
            </p:blipFill>
            <p:spPr>
              <a:xfrm>
                <a:off x="4631949" y="1273287"/>
                <a:ext cx="3711469" cy="2998061"/>
              </a:xfrm>
              <a:prstGeom prst="rect">
                <a:avLst/>
              </a:prstGeom>
            </p:spPr>
          </p:pic>
          <p:sp>
            <p:nvSpPr>
              <p:cNvPr id="50" name="矩形 49"/>
              <p:cNvSpPr/>
              <p:nvPr/>
            </p:nvSpPr>
            <p:spPr>
              <a:xfrm>
                <a:off x="5357960" y="1150070"/>
                <a:ext cx="976852" cy="4430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1" name="矩形 50"/>
              <p:cNvSpPr/>
              <p:nvPr/>
            </p:nvSpPr>
            <p:spPr>
              <a:xfrm>
                <a:off x="7105811" y="1150070"/>
                <a:ext cx="976852" cy="4430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sp>
          <p:nvSpPr>
            <p:cNvPr id="55" name="文本框 54"/>
            <p:cNvSpPr txBox="1"/>
            <p:nvPr/>
          </p:nvSpPr>
          <p:spPr>
            <a:xfrm>
              <a:off x="5318433" y="1291210"/>
              <a:ext cx="1127989" cy="34181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prstClr val="black">
                      <a:lumMod val="50000"/>
                      <a:lumOff val="50000"/>
                    </a:prstClr>
                  </a:solidFill>
                  <a:effectLst/>
                  <a:uLnTx/>
                  <a:uFillTx/>
                  <a:latin typeface="微软雅黑" panose="020B0503020204020204" charset="-122"/>
                  <a:ea typeface="微软雅黑" panose="020B0503020204020204" charset="-122"/>
                  <a:cs typeface="+mn-cs"/>
                </a:rPr>
                <a:t>欧普清澈光</a:t>
              </a:r>
              <a:endParaRPr kumimoji="0" lang="en-US" sz="900" b="0" i="0" u="none" strike="noStrike" kern="1200" cap="none" spc="0" normalizeH="0" baseline="0" noProof="0" dirty="0">
                <a:ln>
                  <a:noFill/>
                </a:ln>
                <a:solidFill>
                  <a:prstClr val="black">
                    <a:lumMod val="50000"/>
                    <a:lumOff val="50000"/>
                  </a:prstClr>
                </a:solidFill>
                <a:effectLst/>
                <a:uLnTx/>
                <a:uFillTx/>
                <a:latin typeface="微软雅黑" panose="020B0503020204020204" charset="-122"/>
                <a:ea typeface="微软雅黑" panose="020B0503020204020204" charset="-122"/>
                <a:cs typeface="+mn-cs"/>
              </a:endParaRPr>
            </a:p>
          </p:txBody>
        </p:sp>
        <p:sp>
          <p:nvSpPr>
            <p:cNvPr id="74" name="文本框 73"/>
            <p:cNvSpPr txBox="1"/>
            <p:nvPr/>
          </p:nvSpPr>
          <p:spPr>
            <a:xfrm>
              <a:off x="7062399" y="1291210"/>
              <a:ext cx="786175" cy="34181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prstClr val="black">
                      <a:lumMod val="50000"/>
                      <a:lumOff val="50000"/>
                    </a:prstClr>
                  </a:solidFill>
                  <a:effectLst/>
                  <a:uLnTx/>
                  <a:uFillTx/>
                  <a:latin typeface="微软雅黑" panose="020B0503020204020204" charset="-122"/>
                  <a:ea typeface="微软雅黑" panose="020B0503020204020204" charset="-122"/>
                  <a:cs typeface="+mn-cs"/>
                </a:rPr>
                <a:t>普通光</a:t>
              </a:r>
              <a:endParaRPr kumimoji="0" lang="en-US" sz="900" b="0" i="0" u="none" strike="noStrike" kern="1200" cap="none" spc="0" normalizeH="0" baseline="0" noProof="0" dirty="0">
                <a:ln>
                  <a:noFill/>
                </a:ln>
                <a:solidFill>
                  <a:prstClr val="black">
                    <a:lumMod val="50000"/>
                    <a:lumOff val="50000"/>
                  </a:prstClr>
                </a:solidFill>
                <a:effectLst/>
                <a:uLnTx/>
                <a:uFillTx/>
                <a:latin typeface="微软雅黑" panose="020B0503020204020204" charset="-122"/>
                <a:ea typeface="微软雅黑" panose="020B0503020204020204" charset="-122"/>
                <a:cs typeface="+mn-cs"/>
              </a:endParaRPr>
            </a:p>
          </p:txBody>
        </p:sp>
      </p:grpSp>
      <p:pic>
        <p:nvPicPr>
          <p:cNvPr id="95" name="图片 94"/>
          <p:cNvPicPr>
            <a:picLocks noChangeAspect="1"/>
          </p:cNvPicPr>
          <p:nvPr/>
        </p:nvPicPr>
        <p:blipFill>
          <a:blip r:embed="rId10">
            <a:extLst>
              <a:ext uri="{BEBA8EAE-BF5A-486C-A8C5-ECC9F3942E4B}">
                <a14:imgProps xmlns:a14="http://schemas.microsoft.com/office/drawing/2010/main">
                  <a14:imgLayer r:embed="rId11">
                    <a14:imgEffect>
                      <a14:sharpenSoften amount="50000"/>
                    </a14:imgEffect>
                  </a14:imgLayer>
                </a14:imgProps>
              </a:ext>
            </a:extLst>
          </a:blip>
          <a:stretch>
            <a:fillRect/>
          </a:stretch>
        </p:blipFill>
        <p:spPr>
          <a:xfrm>
            <a:off x="4593533" y="3439679"/>
            <a:ext cx="3650653" cy="134254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506450" y="431771"/>
            <a:ext cx="2616819" cy="5386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医院照明产品介绍</a:t>
            </a:r>
            <a:endParaRPr kumimoji="0" lang="en-US" altLang="zh-CN" sz="1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a:p>
            <a:pPr marL="0" marR="0" lvl="0" indent="0" algn="l" defTabSz="914400" rtl="0" eaLnBrk="1" fontAlgn="base" latinLnBrk="0" hangingPunct="1">
              <a:lnSpc>
                <a:spcPct val="100000"/>
              </a:lnSpc>
              <a:spcBef>
                <a:spcPts val="0"/>
              </a:spcBef>
              <a:spcAft>
                <a:spcPts val="0"/>
              </a:spcAft>
              <a:buClrTx/>
              <a:buSzTx/>
              <a:buFontTx/>
              <a:buNone/>
              <a:defRPr/>
            </a:pPr>
            <a:r>
              <a:rPr kumimoji="0" lang="en-US" altLang="zh-CN" sz="7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Introduction to Convenience Store Lighting Products</a:t>
            </a:r>
            <a:b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charset="-122"/>
                <a:cs typeface="+mn-cs"/>
              </a:rPr>
            </a:br>
            <a:endParaRPr kumimoji="0" lang="zh-CN" altLang="en-US" sz="6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nvGrpSpPr>
          <p:cNvPr id="4" name="组合 3"/>
          <p:cNvGrpSpPr/>
          <p:nvPr/>
        </p:nvGrpSpPr>
        <p:grpSpPr>
          <a:xfrm>
            <a:off x="414776" y="781453"/>
            <a:ext cx="1041696" cy="225944"/>
            <a:chOff x="910401" y="1095391"/>
            <a:chExt cx="1041696" cy="225944"/>
          </a:xfrm>
        </p:grpSpPr>
        <p:grpSp>
          <p:nvGrpSpPr>
            <p:cNvPr id="8" name="组合 7"/>
            <p:cNvGrpSpPr/>
            <p:nvPr/>
          </p:nvGrpSpPr>
          <p:grpSpPr>
            <a:xfrm>
              <a:off x="910401" y="1101092"/>
              <a:ext cx="1041696" cy="220243"/>
              <a:chOff x="2774711" y="2691633"/>
              <a:chExt cx="1685529" cy="356367"/>
            </a:xfrm>
          </p:grpSpPr>
          <p:sp>
            <p:nvSpPr>
              <p:cNvPr id="7" name="等腰三角形 6"/>
              <p:cNvSpPr/>
              <p:nvPr/>
            </p:nvSpPr>
            <p:spPr>
              <a:xfrm>
                <a:off x="2774711" y="2691633"/>
                <a:ext cx="472894" cy="355983"/>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5" name="箭头: V 形 4"/>
              <p:cNvSpPr/>
              <p:nvPr/>
            </p:nvSpPr>
            <p:spPr>
              <a:xfrm rot="10800000">
                <a:off x="3891280" y="2692400"/>
                <a:ext cx="568960" cy="355600"/>
              </a:xfrm>
              <a:prstGeom prst="chevron">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charset="-122"/>
                  <a:cs typeface="+mn-cs"/>
                </a:endParaRPr>
              </a:p>
            </p:txBody>
          </p:sp>
          <p:sp>
            <p:nvSpPr>
              <p:cNvPr id="6" name="矩形 5"/>
              <p:cNvSpPr/>
              <p:nvPr/>
            </p:nvSpPr>
            <p:spPr>
              <a:xfrm>
                <a:off x="3015946" y="2692017"/>
                <a:ext cx="1259840" cy="3556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grpSp>
        <p:sp>
          <p:nvSpPr>
            <p:cNvPr id="37" name="矩形 36"/>
            <p:cNvSpPr/>
            <p:nvPr/>
          </p:nvSpPr>
          <p:spPr>
            <a:xfrm>
              <a:off x="1140473" y="1095391"/>
              <a:ext cx="595035" cy="21544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床头壁灯</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61" name="组合 60"/>
          <p:cNvGrpSpPr/>
          <p:nvPr/>
        </p:nvGrpSpPr>
        <p:grpSpPr>
          <a:xfrm>
            <a:off x="918268" y="5324121"/>
            <a:ext cx="10355464" cy="276907"/>
            <a:chOff x="918268" y="5324121"/>
            <a:chExt cx="10355464" cy="276907"/>
          </a:xfrm>
        </p:grpSpPr>
        <p:grpSp>
          <p:nvGrpSpPr>
            <p:cNvPr id="62" name="组合 61"/>
            <p:cNvGrpSpPr/>
            <p:nvPr/>
          </p:nvGrpSpPr>
          <p:grpSpPr>
            <a:xfrm>
              <a:off x="918268" y="5324291"/>
              <a:ext cx="538204" cy="276737"/>
              <a:chOff x="918268" y="5324291"/>
              <a:chExt cx="538204" cy="276737"/>
            </a:xfrm>
          </p:grpSpPr>
          <p:sp>
            <p:nvSpPr>
              <p:cNvPr id="118" name="矩形 117"/>
              <p:cNvSpPr/>
              <p:nvPr/>
            </p:nvSpPr>
            <p:spPr>
              <a:xfrm>
                <a:off x="918268" y="5324291"/>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119" name="矩形 118"/>
              <p:cNvSpPr/>
              <p:nvPr/>
            </p:nvSpPr>
            <p:spPr>
              <a:xfrm>
                <a:off x="1004605" y="5369269"/>
                <a:ext cx="365529" cy="20200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功率</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63" name="组合 62"/>
            <p:cNvGrpSpPr/>
            <p:nvPr/>
          </p:nvGrpSpPr>
          <p:grpSpPr>
            <a:xfrm>
              <a:off x="1779868" y="5324290"/>
              <a:ext cx="565428" cy="276737"/>
              <a:chOff x="1537284" y="5324290"/>
              <a:chExt cx="565428" cy="276737"/>
            </a:xfrm>
          </p:grpSpPr>
          <p:sp>
            <p:nvSpPr>
              <p:cNvPr id="116" name="矩形 115"/>
              <p:cNvSpPr/>
              <p:nvPr/>
            </p:nvSpPr>
            <p:spPr>
              <a:xfrm>
                <a:off x="1556176" y="5324290"/>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117" name="矩形 116"/>
              <p:cNvSpPr/>
              <p:nvPr/>
            </p:nvSpPr>
            <p:spPr>
              <a:xfrm>
                <a:off x="1537284" y="5369269"/>
                <a:ext cx="565428" cy="20200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功率因素</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64" name="组合 63"/>
            <p:cNvGrpSpPr/>
            <p:nvPr/>
          </p:nvGrpSpPr>
          <p:grpSpPr>
            <a:xfrm>
              <a:off x="2668692" y="5324289"/>
              <a:ext cx="615874" cy="276737"/>
              <a:chOff x="2152747" y="5324289"/>
              <a:chExt cx="615874" cy="276737"/>
            </a:xfrm>
          </p:grpSpPr>
          <p:sp>
            <p:nvSpPr>
              <p:cNvPr id="112" name="矩形 111"/>
              <p:cNvSpPr/>
              <p:nvPr/>
            </p:nvSpPr>
            <p:spPr>
              <a:xfrm>
                <a:off x="2194085" y="5324289"/>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113" name="矩形 112"/>
              <p:cNvSpPr/>
              <p:nvPr/>
            </p:nvSpPr>
            <p:spPr>
              <a:xfrm>
                <a:off x="2152747" y="5369269"/>
                <a:ext cx="615874" cy="21544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光通量</a:t>
                </a:r>
                <a:r>
                  <a:rPr kumimoji="0" lang="en-US" altLang="zh-CN" sz="800" b="0" i="0" u="none" strike="noStrike" kern="1200" cap="none" spc="0" normalizeH="0" baseline="0" noProof="0" dirty="0" err="1">
                    <a:ln>
                      <a:noFill/>
                    </a:ln>
                    <a:solidFill>
                      <a:srgbClr val="C00000"/>
                    </a:solidFill>
                    <a:effectLst/>
                    <a:uLnTx/>
                    <a:uFillTx/>
                    <a:latin typeface="微软雅黑" panose="020B0503020204020204" charset="-122"/>
                    <a:ea typeface="微软雅黑" panose="020B0503020204020204" charset="-122"/>
                    <a:cs typeface="+mn-cs"/>
                  </a:rPr>
                  <a:t>lm</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65" name="组合 64"/>
            <p:cNvGrpSpPr/>
            <p:nvPr/>
          </p:nvGrpSpPr>
          <p:grpSpPr>
            <a:xfrm>
              <a:off x="3607962" y="5324286"/>
              <a:ext cx="538204" cy="276737"/>
              <a:chOff x="2831993" y="5324286"/>
              <a:chExt cx="538204" cy="276737"/>
            </a:xfrm>
          </p:grpSpPr>
          <p:sp>
            <p:nvSpPr>
              <p:cNvPr id="108" name="矩形 107"/>
              <p:cNvSpPr/>
              <p:nvPr/>
            </p:nvSpPr>
            <p:spPr>
              <a:xfrm>
                <a:off x="2831993" y="5324286"/>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111" name="矩形 110"/>
              <p:cNvSpPr/>
              <p:nvPr/>
            </p:nvSpPr>
            <p:spPr>
              <a:xfrm>
                <a:off x="2921941" y="5369269"/>
                <a:ext cx="389850" cy="21544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色温</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66" name="组合 65"/>
            <p:cNvGrpSpPr/>
            <p:nvPr/>
          </p:nvGrpSpPr>
          <p:grpSpPr>
            <a:xfrm>
              <a:off x="4469562" y="5324287"/>
              <a:ext cx="565002" cy="276737"/>
              <a:chOff x="3469902" y="5324287"/>
              <a:chExt cx="565002" cy="276737"/>
            </a:xfrm>
          </p:grpSpPr>
          <p:sp>
            <p:nvSpPr>
              <p:cNvPr id="91" name="矩形 90"/>
              <p:cNvSpPr/>
              <p:nvPr/>
            </p:nvSpPr>
            <p:spPr>
              <a:xfrm>
                <a:off x="3469902" y="5324287"/>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97" name="矩形 96"/>
              <p:cNvSpPr/>
              <p:nvPr/>
            </p:nvSpPr>
            <p:spPr>
              <a:xfrm>
                <a:off x="3476991" y="5369269"/>
                <a:ext cx="557913" cy="20200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显色指数</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67" name="组合 66"/>
            <p:cNvGrpSpPr/>
            <p:nvPr/>
          </p:nvGrpSpPr>
          <p:grpSpPr>
            <a:xfrm>
              <a:off x="5357960" y="5324121"/>
              <a:ext cx="538204" cy="276737"/>
              <a:chOff x="4107810" y="5324121"/>
              <a:chExt cx="538204" cy="276737"/>
            </a:xfrm>
          </p:grpSpPr>
          <p:sp>
            <p:nvSpPr>
              <p:cNvPr id="89" name="矩形 88"/>
              <p:cNvSpPr/>
              <p:nvPr/>
            </p:nvSpPr>
            <p:spPr>
              <a:xfrm>
                <a:off x="4107810" y="5324121"/>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90" name="矩形 89"/>
              <p:cNvSpPr/>
              <p:nvPr/>
            </p:nvSpPr>
            <p:spPr>
              <a:xfrm>
                <a:off x="4132674" y="5369103"/>
                <a:ext cx="461721" cy="20200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光束角</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68" name="组合 67"/>
            <p:cNvGrpSpPr/>
            <p:nvPr/>
          </p:nvGrpSpPr>
          <p:grpSpPr>
            <a:xfrm>
              <a:off x="6219560" y="5324291"/>
              <a:ext cx="562855" cy="276737"/>
              <a:chOff x="4745719" y="5324291"/>
              <a:chExt cx="562855" cy="276737"/>
            </a:xfrm>
          </p:grpSpPr>
          <p:sp>
            <p:nvSpPr>
              <p:cNvPr id="87" name="矩形 86"/>
              <p:cNvSpPr/>
              <p:nvPr/>
            </p:nvSpPr>
            <p:spPr>
              <a:xfrm>
                <a:off x="4745719" y="5324291"/>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88" name="矩形 87"/>
              <p:cNvSpPr/>
              <p:nvPr/>
            </p:nvSpPr>
            <p:spPr>
              <a:xfrm>
                <a:off x="4750661" y="5369273"/>
                <a:ext cx="557913" cy="20200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灯体颜色</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69" name="组合 68"/>
            <p:cNvGrpSpPr/>
            <p:nvPr/>
          </p:nvGrpSpPr>
          <p:grpSpPr>
            <a:xfrm>
              <a:off x="7105811" y="5324121"/>
              <a:ext cx="538204" cy="276737"/>
              <a:chOff x="5383626" y="5324121"/>
              <a:chExt cx="538204" cy="276737"/>
            </a:xfrm>
          </p:grpSpPr>
          <p:sp>
            <p:nvSpPr>
              <p:cNvPr id="85" name="矩形 84"/>
              <p:cNvSpPr/>
              <p:nvPr/>
            </p:nvSpPr>
            <p:spPr>
              <a:xfrm>
                <a:off x="5383626" y="5324121"/>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86" name="矩形 85"/>
              <p:cNvSpPr/>
              <p:nvPr/>
            </p:nvSpPr>
            <p:spPr>
              <a:xfrm>
                <a:off x="5463159" y="5369103"/>
                <a:ext cx="365529" cy="20200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寿命</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70" name="组合 69"/>
            <p:cNvGrpSpPr/>
            <p:nvPr/>
          </p:nvGrpSpPr>
          <p:grpSpPr>
            <a:xfrm>
              <a:off x="10735528" y="5324121"/>
              <a:ext cx="538204" cy="276737"/>
              <a:chOff x="8072279" y="5324121"/>
              <a:chExt cx="538204" cy="276737"/>
            </a:xfrm>
          </p:grpSpPr>
          <p:sp>
            <p:nvSpPr>
              <p:cNvPr id="83" name="矩形 82"/>
              <p:cNvSpPr/>
              <p:nvPr/>
            </p:nvSpPr>
            <p:spPr>
              <a:xfrm>
                <a:off x="8072279" y="5324121"/>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84" name="矩形 83"/>
              <p:cNvSpPr/>
              <p:nvPr/>
            </p:nvSpPr>
            <p:spPr>
              <a:xfrm>
                <a:off x="8151812" y="5369103"/>
                <a:ext cx="389850" cy="21544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尺寸</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71" name="组合 70"/>
            <p:cNvGrpSpPr/>
            <p:nvPr/>
          </p:nvGrpSpPr>
          <p:grpSpPr>
            <a:xfrm>
              <a:off x="7967411" y="5324290"/>
              <a:ext cx="595035" cy="276737"/>
              <a:chOff x="5976223" y="5324290"/>
              <a:chExt cx="595035" cy="276737"/>
            </a:xfrm>
          </p:grpSpPr>
          <p:sp>
            <p:nvSpPr>
              <p:cNvPr id="81" name="矩形 80"/>
              <p:cNvSpPr/>
              <p:nvPr/>
            </p:nvSpPr>
            <p:spPr>
              <a:xfrm>
                <a:off x="5995115" y="5324290"/>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82" name="矩形 81"/>
              <p:cNvSpPr/>
              <p:nvPr/>
            </p:nvSpPr>
            <p:spPr>
              <a:xfrm>
                <a:off x="5976223" y="5369269"/>
                <a:ext cx="595035" cy="21544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蓝光危害</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73" name="组合 72"/>
            <p:cNvGrpSpPr/>
            <p:nvPr/>
          </p:nvGrpSpPr>
          <p:grpSpPr>
            <a:xfrm>
              <a:off x="8885842" y="5324290"/>
              <a:ext cx="595035" cy="276737"/>
              <a:chOff x="6674245" y="5324290"/>
              <a:chExt cx="595035" cy="276737"/>
            </a:xfrm>
          </p:grpSpPr>
          <p:sp>
            <p:nvSpPr>
              <p:cNvPr id="79" name="矩形 78"/>
              <p:cNvSpPr/>
              <p:nvPr/>
            </p:nvSpPr>
            <p:spPr>
              <a:xfrm>
                <a:off x="6693137" y="5324290"/>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80" name="矩形 79"/>
              <p:cNvSpPr/>
              <p:nvPr/>
            </p:nvSpPr>
            <p:spPr>
              <a:xfrm>
                <a:off x="6674245" y="5369269"/>
                <a:ext cx="595035" cy="21544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防护等级</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76" name="组合 75"/>
            <p:cNvGrpSpPr/>
            <p:nvPr/>
          </p:nvGrpSpPr>
          <p:grpSpPr>
            <a:xfrm>
              <a:off x="9804273" y="5324290"/>
              <a:ext cx="595035" cy="276737"/>
              <a:chOff x="7367082" y="5324290"/>
              <a:chExt cx="595035" cy="276737"/>
            </a:xfrm>
          </p:grpSpPr>
          <p:sp>
            <p:nvSpPr>
              <p:cNvPr id="77" name="矩形 76"/>
              <p:cNvSpPr/>
              <p:nvPr/>
            </p:nvSpPr>
            <p:spPr>
              <a:xfrm>
                <a:off x="7385974" y="5324290"/>
                <a:ext cx="538204" cy="2767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78" name="矩形 77"/>
              <p:cNvSpPr/>
              <p:nvPr/>
            </p:nvSpPr>
            <p:spPr>
              <a:xfrm>
                <a:off x="7367082" y="5369269"/>
                <a:ext cx="595035" cy="21544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安装方式</a:t>
                </a:r>
                <a:endParaRPr kumimoji="0" lang="zh-CN" altLang="en-US" sz="8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sp>
        <p:nvSpPr>
          <p:cNvPr id="46" name="矩形 45"/>
          <p:cNvSpPr/>
          <p:nvPr/>
        </p:nvSpPr>
        <p:spPr>
          <a:xfrm>
            <a:off x="858015" y="5775191"/>
            <a:ext cx="679130" cy="526811"/>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12W(</a:t>
            </a:r>
            <a:r>
              <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上</a:t>
            </a: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14W(</a:t>
            </a:r>
            <a:r>
              <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下</a:t>
            </a: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48" name="矩形 47"/>
          <p:cNvSpPr/>
          <p:nvPr/>
        </p:nvSpPr>
        <p:spPr>
          <a:xfrm>
            <a:off x="1723017" y="5775191"/>
            <a:ext cx="679130" cy="295978"/>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0.5</a:t>
            </a:r>
            <a:endPar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52" name="矩形 51"/>
          <p:cNvSpPr/>
          <p:nvPr/>
        </p:nvSpPr>
        <p:spPr>
          <a:xfrm>
            <a:off x="2562927" y="5775191"/>
            <a:ext cx="740442" cy="526811"/>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984</a:t>
            </a:r>
            <a:r>
              <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（上）</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1148</a:t>
            </a:r>
            <a:r>
              <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（下）</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53" name="矩形 52"/>
          <p:cNvSpPr/>
          <p:nvPr/>
        </p:nvSpPr>
        <p:spPr>
          <a:xfrm>
            <a:off x="3488398" y="5775191"/>
            <a:ext cx="679130" cy="757643"/>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2700K/3000K/4000K</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56" name="矩形 55"/>
          <p:cNvSpPr/>
          <p:nvPr/>
        </p:nvSpPr>
        <p:spPr>
          <a:xfrm>
            <a:off x="4370666" y="5775191"/>
            <a:ext cx="679130" cy="295978"/>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Ra90</a:t>
            </a:r>
            <a:endPar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57" name="矩形 56"/>
          <p:cNvSpPr/>
          <p:nvPr/>
        </p:nvSpPr>
        <p:spPr>
          <a:xfrm>
            <a:off x="5262605" y="5775191"/>
            <a:ext cx="679130" cy="295978"/>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a:t>
            </a:r>
            <a:endPar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58" name="矩形 57"/>
          <p:cNvSpPr/>
          <p:nvPr/>
        </p:nvSpPr>
        <p:spPr>
          <a:xfrm>
            <a:off x="6113444" y="5775191"/>
            <a:ext cx="780027" cy="295978"/>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铝本色</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59" name="矩形 58"/>
          <p:cNvSpPr/>
          <p:nvPr/>
        </p:nvSpPr>
        <p:spPr>
          <a:xfrm>
            <a:off x="6979996" y="5775191"/>
            <a:ext cx="780027" cy="295978"/>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30000hr</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60" name="矩形 59"/>
          <p:cNvSpPr/>
          <p:nvPr/>
        </p:nvSpPr>
        <p:spPr>
          <a:xfrm>
            <a:off x="10644005" y="5775191"/>
            <a:ext cx="1224010" cy="24622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600</a:t>
            </a:r>
            <a:r>
              <a:rPr kumimoji="0" lang="el-GR"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a:t>
            </a: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125*35mm</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92" name="矩形 91"/>
          <p:cNvSpPr/>
          <p:nvPr/>
        </p:nvSpPr>
        <p:spPr>
          <a:xfrm>
            <a:off x="7883316" y="5775191"/>
            <a:ext cx="679130" cy="295978"/>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RG0</a:t>
            </a:r>
            <a:endPar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93" name="矩形 92"/>
          <p:cNvSpPr/>
          <p:nvPr/>
        </p:nvSpPr>
        <p:spPr>
          <a:xfrm>
            <a:off x="8827320" y="5775191"/>
            <a:ext cx="679130" cy="295978"/>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IP20</a:t>
            </a:r>
            <a:endPar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sp>
        <p:nvSpPr>
          <p:cNvPr id="94" name="矩形 93"/>
          <p:cNvSpPr/>
          <p:nvPr/>
        </p:nvSpPr>
        <p:spPr>
          <a:xfrm>
            <a:off x="9748662" y="5775191"/>
            <a:ext cx="679130" cy="24622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壁装</a:t>
            </a:r>
            <a:endParaRPr kumimoji="0" lang="en-US" altLang="zh-CN" sz="1000" b="0" i="0" u="none" strike="noStrike" kern="120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endParaRPr>
          </a:p>
        </p:txBody>
      </p:sp>
      <p:pic>
        <p:nvPicPr>
          <p:cNvPr id="15" name="图片 14" descr="文本&#10;&#10;AI 生成的内容可能不正确。"/>
          <p:cNvPicPr>
            <a:picLocks noChangeAspect="1"/>
          </p:cNvPicPr>
          <p:nvPr/>
        </p:nvPicPr>
        <p:blipFill>
          <a:blip r:embed="rId1" cstate="print">
            <a:extLst>
              <a:ext uri="{BEBA8EAE-BF5A-486C-A8C5-ECC9F3942E4B}">
                <a14:imgProps xmlns:a14="http://schemas.microsoft.com/office/drawing/2010/main">
                  <a14:imgLayer r:embed="rId2">
                    <a14:imgEffect>
                      <a14:backgroundRemoval t="10000" b="90000" l="10000" r="90000"/>
                    </a14:imgEffect>
                  </a14:imgLayer>
                </a14:imgProps>
              </a:ext>
              <a:ext uri="{28A0092B-C50C-407E-A947-70E740481C1C}">
                <a14:useLocalDpi xmlns:a14="http://schemas.microsoft.com/office/drawing/2010/main" val="0"/>
              </a:ext>
            </a:extLst>
          </a:blip>
          <a:srcRect l="17639" t="26231" r="15651" b="29787"/>
          <a:stretch>
            <a:fillRect/>
          </a:stretch>
        </p:blipFill>
        <p:spPr>
          <a:xfrm>
            <a:off x="644848" y="1202803"/>
            <a:ext cx="2804288" cy="1232555"/>
          </a:xfrm>
          <a:prstGeom prst="rect">
            <a:avLst/>
          </a:prstGeom>
        </p:spPr>
      </p:pic>
      <p:pic>
        <p:nvPicPr>
          <p:cNvPr id="42" name="图片 41" descr="图片包含 文本&#10;&#10;AI 生成的内容可能不正确。"/>
          <p:cNvPicPr>
            <a:picLocks noChangeAspect="1"/>
          </p:cNvPicPr>
          <p:nvPr/>
        </p:nvPicPr>
        <p:blipFill>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9170" t="32410" r="13009" b="27105"/>
          <a:stretch>
            <a:fillRect/>
          </a:stretch>
        </p:blipFill>
        <p:spPr>
          <a:xfrm>
            <a:off x="634171" y="2435358"/>
            <a:ext cx="2669198" cy="925762"/>
          </a:xfrm>
          <a:prstGeom prst="rect">
            <a:avLst/>
          </a:prstGeom>
        </p:spPr>
      </p:pic>
      <p:pic>
        <p:nvPicPr>
          <p:cNvPr id="47" name="图片 46" descr="图片包含 文本&#10;&#10;AI 生成的内容可能不正确。"/>
          <p:cNvPicPr>
            <a:picLocks noChangeAspect="1"/>
          </p:cNvPicPr>
          <p:nvPr/>
        </p:nvPicPr>
        <p:blipFill>
          <a:blip r:embed="rId5" cstate="print">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l="17515" t="29870" r="18660" b="28143"/>
          <a:stretch>
            <a:fillRect/>
          </a:stretch>
        </p:blipFill>
        <p:spPr>
          <a:xfrm flipH="1">
            <a:off x="707035" y="3546770"/>
            <a:ext cx="2208885" cy="968711"/>
          </a:xfrm>
          <a:prstGeom prst="rect">
            <a:avLst/>
          </a:prstGeom>
        </p:spPr>
      </p:pic>
      <p:grpSp>
        <p:nvGrpSpPr>
          <p:cNvPr id="115" name="组合 114"/>
          <p:cNvGrpSpPr/>
          <p:nvPr/>
        </p:nvGrpSpPr>
        <p:grpSpPr>
          <a:xfrm>
            <a:off x="3844714" y="1546434"/>
            <a:ext cx="4108648" cy="3096637"/>
            <a:chOff x="3808036" y="1433697"/>
            <a:chExt cx="3776205" cy="2846079"/>
          </a:xfrm>
        </p:grpSpPr>
        <p:grpSp>
          <p:nvGrpSpPr>
            <p:cNvPr id="102" name="组合 101"/>
            <p:cNvGrpSpPr/>
            <p:nvPr/>
          </p:nvGrpSpPr>
          <p:grpSpPr>
            <a:xfrm>
              <a:off x="3808036" y="1435347"/>
              <a:ext cx="1765631" cy="1513093"/>
              <a:chOff x="3815995" y="3288314"/>
              <a:chExt cx="1765631" cy="1513093"/>
            </a:xfrm>
          </p:grpSpPr>
          <p:pic>
            <p:nvPicPr>
              <p:cNvPr id="50" name="图片 49"/>
              <p:cNvPicPr>
                <a:picLocks noChangeAspect="1"/>
              </p:cNvPicPr>
              <p:nvPr/>
            </p:nvPicPr>
            <p:blipFill>
              <a:blip r:embed="rId7">
                <a:extLst>
                  <a:ext uri="{96DAC541-7B7A-43D3-8B79-37D633B846F1}">
                    <asvg:svgBlip xmlns:asvg="http://schemas.microsoft.com/office/drawing/2016/SVG/main" r:embed="rId8"/>
                  </a:ext>
                </a:extLst>
              </a:blip>
              <a:srcRect t="4780" b="4780"/>
              <a:stretch>
                <a:fillRect/>
              </a:stretch>
            </p:blipFill>
            <p:spPr>
              <a:xfrm>
                <a:off x="3815995" y="3426814"/>
                <a:ext cx="1765631" cy="1374593"/>
              </a:xfrm>
              <a:prstGeom prst="rect">
                <a:avLst/>
              </a:prstGeom>
            </p:spPr>
          </p:pic>
          <p:sp>
            <p:nvSpPr>
              <p:cNvPr id="98" name="文本框 97"/>
              <p:cNvSpPr txBox="1"/>
              <p:nvPr/>
            </p:nvSpPr>
            <p:spPr>
              <a:xfrm>
                <a:off x="4117792" y="3288314"/>
                <a:ext cx="904321"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诊疗模式</a:t>
                </a:r>
                <a:endParaRPr kumimoji="0" 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grpSp>
          <p:nvGrpSpPr>
            <p:cNvPr id="103" name="组合 102"/>
            <p:cNvGrpSpPr/>
            <p:nvPr/>
          </p:nvGrpSpPr>
          <p:grpSpPr>
            <a:xfrm>
              <a:off x="5761645" y="1433697"/>
              <a:ext cx="1822596" cy="1428303"/>
              <a:chOff x="5622964" y="3354375"/>
              <a:chExt cx="1822596" cy="1428303"/>
            </a:xfrm>
          </p:grpSpPr>
          <p:pic>
            <p:nvPicPr>
              <p:cNvPr id="54" name="图片 53"/>
              <p:cNvPicPr>
                <a:picLocks noChangeAspect="1"/>
              </p:cNvPicPr>
              <p:nvPr/>
            </p:nvPicPr>
            <p:blipFill>
              <a:blip r:embed="rId9"/>
              <a:stretch>
                <a:fillRect/>
              </a:stretch>
            </p:blipFill>
            <p:spPr>
              <a:xfrm>
                <a:off x="5622964" y="3612704"/>
                <a:ext cx="1822596" cy="1169974"/>
              </a:xfrm>
              <a:prstGeom prst="rect">
                <a:avLst/>
              </a:prstGeom>
            </p:spPr>
          </p:pic>
          <p:sp>
            <p:nvSpPr>
              <p:cNvPr id="99" name="文本框 98"/>
              <p:cNvSpPr txBox="1"/>
              <p:nvPr/>
            </p:nvSpPr>
            <p:spPr>
              <a:xfrm>
                <a:off x="6134129" y="3354375"/>
                <a:ext cx="904321"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会客模式</a:t>
                </a:r>
                <a:endParaRPr kumimoji="0" 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grpSp>
          <p:nvGrpSpPr>
            <p:cNvPr id="104" name="组合 103"/>
            <p:cNvGrpSpPr/>
            <p:nvPr/>
          </p:nvGrpSpPr>
          <p:grpSpPr>
            <a:xfrm>
              <a:off x="3842419" y="2975330"/>
              <a:ext cx="1843860" cy="1304446"/>
              <a:chOff x="7554075" y="3478232"/>
              <a:chExt cx="1843860" cy="1304446"/>
            </a:xfrm>
          </p:grpSpPr>
          <p:pic>
            <p:nvPicPr>
              <p:cNvPr id="74" name="图片 73"/>
              <p:cNvPicPr>
                <a:picLocks noChangeAspect="1"/>
              </p:cNvPicPr>
              <p:nvPr/>
            </p:nvPicPr>
            <p:blipFill>
              <a:blip r:embed="rId10"/>
              <a:stretch>
                <a:fillRect/>
              </a:stretch>
            </p:blipFill>
            <p:spPr>
              <a:xfrm>
                <a:off x="7554075" y="3641820"/>
                <a:ext cx="1843860" cy="1140858"/>
              </a:xfrm>
              <a:prstGeom prst="rect">
                <a:avLst/>
              </a:prstGeom>
            </p:spPr>
          </p:pic>
          <p:sp>
            <p:nvSpPr>
              <p:cNvPr id="100" name="文本框 99"/>
              <p:cNvSpPr txBox="1"/>
              <p:nvPr/>
            </p:nvSpPr>
            <p:spPr>
              <a:xfrm>
                <a:off x="7950348" y="3478232"/>
                <a:ext cx="904321"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阅读模式</a:t>
                </a:r>
                <a:endParaRPr kumimoji="0" 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grpSp>
          <p:nvGrpSpPr>
            <p:cNvPr id="105" name="组合 104"/>
            <p:cNvGrpSpPr/>
            <p:nvPr/>
          </p:nvGrpSpPr>
          <p:grpSpPr>
            <a:xfrm>
              <a:off x="5736190" y="2975329"/>
              <a:ext cx="1848051" cy="1304446"/>
              <a:chOff x="9506450" y="3478231"/>
              <a:chExt cx="1848051" cy="1304446"/>
            </a:xfrm>
          </p:grpSpPr>
          <p:pic>
            <p:nvPicPr>
              <p:cNvPr id="95" name="图片 94"/>
              <p:cNvPicPr>
                <a:picLocks noChangeAspect="1"/>
              </p:cNvPicPr>
              <p:nvPr/>
            </p:nvPicPr>
            <p:blipFill>
              <a:blip r:embed="rId11"/>
              <a:stretch>
                <a:fillRect/>
              </a:stretch>
            </p:blipFill>
            <p:spPr>
              <a:xfrm>
                <a:off x="9506450" y="3595984"/>
                <a:ext cx="1848051" cy="1186693"/>
              </a:xfrm>
              <a:prstGeom prst="rect">
                <a:avLst/>
              </a:prstGeom>
            </p:spPr>
          </p:pic>
          <p:sp>
            <p:nvSpPr>
              <p:cNvPr id="101" name="文本框 100"/>
              <p:cNvSpPr txBox="1"/>
              <p:nvPr/>
            </p:nvSpPr>
            <p:spPr>
              <a:xfrm>
                <a:off x="9933806" y="3478231"/>
                <a:ext cx="904321"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夜灯模式</a:t>
                </a:r>
                <a:endParaRPr kumimoji="0" 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cxnSp>
          <p:nvCxnSpPr>
            <p:cNvPr id="107" name="直接连接符 106"/>
            <p:cNvCxnSpPr/>
            <p:nvPr/>
          </p:nvCxnSpPr>
          <p:spPr>
            <a:xfrm>
              <a:off x="3873755" y="2936258"/>
              <a:ext cx="3629717"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5672678" y="1433697"/>
              <a:ext cx="0" cy="2846078"/>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120" name="组合 119"/>
          <p:cNvGrpSpPr/>
          <p:nvPr/>
        </p:nvGrpSpPr>
        <p:grpSpPr>
          <a:xfrm>
            <a:off x="8382946" y="1083250"/>
            <a:ext cx="3485068" cy="3985794"/>
            <a:chOff x="9659268" y="1007687"/>
            <a:chExt cx="3485068" cy="3985794"/>
          </a:xfrm>
        </p:grpSpPr>
        <p:sp>
          <p:nvSpPr>
            <p:cNvPr id="121" name="object 9"/>
            <p:cNvSpPr txBox="1"/>
            <p:nvPr>
              <p:custDataLst>
                <p:tags r:id="rId12"/>
              </p:custDataLst>
            </p:nvPr>
          </p:nvSpPr>
          <p:spPr>
            <a:xfrm>
              <a:off x="10698041" y="1007687"/>
              <a:ext cx="2446295" cy="1239955"/>
            </a:xfrm>
            <a:prstGeom prst="rect">
              <a:avLst/>
            </a:prstGeom>
          </p:spPr>
          <p:txBody>
            <a:bodyPr vert="horz" wrap="square" lIns="0" tIns="12700" rIns="0" bIns="0" rtlCol="0">
              <a:spAutoFit/>
            </a:bodyPr>
            <a:lstStyle/>
            <a:p>
              <a:pPr marL="12700" marR="5080" lvl="0" indent="0" algn="l" defTabSz="914400" rtl="0" eaLnBrk="1" fontAlgn="auto" latinLnBrk="0" hangingPunct="1">
                <a:lnSpc>
                  <a:spcPct val="150000"/>
                </a:lnSpc>
                <a:spcBef>
                  <a:spcPts val="38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专业配光</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a:p>
              <a:pPr marL="12700" marR="5080" lvl="0" indent="0" algn="l" defTabSz="914400" rtl="0" eaLnBrk="1" fontAlgn="auto" latinLnBrk="0" hangingPunct="1">
                <a:lnSpc>
                  <a:spcPct val="150000"/>
                </a:lnSpc>
                <a:spcBef>
                  <a:spcPts val="380"/>
                </a:spcBef>
                <a:spcAft>
                  <a:spcPts val="0"/>
                </a:spcAft>
                <a:buClrTx/>
                <a:buSzTx/>
                <a:buFontTx/>
                <a:buNone/>
                <a:defRPr/>
              </a:pPr>
              <a:r>
                <a:rPr kumimoji="0" lang="zh-CN" altLang="en-US" sz="900" b="0" i="0" u="none" strike="noStrike" kern="1200" cap="none" spc="-1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专业</a:t>
              </a:r>
              <a:r>
                <a:rPr kumimoji="0" lang="zh-CN" altLang="en-US" sz="1800" b="1" i="0" u="none" strike="noStrike" kern="1200" cap="none" spc="-10" normalizeH="0" baseline="0" noProof="0" dirty="0">
                  <a:ln>
                    <a:noFill/>
                  </a:ln>
                  <a:solidFill>
                    <a:srgbClr val="ED7D31"/>
                  </a:solidFill>
                  <a:effectLst/>
                  <a:uLnTx/>
                  <a:uFillTx/>
                  <a:latin typeface="微软雅黑" panose="020B0503020204020204" charset="-122"/>
                  <a:ea typeface="微软雅黑" panose="020B0503020204020204" charset="-122"/>
                  <a:cs typeface="微软雅黑" panose="020B0503020204020204" charset="-122"/>
                </a:rPr>
                <a:t>区域配光</a:t>
              </a:r>
              <a:r>
                <a:rPr kumimoji="0" lang="zh-CN" altLang="en-US" sz="900" b="0" i="0" u="none" strike="noStrike" kern="1200" cap="none" spc="-1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设计：诊疗照明有着清晰的界限，为病人提供从头到脚的均匀照明，避免造成邻床病人眩目。</a:t>
              </a:r>
              <a:endParaRPr kumimoji="0" sz="900" b="1" i="0" u="none" strike="noStrike" kern="1200" cap="none" spc="0" normalizeH="0" baseline="0" noProof="0" dirty="0">
                <a:ln>
                  <a:noFill/>
                </a:ln>
                <a:solidFill>
                  <a:srgbClr val="ED7D31"/>
                </a:solidFill>
                <a:effectLst/>
                <a:uLnTx/>
                <a:uFillTx/>
                <a:latin typeface="微软雅黑" panose="020B0503020204020204" charset="-122"/>
                <a:ea typeface="微软雅黑" panose="020B0503020204020204" charset="-122"/>
                <a:cs typeface="+mn-cs"/>
              </a:endParaRPr>
            </a:p>
          </p:txBody>
        </p:sp>
        <p:sp>
          <p:nvSpPr>
            <p:cNvPr id="122" name="object 10"/>
            <p:cNvSpPr txBox="1"/>
            <p:nvPr>
              <p:custDataLst>
                <p:tags r:id="rId13"/>
              </p:custDataLst>
            </p:nvPr>
          </p:nvSpPr>
          <p:spPr>
            <a:xfrm>
              <a:off x="10698042" y="2228071"/>
              <a:ext cx="2446291" cy="1447704"/>
            </a:xfrm>
            <a:prstGeom prst="rect">
              <a:avLst/>
            </a:prstGeom>
          </p:spPr>
          <p:txBody>
            <a:bodyPr vert="horz" wrap="square" lIns="0" tIns="12700" rIns="0" bIns="0" rtlCol="0">
              <a:spAutoFit/>
            </a:bodyPr>
            <a:lstStyle/>
            <a:p>
              <a:pPr marL="12700" marR="5080" lvl="0" indent="0" algn="l" defTabSz="914400" rtl="0" eaLnBrk="1" fontAlgn="auto" latinLnBrk="0" hangingPunct="1">
                <a:lnSpc>
                  <a:spcPct val="150000"/>
                </a:lnSpc>
                <a:spcBef>
                  <a:spcPts val="385"/>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多场景照明切换</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12700" marR="5080" lvl="0" indent="0" algn="l" defTabSz="914400" rtl="0" eaLnBrk="1" fontAlgn="auto" latinLnBrk="0" hangingPunct="1">
                <a:lnSpc>
                  <a:spcPct val="150000"/>
                </a:lnSpc>
                <a:spcBef>
                  <a:spcPts val="385"/>
                </a:spcBef>
                <a:spcAft>
                  <a:spcPts val="0"/>
                </a:spcAft>
                <a:buClrTx/>
                <a:buSzTx/>
                <a:buFontTx/>
                <a:buNone/>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可在</a:t>
              </a:r>
              <a:r>
                <a:rPr kumimoji="0" lang="en-US" altLang="zh-CN"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4</a:t>
              </a:r>
              <a:r>
                <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种不同的照明</a:t>
              </a:r>
              <a:r>
                <a:rPr kumimoji="0" lang="zh-CN" altLang="en-US" sz="1800" b="1" i="0" u="none" strike="noStrike" kern="1200" cap="none" spc="0" normalizeH="0" baseline="0" noProof="0" dirty="0">
                  <a:ln>
                    <a:noFill/>
                  </a:ln>
                  <a:solidFill>
                    <a:srgbClr val="ED7D31"/>
                  </a:solidFill>
                  <a:effectLst/>
                  <a:uLnTx/>
                  <a:uFillTx/>
                  <a:latin typeface="微软雅黑" panose="020B0503020204020204" charset="-122"/>
                  <a:ea typeface="微软雅黑" panose="020B0503020204020204" charset="-122"/>
                  <a:cs typeface="+mn-cs"/>
                  <a:sym typeface="+mn-ea"/>
                </a:rPr>
                <a:t>场景间切换</a:t>
              </a:r>
              <a:r>
                <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：无眩光的阅读照明（</a:t>
              </a:r>
              <a:r>
                <a:rPr kumimoji="0" lang="en-US" altLang="zh-CN"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3000K</a:t>
              </a:r>
              <a:r>
                <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）、矩形的诊疗照明（</a:t>
              </a:r>
              <a:r>
                <a:rPr kumimoji="0" lang="en-US" altLang="zh-CN"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4000K</a:t>
              </a:r>
              <a:r>
                <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）、均匀的会客照明（</a:t>
              </a:r>
              <a:r>
                <a:rPr kumimoji="0" lang="en-US" altLang="zh-CN"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2700K</a:t>
              </a:r>
              <a:r>
                <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）和温馨的夜间照明（</a:t>
              </a:r>
              <a:r>
                <a:rPr kumimoji="0" lang="en-US" altLang="zh-CN"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2700K</a:t>
              </a:r>
              <a:r>
                <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endPar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sp>
          <p:nvSpPr>
            <p:cNvPr id="123" name="object 11"/>
            <p:cNvSpPr txBox="1"/>
            <p:nvPr>
              <p:custDataLst>
                <p:tags r:id="rId14"/>
              </p:custDataLst>
            </p:nvPr>
          </p:nvSpPr>
          <p:spPr>
            <a:xfrm>
              <a:off x="10698041" y="3878111"/>
              <a:ext cx="2446289" cy="111537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高品质</a:t>
              </a:r>
              <a:endParaRPr kumimoji="0"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12700" marR="5080" lvl="0" indent="0" algn="l" defTabSz="914400" rtl="0" eaLnBrk="1" fontAlgn="auto" latinLnBrk="0" hangingPunct="1">
                <a:lnSpc>
                  <a:spcPct val="150000"/>
                </a:lnSpc>
                <a:spcBef>
                  <a:spcPts val="380"/>
                </a:spcBef>
                <a:spcAft>
                  <a:spcPts val="0"/>
                </a:spcAft>
                <a:buClrTx/>
                <a:buSzTx/>
                <a:buFontTx/>
                <a:buNone/>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线条设计</a:t>
              </a:r>
              <a:r>
                <a:rPr kumimoji="0" lang="zh-CN" altLang="en-US" sz="1800" b="1" i="0" u="none" strike="noStrike" kern="1200" cap="none" spc="0" normalizeH="0" baseline="0" noProof="0" dirty="0">
                  <a:ln>
                    <a:noFill/>
                  </a:ln>
                  <a:solidFill>
                    <a:srgbClr val="ED7D31"/>
                  </a:solidFill>
                  <a:effectLst/>
                  <a:uLnTx/>
                  <a:uFillTx/>
                  <a:latin typeface="微软雅黑" panose="020B0503020204020204" charset="-122"/>
                  <a:ea typeface="微软雅黑" panose="020B0503020204020204" charset="-122"/>
                  <a:cs typeface="+mn-cs"/>
                  <a:sym typeface="+mn-ea"/>
                </a:rPr>
                <a:t>简洁清晰</a:t>
              </a:r>
              <a:r>
                <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。灯体高度仅为</a:t>
              </a:r>
              <a:r>
                <a:rPr kumimoji="0" lang="en-US" altLang="zh-CN"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20 mm</a:t>
              </a:r>
              <a:r>
                <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，能与背</a:t>
              </a:r>
              <a:r>
                <a:rPr kumimoji="0" lang="zh-CN" altLang="en-US" sz="900" b="0" i="0" u="none" strike="noStrike" kern="1200" cap="none" spc="0" normalizeH="0" baseline="0" noProof="0" dirty="0">
                  <a:ln>
                    <a:noFill/>
                  </a:ln>
                  <a:solidFill>
                    <a:prstClr val="black"/>
                  </a:solidFill>
                  <a:effectLst/>
                  <a:uLnTx/>
                  <a:uFillTx/>
                  <a:latin typeface="Arial" panose="020B0604020202020204"/>
                  <a:ea typeface="黑体" panose="02010609060101010101" charset="-122"/>
                  <a:cs typeface="+mn-cs"/>
                </a:rPr>
                <a:t>景完美融合。喷砂阳极氧化铝外壳提升室内装饰品质。</a:t>
              </a:r>
              <a:r>
                <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endPar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sp>
          <p:nvSpPr>
            <p:cNvPr id="124" name="object 12"/>
            <p:cNvSpPr/>
            <p:nvPr>
              <p:custDataLst>
                <p:tags r:id="rId15"/>
              </p:custDataLst>
            </p:nvPr>
          </p:nvSpPr>
          <p:spPr>
            <a:xfrm>
              <a:off x="9659268" y="1167538"/>
              <a:ext cx="653415" cy="655320"/>
            </a:xfrm>
            <a:custGeom>
              <a:avLst/>
              <a:gdLst/>
              <a:ahLst/>
              <a:cxnLst/>
              <a:rect l="l" t="t" r="r" b="b"/>
              <a:pathLst>
                <a:path w="527685" h="528954">
                  <a:moveTo>
                    <a:pt x="265783" y="108631"/>
                  </a:moveTo>
                  <a:lnTo>
                    <a:pt x="200064" y="121484"/>
                  </a:lnTo>
                  <a:lnTo>
                    <a:pt x="144966" y="158783"/>
                  </a:lnTo>
                  <a:lnTo>
                    <a:pt x="107791" y="214358"/>
                  </a:lnTo>
                  <a:lnTo>
                    <a:pt x="94980" y="279961"/>
                  </a:lnTo>
                  <a:lnTo>
                    <a:pt x="98821" y="316418"/>
                  </a:lnTo>
                  <a:lnTo>
                    <a:pt x="128372" y="382440"/>
                  </a:lnTo>
                  <a:lnTo>
                    <a:pt x="156630" y="412838"/>
                  </a:lnTo>
                  <a:lnTo>
                    <a:pt x="369930" y="414508"/>
                  </a:lnTo>
                  <a:lnTo>
                    <a:pt x="374091" y="412838"/>
                  </a:lnTo>
                  <a:lnTo>
                    <a:pt x="377421" y="409498"/>
                  </a:lnTo>
                  <a:lnTo>
                    <a:pt x="402480" y="382440"/>
                  </a:lnTo>
                  <a:lnTo>
                    <a:pt x="406245" y="376068"/>
                  </a:lnTo>
                  <a:lnTo>
                    <a:pt x="173300" y="376067"/>
                  </a:lnTo>
                  <a:lnTo>
                    <a:pt x="156025" y="355528"/>
                  </a:lnTo>
                  <a:lnTo>
                    <a:pt x="143200" y="332089"/>
                  </a:lnTo>
                  <a:lnTo>
                    <a:pt x="135217" y="306612"/>
                  </a:lnTo>
                  <a:lnTo>
                    <a:pt x="132469" y="279961"/>
                  </a:lnTo>
                  <a:lnTo>
                    <a:pt x="139295" y="237815"/>
                  </a:lnTo>
                  <a:lnTo>
                    <a:pt x="158278" y="201124"/>
                  </a:lnTo>
                  <a:lnTo>
                    <a:pt x="187179" y="172135"/>
                  </a:lnTo>
                  <a:lnTo>
                    <a:pt x="223761" y="153094"/>
                  </a:lnTo>
                  <a:lnTo>
                    <a:pt x="265783" y="146248"/>
                  </a:lnTo>
                  <a:lnTo>
                    <a:pt x="371341" y="146248"/>
                  </a:lnTo>
                  <a:lnTo>
                    <a:pt x="360330" y="137196"/>
                  </a:lnTo>
                  <a:lnTo>
                    <a:pt x="330872" y="121484"/>
                  </a:lnTo>
                  <a:lnTo>
                    <a:pt x="299070" y="111884"/>
                  </a:lnTo>
                  <a:lnTo>
                    <a:pt x="265783" y="108631"/>
                  </a:lnTo>
                  <a:close/>
                </a:path>
                <a:path w="527685" h="528954">
                  <a:moveTo>
                    <a:pt x="371341" y="146248"/>
                  </a:moveTo>
                  <a:lnTo>
                    <a:pt x="265783" y="146248"/>
                  </a:lnTo>
                  <a:lnTo>
                    <a:pt x="307713" y="153094"/>
                  </a:lnTo>
                  <a:lnTo>
                    <a:pt x="344084" y="172135"/>
                  </a:lnTo>
                  <a:lnTo>
                    <a:pt x="372738" y="201124"/>
                  </a:lnTo>
                  <a:lnTo>
                    <a:pt x="391514" y="237815"/>
                  </a:lnTo>
                  <a:lnTo>
                    <a:pt x="398253" y="279961"/>
                  </a:lnTo>
                  <a:lnTo>
                    <a:pt x="395506" y="306612"/>
                  </a:lnTo>
                  <a:lnTo>
                    <a:pt x="387526" y="332089"/>
                  </a:lnTo>
                  <a:lnTo>
                    <a:pt x="374702" y="355528"/>
                  </a:lnTo>
                  <a:lnTo>
                    <a:pt x="357422" y="376068"/>
                  </a:lnTo>
                  <a:lnTo>
                    <a:pt x="406245" y="376068"/>
                  </a:lnTo>
                  <a:lnTo>
                    <a:pt x="421057" y="350996"/>
                  </a:lnTo>
                  <a:lnTo>
                    <a:pt x="432604" y="316418"/>
                  </a:lnTo>
                  <a:lnTo>
                    <a:pt x="436575" y="279961"/>
                  </a:lnTo>
                  <a:lnTo>
                    <a:pt x="433217" y="246219"/>
                  </a:lnTo>
                  <a:lnTo>
                    <a:pt x="423456" y="214358"/>
                  </a:lnTo>
                  <a:lnTo>
                    <a:pt x="407757" y="185005"/>
                  </a:lnTo>
                  <a:lnTo>
                    <a:pt x="386588" y="158783"/>
                  </a:lnTo>
                  <a:lnTo>
                    <a:pt x="371341" y="146248"/>
                  </a:lnTo>
                  <a:close/>
                </a:path>
                <a:path w="527685" h="528954">
                  <a:moveTo>
                    <a:pt x="56654" y="301691"/>
                  </a:moveTo>
                  <a:lnTo>
                    <a:pt x="18329" y="301691"/>
                  </a:lnTo>
                  <a:lnTo>
                    <a:pt x="0" y="320071"/>
                  </a:lnTo>
                  <a:lnTo>
                    <a:pt x="1457" y="327659"/>
                  </a:lnTo>
                  <a:lnTo>
                    <a:pt x="5415" y="333758"/>
                  </a:lnTo>
                  <a:lnTo>
                    <a:pt x="11247" y="337821"/>
                  </a:lnTo>
                  <a:lnTo>
                    <a:pt x="18329" y="339297"/>
                  </a:lnTo>
                  <a:lnTo>
                    <a:pt x="56654" y="339297"/>
                  </a:lnTo>
                  <a:lnTo>
                    <a:pt x="64218" y="337821"/>
                  </a:lnTo>
                  <a:lnTo>
                    <a:pt x="70298" y="333758"/>
                  </a:lnTo>
                  <a:lnTo>
                    <a:pt x="74347" y="327659"/>
                  </a:lnTo>
                  <a:lnTo>
                    <a:pt x="75818" y="320071"/>
                  </a:lnTo>
                  <a:lnTo>
                    <a:pt x="74347" y="312972"/>
                  </a:lnTo>
                  <a:lnTo>
                    <a:pt x="70298" y="307124"/>
                  </a:lnTo>
                  <a:lnTo>
                    <a:pt x="64218" y="303154"/>
                  </a:lnTo>
                  <a:lnTo>
                    <a:pt x="56654" y="301691"/>
                  </a:lnTo>
                  <a:close/>
                </a:path>
                <a:path w="527685" h="528954">
                  <a:moveTo>
                    <a:pt x="512399" y="301691"/>
                  </a:moveTo>
                  <a:lnTo>
                    <a:pt x="474065" y="301691"/>
                  </a:lnTo>
                  <a:lnTo>
                    <a:pt x="454910" y="320071"/>
                  </a:lnTo>
                  <a:lnTo>
                    <a:pt x="456498" y="327659"/>
                  </a:lnTo>
                  <a:lnTo>
                    <a:pt x="460742" y="333758"/>
                  </a:lnTo>
                  <a:lnTo>
                    <a:pt x="466858" y="337821"/>
                  </a:lnTo>
                  <a:lnTo>
                    <a:pt x="474065" y="339297"/>
                  </a:lnTo>
                  <a:lnTo>
                    <a:pt x="512399" y="339297"/>
                  </a:lnTo>
                  <a:lnTo>
                    <a:pt x="519962" y="337821"/>
                  </a:lnTo>
                  <a:lnTo>
                    <a:pt x="526039" y="333758"/>
                  </a:lnTo>
                  <a:lnTo>
                    <a:pt x="527303" y="331852"/>
                  </a:lnTo>
                  <a:lnTo>
                    <a:pt x="527303" y="308952"/>
                  </a:lnTo>
                  <a:lnTo>
                    <a:pt x="526039" y="307124"/>
                  </a:lnTo>
                  <a:lnTo>
                    <a:pt x="519962" y="303154"/>
                  </a:lnTo>
                  <a:lnTo>
                    <a:pt x="512399" y="301691"/>
                  </a:lnTo>
                  <a:close/>
                </a:path>
                <a:path w="527685" h="528954">
                  <a:moveTo>
                    <a:pt x="463759" y="81268"/>
                  </a:moveTo>
                  <a:lnTo>
                    <a:pt x="423246" y="114487"/>
                  </a:lnTo>
                  <a:lnTo>
                    <a:pt x="417619" y="127548"/>
                  </a:lnTo>
                  <a:lnTo>
                    <a:pt x="419026" y="134820"/>
                  </a:lnTo>
                  <a:lnTo>
                    <a:pt x="423246" y="141227"/>
                  </a:lnTo>
                  <a:lnTo>
                    <a:pt x="429523" y="145461"/>
                  </a:lnTo>
                  <a:lnTo>
                    <a:pt x="436579" y="146872"/>
                  </a:lnTo>
                  <a:lnTo>
                    <a:pt x="443634" y="145461"/>
                  </a:lnTo>
                  <a:lnTo>
                    <a:pt x="449904" y="141227"/>
                  </a:lnTo>
                  <a:lnTo>
                    <a:pt x="477406" y="113652"/>
                  </a:lnTo>
                  <a:lnTo>
                    <a:pt x="481620" y="107356"/>
                  </a:lnTo>
                  <a:lnTo>
                    <a:pt x="483025" y="100278"/>
                  </a:lnTo>
                  <a:lnTo>
                    <a:pt x="481620" y="93202"/>
                  </a:lnTo>
                  <a:lnTo>
                    <a:pt x="477406" y="86912"/>
                  </a:lnTo>
                  <a:lnTo>
                    <a:pt x="471012" y="82679"/>
                  </a:lnTo>
                  <a:lnTo>
                    <a:pt x="463759" y="81268"/>
                  </a:lnTo>
                  <a:close/>
                </a:path>
                <a:path w="527685" h="528954">
                  <a:moveTo>
                    <a:pt x="64153" y="80433"/>
                  </a:moveTo>
                  <a:lnTo>
                    <a:pt x="57097" y="81844"/>
                  </a:lnTo>
                  <a:lnTo>
                    <a:pt x="50822" y="86077"/>
                  </a:lnTo>
                  <a:lnTo>
                    <a:pt x="46604" y="92367"/>
                  </a:lnTo>
                  <a:lnTo>
                    <a:pt x="45199" y="99443"/>
                  </a:lnTo>
                  <a:lnTo>
                    <a:pt x="46604" y="106521"/>
                  </a:lnTo>
                  <a:lnTo>
                    <a:pt x="50822" y="112817"/>
                  </a:lnTo>
                  <a:lnTo>
                    <a:pt x="77484" y="140392"/>
                  </a:lnTo>
                  <a:lnTo>
                    <a:pt x="83889" y="144626"/>
                  </a:lnTo>
                  <a:lnTo>
                    <a:pt x="91231" y="146037"/>
                  </a:lnTo>
                  <a:lnTo>
                    <a:pt x="98573" y="144626"/>
                  </a:lnTo>
                  <a:lnTo>
                    <a:pt x="104979" y="140392"/>
                  </a:lnTo>
                  <a:lnTo>
                    <a:pt x="109199" y="134102"/>
                  </a:lnTo>
                  <a:lnTo>
                    <a:pt x="110606" y="127026"/>
                  </a:lnTo>
                  <a:lnTo>
                    <a:pt x="109199" y="119948"/>
                  </a:lnTo>
                  <a:lnTo>
                    <a:pt x="104979" y="113652"/>
                  </a:lnTo>
                  <a:lnTo>
                    <a:pt x="77484" y="86077"/>
                  </a:lnTo>
                  <a:lnTo>
                    <a:pt x="71209" y="81844"/>
                  </a:lnTo>
                  <a:lnTo>
                    <a:pt x="64153" y="80433"/>
                  </a:lnTo>
                  <a:close/>
                </a:path>
                <a:path w="527685" h="528954">
                  <a:moveTo>
                    <a:pt x="343260" y="432900"/>
                  </a:moveTo>
                  <a:lnTo>
                    <a:pt x="187462" y="432900"/>
                  </a:lnTo>
                  <a:lnTo>
                    <a:pt x="168295" y="452121"/>
                  </a:lnTo>
                  <a:lnTo>
                    <a:pt x="169883" y="459708"/>
                  </a:lnTo>
                  <a:lnTo>
                    <a:pt x="174128" y="465806"/>
                  </a:lnTo>
                  <a:lnTo>
                    <a:pt x="180248" y="469867"/>
                  </a:lnTo>
                  <a:lnTo>
                    <a:pt x="187462" y="471343"/>
                  </a:lnTo>
                  <a:lnTo>
                    <a:pt x="343260" y="471343"/>
                  </a:lnTo>
                  <a:lnTo>
                    <a:pt x="350825" y="469867"/>
                  </a:lnTo>
                  <a:lnTo>
                    <a:pt x="356906" y="465806"/>
                  </a:lnTo>
                  <a:lnTo>
                    <a:pt x="360956" y="459708"/>
                  </a:lnTo>
                  <a:lnTo>
                    <a:pt x="362427" y="452121"/>
                  </a:lnTo>
                  <a:lnTo>
                    <a:pt x="360956" y="444887"/>
                  </a:lnTo>
                  <a:lnTo>
                    <a:pt x="356906" y="438750"/>
                  </a:lnTo>
                  <a:lnTo>
                    <a:pt x="350825" y="434493"/>
                  </a:lnTo>
                  <a:lnTo>
                    <a:pt x="343260" y="432900"/>
                  </a:lnTo>
                  <a:close/>
                </a:path>
                <a:path w="527685" h="528954">
                  <a:moveTo>
                    <a:pt x="280411" y="0"/>
                  </a:moveTo>
                  <a:lnTo>
                    <a:pt x="253508" y="0"/>
                  </a:lnTo>
                  <a:lnTo>
                    <a:pt x="252137" y="830"/>
                  </a:lnTo>
                  <a:lnTo>
                    <a:pt x="248087" y="6391"/>
                  </a:lnTo>
                  <a:lnTo>
                    <a:pt x="246616" y="13360"/>
                  </a:lnTo>
                  <a:lnTo>
                    <a:pt x="246616" y="52646"/>
                  </a:lnTo>
                  <a:lnTo>
                    <a:pt x="248087" y="59750"/>
                  </a:lnTo>
                  <a:lnTo>
                    <a:pt x="252137" y="65597"/>
                  </a:lnTo>
                  <a:lnTo>
                    <a:pt x="258218" y="69565"/>
                  </a:lnTo>
                  <a:lnTo>
                    <a:pt x="265783" y="71026"/>
                  </a:lnTo>
                  <a:lnTo>
                    <a:pt x="272864" y="69565"/>
                  </a:lnTo>
                  <a:lnTo>
                    <a:pt x="278694" y="65597"/>
                  </a:lnTo>
                  <a:lnTo>
                    <a:pt x="282649" y="59750"/>
                  </a:lnTo>
                  <a:lnTo>
                    <a:pt x="284106" y="52646"/>
                  </a:lnTo>
                  <a:lnTo>
                    <a:pt x="284106" y="3340"/>
                  </a:lnTo>
                  <a:lnTo>
                    <a:pt x="280411" y="0"/>
                  </a:lnTo>
                  <a:close/>
                </a:path>
                <a:path w="527685" h="528954">
                  <a:moveTo>
                    <a:pt x="322440" y="490565"/>
                  </a:moveTo>
                  <a:lnTo>
                    <a:pt x="208293" y="490565"/>
                  </a:lnTo>
                  <a:lnTo>
                    <a:pt x="189126" y="509787"/>
                  </a:lnTo>
                  <a:lnTo>
                    <a:pt x="190715" y="517021"/>
                  </a:lnTo>
                  <a:lnTo>
                    <a:pt x="194960" y="523158"/>
                  </a:lnTo>
                  <a:lnTo>
                    <a:pt x="201080" y="527415"/>
                  </a:lnTo>
                  <a:lnTo>
                    <a:pt x="207475" y="528828"/>
                  </a:lnTo>
                  <a:lnTo>
                    <a:pt x="323297" y="528828"/>
                  </a:lnTo>
                  <a:lnTo>
                    <a:pt x="329998" y="527415"/>
                  </a:lnTo>
                  <a:lnTo>
                    <a:pt x="336076" y="523158"/>
                  </a:lnTo>
                  <a:lnTo>
                    <a:pt x="340124" y="517021"/>
                  </a:lnTo>
                  <a:lnTo>
                    <a:pt x="341596" y="509787"/>
                  </a:lnTo>
                  <a:lnTo>
                    <a:pt x="340124" y="502200"/>
                  </a:lnTo>
                  <a:lnTo>
                    <a:pt x="336076" y="496102"/>
                  </a:lnTo>
                  <a:lnTo>
                    <a:pt x="329998" y="492041"/>
                  </a:lnTo>
                  <a:lnTo>
                    <a:pt x="322440" y="490565"/>
                  </a:lnTo>
                  <a:close/>
                </a:path>
              </a:pathLst>
            </a:custGeom>
            <a:solidFill>
              <a:schemeClr val="tx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6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25" name="object 14"/>
            <p:cNvSpPr/>
            <p:nvPr>
              <p:custDataLst>
                <p:tags r:id="rId16"/>
              </p:custDataLst>
            </p:nvPr>
          </p:nvSpPr>
          <p:spPr>
            <a:xfrm>
              <a:off x="9674449" y="3931150"/>
              <a:ext cx="628015" cy="566420"/>
            </a:xfrm>
            <a:custGeom>
              <a:avLst/>
              <a:gdLst/>
              <a:ahLst/>
              <a:cxnLst/>
              <a:rect l="l" t="t" r="r" b="b"/>
              <a:pathLst>
                <a:path w="523240" h="471804">
                  <a:moveTo>
                    <a:pt x="182333" y="371678"/>
                  </a:moveTo>
                  <a:lnTo>
                    <a:pt x="170154" y="354863"/>
                  </a:lnTo>
                  <a:lnTo>
                    <a:pt x="161429" y="354863"/>
                  </a:lnTo>
                  <a:lnTo>
                    <a:pt x="157073" y="356336"/>
                  </a:lnTo>
                  <a:lnTo>
                    <a:pt x="154152" y="359270"/>
                  </a:lnTo>
                  <a:lnTo>
                    <a:pt x="143510" y="367131"/>
                  </a:lnTo>
                  <a:lnTo>
                    <a:pt x="131152" y="369747"/>
                  </a:lnTo>
                  <a:lnTo>
                    <a:pt x="118668" y="367131"/>
                  </a:lnTo>
                  <a:lnTo>
                    <a:pt x="107607" y="359270"/>
                  </a:lnTo>
                  <a:lnTo>
                    <a:pt x="104711" y="356336"/>
                  </a:lnTo>
                  <a:lnTo>
                    <a:pt x="100342" y="354863"/>
                  </a:lnTo>
                  <a:lnTo>
                    <a:pt x="91617" y="354863"/>
                  </a:lnTo>
                  <a:lnTo>
                    <a:pt x="87985" y="356336"/>
                  </a:lnTo>
                  <a:lnTo>
                    <a:pt x="84340" y="359270"/>
                  </a:lnTo>
                  <a:lnTo>
                    <a:pt x="80670" y="365239"/>
                  </a:lnTo>
                  <a:lnTo>
                    <a:pt x="79438" y="371678"/>
                  </a:lnTo>
                  <a:lnTo>
                    <a:pt x="80670" y="377977"/>
                  </a:lnTo>
                  <a:lnTo>
                    <a:pt x="117983" y="402742"/>
                  </a:lnTo>
                  <a:lnTo>
                    <a:pt x="130886" y="404088"/>
                  </a:lnTo>
                  <a:lnTo>
                    <a:pt x="143776" y="402742"/>
                  </a:lnTo>
                  <a:lnTo>
                    <a:pt x="156057" y="398767"/>
                  </a:lnTo>
                  <a:lnTo>
                    <a:pt x="167386" y="392315"/>
                  </a:lnTo>
                  <a:lnTo>
                    <a:pt x="177419" y="383514"/>
                  </a:lnTo>
                  <a:lnTo>
                    <a:pt x="181102" y="377977"/>
                  </a:lnTo>
                  <a:lnTo>
                    <a:pt x="182333" y="371678"/>
                  </a:lnTo>
                  <a:close/>
                </a:path>
                <a:path w="523240" h="471804">
                  <a:moveTo>
                    <a:pt x="313944" y="94399"/>
                  </a:moveTo>
                  <a:lnTo>
                    <a:pt x="275399" y="63792"/>
                  </a:lnTo>
                  <a:lnTo>
                    <a:pt x="262509" y="62445"/>
                  </a:lnTo>
                  <a:lnTo>
                    <a:pt x="249605" y="63792"/>
                  </a:lnTo>
                  <a:lnTo>
                    <a:pt x="215963" y="82283"/>
                  </a:lnTo>
                  <a:lnTo>
                    <a:pt x="211061" y="94399"/>
                  </a:lnTo>
                  <a:lnTo>
                    <a:pt x="212280" y="100876"/>
                  </a:lnTo>
                  <a:lnTo>
                    <a:pt x="215963" y="106527"/>
                  </a:lnTo>
                  <a:lnTo>
                    <a:pt x="221437" y="110248"/>
                  </a:lnTo>
                  <a:lnTo>
                    <a:pt x="227596" y="111493"/>
                  </a:lnTo>
                  <a:lnTo>
                    <a:pt x="233756" y="110248"/>
                  </a:lnTo>
                  <a:lnTo>
                    <a:pt x="250190" y="99085"/>
                  </a:lnTo>
                  <a:lnTo>
                    <a:pt x="262496" y="96608"/>
                  </a:lnTo>
                  <a:lnTo>
                    <a:pt x="274815" y="99085"/>
                  </a:lnTo>
                  <a:lnTo>
                    <a:pt x="291249" y="110248"/>
                  </a:lnTo>
                  <a:lnTo>
                    <a:pt x="297408" y="111493"/>
                  </a:lnTo>
                  <a:lnTo>
                    <a:pt x="303568" y="110248"/>
                  </a:lnTo>
                  <a:lnTo>
                    <a:pt x="309041" y="106527"/>
                  </a:lnTo>
                  <a:lnTo>
                    <a:pt x="312724" y="100876"/>
                  </a:lnTo>
                  <a:lnTo>
                    <a:pt x="313524" y="96608"/>
                  </a:lnTo>
                  <a:lnTo>
                    <a:pt x="313944" y="94399"/>
                  </a:lnTo>
                  <a:close/>
                </a:path>
                <a:path w="523240" h="471804">
                  <a:moveTo>
                    <a:pt x="445020" y="371678"/>
                  </a:moveTo>
                  <a:lnTo>
                    <a:pt x="433387" y="354863"/>
                  </a:lnTo>
                  <a:lnTo>
                    <a:pt x="424662" y="354863"/>
                  </a:lnTo>
                  <a:lnTo>
                    <a:pt x="420293" y="356336"/>
                  </a:lnTo>
                  <a:lnTo>
                    <a:pt x="417398" y="359270"/>
                  </a:lnTo>
                  <a:lnTo>
                    <a:pt x="406336" y="367131"/>
                  </a:lnTo>
                  <a:lnTo>
                    <a:pt x="393852" y="369747"/>
                  </a:lnTo>
                  <a:lnTo>
                    <a:pt x="381495" y="367131"/>
                  </a:lnTo>
                  <a:lnTo>
                    <a:pt x="370852" y="359270"/>
                  </a:lnTo>
                  <a:lnTo>
                    <a:pt x="367944" y="356336"/>
                  </a:lnTo>
                  <a:lnTo>
                    <a:pt x="363575" y="354863"/>
                  </a:lnTo>
                  <a:lnTo>
                    <a:pt x="354850" y="354863"/>
                  </a:lnTo>
                  <a:lnTo>
                    <a:pt x="350494" y="356336"/>
                  </a:lnTo>
                  <a:lnTo>
                    <a:pt x="347586" y="359270"/>
                  </a:lnTo>
                  <a:lnTo>
                    <a:pt x="343903" y="365239"/>
                  </a:lnTo>
                  <a:lnTo>
                    <a:pt x="342671" y="371678"/>
                  </a:lnTo>
                  <a:lnTo>
                    <a:pt x="343903" y="377977"/>
                  </a:lnTo>
                  <a:lnTo>
                    <a:pt x="381228" y="402742"/>
                  </a:lnTo>
                  <a:lnTo>
                    <a:pt x="394131" y="404088"/>
                  </a:lnTo>
                  <a:lnTo>
                    <a:pt x="407022" y="402742"/>
                  </a:lnTo>
                  <a:lnTo>
                    <a:pt x="419303" y="398767"/>
                  </a:lnTo>
                  <a:lnTo>
                    <a:pt x="430631" y="392315"/>
                  </a:lnTo>
                  <a:lnTo>
                    <a:pt x="440664" y="383514"/>
                  </a:lnTo>
                  <a:lnTo>
                    <a:pt x="443928" y="377977"/>
                  </a:lnTo>
                  <a:lnTo>
                    <a:pt x="445020" y="371678"/>
                  </a:lnTo>
                  <a:close/>
                </a:path>
                <a:path w="523240" h="471804">
                  <a:moveTo>
                    <a:pt x="522732" y="320852"/>
                  </a:moveTo>
                  <a:lnTo>
                    <a:pt x="518375" y="292493"/>
                  </a:lnTo>
                  <a:lnTo>
                    <a:pt x="499884" y="254965"/>
                  </a:lnTo>
                  <a:lnTo>
                    <a:pt x="492290" y="247027"/>
                  </a:lnTo>
                  <a:lnTo>
                    <a:pt x="492290" y="335775"/>
                  </a:lnTo>
                  <a:lnTo>
                    <a:pt x="484517" y="375285"/>
                  </a:lnTo>
                  <a:lnTo>
                    <a:pt x="463384" y="407771"/>
                  </a:lnTo>
                  <a:lnTo>
                    <a:pt x="432168" y="429780"/>
                  </a:lnTo>
                  <a:lnTo>
                    <a:pt x="394131" y="437896"/>
                  </a:lnTo>
                  <a:lnTo>
                    <a:pt x="355663" y="429780"/>
                  </a:lnTo>
                  <a:lnTo>
                    <a:pt x="324218" y="407771"/>
                  </a:lnTo>
                  <a:lnTo>
                    <a:pt x="303009" y="375285"/>
                  </a:lnTo>
                  <a:lnTo>
                    <a:pt x="295224" y="335762"/>
                  </a:lnTo>
                  <a:lnTo>
                    <a:pt x="303009" y="295821"/>
                  </a:lnTo>
                  <a:lnTo>
                    <a:pt x="322859" y="265226"/>
                  </a:lnTo>
                  <a:lnTo>
                    <a:pt x="324218" y="263118"/>
                  </a:lnTo>
                  <a:lnTo>
                    <a:pt x="355663" y="241020"/>
                  </a:lnTo>
                  <a:lnTo>
                    <a:pt x="394131" y="232892"/>
                  </a:lnTo>
                  <a:lnTo>
                    <a:pt x="432168" y="241020"/>
                  </a:lnTo>
                  <a:lnTo>
                    <a:pt x="463384" y="263118"/>
                  </a:lnTo>
                  <a:lnTo>
                    <a:pt x="484517" y="295821"/>
                  </a:lnTo>
                  <a:lnTo>
                    <a:pt x="492290" y="335775"/>
                  </a:lnTo>
                  <a:lnTo>
                    <a:pt x="492290" y="247027"/>
                  </a:lnTo>
                  <a:lnTo>
                    <a:pt x="471614" y="225412"/>
                  </a:lnTo>
                  <a:lnTo>
                    <a:pt x="435660" y="206044"/>
                  </a:lnTo>
                  <a:lnTo>
                    <a:pt x="402907" y="200571"/>
                  </a:lnTo>
                  <a:lnTo>
                    <a:pt x="394131" y="199097"/>
                  </a:lnTo>
                  <a:lnTo>
                    <a:pt x="387578" y="199097"/>
                  </a:lnTo>
                  <a:lnTo>
                    <a:pt x="374497" y="200571"/>
                  </a:lnTo>
                  <a:lnTo>
                    <a:pt x="382778" y="184086"/>
                  </a:lnTo>
                  <a:lnTo>
                    <a:pt x="388937" y="166776"/>
                  </a:lnTo>
                  <a:lnTo>
                    <a:pt x="392798" y="148907"/>
                  </a:lnTo>
                  <a:lnTo>
                    <a:pt x="394131" y="130771"/>
                  </a:lnTo>
                  <a:lnTo>
                    <a:pt x="387413" y="87579"/>
                  </a:lnTo>
                  <a:lnTo>
                    <a:pt x="368744" y="50241"/>
                  </a:lnTo>
                  <a:lnTo>
                    <a:pt x="361403" y="42697"/>
                  </a:lnTo>
                  <a:lnTo>
                    <a:pt x="361403" y="130771"/>
                  </a:lnTo>
                  <a:lnTo>
                    <a:pt x="353618" y="170599"/>
                  </a:lnTo>
                  <a:lnTo>
                    <a:pt x="332397" y="203047"/>
                  </a:lnTo>
                  <a:lnTo>
                    <a:pt x="300964" y="224891"/>
                  </a:lnTo>
                  <a:lnTo>
                    <a:pt x="262509" y="232892"/>
                  </a:lnTo>
                  <a:lnTo>
                    <a:pt x="229781" y="226098"/>
                  </a:lnTo>
                  <a:lnTo>
                    <a:pt x="229781" y="335775"/>
                  </a:lnTo>
                  <a:lnTo>
                    <a:pt x="221996" y="375285"/>
                  </a:lnTo>
                  <a:lnTo>
                    <a:pt x="200787" y="407771"/>
                  </a:lnTo>
                  <a:lnTo>
                    <a:pt x="169354" y="429780"/>
                  </a:lnTo>
                  <a:lnTo>
                    <a:pt x="130886" y="437896"/>
                  </a:lnTo>
                  <a:lnTo>
                    <a:pt x="92849" y="429780"/>
                  </a:lnTo>
                  <a:lnTo>
                    <a:pt x="61620" y="407771"/>
                  </a:lnTo>
                  <a:lnTo>
                    <a:pt x="40487" y="375285"/>
                  </a:lnTo>
                  <a:lnTo>
                    <a:pt x="32715" y="335762"/>
                  </a:lnTo>
                  <a:lnTo>
                    <a:pt x="40487" y="295821"/>
                  </a:lnTo>
                  <a:lnTo>
                    <a:pt x="61620" y="263118"/>
                  </a:lnTo>
                  <a:lnTo>
                    <a:pt x="92849" y="241020"/>
                  </a:lnTo>
                  <a:lnTo>
                    <a:pt x="130886" y="232892"/>
                  </a:lnTo>
                  <a:lnTo>
                    <a:pt x="169354" y="241020"/>
                  </a:lnTo>
                  <a:lnTo>
                    <a:pt x="200787" y="263118"/>
                  </a:lnTo>
                  <a:lnTo>
                    <a:pt x="221996" y="295821"/>
                  </a:lnTo>
                  <a:lnTo>
                    <a:pt x="229781" y="335775"/>
                  </a:lnTo>
                  <a:lnTo>
                    <a:pt x="229781" y="226098"/>
                  </a:lnTo>
                  <a:lnTo>
                    <a:pt x="192608" y="203047"/>
                  </a:lnTo>
                  <a:lnTo>
                    <a:pt x="171386" y="170599"/>
                  </a:lnTo>
                  <a:lnTo>
                    <a:pt x="163601" y="130771"/>
                  </a:lnTo>
                  <a:lnTo>
                    <a:pt x="171386" y="90830"/>
                  </a:lnTo>
                  <a:lnTo>
                    <a:pt x="192608" y="58127"/>
                  </a:lnTo>
                  <a:lnTo>
                    <a:pt x="224040" y="36029"/>
                  </a:lnTo>
                  <a:lnTo>
                    <a:pt x="262509" y="27914"/>
                  </a:lnTo>
                  <a:lnTo>
                    <a:pt x="300964" y="36029"/>
                  </a:lnTo>
                  <a:lnTo>
                    <a:pt x="332397" y="58127"/>
                  </a:lnTo>
                  <a:lnTo>
                    <a:pt x="353618" y="90830"/>
                  </a:lnTo>
                  <a:lnTo>
                    <a:pt x="361403" y="130771"/>
                  </a:lnTo>
                  <a:lnTo>
                    <a:pt x="361403" y="42697"/>
                  </a:lnTo>
                  <a:lnTo>
                    <a:pt x="347052" y="27914"/>
                  </a:lnTo>
                  <a:lnTo>
                    <a:pt x="340245" y="20904"/>
                  </a:lnTo>
                  <a:lnTo>
                    <a:pt x="304114" y="1727"/>
                  </a:lnTo>
                  <a:lnTo>
                    <a:pt x="293649" y="0"/>
                  </a:lnTo>
                  <a:lnTo>
                    <a:pt x="231355" y="0"/>
                  </a:lnTo>
                  <a:lnTo>
                    <a:pt x="184759" y="20904"/>
                  </a:lnTo>
                  <a:lnTo>
                    <a:pt x="156273" y="50241"/>
                  </a:lnTo>
                  <a:lnTo>
                    <a:pt x="137591" y="87579"/>
                  </a:lnTo>
                  <a:lnTo>
                    <a:pt x="130886" y="130771"/>
                  </a:lnTo>
                  <a:lnTo>
                    <a:pt x="132219" y="149631"/>
                  </a:lnTo>
                  <a:lnTo>
                    <a:pt x="136067" y="167601"/>
                  </a:lnTo>
                  <a:lnTo>
                    <a:pt x="142240" y="184607"/>
                  </a:lnTo>
                  <a:lnTo>
                    <a:pt x="150520" y="200571"/>
                  </a:lnTo>
                  <a:lnTo>
                    <a:pt x="137426" y="199097"/>
                  </a:lnTo>
                  <a:lnTo>
                    <a:pt x="130886" y="199097"/>
                  </a:lnTo>
                  <a:lnTo>
                    <a:pt x="89344" y="206044"/>
                  </a:lnTo>
                  <a:lnTo>
                    <a:pt x="53403" y="225412"/>
                  </a:lnTo>
                  <a:lnTo>
                    <a:pt x="25120" y="254965"/>
                  </a:lnTo>
                  <a:lnTo>
                    <a:pt x="6629" y="292493"/>
                  </a:lnTo>
                  <a:lnTo>
                    <a:pt x="0" y="335775"/>
                  </a:lnTo>
                  <a:lnTo>
                    <a:pt x="6629" y="378675"/>
                  </a:lnTo>
                  <a:lnTo>
                    <a:pt x="25120" y="415988"/>
                  </a:lnTo>
                  <a:lnTo>
                    <a:pt x="53403" y="445427"/>
                  </a:lnTo>
                  <a:lnTo>
                    <a:pt x="89344" y="464743"/>
                  </a:lnTo>
                  <a:lnTo>
                    <a:pt x="130886" y="471690"/>
                  </a:lnTo>
                  <a:lnTo>
                    <a:pt x="172504" y="464743"/>
                  </a:lnTo>
                  <a:lnTo>
                    <a:pt x="208635" y="445427"/>
                  </a:lnTo>
                  <a:lnTo>
                    <a:pt x="237121" y="415988"/>
                  </a:lnTo>
                  <a:lnTo>
                    <a:pt x="255803" y="378675"/>
                  </a:lnTo>
                  <a:lnTo>
                    <a:pt x="262509" y="335762"/>
                  </a:lnTo>
                  <a:lnTo>
                    <a:pt x="261175" y="316484"/>
                  </a:lnTo>
                  <a:lnTo>
                    <a:pt x="257327" y="298297"/>
                  </a:lnTo>
                  <a:lnTo>
                    <a:pt x="251155" y="281203"/>
                  </a:lnTo>
                  <a:lnTo>
                    <a:pt x="242874" y="265226"/>
                  </a:lnTo>
                  <a:lnTo>
                    <a:pt x="249415" y="265963"/>
                  </a:lnTo>
                  <a:lnTo>
                    <a:pt x="255955" y="267423"/>
                  </a:lnTo>
                  <a:lnTo>
                    <a:pt x="269049" y="267423"/>
                  </a:lnTo>
                  <a:lnTo>
                    <a:pt x="275602" y="265963"/>
                  </a:lnTo>
                  <a:lnTo>
                    <a:pt x="282130" y="265226"/>
                  </a:lnTo>
                  <a:lnTo>
                    <a:pt x="273545" y="281724"/>
                  </a:lnTo>
                  <a:lnTo>
                    <a:pt x="267411" y="299123"/>
                  </a:lnTo>
                  <a:lnTo>
                    <a:pt x="263728" y="317207"/>
                  </a:lnTo>
                  <a:lnTo>
                    <a:pt x="262509" y="335762"/>
                  </a:lnTo>
                  <a:lnTo>
                    <a:pt x="269214" y="378675"/>
                  </a:lnTo>
                  <a:lnTo>
                    <a:pt x="287896" y="415988"/>
                  </a:lnTo>
                  <a:lnTo>
                    <a:pt x="316382" y="445427"/>
                  </a:lnTo>
                  <a:lnTo>
                    <a:pt x="352513" y="464743"/>
                  </a:lnTo>
                  <a:lnTo>
                    <a:pt x="394131" y="471690"/>
                  </a:lnTo>
                  <a:lnTo>
                    <a:pt x="435660" y="464743"/>
                  </a:lnTo>
                  <a:lnTo>
                    <a:pt x="471614" y="445427"/>
                  </a:lnTo>
                  <a:lnTo>
                    <a:pt x="478840" y="437896"/>
                  </a:lnTo>
                  <a:lnTo>
                    <a:pt x="499884" y="415988"/>
                  </a:lnTo>
                  <a:lnTo>
                    <a:pt x="518375" y="378675"/>
                  </a:lnTo>
                  <a:lnTo>
                    <a:pt x="522732" y="350558"/>
                  </a:lnTo>
                  <a:lnTo>
                    <a:pt x="522732" y="320852"/>
                  </a:lnTo>
                  <a:close/>
                </a:path>
              </a:pathLst>
            </a:custGeom>
            <a:solidFill>
              <a:schemeClr val="tx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6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26" name="太阳形 125"/>
            <p:cNvSpPr/>
            <p:nvPr/>
          </p:nvSpPr>
          <p:spPr>
            <a:xfrm>
              <a:off x="9659268" y="2307526"/>
              <a:ext cx="659130" cy="622935"/>
            </a:xfrm>
            <a:prstGeom prst="sun">
              <a:avLst/>
            </a:prstGeom>
            <a:solidFill>
              <a:schemeClr val="tx2"/>
            </a:solidFill>
            <a:ln w="12700" cap="flat" cmpd="sng" algn="ctr">
              <a:noFill/>
              <a:prstDash val="solid"/>
              <a:headEnd type="none"/>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Arial" panose="020B0604020202020204"/>
                <a:ea typeface="黑体" panose="02010609060101010101" charset="-122"/>
                <a:cs typeface="+mn-cs"/>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r="20543"/>
          <a:stretch>
            <a:fillRect/>
          </a:stretch>
        </p:blipFill>
        <p:spPr>
          <a:xfrm>
            <a:off x="40683" y="0"/>
            <a:ext cx="5198817" cy="4931336"/>
          </a:xfrm>
          <a:prstGeom prst="rect">
            <a:avLst/>
          </a:prstGeom>
        </p:spPr>
      </p:pic>
      <p:grpSp>
        <p:nvGrpSpPr>
          <p:cNvPr id="26" name="组合 25"/>
          <p:cNvGrpSpPr/>
          <p:nvPr/>
        </p:nvGrpSpPr>
        <p:grpSpPr>
          <a:xfrm>
            <a:off x="9870710" y="1431187"/>
            <a:ext cx="1841612" cy="1593492"/>
            <a:chOff x="974252" y="1973630"/>
            <a:chExt cx="4244833" cy="3604797"/>
          </a:xfrm>
        </p:grpSpPr>
        <p:pic>
          <p:nvPicPr>
            <p:cNvPr id="27" name="图片 26"/>
            <p:cNvPicPr>
              <a:picLocks noChangeAspect="1"/>
            </p:cNvPicPr>
            <p:nvPr/>
          </p:nvPicPr>
          <p:blipFill>
            <a:blip r:embed="rId2"/>
            <a:stretch>
              <a:fillRect/>
            </a:stretch>
          </p:blipFill>
          <p:spPr>
            <a:xfrm>
              <a:off x="974252" y="1973630"/>
              <a:ext cx="4244833" cy="3604797"/>
            </a:xfrm>
            <a:prstGeom prst="rect">
              <a:avLst/>
            </a:prstGeom>
          </p:spPr>
        </p:pic>
        <p:sp>
          <p:nvSpPr>
            <p:cNvPr id="28" name="矩形 27"/>
            <p:cNvSpPr/>
            <p:nvPr/>
          </p:nvSpPr>
          <p:spPr>
            <a:xfrm>
              <a:off x="1306286" y="5297714"/>
              <a:ext cx="3686628" cy="2807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4066399" y="4933950"/>
              <a:ext cx="650744" cy="3637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文本框 29"/>
          <p:cNvSpPr txBox="1"/>
          <p:nvPr/>
        </p:nvSpPr>
        <p:spPr>
          <a:xfrm>
            <a:off x="5545006" y="1535040"/>
            <a:ext cx="4582728" cy="1261243"/>
          </a:xfrm>
          <a:prstGeom prst="rect">
            <a:avLst/>
          </a:prstGeom>
          <a:noFill/>
        </p:spPr>
        <p:txBody>
          <a:bodyPr wrap="square">
            <a:spAutoFit/>
          </a:bodyPr>
          <a:lstStyle/>
          <a:p>
            <a:pPr>
              <a:lnSpc>
                <a:spcPct val="150000"/>
              </a:lnSpc>
            </a:pPr>
            <a:r>
              <a:rPr lang="zh-CN" altLang="en-US" sz="1600" b="1" i="0" dirty="0">
                <a:effectLst/>
                <a:latin typeface="微软雅黑 Light" panose="020B0502040204020203" charset="-122"/>
                <a:ea typeface="微软雅黑 Light" panose="020B0502040204020203" charset="-122"/>
              </a:rPr>
              <a:t>专业配光设计的壁灯</a:t>
            </a:r>
            <a:endParaRPr lang="en-US" altLang="zh-CN" sz="1600" b="1" i="0" dirty="0">
              <a:effectLst/>
              <a:latin typeface="微软雅黑 Light" panose="020B0502040204020203" charset="-122"/>
              <a:ea typeface="微软雅黑 Light" panose="020B0502040204020203" charset="-122"/>
            </a:endParaRPr>
          </a:p>
          <a:p>
            <a:pPr>
              <a:lnSpc>
                <a:spcPct val="150000"/>
              </a:lnSpc>
            </a:pPr>
            <a:r>
              <a:rPr lang="zh-CN" altLang="en-US" sz="1200" b="0" i="0" dirty="0">
                <a:effectLst/>
                <a:latin typeface="微软雅黑 Light" panose="020B0502040204020203" charset="-122"/>
                <a:ea typeface="微软雅黑 Light" panose="020B0502040204020203" charset="-122"/>
              </a:rPr>
              <a:t>间接照明模式：避免灯光直射，营造明亮柔和空间</a:t>
            </a:r>
            <a:endParaRPr lang="en-US" altLang="zh-CN" sz="1200" b="0" i="0" dirty="0">
              <a:effectLst/>
              <a:latin typeface="微软雅黑 Light" panose="020B0502040204020203" charset="-122"/>
              <a:ea typeface="微软雅黑 Light" panose="020B0502040204020203" charset="-122"/>
            </a:endParaRPr>
          </a:p>
          <a:p>
            <a:pPr>
              <a:lnSpc>
                <a:spcPct val="150000"/>
              </a:lnSpc>
            </a:pPr>
            <a:r>
              <a:rPr lang="zh-CN" altLang="en-US" sz="1200" dirty="0">
                <a:latin typeface="微软雅黑 Light" panose="020B0502040204020203" charset="-122"/>
                <a:ea typeface="微软雅黑 Light" panose="020B0502040204020203" charset="-122"/>
              </a:rPr>
              <a:t>诊疗照明模式：</a:t>
            </a:r>
            <a:r>
              <a:rPr lang="zh-CN" altLang="en-US" sz="1200" b="0" i="0" dirty="0">
                <a:effectLst/>
                <a:latin typeface="微软雅黑 Light" panose="020B0502040204020203" charset="-122"/>
                <a:ea typeface="微软雅黑 Light" panose="020B0502040204020203" charset="-122"/>
              </a:rPr>
              <a:t>均匀明亮，确保医疗操作的精准性与安全性</a:t>
            </a:r>
            <a:endParaRPr lang="en-US" altLang="zh-CN" sz="1200" b="0" i="0" dirty="0">
              <a:effectLst/>
              <a:latin typeface="微软雅黑 Light" panose="020B0502040204020203" charset="-122"/>
              <a:ea typeface="微软雅黑 Light" panose="020B0502040204020203" charset="-122"/>
            </a:endParaRPr>
          </a:p>
          <a:p>
            <a:pPr>
              <a:lnSpc>
                <a:spcPct val="150000"/>
              </a:lnSpc>
            </a:pPr>
            <a:r>
              <a:rPr lang="zh-CN" altLang="en-US" sz="1200" b="0" i="0" dirty="0">
                <a:effectLst/>
                <a:latin typeface="微软雅黑 Light" panose="020B0502040204020203" charset="-122"/>
                <a:ea typeface="微软雅黑 Light" panose="020B0502040204020203" charset="-122"/>
              </a:rPr>
              <a:t>夜灯照明模式：柔和舒适，不打扰临床休息</a:t>
            </a:r>
            <a:endParaRPr lang="zh-CN" altLang="en-US" sz="1200" dirty="0">
              <a:latin typeface="微软雅黑 Light" panose="020B0502040204020203" charset="-122"/>
              <a:ea typeface="微软雅黑 Light" panose="020B0502040204020203" charset="-122"/>
            </a:endParaRPr>
          </a:p>
        </p:txBody>
      </p:sp>
      <p:sp>
        <p:nvSpPr>
          <p:cNvPr id="49" name="文本框 48"/>
          <p:cNvSpPr txBox="1"/>
          <p:nvPr/>
        </p:nvSpPr>
        <p:spPr>
          <a:xfrm>
            <a:off x="1209473" y="3285154"/>
            <a:ext cx="3323508" cy="400110"/>
          </a:xfrm>
          <a:prstGeom prst="rect">
            <a:avLst/>
          </a:prstGeom>
          <a:noFill/>
        </p:spPr>
        <p:txBody>
          <a:bodyPr wrap="square">
            <a:spAutoFit/>
          </a:bodyPr>
          <a:lstStyle/>
          <a:p>
            <a:r>
              <a:rPr lang="zh-CN" altLang="en-US" sz="2000" dirty="0">
                <a:solidFill>
                  <a:schemeClr val="bg1"/>
                </a:solidFill>
                <a:latin typeface="微软雅黑" panose="020B0503020204020204" charset="-122"/>
                <a:ea typeface="微软雅黑" panose="020B0503020204020204" charset="-122"/>
              </a:rPr>
              <a:t>疗愈</a:t>
            </a:r>
            <a:r>
              <a:rPr lang="zh-CN" altLang="en-US" sz="2000" b="1" dirty="0">
                <a:solidFill>
                  <a:schemeClr val="bg1"/>
                </a:solidFill>
                <a:latin typeface="微软雅黑" panose="020B0503020204020204" charset="-122"/>
                <a:ea typeface="微软雅黑" panose="020B0503020204020204" charset="-122"/>
              </a:rPr>
              <a:t> </a:t>
            </a:r>
            <a:r>
              <a:rPr lang="en-US" altLang="zh-CN" b="1" dirty="0">
                <a:solidFill>
                  <a:schemeClr val="bg1"/>
                </a:solidFill>
                <a:latin typeface="微软雅黑" panose="020B0503020204020204" charset="-122"/>
                <a:ea typeface="微软雅黑" panose="020B0503020204020204" charset="-122"/>
              </a:rPr>
              <a:t>·</a:t>
            </a:r>
            <a:r>
              <a:rPr lang="en-US" altLang="zh-CN" sz="2000" b="1" dirty="0">
                <a:solidFill>
                  <a:schemeClr val="bg1"/>
                </a:solidFill>
                <a:latin typeface="微软雅黑" panose="020B0503020204020204" charset="-122"/>
                <a:ea typeface="微软雅黑" panose="020B0503020204020204" charset="-122"/>
              </a:rPr>
              <a:t> </a:t>
            </a:r>
            <a:r>
              <a:rPr lang="zh-CN" altLang="en-US" sz="2000" dirty="0">
                <a:solidFill>
                  <a:schemeClr val="bg1"/>
                </a:solidFill>
                <a:latin typeface="微软雅黑" panose="020B0503020204020204" charset="-122"/>
                <a:ea typeface="微软雅黑" panose="020B0503020204020204" charset="-122"/>
              </a:rPr>
              <a:t>节律</a:t>
            </a:r>
            <a:r>
              <a:rPr lang="zh-CN" altLang="en-US" sz="2000" b="1" dirty="0">
                <a:solidFill>
                  <a:schemeClr val="bg1"/>
                </a:solidFill>
                <a:latin typeface="微软雅黑" panose="020B0503020204020204" charset="-122"/>
                <a:ea typeface="微软雅黑" panose="020B0503020204020204" charset="-122"/>
              </a:rPr>
              <a:t> </a:t>
            </a:r>
            <a:r>
              <a:rPr lang="en-US" altLang="zh-CN" b="1" dirty="0">
                <a:solidFill>
                  <a:schemeClr val="bg1"/>
                </a:solidFill>
                <a:latin typeface="微软雅黑" panose="020B0503020204020204" charset="-122"/>
                <a:ea typeface="微软雅黑" panose="020B0503020204020204" charset="-122"/>
              </a:rPr>
              <a:t>·</a:t>
            </a:r>
            <a:r>
              <a:rPr lang="en-US" altLang="zh-CN" sz="2000" b="1" dirty="0">
                <a:solidFill>
                  <a:schemeClr val="bg1"/>
                </a:solidFill>
                <a:latin typeface="微软雅黑" panose="020B0503020204020204" charset="-122"/>
                <a:ea typeface="微软雅黑" panose="020B0503020204020204" charset="-122"/>
              </a:rPr>
              <a:t> </a:t>
            </a:r>
            <a:r>
              <a:rPr lang="zh-CN" altLang="en-US" sz="2000" dirty="0">
                <a:solidFill>
                  <a:schemeClr val="bg1"/>
                </a:solidFill>
                <a:latin typeface="微软雅黑" panose="020B0503020204020204" charset="-122"/>
                <a:ea typeface="微软雅黑" panose="020B0503020204020204" charset="-122"/>
              </a:rPr>
              <a:t>助眠</a:t>
            </a:r>
            <a:r>
              <a:rPr lang="zh-CN" altLang="en-US" sz="2000" b="1" dirty="0">
                <a:solidFill>
                  <a:schemeClr val="bg1"/>
                </a:solidFill>
                <a:latin typeface="微软雅黑" panose="020B0503020204020204" charset="-122"/>
                <a:ea typeface="微软雅黑" panose="020B0503020204020204" charset="-122"/>
              </a:rPr>
              <a:t> </a:t>
            </a:r>
            <a:r>
              <a:rPr lang="en-US" altLang="zh-CN" b="1" dirty="0">
                <a:solidFill>
                  <a:schemeClr val="bg1"/>
                </a:solidFill>
                <a:latin typeface="微软雅黑" panose="020B0503020204020204" charset="-122"/>
                <a:ea typeface="微软雅黑" panose="020B0503020204020204" charset="-122"/>
              </a:rPr>
              <a:t>·</a:t>
            </a:r>
            <a:r>
              <a:rPr lang="en-US" altLang="zh-CN" sz="2000" b="1" dirty="0">
                <a:solidFill>
                  <a:schemeClr val="bg1"/>
                </a:solidFill>
                <a:latin typeface="微软雅黑" panose="020B0503020204020204" charset="-122"/>
                <a:ea typeface="微软雅黑" panose="020B0503020204020204" charset="-122"/>
              </a:rPr>
              <a:t> </a:t>
            </a:r>
            <a:r>
              <a:rPr lang="zh-CN" altLang="en-US" sz="2000" dirty="0">
                <a:solidFill>
                  <a:schemeClr val="bg1"/>
                </a:solidFill>
                <a:latin typeface="微软雅黑" panose="020B0503020204020204" charset="-122"/>
                <a:ea typeface="微软雅黑" panose="020B0503020204020204" charset="-122"/>
              </a:rPr>
              <a:t>健康</a:t>
            </a:r>
            <a:endParaRPr lang="zh-CN" altLang="en-US" sz="2000" dirty="0">
              <a:solidFill>
                <a:schemeClr val="bg1"/>
              </a:solidFill>
              <a:latin typeface="微软雅黑" panose="020B0503020204020204" charset="-122"/>
              <a:ea typeface="微软雅黑" panose="020B0503020204020204" charset="-122"/>
            </a:endParaRPr>
          </a:p>
        </p:txBody>
      </p:sp>
      <p:sp>
        <p:nvSpPr>
          <p:cNvPr id="39" name="文本框 38"/>
          <p:cNvSpPr txBox="1"/>
          <p:nvPr/>
        </p:nvSpPr>
        <p:spPr>
          <a:xfrm>
            <a:off x="5434716" y="159805"/>
            <a:ext cx="1285594" cy="400110"/>
          </a:xfrm>
          <a:prstGeom prst="rect">
            <a:avLst/>
          </a:prstGeom>
          <a:noFill/>
        </p:spPr>
        <p:txBody>
          <a:bodyPr wrap="square" rtlCol="0">
            <a:spAutoFit/>
          </a:bodyPr>
          <a:lstStyle/>
          <a:p>
            <a:pPr algn="dist"/>
            <a:r>
              <a:rPr lang="zh-CN" altLang="en-US" sz="2000" b="1" dirty="0">
                <a:solidFill>
                  <a:srgbClr val="006BB7"/>
                </a:solidFill>
                <a:latin typeface="微软雅黑" panose="020B0503020204020204" charset="-122"/>
                <a:ea typeface="微软雅黑" panose="020B0503020204020204" charset="-122"/>
              </a:rPr>
              <a:t>舒缓焦虑</a:t>
            </a:r>
            <a:endParaRPr lang="zh-CN" altLang="en-US" sz="2000" b="1" dirty="0">
              <a:solidFill>
                <a:srgbClr val="006BB7"/>
              </a:solidFill>
              <a:latin typeface="微软雅黑" panose="020B0503020204020204" charset="-122"/>
              <a:ea typeface="微软雅黑" panose="020B0503020204020204" charset="-122"/>
            </a:endParaRPr>
          </a:p>
        </p:txBody>
      </p:sp>
      <p:cxnSp>
        <p:nvCxnSpPr>
          <p:cNvPr id="40" name="直接连接符 39"/>
          <p:cNvCxnSpPr/>
          <p:nvPr/>
        </p:nvCxnSpPr>
        <p:spPr>
          <a:xfrm>
            <a:off x="5534469" y="638947"/>
            <a:ext cx="70676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6660266" y="205972"/>
            <a:ext cx="2739744" cy="369332"/>
          </a:xfrm>
          <a:prstGeom prst="rect">
            <a:avLst/>
          </a:prstGeom>
          <a:noFill/>
        </p:spPr>
        <p:txBody>
          <a:bodyPr wrap="square" rtlCol="0">
            <a:spAutoFit/>
          </a:bodyPr>
          <a:lstStyle/>
          <a:p>
            <a:r>
              <a:rPr lang="en-US" altLang="zh-CN" dirty="0">
                <a:solidFill>
                  <a:srgbClr val="0068B5"/>
                </a:solidFill>
                <a:latin typeface="72 Light" panose="020B0303030000000003" pitchFamily="34" charset="0"/>
                <a:ea typeface="微软雅黑 Light" panose="020B0502040204020203" charset="-122"/>
                <a:cs typeface="72 Light" panose="020B0303030000000003" pitchFamily="34" charset="0"/>
              </a:rPr>
              <a:t>PATIENT ROOM  </a:t>
            </a:r>
            <a:endParaRPr lang="en-US" altLang="zh-CN" dirty="0">
              <a:solidFill>
                <a:srgbClr val="0068B5"/>
              </a:solidFill>
              <a:latin typeface="72 Light" panose="020B0303030000000003" pitchFamily="34" charset="0"/>
              <a:ea typeface="微软雅黑 Light" panose="020B0502040204020203" charset="-122"/>
              <a:cs typeface="72 Light" panose="020B0303030000000003" pitchFamily="34" charset="0"/>
            </a:endParaRPr>
          </a:p>
        </p:txBody>
      </p:sp>
      <p:cxnSp>
        <p:nvCxnSpPr>
          <p:cNvPr id="42" name="直接连接符 41"/>
          <p:cNvCxnSpPr/>
          <p:nvPr/>
        </p:nvCxnSpPr>
        <p:spPr>
          <a:xfrm>
            <a:off x="5534469" y="638947"/>
            <a:ext cx="706760" cy="0"/>
          </a:xfrm>
          <a:prstGeom prst="line">
            <a:avLst/>
          </a:prstGeom>
          <a:ln w="25400">
            <a:gradFill>
              <a:gsLst>
                <a:gs pos="17000">
                  <a:srgbClr val="C67FAC"/>
                </a:gs>
                <a:gs pos="0">
                  <a:srgbClr val="1F2D65"/>
                </a:gs>
                <a:gs pos="36000">
                  <a:srgbClr val="FBEAE5"/>
                </a:gs>
                <a:gs pos="55000">
                  <a:srgbClr val="E7BF86"/>
                </a:gs>
                <a:gs pos="96460">
                  <a:srgbClr val="3E2A60"/>
                </a:gs>
                <a:gs pos="76000">
                  <a:srgbClr val="D22D51"/>
                </a:gs>
              </a:gsLst>
              <a:lin ang="0" scaled="0"/>
            </a:gra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5443538" y="691858"/>
            <a:ext cx="1663498" cy="400110"/>
          </a:xfrm>
          <a:prstGeom prst="rect">
            <a:avLst/>
          </a:prstGeom>
          <a:solidFill>
            <a:schemeClr val="bg1"/>
          </a:solidFill>
        </p:spPr>
        <p:txBody>
          <a:bodyPr wrap="square" rtlCol="0">
            <a:spAutoFit/>
          </a:bodyPr>
          <a:lstStyle/>
          <a:p>
            <a:r>
              <a:rPr lang="zh-CN" altLang="en-US" sz="2000" dirty="0">
                <a:latin typeface="微软雅黑 Light" panose="020B0502040204020203" charset="-122"/>
                <a:ea typeface="微软雅黑 Light" panose="020B0502040204020203" charset="-122"/>
              </a:rPr>
              <a:t>病房</a:t>
            </a:r>
            <a:endParaRPr lang="zh-CN" altLang="en-US" sz="2000" dirty="0">
              <a:latin typeface="微软雅黑 Light" panose="020B0502040204020203" charset="-122"/>
              <a:ea typeface="微软雅黑 Light" panose="020B0502040204020203" charset="-122"/>
            </a:endParaRPr>
          </a:p>
        </p:txBody>
      </p:sp>
      <p:grpSp>
        <p:nvGrpSpPr>
          <p:cNvPr id="19" name="组合 18"/>
          <p:cNvGrpSpPr/>
          <p:nvPr/>
        </p:nvGrpSpPr>
        <p:grpSpPr>
          <a:xfrm>
            <a:off x="50811" y="4970494"/>
            <a:ext cx="11783878" cy="1742567"/>
            <a:chOff x="181709" y="4840932"/>
            <a:chExt cx="11828579" cy="1478576"/>
          </a:xfrm>
        </p:grpSpPr>
        <p:pic>
          <p:nvPicPr>
            <p:cNvPr id="20" name="图片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38859" y="4840932"/>
              <a:ext cx="1971429" cy="1478572"/>
            </a:xfrm>
            <a:prstGeom prst="rect">
              <a:avLst/>
            </a:prstGeom>
          </p:spPr>
        </p:pic>
        <p:grpSp>
          <p:nvGrpSpPr>
            <p:cNvPr id="21" name="组合 20"/>
            <p:cNvGrpSpPr/>
            <p:nvPr/>
          </p:nvGrpSpPr>
          <p:grpSpPr>
            <a:xfrm>
              <a:off x="181709" y="4840933"/>
              <a:ext cx="9857154" cy="1478575"/>
              <a:chOff x="-9183308" y="-5353664"/>
              <a:chExt cx="25465519" cy="3819833"/>
            </a:xfrm>
          </p:grpSpPr>
          <p:pic>
            <p:nvPicPr>
              <p:cNvPr id="22" name="图片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2897" y="-5353664"/>
                <a:ext cx="5093103" cy="3819828"/>
              </a:xfrm>
              <a:prstGeom prst="rect">
                <a:avLst/>
              </a:prstGeom>
            </p:spPr>
          </p:pic>
          <p:grpSp>
            <p:nvGrpSpPr>
              <p:cNvPr id="23" name="组合 22"/>
              <p:cNvGrpSpPr/>
              <p:nvPr/>
            </p:nvGrpSpPr>
            <p:grpSpPr>
              <a:xfrm>
                <a:off x="-9183308" y="-5353663"/>
                <a:ext cx="25465519" cy="3819832"/>
                <a:chOff x="-8385687" y="8391833"/>
                <a:chExt cx="13207999" cy="1981202"/>
              </a:xfrm>
            </p:grpSpPr>
            <p:grpSp>
              <p:nvGrpSpPr>
                <p:cNvPr id="24" name="组合 23"/>
                <p:cNvGrpSpPr/>
                <p:nvPr/>
              </p:nvGrpSpPr>
              <p:grpSpPr>
                <a:xfrm>
                  <a:off x="-8385687" y="8391834"/>
                  <a:ext cx="5283201" cy="1981201"/>
                  <a:chOff x="0" y="1209963"/>
                  <a:chExt cx="7376777" cy="2766293"/>
                </a:xfrm>
              </p:grpSpPr>
              <p:pic>
                <p:nvPicPr>
                  <p:cNvPr id="33" name="图片 3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1209963"/>
                    <a:ext cx="3688388" cy="2766291"/>
                  </a:xfrm>
                  <a:prstGeom prst="rect">
                    <a:avLst/>
                  </a:prstGeom>
                </p:spPr>
              </p:pic>
              <p:pic>
                <p:nvPicPr>
                  <p:cNvPr id="34" name="图片 3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88388" y="1209964"/>
                    <a:ext cx="3688389" cy="2766292"/>
                  </a:xfrm>
                  <a:prstGeom prst="rect">
                    <a:avLst/>
                  </a:prstGeom>
                </p:spPr>
              </p:pic>
            </p:grpSp>
            <p:pic>
              <p:nvPicPr>
                <p:cNvPr id="25" name="图片 2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60887" y="8391833"/>
                  <a:ext cx="2641600" cy="1981200"/>
                </a:xfrm>
                <a:prstGeom prst="rect">
                  <a:avLst/>
                </a:prstGeom>
              </p:spPr>
            </p:pic>
            <p:pic>
              <p:nvPicPr>
                <p:cNvPr id="32" name="图片 31"/>
                <p:cNvPicPr>
                  <a:picLocks noChangeAspect="1"/>
                </p:cNvPicPr>
                <p:nvPr/>
              </p:nvPicPr>
              <p:blipFill>
                <a:blip r:embed="rId8" cstate="print">
                  <a:extLst>
                    <a:ext uri="{BEBA8EAE-BF5A-486C-A8C5-ECC9F3942E4B}">
                      <a14:imgProps xmlns:a14="http://schemas.microsoft.com/office/drawing/2010/main">
                        <a14:imgLayer r:embed="rId9">
                          <a14:imgEffect>
                            <a14:saturation sat="66000"/>
                          </a14:imgEffect>
                        </a14:imgLayer>
                      </a14:imgProps>
                    </a:ext>
                    <a:ext uri="{28A0092B-C50C-407E-A947-70E740481C1C}">
                      <a14:useLocalDpi xmlns:a14="http://schemas.microsoft.com/office/drawing/2010/main" val="0"/>
                    </a:ext>
                  </a:extLst>
                </a:blip>
                <a:stretch>
                  <a:fillRect/>
                </a:stretch>
              </p:blipFill>
              <p:spPr>
                <a:xfrm>
                  <a:off x="2180712" y="8391833"/>
                  <a:ext cx="2641600" cy="1981200"/>
                </a:xfrm>
                <a:prstGeom prst="rect">
                  <a:avLst/>
                </a:prstGeom>
              </p:spPr>
            </p:pic>
          </p:grpSp>
        </p:grpSp>
      </p:grpSp>
      <p:sp>
        <p:nvSpPr>
          <p:cNvPr id="37" name="文本框 36"/>
          <p:cNvSpPr txBox="1"/>
          <p:nvPr/>
        </p:nvSpPr>
        <p:spPr>
          <a:xfrm>
            <a:off x="5545006" y="3613353"/>
            <a:ext cx="2588901" cy="984244"/>
          </a:xfrm>
          <a:prstGeom prst="rect">
            <a:avLst/>
          </a:prstGeom>
          <a:noFill/>
        </p:spPr>
        <p:txBody>
          <a:bodyPr wrap="square">
            <a:spAutoFit/>
          </a:bodyPr>
          <a:lstStyle/>
          <a:p>
            <a:pPr>
              <a:lnSpc>
                <a:spcPct val="150000"/>
              </a:lnSpc>
            </a:pPr>
            <a:r>
              <a:rPr lang="zh-CN" altLang="en-US" sz="1600" b="1" dirty="0">
                <a:latin typeface="微软雅黑 Light" panose="020B0502040204020203" charset="-122"/>
                <a:ea typeface="微软雅黑 Light" panose="020B0502040204020203" charset="-122"/>
              </a:rPr>
              <a:t>自然疗愈</a:t>
            </a:r>
            <a:r>
              <a:rPr lang="zh-CN" altLang="en-US" sz="1600" b="1" i="0" dirty="0">
                <a:effectLst/>
                <a:latin typeface="微软雅黑 Light" panose="020B0502040204020203" charset="-122"/>
                <a:ea typeface="微软雅黑 Light" panose="020B0502040204020203" charset="-122"/>
              </a:rPr>
              <a:t>光</a:t>
            </a:r>
            <a:endParaRPr lang="en-US" altLang="zh-CN" sz="1600" b="1" i="0" dirty="0">
              <a:effectLst/>
              <a:latin typeface="微软雅黑 Light" panose="020B0502040204020203" charset="-122"/>
              <a:ea typeface="微软雅黑 Light" panose="020B0502040204020203" charset="-122"/>
            </a:endParaRPr>
          </a:p>
          <a:p>
            <a:pPr>
              <a:lnSpc>
                <a:spcPct val="150000"/>
              </a:lnSpc>
            </a:pPr>
            <a:r>
              <a:rPr lang="zh-CN" altLang="en-US" sz="1200" dirty="0">
                <a:latin typeface="微软雅黑 Light" panose="020B0502040204020203" charset="-122"/>
                <a:ea typeface="微软雅黑 Light" panose="020B0502040204020203" charset="-122"/>
              </a:rPr>
              <a:t>自然光色引入室内，感受晨曦、蓝天、晚霞的变幻，心理得到疗愈</a:t>
            </a:r>
            <a:endParaRPr lang="zh-CN" altLang="en-US" sz="1200" dirty="0">
              <a:latin typeface="微软雅黑 Light" panose="020B0502040204020203" charset="-122"/>
              <a:ea typeface="微软雅黑 Light" panose="020B0502040204020203" charset="-122"/>
            </a:endParaRPr>
          </a:p>
        </p:txBody>
      </p:sp>
      <p:sp>
        <p:nvSpPr>
          <p:cNvPr id="38" name="文本框 37"/>
          <p:cNvSpPr txBox="1"/>
          <p:nvPr/>
        </p:nvSpPr>
        <p:spPr>
          <a:xfrm>
            <a:off x="8665570" y="3613353"/>
            <a:ext cx="3370486" cy="984244"/>
          </a:xfrm>
          <a:prstGeom prst="rect">
            <a:avLst/>
          </a:prstGeom>
          <a:noFill/>
        </p:spPr>
        <p:txBody>
          <a:bodyPr wrap="square">
            <a:spAutoFit/>
          </a:bodyPr>
          <a:lstStyle/>
          <a:p>
            <a:pPr>
              <a:lnSpc>
                <a:spcPct val="150000"/>
              </a:lnSpc>
            </a:pPr>
            <a:r>
              <a:rPr lang="zh-CN" altLang="en-US" sz="1600" b="1" dirty="0">
                <a:latin typeface="微软雅黑 Light" panose="020B0502040204020203" charset="-122"/>
                <a:ea typeface="微软雅黑 Light" panose="020B0502040204020203" charset="-122"/>
              </a:rPr>
              <a:t>昼夜节律照明设计</a:t>
            </a:r>
            <a:endParaRPr lang="en-US" altLang="zh-CN" sz="1600" b="1" dirty="0">
              <a:latin typeface="微软雅黑 Light" panose="020B0502040204020203" charset="-122"/>
              <a:ea typeface="微软雅黑 Light" panose="020B0502040204020203" charset="-122"/>
            </a:endParaRPr>
          </a:p>
          <a:p>
            <a:pPr>
              <a:lnSpc>
                <a:spcPct val="150000"/>
              </a:lnSpc>
            </a:pPr>
            <a:r>
              <a:rPr lang="zh-CN" altLang="en-US" sz="1200" dirty="0">
                <a:latin typeface="微软雅黑 Light" panose="020B0502040204020203" charset="-122"/>
                <a:ea typeface="微软雅黑 Light" panose="020B0502040204020203" charset="-122"/>
              </a:rPr>
              <a:t>白天照明，保证正常的活动；</a:t>
            </a:r>
            <a:endParaRPr lang="en-US" altLang="zh-CN" sz="1200" dirty="0">
              <a:latin typeface="微软雅黑 Light" panose="020B0502040204020203" charset="-122"/>
              <a:ea typeface="微软雅黑 Light" panose="020B0502040204020203" charset="-122"/>
            </a:endParaRPr>
          </a:p>
          <a:p>
            <a:pPr>
              <a:lnSpc>
                <a:spcPct val="150000"/>
              </a:lnSpc>
            </a:pPr>
            <a:r>
              <a:rPr lang="zh-CN" altLang="en-US" sz="1200" dirty="0">
                <a:latin typeface="微软雅黑 Light" panose="020B0502040204020203" charset="-122"/>
                <a:ea typeface="微软雅黑 Light" panose="020B0502040204020203" charset="-122"/>
              </a:rPr>
              <a:t>夜晚低色温应用，有利褪黑素分泌，促进睡眠。</a:t>
            </a:r>
            <a:endParaRPr lang="zh-CN" altLang="en-US" sz="1200" dirty="0">
              <a:latin typeface="微软雅黑 Light" panose="020B0502040204020203" charset="-122"/>
              <a:ea typeface="微软雅黑 Light" panose="020B0502040204020203"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a:blip r:embed="rId1"/>
          <a:stretch>
            <a:fillRect/>
          </a:stretch>
        </p:blipFill>
        <p:spPr>
          <a:xfrm>
            <a:off x="546559" y="4773147"/>
            <a:ext cx="1751954" cy="1491092"/>
          </a:xfrm>
          <a:prstGeom prst="rect">
            <a:avLst/>
          </a:prstGeom>
        </p:spPr>
      </p:pic>
      <p:pic>
        <p:nvPicPr>
          <p:cNvPr id="20" name="图片 19"/>
          <p:cNvPicPr>
            <a:picLocks noChangeAspect="1"/>
          </p:cNvPicPr>
          <p:nvPr/>
        </p:nvPicPr>
        <p:blipFill>
          <a:blip r:embed="rId2"/>
          <a:stretch>
            <a:fillRect/>
          </a:stretch>
        </p:blipFill>
        <p:spPr>
          <a:xfrm>
            <a:off x="666912" y="3112438"/>
            <a:ext cx="1515068" cy="1123315"/>
          </a:xfrm>
          <a:prstGeom prst="rect">
            <a:avLst/>
          </a:prstGeom>
        </p:spPr>
      </p:pic>
      <p:sp>
        <p:nvSpPr>
          <p:cNvPr id="21" name="文本框 20"/>
          <p:cNvSpPr txBox="1"/>
          <p:nvPr/>
        </p:nvSpPr>
        <p:spPr>
          <a:xfrm>
            <a:off x="563379" y="4283820"/>
            <a:ext cx="1735134" cy="261610"/>
          </a:xfrm>
          <a:prstGeom prst="rect">
            <a:avLst/>
          </a:prstGeom>
          <a:noFill/>
        </p:spPr>
        <p:txBody>
          <a:bodyPr wrap="square" rtlCol="0">
            <a:spAutoFit/>
          </a:bodyPr>
          <a:lstStyle/>
          <a:p>
            <a:r>
              <a:rPr lang="en-US" altLang="zh-CN" sz="1100" dirty="0"/>
              <a:t>1800-12000K</a:t>
            </a:r>
            <a:r>
              <a:rPr lang="zh-CN" altLang="en-US" sz="1100" dirty="0"/>
              <a:t>色温调节</a:t>
            </a:r>
            <a:endParaRPr lang="en-US" altLang="zh-CN" sz="1100" dirty="0"/>
          </a:p>
        </p:txBody>
      </p:sp>
      <p:sp>
        <p:nvSpPr>
          <p:cNvPr id="23" name="文本框 22"/>
          <p:cNvSpPr txBox="1"/>
          <p:nvPr/>
        </p:nvSpPr>
        <p:spPr>
          <a:xfrm>
            <a:off x="666563" y="6105563"/>
            <a:ext cx="1631950" cy="261610"/>
          </a:xfrm>
          <a:prstGeom prst="rect">
            <a:avLst/>
          </a:prstGeom>
          <a:noFill/>
        </p:spPr>
        <p:txBody>
          <a:bodyPr wrap="square">
            <a:spAutoFit/>
          </a:bodyPr>
          <a:lstStyle/>
          <a:p>
            <a:r>
              <a:rPr lang="en-US" altLang="zh-CN" sz="1100" dirty="0"/>
              <a:t>256</a:t>
            </a:r>
            <a:r>
              <a:rPr lang="zh-CN" altLang="en-US" sz="1100" dirty="0"/>
              <a:t>色彩色光谱</a:t>
            </a:r>
            <a:endParaRPr lang="zh-CN" altLang="en-US" sz="1100" dirty="0"/>
          </a:p>
        </p:txBody>
      </p:sp>
      <p:sp>
        <p:nvSpPr>
          <p:cNvPr id="14" name="文本框 13"/>
          <p:cNvSpPr txBox="1"/>
          <p:nvPr/>
        </p:nvSpPr>
        <p:spPr>
          <a:xfrm>
            <a:off x="574956" y="351393"/>
            <a:ext cx="1285594" cy="400110"/>
          </a:xfrm>
          <a:prstGeom prst="rect">
            <a:avLst/>
          </a:prstGeom>
          <a:noFill/>
        </p:spPr>
        <p:txBody>
          <a:bodyPr wrap="square" rtlCol="0">
            <a:spAutoFit/>
          </a:bodyPr>
          <a:lstStyle/>
          <a:p>
            <a:pPr algn="dist"/>
            <a:r>
              <a:rPr lang="zh-CN" altLang="en-US" sz="2000" b="1" dirty="0">
                <a:solidFill>
                  <a:srgbClr val="006BB7"/>
                </a:solidFill>
                <a:latin typeface="微软雅黑" panose="020B0503020204020204" charset="-122"/>
                <a:ea typeface="微软雅黑" panose="020B0503020204020204" charset="-122"/>
              </a:rPr>
              <a:t>舒缓焦虑</a:t>
            </a:r>
            <a:endParaRPr lang="zh-CN" altLang="en-US" sz="2000" b="1" dirty="0">
              <a:solidFill>
                <a:srgbClr val="006BB7"/>
              </a:solidFill>
              <a:latin typeface="微软雅黑" panose="020B0503020204020204" charset="-122"/>
              <a:ea typeface="微软雅黑" panose="020B0503020204020204" charset="-122"/>
            </a:endParaRPr>
          </a:p>
        </p:txBody>
      </p:sp>
      <p:sp>
        <p:nvSpPr>
          <p:cNvPr id="17" name="文本框 16"/>
          <p:cNvSpPr txBox="1"/>
          <p:nvPr/>
        </p:nvSpPr>
        <p:spPr>
          <a:xfrm>
            <a:off x="574956" y="1004972"/>
            <a:ext cx="2739744" cy="461665"/>
          </a:xfrm>
          <a:prstGeom prst="rect">
            <a:avLst/>
          </a:prstGeom>
          <a:noFill/>
        </p:spPr>
        <p:txBody>
          <a:bodyPr wrap="square" rtlCol="0">
            <a:spAutoFit/>
          </a:bodyPr>
          <a:lstStyle/>
          <a:p>
            <a:r>
              <a:rPr lang="en-US" altLang="zh-CN" sz="1200" dirty="0">
                <a:solidFill>
                  <a:srgbClr val="0068B5"/>
                </a:solidFill>
                <a:latin typeface="72 Light" panose="020B0303030000000003" pitchFamily="34" charset="0"/>
                <a:ea typeface="微软雅黑 Light" panose="020B0502040204020203" charset="-122"/>
                <a:cs typeface="72 Light" panose="020B0303030000000003" pitchFamily="34" charset="0"/>
              </a:rPr>
              <a:t>WAITING ROOM</a:t>
            </a:r>
            <a:endParaRPr lang="en-US" altLang="zh-CN" sz="1200" dirty="0">
              <a:solidFill>
                <a:srgbClr val="0068B5"/>
              </a:solidFill>
              <a:latin typeface="72 Light" panose="020B0303030000000003" pitchFamily="34" charset="0"/>
              <a:ea typeface="微软雅黑 Light" panose="020B0502040204020203" charset="-122"/>
              <a:cs typeface="72 Light" panose="020B0303030000000003" pitchFamily="34" charset="0"/>
            </a:endParaRPr>
          </a:p>
          <a:p>
            <a:r>
              <a:rPr lang="en-US" altLang="zh-CN" sz="1200" dirty="0">
                <a:solidFill>
                  <a:srgbClr val="0068B5"/>
                </a:solidFill>
                <a:latin typeface="72 Light" panose="020B0303030000000003" pitchFamily="34" charset="0"/>
                <a:ea typeface="微软雅黑 Light" panose="020B0502040204020203" charset="-122"/>
                <a:cs typeface="72 Light" panose="020B0303030000000003" pitchFamily="34" charset="0"/>
              </a:rPr>
              <a:t>EXAMINATION ROOM  </a:t>
            </a:r>
            <a:endParaRPr lang="en-US" altLang="zh-CN" sz="1200" dirty="0">
              <a:solidFill>
                <a:srgbClr val="0068B5"/>
              </a:solidFill>
              <a:latin typeface="72 Light" panose="020B0303030000000003" pitchFamily="34" charset="0"/>
              <a:ea typeface="微软雅黑 Light" panose="020B0502040204020203" charset="-122"/>
              <a:cs typeface="72 Light" panose="020B0303030000000003" pitchFamily="34" charset="0"/>
            </a:endParaRPr>
          </a:p>
        </p:txBody>
      </p:sp>
      <p:cxnSp>
        <p:nvCxnSpPr>
          <p:cNvPr id="22" name="直接连接符 21"/>
          <p:cNvCxnSpPr/>
          <p:nvPr/>
        </p:nvCxnSpPr>
        <p:spPr>
          <a:xfrm>
            <a:off x="666912" y="831230"/>
            <a:ext cx="706760" cy="0"/>
          </a:xfrm>
          <a:prstGeom prst="line">
            <a:avLst/>
          </a:prstGeom>
          <a:ln w="25400">
            <a:gradFill>
              <a:gsLst>
                <a:gs pos="17000">
                  <a:srgbClr val="C67FAC"/>
                </a:gs>
                <a:gs pos="0">
                  <a:srgbClr val="1F2D65"/>
                </a:gs>
                <a:gs pos="36000">
                  <a:srgbClr val="FBEAE5"/>
                </a:gs>
                <a:gs pos="55000">
                  <a:srgbClr val="E7BF86"/>
                </a:gs>
                <a:gs pos="96460">
                  <a:srgbClr val="3E2A60"/>
                </a:gs>
                <a:gs pos="76000">
                  <a:srgbClr val="D22D51"/>
                </a:gs>
              </a:gsLst>
              <a:lin ang="0" scaled="0"/>
            </a:gradFill>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3416299" y="256165"/>
            <a:ext cx="8559563" cy="6345669"/>
            <a:chOff x="4165445" y="612826"/>
            <a:chExt cx="7732932" cy="5732843"/>
          </a:xfrm>
        </p:grpSpPr>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r="10940"/>
            <a:stretch>
              <a:fillRect/>
            </a:stretch>
          </p:blipFill>
          <p:spPr>
            <a:xfrm>
              <a:off x="8508228" y="726103"/>
              <a:ext cx="3263149" cy="2553466"/>
            </a:xfrm>
            <a:prstGeom prst="rect">
              <a:avLst/>
            </a:prstGeom>
          </p:spPr>
        </p:pic>
        <p:pic>
          <p:nvPicPr>
            <p:cNvPr id="18" name="图片 17"/>
            <p:cNvPicPr>
              <a:picLocks noChangeAspect="1"/>
            </p:cNvPicPr>
            <p:nvPr/>
          </p:nvPicPr>
          <p:blipFill>
            <a:blip r:embed="rId4" cstate="print">
              <a:extLst>
                <a:ext uri="{BEBA8EAE-BF5A-486C-A8C5-ECC9F3942E4B}">
                  <a14:imgProps xmlns:a14="http://schemas.microsoft.com/office/drawing/2010/main">
                    <a14:imgLayer r:embed="rId5">
                      <a14:imgEffect>
                        <a14:brightnessContrast bright="20000"/>
                      </a14:imgEffect>
                      <a14:imgEffect>
                        <a14:saturation sat="66000"/>
                      </a14:imgEffect>
                    </a14:imgLayer>
                  </a14:imgProps>
                </a:ext>
                <a:ext uri="{28A0092B-C50C-407E-A947-70E740481C1C}">
                  <a14:useLocalDpi xmlns:a14="http://schemas.microsoft.com/office/drawing/2010/main" val="0"/>
                </a:ext>
              </a:extLst>
            </a:blip>
            <a:stretch>
              <a:fillRect/>
            </a:stretch>
          </p:blipFill>
          <p:spPr>
            <a:xfrm>
              <a:off x="4542540" y="726102"/>
              <a:ext cx="3873900" cy="2553461"/>
            </a:xfrm>
            <a:prstGeom prst="rect">
              <a:avLst/>
            </a:prstGeom>
          </p:spPr>
        </p:pic>
        <p:sp>
          <p:nvSpPr>
            <p:cNvPr id="7" name="矩形 6"/>
            <p:cNvSpPr/>
            <p:nvPr/>
          </p:nvSpPr>
          <p:spPr>
            <a:xfrm>
              <a:off x="4165446" y="612826"/>
              <a:ext cx="7732931" cy="2809879"/>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4" name="图片 23"/>
            <p:cNvPicPr>
              <a:picLocks noChangeAspect="1"/>
            </p:cNvPicPr>
            <p:nvPr/>
          </p:nvPicPr>
          <p:blipFill>
            <a:blip r:embed="rId6"/>
            <a:stretch>
              <a:fillRect/>
            </a:stretch>
          </p:blipFill>
          <p:spPr>
            <a:xfrm>
              <a:off x="4542540" y="3700674"/>
              <a:ext cx="4084460" cy="2480113"/>
            </a:xfrm>
            <a:prstGeom prst="rect">
              <a:avLst/>
            </a:prstGeom>
          </p:spPr>
        </p:pic>
        <p:pic>
          <p:nvPicPr>
            <p:cNvPr id="25" name="图片 24"/>
            <p:cNvPicPr>
              <a:picLocks noChangeAspect="1"/>
            </p:cNvPicPr>
            <p:nvPr/>
          </p:nvPicPr>
          <p:blipFill>
            <a:blip r:embed="rId7"/>
            <a:srcRect r="14980"/>
            <a:stretch>
              <a:fillRect/>
            </a:stretch>
          </p:blipFill>
          <p:spPr>
            <a:xfrm>
              <a:off x="8688443" y="3700674"/>
              <a:ext cx="3100558" cy="2507458"/>
            </a:xfrm>
            <a:prstGeom prst="rect">
              <a:avLst/>
            </a:prstGeom>
          </p:spPr>
        </p:pic>
        <p:sp>
          <p:nvSpPr>
            <p:cNvPr id="26" name="矩形 25"/>
            <p:cNvSpPr/>
            <p:nvPr/>
          </p:nvSpPr>
          <p:spPr>
            <a:xfrm>
              <a:off x="4165445" y="3535790"/>
              <a:ext cx="7732932" cy="2809879"/>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文本框 9"/>
          <p:cNvSpPr txBox="1"/>
          <p:nvPr/>
        </p:nvSpPr>
        <p:spPr>
          <a:xfrm>
            <a:off x="2975649" y="1301079"/>
            <a:ext cx="339051" cy="1077218"/>
          </a:xfrm>
          <a:prstGeom prst="rect">
            <a:avLst/>
          </a:prstGeom>
          <a:solidFill>
            <a:schemeClr val="bg1"/>
          </a:solidFill>
        </p:spPr>
        <p:txBody>
          <a:bodyPr wrap="square" rtlCol="0">
            <a:spAutoFit/>
          </a:bodyPr>
          <a:lstStyle/>
          <a:p>
            <a:r>
              <a:rPr lang="zh-CN" altLang="en-US" sz="1600" dirty="0">
                <a:latin typeface="微软雅黑 Light" panose="020B0502040204020203" charset="-122"/>
                <a:ea typeface="微软雅黑 Light" panose="020B0502040204020203" charset="-122"/>
              </a:rPr>
              <a:t>候诊大厅</a:t>
            </a:r>
            <a:endParaRPr lang="zh-CN" altLang="en-US" sz="1600" dirty="0">
              <a:latin typeface="微软雅黑 Light" panose="020B0502040204020203" charset="-122"/>
              <a:ea typeface="微软雅黑 Light" panose="020B0502040204020203" charset="-122"/>
            </a:endParaRPr>
          </a:p>
        </p:txBody>
      </p:sp>
      <p:sp>
        <p:nvSpPr>
          <p:cNvPr id="27" name="文本框 26"/>
          <p:cNvSpPr txBox="1"/>
          <p:nvPr/>
        </p:nvSpPr>
        <p:spPr>
          <a:xfrm>
            <a:off x="2975649" y="4562523"/>
            <a:ext cx="217983" cy="1077218"/>
          </a:xfrm>
          <a:prstGeom prst="rect">
            <a:avLst/>
          </a:prstGeom>
          <a:solidFill>
            <a:schemeClr val="bg1"/>
          </a:solidFill>
        </p:spPr>
        <p:txBody>
          <a:bodyPr wrap="square" rtlCol="0">
            <a:spAutoFit/>
          </a:bodyPr>
          <a:lstStyle/>
          <a:p>
            <a:r>
              <a:rPr lang="zh-CN" altLang="en-US" sz="1600" dirty="0">
                <a:latin typeface="微软雅黑 Light" panose="020B0502040204020203" charset="-122"/>
                <a:ea typeface="微软雅黑 Light" panose="020B0502040204020203" charset="-122"/>
              </a:rPr>
              <a:t>磁共振室</a:t>
            </a:r>
            <a:endParaRPr lang="zh-CN" altLang="en-US" sz="1600" dirty="0">
              <a:latin typeface="微软雅黑 Light" panose="020B0502040204020203" charset="-122"/>
              <a:ea typeface="微软雅黑 Light" panose="020B0502040204020203"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l="11588" r="10951"/>
          <a:stretch>
            <a:fillRect/>
          </a:stretch>
        </p:blipFill>
        <p:spPr>
          <a:xfrm>
            <a:off x="5109028" y="0"/>
            <a:ext cx="7082971" cy="6858000"/>
          </a:xfrm>
          <a:prstGeom prst="rect">
            <a:avLst/>
          </a:prstGeom>
        </p:spPr>
      </p:pic>
      <p:grpSp>
        <p:nvGrpSpPr>
          <p:cNvPr id="19" name="组合 18"/>
          <p:cNvGrpSpPr/>
          <p:nvPr/>
        </p:nvGrpSpPr>
        <p:grpSpPr>
          <a:xfrm>
            <a:off x="564892" y="2884570"/>
            <a:ext cx="4014947" cy="2709113"/>
            <a:chOff x="256043" y="2179199"/>
            <a:chExt cx="4599245" cy="3103373"/>
          </a:xfrm>
        </p:grpSpPr>
        <p:pic>
          <p:nvPicPr>
            <p:cNvPr id="13" name="图片 12"/>
            <p:cNvPicPr>
              <a:picLocks noChangeAspect="1"/>
            </p:cNvPicPr>
            <p:nvPr/>
          </p:nvPicPr>
          <p:blipFill rotWithShape="1">
            <a:blip r:embed="rId2"/>
            <a:srcRect l="1274" t="18678" r="1733" b="3200"/>
            <a:stretch>
              <a:fillRect/>
            </a:stretch>
          </p:blipFill>
          <p:spPr>
            <a:xfrm>
              <a:off x="256043" y="2179199"/>
              <a:ext cx="4599245" cy="1598521"/>
            </a:xfrm>
            <a:prstGeom prst="rect">
              <a:avLst/>
            </a:prstGeom>
          </p:spPr>
        </p:pic>
        <p:pic>
          <p:nvPicPr>
            <p:cNvPr id="14" name="图片 13"/>
            <p:cNvPicPr>
              <a:picLocks noChangeAspect="1"/>
            </p:cNvPicPr>
            <p:nvPr/>
          </p:nvPicPr>
          <p:blipFill>
            <a:blip r:embed="rId3"/>
            <a:stretch>
              <a:fillRect/>
            </a:stretch>
          </p:blipFill>
          <p:spPr>
            <a:xfrm>
              <a:off x="256044" y="3933231"/>
              <a:ext cx="4599244" cy="1349341"/>
            </a:xfrm>
            <a:prstGeom prst="rect">
              <a:avLst/>
            </a:prstGeom>
          </p:spPr>
        </p:pic>
      </p:grpSp>
      <p:sp>
        <p:nvSpPr>
          <p:cNvPr id="3" name="文本框 2"/>
          <p:cNvSpPr txBox="1"/>
          <p:nvPr/>
        </p:nvSpPr>
        <p:spPr>
          <a:xfrm>
            <a:off x="564892" y="1853299"/>
            <a:ext cx="1955800" cy="461665"/>
          </a:xfrm>
          <a:prstGeom prst="rect">
            <a:avLst/>
          </a:prstGeom>
          <a:noFill/>
        </p:spPr>
        <p:txBody>
          <a:bodyPr wrap="square" rtlCol="0">
            <a:spAutoFit/>
          </a:bodyPr>
          <a:lstStyle/>
          <a:p>
            <a:r>
              <a:rPr lang="zh-CN" altLang="en-US" sz="2400" dirty="0">
                <a:solidFill>
                  <a:schemeClr val="tx1">
                    <a:lumMod val="50000"/>
                    <a:lumOff val="50000"/>
                  </a:schemeClr>
                </a:solidFill>
                <a:latin typeface="等线 Light" panose="02010600030101010101" pitchFamily="2" charset="-122"/>
                <a:ea typeface="等线 Light" panose="02010600030101010101" pitchFamily="2" charset="-122"/>
              </a:rPr>
              <a:t>欧普清澈光</a:t>
            </a:r>
            <a:endParaRPr lang="zh-CN" altLang="en-US" sz="2400" dirty="0">
              <a:solidFill>
                <a:schemeClr val="tx1">
                  <a:lumMod val="50000"/>
                  <a:lumOff val="50000"/>
                </a:schemeClr>
              </a:solidFill>
              <a:latin typeface="等线 Light" panose="02010600030101010101" pitchFamily="2" charset="-122"/>
              <a:ea typeface="等线 Light" panose="02010600030101010101" pitchFamily="2" charset="-122"/>
            </a:endParaRPr>
          </a:p>
        </p:txBody>
      </p:sp>
      <p:sp>
        <p:nvSpPr>
          <p:cNvPr id="18" name="文本框 17"/>
          <p:cNvSpPr txBox="1"/>
          <p:nvPr/>
        </p:nvSpPr>
        <p:spPr>
          <a:xfrm>
            <a:off x="557053" y="2292543"/>
            <a:ext cx="2413583" cy="400110"/>
          </a:xfrm>
          <a:prstGeom prst="rect">
            <a:avLst/>
          </a:prstGeom>
          <a:noFill/>
        </p:spPr>
        <p:txBody>
          <a:bodyPr wrap="square" rtlCol="0">
            <a:spAutoFit/>
          </a:bodyPr>
          <a:lstStyle/>
          <a:p>
            <a:r>
              <a:rPr lang="zh-CN" altLang="en-US" sz="2000" b="1" dirty="0">
                <a:solidFill>
                  <a:schemeClr val="tx1">
                    <a:lumMod val="75000"/>
                    <a:lumOff val="25000"/>
                  </a:schemeClr>
                </a:solidFill>
                <a:latin typeface="+mn-ea"/>
              </a:rPr>
              <a:t>清晰看诊 舒适高效</a:t>
            </a:r>
            <a:endParaRPr lang="zh-CN" altLang="en-US" sz="2000" b="1" dirty="0">
              <a:solidFill>
                <a:schemeClr val="tx1">
                  <a:lumMod val="75000"/>
                  <a:lumOff val="25000"/>
                </a:schemeClr>
              </a:solidFill>
              <a:latin typeface="+mn-ea"/>
            </a:endParaRPr>
          </a:p>
        </p:txBody>
      </p:sp>
      <p:pic>
        <p:nvPicPr>
          <p:cNvPr id="21" name="图片 20"/>
          <p:cNvPicPr>
            <a:picLocks noChangeAspect="1"/>
          </p:cNvPicPr>
          <p:nvPr/>
        </p:nvPicPr>
        <p:blipFill>
          <a:blip r:embed="rId4"/>
          <a:stretch>
            <a:fillRect/>
          </a:stretch>
        </p:blipFill>
        <p:spPr>
          <a:xfrm>
            <a:off x="2657603" y="5660495"/>
            <a:ext cx="1922236" cy="773781"/>
          </a:xfrm>
          <a:prstGeom prst="rect">
            <a:avLst/>
          </a:prstGeom>
        </p:spPr>
      </p:pic>
      <p:sp>
        <p:nvSpPr>
          <p:cNvPr id="24" name="文本框 23"/>
          <p:cNvSpPr txBox="1"/>
          <p:nvPr/>
        </p:nvSpPr>
        <p:spPr>
          <a:xfrm>
            <a:off x="452116" y="5707667"/>
            <a:ext cx="2623456" cy="790922"/>
          </a:xfrm>
          <a:prstGeom prst="rect">
            <a:avLst/>
          </a:prstGeom>
          <a:noFill/>
        </p:spPr>
        <p:txBody>
          <a:bodyPr wrap="square">
            <a:spAutoFit/>
          </a:bodyPr>
          <a:lstStyle/>
          <a:p>
            <a:pPr>
              <a:lnSpc>
                <a:spcPct val="150000"/>
              </a:lnSpc>
            </a:pPr>
            <a:r>
              <a:rPr lang="zh-CN" altLang="en-US" sz="1050" b="1" dirty="0">
                <a:solidFill>
                  <a:schemeClr val="tx1">
                    <a:lumMod val="75000"/>
                    <a:lumOff val="25000"/>
                  </a:schemeClr>
                </a:solidFill>
                <a:latin typeface="微软雅黑 Light" panose="020B0502040204020203" charset="-122"/>
                <a:ea typeface="微软雅黑 Light" panose="020B0502040204020203" charset="-122"/>
                <a:sym typeface="+mn-ea"/>
              </a:rPr>
              <a:t>专业光：</a:t>
            </a:r>
            <a:r>
              <a:rPr lang="zh-CN" altLang="en-US" sz="1050" dirty="0">
                <a:solidFill>
                  <a:schemeClr val="tx1">
                    <a:lumMod val="75000"/>
                    <a:lumOff val="25000"/>
                  </a:schemeClr>
                </a:solidFill>
                <a:latin typeface="微软雅黑 Light" panose="020B0502040204020203" charset="-122"/>
                <a:ea typeface="微软雅黑 Light" panose="020B0502040204020203" charset="-122"/>
                <a:sym typeface="+mn-ea"/>
              </a:rPr>
              <a:t>提升发绀诊断效率（</a:t>
            </a:r>
            <a:r>
              <a:rPr lang="en-US" altLang="zh-CN" sz="1050" dirty="0">
                <a:solidFill>
                  <a:schemeClr val="tx1">
                    <a:lumMod val="75000"/>
                    <a:lumOff val="25000"/>
                  </a:schemeClr>
                </a:solidFill>
                <a:latin typeface="微软雅黑 Light" panose="020B0502040204020203" charset="-122"/>
                <a:ea typeface="微软雅黑 Light" panose="020B0502040204020203" charset="-122"/>
                <a:sym typeface="+mn-ea"/>
              </a:rPr>
              <a:t>COI</a:t>
            </a:r>
            <a:r>
              <a:rPr lang="zh-CN" altLang="en-US" sz="1050" dirty="0">
                <a:solidFill>
                  <a:schemeClr val="tx1">
                    <a:lumMod val="75000"/>
                    <a:lumOff val="25000"/>
                  </a:schemeClr>
                </a:solidFill>
                <a:latin typeface="微软雅黑 Light" panose="020B0502040204020203" charset="-122"/>
                <a:ea typeface="微软雅黑 Light" panose="020B0502040204020203" charset="-122"/>
                <a:sym typeface="+mn-ea"/>
              </a:rPr>
              <a:t>）</a:t>
            </a:r>
            <a:endParaRPr lang="en-US" altLang="zh-CN" sz="1050" dirty="0">
              <a:solidFill>
                <a:schemeClr val="tx1">
                  <a:lumMod val="75000"/>
                  <a:lumOff val="25000"/>
                </a:schemeClr>
              </a:solidFill>
              <a:latin typeface="微软雅黑 Light" panose="020B0502040204020203" charset="-122"/>
              <a:ea typeface="微软雅黑 Light" panose="020B0502040204020203" charset="-122"/>
              <a:sym typeface="+mn-ea"/>
            </a:endParaRPr>
          </a:p>
          <a:p>
            <a:pPr>
              <a:lnSpc>
                <a:spcPct val="150000"/>
              </a:lnSpc>
            </a:pPr>
            <a:r>
              <a:rPr lang="zh-CN" altLang="en-US" sz="1050" b="1" dirty="0">
                <a:solidFill>
                  <a:schemeClr val="tx1">
                    <a:lumMod val="75000"/>
                    <a:lumOff val="25000"/>
                  </a:schemeClr>
                </a:solidFill>
                <a:latin typeface="微软雅黑 Light" panose="020B0502040204020203" charset="-122"/>
                <a:ea typeface="微软雅黑 Light" panose="020B0502040204020203" charset="-122"/>
                <a:sym typeface="+mn-ea"/>
              </a:rPr>
              <a:t>清澈光：</a:t>
            </a:r>
            <a:r>
              <a:rPr lang="zh-CN" altLang="en-US" sz="1050" dirty="0">
                <a:solidFill>
                  <a:schemeClr val="tx1">
                    <a:lumMod val="75000"/>
                    <a:lumOff val="25000"/>
                  </a:schemeClr>
                </a:solidFill>
                <a:latin typeface="微软雅黑 Light" panose="020B0502040204020203" charset="-122"/>
                <a:ea typeface="微软雅黑 Light" panose="020B0502040204020203" charset="-122"/>
                <a:sym typeface="+mn-ea"/>
              </a:rPr>
              <a:t>提升辨识度，减缓疲劳</a:t>
            </a:r>
            <a:endParaRPr lang="en-US" altLang="zh-CN" sz="1050" dirty="0">
              <a:solidFill>
                <a:schemeClr val="tx1">
                  <a:lumMod val="75000"/>
                  <a:lumOff val="25000"/>
                </a:schemeClr>
              </a:solidFill>
              <a:latin typeface="微软雅黑 Light" panose="020B0502040204020203" charset="-122"/>
              <a:ea typeface="微软雅黑 Light" panose="020B0502040204020203" charset="-122"/>
              <a:sym typeface="+mn-ea"/>
            </a:endParaRPr>
          </a:p>
          <a:p>
            <a:pPr>
              <a:lnSpc>
                <a:spcPct val="150000"/>
              </a:lnSpc>
            </a:pPr>
            <a:r>
              <a:rPr lang="en-US" altLang="zh-CN" sz="1050" dirty="0">
                <a:solidFill>
                  <a:schemeClr val="tx1">
                    <a:lumMod val="75000"/>
                    <a:lumOff val="25000"/>
                  </a:schemeClr>
                </a:solidFill>
                <a:latin typeface="微软雅黑 Light" panose="020B0502040204020203" charset="-122"/>
                <a:ea typeface="微软雅黑 Light" panose="020B0502040204020203" charset="-122"/>
                <a:sym typeface="+mn-ea"/>
              </a:rPr>
              <a:t>            </a:t>
            </a:r>
            <a:r>
              <a:rPr lang="zh-CN" altLang="en-US" sz="1050" dirty="0">
                <a:solidFill>
                  <a:schemeClr val="tx1">
                    <a:lumMod val="75000"/>
                    <a:lumOff val="25000"/>
                  </a:schemeClr>
                </a:solidFill>
                <a:latin typeface="微软雅黑 Light" panose="020B0502040204020203" charset="-122"/>
                <a:ea typeface="微软雅黑 Light" panose="020B0502040204020203" charset="-122"/>
                <a:sym typeface="+mn-ea"/>
              </a:rPr>
              <a:t>（</a:t>
            </a:r>
            <a:r>
              <a:rPr lang="en-US" altLang="zh-CN" sz="1050" dirty="0">
                <a:solidFill>
                  <a:schemeClr val="tx1">
                    <a:lumMod val="75000"/>
                    <a:lumOff val="25000"/>
                  </a:schemeClr>
                </a:solidFill>
                <a:latin typeface="微软雅黑 Light" panose="020B0502040204020203" charset="-122"/>
                <a:ea typeface="微软雅黑 Light" panose="020B0502040204020203" charset="-122"/>
                <a:sym typeface="+mn-ea"/>
              </a:rPr>
              <a:t>CDM</a:t>
            </a:r>
            <a:r>
              <a:rPr lang="zh-CN" altLang="en-US" sz="1050" dirty="0">
                <a:solidFill>
                  <a:schemeClr val="tx1">
                    <a:lumMod val="75000"/>
                    <a:lumOff val="25000"/>
                  </a:schemeClr>
                </a:solidFill>
                <a:latin typeface="微软雅黑 Light" panose="020B0502040204020203" charset="-122"/>
                <a:ea typeface="微软雅黑 Light" panose="020B0502040204020203" charset="-122"/>
                <a:sym typeface="+mn-ea"/>
              </a:rPr>
              <a:t>、</a:t>
            </a:r>
            <a:r>
              <a:rPr lang="en-US" altLang="zh-CN" sz="1050" dirty="0">
                <a:solidFill>
                  <a:schemeClr val="tx1">
                    <a:lumMod val="75000"/>
                    <a:lumOff val="25000"/>
                  </a:schemeClr>
                </a:solidFill>
                <a:latin typeface="微软雅黑 Light" panose="020B0502040204020203" charset="-122"/>
                <a:ea typeface="微软雅黑 Light" panose="020B0502040204020203" charset="-122"/>
                <a:sym typeface="+mn-ea"/>
              </a:rPr>
              <a:t>MCPI</a:t>
            </a:r>
            <a:r>
              <a:rPr lang="zh-CN" altLang="en-US" sz="1050" dirty="0">
                <a:solidFill>
                  <a:schemeClr val="tx1">
                    <a:lumMod val="75000"/>
                    <a:lumOff val="25000"/>
                  </a:schemeClr>
                </a:solidFill>
                <a:latin typeface="微软雅黑 Light" panose="020B0502040204020203" charset="-122"/>
                <a:ea typeface="微软雅黑 Light" panose="020B0502040204020203" charset="-122"/>
                <a:sym typeface="+mn-ea"/>
              </a:rPr>
              <a:t>）</a:t>
            </a:r>
            <a:endParaRPr lang="zh-CN" altLang="en-US" sz="1050" dirty="0">
              <a:solidFill>
                <a:schemeClr val="tx1">
                  <a:lumMod val="75000"/>
                  <a:lumOff val="25000"/>
                </a:schemeClr>
              </a:solidFill>
              <a:latin typeface="微软雅黑 Light" panose="020B0502040204020203" charset="-122"/>
              <a:ea typeface="微软雅黑 Light" panose="020B0502040204020203" charset="-122"/>
              <a:sym typeface="+mn-ea"/>
            </a:endParaRPr>
          </a:p>
        </p:txBody>
      </p:sp>
      <p:sp>
        <p:nvSpPr>
          <p:cNvPr id="15" name="文本框 14"/>
          <p:cNvSpPr txBox="1"/>
          <p:nvPr/>
        </p:nvSpPr>
        <p:spPr>
          <a:xfrm>
            <a:off x="574956" y="351393"/>
            <a:ext cx="1285594" cy="400110"/>
          </a:xfrm>
          <a:prstGeom prst="rect">
            <a:avLst/>
          </a:prstGeom>
          <a:noFill/>
        </p:spPr>
        <p:txBody>
          <a:bodyPr wrap="square" rtlCol="0">
            <a:spAutoFit/>
          </a:bodyPr>
          <a:lstStyle/>
          <a:p>
            <a:pPr algn="dist"/>
            <a:r>
              <a:rPr lang="zh-CN" altLang="en-US" sz="2000" b="1" dirty="0">
                <a:solidFill>
                  <a:srgbClr val="006BB7"/>
                </a:solidFill>
                <a:latin typeface="微软雅黑" panose="020B0503020204020204" charset="-122"/>
                <a:ea typeface="微软雅黑" panose="020B0503020204020204" charset="-122"/>
              </a:rPr>
              <a:t>助力专业</a:t>
            </a:r>
            <a:endParaRPr lang="zh-CN" altLang="en-US" sz="2000" b="1" dirty="0">
              <a:solidFill>
                <a:srgbClr val="006BB7"/>
              </a:solidFill>
              <a:latin typeface="微软雅黑" panose="020B0503020204020204" charset="-122"/>
              <a:ea typeface="微软雅黑" panose="020B0503020204020204" charset="-122"/>
            </a:endParaRPr>
          </a:p>
        </p:txBody>
      </p:sp>
      <p:cxnSp>
        <p:nvCxnSpPr>
          <p:cNvPr id="17" name="直接连接符 16"/>
          <p:cNvCxnSpPr/>
          <p:nvPr/>
        </p:nvCxnSpPr>
        <p:spPr>
          <a:xfrm>
            <a:off x="674709" y="830535"/>
            <a:ext cx="70676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800506" y="397560"/>
            <a:ext cx="2739744" cy="369332"/>
          </a:xfrm>
          <a:prstGeom prst="rect">
            <a:avLst/>
          </a:prstGeom>
          <a:noFill/>
        </p:spPr>
        <p:txBody>
          <a:bodyPr wrap="square" rtlCol="0">
            <a:spAutoFit/>
          </a:bodyPr>
          <a:lstStyle/>
          <a:p>
            <a:r>
              <a:rPr lang="en-US" altLang="zh-CN" dirty="0">
                <a:solidFill>
                  <a:srgbClr val="0068B5"/>
                </a:solidFill>
                <a:latin typeface="72 Light" panose="020B0303030000000003" pitchFamily="34" charset="0"/>
                <a:ea typeface="微软雅黑 Light" panose="020B0502040204020203" charset="-122"/>
                <a:cs typeface="72 Light" panose="020B0303030000000003" pitchFamily="34" charset="0"/>
              </a:rPr>
              <a:t> EXAMINATION ROOM  </a:t>
            </a:r>
            <a:endParaRPr lang="en-US" altLang="zh-CN" dirty="0">
              <a:solidFill>
                <a:srgbClr val="0068B5"/>
              </a:solidFill>
              <a:latin typeface="72 Light" panose="020B0303030000000003" pitchFamily="34" charset="0"/>
              <a:ea typeface="微软雅黑 Light" panose="020B0502040204020203" charset="-122"/>
              <a:cs typeface="72 Light" panose="020B0303030000000003" pitchFamily="34" charset="0"/>
            </a:endParaRPr>
          </a:p>
        </p:txBody>
      </p:sp>
      <p:cxnSp>
        <p:nvCxnSpPr>
          <p:cNvPr id="22" name="直接连接符 21"/>
          <p:cNvCxnSpPr/>
          <p:nvPr/>
        </p:nvCxnSpPr>
        <p:spPr>
          <a:xfrm>
            <a:off x="674709" y="830535"/>
            <a:ext cx="706760" cy="0"/>
          </a:xfrm>
          <a:prstGeom prst="line">
            <a:avLst/>
          </a:prstGeom>
          <a:ln w="25400">
            <a:gradFill>
              <a:gsLst>
                <a:gs pos="17000">
                  <a:srgbClr val="C67FAC"/>
                </a:gs>
                <a:gs pos="0">
                  <a:srgbClr val="1F2D65"/>
                </a:gs>
                <a:gs pos="36000">
                  <a:srgbClr val="FBEAE5"/>
                </a:gs>
                <a:gs pos="55000">
                  <a:srgbClr val="E7BF86"/>
                </a:gs>
                <a:gs pos="96460">
                  <a:srgbClr val="3E2A60"/>
                </a:gs>
                <a:gs pos="76000">
                  <a:srgbClr val="D22D51"/>
                </a:gs>
              </a:gsLst>
              <a:lin ang="0" scaled="0"/>
            </a:gra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574956" y="932939"/>
            <a:ext cx="1064723" cy="400110"/>
          </a:xfrm>
          <a:prstGeom prst="rect">
            <a:avLst/>
          </a:prstGeom>
          <a:solidFill>
            <a:schemeClr val="bg1"/>
          </a:solidFill>
        </p:spPr>
        <p:txBody>
          <a:bodyPr wrap="square" rtlCol="0">
            <a:spAutoFit/>
          </a:bodyPr>
          <a:lstStyle/>
          <a:p>
            <a:r>
              <a:rPr lang="zh-CN" altLang="en-US" sz="2000" dirty="0">
                <a:latin typeface="微软雅黑 Light" panose="020B0502040204020203" charset="-122"/>
                <a:ea typeface="微软雅黑 Light" panose="020B0502040204020203" charset="-122"/>
              </a:rPr>
              <a:t>诊疗室</a:t>
            </a:r>
            <a:endParaRPr lang="zh-CN" altLang="en-US" sz="2000" dirty="0">
              <a:latin typeface="微软雅黑 Light" panose="020B0502040204020203" charset="-122"/>
              <a:ea typeface="微软雅黑 Light" panose="020B0502040204020203"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457589" y="2129222"/>
            <a:ext cx="2995478" cy="400110"/>
          </a:xfrm>
          <a:prstGeom prst="rect">
            <a:avLst/>
          </a:prstGeom>
          <a:noFill/>
        </p:spPr>
        <p:txBody>
          <a:bodyPr wrap="square">
            <a:spAutoFit/>
          </a:bodyPr>
          <a:lstStyle/>
          <a:p>
            <a:r>
              <a:rPr lang="zh-CN" altLang="en-US" sz="2000" dirty="0">
                <a:solidFill>
                  <a:schemeClr val="tx1">
                    <a:lumMod val="75000"/>
                    <a:lumOff val="25000"/>
                  </a:schemeClr>
                </a:solidFill>
                <a:latin typeface="微软雅黑 Light" panose="020B0502040204020203" charset="-122"/>
                <a:ea typeface="微软雅黑 Light" panose="020B0502040204020203" charset="-122"/>
                <a:sym typeface="Arial" panose="020B0604020202020204" pitchFamily="34" charset="0"/>
              </a:rPr>
              <a:t>专注工作 </a:t>
            </a:r>
            <a:r>
              <a:rPr lang="en-US" altLang="zh-CN" sz="2000" b="1" dirty="0">
                <a:solidFill>
                  <a:schemeClr val="tx1">
                    <a:lumMod val="75000"/>
                    <a:lumOff val="25000"/>
                  </a:schemeClr>
                </a:solidFill>
                <a:latin typeface="微软雅黑" panose="020B0503020204020204" charset="-122"/>
                <a:ea typeface="微软雅黑" panose="020B0503020204020204" charset="-122"/>
              </a:rPr>
              <a:t>· </a:t>
            </a:r>
            <a:r>
              <a:rPr lang="zh-CN" altLang="en-US" sz="2000" dirty="0">
                <a:solidFill>
                  <a:schemeClr val="tx1">
                    <a:lumMod val="75000"/>
                    <a:lumOff val="25000"/>
                  </a:schemeClr>
                </a:solidFill>
                <a:latin typeface="微软雅黑 Light" panose="020B0502040204020203" charset="-122"/>
                <a:ea typeface="微软雅黑 Light" panose="020B0502040204020203" charset="-122"/>
                <a:sym typeface="Arial" panose="020B0604020202020204" pitchFamily="34" charset="0"/>
              </a:rPr>
              <a:t>放松休息</a:t>
            </a:r>
            <a:endParaRPr lang="zh-CN" altLang="en-US" sz="2000" dirty="0">
              <a:solidFill>
                <a:schemeClr val="tx1">
                  <a:lumMod val="75000"/>
                  <a:lumOff val="25000"/>
                </a:schemeClr>
              </a:solidFill>
              <a:latin typeface="微软雅黑 Light" panose="020B0502040204020203" charset="-122"/>
              <a:ea typeface="微软雅黑 Light" panose="020B0502040204020203" charset="-122"/>
            </a:endParaRPr>
          </a:p>
        </p:txBody>
      </p:sp>
      <p:pic>
        <p:nvPicPr>
          <p:cNvPr id="11" name="Picture 2" descr="G:\2022光工作文件OPPLE\hospital\001-suzhou-dushu-lake-hospital-china-by-lemanarc-sa.jpg"/>
          <p:cNvPicPr>
            <a:picLocks noChangeAspect="1" noChangeArrowheads="1"/>
          </p:cNvPicPr>
          <p:nvPr/>
        </p:nvPicPr>
        <p:blipFill rotWithShape="1">
          <a:blip r:embed="rId1" cstate="print">
            <a:extLst>
              <a:ext uri="{BEBA8EAE-BF5A-486C-A8C5-ECC9F3942E4B}">
                <a14:imgProps xmlns:a14="http://schemas.microsoft.com/office/drawing/2010/main">
                  <a14:imgLayer r:embed="rId2">
                    <a14:imgEffect>
                      <a14:saturation sat="66000"/>
                    </a14:imgEffect>
                  </a14:imgLayer>
                </a14:imgProps>
              </a:ext>
            </a:extLst>
          </a:blip>
          <a:srcRect l="26165"/>
          <a:stretch>
            <a:fillRect/>
          </a:stretch>
        </p:blipFill>
        <p:spPr bwMode="auto">
          <a:xfrm>
            <a:off x="0" y="0"/>
            <a:ext cx="7597628" cy="6858000"/>
          </a:xfrm>
          <a:prstGeom prst="rect">
            <a:avLst/>
          </a:prstGeom>
          <a:noFill/>
        </p:spPr>
      </p:pic>
      <p:sp>
        <p:nvSpPr>
          <p:cNvPr id="12" name="TextBox 14"/>
          <p:cNvSpPr txBox="1"/>
          <p:nvPr/>
        </p:nvSpPr>
        <p:spPr>
          <a:xfrm>
            <a:off x="8087431" y="2890093"/>
            <a:ext cx="3697891" cy="1179425"/>
          </a:xfrm>
          <a:prstGeom prst="rect">
            <a:avLst/>
          </a:prstGeom>
        </p:spPr>
        <p:txBody>
          <a:bodyPr wrap="square">
            <a:spAutoFit/>
          </a:bodyPr>
          <a:lstStyle>
            <a:defPPr>
              <a:defRPr lang="zh-CN"/>
            </a:defPPr>
            <a:lvl1pPr>
              <a:defRPr>
                <a:solidFill>
                  <a:srgbClr val="0070C0"/>
                </a:solidFill>
                <a:latin typeface="微软雅黑" panose="020B0503020204020204" charset="-122"/>
                <a:ea typeface="微软雅黑" panose="020B0503020204020204" charset="-122"/>
              </a:defRPr>
            </a:lvl1pPr>
          </a:lstStyle>
          <a:p>
            <a:pPr defTabSz="855980">
              <a:lnSpc>
                <a:spcPct val="150000"/>
              </a:lnSpc>
            </a:pPr>
            <a:r>
              <a:rPr lang="en-US" altLang="zh-CN" sz="800" dirty="0">
                <a:solidFill>
                  <a:schemeClr val="bg1">
                    <a:lumMod val="50000"/>
                  </a:schemeClr>
                </a:solidFill>
                <a:latin typeface="微软雅黑 Light" panose="020B0502040204020203" charset="-122"/>
                <a:ea typeface="微软雅黑 Light" panose="020B0502040204020203" charset="-122"/>
              </a:rPr>
              <a:t>• </a:t>
            </a:r>
            <a:r>
              <a:rPr lang="zh-CN" altLang="en-US" sz="800" dirty="0">
                <a:solidFill>
                  <a:schemeClr val="bg1">
                    <a:lumMod val="50000"/>
                  </a:schemeClr>
                </a:solidFill>
                <a:latin typeface="微软雅黑 Light" panose="020B0502040204020203" charset="-122"/>
                <a:ea typeface="微软雅黑 Light" panose="020B0502040204020203" charset="-122"/>
              </a:rPr>
              <a:t>高显色性，满足药品分拣、抽血等需求；</a:t>
            </a:r>
            <a:endParaRPr lang="en-US" altLang="zh-CN" sz="800" dirty="0">
              <a:solidFill>
                <a:schemeClr val="bg1">
                  <a:lumMod val="50000"/>
                </a:schemeClr>
              </a:solidFill>
              <a:latin typeface="微软雅黑 Light" panose="020B0502040204020203" charset="-122"/>
              <a:ea typeface="微软雅黑 Light" panose="020B0502040204020203" charset="-122"/>
            </a:endParaRPr>
          </a:p>
          <a:p>
            <a:pPr defTabSz="855980">
              <a:lnSpc>
                <a:spcPct val="150000"/>
              </a:lnSpc>
            </a:pPr>
            <a:r>
              <a:rPr lang="en-US" altLang="zh-CN" sz="800" dirty="0">
                <a:solidFill>
                  <a:schemeClr val="bg1">
                    <a:lumMod val="50000"/>
                  </a:schemeClr>
                </a:solidFill>
                <a:latin typeface="微软雅黑 Light" panose="020B0502040204020203" charset="-122"/>
                <a:ea typeface="微软雅黑 Light" panose="020B0502040204020203" charset="-122"/>
              </a:rPr>
              <a:t>•</a:t>
            </a:r>
            <a:r>
              <a:rPr lang="zh-CN" altLang="en-US" sz="800" dirty="0">
                <a:solidFill>
                  <a:schemeClr val="bg1">
                    <a:lumMod val="50000"/>
                  </a:schemeClr>
                </a:solidFill>
                <a:latin typeface="微软雅黑 Light" panose="020B0502040204020203" charset="-122"/>
                <a:ea typeface="微软雅黑 Light" panose="020B0502040204020203" charset="-122"/>
              </a:rPr>
              <a:t>护士台上灯具桌面照度达到</a:t>
            </a:r>
            <a:r>
              <a:rPr lang="en-US" altLang="zh-CN" sz="800" dirty="0">
                <a:solidFill>
                  <a:schemeClr val="bg1">
                    <a:lumMod val="50000"/>
                  </a:schemeClr>
                </a:solidFill>
                <a:latin typeface="微软雅黑 Light" panose="020B0502040204020203" charset="-122"/>
                <a:ea typeface="微软雅黑 Light" panose="020B0502040204020203" charset="-122"/>
              </a:rPr>
              <a:t>500lx</a:t>
            </a:r>
            <a:r>
              <a:rPr lang="zh-CN" altLang="en-US" sz="800" dirty="0">
                <a:solidFill>
                  <a:schemeClr val="bg1">
                    <a:lumMod val="50000"/>
                  </a:schemeClr>
                </a:solidFill>
                <a:latin typeface="微软雅黑 Light" panose="020B0502040204020203" charset="-122"/>
                <a:ea typeface="微软雅黑 Light" panose="020B0502040204020203" charset="-122"/>
              </a:rPr>
              <a:t>，满足交流及书写功能，墙面筒灯洗亮墙面，营造舒适的工作环境，</a:t>
            </a:r>
            <a:endParaRPr lang="en-US" altLang="zh-CN" sz="800" dirty="0">
              <a:solidFill>
                <a:schemeClr val="bg1">
                  <a:lumMod val="50000"/>
                </a:schemeClr>
              </a:solidFill>
              <a:latin typeface="微软雅黑 Light" panose="020B0502040204020203" charset="-122"/>
              <a:ea typeface="微软雅黑 Light" panose="020B0502040204020203" charset="-122"/>
            </a:endParaRPr>
          </a:p>
          <a:p>
            <a:pPr defTabSz="855980">
              <a:lnSpc>
                <a:spcPct val="150000"/>
              </a:lnSpc>
            </a:pPr>
            <a:r>
              <a:rPr lang="en-US" altLang="zh-CN" sz="800" dirty="0">
                <a:solidFill>
                  <a:schemeClr val="bg1">
                    <a:lumMod val="50000"/>
                  </a:schemeClr>
                </a:solidFill>
                <a:latin typeface="微软雅黑 Light" panose="020B0502040204020203" charset="-122"/>
                <a:ea typeface="微软雅黑 Light" panose="020B0502040204020203" charset="-122"/>
              </a:rPr>
              <a:t>• </a:t>
            </a:r>
            <a:r>
              <a:rPr lang="zh-CN" altLang="en-US" sz="800" dirty="0">
                <a:solidFill>
                  <a:schemeClr val="bg1">
                    <a:lumMod val="50000"/>
                  </a:schemeClr>
                </a:solidFill>
                <a:latin typeface="微软雅黑 Light" panose="020B0502040204020203" charset="-122"/>
                <a:ea typeface="微软雅黑 Light" panose="020B0502040204020203" charset="-122"/>
              </a:rPr>
              <a:t>白天专注光，满足长时间工作要求，缓解疲劳，提升工作效率。晚上中性光，保证工作状态，减少对生物节律的影响</a:t>
            </a:r>
            <a:endParaRPr lang="en-US" altLang="zh-CN" sz="800" dirty="0">
              <a:solidFill>
                <a:schemeClr val="bg1">
                  <a:lumMod val="50000"/>
                </a:schemeClr>
              </a:solidFill>
              <a:latin typeface="微软雅黑 Light" panose="020B0502040204020203" charset="-122"/>
              <a:ea typeface="微软雅黑 Light" panose="020B0502040204020203" charset="-122"/>
            </a:endParaRPr>
          </a:p>
          <a:p>
            <a:pPr defTabSz="855980">
              <a:lnSpc>
                <a:spcPct val="150000"/>
              </a:lnSpc>
            </a:pPr>
            <a:endParaRPr lang="en-US" altLang="zh-CN" sz="800" dirty="0">
              <a:solidFill>
                <a:schemeClr val="bg1">
                  <a:lumMod val="50000"/>
                </a:schemeClr>
              </a:solidFill>
              <a:latin typeface="微软雅黑 Light" panose="020B0502040204020203" charset="-122"/>
              <a:ea typeface="微软雅黑 Light" panose="020B0502040204020203" charset="-122"/>
            </a:endParaRPr>
          </a:p>
        </p:txBody>
      </p:sp>
      <p:pic>
        <p:nvPicPr>
          <p:cNvPr id="17" name="图片 16"/>
          <p:cNvPicPr>
            <a:picLocks noChangeAspect="1"/>
          </p:cNvPicPr>
          <p:nvPr/>
        </p:nvPicPr>
        <p:blipFill>
          <a:blip r:embed="rId3"/>
          <a:stretch>
            <a:fillRect/>
          </a:stretch>
        </p:blipFill>
        <p:spPr>
          <a:xfrm>
            <a:off x="9829829" y="4430279"/>
            <a:ext cx="1954049" cy="1570659"/>
          </a:xfrm>
          <a:prstGeom prst="rect">
            <a:avLst/>
          </a:prstGeom>
        </p:spPr>
      </p:pic>
      <p:pic>
        <p:nvPicPr>
          <p:cNvPr id="21" name="图片 20"/>
          <p:cNvPicPr>
            <a:picLocks noChangeAspect="1"/>
          </p:cNvPicPr>
          <p:nvPr/>
        </p:nvPicPr>
        <p:blipFill>
          <a:blip r:embed="rId4"/>
          <a:stretch>
            <a:fillRect/>
          </a:stretch>
        </p:blipFill>
        <p:spPr>
          <a:xfrm>
            <a:off x="7871819" y="6072187"/>
            <a:ext cx="2499480" cy="666029"/>
          </a:xfrm>
          <a:prstGeom prst="rect">
            <a:avLst/>
          </a:prstGeom>
        </p:spPr>
      </p:pic>
      <p:pic>
        <p:nvPicPr>
          <p:cNvPr id="23" name="图片 22"/>
          <p:cNvPicPr>
            <a:picLocks noChangeAspect="1"/>
          </p:cNvPicPr>
          <p:nvPr/>
        </p:nvPicPr>
        <p:blipFill>
          <a:blip r:embed="rId5"/>
          <a:stretch>
            <a:fillRect/>
          </a:stretch>
        </p:blipFill>
        <p:spPr>
          <a:xfrm>
            <a:off x="7951894" y="4556580"/>
            <a:ext cx="1733550" cy="1373109"/>
          </a:xfrm>
          <a:prstGeom prst="rect">
            <a:avLst/>
          </a:prstGeom>
        </p:spPr>
      </p:pic>
      <p:pic>
        <p:nvPicPr>
          <p:cNvPr id="25" name="图片 24"/>
          <p:cNvPicPr>
            <a:picLocks noChangeAspect="1"/>
          </p:cNvPicPr>
          <p:nvPr/>
        </p:nvPicPr>
        <p:blipFill>
          <a:blip r:embed="rId6"/>
          <a:stretch>
            <a:fillRect/>
          </a:stretch>
        </p:blipFill>
        <p:spPr>
          <a:xfrm>
            <a:off x="8159062" y="4114363"/>
            <a:ext cx="1319213" cy="271071"/>
          </a:xfrm>
          <a:prstGeom prst="rect">
            <a:avLst/>
          </a:prstGeom>
        </p:spPr>
      </p:pic>
      <p:sp>
        <p:nvSpPr>
          <p:cNvPr id="14" name="文本框 13"/>
          <p:cNvSpPr txBox="1"/>
          <p:nvPr/>
        </p:nvSpPr>
        <p:spPr>
          <a:xfrm>
            <a:off x="8004456" y="351393"/>
            <a:ext cx="1285594" cy="400110"/>
          </a:xfrm>
          <a:prstGeom prst="rect">
            <a:avLst/>
          </a:prstGeom>
          <a:noFill/>
        </p:spPr>
        <p:txBody>
          <a:bodyPr wrap="square" rtlCol="0">
            <a:spAutoFit/>
          </a:bodyPr>
          <a:lstStyle/>
          <a:p>
            <a:pPr algn="dist"/>
            <a:r>
              <a:rPr lang="zh-CN" altLang="en-US" sz="2000" b="1" dirty="0">
                <a:solidFill>
                  <a:srgbClr val="006BB7"/>
                </a:solidFill>
                <a:latin typeface="微软雅黑" panose="020B0503020204020204" charset="-122"/>
                <a:ea typeface="微软雅黑" panose="020B0503020204020204" charset="-122"/>
              </a:rPr>
              <a:t>助力专业</a:t>
            </a:r>
            <a:endParaRPr lang="zh-CN" altLang="en-US" sz="2000" b="1" dirty="0">
              <a:solidFill>
                <a:srgbClr val="006BB7"/>
              </a:solidFill>
              <a:latin typeface="微软雅黑" panose="020B0503020204020204" charset="-122"/>
              <a:ea typeface="微软雅黑" panose="020B0503020204020204" charset="-122"/>
            </a:endParaRPr>
          </a:p>
        </p:txBody>
      </p:sp>
      <p:cxnSp>
        <p:nvCxnSpPr>
          <p:cNvPr id="15" name="直接连接符 14"/>
          <p:cNvCxnSpPr/>
          <p:nvPr/>
        </p:nvCxnSpPr>
        <p:spPr>
          <a:xfrm>
            <a:off x="8104209" y="830535"/>
            <a:ext cx="70676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230006" y="397560"/>
            <a:ext cx="2739744" cy="369332"/>
          </a:xfrm>
          <a:prstGeom prst="rect">
            <a:avLst/>
          </a:prstGeom>
          <a:noFill/>
        </p:spPr>
        <p:txBody>
          <a:bodyPr wrap="square" rtlCol="0">
            <a:spAutoFit/>
          </a:bodyPr>
          <a:lstStyle/>
          <a:p>
            <a:r>
              <a:rPr lang="en-US" altLang="zh-CN" dirty="0">
                <a:solidFill>
                  <a:srgbClr val="0068B5"/>
                </a:solidFill>
                <a:latin typeface="72 Light" panose="020B0303030000000003" pitchFamily="34" charset="0"/>
                <a:ea typeface="微软雅黑 Light" panose="020B0502040204020203" charset="-122"/>
                <a:cs typeface="72 Light" panose="020B0303030000000003" pitchFamily="34" charset="0"/>
              </a:rPr>
              <a:t>NURSE STATION</a:t>
            </a:r>
            <a:endParaRPr lang="en-US" altLang="zh-CN" dirty="0">
              <a:solidFill>
                <a:srgbClr val="0068B5"/>
              </a:solidFill>
              <a:latin typeface="72 Light" panose="020B0303030000000003" pitchFamily="34" charset="0"/>
              <a:ea typeface="微软雅黑 Light" panose="020B0502040204020203" charset="-122"/>
              <a:cs typeface="72 Light" panose="020B0303030000000003" pitchFamily="34" charset="0"/>
            </a:endParaRPr>
          </a:p>
        </p:txBody>
      </p:sp>
      <p:cxnSp>
        <p:nvCxnSpPr>
          <p:cNvPr id="18" name="直接连接符 17"/>
          <p:cNvCxnSpPr/>
          <p:nvPr/>
        </p:nvCxnSpPr>
        <p:spPr>
          <a:xfrm>
            <a:off x="8104209" y="830535"/>
            <a:ext cx="706760" cy="0"/>
          </a:xfrm>
          <a:prstGeom prst="line">
            <a:avLst/>
          </a:prstGeom>
          <a:ln w="25400">
            <a:gradFill>
              <a:gsLst>
                <a:gs pos="17000">
                  <a:srgbClr val="C67FAC"/>
                </a:gs>
                <a:gs pos="0">
                  <a:srgbClr val="1F2D65"/>
                </a:gs>
                <a:gs pos="36000">
                  <a:srgbClr val="FBEAE5"/>
                </a:gs>
                <a:gs pos="55000">
                  <a:srgbClr val="E7BF86"/>
                </a:gs>
                <a:gs pos="96460">
                  <a:srgbClr val="3E2A60"/>
                </a:gs>
                <a:gs pos="76000">
                  <a:srgbClr val="D22D51"/>
                </a:gs>
              </a:gsLst>
              <a:lin ang="0" scaled="0"/>
            </a:gra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8004456" y="912209"/>
            <a:ext cx="1064723" cy="400110"/>
          </a:xfrm>
          <a:prstGeom prst="rect">
            <a:avLst/>
          </a:prstGeom>
          <a:solidFill>
            <a:schemeClr val="bg1"/>
          </a:solidFill>
        </p:spPr>
        <p:txBody>
          <a:bodyPr wrap="square" rtlCol="0">
            <a:spAutoFit/>
          </a:bodyPr>
          <a:lstStyle/>
          <a:p>
            <a:r>
              <a:rPr lang="zh-CN" altLang="en-US" sz="2000" dirty="0">
                <a:latin typeface="微软雅黑 Light" panose="020B0502040204020203" charset="-122"/>
                <a:ea typeface="微软雅黑 Light" panose="020B0502040204020203" charset="-122"/>
              </a:rPr>
              <a:t>护士站</a:t>
            </a:r>
            <a:endParaRPr lang="zh-CN" altLang="en-US" sz="2000" dirty="0">
              <a:latin typeface="微软雅黑 Light" panose="020B0502040204020203" charset="-122"/>
              <a:ea typeface="微软雅黑 Light" panose="020B0502040204020203"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9026779" y="1494262"/>
            <a:ext cx="2906668" cy="1673790"/>
            <a:chOff x="4307027" y="2561637"/>
            <a:chExt cx="5637072" cy="3937134"/>
          </a:xfrm>
        </p:grpSpPr>
        <p:pic>
          <p:nvPicPr>
            <p:cNvPr id="16" name="图片 15"/>
            <p:cNvPicPr>
              <a:picLocks noChangeAspect="1"/>
            </p:cNvPicPr>
            <p:nvPr/>
          </p:nvPicPr>
          <p:blipFill rotWithShape="1">
            <a:blip r:embed="rId1"/>
            <a:srcRect l="20333" b="33742"/>
            <a:stretch>
              <a:fillRect/>
            </a:stretch>
          </p:blipFill>
          <p:spPr>
            <a:xfrm>
              <a:off x="5276120" y="2561637"/>
              <a:ext cx="4667979" cy="3632042"/>
            </a:xfrm>
            <a:custGeom>
              <a:avLst/>
              <a:gdLst>
                <a:gd name="connsiteX0" fmla="*/ 2089218 w 3962400"/>
                <a:gd name="connsiteY0" fmla="*/ 0 h 4737602"/>
                <a:gd name="connsiteX1" fmla="*/ 3962400 w 3962400"/>
                <a:gd name="connsiteY1" fmla="*/ 0 h 4737602"/>
                <a:gd name="connsiteX2" fmla="*/ 3962400 w 3962400"/>
                <a:gd name="connsiteY2" fmla="*/ 4737602 h 4737602"/>
                <a:gd name="connsiteX3" fmla="*/ 152770 w 3962400"/>
                <a:gd name="connsiteY3" fmla="*/ 4737602 h 4737602"/>
                <a:gd name="connsiteX4" fmla="*/ 0 w 3962400"/>
                <a:gd name="connsiteY4" fmla="*/ 4112635 h 4737602"/>
                <a:gd name="connsiteX5" fmla="*/ 718457 w 3962400"/>
                <a:gd name="connsiteY5" fmla="*/ 3606449 h 4737602"/>
                <a:gd name="connsiteX6" fmla="*/ 865414 w 3962400"/>
                <a:gd name="connsiteY6" fmla="*/ 3132920 h 4737602"/>
                <a:gd name="connsiteX7" fmla="*/ 783771 w 3962400"/>
                <a:gd name="connsiteY7" fmla="*/ 1712335 h 4737602"/>
                <a:gd name="connsiteX8" fmla="*/ 1714500 w 3962400"/>
                <a:gd name="connsiteY8" fmla="*/ 553006 h 4737602"/>
                <a:gd name="connsiteX9" fmla="*/ 1796143 w 3962400"/>
                <a:gd name="connsiteY9" fmla="*/ 79478 h 4737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62400" h="4737602">
                  <a:moveTo>
                    <a:pt x="2089218" y="0"/>
                  </a:moveTo>
                  <a:lnTo>
                    <a:pt x="3962400" y="0"/>
                  </a:lnTo>
                  <a:lnTo>
                    <a:pt x="3962400" y="4737602"/>
                  </a:lnTo>
                  <a:lnTo>
                    <a:pt x="152770" y="4737602"/>
                  </a:lnTo>
                  <a:lnTo>
                    <a:pt x="0" y="4112635"/>
                  </a:lnTo>
                  <a:lnTo>
                    <a:pt x="718457" y="3606449"/>
                  </a:lnTo>
                  <a:lnTo>
                    <a:pt x="865414" y="3132920"/>
                  </a:lnTo>
                  <a:lnTo>
                    <a:pt x="783771" y="1712335"/>
                  </a:lnTo>
                  <a:lnTo>
                    <a:pt x="1714500" y="553006"/>
                  </a:lnTo>
                  <a:lnTo>
                    <a:pt x="1796143" y="79478"/>
                  </a:lnTo>
                  <a:close/>
                </a:path>
              </a:pathLst>
            </a:custGeom>
          </p:spPr>
        </p:pic>
        <p:sp>
          <p:nvSpPr>
            <p:cNvPr id="17" name="矩形 16"/>
            <p:cNvSpPr/>
            <p:nvPr/>
          </p:nvSpPr>
          <p:spPr>
            <a:xfrm>
              <a:off x="4307027" y="5323114"/>
              <a:ext cx="2050186" cy="11756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4" name="图片 13"/>
          <p:cNvPicPr>
            <a:picLocks noChangeAspect="1"/>
          </p:cNvPicPr>
          <p:nvPr/>
        </p:nvPicPr>
        <p:blipFill>
          <a:blip r:embed="rId2"/>
          <a:stretch>
            <a:fillRect/>
          </a:stretch>
        </p:blipFill>
        <p:spPr>
          <a:xfrm>
            <a:off x="7371214" y="1752238"/>
            <a:ext cx="2212475" cy="1419222"/>
          </a:xfrm>
          <a:prstGeom prst="rect">
            <a:avLst/>
          </a:prstGeom>
        </p:spPr>
      </p:pic>
      <p:cxnSp>
        <p:nvCxnSpPr>
          <p:cNvPr id="11" name="直接连接符 10"/>
          <p:cNvCxnSpPr/>
          <p:nvPr/>
        </p:nvCxnSpPr>
        <p:spPr>
          <a:xfrm flipV="1">
            <a:off x="6921009" y="927412"/>
            <a:ext cx="0" cy="4536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 y="-745"/>
            <a:ext cx="6988538" cy="6858000"/>
          </a:xfrm>
          <a:prstGeom prst="rect">
            <a:avLst/>
          </a:prstGeom>
        </p:spPr>
      </p:pic>
      <p:grpSp>
        <p:nvGrpSpPr>
          <p:cNvPr id="33" name="组合 32"/>
          <p:cNvGrpSpPr/>
          <p:nvPr/>
        </p:nvGrpSpPr>
        <p:grpSpPr>
          <a:xfrm>
            <a:off x="8291758" y="4944062"/>
            <a:ext cx="3787428" cy="1726998"/>
            <a:chOff x="7097517" y="1622932"/>
            <a:chExt cx="4750134" cy="2165974"/>
          </a:xfrm>
        </p:grpSpPr>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97517" y="1622932"/>
              <a:ext cx="2208090" cy="2165974"/>
            </a:xfrm>
            <a:prstGeom prst="rect">
              <a:avLst/>
            </a:prstGeom>
          </p:spPr>
        </p:pic>
        <p:pic>
          <p:nvPicPr>
            <p:cNvPr id="7" name="图片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443592" y="1622932"/>
              <a:ext cx="2217957" cy="2165974"/>
            </a:xfrm>
            <a:prstGeom prst="rect">
              <a:avLst/>
            </a:prstGeom>
          </p:spPr>
        </p:pic>
        <p:sp>
          <p:nvSpPr>
            <p:cNvPr id="10" name="文本框 9"/>
            <p:cNvSpPr txBox="1"/>
            <p:nvPr/>
          </p:nvSpPr>
          <p:spPr>
            <a:xfrm>
              <a:off x="8477865" y="3408790"/>
              <a:ext cx="907563" cy="347408"/>
            </a:xfrm>
            <a:prstGeom prst="rect">
              <a:avLst/>
            </a:prstGeom>
            <a:noFill/>
          </p:spPr>
          <p:txBody>
            <a:bodyPr wrap="square" rtlCol="0">
              <a:spAutoFit/>
            </a:bodyPr>
            <a:lstStyle/>
            <a:p>
              <a:r>
                <a:rPr lang="en-US" altLang="zh-CN" sz="1200" dirty="0">
                  <a:solidFill>
                    <a:schemeClr val="bg1">
                      <a:lumMod val="95000"/>
                    </a:schemeClr>
                  </a:solidFill>
                </a:rPr>
                <a:t>Day</a:t>
              </a:r>
              <a:endParaRPr lang="zh-CN" altLang="en-US" sz="1200" dirty="0">
                <a:solidFill>
                  <a:schemeClr val="bg1">
                    <a:lumMod val="95000"/>
                  </a:schemeClr>
                </a:solidFill>
              </a:endParaRPr>
            </a:p>
          </p:txBody>
        </p:sp>
        <p:sp>
          <p:nvSpPr>
            <p:cNvPr id="31" name="文本框 30"/>
            <p:cNvSpPr txBox="1"/>
            <p:nvPr/>
          </p:nvSpPr>
          <p:spPr>
            <a:xfrm>
              <a:off x="10940088" y="3392862"/>
              <a:ext cx="907563" cy="347408"/>
            </a:xfrm>
            <a:prstGeom prst="rect">
              <a:avLst/>
            </a:prstGeom>
            <a:noFill/>
          </p:spPr>
          <p:txBody>
            <a:bodyPr wrap="square" rtlCol="0">
              <a:spAutoFit/>
            </a:bodyPr>
            <a:lstStyle/>
            <a:p>
              <a:r>
                <a:rPr lang="en-US" altLang="zh-CN" sz="1200" dirty="0">
                  <a:solidFill>
                    <a:schemeClr val="bg1">
                      <a:lumMod val="95000"/>
                    </a:schemeClr>
                  </a:solidFill>
                </a:rPr>
                <a:t>Night</a:t>
              </a:r>
              <a:endParaRPr lang="zh-CN" altLang="en-US" sz="1200" dirty="0">
                <a:solidFill>
                  <a:schemeClr val="bg1">
                    <a:lumMod val="95000"/>
                  </a:schemeClr>
                </a:solidFill>
              </a:endParaRPr>
            </a:p>
          </p:txBody>
        </p:sp>
      </p:grpSp>
      <p:grpSp>
        <p:nvGrpSpPr>
          <p:cNvPr id="34" name="组合 33"/>
          <p:cNvGrpSpPr/>
          <p:nvPr/>
        </p:nvGrpSpPr>
        <p:grpSpPr>
          <a:xfrm>
            <a:off x="7394856" y="3242530"/>
            <a:ext cx="4535946" cy="1191318"/>
            <a:chOff x="7612219" y="3311562"/>
            <a:chExt cx="4281503" cy="1191318"/>
          </a:xfrm>
        </p:grpSpPr>
        <p:grpSp>
          <p:nvGrpSpPr>
            <p:cNvPr id="18" name="组合 17"/>
            <p:cNvGrpSpPr/>
            <p:nvPr/>
          </p:nvGrpSpPr>
          <p:grpSpPr>
            <a:xfrm>
              <a:off x="7612219" y="3311562"/>
              <a:ext cx="4281503" cy="1191318"/>
              <a:chOff x="178382" y="3347357"/>
              <a:chExt cx="6859233" cy="2475545"/>
            </a:xfrm>
          </p:grpSpPr>
          <p:grpSp>
            <p:nvGrpSpPr>
              <p:cNvPr id="19" name="组合 18"/>
              <p:cNvGrpSpPr/>
              <p:nvPr/>
            </p:nvGrpSpPr>
            <p:grpSpPr>
              <a:xfrm>
                <a:off x="178382" y="3347357"/>
                <a:ext cx="6859233" cy="2475545"/>
                <a:chOff x="-198859" y="3135085"/>
                <a:chExt cx="7542410" cy="2722108"/>
              </a:xfrm>
            </p:grpSpPr>
            <p:sp>
              <p:nvSpPr>
                <p:cNvPr id="24" name="矩形 23"/>
                <p:cNvSpPr/>
                <p:nvPr/>
              </p:nvSpPr>
              <p:spPr>
                <a:xfrm>
                  <a:off x="-198859" y="3135085"/>
                  <a:ext cx="7542410" cy="2722108"/>
                </a:xfrm>
                <a:prstGeom prst="rect">
                  <a:avLst/>
                </a:prstGeom>
                <a:solidFill>
                  <a:srgbClr val="EB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5" name="图片 24"/>
                <p:cNvPicPr>
                  <a:picLocks noChangeAspect="1"/>
                </p:cNvPicPr>
                <p:nvPr/>
              </p:nvPicPr>
              <p:blipFill rotWithShape="1">
                <a:blip r:embed="rId6">
                  <a:extLst>
                    <a:ext uri="{28A0092B-C50C-407E-A947-70E740481C1C}">
                      <a14:useLocalDpi xmlns:a14="http://schemas.microsoft.com/office/drawing/2010/main" val="0"/>
                    </a:ext>
                  </a:extLst>
                </a:blip>
                <a:srcRect t="25015" b="43075"/>
                <a:stretch>
                  <a:fillRect/>
                </a:stretch>
              </p:blipFill>
              <p:spPr>
                <a:xfrm>
                  <a:off x="33077" y="4005121"/>
                  <a:ext cx="7310474" cy="925770"/>
                </a:xfrm>
                <a:prstGeom prst="rect">
                  <a:avLst/>
                </a:prstGeom>
              </p:spPr>
            </p:pic>
            <p:sp>
              <p:nvSpPr>
                <p:cNvPr id="26" name="矩形 25"/>
                <p:cNvSpPr/>
                <p:nvPr/>
              </p:nvSpPr>
              <p:spPr>
                <a:xfrm>
                  <a:off x="3196939" y="4029445"/>
                  <a:ext cx="1040721" cy="877122"/>
                </a:xfrm>
                <a:prstGeom prst="rect">
                  <a:avLst/>
                </a:prstGeom>
                <a:solidFill>
                  <a:srgbClr val="EB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2286571" y="3401723"/>
                  <a:ext cx="4236859" cy="740807"/>
                </a:xfrm>
                <a:prstGeom prst="rect">
                  <a:avLst/>
                </a:prstGeom>
                <a:noFill/>
              </p:spPr>
              <p:txBody>
                <a:bodyPr wrap="none" rtlCol="0">
                  <a:spAutoFit/>
                </a:bodyPr>
                <a:lstStyle/>
                <a:p>
                  <a:r>
                    <a:rPr lang="zh-CN" altLang="en-US" sz="1100" b="1" dirty="0">
                      <a:solidFill>
                        <a:srgbClr val="65B4D2"/>
                      </a:solidFill>
                    </a:rPr>
                    <a:t>照明综合运营成本下浮</a:t>
                  </a:r>
                  <a:endParaRPr lang="zh-CN" altLang="en-US" sz="1100" b="1" dirty="0">
                    <a:solidFill>
                      <a:srgbClr val="65B4D2"/>
                    </a:solidFill>
                  </a:endParaRPr>
                </a:p>
              </p:txBody>
            </p:sp>
            <p:pic>
              <p:nvPicPr>
                <p:cNvPr id="28" name="图片 27"/>
                <p:cNvPicPr>
                  <a:picLocks noChangeAspect="1"/>
                </p:cNvPicPr>
                <p:nvPr/>
              </p:nvPicPr>
              <p:blipFill rotWithShape="1">
                <a:blip r:embed="rId7" cstate="print">
                  <a:extLst>
                    <a:ext uri="{28A0092B-C50C-407E-A947-70E740481C1C}">
                      <a14:useLocalDpi xmlns:a14="http://schemas.microsoft.com/office/drawing/2010/main" val="0"/>
                    </a:ext>
                  </a:extLst>
                </a:blip>
                <a:srcRect l="13747" t="7367" r="15632" b="16359"/>
                <a:stretch>
                  <a:fillRect/>
                </a:stretch>
              </p:blipFill>
              <p:spPr>
                <a:xfrm>
                  <a:off x="3167953" y="4368793"/>
                  <a:ext cx="1040721" cy="549936"/>
                </a:xfrm>
                <a:prstGeom prst="rect">
                  <a:avLst/>
                </a:prstGeom>
              </p:spPr>
            </p:pic>
            <p:pic>
              <p:nvPicPr>
                <p:cNvPr id="29" name="图片 28"/>
                <p:cNvPicPr>
                  <a:picLocks noChangeAspect="1"/>
                </p:cNvPicPr>
                <p:nvPr/>
              </p:nvPicPr>
              <p:blipFill rotWithShape="1">
                <a:blip r:embed="rId6">
                  <a:extLst>
                    <a:ext uri="{28A0092B-C50C-407E-A947-70E740481C1C}">
                      <a14:useLocalDpi xmlns:a14="http://schemas.microsoft.com/office/drawing/2010/main" val="0"/>
                    </a:ext>
                  </a:extLst>
                </a:blip>
                <a:srcRect l="40990" t="25015" r="36327" b="44751"/>
                <a:stretch>
                  <a:fillRect/>
                </a:stretch>
              </p:blipFill>
              <p:spPr>
                <a:xfrm>
                  <a:off x="1663755" y="4053769"/>
                  <a:ext cx="1658202" cy="877122"/>
                </a:xfrm>
                <a:prstGeom prst="rect">
                  <a:avLst/>
                </a:prstGeom>
              </p:spPr>
            </p:pic>
          </p:grpSp>
          <p:sp>
            <p:nvSpPr>
              <p:cNvPr id="20" name="文本框 19"/>
              <p:cNvSpPr txBox="1"/>
              <p:nvPr/>
            </p:nvSpPr>
            <p:spPr>
              <a:xfrm>
                <a:off x="644275" y="5181412"/>
                <a:ext cx="1540616" cy="479666"/>
              </a:xfrm>
              <a:prstGeom prst="rect">
                <a:avLst/>
              </a:prstGeom>
              <a:noFill/>
            </p:spPr>
            <p:txBody>
              <a:bodyPr wrap="square" rtlCol="0">
                <a:spAutoFit/>
              </a:bodyPr>
              <a:lstStyle/>
              <a:p>
                <a:r>
                  <a:rPr lang="zh-CN" altLang="en-US" sz="900" dirty="0">
                    <a:solidFill>
                      <a:schemeClr val="tx1">
                        <a:lumMod val="50000"/>
                        <a:lumOff val="50000"/>
                      </a:schemeClr>
                    </a:solidFill>
                    <a:latin typeface="微软雅黑" panose="020B0503020204020204" charset="-122"/>
                    <a:ea typeface="微软雅黑" panose="020B0503020204020204" charset="-122"/>
                  </a:rPr>
                  <a:t>灯具</a:t>
                </a:r>
                <a:endParaRPr lang="zh-CN" altLang="en-US" sz="900" dirty="0">
                  <a:solidFill>
                    <a:schemeClr val="tx1">
                      <a:lumMod val="50000"/>
                      <a:lumOff val="50000"/>
                    </a:schemeClr>
                  </a:solidFill>
                  <a:latin typeface="微软雅黑" panose="020B0503020204020204" charset="-122"/>
                  <a:ea typeface="微软雅黑" panose="020B0503020204020204" charset="-122"/>
                </a:endParaRPr>
              </a:p>
            </p:txBody>
          </p:sp>
          <p:sp>
            <p:nvSpPr>
              <p:cNvPr id="21" name="文本框 20"/>
              <p:cNvSpPr txBox="1"/>
              <p:nvPr/>
            </p:nvSpPr>
            <p:spPr>
              <a:xfrm>
                <a:off x="2045931" y="5181412"/>
                <a:ext cx="1540616" cy="479666"/>
              </a:xfrm>
              <a:prstGeom prst="rect">
                <a:avLst/>
              </a:prstGeom>
              <a:noFill/>
            </p:spPr>
            <p:txBody>
              <a:bodyPr wrap="square" rtlCol="0">
                <a:spAutoFit/>
              </a:bodyPr>
              <a:lstStyle/>
              <a:p>
                <a:r>
                  <a:rPr lang="zh-CN" altLang="en-US" sz="900" dirty="0">
                    <a:solidFill>
                      <a:schemeClr val="tx1">
                        <a:lumMod val="50000"/>
                        <a:lumOff val="50000"/>
                      </a:schemeClr>
                    </a:solidFill>
                    <a:latin typeface="微软雅黑" panose="020B0503020204020204" charset="-122"/>
                    <a:ea typeface="微软雅黑" panose="020B0503020204020204" charset="-122"/>
                  </a:rPr>
                  <a:t>网关</a:t>
                </a:r>
                <a:endParaRPr lang="zh-CN" altLang="en-US" sz="900" dirty="0">
                  <a:solidFill>
                    <a:schemeClr val="tx1">
                      <a:lumMod val="50000"/>
                      <a:lumOff val="50000"/>
                    </a:schemeClr>
                  </a:solidFill>
                  <a:latin typeface="微软雅黑" panose="020B0503020204020204" charset="-122"/>
                  <a:ea typeface="微软雅黑" panose="020B0503020204020204" charset="-122"/>
                </a:endParaRPr>
              </a:p>
            </p:txBody>
          </p:sp>
          <p:sp>
            <p:nvSpPr>
              <p:cNvPr id="22" name="文本框 21"/>
              <p:cNvSpPr txBox="1"/>
              <p:nvPr/>
            </p:nvSpPr>
            <p:spPr>
              <a:xfrm>
                <a:off x="3303274" y="5186582"/>
                <a:ext cx="1540616" cy="447690"/>
              </a:xfrm>
              <a:prstGeom prst="rect">
                <a:avLst/>
              </a:prstGeom>
              <a:noFill/>
            </p:spPr>
            <p:txBody>
              <a:bodyPr wrap="square" rtlCol="0">
                <a:spAutoFit/>
              </a:bodyPr>
              <a:lstStyle/>
              <a:p>
                <a:r>
                  <a:rPr lang="zh-CN" altLang="en-US" sz="800" dirty="0">
                    <a:solidFill>
                      <a:schemeClr val="tx1">
                        <a:lumMod val="50000"/>
                        <a:lumOff val="50000"/>
                      </a:schemeClr>
                    </a:solidFill>
                    <a:latin typeface="微软雅黑" panose="020B0503020204020204" charset="-122"/>
                    <a:ea typeface="微软雅黑" panose="020B0503020204020204" charset="-122"/>
                  </a:rPr>
                  <a:t>传感器</a:t>
                </a:r>
                <a:endParaRPr lang="zh-CN" altLang="en-US" sz="800" dirty="0">
                  <a:solidFill>
                    <a:schemeClr val="tx1">
                      <a:lumMod val="50000"/>
                      <a:lumOff val="50000"/>
                    </a:schemeClr>
                  </a:solidFill>
                  <a:latin typeface="微软雅黑" panose="020B0503020204020204" charset="-122"/>
                  <a:ea typeface="微软雅黑" panose="020B0503020204020204" charset="-122"/>
                </a:endParaRPr>
              </a:p>
            </p:txBody>
          </p:sp>
          <p:sp>
            <p:nvSpPr>
              <p:cNvPr id="23" name="文本框 22"/>
              <p:cNvSpPr txBox="1"/>
              <p:nvPr/>
            </p:nvSpPr>
            <p:spPr>
              <a:xfrm>
                <a:off x="4713894" y="5090933"/>
                <a:ext cx="1540616" cy="479666"/>
              </a:xfrm>
              <a:prstGeom prst="rect">
                <a:avLst/>
              </a:prstGeom>
              <a:noFill/>
            </p:spPr>
            <p:txBody>
              <a:bodyPr wrap="square" rtlCol="0">
                <a:spAutoFit/>
              </a:bodyPr>
              <a:lstStyle/>
              <a:p>
                <a:r>
                  <a:rPr lang="en-US" altLang="zh-CN" sz="900" dirty="0">
                    <a:solidFill>
                      <a:schemeClr val="tx1">
                        <a:lumMod val="50000"/>
                        <a:lumOff val="50000"/>
                      </a:schemeClr>
                    </a:solidFill>
                    <a:latin typeface="微软雅黑" panose="020B0503020204020204" charset="-122"/>
                    <a:ea typeface="微软雅黑" panose="020B0503020204020204" charset="-122"/>
                  </a:rPr>
                  <a:t>pc</a:t>
                </a:r>
                <a:endParaRPr lang="zh-CN" altLang="en-US" sz="900" dirty="0">
                  <a:solidFill>
                    <a:schemeClr val="tx1">
                      <a:lumMod val="50000"/>
                      <a:lumOff val="50000"/>
                    </a:schemeClr>
                  </a:solidFill>
                  <a:latin typeface="微软雅黑" panose="020B0503020204020204" charset="-122"/>
                  <a:ea typeface="微软雅黑" panose="020B0503020204020204" charset="-122"/>
                </a:endParaRPr>
              </a:p>
            </p:txBody>
          </p:sp>
        </p:grpSp>
        <p:sp>
          <p:nvSpPr>
            <p:cNvPr id="32" name="矩形 31"/>
            <p:cNvSpPr/>
            <p:nvPr/>
          </p:nvSpPr>
          <p:spPr>
            <a:xfrm>
              <a:off x="11100086" y="3772042"/>
              <a:ext cx="793635" cy="314800"/>
            </a:xfrm>
            <a:prstGeom prst="rect">
              <a:avLst/>
            </a:prstGeom>
            <a:solidFill>
              <a:srgbClr val="EB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11316844" y="3717347"/>
            <a:ext cx="726646" cy="369332"/>
          </a:xfrm>
          <a:prstGeom prst="rect">
            <a:avLst/>
          </a:prstGeom>
          <a:noFill/>
        </p:spPr>
        <p:txBody>
          <a:bodyPr wrap="square" rtlCol="0">
            <a:spAutoFit/>
          </a:bodyPr>
          <a:lstStyle/>
          <a:p>
            <a:r>
              <a:rPr lang="en-US" altLang="zh-CN" dirty="0">
                <a:solidFill>
                  <a:srgbClr val="65B4D2"/>
                </a:solidFill>
                <a:latin typeface="Impact" panose="020B0806030902050204" pitchFamily="34" charset="0"/>
              </a:rPr>
              <a:t>35%</a:t>
            </a:r>
            <a:endParaRPr lang="zh-CN" altLang="en-US" dirty="0">
              <a:solidFill>
                <a:srgbClr val="65B4D2"/>
              </a:solidFill>
              <a:latin typeface="Impact" panose="020B0806030902050204" pitchFamily="34" charset="0"/>
            </a:endParaRPr>
          </a:p>
        </p:txBody>
      </p:sp>
      <p:sp>
        <p:nvSpPr>
          <p:cNvPr id="37" name="文本框 36"/>
          <p:cNvSpPr txBox="1"/>
          <p:nvPr/>
        </p:nvSpPr>
        <p:spPr>
          <a:xfrm>
            <a:off x="7535891" y="5903148"/>
            <a:ext cx="692497" cy="954107"/>
          </a:xfrm>
          <a:prstGeom prst="rect">
            <a:avLst/>
          </a:prstGeom>
          <a:noFill/>
        </p:spPr>
        <p:txBody>
          <a:bodyPr vert="eaVert" wrap="square" rtlCol="0">
            <a:spAutoFit/>
          </a:bodyPr>
          <a:lstStyle/>
          <a:p>
            <a:r>
              <a:rPr lang="zh-CN" altLang="en-US" sz="1100" dirty="0">
                <a:solidFill>
                  <a:schemeClr val="bg1">
                    <a:lumMod val="50000"/>
                  </a:schemeClr>
                </a:solidFill>
              </a:rPr>
              <a:t>绿色节能</a:t>
            </a:r>
            <a:endParaRPr lang="en-US" altLang="zh-CN" sz="1100" dirty="0">
              <a:solidFill>
                <a:schemeClr val="bg1">
                  <a:lumMod val="50000"/>
                </a:schemeClr>
              </a:solidFill>
            </a:endParaRPr>
          </a:p>
          <a:p>
            <a:r>
              <a:rPr lang="zh-CN" altLang="en-US" sz="1100" dirty="0">
                <a:solidFill>
                  <a:schemeClr val="bg1">
                    <a:lumMod val="50000"/>
                  </a:schemeClr>
                </a:solidFill>
              </a:rPr>
              <a:t>场景控制</a:t>
            </a:r>
            <a:endParaRPr lang="en-US" altLang="zh-CN" sz="1100" dirty="0">
              <a:solidFill>
                <a:schemeClr val="bg1">
                  <a:lumMod val="50000"/>
                </a:schemeClr>
              </a:solidFill>
            </a:endParaRPr>
          </a:p>
          <a:p>
            <a:r>
              <a:rPr lang="zh-CN" altLang="en-US" sz="1100" dirty="0">
                <a:solidFill>
                  <a:schemeClr val="bg1">
                    <a:lumMod val="50000"/>
                  </a:schemeClr>
                </a:solidFill>
              </a:rPr>
              <a:t>自然光</a:t>
            </a:r>
            <a:endParaRPr lang="en-US" altLang="zh-CN" sz="1100" dirty="0">
              <a:solidFill>
                <a:schemeClr val="bg1">
                  <a:lumMod val="50000"/>
                </a:schemeClr>
              </a:solidFill>
            </a:endParaRPr>
          </a:p>
        </p:txBody>
      </p:sp>
      <p:sp>
        <p:nvSpPr>
          <p:cNvPr id="45" name="矩形 44"/>
          <p:cNvSpPr/>
          <p:nvPr/>
        </p:nvSpPr>
        <p:spPr>
          <a:xfrm>
            <a:off x="0" y="4983730"/>
            <a:ext cx="6988536" cy="1336254"/>
          </a:xfrm>
          <a:prstGeom prst="rect">
            <a:avLst/>
          </a:prstGeom>
          <a:solidFill>
            <a:schemeClr val="tx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956769" y="5421505"/>
            <a:ext cx="5008852" cy="460319"/>
          </a:xfrm>
          <a:prstGeom prst="rect">
            <a:avLst/>
          </a:prstGeom>
          <a:noFill/>
        </p:spPr>
        <p:txBody>
          <a:bodyPr wrap="square" rtlCol="0">
            <a:spAutoFit/>
          </a:bodyPr>
          <a:lstStyle/>
          <a:p>
            <a:pPr>
              <a:lnSpc>
                <a:spcPct val="150000"/>
              </a:lnSpc>
            </a:pPr>
            <a:r>
              <a:rPr lang="zh-CN" altLang="en-US" dirty="0">
                <a:solidFill>
                  <a:schemeClr val="bg1"/>
                </a:solidFill>
                <a:latin typeface="微软雅黑 Light" panose="020B0502040204020203" charset="-122"/>
                <a:ea typeface="微软雅黑 Light" panose="020B0502040204020203" charset="-122"/>
              </a:rPr>
              <a:t>日光控制  </a:t>
            </a:r>
            <a:r>
              <a:rPr lang="en-US" altLang="zh-CN" b="1" dirty="0">
                <a:solidFill>
                  <a:schemeClr val="bg1"/>
                </a:solidFill>
                <a:latin typeface="微软雅黑" panose="020B0503020204020204" charset="-122"/>
                <a:ea typeface="微软雅黑" panose="020B0503020204020204" charset="-122"/>
              </a:rPr>
              <a:t>·</a:t>
            </a:r>
            <a:r>
              <a:rPr lang="en-US" altLang="zh-CN" b="1" dirty="0">
                <a:solidFill>
                  <a:srgbClr val="4472C4"/>
                </a:solidFill>
                <a:latin typeface="微软雅黑" panose="020B0503020204020204" charset="-122"/>
                <a:ea typeface="微软雅黑" panose="020B0503020204020204" charset="-122"/>
              </a:rPr>
              <a:t> </a:t>
            </a:r>
            <a:r>
              <a:rPr lang="zh-CN" altLang="en-US" dirty="0">
                <a:solidFill>
                  <a:schemeClr val="bg1"/>
                </a:solidFill>
                <a:latin typeface="微软雅黑 Light" panose="020B0502040204020203" charset="-122"/>
                <a:ea typeface="微软雅黑 Light" panose="020B0502040204020203" charset="-122"/>
              </a:rPr>
              <a:t> 场景控制  </a:t>
            </a:r>
            <a:r>
              <a:rPr lang="en-US" altLang="zh-CN" b="1" dirty="0">
                <a:solidFill>
                  <a:schemeClr val="bg1"/>
                </a:solidFill>
                <a:latin typeface="微软雅黑" panose="020B0503020204020204" charset="-122"/>
                <a:ea typeface="微软雅黑" panose="020B0503020204020204" charset="-122"/>
              </a:rPr>
              <a:t>·</a:t>
            </a:r>
            <a:r>
              <a:rPr lang="zh-CN" altLang="en-US" dirty="0">
                <a:solidFill>
                  <a:schemeClr val="bg1"/>
                </a:solidFill>
                <a:latin typeface="微软雅黑 Light" panose="020B0502040204020203" charset="-122"/>
                <a:ea typeface="微软雅黑 Light" panose="020B0502040204020203" charset="-122"/>
              </a:rPr>
              <a:t>  安全节能  </a:t>
            </a:r>
            <a:r>
              <a:rPr lang="en-US" altLang="zh-CN" b="1" dirty="0">
                <a:solidFill>
                  <a:schemeClr val="bg1"/>
                </a:solidFill>
                <a:latin typeface="微软雅黑" panose="020B0503020204020204" charset="-122"/>
                <a:ea typeface="微软雅黑" panose="020B0503020204020204" charset="-122"/>
              </a:rPr>
              <a:t>·</a:t>
            </a:r>
            <a:r>
              <a:rPr lang="zh-CN" altLang="en-US" dirty="0">
                <a:solidFill>
                  <a:schemeClr val="bg1"/>
                </a:solidFill>
                <a:latin typeface="微软雅黑 Light" panose="020B0502040204020203" charset="-122"/>
                <a:ea typeface="微软雅黑 Light" panose="020B0502040204020203" charset="-122"/>
              </a:rPr>
              <a:t> 智能管理</a:t>
            </a:r>
            <a:endParaRPr lang="zh-CN" altLang="en-US" dirty="0">
              <a:solidFill>
                <a:schemeClr val="bg1"/>
              </a:solidFill>
              <a:latin typeface="微软雅黑 Light" panose="020B0502040204020203" charset="-122"/>
              <a:ea typeface="微软雅黑 Light" panose="020B0502040204020203" charset="-122"/>
            </a:endParaRPr>
          </a:p>
        </p:txBody>
      </p:sp>
      <p:sp>
        <p:nvSpPr>
          <p:cNvPr id="36" name="文本框 35"/>
          <p:cNvSpPr txBox="1"/>
          <p:nvPr/>
        </p:nvSpPr>
        <p:spPr>
          <a:xfrm>
            <a:off x="11204743" y="4632341"/>
            <a:ext cx="973579" cy="261610"/>
          </a:xfrm>
          <a:prstGeom prst="rect">
            <a:avLst/>
          </a:prstGeom>
          <a:noFill/>
        </p:spPr>
        <p:txBody>
          <a:bodyPr vert="horz" wrap="square" rtlCol="0">
            <a:spAutoFit/>
          </a:bodyPr>
          <a:lstStyle/>
          <a:p>
            <a:r>
              <a:rPr lang="zh-CN" altLang="en-US" sz="1100" dirty="0">
                <a:solidFill>
                  <a:schemeClr val="bg1">
                    <a:lumMod val="50000"/>
                  </a:schemeClr>
                </a:solidFill>
              </a:rPr>
              <a:t>场景模式</a:t>
            </a:r>
            <a:endParaRPr lang="en-US" altLang="zh-CN" sz="1100" dirty="0">
              <a:solidFill>
                <a:schemeClr val="bg1">
                  <a:lumMod val="50000"/>
                </a:schemeClr>
              </a:solidFill>
            </a:endParaRPr>
          </a:p>
        </p:txBody>
      </p:sp>
      <p:sp>
        <p:nvSpPr>
          <p:cNvPr id="38" name="文本框 37"/>
          <p:cNvSpPr txBox="1"/>
          <p:nvPr/>
        </p:nvSpPr>
        <p:spPr>
          <a:xfrm>
            <a:off x="7394856" y="351393"/>
            <a:ext cx="1285594" cy="400110"/>
          </a:xfrm>
          <a:prstGeom prst="rect">
            <a:avLst/>
          </a:prstGeom>
          <a:noFill/>
        </p:spPr>
        <p:txBody>
          <a:bodyPr wrap="square" rtlCol="0">
            <a:spAutoFit/>
          </a:bodyPr>
          <a:lstStyle/>
          <a:p>
            <a:pPr algn="dist"/>
            <a:r>
              <a:rPr lang="zh-CN" altLang="en-US" sz="2000" b="1" dirty="0">
                <a:solidFill>
                  <a:srgbClr val="006BB7"/>
                </a:solidFill>
                <a:latin typeface="微软雅黑" panose="020B0503020204020204" charset="-122"/>
                <a:ea typeface="微软雅黑" panose="020B0503020204020204" charset="-122"/>
              </a:rPr>
              <a:t>提效节能</a:t>
            </a:r>
            <a:endParaRPr lang="zh-CN" altLang="en-US" sz="2000" b="1" dirty="0">
              <a:solidFill>
                <a:srgbClr val="006BB7"/>
              </a:solidFill>
              <a:latin typeface="微软雅黑" panose="020B0503020204020204" charset="-122"/>
              <a:ea typeface="微软雅黑" panose="020B0503020204020204" charset="-122"/>
            </a:endParaRPr>
          </a:p>
        </p:txBody>
      </p:sp>
      <p:cxnSp>
        <p:nvCxnSpPr>
          <p:cNvPr id="39" name="直接连接符 38"/>
          <p:cNvCxnSpPr/>
          <p:nvPr/>
        </p:nvCxnSpPr>
        <p:spPr>
          <a:xfrm>
            <a:off x="7494609" y="830535"/>
            <a:ext cx="70676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8620406" y="397560"/>
            <a:ext cx="2739744" cy="369332"/>
          </a:xfrm>
          <a:prstGeom prst="rect">
            <a:avLst/>
          </a:prstGeom>
          <a:noFill/>
        </p:spPr>
        <p:txBody>
          <a:bodyPr wrap="square" rtlCol="0">
            <a:spAutoFit/>
          </a:bodyPr>
          <a:lstStyle/>
          <a:p>
            <a:r>
              <a:rPr lang="en-US" altLang="zh-CN" dirty="0">
                <a:solidFill>
                  <a:srgbClr val="0068B5"/>
                </a:solidFill>
                <a:latin typeface="72 Light" panose="020B0303030000000003" pitchFamily="34" charset="0"/>
                <a:ea typeface="微软雅黑 Light" panose="020B0502040204020203" charset="-122"/>
                <a:cs typeface="72 Light" panose="020B0303030000000003" pitchFamily="34" charset="0"/>
              </a:rPr>
              <a:t>ENTRANCE</a:t>
            </a:r>
            <a:endParaRPr lang="en-US" altLang="zh-CN" dirty="0">
              <a:solidFill>
                <a:srgbClr val="0068B5"/>
              </a:solidFill>
              <a:latin typeface="72 Light" panose="020B0303030000000003" pitchFamily="34" charset="0"/>
              <a:ea typeface="微软雅黑 Light" panose="020B0502040204020203" charset="-122"/>
              <a:cs typeface="72 Light" panose="020B0303030000000003" pitchFamily="34" charset="0"/>
            </a:endParaRPr>
          </a:p>
        </p:txBody>
      </p:sp>
      <p:cxnSp>
        <p:nvCxnSpPr>
          <p:cNvPr id="41" name="直接连接符 40"/>
          <p:cNvCxnSpPr/>
          <p:nvPr/>
        </p:nvCxnSpPr>
        <p:spPr>
          <a:xfrm>
            <a:off x="7494609" y="830535"/>
            <a:ext cx="706760" cy="0"/>
          </a:xfrm>
          <a:prstGeom prst="line">
            <a:avLst/>
          </a:prstGeom>
          <a:ln w="25400">
            <a:gradFill>
              <a:gsLst>
                <a:gs pos="17000">
                  <a:srgbClr val="C67FAC"/>
                </a:gs>
                <a:gs pos="0">
                  <a:srgbClr val="1F2D65"/>
                </a:gs>
                <a:gs pos="36000">
                  <a:srgbClr val="FBEAE5"/>
                </a:gs>
                <a:gs pos="55000">
                  <a:srgbClr val="E7BF86"/>
                </a:gs>
                <a:gs pos="96460">
                  <a:srgbClr val="3E2A60"/>
                </a:gs>
                <a:gs pos="76000">
                  <a:srgbClr val="D22D51"/>
                </a:gs>
              </a:gsLst>
              <a:lin ang="0" scaled="0"/>
            </a:gradFill>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a:off x="7394856" y="947431"/>
            <a:ext cx="1064723" cy="400110"/>
          </a:xfrm>
          <a:prstGeom prst="rect">
            <a:avLst/>
          </a:prstGeom>
          <a:solidFill>
            <a:schemeClr val="bg1"/>
          </a:solidFill>
        </p:spPr>
        <p:txBody>
          <a:bodyPr wrap="square" rtlCol="0">
            <a:spAutoFit/>
          </a:bodyPr>
          <a:lstStyle/>
          <a:p>
            <a:r>
              <a:rPr lang="zh-CN" altLang="en-US" sz="2000" dirty="0">
                <a:latin typeface="微软雅黑 Light" panose="020B0502040204020203" charset="-122"/>
                <a:ea typeface="微软雅黑 Light" panose="020B0502040204020203" charset="-122"/>
              </a:rPr>
              <a:t>大厅</a:t>
            </a:r>
            <a:endParaRPr lang="zh-CN" altLang="en-US" sz="2000" dirty="0">
              <a:latin typeface="微软雅黑 Light" panose="020B0502040204020203" charset="-122"/>
              <a:ea typeface="微软雅黑 Light" panose="020B0502040204020203"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708668" y="3082452"/>
            <a:ext cx="3792855" cy="824200"/>
          </a:xfrm>
          <a:prstGeom prst="rect">
            <a:avLst/>
          </a:prstGeom>
          <a:noFill/>
        </p:spPr>
        <p:txBody>
          <a:bodyPr wrap="square">
            <a:spAutoFit/>
          </a:bodyPr>
          <a:lstStyle/>
          <a:p>
            <a:pPr marL="171450" indent="-171450" fontAlgn="auto">
              <a:lnSpc>
                <a:spcPct val="150000"/>
              </a:lnSpc>
              <a:buFont typeface="Arial" panose="020B0604020202020204" pitchFamily="34" charset="0"/>
              <a:buChar char="•"/>
            </a:pPr>
            <a:r>
              <a:rPr kumimoji="1" lang="zh-CN" altLang="en-US" sz="1100" dirty="0">
                <a:latin typeface="微软雅黑 Light" panose="020B0502040204020203" charset="-122"/>
                <a:ea typeface="微软雅黑 Light" panose="020B0502040204020203" charset="-122"/>
              </a:rPr>
              <a:t>确保地面</a:t>
            </a:r>
            <a:r>
              <a:rPr kumimoji="1" lang="en-US" altLang="zh-CN" sz="1100" dirty="0">
                <a:latin typeface="微软雅黑 Light" panose="020B0502040204020203" charset="-122"/>
                <a:ea typeface="微软雅黑 Light" panose="020B0502040204020203" charset="-122"/>
              </a:rPr>
              <a:t>100lx</a:t>
            </a:r>
            <a:r>
              <a:rPr kumimoji="1" lang="zh-CN" altLang="en-US" sz="1100" dirty="0">
                <a:latin typeface="微软雅黑 Light" panose="020B0502040204020203" charset="-122"/>
                <a:ea typeface="微软雅黑 Light" panose="020B0502040204020203" charset="-122"/>
              </a:rPr>
              <a:t>以上的照明水平</a:t>
            </a:r>
            <a:endParaRPr kumimoji="1" lang="zh-CN" altLang="en-US" sz="1100" dirty="0">
              <a:latin typeface="微软雅黑 Light" panose="020B0502040204020203" charset="-122"/>
              <a:ea typeface="微软雅黑 Light" panose="020B0502040204020203" charset="-122"/>
            </a:endParaRPr>
          </a:p>
          <a:p>
            <a:pPr marL="171450" indent="-171450" fontAlgn="auto">
              <a:lnSpc>
                <a:spcPct val="150000"/>
              </a:lnSpc>
              <a:buFont typeface="Arial" panose="020B0604020202020204" pitchFamily="34" charset="0"/>
              <a:buChar char="•"/>
            </a:pPr>
            <a:r>
              <a:rPr kumimoji="1" lang="zh-CN" altLang="en-US" sz="1100" dirty="0">
                <a:latin typeface="微软雅黑 Light" panose="020B0502040204020203" charset="-122"/>
                <a:ea typeface="微软雅黑 Light" panose="020B0502040204020203" charset="-122"/>
              </a:rPr>
              <a:t>实时亮度调整（自组网灯具），人来</a:t>
            </a:r>
            <a:r>
              <a:rPr kumimoji="1" lang="en-US" altLang="zh-CN" sz="1100" dirty="0">
                <a:latin typeface="微软雅黑 Light" panose="020B0502040204020203" charset="-122"/>
                <a:ea typeface="微软雅黑 Light" panose="020B0502040204020203" charset="-122"/>
              </a:rPr>
              <a:t>100%</a:t>
            </a:r>
            <a:r>
              <a:rPr kumimoji="1" lang="zh-CN" altLang="en-US" sz="1100" dirty="0">
                <a:latin typeface="微软雅黑 Light" panose="020B0502040204020203" charset="-122"/>
                <a:ea typeface="微软雅黑 Light" panose="020B0502040204020203" charset="-122"/>
              </a:rPr>
              <a:t>亮，人走</a:t>
            </a:r>
            <a:r>
              <a:rPr kumimoji="1" lang="en-US" altLang="zh-CN" sz="1100" dirty="0">
                <a:latin typeface="微软雅黑 Light" panose="020B0502040204020203" charset="-122"/>
                <a:ea typeface="微软雅黑 Light" panose="020B0502040204020203" charset="-122"/>
              </a:rPr>
              <a:t>20%</a:t>
            </a:r>
            <a:r>
              <a:rPr kumimoji="1" lang="zh-CN" altLang="en-US" sz="1100" dirty="0">
                <a:latin typeface="微软雅黑 Light" panose="020B0502040204020203" charset="-122"/>
                <a:ea typeface="微软雅黑 Light" panose="020B0502040204020203" charset="-122"/>
              </a:rPr>
              <a:t>亮度；入口与出口全时段高亮，作为引导照明</a:t>
            </a:r>
            <a:endParaRPr kumimoji="1" lang="zh-CN" altLang="en-US" sz="1100" dirty="0">
              <a:latin typeface="微软雅黑 Light" panose="020B0502040204020203" charset="-122"/>
              <a:ea typeface="微软雅黑 Light" panose="020B0502040204020203" charset="-122"/>
            </a:endParaRPr>
          </a:p>
        </p:txBody>
      </p:sp>
      <p:sp>
        <p:nvSpPr>
          <p:cNvPr id="12" name="文本框 11"/>
          <p:cNvSpPr txBox="1"/>
          <p:nvPr/>
        </p:nvSpPr>
        <p:spPr>
          <a:xfrm>
            <a:off x="1008210" y="2157212"/>
            <a:ext cx="3876368" cy="400110"/>
          </a:xfrm>
          <a:prstGeom prst="rect">
            <a:avLst/>
          </a:prstGeom>
          <a:noFill/>
        </p:spPr>
        <p:txBody>
          <a:bodyPr wrap="square">
            <a:spAutoFit/>
          </a:bodyPr>
          <a:lstStyle/>
          <a:p>
            <a:r>
              <a:rPr lang="zh-CN" altLang="en-US" b="1" dirty="0">
                <a:solidFill>
                  <a:schemeClr val="tx1">
                    <a:lumMod val="65000"/>
                    <a:lumOff val="35000"/>
                  </a:schemeClr>
                </a:solidFill>
                <a:latin typeface="微软雅黑 Light" panose="020B0502040204020203" charset="-122"/>
                <a:ea typeface="微软雅黑 Light" panose="020B0502040204020203" charset="-122"/>
              </a:rPr>
              <a:t>按</a:t>
            </a:r>
            <a:r>
              <a:rPr lang="zh-CN" altLang="en-US" b="1" dirty="0">
                <a:solidFill>
                  <a:schemeClr val="tx1">
                    <a:lumMod val="85000"/>
                    <a:lumOff val="15000"/>
                  </a:schemeClr>
                </a:solidFill>
                <a:latin typeface="微软雅黑 Light" panose="020B0502040204020203" charset="-122"/>
                <a:ea typeface="微软雅黑 Light" panose="020B0502040204020203" charset="-122"/>
              </a:rPr>
              <a:t>需照明 </a:t>
            </a:r>
            <a:r>
              <a:rPr lang="en-US" altLang="zh-CN" sz="2000" b="1" dirty="0">
                <a:solidFill>
                  <a:schemeClr val="tx1">
                    <a:lumMod val="85000"/>
                    <a:lumOff val="15000"/>
                  </a:schemeClr>
                </a:solidFill>
                <a:latin typeface="+mn-ea"/>
                <a:sym typeface="+mn-ea"/>
              </a:rPr>
              <a:t>·</a:t>
            </a:r>
            <a:r>
              <a:rPr lang="zh-CN" altLang="en-US" b="1" dirty="0">
                <a:solidFill>
                  <a:schemeClr val="tx1">
                    <a:lumMod val="85000"/>
                    <a:lumOff val="15000"/>
                  </a:schemeClr>
                </a:solidFill>
                <a:latin typeface="微软雅黑 Light" panose="020B0502040204020203" charset="-122"/>
                <a:ea typeface="微软雅黑 Light" panose="020B0502040204020203" charset="-122"/>
              </a:rPr>
              <a:t>节能省电</a:t>
            </a:r>
            <a:endParaRPr lang="zh-CN" altLang="en-US" b="1" dirty="0">
              <a:solidFill>
                <a:schemeClr val="tx1">
                  <a:lumMod val="85000"/>
                  <a:lumOff val="15000"/>
                </a:schemeClr>
              </a:solidFill>
              <a:latin typeface="微软雅黑 Light" panose="020B0502040204020203" charset="-122"/>
              <a:ea typeface="微软雅黑 Light" panose="020B0502040204020203" charset="-122"/>
            </a:endParaRPr>
          </a:p>
        </p:txBody>
      </p:sp>
      <p:pic>
        <p:nvPicPr>
          <p:cNvPr id="13" name="Picture 2" descr="G:\2022光工作文件OPPLE\hospital\013-final-phase-of-the-new-chum-by-jodoin-lamarre-pratte-architectes-menkes-shooner-dagenais-letourneux-architectes.jpg"/>
          <p:cNvPicPr>
            <a:picLocks noChangeAspect="1" noChangeArrowheads="1"/>
          </p:cNvPicPr>
          <p:nvPr/>
        </p:nvPicPr>
        <p:blipFill rotWithShape="1">
          <a:blip r:embed="rId1" cstate="print"/>
          <a:srcRect t="14604" b="8812"/>
          <a:stretch>
            <a:fillRect/>
          </a:stretch>
        </p:blipFill>
        <p:spPr bwMode="auto">
          <a:xfrm>
            <a:off x="5267632" y="122856"/>
            <a:ext cx="5438468" cy="3650005"/>
          </a:xfrm>
          <a:prstGeom prst="rect">
            <a:avLst/>
          </a:prstGeom>
          <a:noFill/>
        </p:spPr>
      </p:pic>
      <p:pic>
        <p:nvPicPr>
          <p:cNvPr id="5122" name="Picture 2" descr="https://pic.rmb.bdstatic.com/bjh/240321/news/5d5753eb943d084a956d97fe9d6ba5025551.jpe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67632" y="3813786"/>
            <a:ext cx="5438468" cy="3039971"/>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21"/>
          <p:cNvSpPr txBox="1"/>
          <p:nvPr/>
        </p:nvSpPr>
        <p:spPr>
          <a:xfrm>
            <a:off x="574956" y="351393"/>
            <a:ext cx="1285594" cy="400110"/>
          </a:xfrm>
          <a:prstGeom prst="rect">
            <a:avLst/>
          </a:prstGeom>
          <a:noFill/>
        </p:spPr>
        <p:txBody>
          <a:bodyPr wrap="square" rtlCol="0">
            <a:spAutoFit/>
          </a:bodyPr>
          <a:lstStyle/>
          <a:p>
            <a:pPr algn="dist"/>
            <a:r>
              <a:rPr lang="zh-CN" altLang="en-US" sz="2000" b="1" dirty="0">
                <a:solidFill>
                  <a:srgbClr val="006BB7"/>
                </a:solidFill>
                <a:latin typeface="微软雅黑" panose="020B0503020204020204" charset="-122"/>
                <a:ea typeface="微软雅黑" panose="020B0503020204020204" charset="-122"/>
              </a:rPr>
              <a:t>提效节能</a:t>
            </a:r>
            <a:endParaRPr lang="zh-CN" altLang="en-US" sz="2000" b="1" dirty="0">
              <a:solidFill>
                <a:srgbClr val="006BB7"/>
              </a:solidFill>
              <a:latin typeface="微软雅黑" panose="020B0503020204020204" charset="-122"/>
              <a:ea typeface="微软雅黑" panose="020B0503020204020204" charset="-122"/>
            </a:endParaRPr>
          </a:p>
        </p:txBody>
      </p:sp>
      <p:sp>
        <p:nvSpPr>
          <p:cNvPr id="23" name="文本框 22"/>
          <p:cNvSpPr txBox="1"/>
          <p:nvPr/>
        </p:nvSpPr>
        <p:spPr>
          <a:xfrm>
            <a:off x="574956" y="1004972"/>
            <a:ext cx="2739744" cy="461665"/>
          </a:xfrm>
          <a:prstGeom prst="rect">
            <a:avLst/>
          </a:prstGeom>
          <a:noFill/>
        </p:spPr>
        <p:txBody>
          <a:bodyPr wrap="square" rtlCol="0">
            <a:spAutoFit/>
          </a:bodyPr>
          <a:lstStyle/>
          <a:p>
            <a:r>
              <a:rPr lang="en-US" altLang="zh-CN" sz="1200" dirty="0">
                <a:solidFill>
                  <a:srgbClr val="0068B5"/>
                </a:solidFill>
                <a:latin typeface="72 Light" panose="020B0303030000000003" pitchFamily="34" charset="0"/>
                <a:ea typeface="微软雅黑 Light" panose="020B0502040204020203" charset="-122"/>
                <a:cs typeface="72 Light" panose="020B0303030000000003" pitchFamily="34" charset="0"/>
              </a:rPr>
              <a:t>CORRIDOR</a:t>
            </a:r>
            <a:endParaRPr lang="en-US" altLang="zh-CN" sz="1200" dirty="0">
              <a:solidFill>
                <a:srgbClr val="0068B5"/>
              </a:solidFill>
              <a:latin typeface="72 Light" panose="020B0303030000000003" pitchFamily="34" charset="0"/>
              <a:ea typeface="微软雅黑 Light" panose="020B0502040204020203" charset="-122"/>
              <a:cs typeface="72 Light" panose="020B0303030000000003" pitchFamily="34" charset="0"/>
            </a:endParaRPr>
          </a:p>
          <a:p>
            <a:r>
              <a:rPr lang="en-US" altLang="zh-CN" sz="1200" dirty="0">
                <a:solidFill>
                  <a:srgbClr val="0068B5"/>
                </a:solidFill>
                <a:latin typeface="72 Light" panose="020B0303030000000003" pitchFamily="34" charset="0"/>
                <a:ea typeface="微软雅黑 Light" panose="020B0502040204020203" charset="-122"/>
                <a:cs typeface="72 Light" panose="020B0303030000000003" pitchFamily="34" charset="0"/>
              </a:rPr>
              <a:t>GARAGE</a:t>
            </a:r>
            <a:endParaRPr lang="en-US" altLang="zh-CN" sz="1200" dirty="0">
              <a:solidFill>
                <a:srgbClr val="0068B5"/>
              </a:solidFill>
              <a:latin typeface="72 Light" panose="020B0303030000000003" pitchFamily="34" charset="0"/>
              <a:ea typeface="微软雅黑 Light" panose="020B0502040204020203" charset="-122"/>
              <a:cs typeface="72 Light" panose="020B0303030000000003" pitchFamily="34" charset="0"/>
            </a:endParaRPr>
          </a:p>
        </p:txBody>
      </p:sp>
      <p:cxnSp>
        <p:nvCxnSpPr>
          <p:cNvPr id="24" name="直接连接符 23"/>
          <p:cNvCxnSpPr/>
          <p:nvPr/>
        </p:nvCxnSpPr>
        <p:spPr>
          <a:xfrm>
            <a:off x="666912" y="831230"/>
            <a:ext cx="706760" cy="0"/>
          </a:xfrm>
          <a:prstGeom prst="line">
            <a:avLst/>
          </a:prstGeom>
          <a:ln w="25400">
            <a:gradFill>
              <a:gsLst>
                <a:gs pos="17000">
                  <a:srgbClr val="C67FAC"/>
                </a:gs>
                <a:gs pos="0">
                  <a:srgbClr val="1F2D65"/>
                </a:gs>
                <a:gs pos="36000">
                  <a:srgbClr val="FBEAE5"/>
                </a:gs>
                <a:gs pos="55000">
                  <a:srgbClr val="E7BF86"/>
                </a:gs>
                <a:gs pos="96460">
                  <a:srgbClr val="3E2A60"/>
                </a:gs>
                <a:gs pos="76000">
                  <a:srgbClr val="D22D51"/>
                </a:gs>
              </a:gsLst>
              <a:lin ang="0" scaled="0"/>
            </a:gradFill>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10866005" y="1753551"/>
            <a:ext cx="339051" cy="584775"/>
          </a:xfrm>
          <a:prstGeom prst="rect">
            <a:avLst/>
          </a:prstGeom>
          <a:solidFill>
            <a:schemeClr val="bg1"/>
          </a:solidFill>
        </p:spPr>
        <p:txBody>
          <a:bodyPr wrap="square" rtlCol="0">
            <a:spAutoFit/>
          </a:bodyPr>
          <a:lstStyle/>
          <a:p>
            <a:r>
              <a:rPr lang="zh-CN" altLang="en-US" sz="1600" dirty="0">
                <a:latin typeface="微软雅黑 Light" panose="020B0502040204020203" charset="-122"/>
                <a:ea typeface="微软雅黑 Light" panose="020B0502040204020203" charset="-122"/>
              </a:rPr>
              <a:t>通道</a:t>
            </a:r>
            <a:endParaRPr lang="zh-CN" altLang="en-US" sz="1600" dirty="0">
              <a:latin typeface="微软雅黑 Light" panose="020B0502040204020203" charset="-122"/>
              <a:ea typeface="微软雅黑 Light" panose="020B0502040204020203" charset="-122"/>
            </a:endParaRPr>
          </a:p>
        </p:txBody>
      </p:sp>
      <p:sp>
        <p:nvSpPr>
          <p:cNvPr id="34" name="文本框 33"/>
          <p:cNvSpPr txBox="1"/>
          <p:nvPr/>
        </p:nvSpPr>
        <p:spPr>
          <a:xfrm>
            <a:off x="10866005" y="5014995"/>
            <a:ext cx="217983" cy="584775"/>
          </a:xfrm>
          <a:prstGeom prst="rect">
            <a:avLst/>
          </a:prstGeom>
          <a:solidFill>
            <a:schemeClr val="bg1"/>
          </a:solidFill>
        </p:spPr>
        <p:txBody>
          <a:bodyPr wrap="square" rtlCol="0">
            <a:spAutoFit/>
          </a:bodyPr>
          <a:lstStyle/>
          <a:p>
            <a:r>
              <a:rPr lang="zh-CN" altLang="en-US" sz="1600" dirty="0">
                <a:latin typeface="微软雅黑 Light" panose="020B0502040204020203" charset="-122"/>
                <a:ea typeface="微软雅黑 Light" panose="020B0502040204020203" charset="-122"/>
              </a:rPr>
              <a:t>车库</a:t>
            </a:r>
            <a:endParaRPr lang="zh-CN" altLang="en-US" sz="1600" dirty="0">
              <a:latin typeface="微软雅黑 Light" panose="020B0502040204020203" charset="-122"/>
              <a:ea typeface="微软雅黑 Light" panose="020B0502040204020203" charset="-122"/>
            </a:endParaRPr>
          </a:p>
        </p:txBody>
      </p:sp>
      <p:pic>
        <p:nvPicPr>
          <p:cNvPr id="35" name="图片 34"/>
          <p:cNvPicPr>
            <a:picLocks noChangeAspect="1"/>
          </p:cNvPicPr>
          <p:nvPr>
            <p:custDataLst>
              <p:tags r:id="rId3"/>
            </p:custDataLst>
          </p:nvPr>
        </p:nvPicPr>
        <p:blipFill>
          <a:blip r:embed="rId4"/>
          <a:stretch>
            <a:fillRect/>
          </a:stretch>
        </p:blipFill>
        <p:spPr>
          <a:xfrm>
            <a:off x="625922" y="4253589"/>
            <a:ext cx="3926567" cy="225301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页脚占位符 4"/>
          <p:cNvSpPr txBox="1"/>
          <p:nvPr/>
        </p:nvSpPr>
        <p:spPr>
          <a:xfrm>
            <a:off x="349074" y="307808"/>
            <a:ext cx="8270813" cy="411525"/>
          </a:xfrm>
          <a:prstGeom prst="rect">
            <a:avLst/>
          </a:prstGeom>
        </p:spPr>
        <p:txBody>
          <a:bodyPr vert="horz" lIns="121913" tIns="60956" rIns="121913" bIns="60956" rtlCol="0" anchor="ctr"/>
          <a:lstStyle>
            <a:defPPr>
              <a:defRPr lang="zh-CN"/>
            </a:defPPr>
            <a:lvl1pPr marL="0" algn="ctr" defTabSz="914400" rtl="0" eaLnBrk="1" latinLnBrk="0" hangingPunct="1">
              <a:defRPr sz="1200" kern="1200">
                <a:solidFill>
                  <a:srgbClr val="00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914400">
              <a:defRPr/>
            </a:pPr>
            <a:r>
              <a:rPr lang="zh-CN" altLang="en-US" sz="2400" b="1" dirty="0" smtClean="0">
                <a:solidFill>
                  <a:schemeClr val="tx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照明系统管理</a:t>
            </a:r>
            <a:endParaRPr lang="zh-CN" altLang="en-US" sz="2400" b="1" dirty="0">
              <a:solidFill>
                <a:schemeClr val="tx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1" name="灯片编号占位符 1"/>
          <p:cNvSpPr>
            <a:spLocks noGrp="1"/>
          </p:cNvSpPr>
          <p:nvPr>
            <p:ph type="sldNum" sz="quarter" idx="12"/>
          </p:nvPr>
        </p:nvSpPr>
        <p:spPr>
          <a:xfrm>
            <a:off x="9067645" y="6410780"/>
            <a:ext cx="2844652" cy="365106"/>
          </a:xfrm>
        </p:spPr>
        <p:txBody>
          <a:bodyPr/>
          <a:lstStyle/>
          <a:p>
            <a:fld id="{6899868C-77B0-401F-96A8-1CCAC3F628F8}" type="slidenum">
              <a:rPr lang="zh-CN" altLang="en-US" smtClean="0"/>
            </a:fld>
            <a:endParaRPr lang="zh-CN" altLang="en-US" dirty="0"/>
          </a:p>
        </p:txBody>
      </p:sp>
      <p:sp>
        <p:nvSpPr>
          <p:cNvPr id="1272" name="textbox 1272"/>
          <p:cNvSpPr/>
          <p:nvPr/>
        </p:nvSpPr>
        <p:spPr>
          <a:xfrm>
            <a:off x="5465795" y="859289"/>
            <a:ext cx="4418100" cy="5489924"/>
          </a:xfrm>
          <a:prstGeom prst="rect">
            <a:avLst/>
          </a:prstGeom>
          <a:noFill/>
          <a:ln w="0" cap="flat">
            <a:noFill/>
            <a:prstDash val="solid"/>
            <a:miter lim="0"/>
          </a:ln>
        </p:spPr>
        <p:txBody>
          <a:bodyPr vert="horz" wrap="square" lIns="0" tIns="0" rIns="0" bIns="0"/>
          <a:p>
            <a:pPr algn="just" rtl="0">
              <a:lnSpc>
                <a:spcPct val="200000"/>
              </a:lnSpc>
              <a:buClrTx/>
              <a:buSzTx/>
              <a:buFontTx/>
            </a:pPr>
            <a:r>
              <a:rPr lang="zh-CN" altLang="zh-CN" sz="1600" b="1" dirty="0">
                <a:latin typeface="+mn-ea"/>
              </a:rPr>
              <a:t>核心价值</a:t>
            </a:r>
            <a:endParaRPr lang="zh-CN" altLang="zh-CN" sz="1600" b="1" dirty="0">
              <a:latin typeface="+mn-ea"/>
            </a:endParaRPr>
          </a:p>
          <a:p>
            <a:pPr algn="l" rtl="0" eaLnBrk="0">
              <a:lnSpc>
                <a:spcPct val="200000"/>
              </a:lnSpc>
            </a:pPr>
            <a:r>
              <a:rPr lang="zh-CN" altLang="zh-CN" sz="1200" dirty="0">
                <a:latin typeface="+mn-ea"/>
              </a:rPr>
              <a:t>个性化、健康化、节能高效与便捷管理，满足多场景需求</a:t>
            </a:r>
            <a:endParaRPr lang="zh-CN" altLang="zh-CN" sz="1200" dirty="0">
              <a:latin typeface="+mn-ea"/>
            </a:endParaRPr>
          </a:p>
          <a:p>
            <a:pPr algn="just" rtl="0">
              <a:lnSpc>
                <a:spcPct val="200000"/>
              </a:lnSpc>
              <a:buClrTx/>
              <a:buSzTx/>
              <a:buFontTx/>
            </a:pPr>
            <a:r>
              <a:rPr lang="zh-CN" altLang="zh-CN" sz="1600" b="1" dirty="0">
                <a:latin typeface="+mn-ea"/>
              </a:rPr>
              <a:t>具体策略：</a:t>
            </a:r>
            <a:endParaRPr lang="zh-CN" altLang="zh-CN" sz="1600" b="1" dirty="0">
              <a:latin typeface="+mn-ea"/>
            </a:endParaRPr>
          </a:p>
          <a:p>
            <a:pPr algn="l" rtl="0" eaLnBrk="0">
              <a:lnSpc>
                <a:spcPct val="150000"/>
              </a:lnSpc>
            </a:pPr>
            <a:r>
              <a:rPr lang="zh-CN" altLang="zh-CN" sz="1200" dirty="0">
                <a:latin typeface="+mn-ea"/>
              </a:rPr>
              <a:t>1、个性化照明体验：借助 SDL2.0 超级光引擎技术，多维度调节，实现 “千人千面” 的照明，满足不同场景下的需求；</a:t>
            </a:r>
            <a:endParaRPr lang="zh-CN" altLang="zh-CN" sz="1200" dirty="0">
              <a:latin typeface="+mn-ea"/>
            </a:endParaRPr>
          </a:p>
          <a:p>
            <a:pPr algn="l" rtl="0" eaLnBrk="0">
              <a:lnSpc>
                <a:spcPct val="200000"/>
              </a:lnSpc>
            </a:pPr>
            <a:r>
              <a:rPr lang="zh-CN" altLang="zh-CN" sz="1200" dirty="0">
                <a:latin typeface="+mn-ea"/>
              </a:rPr>
              <a:t>2、健康光环境营造：能够模拟从日出到日落的光色变化，同时结合节律光功能，可调节激素分泌，帮助用户在夜晚安然入睡，推动 “光健康” 从概念走向标准化；</a:t>
            </a:r>
            <a:endParaRPr lang="zh-CN" altLang="zh-CN" sz="1200" dirty="0">
              <a:latin typeface="+mn-ea"/>
            </a:endParaRPr>
          </a:p>
          <a:p>
            <a:pPr algn="l" rtl="0" eaLnBrk="0">
              <a:lnSpc>
                <a:spcPct val="200000"/>
              </a:lnSpc>
            </a:pPr>
            <a:r>
              <a:rPr lang="zh-CN" altLang="zh-CN" sz="1200" dirty="0">
                <a:latin typeface="+mn-ea"/>
              </a:rPr>
              <a:t>3、智能便捷控制：可通过 APP、语音、手势等多种方式轻松调节照明，享受智能化的照明体验，操作方便快捷；</a:t>
            </a:r>
            <a:endParaRPr lang="zh-CN" altLang="zh-CN" sz="1200" dirty="0">
              <a:latin typeface="+mn-ea"/>
            </a:endParaRPr>
          </a:p>
          <a:p>
            <a:pPr algn="l" rtl="0" eaLnBrk="0">
              <a:lnSpc>
                <a:spcPct val="200000"/>
              </a:lnSpc>
            </a:pPr>
            <a:r>
              <a:rPr lang="zh-CN" altLang="zh-CN" sz="1200" dirty="0">
                <a:latin typeface="+mn-ea"/>
              </a:rPr>
              <a:t>4、节能与高效管理：通过物联网技术实现集中、远程智能控制与管理，做到按需照明，有效降低能耗和运维成本，提升管理效率；</a:t>
            </a:r>
            <a:endParaRPr lang="zh-CN" altLang="zh-CN" sz="1200" dirty="0">
              <a:latin typeface="+mn-ea"/>
            </a:endParaRPr>
          </a:p>
          <a:p>
            <a:pPr eaLnBrk="0">
              <a:lnSpc>
                <a:spcPct val="200000"/>
              </a:lnSpc>
            </a:pPr>
            <a:r>
              <a:rPr lang="zh-CN" altLang="zh-CN" sz="1200" dirty="0">
                <a:latin typeface="+mn-ea"/>
                <a:sym typeface="+mn-ea"/>
              </a:rPr>
              <a:t>5、</a:t>
            </a:r>
            <a:r>
              <a:rPr lang="zh-CN" altLang="en-US" sz="1200" dirty="0">
                <a:latin typeface="+mn-ea"/>
                <a:sym typeface="+mn-ea"/>
              </a:rPr>
              <a:t>项目一图全监控：</a:t>
            </a:r>
            <a:r>
              <a:rPr lang="zh-CN" altLang="en-US" sz="1200" kern="0" dirty="0">
                <a:solidFill>
                  <a:prstClr val="black"/>
                </a:solidFill>
                <a:latin typeface="微软雅黑" panose="020B0503020204020204" charset="-122"/>
                <a:ea typeface="微软雅黑" panose="020B0503020204020204" charset="-122"/>
                <a:sym typeface="+mn-ea"/>
              </a:rPr>
              <a:t>以地图形式对项目内的设备、能源、利用率形成可视化管理，并支持一键故障设备定位以及快捷控制的功能</a:t>
            </a:r>
            <a:endParaRPr lang="zh-CN" altLang="en-US" sz="1200" kern="0" dirty="0">
              <a:solidFill>
                <a:prstClr val="black"/>
              </a:solidFill>
              <a:latin typeface="微软雅黑" panose="020B0503020204020204" charset="-122"/>
              <a:ea typeface="微软雅黑" panose="020B0503020204020204" charset="-122"/>
              <a:sym typeface="+mn-ea"/>
            </a:endParaRPr>
          </a:p>
          <a:p>
            <a:pPr algn="l" rtl="0" eaLnBrk="0">
              <a:lnSpc>
                <a:spcPct val="200000"/>
              </a:lnSpc>
            </a:pPr>
            <a:endParaRPr lang="zh-CN" altLang="en-US" sz="1200" dirty="0">
              <a:latin typeface="+mn-ea"/>
            </a:endParaRPr>
          </a:p>
        </p:txBody>
      </p:sp>
      <p:pic>
        <p:nvPicPr>
          <p:cNvPr id="2458" name="picture 2458"/>
          <p:cNvPicPr>
            <a:picLocks noChangeAspect="1"/>
          </p:cNvPicPr>
          <p:nvPr/>
        </p:nvPicPr>
        <p:blipFill>
          <a:blip r:embed="rId1"/>
          <a:stretch>
            <a:fillRect/>
          </a:stretch>
        </p:blipFill>
        <p:spPr>
          <a:xfrm rot="21600000">
            <a:off x="909908" y="858654"/>
            <a:ext cx="4400321" cy="2689085"/>
          </a:xfrm>
          <a:prstGeom prst="rect">
            <a:avLst/>
          </a:prstGeom>
        </p:spPr>
      </p:pic>
      <p:grpSp>
        <p:nvGrpSpPr>
          <p:cNvPr id="67" name="组合 66"/>
          <p:cNvGrpSpPr/>
          <p:nvPr/>
        </p:nvGrpSpPr>
        <p:grpSpPr>
          <a:xfrm>
            <a:off x="10177885" y="1132960"/>
            <a:ext cx="1756319" cy="5059416"/>
            <a:chOff x="15885" y="2097"/>
            <a:chExt cx="2766" cy="7968"/>
          </a:xfrm>
        </p:grpSpPr>
        <p:pic>
          <p:nvPicPr>
            <p:cNvPr id="32" name="picture 1826"/>
            <p:cNvPicPr>
              <a:picLocks noChangeAspect="1"/>
            </p:cNvPicPr>
            <p:nvPr/>
          </p:nvPicPr>
          <p:blipFill>
            <a:blip r:embed="rId2"/>
            <a:stretch>
              <a:fillRect/>
            </a:stretch>
          </p:blipFill>
          <p:spPr>
            <a:xfrm rot="21600000">
              <a:off x="15885" y="5719"/>
              <a:ext cx="702" cy="702"/>
            </a:xfrm>
            <a:prstGeom prst="rect">
              <a:avLst/>
            </a:prstGeom>
          </p:spPr>
        </p:pic>
        <p:pic>
          <p:nvPicPr>
            <p:cNvPr id="33" name="picture 1828"/>
            <p:cNvPicPr>
              <a:picLocks noChangeAspect="1"/>
            </p:cNvPicPr>
            <p:nvPr/>
          </p:nvPicPr>
          <p:blipFill>
            <a:blip r:embed="rId3"/>
            <a:stretch>
              <a:fillRect/>
            </a:stretch>
          </p:blipFill>
          <p:spPr>
            <a:xfrm rot="21600000">
              <a:off x="15885" y="4813"/>
              <a:ext cx="702" cy="702"/>
            </a:xfrm>
            <a:prstGeom prst="rect">
              <a:avLst/>
            </a:prstGeom>
          </p:spPr>
        </p:pic>
        <p:pic>
          <p:nvPicPr>
            <p:cNvPr id="34" name="picture 1830"/>
            <p:cNvPicPr>
              <a:picLocks noChangeAspect="1"/>
            </p:cNvPicPr>
            <p:nvPr/>
          </p:nvPicPr>
          <p:blipFill>
            <a:blip r:embed="rId4"/>
            <a:stretch>
              <a:fillRect/>
            </a:stretch>
          </p:blipFill>
          <p:spPr>
            <a:xfrm rot="21600000">
              <a:off x="15885" y="3908"/>
              <a:ext cx="702" cy="702"/>
            </a:xfrm>
            <a:prstGeom prst="rect">
              <a:avLst/>
            </a:prstGeom>
          </p:spPr>
        </p:pic>
        <p:pic>
          <p:nvPicPr>
            <p:cNvPr id="35" name="picture 1832"/>
            <p:cNvPicPr>
              <a:picLocks noChangeAspect="1"/>
            </p:cNvPicPr>
            <p:nvPr/>
          </p:nvPicPr>
          <p:blipFill>
            <a:blip r:embed="rId5"/>
            <a:stretch>
              <a:fillRect/>
            </a:stretch>
          </p:blipFill>
          <p:spPr>
            <a:xfrm rot="21600000">
              <a:off x="15885" y="3003"/>
              <a:ext cx="702" cy="702"/>
            </a:xfrm>
            <a:prstGeom prst="rect">
              <a:avLst/>
            </a:prstGeom>
          </p:spPr>
        </p:pic>
        <p:pic>
          <p:nvPicPr>
            <p:cNvPr id="36" name="picture 1834"/>
            <p:cNvPicPr>
              <a:picLocks noChangeAspect="1"/>
            </p:cNvPicPr>
            <p:nvPr/>
          </p:nvPicPr>
          <p:blipFill>
            <a:blip r:embed="rId6"/>
            <a:stretch>
              <a:fillRect/>
            </a:stretch>
          </p:blipFill>
          <p:spPr>
            <a:xfrm rot="21600000">
              <a:off x="15885" y="2097"/>
              <a:ext cx="702" cy="702"/>
            </a:xfrm>
            <a:prstGeom prst="rect">
              <a:avLst/>
            </a:prstGeom>
          </p:spPr>
        </p:pic>
        <p:pic>
          <p:nvPicPr>
            <p:cNvPr id="42" name="picture 1848"/>
            <p:cNvPicPr>
              <a:picLocks noChangeAspect="1"/>
            </p:cNvPicPr>
            <p:nvPr/>
          </p:nvPicPr>
          <p:blipFill>
            <a:blip r:embed="rId7"/>
            <a:stretch>
              <a:fillRect/>
            </a:stretch>
          </p:blipFill>
          <p:spPr>
            <a:xfrm rot="21600000">
              <a:off x="15885" y="7573"/>
              <a:ext cx="686" cy="683"/>
            </a:xfrm>
            <a:prstGeom prst="rect">
              <a:avLst/>
            </a:prstGeom>
          </p:spPr>
        </p:pic>
        <p:pic>
          <p:nvPicPr>
            <p:cNvPr id="43" name="picture 1850"/>
            <p:cNvPicPr>
              <a:picLocks noChangeAspect="1"/>
            </p:cNvPicPr>
            <p:nvPr/>
          </p:nvPicPr>
          <p:blipFill>
            <a:blip r:embed="rId8"/>
            <a:stretch>
              <a:fillRect/>
            </a:stretch>
          </p:blipFill>
          <p:spPr>
            <a:xfrm rot="21600000">
              <a:off x="15885" y="8508"/>
              <a:ext cx="686" cy="686"/>
            </a:xfrm>
            <a:prstGeom prst="rect">
              <a:avLst/>
            </a:prstGeom>
          </p:spPr>
        </p:pic>
        <p:sp>
          <p:nvSpPr>
            <p:cNvPr id="46" name="path 1856"/>
            <p:cNvSpPr/>
            <p:nvPr/>
          </p:nvSpPr>
          <p:spPr>
            <a:xfrm>
              <a:off x="15885" y="8499"/>
              <a:ext cx="702" cy="702"/>
            </a:xfrm>
            <a:custGeom>
              <a:avLst/>
              <a:gdLst/>
              <a:ahLst/>
              <a:cxnLst/>
              <a:rect l="0" t="0" r="0" b="0"/>
              <a:pathLst>
                <a:path w="702" h="702">
                  <a:moveTo>
                    <a:pt x="351" y="697"/>
                  </a:moveTo>
                  <a:cubicBezTo>
                    <a:pt x="542" y="697"/>
                    <a:pt x="697" y="542"/>
                    <a:pt x="697" y="351"/>
                  </a:cubicBezTo>
                  <a:cubicBezTo>
                    <a:pt x="697" y="160"/>
                    <a:pt x="542" y="5"/>
                    <a:pt x="351" y="5"/>
                  </a:cubicBezTo>
                  <a:cubicBezTo>
                    <a:pt x="160" y="5"/>
                    <a:pt x="5" y="160"/>
                    <a:pt x="5" y="351"/>
                  </a:cubicBezTo>
                  <a:cubicBezTo>
                    <a:pt x="5" y="542"/>
                    <a:pt x="160" y="697"/>
                    <a:pt x="351" y="697"/>
                  </a:cubicBezTo>
                </a:path>
              </a:pathLst>
            </a:custGeom>
            <a:noFill/>
            <a:ln w="6350" cap="flat">
              <a:solidFill>
                <a:srgbClr val="FFFFFF"/>
              </a:solidFill>
              <a:prstDash val="solid"/>
              <a:miter lim="400000"/>
            </a:ln>
          </p:spPr>
          <p:txBody>
            <a:bodyPr rtlCol="0"/>
            <a:p>
              <a:pPr algn="ctr"/>
              <a:endParaRPr lang="zh-CN" altLang="en-US">
                <a:solidFill>
                  <a:schemeClr val="tx1"/>
                </a:solidFill>
              </a:endParaRPr>
            </a:p>
          </p:txBody>
        </p:sp>
        <p:pic>
          <p:nvPicPr>
            <p:cNvPr id="48" name="picture 1860"/>
            <p:cNvPicPr>
              <a:picLocks noChangeAspect="1"/>
            </p:cNvPicPr>
            <p:nvPr/>
          </p:nvPicPr>
          <p:blipFill>
            <a:blip r:embed="rId9"/>
            <a:stretch>
              <a:fillRect/>
            </a:stretch>
          </p:blipFill>
          <p:spPr>
            <a:xfrm rot="21600000">
              <a:off x="15885" y="6601"/>
              <a:ext cx="702" cy="702"/>
            </a:xfrm>
            <a:prstGeom prst="rect">
              <a:avLst/>
            </a:prstGeom>
          </p:spPr>
        </p:pic>
        <p:sp>
          <p:nvSpPr>
            <p:cNvPr id="53" name="文本框 52"/>
            <p:cNvSpPr txBox="1"/>
            <p:nvPr/>
          </p:nvSpPr>
          <p:spPr>
            <a:xfrm>
              <a:off x="16785" y="2207"/>
              <a:ext cx="1581" cy="483"/>
            </a:xfrm>
            <a:prstGeom prst="rect">
              <a:avLst/>
            </a:prstGeom>
            <a:noFill/>
          </p:spPr>
          <p:txBody>
            <a:bodyPr wrap="square" rtlCol="0">
              <a:spAutoFit/>
            </a:bodyPr>
            <a:p>
              <a:r>
                <a:rPr sz="1400" kern="0" spc="-2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人体感应</a:t>
              </a:r>
              <a:endParaRPr sz="1400" kern="0" spc="-20" dirty="0">
                <a:solidFill>
                  <a:schemeClr val="tx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16785" y="3044"/>
              <a:ext cx="1400" cy="619"/>
            </a:xfrm>
            <a:prstGeom prst="rect">
              <a:avLst/>
            </a:prstGeom>
            <a:noFill/>
          </p:spPr>
          <p:txBody>
            <a:bodyPr wrap="square" rtlCol="0">
              <a:noAutofit/>
            </a:bodyPr>
            <a:p>
              <a:pPr lvl="0" algn="l">
                <a:buClrTx/>
                <a:buSzTx/>
                <a:buFontTx/>
              </a:pPr>
              <a:r>
                <a:rPr sz="1400" kern="0" spc="-2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照度感应</a:t>
              </a:r>
              <a:endParaRPr sz="1400" kern="0" spc="-2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55" name="文本框 54"/>
            <p:cNvSpPr txBox="1"/>
            <p:nvPr/>
          </p:nvSpPr>
          <p:spPr>
            <a:xfrm>
              <a:off x="16785" y="5828"/>
              <a:ext cx="1666" cy="483"/>
            </a:xfrm>
            <a:prstGeom prst="rect">
              <a:avLst/>
            </a:prstGeom>
            <a:noFill/>
          </p:spPr>
          <p:txBody>
            <a:bodyPr wrap="square" rtlCol="0">
              <a:spAutoFit/>
            </a:bodyPr>
            <a:p>
              <a:pPr lvl="0" algn="l">
                <a:buClrTx/>
                <a:buSzTx/>
                <a:buFontTx/>
              </a:pPr>
              <a:r>
                <a:rPr sz="1400" kern="0" spc="-2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节律控制</a:t>
              </a:r>
              <a:endParaRPr sz="1400" kern="0" spc="-2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56" name="文本框 55"/>
            <p:cNvSpPr txBox="1"/>
            <p:nvPr/>
          </p:nvSpPr>
          <p:spPr>
            <a:xfrm>
              <a:off x="16785" y="4923"/>
              <a:ext cx="1520" cy="483"/>
            </a:xfrm>
            <a:prstGeom prst="rect">
              <a:avLst/>
            </a:prstGeom>
            <a:noFill/>
          </p:spPr>
          <p:txBody>
            <a:bodyPr wrap="square" rtlCol="0">
              <a:spAutoFit/>
            </a:bodyPr>
            <a:p>
              <a:pPr lvl="0" algn="l">
                <a:buClrTx/>
                <a:buSzTx/>
                <a:buFontTx/>
              </a:pPr>
              <a:r>
                <a:rPr sz="1400" kern="0" spc="-2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场景控制</a:t>
              </a:r>
              <a:endParaRPr sz="1400" kern="0" spc="-2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57" name="文本框 56"/>
            <p:cNvSpPr txBox="1"/>
            <p:nvPr/>
          </p:nvSpPr>
          <p:spPr>
            <a:xfrm>
              <a:off x="16785" y="4018"/>
              <a:ext cx="1762" cy="483"/>
            </a:xfrm>
            <a:prstGeom prst="rect">
              <a:avLst/>
            </a:prstGeom>
            <a:noFill/>
          </p:spPr>
          <p:txBody>
            <a:bodyPr wrap="square" rtlCol="0">
              <a:spAutoFit/>
            </a:bodyPr>
            <a:p>
              <a:pPr lvl="0" algn="l">
                <a:buClrTx/>
                <a:buSzTx/>
                <a:buFontTx/>
              </a:pPr>
              <a:r>
                <a:rPr sz="1400" kern="0" spc="-2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分时控制</a:t>
              </a:r>
              <a:endParaRPr sz="1400" kern="0" spc="-2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58" name="文本框 57"/>
            <p:cNvSpPr txBox="1"/>
            <p:nvPr/>
          </p:nvSpPr>
          <p:spPr>
            <a:xfrm>
              <a:off x="16785" y="6710"/>
              <a:ext cx="1649" cy="483"/>
            </a:xfrm>
            <a:prstGeom prst="rect">
              <a:avLst/>
            </a:prstGeom>
            <a:noFill/>
          </p:spPr>
          <p:txBody>
            <a:bodyPr wrap="square" rtlCol="0">
              <a:spAutoFit/>
            </a:bodyPr>
            <a:p>
              <a:r>
                <a:rPr sz="1400" kern="0" spc="-2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云端操作</a:t>
              </a:r>
              <a:endParaRPr sz="1400" kern="0" spc="-20" dirty="0">
                <a:solidFill>
                  <a:schemeClr val="tx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59" name="文本框 58"/>
            <p:cNvSpPr txBox="1"/>
            <p:nvPr/>
          </p:nvSpPr>
          <p:spPr>
            <a:xfrm>
              <a:off x="16785" y="7673"/>
              <a:ext cx="1866" cy="483"/>
            </a:xfrm>
            <a:prstGeom prst="rect">
              <a:avLst/>
            </a:prstGeom>
            <a:noFill/>
          </p:spPr>
          <p:txBody>
            <a:bodyPr wrap="square" rtlCol="0">
              <a:spAutoFit/>
            </a:bodyPr>
            <a:p>
              <a:r>
                <a:rPr sz="1400" kern="0" spc="-1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远程管理</a:t>
              </a:r>
              <a:endParaRPr sz="1400" kern="0" spc="-10" dirty="0">
                <a:solidFill>
                  <a:schemeClr val="tx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60" name="文本框 59"/>
            <p:cNvSpPr txBox="1"/>
            <p:nvPr/>
          </p:nvSpPr>
          <p:spPr>
            <a:xfrm>
              <a:off x="16785" y="8609"/>
              <a:ext cx="1468" cy="483"/>
            </a:xfrm>
            <a:prstGeom prst="rect">
              <a:avLst/>
            </a:prstGeom>
            <a:noFill/>
          </p:spPr>
          <p:txBody>
            <a:bodyPr wrap="square" rtlCol="0">
              <a:spAutoFit/>
            </a:bodyPr>
            <a:p>
              <a:r>
                <a:rPr sz="1400" kern="0" spc="-1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能耗管理</a:t>
              </a:r>
              <a:endParaRPr sz="1400" kern="0" spc="-10" dirty="0">
                <a:solidFill>
                  <a:schemeClr val="tx1">
                    <a:alpha val="100000"/>
                  </a:schemeClr>
                </a:solidFill>
                <a:latin typeface="微软雅黑" panose="020B0503020204020204" charset="-122"/>
                <a:ea typeface="微软雅黑" panose="020B0503020204020204" charset="-122"/>
                <a:cs typeface="微软雅黑" panose="020B0503020204020204" charset="-122"/>
              </a:endParaRPr>
            </a:p>
          </p:txBody>
        </p:sp>
        <p:pic>
          <p:nvPicPr>
            <p:cNvPr id="63" name="picture 1846"/>
            <p:cNvPicPr>
              <a:picLocks noChangeAspect="1"/>
            </p:cNvPicPr>
            <p:nvPr/>
          </p:nvPicPr>
          <p:blipFill>
            <a:blip r:embed="rId10"/>
            <a:stretch>
              <a:fillRect/>
            </a:stretch>
          </p:blipFill>
          <p:spPr>
            <a:xfrm rot="21600000">
              <a:off x="15885" y="9379"/>
              <a:ext cx="686" cy="686"/>
            </a:xfrm>
            <a:prstGeom prst="rect">
              <a:avLst/>
            </a:prstGeom>
          </p:spPr>
        </p:pic>
        <p:sp>
          <p:nvSpPr>
            <p:cNvPr id="64" name="文本框 63"/>
            <p:cNvSpPr txBox="1"/>
            <p:nvPr/>
          </p:nvSpPr>
          <p:spPr>
            <a:xfrm>
              <a:off x="16785" y="9480"/>
              <a:ext cx="1583" cy="483"/>
            </a:xfrm>
            <a:prstGeom prst="rect">
              <a:avLst/>
            </a:prstGeom>
            <a:noFill/>
          </p:spPr>
          <p:txBody>
            <a:bodyPr wrap="square" rtlCol="0">
              <a:spAutoFit/>
            </a:bodyPr>
            <a:p>
              <a:r>
                <a:rPr sz="1400" kern="0" spc="-3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电子地图</a:t>
              </a:r>
              <a:endParaRPr sz="1400" kern="0" spc="-30" dirty="0">
                <a:solidFill>
                  <a:schemeClr val="tx1">
                    <a:alpha val="100000"/>
                  </a:schemeClr>
                </a:solidFill>
                <a:latin typeface="微软雅黑" panose="020B0503020204020204" charset="-122"/>
                <a:ea typeface="微软雅黑" panose="020B0503020204020204" charset="-122"/>
                <a:cs typeface="微软雅黑" panose="020B0503020204020204" charset="-122"/>
              </a:endParaRPr>
            </a:p>
          </p:txBody>
        </p:sp>
      </p:grpSp>
      <p:pic>
        <p:nvPicPr>
          <p:cNvPr id="69" name="图片 68"/>
          <p:cNvPicPr>
            <a:picLocks noChangeAspect="1"/>
          </p:cNvPicPr>
          <p:nvPr/>
        </p:nvPicPr>
        <p:blipFill rotWithShape="1">
          <a:blip r:embed="rId11" cstate="screen"/>
          <a:srcRect r="2034"/>
          <a:stretch>
            <a:fillRect/>
          </a:stretch>
        </p:blipFill>
        <p:spPr>
          <a:xfrm>
            <a:off x="835616" y="3547739"/>
            <a:ext cx="4473977" cy="2670671"/>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矩形 171"/>
          <p:cNvSpPr/>
          <p:nvPr/>
        </p:nvSpPr>
        <p:spPr>
          <a:xfrm>
            <a:off x="239395" y="2816252"/>
            <a:ext cx="11722734" cy="3960468"/>
          </a:xfrm>
          <a:prstGeom prst="rect">
            <a:avLst/>
          </a:prstGeom>
          <a:solidFill>
            <a:schemeClr val="accent1">
              <a:alpha val="23000"/>
            </a:schemeClr>
          </a:solidFill>
          <a:ln w="19050">
            <a:noFill/>
            <a:prstDash val="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sym typeface="+mn-ea"/>
            </a:endParaRPr>
          </a:p>
        </p:txBody>
      </p:sp>
      <p:sp>
        <p:nvSpPr>
          <p:cNvPr id="125" name="矩形 124"/>
          <p:cNvSpPr/>
          <p:nvPr/>
        </p:nvSpPr>
        <p:spPr>
          <a:xfrm>
            <a:off x="7404657" y="2816251"/>
            <a:ext cx="4479189" cy="3960469"/>
          </a:xfrm>
          <a:prstGeom prst="rect">
            <a:avLst/>
          </a:prstGeom>
          <a:solidFill>
            <a:schemeClr val="accent1">
              <a:lumMod val="75000"/>
              <a:alpha val="23000"/>
            </a:schemeClr>
          </a:solidFill>
          <a:ln w="19050">
            <a:noFill/>
            <a:prstDash val="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sym typeface="+mn-ea"/>
            </a:endParaRPr>
          </a:p>
        </p:txBody>
      </p:sp>
      <p:sp>
        <p:nvSpPr>
          <p:cNvPr id="3" name="矩形 2"/>
          <p:cNvSpPr/>
          <p:nvPr/>
        </p:nvSpPr>
        <p:spPr>
          <a:xfrm>
            <a:off x="2658701" y="2816252"/>
            <a:ext cx="4377790" cy="3960468"/>
          </a:xfrm>
          <a:prstGeom prst="rect">
            <a:avLst/>
          </a:prstGeom>
          <a:solidFill>
            <a:schemeClr val="accent1">
              <a:lumMod val="75000"/>
              <a:alpha val="23000"/>
            </a:schemeClr>
          </a:solidFill>
          <a:ln w="19050">
            <a:noFill/>
            <a:prstDash val="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sym typeface="+mn-ea"/>
            </a:endParaRPr>
          </a:p>
        </p:txBody>
      </p:sp>
      <p:sp>
        <p:nvSpPr>
          <p:cNvPr id="116" name="Rectangle 47"/>
          <p:cNvSpPr>
            <a:spLocks noChangeArrowheads="1"/>
          </p:cNvSpPr>
          <p:nvPr/>
        </p:nvSpPr>
        <p:spPr bwMode="auto">
          <a:xfrm>
            <a:off x="8164706" y="4767381"/>
            <a:ext cx="3525520" cy="840728"/>
          </a:xfrm>
          <a:prstGeom prst="rect">
            <a:avLst/>
          </a:prstGeom>
          <a:solidFill>
            <a:srgbClr val="F8F8F8"/>
          </a:solidFill>
          <a:ln w="9525">
            <a:solidFill>
              <a:srgbClr val="333399"/>
            </a:solidFill>
            <a:miter lim="800000"/>
          </a:ln>
          <a:effectLst>
            <a:outerShdw dist="35921" dir="2700000" algn="ctr" rotWithShape="0">
              <a:srgbClr val="808080"/>
            </a:outerShdw>
          </a:effectLst>
        </p:spPr>
        <p:txBody>
          <a:bodyPr wrap="none" anchor="ctr">
            <a:no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l" eaLnBrk="1" hangingPunct="1">
              <a:buClrTx/>
              <a:buSzTx/>
              <a:buFontTx/>
            </a:pPr>
            <a:endParaRPr lang="zh-CN" altLang="en-US" dirty="0">
              <a:solidFill>
                <a:srgbClr val="1C1C1C"/>
              </a:solidFill>
              <a:latin typeface="微软雅黑" panose="020B0503020204020204" charset="-122"/>
              <a:ea typeface="微软雅黑" panose="020B0503020204020204" charset="-122"/>
              <a:cs typeface="Times New Roman" panose="02020603050405020304" pitchFamily="18" charset="0"/>
              <a:sym typeface="+mn-ea"/>
            </a:endParaRPr>
          </a:p>
        </p:txBody>
      </p:sp>
      <p:sp>
        <p:nvSpPr>
          <p:cNvPr id="115" name="Rectangle 47"/>
          <p:cNvSpPr>
            <a:spLocks noChangeArrowheads="1"/>
          </p:cNvSpPr>
          <p:nvPr/>
        </p:nvSpPr>
        <p:spPr bwMode="auto">
          <a:xfrm>
            <a:off x="2757081" y="4773433"/>
            <a:ext cx="3525577" cy="825425"/>
          </a:xfrm>
          <a:prstGeom prst="rect">
            <a:avLst/>
          </a:prstGeom>
          <a:solidFill>
            <a:srgbClr val="F8F8F8"/>
          </a:solidFill>
          <a:ln w="9525">
            <a:solidFill>
              <a:srgbClr val="333399"/>
            </a:solidFill>
            <a:miter lim="800000"/>
          </a:ln>
          <a:effectLst>
            <a:outerShdw dist="35921" dir="2700000" algn="ctr" rotWithShape="0">
              <a:srgbClr val="808080"/>
            </a:outerShdw>
          </a:effectLst>
        </p:spPr>
        <p:txBody>
          <a:bodyPr wrap="none" anchor="ctr">
            <a:no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l" eaLnBrk="1" hangingPunct="1">
              <a:buClrTx/>
              <a:buSzTx/>
              <a:buFontTx/>
            </a:pPr>
            <a:endParaRPr lang="zh-CN" altLang="en-US" dirty="0">
              <a:solidFill>
                <a:srgbClr val="1C1C1C"/>
              </a:solidFill>
              <a:latin typeface="微软雅黑" panose="020B0503020204020204" charset="-122"/>
              <a:ea typeface="微软雅黑" panose="020B0503020204020204" charset="-122"/>
              <a:cs typeface="Times New Roman" panose="02020603050405020304" pitchFamily="18" charset="0"/>
              <a:sym typeface="+mn-ea"/>
            </a:endParaRPr>
          </a:p>
        </p:txBody>
      </p:sp>
      <p:sp>
        <p:nvSpPr>
          <p:cNvPr id="110" name="Rectangle 47"/>
          <p:cNvSpPr>
            <a:spLocks noChangeArrowheads="1"/>
          </p:cNvSpPr>
          <p:nvPr/>
        </p:nvSpPr>
        <p:spPr bwMode="auto">
          <a:xfrm>
            <a:off x="2757081" y="3860390"/>
            <a:ext cx="3525577" cy="825425"/>
          </a:xfrm>
          <a:prstGeom prst="rect">
            <a:avLst/>
          </a:prstGeom>
          <a:solidFill>
            <a:srgbClr val="F8F8F8"/>
          </a:solidFill>
          <a:ln w="9525">
            <a:solidFill>
              <a:srgbClr val="333399"/>
            </a:solidFill>
            <a:miter lim="800000"/>
          </a:ln>
          <a:effectLst>
            <a:outerShdw dist="35921" dir="2700000" algn="ctr" rotWithShape="0">
              <a:srgbClr val="808080"/>
            </a:outerShdw>
          </a:effectLst>
        </p:spPr>
        <p:txBody>
          <a:bodyPr wrap="none" anchor="ctr">
            <a:no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l" eaLnBrk="1" hangingPunct="1">
              <a:buClrTx/>
              <a:buSzTx/>
              <a:buFontTx/>
            </a:pPr>
            <a:endParaRPr lang="zh-CN" altLang="en-US" dirty="0">
              <a:solidFill>
                <a:srgbClr val="1C1C1C"/>
              </a:solidFill>
              <a:latin typeface="微软雅黑" panose="020B0503020204020204" charset="-122"/>
              <a:ea typeface="微软雅黑" panose="020B0503020204020204" charset="-122"/>
              <a:cs typeface="Times New Roman" panose="02020603050405020304" pitchFamily="18" charset="0"/>
              <a:sym typeface="+mn-ea"/>
            </a:endParaRPr>
          </a:p>
        </p:txBody>
      </p:sp>
      <p:sp>
        <p:nvSpPr>
          <p:cNvPr id="111" name="Rectangle 47"/>
          <p:cNvSpPr>
            <a:spLocks noChangeArrowheads="1"/>
          </p:cNvSpPr>
          <p:nvPr/>
        </p:nvSpPr>
        <p:spPr bwMode="auto">
          <a:xfrm>
            <a:off x="8164706" y="3854101"/>
            <a:ext cx="3525520" cy="840728"/>
          </a:xfrm>
          <a:prstGeom prst="rect">
            <a:avLst/>
          </a:prstGeom>
          <a:solidFill>
            <a:srgbClr val="F8F8F8"/>
          </a:solidFill>
          <a:ln w="9525">
            <a:solidFill>
              <a:srgbClr val="333399"/>
            </a:solidFill>
            <a:miter lim="800000"/>
          </a:ln>
          <a:effectLst>
            <a:outerShdw dist="35921" dir="2700000" algn="ctr" rotWithShape="0">
              <a:srgbClr val="808080"/>
            </a:outerShdw>
          </a:effectLst>
        </p:spPr>
        <p:txBody>
          <a:bodyPr wrap="none" anchor="ctr">
            <a:no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l" eaLnBrk="1" hangingPunct="1">
              <a:buClrTx/>
              <a:buSzTx/>
              <a:buFontTx/>
            </a:pPr>
            <a:endParaRPr lang="zh-CN" altLang="en-US" dirty="0">
              <a:solidFill>
                <a:srgbClr val="1C1C1C"/>
              </a:solidFill>
              <a:latin typeface="微软雅黑" panose="020B0503020204020204" charset="-122"/>
              <a:ea typeface="微软雅黑" panose="020B0503020204020204" charset="-122"/>
              <a:cs typeface="Times New Roman" panose="02020603050405020304" pitchFamily="18" charset="0"/>
              <a:sym typeface="+mn-ea"/>
            </a:endParaRPr>
          </a:p>
        </p:txBody>
      </p:sp>
      <p:sp>
        <p:nvSpPr>
          <p:cNvPr id="5" name="文本框 4"/>
          <p:cNvSpPr txBox="1"/>
          <p:nvPr/>
        </p:nvSpPr>
        <p:spPr>
          <a:xfrm>
            <a:off x="9506451" y="280670"/>
            <a:ext cx="2681996" cy="430887"/>
          </a:xfrm>
          <a:prstGeom prst="rect">
            <a:avLst/>
          </a:prstGeom>
          <a:noFill/>
        </p:spPr>
        <p:txBody>
          <a:bodyPr wrap="square" rtlCol="0">
            <a:spAutoFit/>
          </a:bodyPr>
          <a:lstStyle/>
          <a:p>
            <a:r>
              <a:rPr lang="zh-CN" altLang="en-US" sz="1600" b="1" dirty="0">
                <a:solidFill>
                  <a:srgbClr val="0070C0"/>
                </a:solidFill>
                <a:latin typeface="微软雅黑" panose="020B0503020204020204" charset="-122"/>
                <a:ea typeface="微软雅黑" panose="020B0503020204020204" charset="-122"/>
              </a:rPr>
              <a:t>产品架构组合</a:t>
            </a:r>
            <a:endParaRPr lang="en-US" altLang="zh-CN" sz="1600" b="1" dirty="0">
              <a:solidFill>
                <a:srgbClr val="0070C0"/>
              </a:solidFill>
              <a:latin typeface="微软雅黑" panose="020B0503020204020204" charset="-122"/>
              <a:ea typeface="微软雅黑" panose="020B0503020204020204" charset="-122"/>
            </a:endParaRPr>
          </a:p>
          <a:p>
            <a:r>
              <a:rPr lang="en-US" altLang="zh-CN" sz="600" b="1" dirty="0">
                <a:solidFill>
                  <a:srgbClr val="C00000"/>
                </a:solidFill>
                <a:latin typeface="微软雅黑" panose="020B0503020204020204" charset="-122"/>
                <a:ea typeface="微软雅黑" panose="020B0503020204020204" charset="-122"/>
              </a:rPr>
              <a:t>Product Architecture Portfolio</a:t>
            </a:r>
            <a:endParaRPr lang="zh-CN" altLang="en-US" sz="600" b="1" dirty="0">
              <a:solidFill>
                <a:srgbClr val="C00000"/>
              </a:solidFill>
              <a:latin typeface="微软雅黑" panose="020B0503020204020204" charset="-122"/>
              <a:ea typeface="微软雅黑" panose="020B0503020204020204" charset="-122"/>
            </a:endParaRPr>
          </a:p>
        </p:txBody>
      </p:sp>
      <p:sp>
        <p:nvSpPr>
          <p:cNvPr id="2" name="矩形 1"/>
          <p:cNvSpPr/>
          <p:nvPr/>
        </p:nvSpPr>
        <p:spPr>
          <a:xfrm>
            <a:off x="290195" y="771137"/>
            <a:ext cx="11671935" cy="978008"/>
          </a:xfrm>
          <a:prstGeom prst="rect">
            <a:avLst/>
          </a:prstGeom>
          <a:solidFill>
            <a:schemeClr val="accent1">
              <a:lumMod val="60000"/>
              <a:lumOff val="40000"/>
              <a:alpha val="23000"/>
            </a:schemeClr>
          </a:solidFill>
          <a:ln w="19050">
            <a:noFill/>
            <a:prstDash val="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sym typeface="+mn-ea"/>
            </a:endParaRPr>
          </a:p>
        </p:txBody>
      </p:sp>
      <p:sp>
        <p:nvSpPr>
          <p:cNvPr id="4" name="矩形 3"/>
          <p:cNvSpPr/>
          <p:nvPr/>
        </p:nvSpPr>
        <p:spPr>
          <a:xfrm>
            <a:off x="239395" y="1849918"/>
            <a:ext cx="11722735" cy="852183"/>
          </a:xfrm>
          <a:prstGeom prst="rect">
            <a:avLst/>
          </a:prstGeom>
          <a:solidFill>
            <a:schemeClr val="accent1">
              <a:lumMod val="75000"/>
              <a:alpha val="23000"/>
            </a:schemeClr>
          </a:solidFill>
          <a:ln w="19050">
            <a:no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7" name="Rectangle 46"/>
          <p:cNvSpPr>
            <a:spLocks noChangeArrowheads="1"/>
          </p:cNvSpPr>
          <p:nvPr/>
        </p:nvSpPr>
        <p:spPr bwMode="auto">
          <a:xfrm>
            <a:off x="2766060" y="1882965"/>
            <a:ext cx="3525520" cy="762169"/>
          </a:xfrm>
          <a:prstGeom prst="rect">
            <a:avLst/>
          </a:prstGeom>
          <a:solidFill>
            <a:srgbClr val="F8F8F8"/>
          </a:solidFill>
          <a:ln w="9525">
            <a:solidFill>
              <a:srgbClr val="333399"/>
            </a:solidFill>
            <a:miter lim="800000"/>
          </a:ln>
          <a:effectLst>
            <a:outerShdw dist="35921" dir="2700000" algn="ctr" rotWithShape="0">
              <a:srgbClr val="808080"/>
            </a:outerShdw>
          </a:effectLst>
        </p:spPr>
        <p:txBody>
          <a:bodyPr wrap="none" anchor="ct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endParaRPr lang="zh-CN" altLang="en-US" dirty="0">
              <a:solidFill>
                <a:srgbClr val="1C1C1C"/>
              </a:solidFill>
              <a:latin typeface="微软雅黑" panose="020B0503020204020204" charset="-122"/>
              <a:ea typeface="微软雅黑" panose="020B0503020204020204" charset="-122"/>
              <a:cs typeface="Times New Roman" panose="02020603050405020304" pitchFamily="18" charset="0"/>
            </a:endParaRPr>
          </a:p>
          <a:p>
            <a:pPr eaLnBrk="1" hangingPunct="1"/>
            <a:endParaRPr lang="ja-JP" altLang="en-US" dirty="0">
              <a:solidFill>
                <a:srgbClr val="1C1C1C"/>
              </a:solidFill>
              <a:latin typeface="微软雅黑" panose="020B0503020204020204" charset="-122"/>
              <a:ea typeface="微软雅黑" panose="020B0503020204020204" charset="-122"/>
              <a:cs typeface="Times New Roman" panose="02020603050405020304" pitchFamily="18" charset="0"/>
            </a:endParaRPr>
          </a:p>
        </p:txBody>
      </p:sp>
      <p:grpSp>
        <p:nvGrpSpPr>
          <p:cNvPr id="113" name="组合 112"/>
          <p:cNvGrpSpPr/>
          <p:nvPr/>
        </p:nvGrpSpPr>
        <p:grpSpPr>
          <a:xfrm>
            <a:off x="1372630" y="3852197"/>
            <a:ext cx="1249045" cy="840244"/>
            <a:chOff x="1369060" y="3782746"/>
            <a:chExt cx="1249045" cy="984885"/>
          </a:xfrm>
          <a:solidFill>
            <a:schemeClr val="accent1">
              <a:lumMod val="60000"/>
              <a:lumOff val="40000"/>
            </a:schemeClr>
          </a:solidFill>
        </p:grpSpPr>
        <p:sp>
          <p:nvSpPr>
            <p:cNvPr id="8" name="Rectangle 36"/>
            <p:cNvSpPr>
              <a:spLocks noChangeArrowheads="1"/>
            </p:cNvSpPr>
            <p:nvPr/>
          </p:nvSpPr>
          <p:spPr bwMode="auto">
            <a:xfrm>
              <a:off x="1369060" y="3784651"/>
              <a:ext cx="1041400" cy="982980"/>
            </a:xfrm>
            <a:prstGeom prst="rect">
              <a:avLst/>
            </a:prstGeom>
            <a:grpFill/>
            <a:ln w="9525">
              <a:noFill/>
              <a:miter lim="800000"/>
            </a:ln>
            <a:effectLst>
              <a:outerShdw dist="35921" dir="2700000" algn="ctr" rotWithShape="0">
                <a:schemeClr val="bg2"/>
              </a:outerShdw>
            </a:effectLst>
          </p:spPr>
          <p:txBody>
            <a:bodyPr wrap="none" anchor="ctr">
              <a:no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eaLnBrk="1" hangingPunct="1">
                <a:lnSpc>
                  <a:spcPct val="115000"/>
                </a:lnSpc>
                <a:buClrTx/>
                <a:buSzTx/>
                <a:buFontTx/>
              </a:pPr>
              <a:r>
                <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rPr>
                <a:t>感应类</a:t>
              </a:r>
              <a:endPar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endParaRPr>
            </a:p>
          </p:txBody>
        </p:sp>
        <p:sp>
          <p:nvSpPr>
            <p:cNvPr id="9" name="AutoShape 37"/>
            <p:cNvSpPr>
              <a:spLocks noChangeArrowheads="1"/>
            </p:cNvSpPr>
            <p:nvPr/>
          </p:nvSpPr>
          <p:spPr bwMode="auto">
            <a:xfrm>
              <a:off x="2480310" y="3782746"/>
              <a:ext cx="137795" cy="982980"/>
            </a:xfrm>
            <a:prstGeom prst="roundRect">
              <a:avLst>
                <a:gd name="adj" fmla="val 3083"/>
              </a:avLst>
            </a:prstGeom>
            <a:grpFill/>
            <a:ln w="9525">
              <a:noFill/>
              <a:miter lim="800000"/>
            </a:ln>
            <a:effectLst>
              <a:outerShdw dist="35921" dir="2700000" algn="ctr" rotWithShape="0">
                <a:schemeClr val="bg2"/>
              </a:outerShdw>
            </a:effectLst>
          </p:spPr>
          <p:txBody>
            <a:bodyPr wrap="none" anchor="ctr">
              <a:no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eaLnBrk="1" hangingPunct="1">
                <a:lnSpc>
                  <a:spcPct val="115000"/>
                </a:lnSpc>
                <a:buClrTx/>
                <a:buSzTx/>
                <a:buFontTx/>
              </a:pPr>
              <a:endPar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endParaRPr>
            </a:p>
          </p:txBody>
        </p:sp>
      </p:grpSp>
      <p:grpSp>
        <p:nvGrpSpPr>
          <p:cNvPr id="10" name="Group 42"/>
          <p:cNvGrpSpPr/>
          <p:nvPr/>
        </p:nvGrpSpPr>
        <p:grpSpPr bwMode="auto">
          <a:xfrm>
            <a:off x="1378585" y="1882966"/>
            <a:ext cx="1249680" cy="792120"/>
            <a:chOff x="249" y="1751"/>
            <a:chExt cx="817" cy="368"/>
          </a:xfrm>
          <a:solidFill>
            <a:schemeClr val="accent1">
              <a:lumMod val="60000"/>
              <a:lumOff val="40000"/>
            </a:schemeClr>
          </a:solidFill>
        </p:grpSpPr>
        <p:sp>
          <p:nvSpPr>
            <p:cNvPr id="11" name="Rectangle 40"/>
            <p:cNvSpPr>
              <a:spLocks noChangeArrowheads="1"/>
            </p:cNvSpPr>
            <p:nvPr>
              <p:custDataLst>
                <p:tags r:id="rId1"/>
              </p:custDataLst>
            </p:nvPr>
          </p:nvSpPr>
          <p:spPr bwMode="auto">
            <a:xfrm>
              <a:off x="249" y="1752"/>
              <a:ext cx="681" cy="367"/>
            </a:xfrm>
            <a:prstGeom prst="rect">
              <a:avLst/>
            </a:prstGeom>
            <a:grpFill/>
            <a:ln w="9525">
              <a:noFill/>
              <a:miter lim="800000"/>
            </a:ln>
            <a:effectLst>
              <a:outerShdw dist="35921" dir="2700000" algn="ctr" rotWithShape="0">
                <a:schemeClr val="bg2"/>
              </a:outerShdw>
            </a:effectLst>
          </p:spPr>
          <p:txBody>
            <a:bodyPr wrap="none" anchor="ctr">
              <a:no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eaLnBrk="1" hangingPunct="1">
                <a:lnSpc>
                  <a:spcPct val="115000"/>
                </a:lnSpc>
                <a:buClrTx/>
                <a:buSzTx/>
                <a:buFontTx/>
              </a:pPr>
              <a:r>
                <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rPr>
                <a:t>网关类</a:t>
              </a:r>
              <a:endPar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endParaRPr>
            </a:p>
            <a:p>
              <a:pPr lvl="0" algn="ctr" eaLnBrk="1" hangingPunct="1">
                <a:lnSpc>
                  <a:spcPct val="115000"/>
                </a:lnSpc>
                <a:buClrTx/>
                <a:buSzTx/>
                <a:buFontTx/>
              </a:pPr>
              <a:r>
                <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rPr>
                <a:t>（有线）</a:t>
              </a:r>
              <a:endPar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endParaRPr>
            </a:p>
          </p:txBody>
        </p:sp>
        <p:sp>
          <p:nvSpPr>
            <p:cNvPr id="12" name="AutoShape 41"/>
            <p:cNvSpPr>
              <a:spLocks noChangeArrowheads="1"/>
            </p:cNvSpPr>
            <p:nvPr>
              <p:custDataLst>
                <p:tags r:id="rId2"/>
              </p:custDataLst>
            </p:nvPr>
          </p:nvSpPr>
          <p:spPr bwMode="auto">
            <a:xfrm>
              <a:off x="976" y="1751"/>
              <a:ext cx="90" cy="368"/>
            </a:xfrm>
            <a:prstGeom prst="roundRect">
              <a:avLst>
                <a:gd name="adj" fmla="val 3083"/>
              </a:avLst>
            </a:prstGeom>
            <a:grpFill/>
            <a:ln w="9525">
              <a:noFill/>
              <a:miter lim="800000"/>
            </a:ln>
            <a:effectLst>
              <a:outerShdw dist="35921" dir="2700000" algn="ctr" rotWithShape="0">
                <a:schemeClr val="bg2"/>
              </a:outerShdw>
            </a:effectLst>
          </p:spPr>
          <p:txBody>
            <a:bodyPr wrap="none" anchor="ctr">
              <a:no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eaLnBrk="1" hangingPunct="1">
                <a:lnSpc>
                  <a:spcPct val="115000"/>
                </a:lnSpc>
                <a:buClrTx/>
                <a:buSzTx/>
                <a:buFontTx/>
              </a:pPr>
              <a:endPar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endParaRPr>
            </a:p>
          </p:txBody>
        </p:sp>
      </p:grpSp>
      <p:grpSp>
        <p:nvGrpSpPr>
          <p:cNvPr id="123" name="组合 122"/>
          <p:cNvGrpSpPr/>
          <p:nvPr/>
        </p:nvGrpSpPr>
        <p:grpSpPr>
          <a:xfrm>
            <a:off x="1372630" y="4779898"/>
            <a:ext cx="1249045" cy="825425"/>
            <a:chOff x="1369060" y="4673154"/>
            <a:chExt cx="1249045" cy="970280"/>
          </a:xfrm>
          <a:solidFill>
            <a:schemeClr val="accent1">
              <a:lumMod val="60000"/>
              <a:lumOff val="40000"/>
            </a:schemeClr>
          </a:solidFill>
        </p:grpSpPr>
        <p:sp>
          <p:nvSpPr>
            <p:cNvPr id="17" name="Rectangle 36"/>
            <p:cNvSpPr>
              <a:spLocks noChangeArrowheads="1"/>
            </p:cNvSpPr>
            <p:nvPr/>
          </p:nvSpPr>
          <p:spPr bwMode="auto">
            <a:xfrm>
              <a:off x="1369060" y="4675059"/>
              <a:ext cx="1041400" cy="968375"/>
            </a:xfrm>
            <a:prstGeom prst="rect">
              <a:avLst/>
            </a:prstGeom>
            <a:grpFill/>
            <a:ln w="9525">
              <a:noFill/>
              <a:miter lim="800000"/>
            </a:ln>
            <a:effectLst>
              <a:outerShdw dist="35921" dir="2700000" algn="ctr" rotWithShape="0">
                <a:schemeClr val="bg2"/>
              </a:outerShdw>
            </a:effectLst>
          </p:spPr>
          <p:txBody>
            <a:bodyPr wrap="none" anchor="ctr">
              <a:no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eaLnBrk="1" hangingPunct="1">
                <a:lnSpc>
                  <a:spcPct val="115000"/>
                </a:lnSpc>
                <a:buClrTx/>
                <a:buSzTx/>
                <a:buFontTx/>
              </a:pPr>
              <a:r>
                <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rPr>
                <a:t>智能面板</a:t>
              </a:r>
              <a:endPar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endParaRPr>
            </a:p>
          </p:txBody>
        </p:sp>
        <p:sp>
          <p:nvSpPr>
            <p:cNvPr id="18" name="AutoShape 37"/>
            <p:cNvSpPr>
              <a:spLocks noChangeArrowheads="1"/>
            </p:cNvSpPr>
            <p:nvPr/>
          </p:nvSpPr>
          <p:spPr bwMode="auto">
            <a:xfrm>
              <a:off x="2480310" y="4673154"/>
              <a:ext cx="137795" cy="968375"/>
            </a:xfrm>
            <a:prstGeom prst="roundRect">
              <a:avLst>
                <a:gd name="adj" fmla="val 3083"/>
              </a:avLst>
            </a:prstGeom>
            <a:grpFill/>
            <a:ln w="9525">
              <a:noFill/>
              <a:miter lim="800000"/>
            </a:ln>
            <a:effectLst>
              <a:outerShdw dist="35921" dir="2700000" algn="ctr" rotWithShape="0">
                <a:schemeClr val="bg2"/>
              </a:outerShdw>
            </a:effectLst>
          </p:spPr>
          <p:txBody>
            <a:bodyPr wrap="none" anchor="ctr">
              <a:no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eaLnBrk="1" hangingPunct="1">
                <a:lnSpc>
                  <a:spcPct val="115000"/>
                </a:lnSpc>
                <a:buClrTx/>
                <a:buSzTx/>
                <a:buFontTx/>
              </a:pPr>
              <a:endPar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endParaRPr>
            </a:p>
          </p:txBody>
        </p:sp>
      </p:grpSp>
      <p:pic>
        <p:nvPicPr>
          <p:cNvPr id="32" name="图片 31"/>
          <p:cNvPicPr>
            <a:picLocks noChangeAspect="1"/>
          </p:cNvPicPr>
          <p:nvPr/>
        </p:nvPicPr>
        <p:blipFill rotWithShape="1">
          <a:blip r:embed="rId3" cstate="print">
            <a:extLst>
              <a:ext uri="{28A0092B-C50C-407E-A947-70E740481C1C}">
                <a14:useLocalDpi xmlns:a14="http://schemas.microsoft.com/office/drawing/2010/main" val="0"/>
              </a:ext>
            </a:extLst>
          </a:blip>
          <a:srcRect l="24757" t="15619" r="26633" b="22970"/>
          <a:stretch>
            <a:fillRect/>
          </a:stretch>
        </p:blipFill>
        <p:spPr>
          <a:xfrm>
            <a:off x="3035402" y="1911571"/>
            <a:ext cx="738345" cy="414387"/>
          </a:xfrm>
          <a:prstGeom prst="rect">
            <a:avLst/>
          </a:prstGeom>
        </p:spPr>
      </p:pic>
      <p:pic>
        <p:nvPicPr>
          <p:cNvPr id="33" name="图片 32"/>
          <p:cNvPicPr>
            <a:picLocks noChangeAspect="1"/>
          </p:cNvPicPr>
          <p:nvPr/>
        </p:nvPicPr>
        <p:blipFill rotWithShape="1">
          <a:blip r:embed="rId4" cstate="print">
            <a:extLst>
              <a:ext uri="{28A0092B-C50C-407E-A947-70E740481C1C}">
                <a14:useLocalDpi xmlns:a14="http://schemas.microsoft.com/office/drawing/2010/main" val="0"/>
              </a:ext>
            </a:extLst>
          </a:blip>
          <a:srcRect l="24757" t="15619" r="26633" b="22970"/>
          <a:stretch>
            <a:fillRect/>
          </a:stretch>
        </p:blipFill>
        <p:spPr>
          <a:xfrm>
            <a:off x="4072193" y="1911689"/>
            <a:ext cx="744741" cy="417977"/>
          </a:xfrm>
          <a:prstGeom prst="rect">
            <a:avLst/>
          </a:prstGeom>
        </p:spPr>
      </p:pic>
      <p:sp>
        <p:nvSpPr>
          <p:cNvPr id="35" name="TextBox 57"/>
          <p:cNvSpPr txBox="1">
            <a:spLocks noChangeArrowheads="1"/>
          </p:cNvSpPr>
          <p:nvPr/>
        </p:nvSpPr>
        <p:spPr bwMode="auto">
          <a:xfrm>
            <a:off x="2919885" y="2330429"/>
            <a:ext cx="798830" cy="229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indent="0" algn="l">
              <a:buNone/>
            </a:pP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sym typeface="+mn-ea"/>
              </a:rPr>
              <a:t>OBUS-网关</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sym typeface="+mn-ea"/>
            </a:endParaRPr>
          </a:p>
        </p:txBody>
      </p:sp>
      <p:sp>
        <p:nvSpPr>
          <p:cNvPr id="36" name="TextBox 57"/>
          <p:cNvSpPr txBox="1">
            <a:spLocks noChangeArrowheads="1"/>
          </p:cNvSpPr>
          <p:nvPr/>
        </p:nvSpPr>
        <p:spPr bwMode="auto">
          <a:xfrm>
            <a:off x="4112914" y="2330353"/>
            <a:ext cx="69442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900" b="1" dirty="0">
                <a:solidFill>
                  <a:srgbClr val="000000"/>
                </a:solidFill>
                <a:latin typeface="微软雅黑" panose="020B0503020204020204" charset="-122"/>
                <a:ea typeface="微软雅黑" panose="020B0503020204020204" charset="-122"/>
                <a:cs typeface="微软雅黑" panose="020B0503020204020204" charset="-122"/>
              </a:rPr>
              <a:t>DALI</a:t>
            </a: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网关</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endParaRPr>
          </a:p>
        </p:txBody>
      </p:sp>
      <p:grpSp>
        <p:nvGrpSpPr>
          <p:cNvPr id="135" name="组合 134"/>
          <p:cNvGrpSpPr/>
          <p:nvPr/>
        </p:nvGrpSpPr>
        <p:grpSpPr>
          <a:xfrm>
            <a:off x="8090535" y="1882965"/>
            <a:ext cx="1322070" cy="792120"/>
            <a:chOff x="8090535" y="1882965"/>
            <a:chExt cx="1322070" cy="792120"/>
          </a:xfrm>
        </p:grpSpPr>
        <p:sp>
          <p:nvSpPr>
            <p:cNvPr id="19" name="Rectangle 46"/>
            <p:cNvSpPr>
              <a:spLocks noChangeArrowheads="1"/>
            </p:cNvSpPr>
            <p:nvPr/>
          </p:nvSpPr>
          <p:spPr bwMode="auto">
            <a:xfrm>
              <a:off x="8164706" y="1882965"/>
              <a:ext cx="1247899" cy="781084"/>
            </a:xfrm>
            <a:prstGeom prst="rect">
              <a:avLst/>
            </a:prstGeom>
            <a:solidFill>
              <a:srgbClr val="F8F8F8"/>
            </a:solidFill>
            <a:ln w="9525">
              <a:solidFill>
                <a:srgbClr val="333399"/>
              </a:solidFill>
              <a:miter lim="800000"/>
            </a:ln>
            <a:effectLst>
              <a:outerShdw dist="35921" dir="2700000" algn="ctr" rotWithShape="0">
                <a:srgbClr val="808080"/>
              </a:outerShdw>
            </a:effectLst>
          </p:spPr>
          <p:txBody>
            <a:bodyPr wrap="none" anchor="ctr">
              <a:no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l" eaLnBrk="1" hangingPunct="1">
                <a:buClrTx/>
                <a:buSzTx/>
                <a:buFontTx/>
              </a:pPr>
              <a:endParaRPr lang="zh-CN" altLang="en-US" dirty="0">
                <a:solidFill>
                  <a:srgbClr val="1C1C1C"/>
                </a:solidFill>
                <a:latin typeface="微软雅黑" panose="020B0503020204020204" charset="-122"/>
                <a:ea typeface="微软雅黑" panose="020B0503020204020204" charset="-122"/>
                <a:cs typeface="Times New Roman" panose="02020603050405020304" pitchFamily="18" charset="0"/>
                <a:sym typeface="+mn-ea"/>
              </a:endParaRPr>
            </a:p>
            <a:p>
              <a:pPr lvl="0" algn="l" eaLnBrk="1" hangingPunct="1">
                <a:buClrTx/>
                <a:buSzTx/>
                <a:buFontTx/>
              </a:pPr>
              <a:endParaRPr lang="zh-CN" altLang="en-US" dirty="0">
                <a:solidFill>
                  <a:srgbClr val="1C1C1C"/>
                </a:solidFill>
                <a:latin typeface="微软雅黑" panose="020B0503020204020204" charset="-122"/>
                <a:ea typeface="微软雅黑" panose="020B0503020204020204" charset="-122"/>
                <a:cs typeface="Times New Roman" panose="02020603050405020304" pitchFamily="18" charset="0"/>
                <a:sym typeface="+mn-ea"/>
              </a:endParaRPr>
            </a:p>
          </p:txBody>
        </p:sp>
        <p:pic>
          <p:nvPicPr>
            <p:cNvPr id="34" name="图片 33"/>
            <p:cNvPicPr>
              <a:picLocks noChangeAspect="1"/>
            </p:cNvPicPr>
            <p:nvPr/>
          </p:nvPicPr>
          <p:blipFill rotWithShape="1">
            <a:blip r:embed="rId5"/>
            <a:srcRect l="4777" t="3242" r="945" b="3907"/>
            <a:stretch>
              <a:fillRect/>
            </a:stretch>
          </p:blipFill>
          <p:spPr>
            <a:xfrm>
              <a:off x="8406098" y="1898454"/>
              <a:ext cx="627723" cy="458068"/>
            </a:xfrm>
            <a:prstGeom prst="rect">
              <a:avLst/>
            </a:prstGeom>
          </p:spPr>
        </p:pic>
        <p:sp>
          <p:nvSpPr>
            <p:cNvPr id="37" name="TextBox 57"/>
            <p:cNvSpPr txBox="1">
              <a:spLocks noChangeArrowheads="1"/>
            </p:cNvSpPr>
            <p:nvPr/>
          </p:nvSpPr>
          <p:spPr bwMode="auto">
            <a:xfrm>
              <a:off x="8090535" y="2336531"/>
              <a:ext cx="12830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zh-CN" altLang="en-US" sz="800" b="1" dirty="0">
                  <a:solidFill>
                    <a:srgbClr val="000000"/>
                  </a:solidFill>
                  <a:latin typeface="微软雅黑" panose="020B0503020204020204" charset="-122"/>
                  <a:ea typeface="微软雅黑" panose="020B0503020204020204" charset="-122"/>
                  <a:cs typeface="微软雅黑" panose="020B0503020204020204" charset="-122"/>
                </a:rPr>
                <a:t>蓝牙</a:t>
              </a:r>
              <a:r>
                <a:rPr lang="en-US" altLang="zh-CN" sz="800" b="1" dirty="0">
                  <a:solidFill>
                    <a:srgbClr val="000000"/>
                  </a:solidFill>
                  <a:latin typeface="微软雅黑" panose="020B0503020204020204" charset="-122"/>
                  <a:ea typeface="微软雅黑" panose="020B0503020204020204" charset="-122"/>
                  <a:cs typeface="微软雅黑" panose="020B0503020204020204" charset="-122"/>
                </a:rPr>
                <a:t>/DALI</a:t>
              </a:r>
              <a:endParaRPr lang="en-US" altLang="zh-CN" sz="800" b="1" dirty="0">
                <a:solidFill>
                  <a:srgbClr val="000000"/>
                </a:solidFill>
                <a:latin typeface="微软雅黑" panose="020B0503020204020204" charset="-122"/>
                <a:ea typeface="微软雅黑" panose="020B0503020204020204" charset="-122"/>
                <a:cs typeface="微软雅黑" panose="020B0503020204020204" charset="-122"/>
              </a:endParaRPr>
            </a:p>
            <a:p>
              <a:pPr algn="ctr" eaLnBrk="1" hangingPunct="1"/>
              <a:r>
                <a:rPr lang="zh-CN" altLang="en-US" sz="800" b="1" dirty="0">
                  <a:solidFill>
                    <a:srgbClr val="000000"/>
                  </a:solidFill>
                  <a:latin typeface="微软雅黑" panose="020B0503020204020204" charset="-122"/>
                  <a:ea typeface="微软雅黑" panose="020B0503020204020204" charset="-122"/>
                  <a:cs typeface="微软雅黑" panose="020B0503020204020204" charset="-122"/>
                </a:rPr>
                <a:t>混合网关</a:t>
              </a:r>
              <a:endParaRPr lang="zh-CN" altLang="en-US" sz="800" b="1" dirty="0">
                <a:solidFill>
                  <a:srgbClr val="000000"/>
                </a:solidFill>
                <a:latin typeface="微软雅黑" panose="020B0503020204020204" charset="-122"/>
                <a:ea typeface="微软雅黑" panose="020B0503020204020204" charset="-122"/>
                <a:cs typeface="微软雅黑" panose="020B0503020204020204" charset="-122"/>
              </a:endParaRPr>
            </a:p>
          </p:txBody>
        </p:sp>
      </p:grpSp>
      <p:pic>
        <p:nvPicPr>
          <p:cNvPr id="40" name="图片 39"/>
          <p:cNvPicPr>
            <a:picLocks noChangeAspect="1"/>
          </p:cNvPicPr>
          <p:nvPr/>
        </p:nvPicPr>
        <p:blipFill rotWithShape="1">
          <a:blip r:embed="rId6" cstate="print">
            <a:extLst>
              <a:ext uri="{28A0092B-C50C-407E-A947-70E740481C1C}">
                <a14:useLocalDpi xmlns:a14="http://schemas.microsoft.com/office/drawing/2010/main" val="0"/>
              </a:ext>
            </a:extLst>
          </a:blip>
          <a:srcRect l="25647" t="17315" r="29554" b="14086"/>
          <a:stretch>
            <a:fillRect/>
          </a:stretch>
        </p:blipFill>
        <p:spPr>
          <a:xfrm>
            <a:off x="8503161" y="4835287"/>
            <a:ext cx="537845" cy="555625"/>
          </a:xfrm>
          <a:prstGeom prst="rect">
            <a:avLst/>
          </a:prstGeom>
        </p:spPr>
      </p:pic>
      <p:pic>
        <p:nvPicPr>
          <p:cNvPr id="41" name="图片 40"/>
          <p:cNvPicPr>
            <a:picLocks noChangeAspect="1"/>
          </p:cNvPicPr>
          <p:nvPr/>
        </p:nvPicPr>
        <p:blipFill rotWithShape="1">
          <a:blip r:embed="rId4" cstate="print">
            <a:extLst>
              <a:ext uri="{28A0092B-C50C-407E-A947-70E740481C1C}">
                <a14:useLocalDpi xmlns:a14="http://schemas.microsoft.com/office/drawing/2010/main" val="0"/>
              </a:ext>
            </a:extLst>
          </a:blip>
          <a:srcRect l="24757" t="15619" r="26633" b="22970"/>
          <a:stretch>
            <a:fillRect/>
          </a:stretch>
        </p:blipFill>
        <p:spPr>
          <a:xfrm>
            <a:off x="5184978" y="1911985"/>
            <a:ext cx="744741" cy="417977"/>
          </a:xfrm>
          <a:prstGeom prst="rect">
            <a:avLst/>
          </a:prstGeom>
        </p:spPr>
      </p:pic>
      <p:sp>
        <p:nvSpPr>
          <p:cNvPr id="42" name="TextBox 57"/>
          <p:cNvSpPr txBox="1">
            <a:spLocks noChangeArrowheads="1"/>
          </p:cNvSpPr>
          <p:nvPr/>
        </p:nvSpPr>
        <p:spPr bwMode="auto">
          <a:xfrm>
            <a:off x="5154059" y="2319979"/>
            <a:ext cx="77777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indent="0" algn="ctr">
              <a:buNone/>
            </a:pPr>
            <a:r>
              <a:rPr lang="zh-CN" altLang="en-US" sz="800" b="1" dirty="0">
                <a:solidFill>
                  <a:srgbClr val="000000"/>
                </a:solidFill>
                <a:latin typeface="微软雅黑" panose="020B0503020204020204" charset="-122"/>
                <a:ea typeface="微软雅黑" panose="020B0503020204020204" charset="-122"/>
                <a:cs typeface="微软雅黑" panose="020B0503020204020204" charset="-122"/>
                <a:sym typeface="+mn-ea"/>
              </a:rPr>
              <a:t>OBUS/DALI</a:t>
            </a:r>
            <a:endParaRPr lang="zh-CN" altLang="en-US" sz="800" b="1" dirty="0">
              <a:solidFill>
                <a:srgbClr val="000000"/>
              </a:solidFill>
              <a:latin typeface="微软雅黑" panose="020B0503020204020204" charset="-122"/>
              <a:ea typeface="微软雅黑" panose="020B0503020204020204" charset="-122"/>
              <a:cs typeface="微软雅黑" panose="020B0503020204020204" charset="-122"/>
              <a:sym typeface="+mn-ea"/>
            </a:endParaRPr>
          </a:p>
          <a:p>
            <a:pPr indent="0" algn="ctr">
              <a:buNone/>
            </a:pPr>
            <a:r>
              <a:rPr lang="zh-CN" altLang="en-US" sz="800" b="1" dirty="0">
                <a:solidFill>
                  <a:srgbClr val="000000"/>
                </a:solidFill>
                <a:latin typeface="微软雅黑" panose="020B0503020204020204" charset="-122"/>
                <a:ea typeface="微软雅黑" panose="020B0503020204020204" charset="-122"/>
                <a:cs typeface="微软雅黑" panose="020B0503020204020204" charset="-122"/>
                <a:sym typeface="+mn-ea"/>
              </a:rPr>
              <a:t>混合网关</a:t>
            </a:r>
            <a:endParaRPr lang="zh-CN" altLang="en-US" sz="800" b="1" dirty="0">
              <a:solidFill>
                <a:srgbClr val="000000"/>
              </a:solidFill>
              <a:latin typeface="微软雅黑" panose="020B0503020204020204" charset="-122"/>
              <a:ea typeface="微软雅黑" panose="020B0503020204020204" charset="-122"/>
              <a:cs typeface="微软雅黑" panose="020B0503020204020204" charset="-122"/>
              <a:sym typeface="+mn-ea"/>
            </a:endParaRPr>
          </a:p>
        </p:txBody>
      </p:sp>
      <p:pic>
        <p:nvPicPr>
          <p:cNvPr id="45" name="图片 44"/>
          <p:cNvPicPr>
            <a:picLocks noChangeAspect="1"/>
          </p:cNvPicPr>
          <p:nvPr/>
        </p:nvPicPr>
        <p:blipFill rotWithShape="1">
          <a:blip r:embed="rId7" cstate="print">
            <a:extLst>
              <a:ext uri="{28A0092B-C50C-407E-A947-70E740481C1C}">
                <a14:useLocalDpi xmlns:a14="http://schemas.microsoft.com/office/drawing/2010/main" val="0"/>
              </a:ext>
            </a:extLst>
          </a:blip>
          <a:srcRect l="13747" t="7367" r="15632" b="16359"/>
          <a:stretch>
            <a:fillRect/>
          </a:stretch>
        </p:blipFill>
        <p:spPr>
          <a:xfrm>
            <a:off x="3078607" y="3908677"/>
            <a:ext cx="871769" cy="494822"/>
          </a:xfrm>
          <a:prstGeom prst="rect">
            <a:avLst/>
          </a:prstGeom>
        </p:spPr>
      </p:pic>
      <p:sp>
        <p:nvSpPr>
          <p:cNvPr id="46" name="TextBox 57"/>
          <p:cNvSpPr txBox="1">
            <a:spLocks noChangeArrowheads="1"/>
          </p:cNvSpPr>
          <p:nvPr/>
        </p:nvSpPr>
        <p:spPr bwMode="auto">
          <a:xfrm>
            <a:off x="3097883" y="4330959"/>
            <a:ext cx="872490" cy="229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zh-CN" altLang="en-US" sz="900" b="1" dirty="0">
                <a:solidFill>
                  <a:srgbClr val="000000"/>
                </a:solidFill>
                <a:latin typeface="微软雅黑" panose="020B0503020204020204" charset="-122"/>
                <a:ea typeface="微软雅黑" panose="020B0503020204020204" charset="-122"/>
                <a:cs typeface="Arial Unicode MS" panose="020B0604020202020204" pitchFamily="34" charset="-122"/>
              </a:rPr>
              <a:t>四合一传感器</a:t>
            </a:r>
            <a:endParaRPr lang="zh-CN" altLang="en-US" sz="900" b="1" dirty="0">
              <a:solidFill>
                <a:srgbClr val="000000"/>
              </a:solidFill>
              <a:latin typeface="微软雅黑" panose="020B0503020204020204" charset="-122"/>
              <a:ea typeface="微软雅黑" panose="020B0503020204020204" charset="-122"/>
              <a:cs typeface="Arial Unicode MS" panose="020B0604020202020204" pitchFamily="34" charset="-122"/>
            </a:endParaRPr>
          </a:p>
        </p:txBody>
      </p:sp>
      <p:pic>
        <p:nvPicPr>
          <p:cNvPr id="47" name="图片 46"/>
          <p:cNvPicPr>
            <a:picLocks noChangeAspect="1"/>
          </p:cNvPicPr>
          <p:nvPr/>
        </p:nvPicPr>
        <p:blipFill rotWithShape="1">
          <a:blip r:embed="rId8" cstate="print">
            <a:extLst>
              <a:ext uri="{28A0092B-C50C-407E-A947-70E740481C1C}">
                <a14:useLocalDpi xmlns:a14="http://schemas.microsoft.com/office/drawing/2010/main" val="0"/>
              </a:ext>
            </a:extLst>
          </a:blip>
          <a:srcRect l="13747" t="7367" r="15632" b="16359"/>
          <a:stretch>
            <a:fillRect/>
          </a:stretch>
        </p:blipFill>
        <p:spPr>
          <a:xfrm>
            <a:off x="8323457" y="3943855"/>
            <a:ext cx="785734" cy="445758"/>
          </a:xfrm>
          <a:prstGeom prst="rect">
            <a:avLst/>
          </a:prstGeom>
        </p:spPr>
      </p:pic>
      <p:sp>
        <p:nvSpPr>
          <p:cNvPr id="48" name="TextBox 57"/>
          <p:cNvSpPr txBox="1">
            <a:spLocks noChangeArrowheads="1"/>
          </p:cNvSpPr>
          <p:nvPr/>
        </p:nvSpPr>
        <p:spPr bwMode="auto">
          <a:xfrm>
            <a:off x="8344129" y="4388910"/>
            <a:ext cx="872490" cy="229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buClrTx/>
              <a:buSzTx/>
              <a:buFontTx/>
            </a:pPr>
            <a:r>
              <a:rPr lang="en-US" altLang="zh-CN" sz="900" b="1" dirty="0">
                <a:solidFill>
                  <a:srgbClr val="000000"/>
                </a:solidFill>
                <a:latin typeface="微软雅黑" panose="020B0503020204020204" charset="-122"/>
                <a:ea typeface="微软雅黑" panose="020B0503020204020204" charset="-122"/>
                <a:cs typeface="微软雅黑" panose="020B0503020204020204" charset="-122"/>
              </a:rPr>
              <a:t>四合一传感器</a:t>
            </a:r>
            <a:endParaRPr lang="en-US" altLang="zh-CN" sz="900" b="1" dirty="0">
              <a:solidFill>
                <a:srgbClr val="000000"/>
              </a:solidFill>
              <a:latin typeface="微软雅黑" panose="020B0503020204020204" charset="-122"/>
              <a:ea typeface="微软雅黑" panose="020B0503020204020204" charset="-122"/>
              <a:cs typeface="微软雅黑" panose="020B0503020204020204" charset="-122"/>
            </a:endParaRPr>
          </a:p>
        </p:txBody>
      </p:sp>
      <p:pic>
        <p:nvPicPr>
          <p:cNvPr id="49" name="图片 4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714231" y="3900674"/>
            <a:ext cx="764683" cy="496281"/>
          </a:xfrm>
          <a:prstGeom prst="rect">
            <a:avLst/>
          </a:prstGeom>
        </p:spPr>
      </p:pic>
      <p:pic>
        <p:nvPicPr>
          <p:cNvPr id="50" name="图片 49" descr="C:\Users\op054340\Documents\WXWork\1688852450787442\Cache\Image\2023-07\正面.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a:xfrm>
            <a:off x="9489316" y="3943855"/>
            <a:ext cx="727843" cy="366816"/>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7"/>
          <p:cNvSpPr txBox="1">
            <a:spLocks noChangeArrowheads="1"/>
          </p:cNvSpPr>
          <p:nvPr/>
        </p:nvSpPr>
        <p:spPr bwMode="auto">
          <a:xfrm>
            <a:off x="9584602" y="4310805"/>
            <a:ext cx="757555" cy="368300"/>
          </a:xfrm>
          <a:prstGeom prst="rect">
            <a:avLst/>
          </a:prstGeom>
          <a:noFill/>
          <a:ln>
            <a:noFill/>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lvl="0" algn="ctr" eaLnBrk="1" hangingPunct="1">
              <a:buClrTx/>
              <a:buSzTx/>
              <a:buFontTx/>
            </a:pPr>
            <a:r>
              <a:rPr lang="en-US" altLang="zh-CN" sz="900" b="1" dirty="0">
                <a:solidFill>
                  <a:srgbClr val="000000"/>
                </a:solidFill>
                <a:latin typeface="微软雅黑" panose="020B0503020204020204" charset="-122"/>
                <a:ea typeface="微软雅黑" panose="020B0503020204020204" charset="-122"/>
                <a:cs typeface="微软雅黑" panose="020B0503020204020204" charset="-122"/>
                <a:sym typeface="+mn-ea"/>
              </a:rPr>
              <a:t>人体存在</a:t>
            </a:r>
            <a:endParaRPr lang="en-US" altLang="zh-CN" sz="900" b="1" dirty="0">
              <a:solidFill>
                <a:srgbClr val="000000"/>
              </a:solidFill>
              <a:latin typeface="微软雅黑" panose="020B0503020204020204" charset="-122"/>
              <a:ea typeface="微软雅黑" panose="020B0503020204020204" charset="-122"/>
              <a:cs typeface="微软雅黑" panose="020B0503020204020204" charset="-122"/>
              <a:sym typeface="+mn-ea"/>
            </a:endParaRPr>
          </a:p>
          <a:p>
            <a:pPr lvl="0" algn="ctr" eaLnBrk="1" hangingPunct="1">
              <a:buClrTx/>
              <a:buSzTx/>
              <a:buFontTx/>
            </a:pPr>
            <a:r>
              <a:rPr lang="en-US" altLang="zh-CN" sz="900" b="1" dirty="0">
                <a:solidFill>
                  <a:srgbClr val="000000"/>
                </a:solidFill>
                <a:latin typeface="微软雅黑" panose="020B0503020204020204" charset="-122"/>
                <a:ea typeface="微软雅黑" panose="020B0503020204020204" charset="-122"/>
                <a:cs typeface="微软雅黑" panose="020B0503020204020204" charset="-122"/>
                <a:sym typeface="+mn-ea"/>
              </a:rPr>
              <a:t>照度传感器</a:t>
            </a:r>
            <a:endParaRPr lang="en-US" altLang="zh-CN" sz="900" b="1" dirty="0">
              <a:solidFill>
                <a:srgbClr val="000000"/>
              </a:solidFill>
              <a:latin typeface="微软雅黑" panose="020B0503020204020204" charset="-122"/>
              <a:ea typeface="微软雅黑" panose="020B0503020204020204" charset="-122"/>
              <a:cs typeface="微软雅黑" panose="020B0503020204020204" charset="-122"/>
              <a:sym typeface="+mn-ea"/>
            </a:endParaRPr>
          </a:p>
        </p:txBody>
      </p:sp>
      <p:sp>
        <p:nvSpPr>
          <p:cNvPr id="52" name="TextBox 57"/>
          <p:cNvSpPr txBox="1">
            <a:spLocks noChangeArrowheads="1"/>
          </p:cNvSpPr>
          <p:nvPr/>
        </p:nvSpPr>
        <p:spPr bwMode="auto">
          <a:xfrm>
            <a:off x="10838092" y="4324140"/>
            <a:ext cx="75755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buClrTx/>
              <a:buSzTx/>
              <a:buNone/>
            </a:pPr>
            <a:r>
              <a:rPr lang="zh-CN" altLang="en-US" sz="900" b="1" dirty="0">
                <a:solidFill>
                  <a:srgbClr val="000000"/>
                </a:solidFill>
                <a:latin typeface="微软雅黑" panose="020B0503020204020204" charset="-122"/>
                <a:ea typeface="微软雅黑" panose="020B0503020204020204" charset="-122"/>
                <a:cs typeface="Arial Unicode MS" panose="020B0604020202020204" pitchFamily="34" charset="-122"/>
                <a:sym typeface="+mn-ea"/>
              </a:rPr>
              <a:t>微波传感器</a:t>
            </a:r>
            <a:endParaRPr lang="zh-CN" altLang="en-US" sz="900" b="1" dirty="0">
              <a:solidFill>
                <a:srgbClr val="000000"/>
              </a:solidFill>
              <a:latin typeface="微软雅黑" panose="020B0503020204020204" charset="-122"/>
              <a:ea typeface="微软雅黑" panose="020B0503020204020204" charset="-122"/>
              <a:cs typeface="Arial Unicode MS" panose="020B0604020202020204" pitchFamily="34" charset="-122"/>
              <a:sym typeface="+mn-ea"/>
            </a:endParaRPr>
          </a:p>
          <a:p>
            <a:pPr algn="ctr" eaLnBrk="1" hangingPunct="1">
              <a:buClrTx/>
              <a:buSzTx/>
              <a:buNone/>
            </a:pPr>
            <a:r>
              <a:rPr lang="zh-CN" altLang="en-US" sz="900" b="1" dirty="0">
                <a:solidFill>
                  <a:srgbClr val="000000"/>
                </a:solidFill>
                <a:latin typeface="微软雅黑" panose="020B0503020204020204" charset="-122"/>
                <a:ea typeface="微软雅黑" panose="020B0503020204020204" charset="-122"/>
                <a:cs typeface="Arial Unicode MS" panose="020B0604020202020204" pitchFamily="34" charset="-122"/>
              </a:rPr>
              <a:t>（高空）</a:t>
            </a:r>
            <a:endParaRPr lang="zh-CN" altLang="en-US" sz="900" b="1" dirty="0">
              <a:solidFill>
                <a:srgbClr val="000000"/>
              </a:solidFill>
              <a:latin typeface="微软雅黑" panose="020B0503020204020204" charset="-122"/>
              <a:ea typeface="微软雅黑" panose="020B0503020204020204" charset="-122"/>
              <a:cs typeface="Arial Unicode MS" panose="020B0604020202020204" pitchFamily="34" charset="-122"/>
            </a:endParaRPr>
          </a:p>
        </p:txBody>
      </p:sp>
      <p:sp>
        <p:nvSpPr>
          <p:cNvPr id="55" name="TextBox 57"/>
          <p:cNvSpPr txBox="1">
            <a:spLocks noChangeArrowheads="1"/>
          </p:cNvSpPr>
          <p:nvPr/>
        </p:nvSpPr>
        <p:spPr bwMode="auto">
          <a:xfrm>
            <a:off x="8436839" y="5357865"/>
            <a:ext cx="642620" cy="229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zh-CN" altLang="en-US" sz="900" b="1" dirty="0">
                <a:solidFill>
                  <a:srgbClr val="000000"/>
                </a:solidFill>
                <a:latin typeface="微软雅黑" panose="020B0503020204020204" charset="-122"/>
                <a:ea typeface="微软雅黑" panose="020B0503020204020204" charset="-122"/>
                <a:cs typeface="Arial Unicode MS" panose="020B0604020202020204" pitchFamily="34" charset="-122"/>
              </a:rPr>
              <a:t>八键面板</a:t>
            </a:r>
            <a:endParaRPr lang="zh-CN" altLang="en-US" sz="900" b="1" dirty="0">
              <a:solidFill>
                <a:srgbClr val="000000"/>
              </a:solidFill>
              <a:latin typeface="微软雅黑" panose="020B0503020204020204" charset="-122"/>
              <a:ea typeface="微软雅黑" panose="020B0503020204020204" charset="-122"/>
              <a:cs typeface="Arial Unicode MS" panose="020B0604020202020204" pitchFamily="34" charset="-122"/>
            </a:endParaRPr>
          </a:p>
        </p:txBody>
      </p:sp>
      <p:pic>
        <p:nvPicPr>
          <p:cNvPr id="56" name="图片 55" descr="1"/>
          <p:cNvPicPr>
            <a:picLocks noChangeAspect="1"/>
          </p:cNvPicPr>
          <p:nvPr/>
        </p:nvPicPr>
        <p:blipFill>
          <a:blip r:embed="rId11"/>
          <a:stretch>
            <a:fillRect/>
          </a:stretch>
        </p:blipFill>
        <p:spPr>
          <a:xfrm>
            <a:off x="3098166" y="4776405"/>
            <a:ext cx="726441" cy="726441"/>
          </a:xfrm>
          <a:prstGeom prst="rect">
            <a:avLst/>
          </a:prstGeom>
        </p:spPr>
      </p:pic>
      <p:pic>
        <p:nvPicPr>
          <p:cNvPr id="57" name="文本框 28" descr="11"/>
          <p:cNvPicPr>
            <a:picLocks noChangeAspect="1"/>
          </p:cNvPicPr>
          <p:nvPr/>
        </p:nvPicPr>
        <p:blipFill>
          <a:blip r:embed="rId12"/>
          <a:stretch>
            <a:fillRect/>
          </a:stretch>
        </p:blipFill>
        <p:spPr>
          <a:xfrm>
            <a:off x="4566286" y="4784024"/>
            <a:ext cx="726441" cy="726441"/>
          </a:xfrm>
          <a:prstGeom prst="rect">
            <a:avLst/>
          </a:prstGeom>
          <a:noFill/>
        </p:spPr>
      </p:pic>
      <p:sp>
        <p:nvSpPr>
          <p:cNvPr id="58" name="TextBox 57"/>
          <p:cNvSpPr txBox="1">
            <a:spLocks noChangeArrowheads="1"/>
          </p:cNvSpPr>
          <p:nvPr/>
        </p:nvSpPr>
        <p:spPr bwMode="auto">
          <a:xfrm>
            <a:off x="2995355" y="5356575"/>
            <a:ext cx="97975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900" b="1" dirty="0">
                <a:solidFill>
                  <a:srgbClr val="000000"/>
                </a:solidFill>
                <a:latin typeface="微软雅黑" panose="020B0503020204020204" charset="-122"/>
                <a:ea typeface="微软雅黑" panose="020B0503020204020204" charset="-122"/>
                <a:cs typeface="微软雅黑" panose="020B0503020204020204" charset="-122"/>
              </a:rPr>
              <a:t>INNO-6</a:t>
            </a: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键面板</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9" name="TextBox 57"/>
          <p:cNvSpPr txBox="1">
            <a:spLocks noChangeArrowheads="1"/>
          </p:cNvSpPr>
          <p:nvPr/>
        </p:nvSpPr>
        <p:spPr bwMode="auto">
          <a:xfrm>
            <a:off x="4272336" y="5356575"/>
            <a:ext cx="114486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900" b="1" dirty="0">
                <a:solidFill>
                  <a:srgbClr val="000000"/>
                </a:solidFill>
                <a:latin typeface="微软雅黑" panose="020B0503020204020204" charset="-122"/>
                <a:ea typeface="微软雅黑" panose="020B0503020204020204" charset="-122"/>
                <a:cs typeface="微软雅黑" panose="020B0503020204020204" charset="-122"/>
              </a:rPr>
              <a:t>INNO-6</a:t>
            </a: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键</a:t>
            </a:r>
            <a:r>
              <a:rPr lang="en-US" altLang="zh-CN" sz="900" b="1" dirty="0">
                <a:solidFill>
                  <a:srgbClr val="000000"/>
                </a:solidFill>
                <a:latin typeface="微软雅黑" panose="020B0503020204020204" charset="-122"/>
                <a:ea typeface="微软雅黑" panose="020B0503020204020204" charset="-122"/>
                <a:cs typeface="微软雅黑" panose="020B0503020204020204" charset="-122"/>
              </a:rPr>
              <a:t>-</a:t>
            </a: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高清屏</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endParaRPr>
          </a:p>
        </p:txBody>
      </p:sp>
      <p:pic>
        <p:nvPicPr>
          <p:cNvPr id="60" name="图片 59"/>
          <p:cNvPicPr>
            <a:picLocks noChangeAspect="1"/>
          </p:cNvPicPr>
          <p:nvPr/>
        </p:nvPicPr>
        <p:blipFill>
          <a:blip r:embed="rId1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078591" y="3895849"/>
            <a:ext cx="483224" cy="465440"/>
          </a:xfrm>
          <a:prstGeom prst="rect">
            <a:avLst/>
          </a:prstGeom>
        </p:spPr>
      </p:pic>
      <p:sp>
        <p:nvSpPr>
          <p:cNvPr id="61" name="TextBox 57"/>
          <p:cNvSpPr txBox="1">
            <a:spLocks noChangeArrowheads="1"/>
          </p:cNvSpPr>
          <p:nvPr/>
        </p:nvSpPr>
        <p:spPr bwMode="auto">
          <a:xfrm>
            <a:off x="4710425" y="4305559"/>
            <a:ext cx="11576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buClrTx/>
              <a:buSzTx/>
              <a:buNone/>
            </a:pP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sym typeface="+mn-ea"/>
              </a:rPr>
              <a:t>微波传感器</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sym typeface="+mn-ea"/>
            </a:endParaRPr>
          </a:p>
          <a:p>
            <a:pPr algn="ctr" eaLnBrk="1" hangingPunct="1">
              <a:buClrTx/>
              <a:buSzTx/>
              <a:buNone/>
            </a:pP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（高空</a:t>
            </a:r>
            <a:r>
              <a:rPr lang="en-US" altLang="zh-CN" sz="900" b="1" dirty="0">
                <a:solidFill>
                  <a:srgbClr val="000000"/>
                </a:solidFill>
                <a:latin typeface="微软雅黑" panose="020B0503020204020204" charset="-122"/>
                <a:ea typeface="微软雅黑" panose="020B0503020204020204" charset="-122"/>
                <a:cs typeface="微软雅黑" panose="020B0503020204020204" charset="-122"/>
              </a:rPr>
              <a:t>-</a:t>
            </a: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近期上市）</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endParaRPr>
          </a:p>
        </p:txBody>
      </p:sp>
      <p:grpSp>
        <p:nvGrpSpPr>
          <p:cNvPr id="108" name="组合 107"/>
          <p:cNvGrpSpPr/>
          <p:nvPr/>
        </p:nvGrpSpPr>
        <p:grpSpPr>
          <a:xfrm>
            <a:off x="1373265" y="2953160"/>
            <a:ext cx="1249045" cy="837553"/>
            <a:chOff x="1369695" y="2883710"/>
            <a:chExt cx="1249045" cy="975360"/>
          </a:xfrm>
          <a:solidFill>
            <a:schemeClr val="accent1">
              <a:lumMod val="60000"/>
              <a:lumOff val="40000"/>
            </a:schemeClr>
          </a:solidFill>
        </p:grpSpPr>
        <p:sp>
          <p:nvSpPr>
            <p:cNvPr id="13" name="Rectangle 44"/>
            <p:cNvSpPr>
              <a:spLocks noChangeArrowheads="1"/>
            </p:cNvSpPr>
            <p:nvPr/>
          </p:nvSpPr>
          <p:spPr bwMode="auto">
            <a:xfrm>
              <a:off x="1369695" y="2886885"/>
              <a:ext cx="1041400" cy="972185"/>
            </a:xfrm>
            <a:prstGeom prst="rect">
              <a:avLst/>
            </a:prstGeom>
            <a:grpFill/>
            <a:ln w="9525">
              <a:noFill/>
              <a:miter lim="800000"/>
            </a:ln>
            <a:effectLst>
              <a:outerShdw dist="35921" dir="2700000" algn="ctr" rotWithShape="0">
                <a:schemeClr val="bg2"/>
              </a:outerShdw>
            </a:effectLst>
          </p:spPr>
          <p:txBody>
            <a:bodyPr wrap="none" anchor="ct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lnSpc>
                  <a:spcPct val="115000"/>
                </a:lnSpc>
              </a:pPr>
              <a:r>
                <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rPr>
                <a:t>控制类</a:t>
              </a:r>
              <a:endPar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endParaRPr>
            </a:p>
          </p:txBody>
        </p:sp>
        <p:sp>
          <p:nvSpPr>
            <p:cNvPr id="14" name="AutoShape 45"/>
            <p:cNvSpPr>
              <a:spLocks noChangeArrowheads="1"/>
            </p:cNvSpPr>
            <p:nvPr/>
          </p:nvSpPr>
          <p:spPr bwMode="auto">
            <a:xfrm>
              <a:off x="2480945" y="2883710"/>
              <a:ext cx="137795" cy="972185"/>
            </a:xfrm>
            <a:prstGeom prst="roundRect">
              <a:avLst>
                <a:gd name="adj" fmla="val 3083"/>
              </a:avLst>
            </a:prstGeom>
            <a:grpFill/>
            <a:ln w="9525">
              <a:noFill/>
              <a:miter lim="800000"/>
            </a:ln>
            <a:effectLst>
              <a:outerShdw dist="35921" dir="2700000" algn="ctr" rotWithShape="0">
                <a:schemeClr val="bg2"/>
              </a:outerShdw>
            </a:effectLst>
          </p:spPr>
          <p:txBody>
            <a:bodyPr wrap="none" anchor="ctr">
              <a:no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eaLnBrk="1" hangingPunct="1">
                <a:lnSpc>
                  <a:spcPct val="115000"/>
                </a:lnSpc>
                <a:buClrTx/>
                <a:buSzTx/>
                <a:buFontTx/>
              </a:pPr>
              <a:endPar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endParaRPr>
            </a:p>
          </p:txBody>
        </p:sp>
      </p:grpSp>
      <p:sp>
        <p:nvSpPr>
          <p:cNvPr id="15" name="Rectangle 47"/>
          <p:cNvSpPr>
            <a:spLocks noChangeArrowheads="1"/>
          </p:cNvSpPr>
          <p:nvPr/>
        </p:nvSpPr>
        <p:spPr bwMode="auto">
          <a:xfrm>
            <a:off x="2757081" y="2956274"/>
            <a:ext cx="3525577" cy="825425"/>
          </a:xfrm>
          <a:prstGeom prst="rect">
            <a:avLst/>
          </a:prstGeom>
          <a:solidFill>
            <a:srgbClr val="F8F8F8"/>
          </a:solidFill>
          <a:ln w="9525">
            <a:solidFill>
              <a:srgbClr val="333399"/>
            </a:solidFill>
            <a:miter lim="800000"/>
          </a:ln>
          <a:effectLst>
            <a:outerShdw dist="35921" dir="2700000" algn="ctr" rotWithShape="0">
              <a:srgbClr val="808080"/>
            </a:outerShdw>
          </a:effectLst>
        </p:spPr>
        <p:txBody>
          <a:bodyPr wrap="none" anchor="ctr">
            <a:no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l" eaLnBrk="1" hangingPunct="1">
              <a:buClrTx/>
              <a:buSzTx/>
              <a:buFontTx/>
            </a:pPr>
            <a:endParaRPr lang="zh-CN" altLang="en-US" dirty="0">
              <a:solidFill>
                <a:srgbClr val="1C1C1C"/>
              </a:solidFill>
              <a:latin typeface="微软雅黑" panose="020B0503020204020204" charset="-122"/>
              <a:ea typeface="微软雅黑" panose="020B0503020204020204" charset="-122"/>
              <a:cs typeface="Times New Roman" panose="02020603050405020304" pitchFamily="18" charset="0"/>
              <a:sym typeface="+mn-ea"/>
            </a:endParaRPr>
          </a:p>
        </p:txBody>
      </p:sp>
      <p:sp>
        <p:nvSpPr>
          <p:cNvPr id="27" name="Rectangle 47"/>
          <p:cNvSpPr>
            <a:spLocks noChangeArrowheads="1"/>
          </p:cNvSpPr>
          <p:nvPr/>
        </p:nvSpPr>
        <p:spPr bwMode="auto">
          <a:xfrm>
            <a:off x="8164706" y="2949985"/>
            <a:ext cx="3525520" cy="840728"/>
          </a:xfrm>
          <a:prstGeom prst="rect">
            <a:avLst/>
          </a:prstGeom>
          <a:solidFill>
            <a:srgbClr val="F8F8F8"/>
          </a:solidFill>
          <a:ln w="9525">
            <a:solidFill>
              <a:srgbClr val="333399"/>
            </a:solidFill>
            <a:miter lim="800000"/>
          </a:ln>
          <a:effectLst>
            <a:outerShdw dist="35921" dir="2700000" algn="ctr" rotWithShape="0">
              <a:srgbClr val="808080"/>
            </a:outerShdw>
          </a:effectLst>
        </p:spPr>
        <p:txBody>
          <a:bodyPr wrap="none" anchor="ctr">
            <a:no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l" eaLnBrk="1" hangingPunct="1">
              <a:buClrTx/>
              <a:buSzTx/>
              <a:buFontTx/>
            </a:pPr>
            <a:endParaRPr lang="zh-CN" altLang="en-US" dirty="0">
              <a:solidFill>
                <a:srgbClr val="1C1C1C"/>
              </a:solidFill>
              <a:latin typeface="微软雅黑" panose="020B0503020204020204" charset="-122"/>
              <a:ea typeface="微软雅黑" panose="020B0503020204020204" charset="-122"/>
              <a:cs typeface="Times New Roman" panose="02020603050405020304" pitchFamily="18" charset="0"/>
              <a:sym typeface="+mn-ea"/>
            </a:endParaRPr>
          </a:p>
        </p:txBody>
      </p:sp>
      <p:pic>
        <p:nvPicPr>
          <p:cNvPr id="38" name="内容占位符 3"/>
          <p:cNvPicPr>
            <a:picLocks noChangeAspect="1"/>
          </p:cNvPicPr>
          <p:nvPr/>
        </p:nvPicPr>
        <p:blipFill rotWithShape="1">
          <a:blip r:embed="rId14" cstate="print">
            <a:extLst>
              <a:ext uri="{28A0092B-C50C-407E-A947-70E740481C1C}">
                <a14:useLocalDpi xmlns:a14="http://schemas.microsoft.com/office/drawing/2010/main" val="0"/>
              </a:ext>
            </a:extLst>
          </a:blip>
          <a:srcRect l="22984" t="13766" r="24483" b="25044"/>
          <a:stretch>
            <a:fillRect/>
          </a:stretch>
        </p:blipFill>
        <p:spPr>
          <a:xfrm>
            <a:off x="2984150" y="2966043"/>
            <a:ext cx="1026666" cy="568763"/>
          </a:xfrm>
          <a:prstGeom prst="rect">
            <a:avLst/>
          </a:prstGeom>
        </p:spPr>
      </p:pic>
      <p:sp>
        <p:nvSpPr>
          <p:cNvPr id="39" name="TextBox 57"/>
          <p:cNvSpPr txBox="1">
            <a:spLocks noChangeArrowheads="1"/>
          </p:cNvSpPr>
          <p:nvPr/>
        </p:nvSpPr>
        <p:spPr bwMode="auto">
          <a:xfrm>
            <a:off x="8209035" y="3509284"/>
            <a:ext cx="116730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900" b="1" dirty="0">
                <a:solidFill>
                  <a:srgbClr val="000000"/>
                </a:solidFill>
                <a:latin typeface="微软雅黑" panose="020B0503020204020204" charset="-122"/>
                <a:ea typeface="微软雅黑" panose="020B0503020204020204" charset="-122"/>
                <a:cs typeface="Arial Unicode MS" panose="020B0604020202020204" pitchFamily="34" charset="-122"/>
              </a:rPr>
              <a:t>1000W</a:t>
            </a:r>
            <a:r>
              <a:rPr lang="zh-CN" altLang="en-US" sz="900" b="1" dirty="0">
                <a:solidFill>
                  <a:srgbClr val="000000"/>
                </a:solidFill>
                <a:latin typeface="微软雅黑" panose="020B0503020204020204" charset="-122"/>
                <a:ea typeface="微软雅黑" panose="020B0503020204020204" charset="-122"/>
                <a:cs typeface="Arial Unicode MS" panose="020B0604020202020204" pitchFamily="34" charset="-122"/>
              </a:rPr>
              <a:t>蓝牙继电器</a:t>
            </a:r>
            <a:endParaRPr lang="zh-CN" altLang="en-US" sz="900" b="1" dirty="0">
              <a:solidFill>
                <a:srgbClr val="000000"/>
              </a:solidFill>
              <a:latin typeface="微软雅黑" panose="020B0503020204020204" charset="-122"/>
              <a:ea typeface="微软雅黑" panose="020B0503020204020204" charset="-122"/>
              <a:cs typeface="Arial Unicode MS" panose="020B0604020202020204" pitchFamily="34" charset="-122"/>
            </a:endParaRPr>
          </a:p>
        </p:txBody>
      </p:sp>
      <p:pic>
        <p:nvPicPr>
          <p:cNvPr id="43" name="图片 42"/>
          <p:cNvPicPr>
            <a:picLocks noChangeAspect="1"/>
          </p:cNvPicPr>
          <p:nvPr/>
        </p:nvPicPr>
        <p:blipFill>
          <a:blip r:embed="rId15"/>
          <a:stretch>
            <a:fillRect/>
          </a:stretch>
        </p:blipFill>
        <p:spPr>
          <a:xfrm>
            <a:off x="8380692" y="3050503"/>
            <a:ext cx="843919" cy="454417"/>
          </a:xfrm>
          <a:prstGeom prst="rect">
            <a:avLst/>
          </a:prstGeom>
        </p:spPr>
      </p:pic>
      <p:sp>
        <p:nvSpPr>
          <p:cNvPr id="44" name="TextBox 57"/>
          <p:cNvSpPr txBox="1">
            <a:spLocks noChangeArrowheads="1"/>
          </p:cNvSpPr>
          <p:nvPr/>
        </p:nvSpPr>
        <p:spPr bwMode="auto">
          <a:xfrm>
            <a:off x="2870992" y="3563516"/>
            <a:ext cx="139012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900" b="1" dirty="0">
                <a:solidFill>
                  <a:srgbClr val="000000"/>
                </a:solidFill>
                <a:latin typeface="微软雅黑" panose="020B0503020204020204" charset="-122"/>
                <a:ea typeface="微软雅黑" panose="020B0503020204020204" charset="-122"/>
                <a:cs typeface="微软雅黑" panose="020B0503020204020204" charset="-122"/>
              </a:rPr>
              <a:t>4</a:t>
            </a: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900" b="1" dirty="0">
                <a:solidFill>
                  <a:srgbClr val="000000"/>
                </a:solidFill>
                <a:latin typeface="微软雅黑" panose="020B0503020204020204" charset="-122"/>
                <a:ea typeface="微软雅黑" panose="020B0503020204020204" charset="-122"/>
                <a:cs typeface="微软雅黑" panose="020B0503020204020204" charset="-122"/>
              </a:rPr>
              <a:t>8</a:t>
            </a: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900" b="1" dirty="0">
                <a:solidFill>
                  <a:srgbClr val="000000"/>
                </a:solidFill>
                <a:latin typeface="微软雅黑" panose="020B0503020204020204" charset="-122"/>
                <a:ea typeface="微软雅黑" panose="020B0503020204020204" charset="-122"/>
                <a:cs typeface="微软雅黑" panose="020B0503020204020204" charset="-122"/>
              </a:rPr>
              <a:t>12</a:t>
            </a: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路开关量模块</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endParaRPr>
          </a:p>
        </p:txBody>
      </p:sp>
      <p:pic>
        <p:nvPicPr>
          <p:cNvPr id="53" name="内容占位符 3"/>
          <p:cNvPicPr>
            <a:picLocks noChangeAspect="1"/>
          </p:cNvPicPr>
          <p:nvPr/>
        </p:nvPicPr>
        <p:blipFill rotWithShape="1">
          <a:blip r:embed="rId16" cstate="print">
            <a:extLst>
              <a:ext uri="{28A0092B-C50C-407E-A947-70E740481C1C}">
                <a14:useLocalDpi xmlns:a14="http://schemas.microsoft.com/office/drawing/2010/main" val="0"/>
              </a:ext>
            </a:extLst>
          </a:blip>
          <a:srcRect l="22983" t="16878" r="23496" b="21414"/>
          <a:stretch>
            <a:fillRect/>
          </a:stretch>
        </p:blipFill>
        <p:spPr>
          <a:xfrm>
            <a:off x="4929759" y="3004442"/>
            <a:ext cx="1026666" cy="563010"/>
          </a:xfrm>
          <a:prstGeom prst="rect">
            <a:avLst/>
          </a:prstGeom>
        </p:spPr>
      </p:pic>
      <p:sp>
        <p:nvSpPr>
          <p:cNvPr id="54" name="TextBox 57"/>
          <p:cNvSpPr txBox="1">
            <a:spLocks noChangeArrowheads="1"/>
          </p:cNvSpPr>
          <p:nvPr/>
        </p:nvSpPr>
        <p:spPr bwMode="auto">
          <a:xfrm>
            <a:off x="4688396" y="3563516"/>
            <a:ext cx="136127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900" b="1" dirty="0">
                <a:solidFill>
                  <a:srgbClr val="000000"/>
                </a:solidFill>
                <a:latin typeface="微软雅黑" panose="020B0503020204020204" charset="-122"/>
                <a:ea typeface="微软雅黑" panose="020B0503020204020204" charset="-122"/>
                <a:cs typeface="微软雅黑" panose="020B0503020204020204" charset="-122"/>
              </a:rPr>
              <a:t>3</a:t>
            </a: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900" b="1" dirty="0">
                <a:solidFill>
                  <a:srgbClr val="000000"/>
                </a:solidFill>
                <a:latin typeface="微软雅黑" panose="020B0503020204020204" charset="-122"/>
                <a:ea typeface="微软雅黑" panose="020B0503020204020204" charset="-122"/>
                <a:cs typeface="微软雅黑" panose="020B0503020204020204" charset="-122"/>
              </a:rPr>
              <a:t>6</a:t>
            </a: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路</a:t>
            </a:r>
            <a:r>
              <a:rPr lang="en-US" altLang="zh-CN" sz="900" b="1" dirty="0">
                <a:solidFill>
                  <a:srgbClr val="000000"/>
                </a:solidFill>
                <a:latin typeface="微软雅黑" panose="020B0503020204020204" charset="-122"/>
                <a:ea typeface="微软雅黑" panose="020B0503020204020204" charset="-122"/>
                <a:cs typeface="微软雅黑" panose="020B0503020204020204" charset="-122"/>
              </a:rPr>
              <a:t>0-10V</a:t>
            </a: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调光模块</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endParaRPr>
          </a:p>
        </p:txBody>
      </p:sp>
      <p:pic>
        <p:nvPicPr>
          <p:cNvPr id="62" name="图片 61"/>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658861" y="2996557"/>
            <a:ext cx="513318" cy="488580"/>
          </a:xfrm>
          <a:prstGeom prst="rect">
            <a:avLst/>
          </a:prstGeom>
        </p:spPr>
      </p:pic>
      <p:pic>
        <p:nvPicPr>
          <p:cNvPr id="63" name="图片 62"/>
          <p:cNvPicPr>
            <a:picLocks noChangeAspect="1"/>
          </p:cNvPicPr>
          <p:nvPr/>
        </p:nvPicPr>
        <p:blipFill>
          <a:blip r:embed="rId18" cstate="print">
            <a:extLst>
              <a:ext uri="{28A0092B-C50C-407E-A947-70E740481C1C}">
                <a14:useLocalDpi xmlns:a14="http://schemas.microsoft.com/office/drawing/2010/main" val="0"/>
              </a:ext>
            </a:extLst>
          </a:blip>
          <a:srcRect t="28556" b="14538"/>
          <a:stretch>
            <a:fillRect/>
          </a:stretch>
        </p:blipFill>
        <p:spPr>
          <a:xfrm>
            <a:off x="10437371" y="3000543"/>
            <a:ext cx="1087915" cy="460392"/>
          </a:xfrm>
          <a:prstGeom prst="rect">
            <a:avLst/>
          </a:prstGeom>
        </p:spPr>
      </p:pic>
      <p:sp>
        <p:nvSpPr>
          <p:cNvPr id="64" name="TextBox 57"/>
          <p:cNvSpPr txBox="1">
            <a:spLocks noChangeArrowheads="1"/>
          </p:cNvSpPr>
          <p:nvPr/>
        </p:nvSpPr>
        <p:spPr bwMode="auto">
          <a:xfrm>
            <a:off x="9505158" y="3551829"/>
            <a:ext cx="944489"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indent="0" algn="l">
              <a:buNone/>
            </a:pPr>
            <a:r>
              <a:rPr lang="zh-CN" sz="900" b="1">
                <a:solidFill>
                  <a:srgbClr val="000000"/>
                </a:solidFill>
                <a:latin typeface="微软雅黑" panose="020B0503020204020204" charset="-122"/>
                <a:ea typeface="微软雅黑" panose="020B0503020204020204" charset="-122"/>
                <a:sym typeface="+mn-ea"/>
              </a:rPr>
              <a:t>8路干接点模块</a:t>
            </a:r>
            <a:endParaRPr lang="zh-CN" altLang="en-US" sz="900" b="1" dirty="0">
              <a:solidFill>
                <a:srgbClr val="000000"/>
              </a:solidFill>
              <a:latin typeface="微软雅黑" panose="020B0503020204020204" charset="-122"/>
              <a:ea typeface="微软雅黑" panose="020B0503020204020204" charset="-122"/>
              <a:cs typeface="Arial Unicode MS" panose="020B0604020202020204" pitchFamily="34" charset="-122"/>
              <a:sym typeface="+mn-ea"/>
            </a:endParaRPr>
          </a:p>
        </p:txBody>
      </p:sp>
      <p:sp>
        <p:nvSpPr>
          <p:cNvPr id="65" name="文本框 64"/>
          <p:cNvSpPr txBox="1"/>
          <p:nvPr/>
        </p:nvSpPr>
        <p:spPr>
          <a:xfrm>
            <a:off x="10420861" y="3470507"/>
            <a:ext cx="1216025" cy="275590"/>
          </a:xfrm>
          <a:prstGeom prst="rect">
            <a:avLst/>
          </a:prstGeom>
          <a:noFill/>
        </p:spPr>
        <p:txBody>
          <a:bodyPr wrap="square" rtlCol="0" anchor="t">
            <a:noAutofit/>
          </a:bodyPr>
          <a:lstStyle/>
          <a:p>
            <a:r>
              <a:rPr lang="zh-CN" sz="900" b="1" dirty="0">
                <a:solidFill>
                  <a:srgbClr val="000000"/>
                </a:solidFill>
                <a:latin typeface="微软雅黑" panose="020B0503020204020204" charset="-122"/>
                <a:ea typeface="微软雅黑" panose="020B0503020204020204" charset="-122"/>
                <a:cs typeface="微软雅黑" panose="020B0503020204020204" charset="-122"/>
                <a:sym typeface="+mn-ea"/>
              </a:rPr>
              <a:t>蓝牙转</a:t>
            </a:r>
            <a:r>
              <a:rPr lang="en-US" altLang="zh-CN" sz="900" b="1" dirty="0">
                <a:solidFill>
                  <a:srgbClr val="000000"/>
                </a:solidFill>
                <a:latin typeface="微软雅黑" panose="020B0503020204020204" charset="-122"/>
                <a:ea typeface="微软雅黑" panose="020B0503020204020204" charset="-122"/>
                <a:cs typeface="微软雅黑" panose="020B0503020204020204" charset="-122"/>
                <a:sym typeface="+mn-ea"/>
              </a:rPr>
              <a:t>DALI/-10V/</a:t>
            </a: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sym typeface="+mn-ea"/>
              </a:rPr>
              <a:t>可控硅</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sym typeface="+mn-ea"/>
            </a:endParaRPr>
          </a:p>
        </p:txBody>
      </p:sp>
      <p:sp>
        <p:nvSpPr>
          <p:cNvPr id="70" name="文本框 69"/>
          <p:cNvSpPr txBox="1"/>
          <p:nvPr/>
        </p:nvSpPr>
        <p:spPr>
          <a:xfrm>
            <a:off x="239395" y="3020952"/>
            <a:ext cx="1078865" cy="660400"/>
          </a:xfrm>
          <a:prstGeom prst="rect">
            <a:avLst/>
          </a:prstGeom>
          <a:solidFill>
            <a:schemeClr val="bg1"/>
          </a:solidFill>
        </p:spPr>
        <p:txBody>
          <a:bodyPr wrap="square" rtlCol="0" anchor="t">
            <a:spAutoFit/>
          </a:bodyPr>
          <a:lstStyle/>
          <a:p>
            <a:pPr indent="0" algn="l">
              <a:buNone/>
            </a:pPr>
            <a:r>
              <a:rPr lang="zh-CN" altLang="en-US" sz="1400" b="1" dirty="0">
                <a:solidFill>
                  <a:srgbClr val="000000"/>
                </a:solidFill>
                <a:latin typeface="微软雅黑" panose="020B0503020204020204" charset="-122"/>
                <a:ea typeface="微软雅黑" panose="020B0503020204020204" charset="-122"/>
                <a:cs typeface="微软雅黑" panose="020B0503020204020204" charset="-122"/>
                <a:sym typeface="+mn-ea"/>
              </a:rPr>
              <a:t>①</a:t>
            </a:r>
            <a:endParaRPr lang="zh-CN" altLang="en-US" sz="1400" b="1" dirty="0">
              <a:solidFill>
                <a:srgbClr val="000000"/>
              </a:solidFill>
              <a:latin typeface="微软雅黑" panose="020B0503020204020204" charset="-122"/>
              <a:ea typeface="微软雅黑" panose="020B0503020204020204" charset="-122"/>
              <a:cs typeface="微软雅黑" panose="020B0503020204020204" charset="-122"/>
              <a:sym typeface="+mn-ea"/>
            </a:endParaRPr>
          </a:p>
          <a:p>
            <a:pPr indent="0" algn="l">
              <a:buNone/>
            </a:pPr>
            <a:r>
              <a:rPr lang="zh-CN" altLang="en-US" sz="1400" b="1" dirty="0">
                <a:solidFill>
                  <a:srgbClr val="000000"/>
                </a:solidFill>
                <a:latin typeface="微软雅黑" panose="020B0503020204020204" charset="-122"/>
                <a:ea typeface="微软雅黑" panose="020B0503020204020204" charset="-122"/>
                <a:cs typeface="微软雅黑" panose="020B0503020204020204" charset="-122"/>
                <a:sym typeface="+mn-ea"/>
              </a:rPr>
              <a:t>底层设备</a:t>
            </a:r>
            <a:endParaRPr lang="zh-CN" altLang="en-US" sz="1400" b="1" dirty="0">
              <a:solidFill>
                <a:srgbClr val="000000"/>
              </a:solidFill>
              <a:latin typeface="微软雅黑" panose="020B0503020204020204" charset="-122"/>
              <a:ea typeface="微软雅黑" panose="020B0503020204020204" charset="-122"/>
              <a:cs typeface="微软雅黑" panose="020B0503020204020204" charset="-122"/>
              <a:sym typeface="+mn-ea"/>
            </a:endParaRPr>
          </a:p>
          <a:p>
            <a:pPr indent="0" algn="l">
              <a:buNone/>
            </a:pP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sym typeface="+mn-ea"/>
              </a:rPr>
              <a:t>按需选择</a:t>
            </a:r>
            <a:endParaRPr lang="zh-CN" altLang="en-US" sz="1400" b="1" dirty="0">
              <a:solidFill>
                <a:srgbClr val="000000"/>
              </a:solidFill>
              <a:latin typeface="微软雅黑" panose="020B0503020204020204" charset="-122"/>
              <a:ea typeface="微软雅黑" panose="020B0503020204020204" charset="-122"/>
              <a:cs typeface="微软雅黑" panose="020B0503020204020204" charset="-122"/>
              <a:sym typeface="+mn-ea"/>
            </a:endParaRPr>
          </a:p>
        </p:txBody>
      </p:sp>
      <p:sp>
        <p:nvSpPr>
          <p:cNvPr id="71" name="文本框 70"/>
          <p:cNvSpPr txBox="1"/>
          <p:nvPr/>
        </p:nvSpPr>
        <p:spPr>
          <a:xfrm>
            <a:off x="239395" y="1752155"/>
            <a:ext cx="1078865" cy="875665"/>
          </a:xfrm>
          <a:prstGeom prst="rect">
            <a:avLst/>
          </a:prstGeom>
          <a:solidFill>
            <a:schemeClr val="bg1"/>
          </a:solidFill>
        </p:spPr>
        <p:txBody>
          <a:bodyPr wrap="square" rtlCol="0" anchor="t">
            <a:spAutoFit/>
          </a:bodyPr>
          <a:lstStyle/>
          <a:p>
            <a:pPr indent="0" algn="l">
              <a:buNone/>
            </a:pPr>
            <a:r>
              <a:rPr lang="zh-CN" altLang="en-US" sz="1200" b="1" dirty="0">
                <a:solidFill>
                  <a:srgbClr val="000000"/>
                </a:solidFill>
                <a:latin typeface="微软雅黑" panose="020B0503020204020204" charset="-122"/>
                <a:ea typeface="微软雅黑" panose="020B0503020204020204" charset="-122"/>
                <a:cs typeface="微软雅黑" panose="020B0503020204020204" charset="-122"/>
                <a:sym typeface="+mn-ea"/>
              </a:rPr>
              <a:t>②</a:t>
            </a:r>
            <a:endParaRPr lang="zh-CN" altLang="en-US" sz="1200" b="1" dirty="0">
              <a:solidFill>
                <a:srgbClr val="000000"/>
              </a:solidFill>
              <a:latin typeface="微软雅黑" panose="020B0503020204020204" charset="-122"/>
              <a:ea typeface="微软雅黑" panose="020B0503020204020204" charset="-122"/>
              <a:cs typeface="微软雅黑" panose="020B0503020204020204" charset="-122"/>
              <a:sym typeface="+mn-ea"/>
            </a:endParaRPr>
          </a:p>
          <a:p>
            <a:pPr indent="0" algn="l">
              <a:buNone/>
            </a:pPr>
            <a:r>
              <a:rPr lang="zh-CN" altLang="en-US" sz="1200" b="1" dirty="0">
                <a:solidFill>
                  <a:srgbClr val="000000"/>
                </a:solidFill>
                <a:latin typeface="微软雅黑" panose="020B0503020204020204" charset="-122"/>
                <a:ea typeface="微软雅黑" panose="020B0503020204020204" charset="-122"/>
                <a:cs typeface="微软雅黑" panose="020B0503020204020204" charset="-122"/>
                <a:sym typeface="+mn-ea"/>
              </a:rPr>
              <a:t>网关设备</a:t>
            </a:r>
            <a:endParaRPr lang="zh-CN" altLang="en-US" sz="1200" b="1" dirty="0">
              <a:solidFill>
                <a:srgbClr val="000000"/>
              </a:solidFill>
              <a:latin typeface="微软雅黑" panose="020B0503020204020204" charset="-122"/>
              <a:ea typeface="微软雅黑" panose="020B0503020204020204" charset="-122"/>
              <a:cs typeface="微软雅黑" panose="020B0503020204020204" charset="-122"/>
              <a:sym typeface="+mn-ea"/>
            </a:endParaRPr>
          </a:p>
          <a:p>
            <a:pPr marL="171450" indent="-171450" algn="l">
              <a:buFont typeface="Arial" panose="020B0604020202020204" pitchFamily="34" charset="0"/>
              <a:buChar char="•"/>
            </a:pP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sym typeface="+mn-ea"/>
              </a:rPr>
              <a:t>管理底层设备</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sym typeface="+mn-ea"/>
            </a:endParaRPr>
          </a:p>
          <a:p>
            <a:pPr marL="171450" indent="-171450" algn="l">
              <a:buFont typeface="Arial" panose="020B0604020202020204" pitchFamily="34" charset="0"/>
              <a:buChar char="•"/>
            </a:pP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sym typeface="+mn-ea"/>
              </a:rPr>
              <a:t>将底层设备数据上传至平台</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sym typeface="+mn-ea"/>
            </a:endParaRPr>
          </a:p>
        </p:txBody>
      </p:sp>
      <p:sp>
        <p:nvSpPr>
          <p:cNvPr id="72" name="上箭头 21"/>
          <p:cNvSpPr/>
          <p:nvPr/>
        </p:nvSpPr>
        <p:spPr>
          <a:xfrm>
            <a:off x="3698280" y="2603926"/>
            <a:ext cx="1694850" cy="302201"/>
          </a:xfrm>
          <a:prstGeom prst="upArrow">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dirty="0">
                <a:latin typeface="微软雅黑" panose="020B0503020204020204" charset="-122"/>
                <a:ea typeface="微软雅黑" panose="020B0503020204020204" charset="-122"/>
              </a:rPr>
              <a:t>物理总线</a:t>
            </a:r>
            <a:endParaRPr lang="zh-CN" altLang="en-US" sz="1200" dirty="0">
              <a:latin typeface="微软雅黑" panose="020B0503020204020204" charset="-122"/>
              <a:ea typeface="微软雅黑" panose="020B0503020204020204" charset="-122"/>
            </a:endParaRPr>
          </a:p>
        </p:txBody>
      </p:sp>
      <p:sp>
        <p:nvSpPr>
          <p:cNvPr id="75" name="上箭头 22"/>
          <p:cNvSpPr/>
          <p:nvPr/>
        </p:nvSpPr>
        <p:spPr>
          <a:xfrm>
            <a:off x="8048467" y="2640986"/>
            <a:ext cx="1586230" cy="272405"/>
          </a:xfrm>
          <a:prstGeom prst="upArrow">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dirty="0">
                <a:latin typeface="微软雅黑" panose="020B0503020204020204" charset="-122"/>
                <a:ea typeface="微软雅黑" panose="020B0503020204020204" charset="-122"/>
              </a:rPr>
              <a:t>蓝牙</a:t>
            </a:r>
            <a:endParaRPr lang="zh-CN" altLang="en-US" sz="1200" dirty="0">
              <a:latin typeface="微软雅黑" panose="020B0503020204020204" charset="-122"/>
              <a:ea typeface="微软雅黑" panose="020B0503020204020204" charset="-122"/>
            </a:endParaRPr>
          </a:p>
        </p:txBody>
      </p:sp>
      <p:sp>
        <p:nvSpPr>
          <p:cNvPr id="77" name="Rectangle 46"/>
          <p:cNvSpPr>
            <a:spLocks noChangeArrowheads="1"/>
          </p:cNvSpPr>
          <p:nvPr/>
        </p:nvSpPr>
        <p:spPr bwMode="auto">
          <a:xfrm>
            <a:off x="2684780" y="822572"/>
            <a:ext cx="8940165" cy="855191"/>
          </a:xfrm>
          <a:prstGeom prst="rect">
            <a:avLst/>
          </a:prstGeom>
          <a:solidFill>
            <a:srgbClr val="F8F8F8"/>
          </a:solidFill>
          <a:ln w="9525">
            <a:solidFill>
              <a:srgbClr val="333399"/>
            </a:solidFill>
            <a:miter lim="800000"/>
          </a:ln>
          <a:effectLst>
            <a:outerShdw dist="35921" dir="2700000" algn="ctr" rotWithShape="0">
              <a:srgbClr val="808080"/>
            </a:outerShdw>
          </a:effectLst>
        </p:spPr>
        <p:txBody>
          <a:bodyPr wrap="none" anchor="ct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endParaRPr lang="zh-CN" altLang="en-US" dirty="0">
              <a:solidFill>
                <a:srgbClr val="1C1C1C"/>
              </a:solidFill>
              <a:latin typeface="微软雅黑" panose="020B0503020204020204" charset="-122"/>
              <a:ea typeface="微软雅黑" panose="020B0503020204020204" charset="-122"/>
              <a:cs typeface="Times New Roman" panose="02020603050405020304" pitchFamily="18" charset="0"/>
            </a:endParaRPr>
          </a:p>
          <a:p>
            <a:pPr eaLnBrk="1" hangingPunct="1"/>
            <a:endParaRPr lang="ja-JP" altLang="en-US" dirty="0">
              <a:solidFill>
                <a:srgbClr val="1C1C1C"/>
              </a:solidFill>
              <a:latin typeface="微软雅黑" panose="020B0503020204020204" charset="-122"/>
              <a:ea typeface="微软雅黑" panose="020B0503020204020204" charset="-122"/>
              <a:cs typeface="Times New Roman" panose="02020603050405020304" pitchFamily="18" charset="0"/>
            </a:endParaRPr>
          </a:p>
        </p:txBody>
      </p:sp>
      <p:pic>
        <p:nvPicPr>
          <p:cNvPr id="78" name="图片 77"/>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3566836" y="846017"/>
            <a:ext cx="1372196" cy="771860"/>
          </a:xfrm>
          <a:prstGeom prst="rect">
            <a:avLst/>
          </a:prstGeom>
        </p:spPr>
      </p:pic>
      <p:pic>
        <p:nvPicPr>
          <p:cNvPr id="79" name="图片 78"/>
          <p:cNvPicPr>
            <a:picLocks noChangeAspect="1"/>
          </p:cNvPicPr>
          <p:nvPr/>
        </p:nvPicPr>
        <p:blipFill>
          <a:blip r:embed="rId20"/>
          <a:stretch>
            <a:fillRect/>
          </a:stretch>
        </p:blipFill>
        <p:spPr>
          <a:xfrm>
            <a:off x="6088258" y="845927"/>
            <a:ext cx="624237" cy="810105"/>
          </a:xfrm>
          <a:prstGeom prst="rect">
            <a:avLst/>
          </a:prstGeom>
        </p:spPr>
      </p:pic>
      <p:sp>
        <p:nvSpPr>
          <p:cNvPr id="80" name="TextBox 57"/>
          <p:cNvSpPr txBox="1">
            <a:spLocks noChangeArrowheads="1"/>
          </p:cNvSpPr>
          <p:nvPr/>
        </p:nvSpPr>
        <p:spPr bwMode="auto">
          <a:xfrm>
            <a:off x="5008369" y="1093519"/>
            <a:ext cx="94805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zh-CN" altLang="ja-JP" sz="1200" b="1" dirty="0">
                <a:solidFill>
                  <a:srgbClr val="000000"/>
                </a:solidFill>
                <a:latin typeface="微软雅黑" panose="020B0503020204020204" charset="-122"/>
                <a:ea typeface="微软雅黑" panose="020B0503020204020204" charset="-122"/>
                <a:cs typeface="Arial Unicode MS" panose="020B0604020202020204" pitchFamily="34" charset="-122"/>
              </a:rPr>
              <a:t>公有云平台</a:t>
            </a:r>
            <a:endParaRPr lang="zh-CN" altLang="ja-JP" sz="1200" b="1" dirty="0">
              <a:solidFill>
                <a:srgbClr val="000000"/>
              </a:solidFill>
              <a:latin typeface="微软雅黑" panose="020B0503020204020204" charset="-122"/>
              <a:ea typeface="微软雅黑" panose="020B0503020204020204" charset="-122"/>
              <a:cs typeface="Arial Unicode MS" panose="020B0604020202020204" pitchFamily="34" charset="-122"/>
            </a:endParaRPr>
          </a:p>
        </p:txBody>
      </p:sp>
      <p:sp>
        <p:nvSpPr>
          <p:cNvPr id="81" name="TextBox 57"/>
          <p:cNvSpPr txBox="1">
            <a:spLocks noChangeArrowheads="1"/>
          </p:cNvSpPr>
          <p:nvPr/>
        </p:nvSpPr>
        <p:spPr bwMode="auto">
          <a:xfrm>
            <a:off x="6482994" y="1093482"/>
            <a:ext cx="14071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zh-CN" altLang="en-US" sz="1200" b="1" dirty="0">
                <a:solidFill>
                  <a:srgbClr val="000000"/>
                </a:solidFill>
                <a:latin typeface="微软雅黑" panose="020B0503020204020204" charset="-122"/>
                <a:ea typeface="微软雅黑" panose="020B0503020204020204" charset="-122"/>
                <a:cs typeface="Arial Unicode MS" panose="020B0604020202020204" pitchFamily="34" charset="-122"/>
              </a:rPr>
              <a:t>私有化部署</a:t>
            </a:r>
            <a:endParaRPr lang="zh-CN" altLang="en-US" sz="1200" b="1" dirty="0">
              <a:solidFill>
                <a:srgbClr val="000000"/>
              </a:solidFill>
              <a:latin typeface="微软雅黑" panose="020B0503020204020204" charset="-122"/>
              <a:ea typeface="微软雅黑" panose="020B0503020204020204" charset="-122"/>
              <a:cs typeface="Arial Unicode MS" panose="020B0604020202020204" pitchFamily="34" charset="-122"/>
            </a:endParaRPr>
          </a:p>
          <a:p>
            <a:pPr algn="ctr" eaLnBrk="1" hangingPunct="1"/>
            <a:r>
              <a:rPr lang="zh-CN" altLang="en-US" sz="1200" b="1" dirty="0">
                <a:solidFill>
                  <a:srgbClr val="000000"/>
                </a:solidFill>
                <a:latin typeface="微软雅黑" panose="020B0503020204020204" charset="-122"/>
                <a:ea typeface="微软雅黑" panose="020B0503020204020204" charset="-122"/>
                <a:cs typeface="Arial Unicode MS" panose="020B0604020202020204" pitchFamily="34" charset="-122"/>
              </a:rPr>
              <a:t>（客户提供软件）</a:t>
            </a:r>
            <a:endParaRPr lang="zh-CN" altLang="en-US" sz="1200" b="1" dirty="0">
              <a:solidFill>
                <a:srgbClr val="000000"/>
              </a:solidFill>
              <a:latin typeface="微软雅黑" panose="020B0503020204020204" charset="-122"/>
              <a:ea typeface="微软雅黑" panose="020B0503020204020204" charset="-122"/>
              <a:cs typeface="Arial Unicode MS" panose="020B0604020202020204" pitchFamily="34" charset="-122"/>
            </a:endParaRPr>
          </a:p>
        </p:txBody>
      </p:sp>
      <p:pic>
        <p:nvPicPr>
          <p:cNvPr id="82" name="图片 81"/>
          <p:cNvPicPr>
            <a:picLocks noChangeAspect="1"/>
          </p:cNvPicPr>
          <p:nvPr/>
        </p:nvPicPr>
        <p:blipFill>
          <a:blip r:embed="rId21"/>
          <a:stretch>
            <a:fillRect/>
          </a:stretch>
        </p:blipFill>
        <p:spPr>
          <a:xfrm>
            <a:off x="7961313" y="845801"/>
            <a:ext cx="922655" cy="706755"/>
          </a:xfrm>
          <a:prstGeom prst="rect">
            <a:avLst/>
          </a:prstGeom>
          <a:noFill/>
          <a:ln w="9525">
            <a:noFill/>
          </a:ln>
        </p:spPr>
      </p:pic>
      <p:grpSp>
        <p:nvGrpSpPr>
          <p:cNvPr id="83" name="Group 42"/>
          <p:cNvGrpSpPr/>
          <p:nvPr/>
        </p:nvGrpSpPr>
        <p:grpSpPr bwMode="auto">
          <a:xfrm>
            <a:off x="1378585" y="822572"/>
            <a:ext cx="1249680" cy="855191"/>
            <a:chOff x="249" y="1751"/>
            <a:chExt cx="817" cy="368"/>
          </a:xfrm>
          <a:solidFill>
            <a:schemeClr val="accent1">
              <a:lumMod val="60000"/>
              <a:lumOff val="40000"/>
            </a:schemeClr>
          </a:solidFill>
        </p:grpSpPr>
        <p:sp>
          <p:nvSpPr>
            <p:cNvPr id="84" name="Rectangle 40"/>
            <p:cNvSpPr>
              <a:spLocks noChangeArrowheads="1"/>
            </p:cNvSpPr>
            <p:nvPr>
              <p:custDataLst>
                <p:tags r:id="rId22"/>
              </p:custDataLst>
            </p:nvPr>
          </p:nvSpPr>
          <p:spPr bwMode="auto">
            <a:xfrm>
              <a:off x="249" y="1752"/>
              <a:ext cx="681" cy="367"/>
            </a:xfrm>
            <a:prstGeom prst="rect">
              <a:avLst/>
            </a:prstGeom>
            <a:grpFill/>
            <a:ln w="9525">
              <a:noFill/>
              <a:miter lim="800000"/>
            </a:ln>
            <a:effectLst>
              <a:outerShdw dist="35921" dir="2700000" algn="ctr" rotWithShape="0">
                <a:schemeClr val="bg2"/>
              </a:outerShdw>
            </a:effectLst>
          </p:spPr>
          <p:txBody>
            <a:bodyPr wrap="none" anchor="ctr">
              <a:no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eaLnBrk="1" hangingPunct="1">
                <a:lnSpc>
                  <a:spcPct val="115000"/>
                </a:lnSpc>
                <a:buClrTx/>
                <a:buSzTx/>
                <a:buFontTx/>
              </a:pPr>
              <a:r>
                <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rPr>
                <a:t>软件平台</a:t>
              </a:r>
              <a:endPar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endParaRPr>
            </a:p>
            <a:p>
              <a:pPr lvl="0" algn="ctr" eaLnBrk="1" hangingPunct="1">
                <a:lnSpc>
                  <a:spcPct val="115000"/>
                </a:lnSpc>
                <a:buClrTx/>
                <a:buSzTx/>
                <a:buFontTx/>
              </a:pPr>
              <a:r>
                <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rPr>
                <a:t>（云</a:t>
              </a:r>
              <a:r>
                <a:rPr lang="en-US" altLang="zh-CN"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rPr>
                <a:t>/</a:t>
              </a:r>
              <a:r>
                <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rPr>
                <a:t>本地）</a:t>
              </a:r>
              <a:endPar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endParaRPr>
            </a:p>
          </p:txBody>
        </p:sp>
        <p:sp>
          <p:nvSpPr>
            <p:cNvPr id="85" name="AutoShape 41"/>
            <p:cNvSpPr>
              <a:spLocks noChangeArrowheads="1"/>
            </p:cNvSpPr>
            <p:nvPr>
              <p:custDataLst>
                <p:tags r:id="rId23"/>
              </p:custDataLst>
            </p:nvPr>
          </p:nvSpPr>
          <p:spPr bwMode="auto">
            <a:xfrm>
              <a:off x="976" y="1751"/>
              <a:ext cx="90" cy="368"/>
            </a:xfrm>
            <a:prstGeom prst="roundRect">
              <a:avLst>
                <a:gd name="adj" fmla="val 3083"/>
              </a:avLst>
            </a:prstGeom>
            <a:grpFill/>
            <a:ln w="9525">
              <a:noFill/>
              <a:miter lim="800000"/>
            </a:ln>
            <a:effectLst>
              <a:outerShdw dist="35921" dir="2700000" algn="ctr" rotWithShape="0">
                <a:schemeClr val="bg2"/>
              </a:outerShdw>
            </a:effectLst>
          </p:spPr>
          <p:txBody>
            <a:bodyPr wrap="none" anchor="ctr">
              <a:no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eaLnBrk="1" hangingPunct="1">
                <a:lnSpc>
                  <a:spcPct val="115000"/>
                </a:lnSpc>
                <a:buClrTx/>
                <a:buSzTx/>
                <a:buFontTx/>
              </a:pPr>
              <a:endPar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endParaRPr>
            </a:p>
          </p:txBody>
        </p:sp>
      </p:grpSp>
      <p:sp>
        <p:nvSpPr>
          <p:cNvPr id="86" name="TextBox 57"/>
          <p:cNvSpPr txBox="1">
            <a:spLocks noChangeArrowheads="1"/>
          </p:cNvSpPr>
          <p:nvPr/>
        </p:nvSpPr>
        <p:spPr bwMode="auto">
          <a:xfrm>
            <a:off x="8996007" y="1093482"/>
            <a:ext cx="217233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zh-CN" altLang="en-US" sz="1200" b="1" dirty="0">
                <a:solidFill>
                  <a:srgbClr val="000000"/>
                </a:solidFill>
                <a:latin typeface="微软雅黑" panose="020B0503020204020204" charset="-122"/>
                <a:ea typeface="微软雅黑" panose="020B0503020204020204" charset="-122"/>
                <a:cs typeface="Arial Unicode MS" panose="020B0604020202020204" pitchFamily="34" charset="-122"/>
              </a:rPr>
              <a:t>边缘服务器（标准智能硬件）</a:t>
            </a:r>
            <a:endParaRPr lang="zh-CN" altLang="en-US" sz="1200" b="1" dirty="0">
              <a:solidFill>
                <a:srgbClr val="000000"/>
              </a:solidFill>
              <a:latin typeface="微软雅黑" panose="020B0503020204020204" charset="-122"/>
              <a:ea typeface="微软雅黑" panose="020B0503020204020204" charset="-122"/>
              <a:cs typeface="Arial Unicode MS" panose="020B0604020202020204" pitchFamily="34" charset="-122"/>
            </a:endParaRPr>
          </a:p>
        </p:txBody>
      </p:sp>
      <p:sp>
        <p:nvSpPr>
          <p:cNvPr id="87" name="文本框 86"/>
          <p:cNvSpPr txBox="1"/>
          <p:nvPr/>
        </p:nvSpPr>
        <p:spPr>
          <a:xfrm>
            <a:off x="290195" y="802098"/>
            <a:ext cx="1078865" cy="875665"/>
          </a:xfrm>
          <a:prstGeom prst="rect">
            <a:avLst/>
          </a:prstGeom>
          <a:solidFill>
            <a:schemeClr val="bg1"/>
          </a:solidFill>
        </p:spPr>
        <p:txBody>
          <a:bodyPr wrap="square" rtlCol="0" anchor="t">
            <a:spAutoFit/>
          </a:bodyPr>
          <a:lstStyle/>
          <a:p>
            <a:pPr indent="0" algn="l">
              <a:buNone/>
            </a:pPr>
            <a:r>
              <a:rPr lang="zh-CN" altLang="en-US" sz="1200" b="1" dirty="0">
                <a:solidFill>
                  <a:srgbClr val="000000"/>
                </a:solidFill>
                <a:latin typeface="微软雅黑" panose="020B0503020204020204" charset="-122"/>
                <a:ea typeface="微软雅黑" panose="020B0503020204020204" charset="-122"/>
                <a:cs typeface="微软雅黑" panose="020B0503020204020204" charset="-122"/>
                <a:sym typeface="+mn-ea"/>
              </a:rPr>
              <a:t>③</a:t>
            </a:r>
            <a:endParaRPr lang="zh-CN" altLang="en-US" sz="1200" b="1" dirty="0">
              <a:solidFill>
                <a:srgbClr val="000000"/>
              </a:solidFill>
              <a:latin typeface="微软雅黑" panose="020B0503020204020204" charset="-122"/>
              <a:ea typeface="微软雅黑" panose="020B0503020204020204" charset="-122"/>
              <a:cs typeface="微软雅黑" panose="020B0503020204020204" charset="-122"/>
              <a:sym typeface="+mn-ea"/>
            </a:endParaRPr>
          </a:p>
          <a:p>
            <a:pPr indent="0" algn="l">
              <a:buNone/>
            </a:pPr>
            <a:r>
              <a:rPr lang="zh-CN" altLang="en-US" sz="1200" b="1" dirty="0">
                <a:solidFill>
                  <a:srgbClr val="000000"/>
                </a:solidFill>
                <a:latin typeface="微软雅黑" panose="020B0503020204020204" charset="-122"/>
                <a:ea typeface="微软雅黑" panose="020B0503020204020204" charset="-122"/>
                <a:cs typeface="微软雅黑" panose="020B0503020204020204" charset="-122"/>
                <a:sym typeface="+mn-ea"/>
              </a:rPr>
              <a:t>管理平台</a:t>
            </a:r>
            <a:endParaRPr lang="zh-CN" altLang="en-US" sz="1200" b="1" dirty="0">
              <a:solidFill>
                <a:srgbClr val="000000"/>
              </a:solidFill>
              <a:latin typeface="微软雅黑" panose="020B0503020204020204" charset="-122"/>
              <a:ea typeface="微软雅黑" panose="020B0503020204020204" charset="-122"/>
              <a:cs typeface="微软雅黑" panose="020B0503020204020204" charset="-122"/>
              <a:sym typeface="+mn-ea"/>
            </a:endParaRPr>
          </a:p>
          <a:p>
            <a:pPr marL="171450" indent="-171450" algn="l">
              <a:buFont typeface="Arial" panose="020B0604020202020204" pitchFamily="34" charset="0"/>
              <a:buChar char="•"/>
            </a:pP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sym typeface="+mn-ea"/>
              </a:rPr>
              <a:t>远程控制</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sym typeface="+mn-ea"/>
            </a:endParaRPr>
          </a:p>
          <a:p>
            <a:pPr marL="171450" indent="-171450" algn="l">
              <a:buFont typeface="Arial" panose="020B0604020202020204" pitchFamily="34" charset="0"/>
              <a:buChar char="•"/>
            </a:pP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sym typeface="+mn-ea"/>
              </a:rPr>
              <a:t>能耗监测</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sym typeface="+mn-ea"/>
            </a:endParaRPr>
          </a:p>
          <a:p>
            <a:pPr marL="171450" indent="-171450" algn="l">
              <a:buFont typeface="Arial" panose="020B0604020202020204" pitchFamily="34" charset="0"/>
              <a:buChar char="•"/>
            </a:pP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sym typeface="+mn-ea"/>
              </a:rPr>
              <a:t>故障管理</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sym typeface="+mn-ea"/>
            </a:endParaRPr>
          </a:p>
        </p:txBody>
      </p:sp>
      <p:grpSp>
        <p:nvGrpSpPr>
          <p:cNvPr id="90" name="Group 42"/>
          <p:cNvGrpSpPr/>
          <p:nvPr/>
        </p:nvGrpSpPr>
        <p:grpSpPr bwMode="auto">
          <a:xfrm>
            <a:off x="10047810" y="1881060"/>
            <a:ext cx="777035" cy="777473"/>
            <a:chOff x="558" y="1751"/>
            <a:chExt cx="508" cy="368"/>
          </a:xfrm>
          <a:solidFill>
            <a:schemeClr val="accent6"/>
          </a:solidFill>
        </p:grpSpPr>
        <p:sp>
          <p:nvSpPr>
            <p:cNvPr id="91" name="Rectangle 40"/>
            <p:cNvSpPr>
              <a:spLocks noChangeArrowheads="1"/>
            </p:cNvSpPr>
            <p:nvPr>
              <p:custDataLst>
                <p:tags r:id="rId24"/>
              </p:custDataLst>
            </p:nvPr>
          </p:nvSpPr>
          <p:spPr bwMode="auto">
            <a:xfrm>
              <a:off x="558" y="1752"/>
              <a:ext cx="372" cy="367"/>
            </a:xfrm>
            <a:prstGeom prst="rect">
              <a:avLst/>
            </a:prstGeom>
            <a:grpFill/>
            <a:ln w="9525">
              <a:noFill/>
              <a:miter lim="800000"/>
            </a:ln>
            <a:effectLst>
              <a:outerShdw dist="35921" dir="2700000" algn="ctr" rotWithShape="0">
                <a:schemeClr val="bg2"/>
              </a:outerShdw>
            </a:effectLst>
          </p:spPr>
          <p:txBody>
            <a:bodyPr wrap="none" anchor="ctr">
              <a:no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eaLnBrk="1" hangingPunct="1">
                <a:lnSpc>
                  <a:spcPct val="115000"/>
                </a:lnSpc>
                <a:buClrTx/>
                <a:buSzTx/>
                <a:buFontTx/>
              </a:pPr>
              <a:r>
                <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rPr>
                <a:t>三方</a:t>
              </a:r>
              <a:endPar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endParaRPr>
            </a:p>
            <a:p>
              <a:pPr lvl="0" algn="ctr" eaLnBrk="1" hangingPunct="1">
                <a:lnSpc>
                  <a:spcPct val="115000"/>
                </a:lnSpc>
                <a:buClrTx/>
                <a:buSzTx/>
                <a:buFontTx/>
              </a:pPr>
              <a:r>
                <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rPr>
                <a:t>系统</a:t>
              </a:r>
              <a:endPar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endParaRPr>
            </a:p>
          </p:txBody>
        </p:sp>
        <p:sp>
          <p:nvSpPr>
            <p:cNvPr id="92" name="AutoShape 41"/>
            <p:cNvSpPr>
              <a:spLocks noChangeArrowheads="1"/>
            </p:cNvSpPr>
            <p:nvPr>
              <p:custDataLst>
                <p:tags r:id="rId25"/>
              </p:custDataLst>
            </p:nvPr>
          </p:nvSpPr>
          <p:spPr bwMode="auto">
            <a:xfrm>
              <a:off x="976" y="1751"/>
              <a:ext cx="90" cy="368"/>
            </a:xfrm>
            <a:prstGeom prst="roundRect">
              <a:avLst>
                <a:gd name="adj" fmla="val 3083"/>
              </a:avLst>
            </a:prstGeom>
            <a:grpFill/>
            <a:ln w="9525">
              <a:noFill/>
              <a:miter lim="800000"/>
            </a:ln>
            <a:effectLst>
              <a:outerShdw dist="35921" dir="2700000" algn="ctr" rotWithShape="0">
                <a:schemeClr val="bg2"/>
              </a:outerShdw>
            </a:effectLst>
          </p:spPr>
          <p:txBody>
            <a:bodyPr wrap="none" anchor="ctr">
              <a:no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eaLnBrk="1" hangingPunct="1">
                <a:lnSpc>
                  <a:spcPct val="115000"/>
                </a:lnSpc>
                <a:buClrTx/>
                <a:buSzTx/>
                <a:buFontTx/>
              </a:pPr>
              <a:endPar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endParaRPr>
            </a:p>
          </p:txBody>
        </p:sp>
      </p:grpSp>
      <p:sp>
        <p:nvSpPr>
          <p:cNvPr id="93" name="Rectangle 46"/>
          <p:cNvSpPr>
            <a:spLocks noChangeArrowheads="1"/>
          </p:cNvSpPr>
          <p:nvPr>
            <p:custDataLst>
              <p:tags r:id="rId26"/>
            </p:custDataLst>
          </p:nvPr>
        </p:nvSpPr>
        <p:spPr bwMode="auto">
          <a:xfrm>
            <a:off x="10913745" y="1849945"/>
            <a:ext cx="943610" cy="825140"/>
          </a:xfrm>
          <a:prstGeom prst="rect">
            <a:avLst/>
          </a:prstGeom>
          <a:solidFill>
            <a:srgbClr val="F8F8F8"/>
          </a:solidFill>
          <a:ln w="9525">
            <a:solidFill>
              <a:srgbClr val="333399"/>
            </a:solidFill>
            <a:miter lim="800000"/>
          </a:ln>
          <a:effectLst>
            <a:outerShdw dist="35921" dir="2700000" algn="ctr" rotWithShape="0">
              <a:srgbClr val="808080"/>
            </a:outerShdw>
          </a:effectLst>
        </p:spPr>
        <p:txBody>
          <a:bodyPr wrap="none" anchor="ctr">
            <a:no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l" eaLnBrk="1" hangingPunct="1">
              <a:buClrTx/>
              <a:buSzTx/>
              <a:buFontTx/>
            </a:pPr>
            <a:endParaRPr lang="zh-CN" altLang="en-US" dirty="0">
              <a:solidFill>
                <a:srgbClr val="1C1C1C"/>
              </a:solidFill>
              <a:latin typeface="微软雅黑" panose="020B0503020204020204" charset="-122"/>
              <a:ea typeface="微软雅黑" panose="020B0503020204020204" charset="-122"/>
              <a:cs typeface="Times New Roman" panose="02020603050405020304" pitchFamily="18" charset="0"/>
              <a:sym typeface="+mn-ea"/>
            </a:endParaRPr>
          </a:p>
          <a:p>
            <a:pPr lvl="0" algn="l" eaLnBrk="1" hangingPunct="1">
              <a:buClrTx/>
              <a:buSzTx/>
              <a:buFontTx/>
            </a:pPr>
            <a:endParaRPr lang="zh-CN" altLang="en-US" dirty="0">
              <a:solidFill>
                <a:srgbClr val="1C1C1C"/>
              </a:solidFill>
              <a:latin typeface="微软雅黑" panose="020B0503020204020204" charset="-122"/>
              <a:ea typeface="微软雅黑" panose="020B0503020204020204" charset="-122"/>
              <a:cs typeface="Times New Roman" panose="02020603050405020304" pitchFamily="18" charset="0"/>
              <a:sym typeface="+mn-ea"/>
            </a:endParaRPr>
          </a:p>
        </p:txBody>
      </p:sp>
      <p:pic>
        <p:nvPicPr>
          <p:cNvPr id="94" name="图片 93"/>
          <p:cNvPicPr>
            <a:picLocks noChangeAspect="1"/>
          </p:cNvPicPr>
          <p:nvPr>
            <p:custDataLst>
              <p:tags r:id="rId27"/>
            </p:custDataLst>
          </p:nvPr>
        </p:nvPicPr>
        <p:blipFill>
          <a:blip r:embed="rId28"/>
          <a:stretch>
            <a:fillRect/>
          </a:stretch>
        </p:blipFill>
        <p:spPr>
          <a:xfrm>
            <a:off x="10974070" y="1895665"/>
            <a:ext cx="437515" cy="368935"/>
          </a:xfrm>
          <a:prstGeom prst="rect">
            <a:avLst/>
          </a:prstGeom>
        </p:spPr>
      </p:pic>
      <p:pic>
        <p:nvPicPr>
          <p:cNvPr id="95" name="图片 94"/>
          <p:cNvPicPr>
            <a:picLocks noChangeAspect="1"/>
          </p:cNvPicPr>
          <p:nvPr>
            <p:custDataLst>
              <p:tags r:id="rId29"/>
            </p:custDataLst>
          </p:nvPr>
        </p:nvPicPr>
        <p:blipFill>
          <a:blip r:embed="rId30"/>
          <a:srcRect l="21225" t="12357" r="16381" b="12500"/>
          <a:stretch>
            <a:fillRect/>
          </a:stretch>
        </p:blipFill>
        <p:spPr>
          <a:xfrm>
            <a:off x="11506200" y="1882878"/>
            <a:ext cx="278130" cy="381722"/>
          </a:xfrm>
          <a:prstGeom prst="rect">
            <a:avLst/>
          </a:prstGeom>
        </p:spPr>
      </p:pic>
      <p:sp>
        <p:nvSpPr>
          <p:cNvPr id="97" name="上箭头 9"/>
          <p:cNvSpPr/>
          <p:nvPr>
            <p:custDataLst>
              <p:tags r:id="rId31"/>
            </p:custDataLst>
          </p:nvPr>
        </p:nvSpPr>
        <p:spPr>
          <a:xfrm rot="16200000">
            <a:off x="9226668" y="2016651"/>
            <a:ext cx="1036723" cy="533400"/>
          </a:xfrm>
          <a:prstGeom prst="upArrow">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400" dirty="0">
                <a:latin typeface="微软雅黑" panose="020B0503020204020204" charset="-122"/>
                <a:ea typeface="微软雅黑" panose="020B0503020204020204" charset="-122"/>
              </a:rPr>
              <a:t>485</a:t>
            </a:r>
            <a:endParaRPr lang="en-US" altLang="zh-CN" sz="1400" dirty="0">
              <a:latin typeface="微软雅黑" panose="020B0503020204020204" charset="-122"/>
              <a:ea typeface="微软雅黑" panose="020B0503020204020204" charset="-122"/>
            </a:endParaRPr>
          </a:p>
        </p:txBody>
      </p:sp>
      <p:sp>
        <p:nvSpPr>
          <p:cNvPr id="98" name="文本框 97"/>
          <p:cNvSpPr txBox="1"/>
          <p:nvPr/>
        </p:nvSpPr>
        <p:spPr>
          <a:xfrm>
            <a:off x="10974070" y="2232215"/>
            <a:ext cx="438150" cy="368300"/>
          </a:xfrm>
          <a:prstGeom prst="rect">
            <a:avLst/>
          </a:prstGeom>
          <a:noFill/>
        </p:spPr>
        <p:txBody>
          <a:bodyPr wrap="square" rtlCol="0" anchor="t">
            <a:spAutoFit/>
          </a:bodyPr>
          <a:lstStyle/>
          <a:p>
            <a:r>
              <a:rPr lang="zh-CN" altLang="en-US" sz="900" dirty="0">
                <a:solidFill>
                  <a:srgbClr val="000000"/>
                </a:solidFill>
                <a:latin typeface="微软雅黑" panose="020B0503020204020204" charset="-122"/>
                <a:ea typeface="微软雅黑" panose="020B0503020204020204" charset="-122"/>
                <a:sym typeface="+mn-ea"/>
              </a:rPr>
              <a:t>智能</a:t>
            </a:r>
            <a:endParaRPr lang="zh-CN" altLang="en-US" sz="900" dirty="0">
              <a:solidFill>
                <a:srgbClr val="000000"/>
              </a:solidFill>
              <a:latin typeface="微软雅黑" panose="020B0503020204020204" charset="-122"/>
              <a:ea typeface="微软雅黑" panose="020B0503020204020204" charset="-122"/>
              <a:sym typeface="+mn-ea"/>
            </a:endParaRPr>
          </a:p>
          <a:p>
            <a:r>
              <a:rPr lang="zh-CN" altLang="en-US" sz="900" dirty="0">
                <a:solidFill>
                  <a:srgbClr val="000000"/>
                </a:solidFill>
                <a:latin typeface="微软雅黑" panose="020B0503020204020204" charset="-122"/>
                <a:ea typeface="微软雅黑" panose="020B0503020204020204" charset="-122"/>
                <a:sym typeface="+mn-ea"/>
              </a:rPr>
              <a:t>空开</a:t>
            </a:r>
            <a:endParaRPr lang="zh-CN" altLang="en-US" sz="900" dirty="0">
              <a:solidFill>
                <a:srgbClr val="000000"/>
              </a:solidFill>
              <a:latin typeface="微软雅黑" panose="020B0503020204020204" charset="-122"/>
              <a:ea typeface="微软雅黑" panose="020B0503020204020204" charset="-122"/>
              <a:sym typeface="+mn-ea"/>
            </a:endParaRPr>
          </a:p>
        </p:txBody>
      </p:sp>
      <p:sp>
        <p:nvSpPr>
          <p:cNvPr id="99" name="文本框 98"/>
          <p:cNvSpPr txBox="1"/>
          <p:nvPr>
            <p:custDataLst>
              <p:tags r:id="rId32"/>
            </p:custDataLst>
          </p:nvPr>
        </p:nvSpPr>
        <p:spPr>
          <a:xfrm>
            <a:off x="11419205" y="2231580"/>
            <a:ext cx="438150" cy="400685"/>
          </a:xfrm>
          <a:prstGeom prst="rect">
            <a:avLst/>
          </a:prstGeom>
          <a:noFill/>
        </p:spPr>
        <p:txBody>
          <a:bodyPr wrap="square" rtlCol="0" anchor="t">
            <a:noAutofit/>
          </a:bodyPr>
          <a:lstStyle/>
          <a:p>
            <a:r>
              <a:rPr lang="zh-CN" altLang="en-US" sz="900">
                <a:solidFill>
                  <a:srgbClr val="000000"/>
                </a:solidFill>
                <a:latin typeface="微软雅黑" panose="020B0503020204020204" charset="-122"/>
                <a:ea typeface="微软雅黑" panose="020B0503020204020204" charset="-122"/>
                <a:sym typeface="+mn-ea"/>
              </a:rPr>
              <a:t>智能</a:t>
            </a:r>
            <a:endParaRPr lang="zh-CN" altLang="en-US" sz="900">
              <a:solidFill>
                <a:srgbClr val="000000"/>
              </a:solidFill>
              <a:latin typeface="微软雅黑" panose="020B0503020204020204" charset="-122"/>
              <a:ea typeface="微软雅黑" panose="020B0503020204020204" charset="-122"/>
              <a:sym typeface="+mn-ea"/>
            </a:endParaRPr>
          </a:p>
          <a:p>
            <a:r>
              <a:rPr lang="zh-CN" altLang="en-US" sz="900">
                <a:solidFill>
                  <a:srgbClr val="000000"/>
                </a:solidFill>
                <a:latin typeface="微软雅黑" panose="020B0503020204020204" charset="-122"/>
                <a:ea typeface="微软雅黑" panose="020B0503020204020204" charset="-122"/>
                <a:sym typeface="+mn-ea"/>
              </a:rPr>
              <a:t>电表</a:t>
            </a:r>
            <a:endParaRPr lang="zh-CN" altLang="en-US" sz="900">
              <a:solidFill>
                <a:srgbClr val="000000"/>
              </a:solidFill>
              <a:latin typeface="微软雅黑" panose="020B0503020204020204" charset="-122"/>
              <a:ea typeface="微软雅黑" panose="020B0503020204020204" charset="-122"/>
              <a:sym typeface="+mn-ea"/>
            </a:endParaRPr>
          </a:p>
        </p:txBody>
      </p:sp>
      <p:sp>
        <p:nvSpPr>
          <p:cNvPr id="117" name="Rectangle 47"/>
          <p:cNvSpPr>
            <a:spLocks noChangeArrowheads="1"/>
          </p:cNvSpPr>
          <p:nvPr/>
        </p:nvSpPr>
        <p:spPr bwMode="auto">
          <a:xfrm>
            <a:off x="8164706" y="5808065"/>
            <a:ext cx="3525520" cy="840728"/>
          </a:xfrm>
          <a:prstGeom prst="rect">
            <a:avLst/>
          </a:prstGeom>
          <a:solidFill>
            <a:srgbClr val="F8F8F8"/>
          </a:solidFill>
          <a:ln w="9525">
            <a:solidFill>
              <a:srgbClr val="333399"/>
            </a:solidFill>
            <a:miter lim="800000"/>
          </a:ln>
          <a:effectLst>
            <a:outerShdw dist="35921" dir="2700000" algn="ctr" rotWithShape="0">
              <a:srgbClr val="808080"/>
            </a:outerShdw>
          </a:effectLst>
        </p:spPr>
        <p:txBody>
          <a:bodyPr wrap="none" anchor="ctr">
            <a:no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l" eaLnBrk="1" hangingPunct="1">
              <a:buClrTx/>
              <a:buSzTx/>
              <a:buFontTx/>
            </a:pPr>
            <a:endParaRPr lang="zh-CN" altLang="en-US" dirty="0">
              <a:solidFill>
                <a:srgbClr val="1C1C1C"/>
              </a:solidFill>
              <a:latin typeface="微软雅黑" panose="020B0503020204020204" charset="-122"/>
              <a:ea typeface="微软雅黑" panose="020B0503020204020204" charset="-122"/>
              <a:cs typeface="Times New Roman" panose="02020603050405020304" pitchFamily="18" charset="0"/>
              <a:sym typeface="+mn-ea"/>
            </a:endParaRPr>
          </a:p>
        </p:txBody>
      </p:sp>
      <p:sp>
        <p:nvSpPr>
          <p:cNvPr id="118" name="Rectangle 47"/>
          <p:cNvSpPr>
            <a:spLocks noChangeArrowheads="1"/>
          </p:cNvSpPr>
          <p:nvPr/>
        </p:nvSpPr>
        <p:spPr bwMode="auto">
          <a:xfrm>
            <a:off x="2757081" y="5814117"/>
            <a:ext cx="3525577" cy="825425"/>
          </a:xfrm>
          <a:prstGeom prst="rect">
            <a:avLst/>
          </a:prstGeom>
          <a:solidFill>
            <a:srgbClr val="F8F8F8"/>
          </a:solidFill>
          <a:ln w="9525">
            <a:solidFill>
              <a:srgbClr val="333399"/>
            </a:solidFill>
            <a:miter lim="800000"/>
          </a:ln>
          <a:effectLst>
            <a:outerShdw dist="35921" dir="2700000" algn="ctr" rotWithShape="0">
              <a:srgbClr val="808080"/>
            </a:outerShdw>
          </a:effectLst>
        </p:spPr>
        <p:txBody>
          <a:bodyPr wrap="none" anchor="ctr">
            <a:no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l" eaLnBrk="1" hangingPunct="1">
              <a:buClrTx/>
              <a:buSzTx/>
              <a:buFontTx/>
            </a:pPr>
            <a:endParaRPr lang="zh-CN" altLang="en-US" dirty="0">
              <a:solidFill>
                <a:srgbClr val="1C1C1C"/>
              </a:solidFill>
              <a:latin typeface="微软雅黑" panose="020B0503020204020204" charset="-122"/>
              <a:ea typeface="微软雅黑" panose="020B0503020204020204" charset="-122"/>
              <a:cs typeface="Times New Roman" panose="02020603050405020304" pitchFamily="18" charset="0"/>
              <a:sym typeface="+mn-ea"/>
            </a:endParaRPr>
          </a:p>
        </p:txBody>
      </p:sp>
      <p:pic>
        <p:nvPicPr>
          <p:cNvPr id="119" name="图片 118" descr="1"/>
          <p:cNvPicPr>
            <a:picLocks noChangeAspect="1"/>
          </p:cNvPicPr>
          <p:nvPr/>
        </p:nvPicPr>
        <p:blipFill>
          <a:blip r:embed="rId11"/>
          <a:stretch>
            <a:fillRect/>
          </a:stretch>
        </p:blipFill>
        <p:spPr>
          <a:xfrm>
            <a:off x="9505147" y="4776405"/>
            <a:ext cx="726441" cy="726441"/>
          </a:xfrm>
          <a:prstGeom prst="rect">
            <a:avLst/>
          </a:prstGeom>
        </p:spPr>
      </p:pic>
      <p:pic>
        <p:nvPicPr>
          <p:cNvPr id="120" name="文本框 28" descr="11"/>
          <p:cNvPicPr>
            <a:picLocks noChangeAspect="1"/>
          </p:cNvPicPr>
          <p:nvPr/>
        </p:nvPicPr>
        <p:blipFill>
          <a:blip r:embed="rId12"/>
          <a:stretch>
            <a:fillRect/>
          </a:stretch>
        </p:blipFill>
        <p:spPr>
          <a:xfrm>
            <a:off x="10718643" y="4784024"/>
            <a:ext cx="726441" cy="726441"/>
          </a:xfrm>
          <a:prstGeom prst="rect">
            <a:avLst/>
          </a:prstGeom>
          <a:noFill/>
        </p:spPr>
      </p:pic>
      <p:sp>
        <p:nvSpPr>
          <p:cNvPr id="121" name="TextBox 57"/>
          <p:cNvSpPr txBox="1">
            <a:spLocks noChangeArrowheads="1"/>
          </p:cNvSpPr>
          <p:nvPr/>
        </p:nvSpPr>
        <p:spPr bwMode="auto">
          <a:xfrm>
            <a:off x="9402336" y="5356575"/>
            <a:ext cx="97975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900" b="1" dirty="0">
                <a:solidFill>
                  <a:srgbClr val="000000"/>
                </a:solidFill>
                <a:latin typeface="微软雅黑" panose="020B0503020204020204" charset="-122"/>
                <a:ea typeface="微软雅黑" panose="020B0503020204020204" charset="-122"/>
                <a:cs typeface="微软雅黑" panose="020B0503020204020204" charset="-122"/>
              </a:rPr>
              <a:t>INNO-6</a:t>
            </a: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键面板</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2" name="TextBox 57"/>
          <p:cNvSpPr txBox="1">
            <a:spLocks noChangeArrowheads="1"/>
          </p:cNvSpPr>
          <p:nvPr/>
        </p:nvSpPr>
        <p:spPr bwMode="auto">
          <a:xfrm>
            <a:off x="10424693" y="5356575"/>
            <a:ext cx="114486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900" b="1" dirty="0">
                <a:solidFill>
                  <a:srgbClr val="000000"/>
                </a:solidFill>
                <a:latin typeface="微软雅黑" panose="020B0503020204020204" charset="-122"/>
                <a:ea typeface="微软雅黑" panose="020B0503020204020204" charset="-122"/>
                <a:cs typeface="微软雅黑" panose="020B0503020204020204" charset="-122"/>
              </a:rPr>
              <a:t>INNO-6</a:t>
            </a: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键</a:t>
            </a:r>
            <a:r>
              <a:rPr lang="en-US" altLang="zh-CN" sz="900" b="1" dirty="0">
                <a:solidFill>
                  <a:srgbClr val="000000"/>
                </a:solidFill>
                <a:latin typeface="微软雅黑" panose="020B0503020204020204" charset="-122"/>
                <a:ea typeface="微软雅黑" panose="020B0503020204020204" charset="-122"/>
                <a:cs typeface="微软雅黑" panose="020B0503020204020204" charset="-122"/>
              </a:rPr>
              <a:t>-</a:t>
            </a: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高清屏</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endParaRPr>
          </a:p>
        </p:txBody>
      </p:sp>
      <p:cxnSp>
        <p:nvCxnSpPr>
          <p:cNvPr id="128" name="直接连接符 127"/>
          <p:cNvCxnSpPr/>
          <p:nvPr/>
        </p:nvCxnSpPr>
        <p:spPr>
          <a:xfrm>
            <a:off x="2457461" y="3837976"/>
            <a:ext cx="9232765"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a:off x="2457461" y="4747320"/>
            <a:ext cx="9232765"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a:off x="2457461" y="5715465"/>
            <a:ext cx="9232765"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37" name="组合 136"/>
          <p:cNvGrpSpPr/>
          <p:nvPr/>
        </p:nvGrpSpPr>
        <p:grpSpPr>
          <a:xfrm>
            <a:off x="1372630" y="5814116"/>
            <a:ext cx="1249045" cy="825425"/>
            <a:chOff x="1369060" y="4673154"/>
            <a:chExt cx="1249045" cy="970280"/>
          </a:xfrm>
          <a:solidFill>
            <a:schemeClr val="accent1">
              <a:lumMod val="60000"/>
              <a:lumOff val="40000"/>
            </a:schemeClr>
          </a:solidFill>
        </p:grpSpPr>
        <p:sp>
          <p:nvSpPr>
            <p:cNvPr id="138" name="Rectangle 36"/>
            <p:cNvSpPr>
              <a:spLocks noChangeArrowheads="1"/>
            </p:cNvSpPr>
            <p:nvPr/>
          </p:nvSpPr>
          <p:spPr bwMode="auto">
            <a:xfrm>
              <a:off x="1369060" y="4675059"/>
              <a:ext cx="1041400" cy="968375"/>
            </a:xfrm>
            <a:prstGeom prst="rect">
              <a:avLst/>
            </a:prstGeom>
            <a:grpFill/>
            <a:ln w="9525">
              <a:noFill/>
              <a:miter lim="800000"/>
            </a:ln>
            <a:effectLst>
              <a:outerShdw dist="35921" dir="2700000" algn="ctr" rotWithShape="0">
                <a:schemeClr val="bg2"/>
              </a:outerShdw>
            </a:effectLst>
          </p:spPr>
          <p:txBody>
            <a:bodyPr wrap="none" anchor="ctr">
              <a:no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eaLnBrk="1" hangingPunct="1">
                <a:lnSpc>
                  <a:spcPct val="115000"/>
                </a:lnSpc>
                <a:buClrTx/>
                <a:buSzTx/>
                <a:buFontTx/>
              </a:pPr>
              <a:r>
                <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rPr>
                <a:t>灯具</a:t>
              </a:r>
              <a:endPar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endParaRPr>
            </a:p>
          </p:txBody>
        </p:sp>
        <p:sp>
          <p:nvSpPr>
            <p:cNvPr id="139" name="AutoShape 37"/>
            <p:cNvSpPr>
              <a:spLocks noChangeArrowheads="1"/>
            </p:cNvSpPr>
            <p:nvPr/>
          </p:nvSpPr>
          <p:spPr bwMode="auto">
            <a:xfrm>
              <a:off x="2480310" y="4673154"/>
              <a:ext cx="137795" cy="968375"/>
            </a:xfrm>
            <a:prstGeom prst="roundRect">
              <a:avLst>
                <a:gd name="adj" fmla="val 3083"/>
              </a:avLst>
            </a:prstGeom>
            <a:grpFill/>
            <a:ln w="9525">
              <a:noFill/>
              <a:miter lim="800000"/>
            </a:ln>
            <a:effectLst>
              <a:outerShdw dist="35921" dir="2700000" algn="ctr" rotWithShape="0">
                <a:schemeClr val="bg2"/>
              </a:outerShdw>
            </a:effectLst>
          </p:spPr>
          <p:txBody>
            <a:bodyPr wrap="none" anchor="ctr">
              <a:no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eaLnBrk="1" hangingPunct="1">
                <a:lnSpc>
                  <a:spcPct val="115000"/>
                </a:lnSpc>
                <a:buClrTx/>
                <a:buSzTx/>
                <a:buFontTx/>
              </a:pPr>
              <a:endParaRPr lang="zh-CN" altLang="en-US" sz="1400" dirty="0">
                <a:solidFill>
                  <a:schemeClr val="bg1"/>
                </a:solidFill>
                <a:latin typeface="微软雅黑" panose="020B0503020204020204" charset="-122"/>
                <a:ea typeface="微软雅黑" panose="020B0503020204020204" charset="-122"/>
                <a:cs typeface="Times New Roman" panose="02020603050405020304" pitchFamily="18" charset="0"/>
                <a:sym typeface="+mn-ea"/>
              </a:endParaRPr>
            </a:p>
          </p:txBody>
        </p:sp>
      </p:grpSp>
      <p:cxnSp>
        <p:nvCxnSpPr>
          <p:cNvPr id="146" name="直接连接符 145"/>
          <p:cNvCxnSpPr/>
          <p:nvPr/>
        </p:nvCxnSpPr>
        <p:spPr>
          <a:xfrm>
            <a:off x="7245752" y="1882965"/>
            <a:ext cx="0" cy="775568"/>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40" name="文本框 139"/>
          <p:cNvSpPr txBox="1"/>
          <p:nvPr/>
        </p:nvSpPr>
        <p:spPr>
          <a:xfrm>
            <a:off x="6623311" y="2810200"/>
            <a:ext cx="384198" cy="646331"/>
          </a:xfrm>
          <a:prstGeom prst="rect">
            <a:avLst/>
          </a:prstGeom>
          <a:noFill/>
        </p:spPr>
        <p:txBody>
          <a:bodyPr wrap="square" rtlCol="0">
            <a:spAutoFit/>
          </a:bodyPr>
          <a:lstStyle/>
          <a:p>
            <a:r>
              <a:rPr lang="zh-CN" altLang="en-US" dirty="0"/>
              <a:t>有线</a:t>
            </a:r>
            <a:endParaRPr lang="en-US" dirty="0"/>
          </a:p>
        </p:txBody>
      </p:sp>
      <p:sp>
        <p:nvSpPr>
          <p:cNvPr id="141" name="文本框 140"/>
          <p:cNvSpPr txBox="1"/>
          <p:nvPr/>
        </p:nvSpPr>
        <p:spPr>
          <a:xfrm>
            <a:off x="7354412" y="2810200"/>
            <a:ext cx="384198" cy="646331"/>
          </a:xfrm>
          <a:prstGeom prst="rect">
            <a:avLst/>
          </a:prstGeom>
          <a:noFill/>
        </p:spPr>
        <p:txBody>
          <a:bodyPr wrap="square" rtlCol="0">
            <a:spAutoFit/>
          </a:bodyPr>
          <a:lstStyle/>
          <a:p>
            <a:r>
              <a:rPr lang="zh-CN" altLang="en-US" dirty="0"/>
              <a:t>无线</a:t>
            </a:r>
            <a:endParaRPr lang="en-US" dirty="0"/>
          </a:p>
        </p:txBody>
      </p:sp>
      <p:sp>
        <p:nvSpPr>
          <p:cNvPr id="88" name="上箭头 55"/>
          <p:cNvSpPr/>
          <p:nvPr/>
        </p:nvSpPr>
        <p:spPr>
          <a:xfrm>
            <a:off x="6549617" y="1623750"/>
            <a:ext cx="1321435" cy="286282"/>
          </a:xfrm>
          <a:prstGeom prst="upArrow">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rPr>
              <a:t>TCP</a:t>
            </a:r>
            <a:endParaRPr lang="zh-CN" altLang="en-US" dirty="0">
              <a:latin typeface="微软雅黑" panose="020B0503020204020204" charset="-122"/>
              <a:ea typeface="微软雅黑" panose="020B0503020204020204" charset="-122"/>
            </a:endParaRPr>
          </a:p>
        </p:txBody>
      </p:sp>
      <p:pic>
        <p:nvPicPr>
          <p:cNvPr id="148" name="图片 147" descr="图片包含 游戏机, 物体, 灯, 房间&#10;&#10;AI 生成的内容可能不正确。"/>
          <p:cNvPicPr>
            <a:picLocks noChangeAspect="1"/>
          </p:cNvPicPr>
          <p:nvPr/>
        </p:nvPicPr>
        <p:blipFill>
          <a:blip r:embed="rId33" cstate="hqprint"/>
          <a:srcRect/>
          <a:stretch>
            <a:fillRect/>
          </a:stretch>
        </p:blipFill>
        <p:spPr>
          <a:xfrm>
            <a:off x="2925482" y="5970806"/>
            <a:ext cx="405894" cy="375736"/>
          </a:xfrm>
          <a:prstGeom prst="rect">
            <a:avLst/>
          </a:prstGeom>
        </p:spPr>
      </p:pic>
      <p:pic>
        <p:nvPicPr>
          <p:cNvPr id="149" name="Picture 2"/>
          <p:cNvPicPr>
            <a:picLocks noChangeAspect="1" noChangeArrowheads="1"/>
          </p:cNvPicPr>
          <p:nvPr/>
        </p:nvPicPr>
        <p:blipFill rotWithShape="1">
          <a:blip r:link="rId34">
            <a:extLst>
              <a:ext uri="{28A0092B-C50C-407E-A947-70E740481C1C}">
                <a14:useLocalDpi xmlns:a14="http://schemas.microsoft.com/office/drawing/2010/main" val="0"/>
              </a:ext>
            </a:extLst>
          </a:blip>
          <a:srcRect l="21278" t="16526" r="17080" b="10657"/>
          <a:stretch>
            <a:fillRect/>
          </a:stretch>
        </p:blipFill>
        <p:spPr bwMode="auto">
          <a:xfrm>
            <a:off x="3413363" y="5955284"/>
            <a:ext cx="344358" cy="406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 name="TextBox 57"/>
          <p:cNvSpPr txBox="1">
            <a:spLocks noChangeArrowheads="1"/>
          </p:cNvSpPr>
          <p:nvPr/>
        </p:nvSpPr>
        <p:spPr bwMode="auto">
          <a:xfrm>
            <a:off x="2936362" y="6386052"/>
            <a:ext cx="41549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筒灯</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51" name="TextBox 57"/>
          <p:cNvSpPr txBox="1">
            <a:spLocks noChangeArrowheads="1"/>
          </p:cNvSpPr>
          <p:nvPr/>
        </p:nvSpPr>
        <p:spPr bwMode="auto">
          <a:xfrm>
            <a:off x="3371501" y="6386052"/>
            <a:ext cx="41549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射灯</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endParaRPr>
          </a:p>
        </p:txBody>
      </p:sp>
      <p:pic>
        <p:nvPicPr>
          <p:cNvPr id="152" name="图片 151"/>
          <p:cNvPicPr>
            <a:picLocks noChangeAspect="1"/>
          </p:cNvPicPr>
          <p:nvPr/>
        </p:nvPicPr>
        <p:blipFill>
          <a:blip r:embed="rId35">
            <a:duotone>
              <a:prstClr val="black"/>
              <a:schemeClr val="accent3">
                <a:tint val="45000"/>
                <a:satMod val="400000"/>
              </a:schemeClr>
            </a:duotone>
          </a:blip>
          <a:srcRect/>
          <a:stretch>
            <a:fillRect/>
          </a:stretch>
        </p:blipFill>
        <p:spPr>
          <a:xfrm>
            <a:off x="3835357" y="6035428"/>
            <a:ext cx="578646" cy="317916"/>
          </a:xfrm>
          <a:custGeom>
            <a:avLst/>
            <a:gdLst>
              <a:gd name="connsiteX0" fmla="*/ 0 w 2247692"/>
              <a:gd name="connsiteY0" fmla="*/ 0 h 1234912"/>
              <a:gd name="connsiteX1" fmla="*/ 39829 w 2247692"/>
              <a:gd name="connsiteY1" fmla="*/ 0 h 1234912"/>
              <a:gd name="connsiteX2" fmla="*/ 228392 w 2247692"/>
              <a:gd name="connsiteY2" fmla="*/ 787926 h 1234912"/>
              <a:gd name="connsiteX3" fmla="*/ 1881932 w 2247692"/>
              <a:gd name="connsiteY3" fmla="*/ 224046 h 1234912"/>
              <a:gd name="connsiteX4" fmla="*/ 1849409 w 2247692"/>
              <a:gd name="connsiteY4" fmla="*/ 0 h 1234912"/>
              <a:gd name="connsiteX5" fmla="*/ 2247692 w 2247692"/>
              <a:gd name="connsiteY5" fmla="*/ 0 h 1234912"/>
              <a:gd name="connsiteX6" fmla="*/ 2247692 w 2247692"/>
              <a:gd name="connsiteY6" fmla="*/ 1234912 h 1234912"/>
              <a:gd name="connsiteX7" fmla="*/ 0 w 2247692"/>
              <a:gd name="connsiteY7" fmla="*/ 1234912 h 1234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47692" h="1234912">
                <a:moveTo>
                  <a:pt x="0" y="0"/>
                </a:moveTo>
                <a:lnTo>
                  <a:pt x="39829" y="0"/>
                </a:lnTo>
                <a:lnTo>
                  <a:pt x="228392" y="787926"/>
                </a:lnTo>
                <a:lnTo>
                  <a:pt x="1881932" y="224046"/>
                </a:lnTo>
                <a:lnTo>
                  <a:pt x="1849409" y="0"/>
                </a:lnTo>
                <a:lnTo>
                  <a:pt x="2247692" y="0"/>
                </a:lnTo>
                <a:lnTo>
                  <a:pt x="2247692" y="1234912"/>
                </a:lnTo>
                <a:lnTo>
                  <a:pt x="0" y="1234912"/>
                </a:lnTo>
                <a:close/>
              </a:path>
            </a:pathLst>
          </a:custGeom>
          <a:effectLst>
            <a:outerShdw blurRad="317500" dist="114300" dir="5400000" sx="97000" sy="97000" algn="t" rotWithShape="0">
              <a:prstClr val="black">
                <a:alpha val="19000"/>
              </a:prstClr>
            </a:outerShdw>
          </a:effectLst>
        </p:spPr>
      </p:pic>
      <p:pic>
        <p:nvPicPr>
          <p:cNvPr id="153" name="图片 152" descr="银色的刀&#10;&#10;AI 生成的内容可能不正确。"/>
          <p:cNvPicPr>
            <a:picLocks noChangeAspect="1"/>
          </p:cNvPicPr>
          <p:nvPr/>
        </p:nvPicPr>
        <p:blipFill>
          <a:blip r:embed="rId36" cstate="print">
            <a:extLst>
              <a:ext uri="{28A0092B-C50C-407E-A947-70E740481C1C}">
                <a14:useLocalDpi xmlns:a14="http://schemas.microsoft.com/office/drawing/2010/main" val="0"/>
              </a:ext>
            </a:extLst>
          </a:blip>
          <a:stretch>
            <a:fillRect/>
          </a:stretch>
        </p:blipFill>
        <p:spPr>
          <a:xfrm>
            <a:off x="4505170" y="6020419"/>
            <a:ext cx="366452" cy="366452"/>
          </a:xfrm>
          <a:prstGeom prst="rect">
            <a:avLst/>
          </a:prstGeom>
        </p:spPr>
      </p:pic>
      <p:pic>
        <p:nvPicPr>
          <p:cNvPr id="154" name="图片 153" descr="卡通人物&#10;&#10;AI 生成的内容可能不正确。"/>
          <p:cNvPicPr>
            <a:picLocks noChangeAspect="1"/>
          </p:cNvPicPr>
          <p:nvPr/>
        </p:nvPicPr>
        <p:blipFill>
          <a:blip r:embed="rId37" cstate="print">
            <a:extLst>
              <a:ext uri="{28A0092B-C50C-407E-A947-70E740481C1C}">
                <a14:useLocalDpi xmlns:a14="http://schemas.microsoft.com/office/drawing/2010/main" val="0"/>
              </a:ext>
            </a:extLst>
          </a:blip>
          <a:srcRect l="19793" t="17481" r="24712" b="25313"/>
          <a:stretch>
            <a:fillRect/>
          </a:stretch>
        </p:blipFill>
        <p:spPr>
          <a:xfrm>
            <a:off x="4987416" y="6013196"/>
            <a:ext cx="586810" cy="377824"/>
          </a:xfrm>
          <a:prstGeom prst="rect">
            <a:avLst/>
          </a:prstGeom>
        </p:spPr>
      </p:pic>
      <p:pic>
        <p:nvPicPr>
          <p:cNvPr id="155" name="图片 154"/>
          <p:cNvPicPr>
            <a:picLocks noChangeAspect="1"/>
          </p:cNvPicPr>
          <p:nvPr/>
        </p:nvPicPr>
        <p:blipFill>
          <a:blip r:embed="rId38"/>
          <a:stretch>
            <a:fillRect/>
          </a:stretch>
        </p:blipFill>
        <p:spPr>
          <a:xfrm>
            <a:off x="5676359" y="6035428"/>
            <a:ext cx="506719" cy="311632"/>
          </a:xfrm>
          <a:prstGeom prst="rect">
            <a:avLst/>
          </a:prstGeom>
        </p:spPr>
      </p:pic>
      <p:sp>
        <p:nvSpPr>
          <p:cNvPr id="156" name="TextBox 57"/>
          <p:cNvSpPr txBox="1">
            <a:spLocks noChangeArrowheads="1"/>
          </p:cNvSpPr>
          <p:nvPr/>
        </p:nvSpPr>
        <p:spPr bwMode="auto">
          <a:xfrm>
            <a:off x="3847457" y="6386052"/>
            <a:ext cx="53091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线型灯</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57" name="TextBox 57"/>
          <p:cNvSpPr txBox="1">
            <a:spLocks noChangeArrowheads="1"/>
          </p:cNvSpPr>
          <p:nvPr/>
        </p:nvSpPr>
        <p:spPr bwMode="auto">
          <a:xfrm>
            <a:off x="4465825" y="6386052"/>
            <a:ext cx="41549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灯带</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58" name="TextBox 57"/>
          <p:cNvSpPr txBox="1">
            <a:spLocks noChangeArrowheads="1"/>
          </p:cNvSpPr>
          <p:nvPr/>
        </p:nvSpPr>
        <p:spPr bwMode="auto">
          <a:xfrm>
            <a:off x="5081520" y="6386052"/>
            <a:ext cx="41549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灯盘</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59" name="TextBox 57"/>
          <p:cNvSpPr txBox="1">
            <a:spLocks noChangeArrowheads="1"/>
          </p:cNvSpPr>
          <p:nvPr/>
        </p:nvSpPr>
        <p:spPr bwMode="auto">
          <a:xfrm>
            <a:off x="5610563" y="6386052"/>
            <a:ext cx="63831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900" b="1" dirty="0">
                <a:solidFill>
                  <a:srgbClr val="000000"/>
                </a:solidFill>
                <a:latin typeface="微软雅黑" panose="020B0503020204020204" charset="-122"/>
                <a:ea typeface="微软雅黑" panose="020B0503020204020204" charset="-122"/>
                <a:cs typeface="微软雅黑" panose="020B0503020204020204" charset="-122"/>
              </a:rPr>
              <a:t>SDL</a:t>
            </a: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天幕</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endParaRPr>
          </a:p>
        </p:txBody>
      </p:sp>
      <p:pic>
        <p:nvPicPr>
          <p:cNvPr id="160" name="图片 159" descr="图片包含 游戏机, 物体, 灯, 房间&#10;&#10;AI 生成的内容可能不正确。"/>
          <p:cNvPicPr>
            <a:picLocks noChangeAspect="1"/>
          </p:cNvPicPr>
          <p:nvPr/>
        </p:nvPicPr>
        <p:blipFill>
          <a:blip r:embed="rId33" cstate="hqprint"/>
          <a:srcRect/>
          <a:stretch>
            <a:fillRect/>
          </a:stretch>
        </p:blipFill>
        <p:spPr>
          <a:xfrm>
            <a:off x="8266556" y="5970806"/>
            <a:ext cx="405894" cy="375736"/>
          </a:xfrm>
          <a:prstGeom prst="rect">
            <a:avLst/>
          </a:prstGeom>
        </p:spPr>
      </p:pic>
      <p:pic>
        <p:nvPicPr>
          <p:cNvPr id="161" name="Picture 2"/>
          <p:cNvPicPr>
            <a:picLocks noChangeAspect="1" noChangeArrowheads="1"/>
          </p:cNvPicPr>
          <p:nvPr/>
        </p:nvPicPr>
        <p:blipFill rotWithShape="1">
          <a:blip r:link="rId34">
            <a:extLst>
              <a:ext uri="{28A0092B-C50C-407E-A947-70E740481C1C}">
                <a14:useLocalDpi xmlns:a14="http://schemas.microsoft.com/office/drawing/2010/main" val="0"/>
              </a:ext>
            </a:extLst>
          </a:blip>
          <a:srcRect l="21278" t="16526" r="17080" b="10657"/>
          <a:stretch>
            <a:fillRect/>
          </a:stretch>
        </p:blipFill>
        <p:spPr bwMode="auto">
          <a:xfrm>
            <a:off x="8754437" y="5955284"/>
            <a:ext cx="344358" cy="406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 name="TextBox 57"/>
          <p:cNvSpPr txBox="1">
            <a:spLocks noChangeArrowheads="1"/>
          </p:cNvSpPr>
          <p:nvPr/>
        </p:nvSpPr>
        <p:spPr bwMode="auto">
          <a:xfrm>
            <a:off x="8277436" y="6386052"/>
            <a:ext cx="41549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筒灯</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3" name="TextBox 57"/>
          <p:cNvSpPr txBox="1">
            <a:spLocks noChangeArrowheads="1"/>
          </p:cNvSpPr>
          <p:nvPr/>
        </p:nvSpPr>
        <p:spPr bwMode="auto">
          <a:xfrm>
            <a:off x="8712575" y="6386052"/>
            <a:ext cx="41549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射灯</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endParaRPr>
          </a:p>
        </p:txBody>
      </p:sp>
      <p:pic>
        <p:nvPicPr>
          <p:cNvPr id="164" name="图片 163"/>
          <p:cNvPicPr>
            <a:picLocks noChangeAspect="1"/>
          </p:cNvPicPr>
          <p:nvPr/>
        </p:nvPicPr>
        <p:blipFill>
          <a:blip r:embed="rId35">
            <a:duotone>
              <a:prstClr val="black"/>
              <a:schemeClr val="accent3">
                <a:tint val="45000"/>
                <a:satMod val="400000"/>
              </a:schemeClr>
            </a:duotone>
          </a:blip>
          <a:srcRect/>
          <a:stretch>
            <a:fillRect/>
          </a:stretch>
        </p:blipFill>
        <p:spPr>
          <a:xfrm>
            <a:off x="9176431" y="6035428"/>
            <a:ext cx="578646" cy="317916"/>
          </a:xfrm>
          <a:custGeom>
            <a:avLst/>
            <a:gdLst>
              <a:gd name="connsiteX0" fmla="*/ 0 w 2247692"/>
              <a:gd name="connsiteY0" fmla="*/ 0 h 1234912"/>
              <a:gd name="connsiteX1" fmla="*/ 39829 w 2247692"/>
              <a:gd name="connsiteY1" fmla="*/ 0 h 1234912"/>
              <a:gd name="connsiteX2" fmla="*/ 228392 w 2247692"/>
              <a:gd name="connsiteY2" fmla="*/ 787926 h 1234912"/>
              <a:gd name="connsiteX3" fmla="*/ 1881932 w 2247692"/>
              <a:gd name="connsiteY3" fmla="*/ 224046 h 1234912"/>
              <a:gd name="connsiteX4" fmla="*/ 1849409 w 2247692"/>
              <a:gd name="connsiteY4" fmla="*/ 0 h 1234912"/>
              <a:gd name="connsiteX5" fmla="*/ 2247692 w 2247692"/>
              <a:gd name="connsiteY5" fmla="*/ 0 h 1234912"/>
              <a:gd name="connsiteX6" fmla="*/ 2247692 w 2247692"/>
              <a:gd name="connsiteY6" fmla="*/ 1234912 h 1234912"/>
              <a:gd name="connsiteX7" fmla="*/ 0 w 2247692"/>
              <a:gd name="connsiteY7" fmla="*/ 1234912 h 1234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47692" h="1234912">
                <a:moveTo>
                  <a:pt x="0" y="0"/>
                </a:moveTo>
                <a:lnTo>
                  <a:pt x="39829" y="0"/>
                </a:lnTo>
                <a:lnTo>
                  <a:pt x="228392" y="787926"/>
                </a:lnTo>
                <a:lnTo>
                  <a:pt x="1881932" y="224046"/>
                </a:lnTo>
                <a:lnTo>
                  <a:pt x="1849409" y="0"/>
                </a:lnTo>
                <a:lnTo>
                  <a:pt x="2247692" y="0"/>
                </a:lnTo>
                <a:lnTo>
                  <a:pt x="2247692" y="1234912"/>
                </a:lnTo>
                <a:lnTo>
                  <a:pt x="0" y="1234912"/>
                </a:lnTo>
                <a:close/>
              </a:path>
            </a:pathLst>
          </a:custGeom>
          <a:effectLst>
            <a:outerShdw blurRad="317500" dist="114300" dir="5400000" sx="97000" sy="97000" algn="t" rotWithShape="0">
              <a:prstClr val="black">
                <a:alpha val="19000"/>
              </a:prstClr>
            </a:outerShdw>
          </a:effectLst>
        </p:spPr>
      </p:pic>
      <p:pic>
        <p:nvPicPr>
          <p:cNvPr id="165" name="图片 164" descr="银色的刀&#10;&#10;AI 生成的内容可能不正确。"/>
          <p:cNvPicPr>
            <a:picLocks noChangeAspect="1"/>
          </p:cNvPicPr>
          <p:nvPr/>
        </p:nvPicPr>
        <p:blipFill>
          <a:blip r:embed="rId36" cstate="print">
            <a:extLst>
              <a:ext uri="{28A0092B-C50C-407E-A947-70E740481C1C}">
                <a14:useLocalDpi xmlns:a14="http://schemas.microsoft.com/office/drawing/2010/main" val="0"/>
              </a:ext>
            </a:extLst>
          </a:blip>
          <a:stretch>
            <a:fillRect/>
          </a:stretch>
        </p:blipFill>
        <p:spPr>
          <a:xfrm>
            <a:off x="9846244" y="6020419"/>
            <a:ext cx="366452" cy="366452"/>
          </a:xfrm>
          <a:prstGeom prst="rect">
            <a:avLst/>
          </a:prstGeom>
        </p:spPr>
      </p:pic>
      <p:pic>
        <p:nvPicPr>
          <p:cNvPr id="166" name="图片 165" descr="卡通人物&#10;&#10;AI 生成的内容可能不正确。"/>
          <p:cNvPicPr>
            <a:picLocks noChangeAspect="1"/>
          </p:cNvPicPr>
          <p:nvPr/>
        </p:nvPicPr>
        <p:blipFill>
          <a:blip r:embed="rId37" cstate="print">
            <a:extLst>
              <a:ext uri="{28A0092B-C50C-407E-A947-70E740481C1C}">
                <a14:useLocalDpi xmlns:a14="http://schemas.microsoft.com/office/drawing/2010/main" val="0"/>
              </a:ext>
            </a:extLst>
          </a:blip>
          <a:srcRect l="19793" t="17481" r="24712" b="25313"/>
          <a:stretch>
            <a:fillRect/>
          </a:stretch>
        </p:blipFill>
        <p:spPr>
          <a:xfrm>
            <a:off x="10328490" y="6013196"/>
            <a:ext cx="586810" cy="377824"/>
          </a:xfrm>
          <a:prstGeom prst="rect">
            <a:avLst/>
          </a:prstGeom>
        </p:spPr>
      </p:pic>
      <p:pic>
        <p:nvPicPr>
          <p:cNvPr id="167" name="图片 166"/>
          <p:cNvPicPr>
            <a:picLocks noChangeAspect="1"/>
          </p:cNvPicPr>
          <p:nvPr/>
        </p:nvPicPr>
        <p:blipFill>
          <a:blip r:embed="rId39" cstate="print">
            <a:extLst>
              <a:ext uri="{28A0092B-C50C-407E-A947-70E740481C1C}">
                <a14:useLocalDpi xmlns:a14="http://schemas.microsoft.com/office/drawing/2010/main" val="0"/>
              </a:ext>
            </a:extLst>
          </a:blip>
          <a:srcRect/>
          <a:stretch>
            <a:fillRect/>
          </a:stretch>
        </p:blipFill>
        <p:spPr>
          <a:xfrm>
            <a:off x="11045725" y="6035428"/>
            <a:ext cx="450134" cy="311632"/>
          </a:xfrm>
          <a:prstGeom prst="rect">
            <a:avLst/>
          </a:prstGeom>
        </p:spPr>
      </p:pic>
      <p:sp>
        <p:nvSpPr>
          <p:cNvPr id="168" name="TextBox 57"/>
          <p:cNvSpPr txBox="1">
            <a:spLocks noChangeArrowheads="1"/>
          </p:cNvSpPr>
          <p:nvPr/>
        </p:nvSpPr>
        <p:spPr bwMode="auto">
          <a:xfrm>
            <a:off x="9188531" y="6386052"/>
            <a:ext cx="53091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线型灯</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9" name="TextBox 57"/>
          <p:cNvSpPr txBox="1">
            <a:spLocks noChangeArrowheads="1"/>
          </p:cNvSpPr>
          <p:nvPr/>
        </p:nvSpPr>
        <p:spPr bwMode="auto">
          <a:xfrm>
            <a:off x="9806899" y="6386052"/>
            <a:ext cx="41549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灯带</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70" name="TextBox 57"/>
          <p:cNvSpPr txBox="1">
            <a:spLocks noChangeArrowheads="1"/>
          </p:cNvSpPr>
          <p:nvPr/>
        </p:nvSpPr>
        <p:spPr bwMode="auto">
          <a:xfrm>
            <a:off x="10422594" y="6386052"/>
            <a:ext cx="41549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灯盘</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71" name="TextBox 57"/>
          <p:cNvSpPr txBox="1">
            <a:spLocks noChangeArrowheads="1"/>
          </p:cNvSpPr>
          <p:nvPr/>
        </p:nvSpPr>
        <p:spPr bwMode="auto">
          <a:xfrm>
            <a:off x="10951637" y="6386052"/>
            <a:ext cx="63831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algn="ctr" eaLnBrk="1" hangingPunct="1"/>
            <a:r>
              <a:rPr lang="en-US" altLang="zh-CN" sz="900" b="1" dirty="0">
                <a:solidFill>
                  <a:srgbClr val="000000"/>
                </a:solidFill>
                <a:latin typeface="微软雅黑" panose="020B0503020204020204" charset="-122"/>
                <a:ea typeface="微软雅黑" panose="020B0503020204020204" charset="-122"/>
                <a:cs typeface="微软雅黑" panose="020B0503020204020204" charset="-122"/>
              </a:rPr>
              <a:t>SDL</a:t>
            </a:r>
            <a:r>
              <a:rPr lang="zh-CN" altLang="en-US" sz="900" b="1" dirty="0">
                <a:solidFill>
                  <a:srgbClr val="000000"/>
                </a:solidFill>
                <a:latin typeface="微软雅黑" panose="020B0503020204020204" charset="-122"/>
                <a:ea typeface="微软雅黑" panose="020B0503020204020204" charset="-122"/>
                <a:cs typeface="微软雅黑" panose="020B0503020204020204" charset="-122"/>
              </a:rPr>
              <a:t>天境</a:t>
            </a:r>
            <a:endParaRPr lang="zh-CN" altLang="en-US" sz="900" b="1" dirty="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页脚占位符 4"/>
          <p:cNvSpPr txBox="1"/>
          <p:nvPr/>
        </p:nvSpPr>
        <p:spPr>
          <a:xfrm>
            <a:off x="349074" y="307808"/>
            <a:ext cx="8270813" cy="411525"/>
          </a:xfrm>
          <a:prstGeom prst="rect">
            <a:avLst/>
          </a:prstGeom>
        </p:spPr>
        <p:txBody>
          <a:bodyPr vert="horz" lIns="121913" tIns="60956" rIns="121913" bIns="60956" rtlCol="0" anchor="ctr"/>
          <a:lstStyle>
            <a:defPPr>
              <a:defRPr lang="zh-CN"/>
            </a:defPPr>
            <a:lvl1pPr marL="0" algn="ctr" defTabSz="914400" rtl="0" eaLnBrk="1" latinLnBrk="0" hangingPunct="1">
              <a:defRPr sz="1200" kern="1200">
                <a:solidFill>
                  <a:srgbClr val="00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914400">
              <a:defRPr/>
            </a:pPr>
            <a:r>
              <a:rPr lang="zh-CN" altLang="zh-CN" sz="2400" b="1" dirty="0">
                <a:latin typeface="+mn-ea"/>
                <a:sym typeface="+mn-ea"/>
              </a:rPr>
              <a:t>消防应急照明和疏散指示系统</a:t>
            </a:r>
            <a:endParaRPr lang="zh-CN" altLang="en-US" sz="2400" b="1" dirty="0">
              <a:solidFill>
                <a:schemeClr val="tx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 name="文本框 3"/>
          <p:cNvSpPr txBox="1"/>
          <p:nvPr/>
        </p:nvSpPr>
        <p:spPr>
          <a:xfrm>
            <a:off x="5280385" y="659264"/>
            <a:ext cx="4695580" cy="5910907"/>
          </a:xfrm>
          <a:prstGeom prst="rect">
            <a:avLst/>
          </a:prstGeom>
          <a:noFill/>
        </p:spPr>
        <p:txBody>
          <a:bodyPr wrap="square" rtlCol="0" anchor="t">
            <a:noAutofit/>
          </a:bodyPr>
          <a:p>
            <a:pPr marL="15240" algn="l" rtl="0" eaLnBrk="0">
              <a:lnSpc>
                <a:spcPct val="200000"/>
              </a:lnSpc>
            </a:pPr>
            <a:r>
              <a:rPr lang="zh-CN" altLang="zh-CN" sz="1200" dirty="0">
                <a:latin typeface="+mn-ea"/>
                <a:sym typeface="+mn-ea"/>
              </a:rPr>
              <a:t>在火灾等紧急情况下，为人员的安全疏散和灭火救援行动提供必要的照度条件及正确的疏指示信息；</a:t>
            </a:r>
            <a:endParaRPr lang="zh-CN" altLang="zh-CN" sz="1200" dirty="0">
              <a:latin typeface="+mn-ea"/>
              <a:sym typeface="+mn-ea"/>
            </a:endParaRPr>
          </a:p>
          <a:p>
            <a:pPr marL="15240" algn="l" rtl="0" eaLnBrk="0">
              <a:lnSpc>
                <a:spcPct val="200000"/>
              </a:lnSpc>
            </a:pPr>
            <a:r>
              <a:rPr lang="zh-CN" sz="1600" b="1" dirty="0">
                <a:latin typeface="+mn-ea"/>
                <a:sym typeface="+mn-ea"/>
              </a:rPr>
              <a:t>核心价值：消照一体</a:t>
            </a:r>
            <a:endParaRPr lang="zh-CN" sz="1600" b="1" dirty="0">
              <a:latin typeface="+mn-ea"/>
              <a:sym typeface="+mn-ea"/>
            </a:endParaRPr>
          </a:p>
          <a:p>
            <a:pPr marL="15240" algn="l" rtl="0" eaLnBrk="0">
              <a:lnSpc>
                <a:spcPct val="200000"/>
              </a:lnSpc>
            </a:pPr>
            <a:r>
              <a:rPr lang="zh-CN" altLang="zh-CN" sz="1200" dirty="0">
                <a:latin typeface="+mn-ea"/>
                <a:sym typeface="+mn-ea"/>
              </a:rPr>
              <a:t>采用感应款应急照明灯具取代常规照明灯具（减少布线和灯具成本）</a:t>
            </a:r>
            <a:endParaRPr lang="zh-CN" altLang="zh-CN" sz="1200" b="1" dirty="0">
              <a:solidFill>
                <a:srgbClr val="FF0000"/>
              </a:solidFill>
              <a:latin typeface="+mn-ea"/>
              <a:sym typeface="+mn-ea"/>
            </a:endParaRPr>
          </a:p>
          <a:p>
            <a:pPr marL="15240" algn="l" rtl="0" eaLnBrk="0">
              <a:lnSpc>
                <a:spcPct val="200000"/>
              </a:lnSpc>
            </a:pPr>
            <a:r>
              <a:rPr lang="zh-CN" sz="1600" b="1" dirty="0">
                <a:latin typeface="+mn-ea"/>
                <a:sym typeface="+mn-ea"/>
              </a:rPr>
              <a:t>系统构成概述</a:t>
            </a:r>
            <a:endParaRPr lang="zh-CN" sz="1600" b="1" dirty="0">
              <a:latin typeface="+mn-ea"/>
              <a:sym typeface="+mn-ea"/>
            </a:endParaRPr>
          </a:p>
          <a:p>
            <a:pPr marL="12700" algn="l" rtl="0" eaLnBrk="0">
              <a:lnSpc>
                <a:spcPct val="200000"/>
              </a:lnSpc>
            </a:pPr>
            <a:r>
              <a:rPr lang="en-US" altLang="zh-CN" sz="1600" b="1" dirty="0">
                <a:latin typeface="+mn-ea"/>
                <a:sym typeface="+mn-ea"/>
              </a:rPr>
              <a:t>1</a:t>
            </a:r>
            <a:r>
              <a:rPr lang="zh-CN" altLang="en-US" sz="1600" b="1" dirty="0">
                <a:latin typeface="+mn-ea"/>
                <a:sym typeface="+mn-ea"/>
              </a:rPr>
              <a:t>、</a:t>
            </a:r>
            <a:r>
              <a:rPr lang="zh-CN" altLang="zh-CN" sz="1600" b="1" dirty="0">
                <a:latin typeface="+mn-ea"/>
                <a:sym typeface="+mn-ea"/>
              </a:rPr>
              <a:t>系统特性</a:t>
            </a:r>
            <a:endParaRPr lang="zh-CN" altLang="zh-CN" sz="1600" b="1" dirty="0">
              <a:latin typeface="+mn-ea"/>
              <a:sym typeface="+mn-ea"/>
            </a:endParaRPr>
          </a:p>
          <a:p>
            <a:pPr marL="12700" algn="l" rtl="0" eaLnBrk="0">
              <a:lnSpc>
                <a:spcPct val="200000"/>
              </a:lnSpc>
            </a:pPr>
            <a:r>
              <a:rPr lang="zh-CN" altLang="zh-CN" sz="1200" dirty="0">
                <a:latin typeface="+mn-ea"/>
                <a:sym typeface="+mn-ea"/>
              </a:rPr>
              <a:t>自由接线拓扑、带地址码出货，大幅减轻施工单位工作量及辅材；</a:t>
            </a:r>
            <a:endParaRPr lang="zh-CN" altLang="zh-CN" sz="1200" dirty="0">
              <a:latin typeface="+mn-ea"/>
              <a:sym typeface="+mn-ea"/>
            </a:endParaRPr>
          </a:p>
          <a:p>
            <a:pPr marL="12700" algn="l" rtl="0" eaLnBrk="0">
              <a:lnSpc>
                <a:spcPct val="200000"/>
              </a:lnSpc>
            </a:pPr>
            <a:r>
              <a:rPr lang="en-US" altLang="zh-CN" sz="1600" b="1" dirty="0">
                <a:latin typeface="+mn-ea"/>
                <a:sym typeface="+mn-ea"/>
              </a:rPr>
              <a:t>2、安装调</a:t>
            </a:r>
            <a:r>
              <a:rPr lang="zh-CN" altLang="zh-CN" sz="1600" b="1" dirty="0">
                <a:latin typeface="+mn-ea"/>
                <a:sym typeface="+mn-ea"/>
              </a:rPr>
              <a:t>试简单，缩减70%的调试安装时间</a:t>
            </a:r>
            <a:endParaRPr lang="zh-CN" altLang="zh-CN" sz="1600" b="1" dirty="0">
              <a:latin typeface="+mn-ea"/>
            </a:endParaRPr>
          </a:p>
          <a:p>
            <a:pPr algn="l" rtl="0" eaLnBrk="0">
              <a:lnSpc>
                <a:spcPct val="200000"/>
              </a:lnSpc>
              <a:spcBef>
                <a:spcPts val="5"/>
              </a:spcBef>
            </a:pPr>
            <a:r>
              <a:rPr lang="zh-CN" altLang="zh-CN" sz="1200" dirty="0">
                <a:latin typeface="+mn-ea"/>
                <a:sym typeface="+mn-ea"/>
              </a:rPr>
              <a:t>一个大型项目(5000点位)往往需要一 周以上调试时间，使用一键搜灯可满足2天内完成调试；</a:t>
            </a:r>
            <a:endParaRPr lang="zh-CN" altLang="zh-CN" sz="1600" b="1" dirty="0">
              <a:latin typeface="+mn-ea"/>
              <a:sym typeface="+mn-ea"/>
            </a:endParaRPr>
          </a:p>
          <a:p>
            <a:pPr marL="13970" algn="l" rtl="0" eaLnBrk="0">
              <a:lnSpc>
                <a:spcPct val="200000"/>
              </a:lnSpc>
            </a:pPr>
            <a:r>
              <a:rPr lang="en-US" altLang="zh-CN" sz="1600" b="1" dirty="0">
                <a:latin typeface="+mn-ea"/>
                <a:sym typeface="+mn-ea"/>
              </a:rPr>
              <a:t>3、预案设置简单</a:t>
            </a:r>
            <a:r>
              <a:rPr lang="zh-CN" altLang="zh-CN" sz="1600" b="1" dirty="0">
                <a:latin typeface="+mn-ea"/>
                <a:sym typeface="+mn-ea"/>
              </a:rPr>
              <a:t>，稳定高效</a:t>
            </a:r>
            <a:endParaRPr lang="zh-CN" altLang="zh-CN" sz="1600" b="1" dirty="0">
              <a:latin typeface="+mn-ea"/>
              <a:sym typeface="+mn-ea"/>
            </a:endParaRPr>
          </a:p>
          <a:p>
            <a:pPr marL="13970" algn="l" rtl="0" eaLnBrk="0">
              <a:lnSpc>
                <a:spcPct val="200000"/>
              </a:lnSpc>
            </a:pPr>
            <a:r>
              <a:rPr lang="zh-CN" altLang="zh-CN" sz="1200" dirty="0">
                <a:latin typeface="+mn-ea"/>
                <a:sym typeface="+mn-ea"/>
              </a:rPr>
              <a:t>疏散预案的设置离不开地图位置信息和设备地址码的绑定，使用扫码APP可免去调试人员大量录入时间；</a:t>
            </a:r>
            <a:endParaRPr lang="zh-CN" altLang="zh-CN" sz="1200" dirty="0">
              <a:latin typeface="+mn-ea"/>
              <a:sym typeface="+mn-ea"/>
            </a:endParaRPr>
          </a:p>
          <a:p>
            <a:pPr marL="13970" algn="l" rtl="0" eaLnBrk="0">
              <a:lnSpc>
                <a:spcPct val="200000"/>
              </a:lnSpc>
            </a:pPr>
            <a:r>
              <a:rPr lang="en-US" altLang="zh-CN" sz="1600" b="1" dirty="0">
                <a:latin typeface="+mn-ea"/>
                <a:sym typeface="+mn-ea"/>
              </a:rPr>
              <a:t>4、家族化外观设计</a:t>
            </a:r>
            <a:r>
              <a:rPr lang="zh-CN" altLang="en-US" sz="1600" b="1" dirty="0">
                <a:latin typeface="+mn-ea"/>
                <a:sym typeface="+mn-ea"/>
              </a:rPr>
              <a:t>、</a:t>
            </a:r>
            <a:r>
              <a:rPr lang="en-US" altLang="zh-CN" sz="1600" b="1" dirty="0">
                <a:latin typeface="+mn-ea"/>
                <a:sym typeface="+mn-ea"/>
              </a:rPr>
              <a:t>人性化的</a:t>
            </a:r>
            <a:r>
              <a:rPr lang="zh-CN" altLang="en-US" sz="1600" b="1" dirty="0">
                <a:latin typeface="+mn-ea"/>
                <a:sym typeface="+mn-ea"/>
              </a:rPr>
              <a:t>易用</a:t>
            </a:r>
            <a:r>
              <a:rPr lang="zh-CN" altLang="zh-CN" sz="1600" b="1" dirty="0">
                <a:latin typeface="+mn-ea"/>
                <a:sym typeface="+mn-ea"/>
              </a:rPr>
              <a:t>界面</a:t>
            </a:r>
            <a:endParaRPr lang="zh-CN" altLang="en-US" sz="1600" b="1" kern="0" spc="20" dirty="0">
              <a:solidFill>
                <a:srgbClr val="000000">
                  <a:alpha val="100000"/>
                </a:srgbClr>
              </a:solidFill>
              <a:latin typeface="+mn-ea"/>
              <a:ea typeface="黑体" panose="02010609060101010101" charset="-122"/>
              <a:cs typeface="黑体" panose="02010609060101010101" charset="-122"/>
              <a:sym typeface="+mn-ea"/>
            </a:endParaRPr>
          </a:p>
        </p:txBody>
      </p:sp>
      <p:pic>
        <p:nvPicPr>
          <p:cNvPr id="9" name="图片 8"/>
          <p:cNvPicPr>
            <a:picLocks noChangeAspect="1"/>
          </p:cNvPicPr>
          <p:nvPr/>
        </p:nvPicPr>
        <p:blipFill>
          <a:blip r:embed="rId1"/>
          <a:stretch>
            <a:fillRect/>
          </a:stretch>
        </p:blipFill>
        <p:spPr>
          <a:xfrm>
            <a:off x="10658238" y="760234"/>
            <a:ext cx="966420" cy="1259774"/>
          </a:xfrm>
          <a:prstGeom prst="rect">
            <a:avLst/>
          </a:prstGeom>
        </p:spPr>
      </p:pic>
      <p:pic>
        <p:nvPicPr>
          <p:cNvPr id="10" name="图片 9"/>
          <p:cNvPicPr>
            <a:picLocks noChangeAspect="1"/>
          </p:cNvPicPr>
          <p:nvPr/>
        </p:nvPicPr>
        <p:blipFill>
          <a:blip r:embed="rId2"/>
          <a:stretch>
            <a:fillRect/>
          </a:stretch>
        </p:blipFill>
        <p:spPr>
          <a:xfrm>
            <a:off x="10662933" y="2485439"/>
            <a:ext cx="957028" cy="1259934"/>
          </a:xfrm>
          <a:prstGeom prst="rect">
            <a:avLst/>
          </a:prstGeom>
        </p:spPr>
      </p:pic>
      <p:sp>
        <p:nvSpPr>
          <p:cNvPr id="11" name="文本框 10"/>
          <p:cNvSpPr txBox="1"/>
          <p:nvPr/>
        </p:nvSpPr>
        <p:spPr>
          <a:xfrm>
            <a:off x="10653793" y="2049217"/>
            <a:ext cx="975309" cy="306705"/>
          </a:xfrm>
          <a:prstGeom prst="rect">
            <a:avLst/>
          </a:prstGeom>
          <a:noFill/>
        </p:spPr>
        <p:txBody>
          <a:bodyPr wrap="square" rtlCol="0" anchor="t">
            <a:spAutoFit/>
          </a:bodyPr>
          <a:p>
            <a:r>
              <a:rPr lang="zh-CN" sz="1400" kern="0" spc="-2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集中电源</a:t>
            </a:r>
            <a:endParaRPr lang="zh-CN" sz="1400" kern="0" spc="-2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 name="文本框 1"/>
          <p:cNvSpPr txBox="1"/>
          <p:nvPr/>
        </p:nvSpPr>
        <p:spPr>
          <a:xfrm>
            <a:off x="10357581" y="3822679"/>
            <a:ext cx="1567733" cy="306705"/>
          </a:xfrm>
          <a:prstGeom prst="rect">
            <a:avLst/>
          </a:prstGeom>
          <a:noFill/>
        </p:spPr>
        <p:txBody>
          <a:bodyPr wrap="square" rtlCol="0" anchor="t">
            <a:spAutoFit/>
          </a:bodyPr>
          <a:p>
            <a:r>
              <a:rPr lang="zh-CN" sz="1400" kern="0" spc="-2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应急照明控制器</a:t>
            </a:r>
            <a:endParaRPr lang="zh-CN" sz="1400" kern="0" spc="-2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endParaRPr>
          </a:p>
        </p:txBody>
      </p:sp>
      <p:pic>
        <p:nvPicPr>
          <p:cNvPr id="15" name="图片 14"/>
          <p:cNvPicPr>
            <a:picLocks noChangeAspect="1"/>
          </p:cNvPicPr>
          <p:nvPr/>
        </p:nvPicPr>
        <p:blipFill>
          <a:blip r:embed="rId3"/>
          <a:stretch>
            <a:fillRect/>
          </a:stretch>
        </p:blipFill>
        <p:spPr>
          <a:xfrm>
            <a:off x="10522355" y="4277951"/>
            <a:ext cx="1238186" cy="812758"/>
          </a:xfrm>
          <a:prstGeom prst="rect">
            <a:avLst/>
          </a:prstGeom>
        </p:spPr>
      </p:pic>
      <p:pic>
        <p:nvPicPr>
          <p:cNvPr id="16" name="图片 15" descr="酒店只提供员工房"/>
          <p:cNvPicPr>
            <a:picLocks noChangeAspect="1"/>
          </p:cNvPicPr>
          <p:nvPr/>
        </p:nvPicPr>
        <p:blipFill>
          <a:blip r:embed="rId4"/>
          <a:srcRect l="1054"/>
          <a:stretch>
            <a:fillRect/>
          </a:stretch>
        </p:blipFill>
        <p:spPr>
          <a:xfrm>
            <a:off x="1014042" y="865004"/>
            <a:ext cx="4085377" cy="3265000"/>
          </a:xfrm>
          <a:prstGeom prst="rect">
            <a:avLst/>
          </a:prstGeom>
        </p:spPr>
      </p:pic>
      <p:sp>
        <p:nvSpPr>
          <p:cNvPr id="17" name="文本框 16"/>
          <p:cNvSpPr txBox="1"/>
          <p:nvPr/>
        </p:nvSpPr>
        <p:spPr>
          <a:xfrm>
            <a:off x="10563628" y="5090708"/>
            <a:ext cx="1155640" cy="306705"/>
          </a:xfrm>
          <a:prstGeom prst="rect">
            <a:avLst/>
          </a:prstGeom>
          <a:noFill/>
        </p:spPr>
        <p:txBody>
          <a:bodyPr wrap="square" rtlCol="0" anchor="t">
            <a:spAutoFit/>
          </a:bodyPr>
          <a:p>
            <a:r>
              <a:rPr lang="zh-CN" sz="1400" kern="0" spc="-2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北极星系列</a:t>
            </a:r>
            <a:endParaRPr lang="zh-CN" sz="1400" kern="0" spc="-2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8" name="文本框 17"/>
          <p:cNvSpPr txBox="1"/>
          <p:nvPr/>
        </p:nvSpPr>
        <p:spPr>
          <a:xfrm>
            <a:off x="10582359" y="6263492"/>
            <a:ext cx="1118177" cy="306705"/>
          </a:xfrm>
          <a:prstGeom prst="rect">
            <a:avLst/>
          </a:prstGeom>
          <a:noFill/>
        </p:spPr>
        <p:txBody>
          <a:bodyPr wrap="square" rtlCol="0" anchor="t">
            <a:spAutoFit/>
          </a:bodyPr>
          <a:p>
            <a:r>
              <a:rPr lang="zh-CN" sz="1400" kern="0" spc="-2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北极星系列</a:t>
            </a:r>
            <a:endParaRPr lang="zh-CN" sz="1400" kern="0" spc="-2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endParaRPr>
          </a:p>
        </p:txBody>
      </p:sp>
      <p:pic>
        <p:nvPicPr>
          <p:cNvPr id="19" name="图片 18"/>
          <p:cNvPicPr>
            <a:picLocks noChangeAspect="1"/>
          </p:cNvPicPr>
          <p:nvPr/>
        </p:nvPicPr>
        <p:blipFill>
          <a:blip r:embed="rId5"/>
          <a:srcRect l="8601" t="18211" r="8036" b="19526"/>
          <a:stretch>
            <a:fillRect/>
          </a:stretch>
        </p:blipFill>
        <p:spPr>
          <a:xfrm>
            <a:off x="10387424" y="5511692"/>
            <a:ext cx="1508046" cy="636872"/>
          </a:xfrm>
          <a:prstGeom prst="rect">
            <a:avLst/>
          </a:prstGeom>
        </p:spPr>
      </p:pic>
      <p:pic>
        <p:nvPicPr>
          <p:cNvPr id="20" name="图片 19"/>
          <p:cNvPicPr>
            <a:picLocks noChangeAspect="1"/>
          </p:cNvPicPr>
          <p:nvPr/>
        </p:nvPicPr>
        <p:blipFill>
          <a:blip r:embed="rId6"/>
          <a:stretch>
            <a:fillRect/>
          </a:stretch>
        </p:blipFill>
        <p:spPr>
          <a:xfrm>
            <a:off x="1014042" y="3808710"/>
            <a:ext cx="4084742" cy="2702419"/>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506451" y="223564"/>
            <a:ext cx="2685550" cy="44627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医院照明产品介绍</a:t>
            </a:r>
            <a:endParaRPr kumimoji="0" lang="en-US" altLang="zh-CN" sz="1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a:p>
            <a:pPr marL="0" marR="0" lvl="0" indent="0" algn="l" defTabSz="914400" rtl="0" eaLnBrk="1" fontAlgn="base" latinLnBrk="0" hangingPunct="1">
              <a:lnSpc>
                <a:spcPct val="100000"/>
              </a:lnSpc>
              <a:spcBef>
                <a:spcPts val="0"/>
              </a:spcBef>
              <a:spcAft>
                <a:spcPts val="0"/>
              </a:spcAft>
              <a:buClrTx/>
              <a:buSzTx/>
              <a:buFontTx/>
              <a:buNone/>
              <a:defRPr/>
            </a:pPr>
            <a:r>
              <a:rPr kumimoji="0" lang="en-US" altLang="zh-CN" sz="7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Introduction to Convenience Store Lighting Products</a:t>
            </a:r>
            <a:endParaRPr kumimoji="0" lang="en-US" altLang="zh-CN" sz="7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nvGrpSpPr>
          <p:cNvPr id="8" name="组合 7"/>
          <p:cNvGrpSpPr/>
          <p:nvPr/>
        </p:nvGrpSpPr>
        <p:grpSpPr>
          <a:xfrm>
            <a:off x="645225" y="735487"/>
            <a:ext cx="1041696" cy="220243"/>
            <a:chOff x="2774711" y="2691633"/>
            <a:chExt cx="1685529" cy="356367"/>
          </a:xfrm>
        </p:grpSpPr>
        <p:sp>
          <p:nvSpPr>
            <p:cNvPr id="7" name="等腰三角形 6"/>
            <p:cNvSpPr/>
            <p:nvPr/>
          </p:nvSpPr>
          <p:spPr>
            <a:xfrm>
              <a:off x="2774711" y="2691633"/>
              <a:ext cx="472894" cy="355983"/>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5" name="箭头: V 形 4"/>
            <p:cNvSpPr/>
            <p:nvPr/>
          </p:nvSpPr>
          <p:spPr>
            <a:xfrm rot="10800000">
              <a:off x="3891280" y="2692400"/>
              <a:ext cx="568960" cy="355600"/>
            </a:xfrm>
            <a:prstGeom prst="chevron">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charset="-122"/>
                <a:cs typeface="+mn-cs"/>
              </a:endParaRPr>
            </a:p>
          </p:txBody>
        </p:sp>
        <p:sp>
          <p:nvSpPr>
            <p:cNvPr id="6" name="矩形 5"/>
            <p:cNvSpPr/>
            <p:nvPr/>
          </p:nvSpPr>
          <p:spPr>
            <a:xfrm>
              <a:off x="3015946" y="2692017"/>
              <a:ext cx="1259840" cy="3556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grpSp>
      <p:sp>
        <p:nvSpPr>
          <p:cNvPr id="9" name="文本框 8"/>
          <p:cNvSpPr txBox="1"/>
          <p:nvPr/>
        </p:nvSpPr>
        <p:spPr>
          <a:xfrm>
            <a:off x="905355" y="718146"/>
            <a:ext cx="785264"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灯盘</a:t>
            </a:r>
            <a:b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charset="-122"/>
                <a:cs typeface="+mn-cs"/>
              </a:rPr>
            </a:br>
            <a:endParaRPr kumimoji="0" lang="zh-CN" altLang="en-US" sz="6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nvGrpSpPr>
          <p:cNvPr id="17" name="组合 16"/>
          <p:cNvGrpSpPr/>
          <p:nvPr/>
        </p:nvGrpSpPr>
        <p:grpSpPr>
          <a:xfrm>
            <a:off x="3296415" y="715887"/>
            <a:ext cx="1309998" cy="369332"/>
            <a:chOff x="910401" y="1354264"/>
            <a:chExt cx="1309998" cy="369332"/>
          </a:xfrm>
        </p:grpSpPr>
        <p:grpSp>
          <p:nvGrpSpPr>
            <p:cNvPr id="18" name="组合 17"/>
            <p:cNvGrpSpPr/>
            <p:nvPr/>
          </p:nvGrpSpPr>
          <p:grpSpPr>
            <a:xfrm>
              <a:off x="910401" y="1372020"/>
              <a:ext cx="1041696" cy="220243"/>
              <a:chOff x="2774711" y="2691633"/>
              <a:chExt cx="1685529" cy="356367"/>
            </a:xfrm>
          </p:grpSpPr>
          <p:sp>
            <p:nvSpPr>
              <p:cNvPr id="20" name="等腰三角形 19"/>
              <p:cNvSpPr/>
              <p:nvPr/>
            </p:nvSpPr>
            <p:spPr>
              <a:xfrm>
                <a:off x="2774711" y="2691633"/>
                <a:ext cx="472894" cy="355983"/>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21" name="箭头: V 形 20"/>
              <p:cNvSpPr/>
              <p:nvPr/>
            </p:nvSpPr>
            <p:spPr>
              <a:xfrm rot="10800000">
                <a:off x="3891280" y="2692400"/>
                <a:ext cx="568960" cy="355600"/>
              </a:xfrm>
              <a:prstGeom prst="chevron">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charset="-122"/>
                  <a:cs typeface="+mn-cs"/>
                </a:endParaRPr>
              </a:p>
            </p:txBody>
          </p:sp>
          <p:sp>
            <p:nvSpPr>
              <p:cNvPr id="22" name="矩形 21"/>
              <p:cNvSpPr/>
              <p:nvPr/>
            </p:nvSpPr>
            <p:spPr>
              <a:xfrm>
                <a:off x="3015946" y="2692017"/>
                <a:ext cx="1259840" cy="3556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grpSp>
        <p:sp>
          <p:nvSpPr>
            <p:cNvPr id="19" name="文本框 18"/>
            <p:cNvSpPr txBox="1"/>
            <p:nvPr/>
          </p:nvSpPr>
          <p:spPr>
            <a:xfrm>
              <a:off x="1155023" y="1354264"/>
              <a:ext cx="106537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线形类</a:t>
              </a:r>
              <a:b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charset="-122"/>
                  <a:cs typeface="+mn-cs"/>
                </a:rPr>
              </a:br>
              <a:endParaRPr kumimoji="0" lang="zh-CN" altLang="en-US" sz="6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sp>
        <p:nvSpPr>
          <p:cNvPr id="63" name="矩形 62"/>
          <p:cNvSpPr/>
          <p:nvPr/>
        </p:nvSpPr>
        <p:spPr>
          <a:xfrm>
            <a:off x="3417866" y="2019699"/>
            <a:ext cx="833883" cy="1846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办公线形</a:t>
            </a:r>
            <a:r>
              <a:rPr kumimoji="0" lang="en-US" altLang="zh-CN"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a:t>
            </a: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朗界系列</a:t>
            </a:r>
            <a:endPar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pic>
        <p:nvPicPr>
          <p:cNvPr id="70" name="图片 69">
            <a:hlinkClick r:id="" action="ppaction://noaction"/>
          </p:cNvPr>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flipH="1">
            <a:off x="3396227" y="4588367"/>
            <a:ext cx="877563" cy="645915"/>
          </a:xfrm>
          <a:prstGeom prst="rect">
            <a:avLst/>
          </a:prstGeom>
          <a:ln w="3175">
            <a:solidFill>
              <a:schemeClr val="bg1">
                <a:lumMod val="75000"/>
              </a:schemeClr>
            </a:solidFill>
          </a:ln>
        </p:spPr>
      </p:pic>
      <p:sp>
        <p:nvSpPr>
          <p:cNvPr id="71" name="矩形 70"/>
          <p:cNvSpPr/>
          <p:nvPr/>
        </p:nvSpPr>
        <p:spPr>
          <a:xfrm>
            <a:off x="3573247" y="5340876"/>
            <a:ext cx="511679" cy="1846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低压灯带</a:t>
            </a:r>
            <a:endPar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pic>
        <p:nvPicPr>
          <p:cNvPr id="41" name="图片 40">
            <a:hlinkClick r:id="" action="ppaction://noaction"/>
          </p:cNvPr>
          <p:cNvPicPr>
            <a:picLocks noChangeAspect="1"/>
          </p:cNvPicPr>
          <p:nvPr/>
        </p:nvPicPr>
        <p:blipFill>
          <a:blip r:embed="rId2"/>
          <a:stretch>
            <a:fillRect/>
          </a:stretch>
        </p:blipFill>
        <p:spPr>
          <a:xfrm>
            <a:off x="5616373" y="5488379"/>
            <a:ext cx="959254" cy="645915"/>
          </a:xfrm>
          <a:prstGeom prst="rect">
            <a:avLst/>
          </a:prstGeom>
          <a:noFill/>
          <a:ln w="3175">
            <a:noFill/>
          </a:ln>
        </p:spPr>
      </p:pic>
      <p:sp>
        <p:nvSpPr>
          <p:cNvPr id="42" name="矩形 41"/>
          <p:cNvSpPr/>
          <p:nvPr/>
        </p:nvSpPr>
        <p:spPr>
          <a:xfrm>
            <a:off x="5847144" y="6278830"/>
            <a:ext cx="697006" cy="18466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筒灯</a:t>
            </a:r>
            <a:r>
              <a:rPr kumimoji="0" lang="en-US" altLang="zh-CN"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a:t>
            </a: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玻钻系列</a:t>
            </a:r>
            <a:endPar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grpSp>
        <p:nvGrpSpPr>
          <p:cNvPr id="3" name="组合 2"/>
          <p:cNvGrpSpPr/>
          <p:nvPr/>
        </p:nvGrpSpPr>
        <p:grpSpPr>
          <a:xfrm>
            <a:off x="642760" y="3256794"/>
            <a:ext cx="1065375" cy="1172660"/>
            <a:chOff x="476155" y="1377281"/>
            <a:chExt cx="1065375" cy="1172660"/>
          </a:xfrm>
        </p:grpSpPr>
        <p:sp>
          <p:nvSpPr>
            <p:cNvPr id="37" name="矩形 36"/>
            <p:cNvSpPr/>
            <p:nvPr/>
          </p:nvSpPr>
          <p:spPr>
            <a:xfrm>
              <a:off x="663765" y="2365275"/>
              <a:ext cx="756938" cy="1846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健康灯盘</a:t>
              </a:r>
              <a:r>
                <a:rPr kumimoji="0" lang="en-US" altLang="zh-CN"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a:t>
              </a: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康系列</a:t>
              </a:r>
              <a:endPar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pic>
          <p:nvPicPr>
            <p:cNvPr id="4" name="图片 3">
              <a:hlinkClick r:id="rId3" action="ppaction://hlinksldjump"/>
            </p:cNvPr>
            <p:cNvPicPr>
              <a:picLocks noChangeAspect="1"/>
            </p:cNvPicPr>
            <p:nvPr/>
          </p:nvPicPr>
          <p:blipFill>
            <a:blip r:embed="rId4" cstate="print">
              <a:extLst>
                <a:ext uri="{28A0092B-C50C-407E-A947-70E740481C1C}">
                  <a14:useLocalDpi xmlns:a14="http://schemas.microsoft.com/office/drawing/2010/main" val="0"/>
                </a:ext>
              </a:extLst>
            </a:blip>
            <a:srcRect l="23560" t="5035" r="24878" b="6307"/>
            <a:stretch>
              <a:fillRect/>
            </a:stretch>
          </p:blipFill>
          <p:spPr>
            <a:xfrm>
              <a:off x="476155" y="1377281"/>
              <a:ext cx="1065375" cy="1030431"/>
            </a:xfrm>
            <a:prstGeom prst="rect">
              <a:avLst/>
            </a:prstGeom>
          </p:spPr>
        </p:pic>
      </p:grpSp>
      <p:grpSp>
        <p:nvGrpSpPr>
          <p:cNvPr id="24" name="组合 23"/>
          <p:cNvGrpSpPr/>
          <p:nvPr/>
        </p:nvGrpSpPr>
        <p:grpSpPr>
          <a:xfrm>
            <a:off x="582392" y="4483470"/>
            <a:ext cx="1278358" cy="1097590"/>
            <a:chOff x="4448027" y="4128107"/>
            <a:chExt cx="1278358" cy="1097590"/>
          </a:xfrm>
        </p:grpSpPr>
        <p:sp>
          <p:nvSpPr>
            <p:cNvPr id="38" name="矩形 37"/>
            <p:cNvSpPr/>
            <p:nvPr/>
          </p:nvSpPr>
          <p:spPr>
            <a:xfrm>
              <a:off x="4646207" y="5041031"/>
              <a:ext cx="833883" cy="1846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高光效灯盘</a:t>
              </a:r>
              <a:r>
                <a:rPr kumimoji="0" lang="en-US" altLang="zh-CN"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a:t>
              </a: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昱系列</a:t>
              </a:r>
              <a:endPar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pic>
          <p:nvPicPr>
            <p:cNvPr id="43" name="图片 42" descr="卡通人物&#10;&#10;AI 生成的内容可能不正确。">
              <a:hlinkClick r:id="" action="ppaction://noaction"/>
            </p:cNvPr>
            <p:cNvPicPr>
              <a:picLocks noChangeAspect="1"/>
            </p:cNvPicPr>
            <p:nvPr/>
          </p:nvPicPr>
          <p:blipFill>
            <a:blip r:embed="rId5" cstate="print">
              <a:extLst>
                <a:ext uri="{28A0092B-C50C-407E-A947-70E740481C1C}">
                  <a14:useLocalDpi xmlns:a14="http://schemas.microsoft.com/office/drawing/2010/main" val="0"/>
                </a:ext>
              </a:extLst>
            </a:blip>
            <a:srcRect l="19793" t="17481" r="24712" b="25313"/>
            <a:stretch>
              <a:fillRect/>
            </a:stretch>
          </p:blipFill>
          <p:spPr>
            <a:xfrm>
              <a:off x="4448027" y="4128107"/>
              <a:ext cx="1278358" cy="823084"/>
            </a:xfrm>
            <a:prstGeom prst="rect">
              <a:avLst/>
            </a:prstGeom>
          </p:spPr>
        </p:pic>
      </p:grpSp>
      <p:grpSp>
        <p:nvGrpSpPr>
          <p:cNvPr id="25" name="组合 24"/>
          <p:cNvGrpSpPr/>
          <p:nvPr/>
        </p:nvGrpSpPr>
        <p:grpSpPr>
          <a:xfrm>
            <a:off x="560713" y="1237017"/>
            <a:ext cx="1274599" cy="970011"/>
            <a:chOff x="560713" y="1526142"/>
            <a:chExt cx="1274599" cy="970011"/>
          </a:xfrm>
        </p:grpSpPr>
        <p:pic>
          <p:nvPicPr>
            <p:cNvPr id="15" name="图片 14">
              <a:hlinkClick r:id="rId6" action="ppaction://hlinksldjump"/>
            </p:cNvPr>
            <p:cNvPicPr>
              <a:picLocks noChangeAspect="1"/>
            </p:cNvPicPr>
            <p:nvPr/>
          </p:nvPicPr>
          <p:blipFill>
            <a:blip r:embed="rId7">
              <a:clrChange>
                <a:clrFrom>
                  <a:srgbClr val="FFFFFF"/>
                </a:clrFrom>
                <a:clrTo>
                  <a:srgbClr val="FFFFFF">
                    <a:alpha val="0"/>
                  </a:srgbClr>
                </a:clrTo>
              </a:clrChange>
            </a:blip>
            <a:stretch>
              <a:fillRect/>
            </a:stretch>
          </p:blipFill>
          <p:spPr>
            <a:xfrm>
              <a:off x="560713" y="1526142"/>
              <a:ext cx="1274599" cy="740506"/>
            </a:xfrm>
            <a:prstGeom prst="rect">
              <a:avLst/>
            </a:prstGeom>
          </p:spPr>
        </p:pic>
        <p:sp>
          <p:nvSpPr>
            <p:cNvPr id="23" name="矩形 22"/>
            <p:cNvSpPr/>
            <p:nvPr/>
          </p:nvSpPr>
          <p:spPr>
            <a:xfrm>
              <a:off x="956102" y="2311487"/>
              <a:ext cx="482824" cy="1846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SDL</a:t>
              </a: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天境</a:t>
              </a:r>
              <a:endPar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grpSp>
      <p:grpSp>
        <p:nvGrpSpPr>
          <p:cNvPr id="36" name="组合 35"/>
          <p:cNvGrpSpPr/>
          <p:nvPr/>
        </p:nvGrpSpPr>
        <p:grpSpPr>
          <a:xfrm>
            <a:off x="697613" y="2261151"/>
            <a:ext cx="1065375" cy="849761"/>
            <a:chOff x="697613" y="1991453"/>
            <a:chExt cx="1065375" cy="849761"/>
          </a:xfrm>
        </p:grpSpPr>
        <p:pic>
          <p:nvPicPr>
            <p:cNvPr id="74" name="图片 73" descr="图片包含 桌子, 游戏机, 躺, 电脑&#10;&#10;AI 生成的内容可能不正确。">
              <a:hlinkClick r:id="" action="ppaction://noaction"/>
            </p:cNvPr>
            <p:cNvPicPr>
              <a:picLocks noChangeAspect="1"/>
            </p:cNvPicPr>
            <p:nvPr/>
          </p:nvPicPr>
          <p:blipFill>
            <a:blip r:embed="rId8" cstate="print">
              <a:extLst>
                <a:ext uri="{28A0092B-C50C-407E-A947-70E740481C1C}">
                  <a14:useLocalDpi xmlns:a14="http://schemas.microsoft.com/office/drawing/2010/main" val="0"/>
                </a:ext>
              </a:extLst>
            </a:blip>
            <a:srcRect l="8912" t="25384" r="2719" b="20103"/>
            <a:stretch>
              <a:fillRect/>
            </a:stretch>
          </p:blipFill>
          <p:spPr>
            <a:xfrm rot="10800000">
              <a:off x="697613" y="1991453"/>
              <a:ext cx="1065375" cy="657206"/>
            </a:xfrm>
            <a:prstGeom prst="rect">
              <a:avLst/>
            </a:prstGeom>
          </p:spPr>
        </p:pic>
        <p:sp>
          <p:nvSpPr>
            <p:cNvPr id="27" name="矩形 26"/>
            <p:cNvSpPr/>
            <p:nvPr/>
          </p:nvSpPr>
          <p:spPr>
            <a:xfrm>
              <a:off x="951868" y="2656548"/>
              <a:ext cx="492443" cy="1846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太空灯盘</a:t>
              </a:r>
              <a:endPar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grpSp>
      <p:pic>
        <p:nvPicPr>
          <p:cNvPr id="40" name="图片 39" descr="图片包含 户外, 灯光, 停止, 一群&#10;&#10;AI 生成的内容可能不正确。">
            <a:hlinkClick r:id="" action="ppaction://noaction"/>
          </p:cNvPr>
          <p:cNvPicPr>
            <a:picLocks noChangeAspect="1"/>
          </p:cNvPicPr>
          <p:nvPr/>
        </p:nvPicPr>
        <p:blipFill>
          <a:blip r:embed="rId9" cstate="print">
            <a:extLst>
              <a:ext uri="{28A0092B-C50C-407E-A947-70E740481C1C}">
                <a14:useLocalDpi xmlns:a14="http://schemas.microsoft.com/office/drawing/2010/main" val="0"/>
              </a:ext>
            </a:extLst>
          </a:blip>
          <a:srcRect t="41734"/>
          <a:stretch>
            <a:fillRect/>
          </a:stretch>
        </p:blipFill>
        <p:spPr>
          <a:xfrm>
            <a:off x="3272735" y="1278157"/>
            <a:ext cx="1065376" cy="620536"/>
          </a:xfrm>
          <a:prstGeom prst="rect">
            <a:avLst/>
          </a:prstGeom>
        </p:spPr>
      </p:pic>
      <p:pic>
        <p:nvPicPr>
          <p:cNvPr id="44" name="图片 43">
            <a:hlinkClick r:id="" action="ppaction://noaction"/>
          </p:cNvPr>
          <p:cNvPicPr>
            <a:picLocks noChangeAspect="1"/>
          </p:cNvPicPr>
          <p:nvPr/>
        </p:nvPicPr>
        <p:blipFill rotWithShape="1">
          <a:blip r:embed="rId10" cstate="print">
            <a:extLst>
              <a:ext uri="{28A0092B-C50C-407E-A947-70E740481C1C}">
                <a14:useLocalDpi xmlns:a14="http://schemas.microsoft.com/office/drawing/2010/main" val="0"/>
              </a:ext>
            </a:extLst>
          </a:blip>
          <a:srcRect l="11709" t="10486" b="19099"/>
          <a:stretch>
            <a:fillRect/>
          </a:stretch>
        </p:blipFill>
        <p:spPr>
          <a:xfrm>
            <a:off x="3249689" y="2261151"/>
            <a:ext cx="1268779" cy="631753"/>
          </a:xfrm>
          <a:prstGeom prst="rect">
            <a:avLst/>
          </a:prstGeom>
        </p:spPr>
      </p:pic>
      <p:sp>
        <p:nvSpPr>
          <p:cNvPr id="45" name="矩形 44"/>
          <p:cNvSpPr/>
          <p:nvPr/>
        </p:nvSpPr>
        <p:spPr>
          <a:xfrm>
            <a:off x="3417866" y="2926246"/>
            <a:ext cx="833883" cy="1846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办公线形</a:t>
            </a:r>
            <a:r>
              <a:rPr kumimoji="0" lang="en-US" altLang="zh-CN"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a:t>
            </a: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朗型系列</a:t>
            </a:r>
            <a:endPar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pic>
        <p:nvPicPr>
          <p:cNvPr id="75" name="图片 74" descr="图标, 箭头&#10;&#10;AI 生成的内容可能不正确。">
            <a:hlinkClick r:id="" action="ppaction://noaction"/>
          </p:cNvPr>
          <p:cNvPicPr>
            <a:picLocks noChangeAspect="1"/>
          </p:cNvPicPr>
          <p:nvPr/>
        </p:nvPicPr>
        <p:blipFill>
          <a:blip r:embed="rId11" cstate="print">
            <a:extLst>
              <a:ext uri="{28A0092B-C50C-407E-A947-70E740481C1C}">
                <a14:useLocalDpi xmlns:a14="http://schemas.microsoft.com/office/drawing/2010/main" val="0"/>
              </a:ext>
            </a:extLst>
          </a:blip>
          <a:srcRect l="26298" t="31145" r="20418" b="23118"/>
          <a:stretch>
            <a:fillRect/>
          </a:stretch>
        </p:blipFill>
        <p:spPr>
          <a:xfrm>
            <a:off x="3249689" y="3433150"/>
            <a:ext cx="1262472" cy="67771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8" name="矩形 77"/>
          <p:cNvSpPr/>
          <p:nvPr/>
        </p:nvSpPr>
        <p:spPr>
          <a:xfrm>
            <a:off x="3417866" y="4250020"/>
            <a:ext cx="833883" cy="1846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办公线形</a:t>
            </a:r>
            <a:r>
              <a:rPr kumimoji="0" lang="en-US" altLang="zh-CN"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a:t>
            </a: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朗逸系列</a:t>
            </a:r>
            <a:endPar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pic>
        <p:nvPicPr>
          <p:cNvPr id="82" name="图片 81" descr="图片包含 正方形&#10;&#10;AI 生成的内容可能不正确。">
            <a:hlinkClick r:id="rId12" action="ppaction://hlinksldjump"/>
          </p:cNvPr>
          <p:cNvPicPr>
            <a:picLocks noChangeAspect="1"/>
          </p:cNvPicPr>
          <p:nvPr/>
        </p:nvPicPr>
        <p:blipFill>
          <a:blip r:embed="rId13" cstate="print">
            <a:extLst>
              <a:ext uri="{28A0092B-C50C-407E-A947-70E740481C1C}">
                <a14:useLocalDpi xmlns:a14="http://schemas.microsoft.com/office/drawing/2010/main" val="0"/>
              </a:ext>
            </a:extLst>
          </a:blip>
          <a:srcRect t="19440" b="22082"/>
          <a:stretch>
            <a:fillRect/>
          </a:stretch>
        </p:blipFill>
        <p:spPr>
          <a:xfrm>
            <a:off x="7632108" y="1237017"/>
            <a:ext cx="1124164" cy="657383"/>
          </a:xfrm>
          <a:prstGeom prst="rect">
            <a:avLst/>
          </a:prstGeom>
        </p:spPr>
      </p:pic>
      <p:sp>
        <p:nvSpPr>
          <p:cNvPr id="83" name="矩形 82"/>
          <p:cNvSpPr/>
          <p:nvPr/>
        </p:nvSpPr>
        <p:spPr>
          <a:xfrm>
            <a:off x="7858358" y="1885190"/>
            <a:ext cx="756938" cy="1846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洁净灯盘</a:t>
            </a:r>
            <a:r>
              <a:rPr kumimoji="0" lang="en-US" altLang="zh-CN"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a:t>
            </a: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尚系列</a:t>
            </a:r>
            <a:endPar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pic>
        <p:nvPicPr>
          <p:cNvPr id="86" name="图片 85" descr="图片包含 游戏机, 灯, 灯光&#10;&#10;AI 生成的内容可能不正确。">
            <a:hlinkClick r:id="" action="ppaction://noaction"/>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3325550" y="5609263"/>
            <a:ext cx="926199" cy="447570"/>
          </a:xfrm>
          <a:prstGeom prst="rect">
            <a:avLst/>
          </a:prstGeom>
        </p:spPr>
      </p:pic>
      <p:sp>
        <p:nvSpPr>
          <p:cNvPr id="87" name="矩形 86"/>
          <p:cNvSpPr/>
          <p:nvPr/>
        </p:nvSpPr>
        <p:spPr>
          <a:xfrm>
            <a:off x="3338948" y="6112401"/>
            <a:ext cx="957313" cy="1846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T8</a:t>
            </a: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自组网</a:t>
            </a:r>
            <a:r>
              <a:rPr kumimoji="0" lang="en-US" altLang="zh-CN"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&amp;</a:t>
            </a: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高光效灯管</a:t>
            </a:r>
            <a:endPar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grpSp>
        <p:nvGrpSpPr>
          <p:cNvPr id="88" name="组合 87"/>
          <p:cNvGrpSpPr/>
          <p:nvPr/>
        </p:nvGrpSpPr>
        <p:grpSpPr>
          <a:xfrm>
            <a:off x="5545262" y="715887"/>
            <a:ext cx="1309998" cy="369332"/>
            <a:chOff x="910401" y="1354264"/>
            <a:chExt cx="1309998" cy="369332"/>
          </a:xfrm>
        </p:grpSpPr>
        <p:grpSp>
          <p:nvGrpSpPr>
            <p:cNvPr id="89" name="组合 88"/>
            <p:cNvGrpSpPr/>
            <p:nvPr/>
          </p:nvGrpSpPr>
          <p:grpSpPr>
            <a:xfrm>
              <a:off x="910401" y="1372020"/>
              <a:ext cx="1041696" cy="220243"/>
              <a:chOff x="2774711" y="2691633"/>
              <a:chExt cx="1685529" cy="356367"/>
            </a:xfrm>
          </p:grpSpPr>
          <p:sp>
            <p:nvSpPr>
              <p:cNvPr id="91" name="等腰三角形 90"/>
              <p:cNvSpPr/>
              <p:nvPr/>
            </p:nvSpPr>
            <p:spPr>
              <a:xfrm>
                <a:off x="2774711" y="2691633"/>
                <a:ext cx="472894" cy="355983"/>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92" name="箭头: V 形 91"/>
              <p:cNvSpPr/>
              <p:nvPr/>
            </p:nvSpPr>
            <p:spPr>
              <a:xfrm rot="10800000">
                <a:off x="3891280" y="2692400"/>
                <a:ext cx="568960" cy="355600"/>
              </a:xfrm>
              <a:prstGeom prst="chevron">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charset="-122"/>
                  <a:cs typeface="+mn-cs"/>
                </a:endParaRPr>
              </a:p>
            </p:txBody>
          </p:sp>
          <p:sp>
            <p:nvSpPr>
              <p:cNvPr id="93" name="矩形 92"/>
              <p:cNvSpPr/>
              <p:nvPr/>
            </p:nvSpPr>
            <p:spPr>
              <a:xfrm>
                <a:off x="3015946" y="2692017"/>
                <a:ext cx="1259840" cy="3556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grpSp>
        <p:sp>
          <p:nvSpPr>
            <p:cNvPr id="90" name="文本框 89"/>
            <p:cNvSpPr txBox="1"/>
            <p:nvPr/>
          </p:nvSpPr>
          <p:spPr>
            <a:xfrm>
              <a:off x="1155023" y="1354264"/>
              <a:ext cx="106537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筒射灯</a:t>
              </a:r>
              <a:b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charset="-122"/>
                  <a:cs typeface="+mn-cs"/>
                </a:rPr>
              </a:br>
              <a:endParaRPr kumimoji="0" lang="zh-CN" altLang="en-US" sz="6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grpSp>
        <p:nvGrpSpPr>
          <p:cNvPr id="94" name="组合 93"/>
          <p:cNvGrpSpPr/>
          <p:nvPr/>
        </p:nvGrpSpPr>
        <p:grpSpPr>
          <a:xfrm>
            <a:off x="7641894" y="715887"/>
            <a:ext cx="1309998" cy="369332"/>
            <a:chOff x="910401" y="1354264"/>
            <a:chExt cx="1309998" cy="369332"/>
          </a:xfrm>
        </p:grpSpPr>
        <p:grpSp>
          <p:nvGrpSpPr>
            <p:cNvPr id="95" name="组合 94"/>
            <p:cNvGrpSpPr/>
            <p:nvPr/>
          </p:nvGrpSpPr>
          <p:grpSpPr>
            <a:xfrm>
              <a:off x="910401" y="1372020"/>
              <a:ext cx="1041696" cy="220243"/>
              <a:chOff x="2774711" y="2691633"/>
              <a:chExt cx="1685529" cy="356367"/>
            </a:xfrm>
          </p:grpSpPr>
          <p:sp>
            <p:nvSpPr>
              <p:cNvPr id="97" name="等腰三角形 96"/>
              <p:cNvSpPr/>
              <p:nvPr/>
            </p:nvSpPr>
            <p:spPr>
              <a:xfrm>
                <a:off x="2774711" y="2691633"/>
                <a:ext cx="472894" cy="355983"/>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98" name="箭头: V 形 97"/>
              <p:cNvSpPr/>
              <p:nvPr/>
            </p:nvSpPr>
            <p:spPr>
              <a:xfrm rot="10800000">
                <a:off x="3891280" y="2692400"/>
                <a:ext cx="568960" cy="355600"/>
              </a:xfrm>
              <a:prstGeom prst="chevron">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charset="-122"/>
                  <a:cs typeface="+mn-cs"/>
                </a:endParaRPr>
              </a:p>
            </p:txBody>
          </p:sp>
          <p:sp>
            <p:nvSpPr>
              <p:cNvPr id="99" name="矩形 98"/>
              <p:cNvSpPr/>
              <p:nvPr/>
            </p:nvSpPr>
            <p:spPr>
              <a:xfrm>
                <a:off x="3015946" y="2692017"/>
                <a:ext cx="1259840" cy="3556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grpSp>
        <p:sp>
          <p:nvSpPr>
            <p:cNvPr id="96" name="文本框 95"/>
            <p:cNvSpPr txBox="1"/>
            <p:nvPr/>
          </p:nvSpPr>
          <p:spPr>
            <a:xfrm>
              <a:off x="1155023" y="1354264"/>
              <a:ext cx="106537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洁净灯</a:t>
              </a:r>
              <a:b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charset="-122"/>
                  <a:cs typeface="+mn-cs"/>
                </a:rPr>
              </a:br>
              <a:endParaRPr kumimoji="0" lang="zh-CN" altLang="en-US" sz="6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pic>
        <p:nvPicPr>
          <p:cNvPr id="100" name="图片 99" descr="图片包含 灯, 游戏机&#10;&#10;AI 生成的内容可能不正确。">
            <a:hlinkClick r:id="" action="ppaction://noaction"/>
          </p:cNvPr>
          <p:cNvPicPr>
            <a:picLocks noChangeAspect="1"/>
          </p:cNvPicPr>
          <p:nvPr/>
        </p:nvPicPr>
        <p:blipFill>
          <a:blip r:embed="rId15" cstate="print">
            <a:extLst>
              <a:ext uri="{28A0092B-C50C-407E-A947-70E740481C1C}">
                <a14:useLocalDpi xmlns:a14="http://schemas.microsoft.com/office/drawing/2010/main" val="0"/>
              </a:ext>
            </a:extLst>
          </a:blip>
          <a:srcRect l="29524" t="19732" r="32491" b="22018"/>
          <a:stretch>
            <a:fillRect/>
          </a:stretch>
        </p:blipFill>
        <p:spPr>
          <a:xfrm>
            <a:off x="5722426" y="2183385"/>
            <a:ext cx="722460" cy="623091"/>
          </a:xfrm>
          <a:prstGeom prst="rect">
            <a:avLst/>
          </a:prstGeom>
        </p:spPr>
      </p:pic>
      <p:pic>
        <p:nvPicPr>
          <p:cNvPr id="101" name="图片 100" descr="图片包含 游戏机, 物体, 灯, 房间&#10;&#10;AI 生成的内容可能不正确。">
            <a:hlinkClick r:id="" action="ppaction://noaction"/>
          </p:cNvPr>
          <p:cNvPicPr>
            <a:picLocks noChangeAspect="1"/>
          </p:cNvPicPr>
          <p:nvPr/>
        </p:nvPicPr>
        <p:blipFill>
          <a:blip r:embed="rId16" cstate="hqprint"/>
          <a:srcRect/>
          <a:stretch>
            <a:fillRect/>
          </a:stretch>
        </p:blipFill>
        <p:spPr>
          <a:xfrm>
            <a:off x="5691391" y="1259733"/>
            <a:ext cx="710145" cy="657383"/>
          </a:xfrm>
          <a:prstGeom prst="rect">
            <a:avLst/>
          </a:prstGeom>
        </p:spPr>
      </p:pic>
      <p:sp>
        <p:nvSpPr>
          <p:cNvPr id="102" name="矩形 101"/>
          <p:cNvSpPr/>
          <p:nvPr/>
        </p:nvSpPr>
        <p:spPr>
          <a:xfrm>
            <a:off x="5718387" y="1924356"/>
            <a:ext cx="772296" cy="18466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防眩筒灯</a:t>
            </a:r>
            <a:r>
              <a:rPr kumimoji="0" lang="en-US" altLang="zh-CN"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a:t>
            </a: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皓系列</a:t>
            </a:r>
            <a:endPar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sp>
        <p:nvSpPr>
          <p:cNvPr id="103" name="矩形 102"/>
          <p:cNvSpPr/>
          <p:nvPr/>
        </p:nvSpPr>
        <p:spPr>
          <a:xfrm>
            <a:off x="5718386" y="2926246"/>
            <a:ext cx="833883" cy="18466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高光效筒灯</a:t>
            </a:r>
            <a:r>
              <a:rPr kumimoji="0" lang="en-US" altLang="zh-CN"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a:t>
            </a: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昱系列</a:t>
            </a:r>
            <a:endPar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pic>
        <p:nvPicPr>
          <p:cNvPr id="104" name="图片 103" descr="图片包含 正方形&#10;&#10;AI 生成的内容可能不正确。">
            <a:hlinkClick r:id="rId12" action="ppaction://hlinksldjump"/>
          </p:cNvPr>
          <p:cNvPicPr>
            <a:picLocks noChangeAspect="1"/>
          </p:cNvPicPr>
          <p:nvPr/>
        </p:nvPicPr>
        <p:blipFill>
          <a:blip r:embed="rId13" cstate="print">
            <a:extLst>
              <a:ext uri="{28A0092B-C50C-407E-A947-70E740481C1C}">
                <a14:useLocalDpi xmlns:a14="http://schemas.microsoft.com/office/drawing/2010/main" val="0"/>
              </a:ext>
            </a:extLst>
          </a:blip>
          <a:srcRect t="19440" b="22082"/>
          <a:stretch>
            <a:fillRect/>
          </a:stretch>
        </p:blipFill>
        <p:spPr>
          <a:xfrm>
            <a:off x="7632108" y="2149093"/>
            <a:ext cx="1124164" cy="657383"/>
          </a:xfrm>
          <a:prstGeom prst="rect">
            <a:avLst/>
          </a:prstGeom>
        </p:spPr>
      </p:pic>
      <p:sp>
        <p:nvSpPr>
          <p:cNvPr id="105" name="矩形 104"/>
          <p:cNvSpPr/>
          <p:nvPr/>
        </p:nvSpPr>
        <p:spPr>
          <a:xfrm>
            <a:off x="7858358" y="2797266"/>
            <a:ext cx="756938" cy="1846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洁净灯盘</a:t>
            </a:r>
            <a:r>
              <a:rPr kumimoji="0" lang="en-US" altLang="zh-CN"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a:t>
            </a: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佳系列</a:t>
            </a:r>
            <a:endPar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pic>
        <p:nvPicPr>
          <p:cNvPr id="106" name="图片 105" descr="图片包含 正方形&#10;&#10;AI 生成的内容可能不正确。">
            <a:hlinkClick r:id="rId12" action="ppaction://hlinksldjump"/>
          </p:cNvPr>
          <p:cNvPicPr>
            <a:picLocks noChangeAspect="1"/>
          </p:cNvPicPr>
          <p:nvPr/>
        </p:nvPicPr>
        <p:blipFill>
          <a:blip r:embed="rId13" cstate="print">
            <a:extLst>
              <a:ext uri="{28A0092B-C50C-407E-A947-70E740481C1C}">
                <a14:useLocalDpi xmlns:a14="http://schemas.microsoft.com/office/drawing/2010/main" val="0"/>
              </a:ext>
            </a:extLst>
          </a:blip>
          <a:srcRect t="19440" b="22082"/>
          <a:stretch>
            <a:fillRect/>
          </a:stretch>
        </p:blipFill>
        <p:spPr>
          <a:xfrm>
            <a:off x="7632108" y="3307375"/>
            <a:ext cx="1124164" cy="657383"/>
          </a:xfrm>
          <a:prstGeom prst="rect">
            <a:avLst/>
          </a:prstGeom>
        </p:spPr>
      </p:pic>
      <p:sp>
        <p:nvSpPr>
          <p:cNvPr id="107" name="矩形 106"/>
          <p:cNvSpPr/>
          <p:nvPr/>
        </p:nvSpPr>
        <p:spPr>
          <a:xfrm>
            <a:off x="7858358" y="3955548"/>
            <a:ext cx="756938" cy="1846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洁净灯盘</a:t>
            </a:r>
            <a:r>
              <a:rPr kumimoji="0" lang="en-US" altLang="zh-CN"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a:t>
            </a: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昊系列</a:t>
            </a:r>
            <a:endPar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pic>
        <p:nvPicPr>
          <p:cNvPr id="109" name="图片 108" descr="在地上&#10;&#10;AI 生成的内容可能不正确。">
            <a:hlinkClick r:id="rId12" action="ppaction://hlinksldjump"/>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7867253" y="4480983"/>
            <a:ext cx="694601" cy="694601"/>
          </a:xfrm>
          <a:prstGeom prst="rect">
            <a:avLst/>
          </a:prstGeom>
        </p:spPr>
      </p:pic>
      <p:sp>
        <p:nvSpPr>
          <p:cNvPr id="110" name="矩形 109"/>
          <p:cNvSpPr/>
          <p:nvPr/>
        </p:nvSpPr>
        <p:spPr>
          <a:xfrm>
            <a:off x="7867253" y="5263275"/>
            <a:ext cx="756938" cy="1846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洁净支架</a:t>
            </a:r>
            <a:r>
              <a:rPr kumimoji="0" lang="en-US" altLang="zh-CN"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a:t>
            </a: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昊系列</a:t>
            </a:r>
            <a:endPar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grpSp>
        <p:nvGrpSpPr>
          <p:cNvPr id="118" name="组合 117"/>
          <p:cNvGrpSpPr/>
          <p:nvPr/>
        </p:nvGrpSpPr>
        <p:grpSpPr>
          <a:xfrm>
            <a:off x="9734645" y="715887"/>
            <a:ext cx="1309998" cy="369332"/>
            <a:chOff x="910401" y="1354264"/>
            <a:chExt cx="1309998" cy="369332"/>
          </a:xfrm>
        </p:grpSpPr>
        <p:grpSp>
          <p:nvGrpSpPr>
            <p:cNvPr id="119" name="组合 118"/>
            <p:cNvGrpSpPr/>
            <p:nvPr/>
          </p:nvGrpSpPr>
          <p:grpSpPr>
            <a:xfrm>
              <a:off x="910401" y="1372020"/>
              <a:ext cx="1041696" cy="220243"/>
              <a:chOff x="2774711" y="2691633"/>
              <a:chExt cx="1685529" cy="356367"/>
            </a:xfrm>
          </p:grpSpPr>
          <p:sp>
            <p:nvSpPr>
              <p:cNvPr id="121" name="等腰三角形 120"/>
              <p:cNvSpPr/>
              <p:nvPr/>
            </p:nvSpPr>
            <p:spPr>
              <a:xfrm>
                <a:off x="2774711" y="2691633"/>
                <a:ext cx="472894" cy="355983"/>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122" name="箭头: V 形 121"/>
              <p:cNvSpPr/>
              <p:nvPr/>
            </p:nvSpPr>
            <p:spPr>
              <a:xfrm rot="10800000">
                <a:off x="3891280" y="2692400"/>
                <a:ext cx="568960" cy="355600"/>
              </a:xfrm>
              <a:prstGeom prst="chevron">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charset="-122"/>
                  <a:cs typeface="+mn-cs"/>
                </a:endParaRPr>
              </a:p>
            </p:txBody>
          </p:sp>
          <p:sp>
            <p:nvSpPr>
              <p:cNvPr id="123" name="矩形 122"/>
              <p:cNvSpPr/>
              <p:nvPr/>
            </p:nvSpPr>
            <p:spPr>
              <a:xfrm>
                <a:off x="3015946" y="2692017"/>
                <a:ext cx="1259840" cy="3556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grpSp>
        <p:sp>
          <p:nvSpPr>
            <p:cNvPr id="120" name="文本框 119"/>
            <p:cNvSpPr txBox="1"/>
            <p:nvPr/>
          </p:nvSpPr>
          <p:spPr>
            <a:xfrm>
              <a:off x="1155023" y="1354264"/>
              <a:ext cx="106537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其他</a:t>
              </a:r>
              <a:br>
                <a:rPr kumimoji="0" lang="en-US" altLang="zh-CN" sz="1800" b="0" i="0" u="none" strike="noStrike" kern="1200" cap="none" spc="0" normalizeH="0" baseline="0" noProof="0" dirty="0">
                  <a:ln>
                    <a:noFill/>
                  </a:ln>
                  <a:solidFill>
                    <a:prstClr val="black"/>
                  </a:solidFill>
                  <a:effectLst/>
                  <a:uLnTx/>
                  <a:uFillTx/>
                  <a:latin typeface="Arial" panose="020B0604020202020204"/>
                  <a:ea typeface="黑体" panose="02010609060101010101" charset="-122"/>
                  <a:cs typeface="+mn-cs"/>
                </a:rPr>
              </a:br>
              <a:endParaRPr kumimoji="0" lang="zh-CN" altLang="en-US" sz="6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pic>
        <p:nvPicPr>
          <p:cNvPr id="124" name="图片 123" descr="文本&#10;&#10;AI 生成的内容可能不正确。">
            <a:hlinkClick r:id="rId18" action="ppaction://hlinksldjump"/>
          </p:cNvPr>
          <p:cNvPicPr>
            <a:picLocks noChangeAspect="1"/>
          </p:cNvPicPr>
          <p:nvPr/>
        </p:nvPicPr>
        <p:blipFill>
          <a:blip r:embed="rId19" cstate="print">
            <a:extLst>
              <a:ext uri="{BEBA8EAE-BF5A-486C-A8C5-ECC9F3942E4B}">
                <a14:imgProps xmlns:a14="http://schemas.microsoft.com/office/drawing/2010/main">
                  <a14:imgLayer r:embed="rId20">
                    <a14:imgEffect>
                      <a14:backgroundRemoval t="10000" b="90000" l="10000" r="90000"/>
                    </a14:imgEffect>
                  </a14:imgLayer>
                </a14:imgProps>
              </a:ext>
              <a:ext uri="{28A0092B-C50C-407E-A947-70E740481C1C}">
                <a14:useLocalDpi xmlns:a14="http://schemas.microsoft.com/office/drawing/2010/main" val="0"/>
              </a:ext>
            </a:extLst>
          </a:blip>
          <a:srcRect l="17639" t="26231" r="15651" b="29787"/>
          <a:stretch>
            <a:fillRect/>
          </a:stretch>
        </p:blipFill>
        <p:spPr>
          <a:xfrm>
            <a:off x="9604988" y="1294799"/>
            <a:ext cx="1336102" cy="587250"/>
          </a:xfrm>
          <a:prstGeom prst="rect">
            <a:avLst/>
          </a:prstGeom>
        </p:spPr>
      </p:pic>
      <p:pic>
        <p:nvPicPr>
          <p:cNvPr id="125" name="图片 124">
            <a:hlinkClick r:id="" action="ppaction://noaction"/>
          </p:cNvPr>
          <p:cNvPicPr>
            <a:picLocks noChangeAspect="1"/>
          </p:cNvPicPr>
          <p:nvPr/>
        </p:nvPicPr>
        <p:blipFill>
          <a:blip r:embed="rId21"/>
          <a:stretch>
            <a:fillRect/>
          </a:stretch>
        </p:blipFill>
        <p:spPr>
          <a:xfrm>
            <a:off x="9672216" y="2261151"/>
            <a:ext cx="1154101" cy="2347881"/>
          </a:xfrm>
          <a:prstGeom prst="rect">
            <a:avLst/>
          </a:prstGeom>
        </p:spPr>
      </p:pic>
      <p:sp>
        <p:nvSpPr>
          <p:cNvPr id="126" name="矩形 125"/>
          <p:cNvSpPr/>
          <p:nvPr/>
        </p:nvSpPr>
        <p:spPr>
          <a:xfrm>
            <a:off x="9994562" y="1885190"/>
            <a:ext cx="492443" cy="1846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床头壁灯</a:t>
            </a:r>
            <a:endPar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sp>
        <p:nvSpPr>
          <p:cNvPr id="127" name="矩形 126"/>
          <p:cNvSpPr/>
          <p:nvPr/>
        </p:nvSpPr>
        <p:spPr>
          <a:xfrm>
            <a:off x="9994562" y="4609032"/>
            <a:ext cx="415498" cy="1846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落地灯</a:t>
            </a:r>
            <a:endPar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sp>
        <p:nvSpPr>
          <p:cNvPr id="131" name="iconfont-11511-5466055"/>
          <p:cNvSpPr/>
          <p:nvPr/>
        </p:nvSpPr>
        <p:spPr>
          <a:xfrm>
            <a:off x="654029" y="4532219"/>
            <a:ext cx="296064" cy="296064"/>
          </a:xfrm>
          <a:custGeom>
            <a:avLst/>
            <a:gdLst>
              <a:gd name="T0" fmla="*/ 12800 w 12800"/>
              <a:gd name="T1" fmla="*/ 0 h 12800"/>
              <a:gd name="T2" fmla="*/ 6628 w 12800"/>
              <a:gd name="T3" fmla="*/ 6400 h 12800"/>
              <a:gd name="T4" fmla="*/ 0 w 12800"/>
              <a:gd name="T5" fmla="*/ 12800 h 12800"/>
              <a:gd name="T6" fmla="*/ 0 w 12800"/>
              <a:gd name="T7" fmla="*/ 0 h 12800"/>
              <a:gd name="T8" fmla="*/ 12800 w 12800"/>
              <a:gd name="T9" fmla="*/ 0 h 12800"/>
              <a:gd name="T10" fmla="*/ 1067 w 12800"/>
              <a:gd name="T11" fmla="*/ 6346 h 12800"/>
              <a:gd name="T12" fmla="*/ 2952 w 12800"/>
              <a:gd name="T13" fmla="*/ 8232 h 12800"/>
              <a:gd name="T14" fmla="*/ 3148 w 12800"/>
              <a:gd name="T15" fmla="*/ 8036 h 12800"/>
              <a:gd name="T16" fmla="*/ 1598 w 12800"/>
              <a:gd name="T17" fmla="*/ 6486 h 12800"/>
              <a:gd name="T18" fmla="*/ 1605 w 12800"/>
              <a:gd name="T19" fmla="*/ 6479 h 12800"/>
              <a:gd name="T20" fmla="*/ 4126 w 12800"/>
              <a:gd name="T21" fmla="*/ 7058 h 12800"/>
              <a:gd name="T22" fmla="*/ 4327 w 12800"/>
              <a:gd name="T23" fmla="*/ 6858 h 12800"/>
              <a:gd name="T24" fmla="*/ 2441 w 12800"/>
              <a:gd name="T25" fmla="*/ 4972 h 12800"/>
              <a:gd name="T26" fmla="*/ 2245 w 12800"/>
              <a:gd name="T27" fmla="*/ 5168 h 12800"/>
              <a:gd name="T28" fmla="*/ 3779 w 12800"/>
              <a:gd name="T29" fmla="*/ 6702 h 12800"/>
              <a:gd name="T30" fmla="*/ 3772 w 12800"/>
              <a:gd name="T31" fmla="*/ 6710 h 12800"/>
              <a:gd name="T32" fmla="*/ 1272 w 12800"/>
              <a:gd name="T33" fmla="*/ 6141 h 12800"/>
              <a:gd name="T34" fmla="*/ 1067 w 12800"/>
              <a:gd name="T35" fmla="*/ 6346 h 12800"/>
              <a:gd name="T36" fmla="*/ 2785 w 12800"/>
              <a:gd name="T37" fmla="*/ 4628 h 12800"/>
              <a:gd name="T38" fmla="*/ 4671 w 12800"/>
              <a:gd name="T39" fmla="*/ 6514 h 12800"/>
              <a:gd name="T40" fmla="*/ 5921 w 12800"/>
              <a:gd name="T41" fmla="*/ 5264 h 12800"/>
              <a:gd name="T42" fmla="*/ 5733 w 12800"/>
              <a:gd name="T43" fmla="*/ 5076 h 12800"/>
              <a:gd name="T44" fmla="*/ 4679 w 12800"/>
              <a:gd name="T45" fmla="*/ 6130 h 12800"/>
              <a:gd name="T46" fmla="*/ 3987 w 12800"/>
              <a:gd name="T47" fmla="*/ 5438 h 12800"/>
              <a:gd name="T48" fmla="*/ 4943 w 12800"/>
              <a:gd name="T49" fmla="*/ 4482 h 12800"/>
              <a:gd name="T50" fmla="*/ 4756 w 12800"/>
              <a:gd name="T51" fmla="*/ 4295 h 12800"/>
              <a:gd name="T52" fmla="*/ 3800 w 12800"/>
              <a:gd name="T53" fmla="*/ 5251 h 12800"/>
              <a:gd name="T54" fmla="*/ 3169 w 12800"/>
              <a:gd name="T55" fmla="*/ 4619 h 12800"/>
              <a:gd name="T56" fmla="*/ 4182 w 12800"/>
              <a:gd name="T57" fmla="*/ 3606 h 12800"/>
              <a:gd name="T58" fmla="*/ 3995 w 12800"/>
              <a:gd name="T59" fmla="*/ 3419 h 12800"/>
              <a:gd name="T60" fmla="*/ 2785 w 12800"/>
              <a:gd name="T61" fmla="*/ 4628 h 12800"/>
              <a:gd name="T62" fmla="*/ 4148 w 12800"/>
              <a:gd name="T63" fmla="*/ 3266 h 12800"/>
              <a:gd name="T64" fmla="*/ 6523 w 12800"/>
              <a:gd name="T65" fmla="*/ 4661 h 12800"/>
              <a:gd name="T66" fmla="*/ 6741 w 12800"/>
              <a:gd name="T67" fmla="*/ 4444 h 12800"/>
              <a:gd name="T68" fmla="*/ 5559 w 12800"/>
              <a:gd name="T69" fmla="*/ 2483 h 12800"/>
              <a:gd name="T70" fmla="*/ 5566 w 12800"/>
              <a:gd name="T71" fmla="*/ 2476 h 12800"/>
              <a:gd name="T72" fmla="*/ 7525 w 12800"/>
              <a:gd name="T73" fmla="*/ 3660 h 12800"/>
              <a:gd name="T74" fmla="*/ 7742 w 12800"/>
              <a:gd name="T75" fmla="*/ 3442 h 12800"/>
              <a:gd name="T76" fmla="*/ 6346 w 12800"/>
              <a:gd name="T77" fmla="*/ 1067 h 12800"/>
              <a:gd name="T78" fmla="*/ 6127 w 12800"/>
              <a:gd name="T79" fmla="*/ 1287 h 12800"/>
              <a:gd name="T80" fmla="*/ 7333 w 12800"/>
              <a:gd name="T81" fmla="*/ 3244 h 12800"/>
              <a:gd name="T82" fmla="*/ 7324 w 12800"/>
              <a:gd name="T83" fmla="*/ 3253 h 12800"/>
              <a:gd name="T84" fmla="*/ 5355 w 12800"/>
              <a:gd name="T85" fmla="*/ 2059 h 12800"/>
              <a:gd name="T86" fmla="*/ 5142 w 12800"/>
              <a:gd name="T87" fmla="*/ 2271 h 12800"/>
              <a:gd name="T88" fmla="*/ 6334 w 12800"/>
              <a:gd name="T89" fmla="*/ 4243 h 12800"/>
              <a:gd name="T90" fmla="*/ 6325 w 12800"/>
              <a:gd name="T91" fmla="*/ 4252 h 12800"/>
              <a:gd name="T92" fmla="*/ 4367 w 12800"/>
              <a:gd name="T93" fmla="*/ 3046 h 12800"/>
              <a:gd name="T94" fmla="*/ 4147 w 12800"/>
              <a:gd name="T95" fmla="*/ 3266 h 12800"/>
              <a:gd name="T96" fmla="*/ 4148 w 12800"/>
              <a:gd name="T97" fmla="*/ 3266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800" h="12800">
                <a:moveTo>
                  <a:pt x="12800" y="0"/>
                </a:moveTo>
                <a:lnTo>
                  <a:pt x="6628" y="6400"/>
                </a:lnTo>
                <a:lnTo>
                  <a:pt x="0" y="12800"/>
                </a:lnTo>
                <a:lnTo>
                  <a:pt x="0" y="0"/>
                </a:lnTo>
                <a:lnTo>
                  <a:pt x="12800" y="0"/>
                </a:lnTo>
                <a:close/>
                <a:moveTo>
                  <a:pt x="1067" y="6346"/>
                </a:moveTo>
                <a:lnTo>
                  <a:pt x="2952" y="8232"/>
                </a:lnTo>
                <a:lnTo>
                  <a:pt x="3148" y="8036"/>
                </a:lnTo>
                <a:lnTo>
                  <a:pt x="1598" y="6486"/>
                </a:lnTo>
                <a:lnTo>
                  <a:pt x="1605" y="6479"/>
                </a:lnTo>
                <a:lnTo>
                  <a:pt x="4126" y="7058"/>
                </a:lnTo>
                <a:lnTo>
                  <a:pt x="4327" y="6858"/>
                </a:lnTo>
                <a:lnTo>
                  <a:pt x="2441" y="4972"/>
                </a:lnTo>
                <a:lnTo>
                  <a:pt x="2245" y="5168"/>
                </a:lnTo>
                <a:lnTo>
                  <a:pt x="3779" y="6702"/>
                </a:lnTo>
                <a:lnTo>
                  <a:pt x="3772" y="6710"/>
                </a:lnTo>
                <a:lnTo>
                  <a:pt x="1272" y="6141"/>
                </a:lnTo>
                <a:lnTo>
                  <a:pt x="1067" y="6346"/>
                </a:lnTo>
                <a:close/>
                <a:moveTo>
                  <a:pt x="2785" y="4628"/>
                </a:moveTo>
                <a:lnTo>
                  <a:pt x="4671" y="6514"/>
                </a:lnTo>
                <a:lnTo>
                  <a:pt x="5921" y="5264"/>
                </a:lnTo>
                <a:lnTo>
                  <a:pt x="5733" y="5076"/>
                </a:lnTo>
                <a:lnTo>
                  <a:pt x="4679" y="6130"/>
                </a:lnTo>
                <a:lnTo>
                  <a:pt x="3987" y="5438"/>
                </a:lnTo>
                <a:lnTo>
                  <a:pt x="4943" y="4482"/>
                </a:lnTo>
                <a:lnTo>
                  <a:pt x="4756" y="4295"/>
                </a:lnTo>
                <a:lnTo>
                  <a:pt x="3800" y="5251"/>
                </a:lnTo>
                <a:lnTo>
                  <a:pt x="3169" y="4619"/>
                </a:lnTo>
                <a:lnTo>
                  <a:pt x="4182" y="3606"/>
                </a:lnTo>
                <a:lnTo>
                  <a:pt x="3995" y="3419"/>
                </a:lnTo>
                <a:lnTo>
                  <a:pt x="2785" y="4628"/>
                </a:lnTo>
                <a:close/>
                <a:moveTo>
                  <a:pt x="4148" y="3266"/>
                </a:moveTo>
                <a:lnTo>
                  <a:pt x="6523" y="4661"/>
                </a:lnTo>
                <a:lnTo>
                  <a:pt x="6741" y="4444"/>
                </a:lnTo>
                <a:lnTo>
                  <a:pt x="5559" y="2483"/>
                </a:lnTo>
                <a:lnTo>
                  <a:pt x="5566" y="2476"/>
                </a:lnTo>
                <a:lnTo>
                  <a:pt x="7525" y="3660"/>
                </a:lnTo>
                <a:lnTo>
                  <a:pt x="7742" y="3442"/>
                </a:lnTo>
                <a:lnTo>
                  <a:pt x="6346" y="1067"/>
                </a:lnTo>
                <a:lnTo>
                  <a:pt x="6127" y="1287"/>
                </a:lnTo>
                <a:lnTo>
                  <a:pt x="7333" y="3244"/>
                </a:lnTo>
                <a:lnTo>
                  <a:pt x="7324" y="3253"/>
                </a:lnTo>
                <a:lnTo>
                  <a:pt x="5355" y="2059"/>
                </a:lnTo>
                <a:lnTo>
                  <a:pt x="5142" y="2271"/>
                </a:lnTo>
                <a:lnTo>
                  <a:pt x="6334" y="4243"/>
                </a:lnTo>
                <a:lnTo>
                  <a:pt x="6325" y="4252"/>
                </a:lnTo>
                <a:lnTo>
                  <a:pt x="4367" y="3046"/>
                </a:lnTo>
                <a:lnTo>
                  <a:pt x="4147" y="3266"/>
                </a:lnTo>
                <a:lnTo>
                  <a:pt x="4148" y="3266"/>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32" name="iconfont-11511-5466055"/>
          <p:cNvSpPr/>
          <p:nvPr/>
        </p:nvSpPr>
        <p:spPr>
          <a:xfrm>
            <a:off x="729207" y="3317831"/>
            <a:ext cx="296064" cy="296064"/>
          </a:xfrm>
          <a:custGeom>
            <a:avLst/>
            <a:gdLst>
              <a:gd name="T0" fmla="*/ 12800 w 12800"/>
              <a:gd name="T1" fmla="*/ 0 h 12800"/>
              <a:gd name="T2" fmla="*/ 6628 w 12800"/>
              <a:gd name="T3" fmla="*/ 6400 h 12800"/>
              <a:gd name="T4" fmla="*/ 0 w 12800"/>
              <a:gd name="T5" fmla="*/ 12800 h 12800"/>
              <a:gd name="T6" fmla="*/ 0 w 12800"/>
              <a:gd name="T7" fmla="*/ 0 h 12800"/>
              <a:gd name="T8" fmla="*/ 12800 w 12800"/>
              <a:gd name="T9" fmla="*/ 0 h 12800"/>
              <a:gd name="T10" fmla="*/ 1067 w 12800"/>
              <a:gd name="T11" fmla="*/ 6346 h 12800"/>
              <a:gd name="T12" fmla="*/ 2952 w 12800"/>
              <a:gd name="T13" fmla="*/ 8232 h 12800"/>
              <a:gd name="T14" fmla="*/ 3148 w 12800"/>
              <a:gd name="T15" fmla="*/ 8036 h 12800"/>
              <a:gd name="T16" fmla="*/ 1598 w 12800"/>
              <a:gd name="T17" fmla="*/ 6486 h 12800"/>
              <a:gd name="T18" fmla="*/ 1605 w 12800"/>
              <a:gd name="T19" fmla="*/ 6479 h 12800"/>
              <a:gd name="T20" fmla="*/ 4126 w 12800"/>
              <a:gd name="T21" fmla="*/ 7058 h 12800"/>
              <a:gd name="T22" fmla="*/ 4327 w 12800"/>
              <a:gd name="T23" fmla="*/ 6858 h 12800"/>
              <a:gd name="T24" fmla="*/ 2441 w 12800"/>
              <a:gd name="T25" fmla="*/ 4972 h 12800"/>
              <a:gd name="T26" fmla="*/ 2245 w 12800"/>
              <a:gd name="T27" fmla="*/ 5168 h 12800"/>
              <a:gd name="T28" fmla="*/ 3779 w 12800"/>
              <a:gd name="T29" fmla="*/ 6702 h 12800"/>
              <a:gd name="T30" fmla="*/ 3772 w 12800"/>
              <a:gd name="T31" fmla="*/ 6710 h 12800"/>
              <a:gd name="T32" fmla="*/ 1272 w 12800"/>
              <a:gd name="T33" fmla="*/ 6141 h 12800"/>
              <a:gd name="T34" fmla="*/ 1067 w 12800"/>
              <a:gd name="T35" fmla="*/ 6346 h 12800"/>
              <a:gd name="T36" fmla="*/ 2785 w 12800"/>
              <a:gd name="T37" fmla="*/ 4628 h 12800"/>
              <a:gd name="T38" fmla="*/ 4671 w 12800"/>
              <a:gd name="T39" fmla="*/ 6514 h 12800"/>
              <a:gd name="T40" fmla="*/ 5921 w 12800"/>
              <a:gd name="T41" fmla="*/ 5264 h 12800"/>
              <a:gd name="T42" fmla="*/ 5733 w 12800"/>
              <a:gd name="T43" fmla="*/ 5076 h 12800"/>
              <a:gd name="T44" fmla="*/ 4679 w 12800"/>
              <a:gd name="T45" fmla="*/ 6130 h 12800"/>
              <a:gd name="T46" fmla="*/ 3987 w 12800"/>
              <a:gd name="T47" fmla="*/ 5438 h 12800"/>
              <a:gd name="T48" fmla="*/ 4943 w 12800"/>
              <a:gd name="T49" fmla="*/ 4482 h 12800"/>
              <a:gd name="T50" fmla="*/ 4756 w 12800"/>
              <a:gd name="T51" fmla="*/ 4295 h 12800"/>
              <a:gd name="T52" fmla="*/ 3800 w 12800"/>
              <a:gd name="T53" fmla="*/ 5251 h 12800"/>
              <a:gd name="T54" fmla="*/ 3169 w 12800"/>
              <a:gd name="T55" fmla="*/ 4619 h 12800"/>
              <a:gd name="T56" fmla="*/ 4182 w 12800"/>
              <a:gd name="T57" fmla="*/ 3606 h 12800"/>
              <a:gd name="T58" fmla="*/ 3995 w 12800"/>
              <a:gd name="T59" fmla="*/ 3419 h 12800"/>
              <a:gd name="T60" fmla="*/ 2785 w 12800"/>
              <a:gd name="T61" fmla="*/ 4628 h 12800"/>
              <a:gd name="T62" fmla="*/ 4148 w 12800"/>
              <a:gd name="T63" fmla="*/ 3266 h 12800"/>
              <a:gd name="T64" fmla="*/ 6523 w 12800"/>
              <a:gd name="T65" fmla="*/ 4661 h 12800"/>
              <a:gd name="T66" fmla="*/ 6741 w 12800"/>
              <a:gd name="T67" fmla="*/ 4444 h 12800"/>
              <a:gd name="T68" fmla="*/ 5559 w 12800"/>
              <a:gd name="T69" fmla="*/ 2483 h 12800"/>
              <a:gd name="T70" fmla="*/ 5566 w 12800"/>
              <a:gd name="T71" fmla="*/ 2476 h 12800"/>
              <a:gd name="T72" fmla="*/ 7525 w 12800"/>
              <a:gd name="T73" fmla="*/ 3660 h 12800"/>
              <a:gd name="T74" fmla="*/ 7742 w 12800"/>
              <a:gd name="T75" fmla="*/ 3442 h 12800"/>
              <a:gd name="T76" fmla="*/ 6346 w 12800"/>
              <a:gd name="T77" fmla="*/ 1067 h 12800"/>
              <a:gd name="T78" fmla="*/ 6127 w 12800"/>
              <a:gd name="T79" fmla="*/ 1287 h 12800"/>
              <a:gd name="T80" fmla="*/ 7333 w 12800"/>
              <a:gd name="T81" fmla="*/ 3244 h 12800"/>
              <a:gd name="T82" fmla="*/ 7324 w 12800"/>
              <a:gd name="T83" fmla="*/ 3253 h 12800"/>
              <a:gd name="T84" fmla="*/ 5355 w 12800"/>
              <a:gd name="T85" fmla="*/ 2059 h 12800"/>
              <a:gd name="T86" fmla="*/ 5142 w 12800"/>
              <a:gd name="T87" fmla="*/ 2271 h 12800"/>
              <a:gd name="T88" fmla="*/ 6334 w 12800"/>
              <a:gd name="T89" fmla="*/ 4243 h 12800"/>
              <a:gd name="T90" fmla="*/ 6325 w 12800"/>
              <a:gd name="T91" fmla="*/ 4252 h 12800"/>
              <a:gd name="T92" fmla="*/ 4367 w 12800"/>
              <a:gd name="T93" fmla="*/ 3046 h 12800"/>
              <a:gd name="T94" fmla="*/ 4147 w 12800"/>
              <a:gd name="T95" fmla="*/ 3266 h 12800"/>
              <a:gd name="T96" fmla="*/ 4148 w 12800"/>
              <a:gd name="T97" fmla="*/ 3266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800" h="12800">
                <a:moveTo>
                  <a:pt x="12800" y="0"/>
                </a:moveTo>
                <a:lnTo>
                  <a:pt x="6628" y="6400"/>
                </a:lnTo>
                <a:lnTo>
                  <a:pt x="0" y="12800"/>
                </a:lnTo>
                <a:lnTo>
                  <a:pt x="0" y="0"/>
                </a:lnTo>
                <a:lnTo>
                  <a:pt x="12800" y="0"/>
                </a:lnTo>
                <a:close/>
                <a:moveTo>
                  <a:pt x="1067" y="6346"/>
                </a:moveTo>
                <a:lnTo>
                  <a:pt x="2952" y="8232"/>
                </a:lnTo>
                <a:lnTo>
                  <a:pt x="3148" y="8036"/>
                </a:lnTo>
                <a:lnTo>
                  <a:pt x="1598" y="6486"/>
                </a:lnTo>
                <a:lnTo>
                  <a:pt x="1605" y="6479"/>
                </a:lnTo>
                <a:lnTo>
                  <a:pt x="4126" y="7058"/>
                </a:lnTo>
                <a:lnTo>
                  <a:pt x="4327" y="6858"/>
                </a:lnTo>
                <a:lnTo>
                  <a:pt x="2441" y="4972"/>
                </a:lnTo>
                <a:lnTo>
                  <a:pt x="2245" y="5168"/>
                </a:lnTo>
                <a:lnTo>
                  <a:pt x="3779" y="6702"/>
                </a:lnTo>
                <a:lnTo>
                  <a:pt x="3772" y="6710"/>
                </a:lnTo>
                <a:lnTo>
                  <a:pt x="1272" y="6141"/>
                </a:lnTo>
                <a:lnTo>
                  <a:pt x="1067" y="6346"/>
                </a:lnTo>
                <a:close/>
                <a:moveTo>
                  <a:pt x="2785" y="4628"/>
                </a:moveTo>
                <a:lnTo>
                  <a:pt x="4671" y="6514"/>
                </a:lnTo>
                <a:lnTo>
                  <a:pt x="5921" y="5264"/>
                </a:lnTo>
                <a:lnTo>
                  <a:pt x="5733" y="5076"/>
                </a:lnTo>
                <a:lnTo>
                  <a:pt x="4679" y="6130"/>
                </a:lnTo>
                <a:lnTo>
                  <a:pt x="3987" y="5438"/>
                </a:lnTo>
                <a:lnTo>
                  <a:pt x="4943" y="4482"/>
                </a:lnTo>
                <a:lnTo>
                  <a:pt x="4756" y="4295"/>
                </a:lnTo>
                <a:lnTo>
                  <a:pt x="3800" y="5251"/>
                </a:lnTo>
                <a:lnTo>
                  <a:pt x="3169" y="4619"/>
                </a:lnTo>
                <a:lnTo>
                  <a:pt x="4182" y="3606"/>
                </a:lnTo>
                <a:lnTo>
                  <a:pt x="3995" y="3419"/>
                </a:lnTo>
                <a:lnTo>
                  <a:pt x="2785" y="4628"/>
                </a:lnTo>
                <a:close/>
                <a:moveTo>
                  <a:pt x="4148" y="3266"/>
                </a:moveTo>
                <a:lnTo>
                  <a:pt x="6523" y="4661"/>
                </a:lnTo>
                <a:lnTo>
                  <a:pt x="6741" y="4444"/>
                </a:lnTo>
                <a:lnTo>
                  <a:pt x="5559" y="2483"/>
                </a:lnTo>
                <a:lnTo>
                  <a:pt x="5566" y="2476"/>
                </a:lnTo>
                <a:lnTo>
                  <a:pt x="7525" y="3660"/>
                </a:lnTo>
                <a:lnTo>
                  <a:pt x="7742" y="3442"/>
                </a:lnTo>
                <a:lnTo>
                  <a:pt x="6346" y="1067"/>
                </a:lnTo>
                <a:lnTo>
                  <a:pt x="6127" y="1287"/>
                </a:lnTo>
                <a:lnTo>
                  <a:pt x="7333" y="3244"/>
                </a:lnTo>
                <a:lnTo>
                  <a:pt x="7324" y="3253"/>
                </a:lnTo>
                <a:lnTo>
                  <a:pt x="5355" y="2059"/>
                </a:lnTo>
                <a:lnTo>
                  <a:pt x="5142" y="2271"/>
                </a:lnTo>
                <a:lnTo>
                  <a:pt x="6334" y="4243"/>
                </a:lnTo>
                <a:lnTo>
                  <a:pt x="6325" y="4252"/>
                </a:lnTo>
                <a:lnTo>
                  <a:pt x="4367" y="3046"/>
                </a:lnTo>
                <a:lnTo>
                  <a:pt x="4147" y="3266"/>
                </a:lnTo>
                <a:lnTo>
                  <a:pt x="4148" y="3266"/>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34" name="iconfont-11511-5466055"/>
          <p:cNvSpPr/>
          <p:nvPr/>
        </p:nvSpPr>
        <p:spPr>
          <a:xfrm>
            <a:off x="729207" y="2287560"/>
            <a:ext cx="296064" cy="296064"/>
          </a:xfrm>
          <a:custGeom>
            <a:avLst/>
            <a:gdLst>
              <a:gd name="T0" fmla="*/ 12800 w 12800"/>
              <a:gd name="T1" fmla="*/ 0 h 12800"/>
              <a:gd name="T2" fmla="*/ 6628 w 12800"/>
              <a:gd name="T3" fmla="*/ 6400 h 12800"/>
              <a:gd name="T4" fmla="*/ 0 w 12800"/>
              <a:gd name="T5" fmla="*/ 12800 h 12800"/>
              <a:gd name="T6" fmla="*/ 0 w 12800"/>
              <a:gd name="T7" fmla="*/ 0 h 12800"/>
              <a:gd name="T8" fmla="*/ 12800 w 12800"/>
              <a:gd name="T9" fmla="*/ 0 h 12800"/>
              <a:gd name="T10" fmla="*/ 1067 w 12800"/>
              <a:gd name="T11" fmla="*/ 6346 h 12800"/>
              <a:gd name="T12" fmla="*/ 2952 w 12800"/>
              <a:gd name="T13" fmla="*/ 8232 h 12800"/>
              <a:gd name="T14" fmla="*/ 3148 w 12800"/>
              <a:gd name="T15" fmla="*/ 8036 h 12800"/>
              <a:gd name="T16" fmla="*/ 1598 w 12800"/>
              <a:gd name="T17" fmla="*/ 6486 h 12800"/>
              <a:gd name="T18" fmla="*/ 1605 w 12800"/>
              <a:gd name="T19" fmla="*/ 6479 h 12800"/>
              <a:gd name="T20" fmla="*/ 4126 w 12800"/>
              <a:gd name="T21" fmla="*/ 7058 h 12800"/>
              <a:gd name="T22" fmla="*/ 4327 w 12800"/>
              <a:gd name="T23" fmla="*/ 6858 h 12800"/>
              <a:gd name="T24" fmla="*/ 2441 w 12800"/>
              <a:gd name="T25" fmla="*/ 4972 h 12800"/>
              <a:gd name="T26" fmla="*/ 2245 w 12800"/>
              <a:gd name="T27" fmla="*/ 5168 h 12800"/>
              <a:gd name="T28" fmla="*/ 3779 w 12800"/>
              <a:gd name="T29" fmla="*/ 6702 h 12800"/>
              <a:gd name="T30" fmla="*/ 3772 w 12800"/>
              <a:gd name="T31" fmla="*/ 6710 h 12800"/>
              <a:gd name="T32" fmla="*/ 1272 w 12800"/>
              <a:gd name="T33" fmla="*/ 6141 h 12800"/>
              <a:gd name="T34" fmla="*/ 1067 w 12800"/>
              <a:gd name="T35" fmla="*/ 6346 h 12800"/>
              <a:gd name="T36" fmla="*/ 2785 w 12800"/>
              <a:gd name="T37" fmla="*/ 4628 h 12800"/>
              <a:gd name="T38" fmla="*/ 4671 w 12800"/>
              <a:gd name="T39" fmla="*/ 6514 h 12800"/>
              <a:gd name="T40" fmla="*/ 5921 w 12800"/>
              <a:gd name="T41" fmla="*/ 5264 h 12800"/>
              <a:gd name="T42" fmla="*/ 5733 w 12800"/>
              <a:gd name="T43" fmla="*/ 5076 h 12800"/>
              <a:gd name="T44" fmla="*/ 4679 w 12800"/>
              <a:gd name="T45" fmla="*/ 6130 h 12800"/>
              <a:gd name="T46" fmla="*/ 3987 w 12800"/>
              <a:gd name="T47" fmla="*/ 5438 h 12800"/>
              <a:gd name="T48" fmla="*/ 4943 w 12800"/>
              <a:gd name="T49" fmla="*/ 4482 h 12800"/>
              <a:gd name="T50" fmla="*/ 4756 w 12800"/>
              <a:gd name="T51" fmla="*/ 4295 h 12800"/>
              <a:gd name="T52" fmla="*/ 3800 w 12800"/>
              <a:gd name="T53" fmla="*/ 5251 h 12800"/>
              <a:gd name="T54" fmla="*/ 3169 w 12800"/>
              <a:gd name="T55" fmla="*/ 4619 h 12800"/>
              <a:gd name="T56" fmla="*/ 4182 w 12800"/>
              <a:gd name="T57" fmla="*/ 3606 h 12800"/>
              <a:gd name="T58" fmla="*/ 3995 w 12800"/>
              <a:gd name="T59" fmla="*/ 3419 h 12800"/>
              <a:gd name="T60" fmla="*/ 2785 w 12800"/>
              <a:gd name="T61" fmla="*/ 4628 h 12800"/>
              <a:gd name="T62" fmla="*/ 4148 w 12800"/>
              <a:gd name="T63" fmla="*/ 3266 h 12800"/>
              <a:gd name="T64" fmla="*/ 6523 w 12800"/>
              <a:gd name="T65" fmla="*/ 4661 h 12800"/>
              <a:gd name="T66" fmla="*/ 6741 w 12800"/>
              <a:gd name="T67" fmla="*/ 4444 h 12800"/>
              <a:gd name="T68" fmla="*/ 5559 w 12800"/>
              <a:gd name="T69" fmla="*/ 2483 h 12800"/>
              <a:gd name="T70" fmla="*/ 5566 w 12800"/>
              <a:gd name="T71" fmla="*/ 2476 h 12800"/>
              <a:gd name="T72" fmla="*/ 7525 w 12800"/>
              <a:gd name="T73" fmla="*/ 3660 h 12800"/>
              <a:gd name="T74" fmla="*/ 7742 w 12800"/>
              <a:gd name="T75" fmla="*/ 3442 h 12800"/>
              <a:gd name="T76" fmla="*/ 6346 w 12800"/>
              <a:gd name="T77" fmla="*/ 1067 h 12800"/>
              <a:gd name="T78" fmla="*/ 6127 w 12800"/>
              <a:gd name="T79" fmla="*/ 1287 h 12800"/>
              <a:gd name="T80" fmla="*/ 7333 w 12800"/>
              <a:gd name="T81" fmla="*/ 3244 h 12800"/>
              <a:gd name="T82" fmla="*/ 7324 w 12800"/>
              <a:gd name="T83" fmla="*/ 3253 h 12800"/>
              <a:gd name="T84" fmla="*/ 5355 w 12800"/>
              <a:gd name="T85" fmla="*/ 2059 h 12800"/>
              <a:gd name="T86" fmla="*/ 5142 w 12800"/>
              <a:gd name="T87" fmla="*/ 2271 h 12800"/>
              <a:gd name="T88" fmla="*/ 6334 w 12800"/>
              <a:gd name="T89" fmla="*/ 4243 h 12800"/>
              <a:gd name="T90" fmla="*/ 6325 w 12800"/>
              <a:gd name="T91" fmla="*/ 4252 h 12800"/>
              <a:gd name="T92" fmla="*/ 4367 w 12800"/>
              <a:gd name="T93" fmla="*/ 3046 h 12800"/>
              <a:gd name="T94" fmla="*/ 4147 w 12800"/>
              <a:gd name="T95" fmla="*/ 3266 h 12800"/>
              <a:gd name="T96" fmla="*/ 4148 w 12800"/>
              <a:gd name="T97" fmla="*/ 3266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800" h="12800">
                <a:moveTo>
                  <a:pt x="12800" y="0"/>
                </a:moveTo>
                <a:lnTo>
                  <a:pt x="6628" y="6400"/>
                </a:lnTo>
                <a:lnTo>
                  <a:pt x="0" y="12800"/>
                </a:lnTo>
                <a:lnTo>
                  <a:pt x="0" y="0"/>
                </a:lnTo>
                <a:lnTo>
                  <a:pt x="12800" y="0"/>
                </a:lnTo>
                <a:close/>
                <a:moveTo>
                  <a:pt x="1067" y="6346"/>
                </a:moveTo>
                <a:lnTo>
                  <a:pt x="2952" y="8232"/>
                </a:lnTo>
                <a:lnTo>
                  <a:pt x="3148" y="8036"/>
                </a:lnTo>
                <a:lnTo>
                  <a:pt x="1598" y="6486"/>
                </a:lnTo>
                <a:lnTo>
                  <a:pt x="1605" y="6479"/>
                </a:lnTo>
                <a:lnTo>
                  <a:pt x="4126" y="7058"/>
                </a:lnTo>
                <a:lnTo>
                  <a:pt x="4327" y="6858"/>
                </a:lnTo>
                <a:lnTo>
                  <a:pt x="2441" y="4972"/>
                </a:lnTo>
                <a:lnTo>
                  <a:pt x="2245" y="5168"/>
                </a:lnTo>
                <a:lnTo>
                  <a:pt x="3779" y="6702"/>
                </a:lnTo>
                <a:lnTo>
                  <a:pt x="3772" y="6710"/>
                </a:lnTo>
                <a:lnTo>
                  <a:pt x="1272" y="6141"/>
                </a:lnTo>
                <a:lnTo>
                  <a:pt x="1067" y="6346"/>
                </a:lnTo>
                <a:close/>
                <a:moveTo>
                  <a:pt x="2785" y="4628"/>
                </a:moveTo>
                <a:lnTo>
                  <a:pt x="4671" y="6514"/>
                </a:lnTo>
                <a:lnTo>
                  <a:pt x="5921" y="5264"/>
                </a:lnTo>
                <a:lnTo>
                  <a:pt x="5733" y="5076"/>
                </a:lnTo>
                <a:lnTo>
                  <a:pt x="4679" y="6130"/>
                </a:lnTo>
                <a:lnTo>
                  <a:pt x="3987" y="5438"/>
                </a:lnTo>
                <a:lnTo>
                  <a:pt x="4943" y="4482"/>
                </a:lnTo>
                <a:lnTo>
                  <a:pt x="4756" y="4295"/>
                </a:lnTo>
                <a:lnTo>
                  <a:pt x="3800" y="5251"/>
                </a:lnTo>
                <a:lnTo>
                  <a:pt x="3169" y="4619"/>
                </a:lnTo>
                <a:lnTo>
                  <a:pt x="4182" y="3606"/>
                </a:lnTo>
                <a:lnTo>
                  <a:pt x="3995" y="3419"/>
                </a:lnTo>
                <a:lnTo>
                  <a:pt x="2785" y="4628"/>
                </a:lnTo>
                <a:close/>
                <a:moveTo>
                  <a:pt x="4148" y="3266"/>
                </a:moveTo>
                <a:lnTo>
                  <a:pt x="6523" y="4661"/>
                </a:lnTo>
                <a:lnTo>
                  <a:pt x="6741" y="4444"/>
                </a:lnTo>
                <a:lnTo>
                  <a:pt x="5559" y="2483"/>
                </a:lnTo>
                <a:lnTo>
                  <a:pt x="5566" y="2476"/>
                </a:lnTo>
                <a:lnTo>
                  <a:pt x="7525" y="3660"/>
                </a:lnTo>
                <a:lnTo>
                  <a:pt x="7742" y="3442"/>
                </a:lnTo>
                <a:lnTo>
                  <a:pt x="6346" y="1067"/>
                </a:lnTo>
                <a:lnTo>
                  <a:pt x="6127" y="1287"/>
                </a:lnTo>
                <a:lnTo>
                  <a:pt x="7333" y="3244"/>
                </a:lnTo>
                <a:lnTo>
                  <a:pt x="7324" y="3253"/>
                </a:lnTo>
                <a:lnTo>
                  <a:pt x="5355" y="2059"/>
                </a:lnTo>
                <a:lnTo>
                  <a:pt x="5142" y="2271"/>
                </a:lnTo>
                <a:lnTo>
                  <a:pt x="6334" y="4243"/>
                </a:lnTo>
                <a:lnTo>
                  <a:pt x="6325" y="4252"/>
                </a:lnTo>
                <a:lnTo>
                  <a:pt x="4367" y="3046"/>
                </a:lnTo>
                <a:lnTo>
                  <a:pt x="4147" y="3266"/>
                </a:lnTo>
                <a:lnTo>
                  <a:pt x="4148" y="3266"/>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35" name="iconfont-11511-5466055"/>
          <p:cNvSpPr/>
          <p:nvPr/>
        </p:nvSpPr>
        <p:spPr>
          <a:xfrm>
            <a:off x="5699112" y="2210154"/>
            <a:ext cx="296064" cy="296064"/>
          </a:xfrm>
          <a:custGeom>
            <a:avLst/>
            <a:gdLst>
              <a:gd name="T0" fmla="*/ 12800 w 12800"/>
              <a:gd name="T1" fmla="*/ 0 h 12800"/>
              <a:gd name="T2" fmla="*/ 6628 w 12800"/>
              <a:gd name="T3" fmla="*/ 6400 h 12800"/>
              <a:gd name="T4" fmla="*/ 0 w 12800"/>
              <a:gd name="T5" fmla="*/ 12800 h 12800"/>
              <a:gd name="T6" fmla="*/ 0 w 12800"/>
              <a:gd name="T7" fmla="*/ 0 h 12800"/>
              <a:gd name="T8" fmla="*/ 12800 w 12800"/>
              <a:gd name="T9" fmla="*/ 0 h 12800"/>
              <a:gd name="T10" fmla="*/ 1067 w 12800"/>
              <a:gd name="T11" fmla="*/ 6346 h 12800"/>
              <a:gd name="T12" fmla="*/ 2952 w 12800"/>
              <a:gd name="T13" fmla="*/ 8232 h 12800"/>
              <a:gd name="T14" fmla="*/ 3148 w 12800"/>
              <a:gd name="T15" fmla="*/ 8036 h 12800"/>
              <a:gd name="T16" fmla="*/ 1598 w 12800"/>
              <a:gd name="T17" fmla="*/ 6486 h 12800"/>
              <a:gd name="T18" fmla="*/ 1605 w 12800"/>
              <a:gd name="T19" fmla="*/ 6479 h 12800"/>
              <a:gd name="T20" fmla="*/ 4126 w 12800"/>
              <a:gd name="T21" fmla="*/ 7058 h 12800"/>
              <a:gd name="T22" fmla="*/ 4327 w 12800"/>
              <a:gd name="T23" fmla="*/ 6858 h 12800"/>
              <a:gd name="T24" fmla="*/ 2441 w 12800"/>
              <a:gd name="T25" fmla="*/ 4972 h 12800"/>
              <a:gd name="T26" fmla="*/ 2245 w 12800"/>
              <a:gd name="T27" fmla="*/ 5168 h 12800"/>
              <a:gd name="T28" fmla="*/ 3779 w 12800"/>
              <a:gd name="T29" fmla="*/ 6702 h 12800"/>
              <a:gd name="T30" fmla="*/ 3772 w 12800"/>
              <a:gd name="T31" fmla="*/ 6710 h 12800"/>
              <a:gd name="T32" fmla="*/ 1272 w 12800"/>
              <a:gd name="T33" fmla="*/ 6141 h 12800"/>
              <a:gd name="T34" fmla="*/ 1067 w 12800"/>
              <a:gd name="T35" fmla="*/ 6346 h 12800"/>
              <a:gd name="T36" fmla="*/ 2785 w 12800"/>
              <a:gd name="T37" fmla="*/ 4628 h 12800"/>
              <a:gd name="T38" fmla="*/ 4671 w 12800"/>
              <a:gd name="T39" fmla="*/ 6514 h 12800"/>
              <a:gd name="T40" fmla="*/ 5921 w 12800"/>
              <a:gd name="T41" fmla="*/ 5264 h 12800"/>
              <a:gd name="T42" fmla="*/ 5733 w 12800"/>
              <a:gd name="T43" fmla="*/ 5076 h 12800"/>
              <a:gd name="T44" fmla="*/ 4679 w 12800"/>
              <a:gd name="T45" fmla="*/ 6130 h 12800"/>
              <a:gd name="T46" fmla="*/ 3987 w 12800"/>
              <a:gd name="T47" fmla="*/ 5438 h 12800"/>
              <a:gd name="T48" fmla="*/ 4943 w 12800"/>
              <a:gd name="T49" fmla="*/ 4482 h 12800"/>
              <a:gd name="T50" fmla="*/ 4756 w 12800"/>
              <a:gd name="T51" fmla="*/ 4295 h 12800"/>
              <a:gd name="T52" fmla="*/ 3800 w 12800"/>
              <a:gd name="T53" fmla="*/ 5251 h 12800"/>
              <a:gd name="T54" fmla="*/ 3169 w 12800"/>
              <a:gd name="T55" fmla="*/ 4619 h 12800"/>
              <a:gd name="T56" fmla="*/ 4182 w 12800"/>
              <a:gd name="T57" fmla="*/ 3606 h 12800"/>
              <a:gd name="T58" fmla="*/ 3995 w 12800"/>
              <a:gd name="T59" fmla="*/ 3419 h 12800"/>
              <a:gd name="T60" fmla="*/ 2785 w 12800"/>
              <a:gd name="T61" fmla="*/ 4628 h 12800"/>
              <a:gd name="T62" fmla="*/ 4148 w 12800"/>
              <a:gd name="T63" fmla="*/ 3266 h 12800"/>
              <a:gd name="T64" fmla="*/ 6523 w 12800"/>
              <a:gd name="T65" fmla="*/ 4661 h 12800"/>
              <a:gd name="T66" fmla="*/ 6741 w 12800"/>
              <a:gd name="T67" fmla="*/ 4444 h 12800"/>
              <a:gd name="T68" fmla="*/ 5559 w 12800"/>
              <a:gd name="T69" fmla="*/ 2483 h 12800"/>
              <a:gd name="T70" fmla="*/ 5566 w 12800"/>
              <a:gd name="T71" fmla="*/ 2476 h 12800"/>
              <a:gd name="T72" fmla="*/ 7525 w 12800"/>
              <a:gd name="T73" fmla="*/ 3660 h 12800"/>
              <a:gd name="T74" fmla="*/ 7742 w 12800"/>
              <a:gd name="T75" fmla="*/ 3442 h 12800"/>
              <a:gd name="T76" fmla="*/ 6346 w 12800"/>
              <a:gd name="T77" fmla="*/ 1067 h 12800"/>
              <a:gd name="T78" fmla="*/ 6127 w 12800"/>
              <a:gd name="T79" fmla="*/ 1287 h 12800"/>
              <a:gd name="T80" fmla="*/ 7333 w 12800"/>
              <a:gd name="T81" fmla="*/ 3244 h 12800"/>
              <a:gd name="T82" fmla="*/ 7324 w 12800"/>
              <a:gd name="T83" fmla="*/ 3253 h 12800"/>
              <a:gd name="T84" fmla="*/ 5355 w 12800"/>
              <a:gd name="T85" fmla="*/ 2059 h 12800"/>
              <a:gd name="T86" fmla="*/ 5142 w 12800"/>
              <a:gd name="T87" fmla="*/ 2271 h 12800"/>
              <a:gd name="T88" fmla="*/ 6334 w 12800"/>
              <a:gd name="T89" fmla="*/ 4243 h 12800"/>
              <a:gd name="T90" fmla="*/ 6325 w 12800"/>
              <a:gd name="T91" fmla="*/ 4252 h 12800"/>
              <a:gd name="T92" fmla="*/ 4367 w 12800"/>
              <a:gd name="T93" fmla="*/ 3046 h 12800"/>
              <a:gd name="T94" fmla="*/ 4147 w 12800"/>
              <a:gd name="T95" fmla="*/ 3266 h 12800"/>
              <a:gd name="T96" fmla="*/ 4148 w 12800"/>
              <a:gd name="T97" fmla="*/ 3266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800" h="12800">
                <a:moveTo>
                  <a:pt x="12800" y="0"/>
                </a:moveTo>
                <a:lnTo>
                  <a:pt x="6628" y="6400"/>
                </a:lnTo>
                <a:lnTo>
                  <a:pt x="0" y="12800"/>
                </a:lnTo>
                <a:lnTo>
                  <a:pt x="0" y="0"/>
                </a:lnTo>
                <a:lnTo>
                  <a:pt x="12800" y="0"/>
                </a:lnTo>
                <a:close/>
                <a:moveTo>
                  <a:pt x="1067" y="6346"/>
                </a:moveTo>
                <a:lnTo>
                  <a:pt x="2952" y="8232"/>
                </a:lnTo>
                <a:lnTo>
                  <a:pt x="3148" y="8036"/>
                </a:lnTo>
                <a:lnTo>
                  <a:pt x="1598" y="6486"/>
                </a:lnTo>
                <a:lnTo>
                  <a:pt x="1605" y="6479"/>
                </a:lnTo>
                <a:lnTo>
                  <a:pt x="4126" y="7058"/>
                </a:lnTo>
                <a:lnTo>
                  <a:pt x="4327" y="6858"/>
                </a:lnTo>
                <a:lnTo>
                  <a:pt x="2441" y="4972"/>
                </a:lnTo>
                <a:lnTo>
                  <a:pt x="2245" y="5168"/>
                </a:lnTo>
                <a:lnTo>
                  <a:pt x="3779" y="6702"/>
                </a:lnTo>
                <a:lnTo>
                  <a:pt x="3772" y="6710"/>
                </a:lnTo>
                <a:lnTo>
                  <a:pt x="1272" y="6141"/>
                </a:lnTo>
                <a:lnTo>
                  <a:pt x="1067" y="6346"/>
                </a:lnTo>
                <a:close/>
                <a:moveTo>
                  <a:pt x="2785" y="4628"/>
                </a:moveTo>
                <a:lnTo>
                  <a:pt x="4671" y="6514"/>
                </a:lnTo>
                <a:lnTo>
                  <a:pt x="5921" y="5264"/>
                </a:lnTo>
                <a:lnTo>
                  <a:pt x="5733" y="5076"/>
                </a:lnTo>
                <a:lnTo>
                  <a:pt x="4679" y="6130"/>
                </a:lnTo>
                <a:lnTo>
                  <a:pt x="3987" y="5438"/>
                </a:lnTo>
                <a:lnTo>
                  <a:pt x="4943" y="4482"/>
                </a:lnTo>
                <a:lnTo>
                  <a:pt x="4756" y="4295"/>
                </a:lnTo>
                <a:lnTo>
                  <a:pt x="3800" y="5251"/>
                </a:lnTo>
                <a:lnTo>
                  <a:pt x="3169" y="4619"/>
                </a:lnTo>
                <a:lnTo>
                  <a:pt x="4182" y="3606"/>
                </a:lnTo>
                <a:lnTo>
                  <a:pt x="3995" y="3419"/>
                </a:lnTo>
                <a:lnTo>
                  <a:pt x="2785" y="4628"/>
                </a:lnTo>
                <a:close/>
                <a:moveTo>
                  <a:pt x="4148" y="3266"/>
                </a:moveTo>
                <a:lnTo>
                  <a:pt x="6523" y="4661"/>
                </a:lnTo>
                <a:lnTo>
                  <a:pt x="6741" y="4444"/>
                </a:lnTo>
                <a:lnTo>
                  <a:pt x="5559" y="2483"/>
                </a:lnTo>
                <a:lnTo>
                  <a:pt x="5566" y="2476"/>
                </a:lnTo>
                <a:lnTo>
                  <a:pt x="7525" y="3660"/>
                </a:lnTo>
                <a:lnTo>
                  <a:pt x="7742" y="3442"/>
                </a:lnTo>
                <a:lnTo>
                  <a:pt x="6346" y="1067"/>
                </a:lnTo>
                <a:lnTo>
                  <a:pt x="6127" y="1287"/>
                </a:lnTo>
                <a:lnTo>
                  <a:pt x="7333" y="3244"/>
                </a:lnTo>
                <a:lnTo>
                  <a:pt x="7324" y="3253"/>
                </a:lnTo>
                <a:lnTo>
                  <a:pt x="5355" y="2059"/>
                </a:lnTo>
                <a:lnTo>
                  <a:pt x="5142" y="2271"/>
                </a:lnTo>
                <a:lnTo>
                  <a:pt x="6334" y="4243"/>
                </a:lnTo>
                <a:lnTo>
                  <a:pt x="6325" y="4252"/>
                </a:lnTo>
                <a:lnTo>
                  <a:pt x="4367" y="3046"/>
                </a:lnTo>
                <a:lnTo>
                  <a:pt x="4147" y="3266"/>
                </a:lnTo>
                <a:lnTo>
                  <a:pt x="4148" y="3266"/>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36" name="iconfont-11511-5466055"/>
          <p:cNvSpPr/>
          <p:nvPr/>
        </p:nvSpPr>
        <p:spPr>
          <a:xfrm>
            <a:off x="9604988" y="1184719"/>
            <a:ext cx="296064" cy="296064"/>
          </a:xfrm>
          <a:custGeom>
            <a:avLst/>
            <a:gdLst>
              <a:gd name="T0" fmla="*/ 12800 w 12800"/>
              <a:gd name="T1" fmla="*/ 0 h 12800"/>
              <a:gd name="T2" fmla="*/ 6628 w 12800"/>
              <a:gd name="T3" fmla="*/ 6400 h 12800"/>
              <a:gd name="T4" fmla="*/ 0 w 12800"/>
              <a:gd name="T5" fmla="*/ 12800 h 12800"/>
              <a:gd name="T6" fmla="*/ 0 w 12800"/>
              <a:gd name="T7" fmla="*/ 0 h 12800"/>
              <a:gd name="T8" fmla="*/ 12800 w 12800"/>
              <a:gd name="T9" fmla="*/ 0 h 12800"/>
              <a:gd name="T10" fmla="*/ 1067 w 12800"/>
              <a:gd name="T11" fmla="*/ 6346 h 12800"/>
              <a:gd name="T12" fmla="*/ 2952 w 12800"/>
              <a:gd name="T13" fmla="*/ 8232 h 12800"/>
              <a:gd name="T14" fmla="*/ 3148 w 12800"/>
              <a:gd name="T15" fmla="*/ 8036 h 12800"/>
              <a:gd name="T16" fmla="*/ 1598 w 12800"/>
              <a:gd name="T17" fmla="*/ 6486 h 12800"/>
              <a:gd name="T18" fmla="*/ 1605 w 12800"/>
              <a:gd name="T19" fmla="*/ 6479 h 12800"/>
              <a:gd name="T20" fmla="*/ 4126 w 12800"/>
              <a:gd name="T21" fmla="*/ 7058 h 12800"/>
              <a:gd name="T22" fmla="*/ 4327 w 12800"/>
              <a:gd name="T23" fmla="*/ 6858 h 12800"/>
              <a:gd name="T24" fmla="*/ 2441 w 12800"/>
              <a:gd name="T25" fmla="*/ 4972 h 12800"/>
              <a:gd name="T26" fmla="*/ 2245 w 12800"/>
              <a:gd name="T27" fmla="*/ 5168 h 12800"/>
              <a:gd name="T28" fmla="*/ 3779 w 12800"/>
              <a:gd name="T29" fmla="*/ 6702 h 12800"/>
              <a:gd name="T30" fmla="*/ 3772 w 12800"/>
              <a:gd name="T31" fmla="*/ 6710 h 12800"/>
              <a:gd name="T32" fmla="*/ 1272 w 12800"/>
              <a:gd name="T33" fmla="*/ 6141 h 12800"/>
              <a:gd name="T34" fmla="*/ 1067 w 12800"/>
              <a:gd name="T35" fmla="*/ 6346 h 12800"/>
              <a:gd name="T36" fmla="*/ 2785 w 12800"/>
              <a:gd name="T37" fmla="*/ 4628 h 12800"/>
              <a:gd name="T38" fmla="*/ 4671 w 12800"/>
              <a:gd name="T39" fmla="*/ 6514 h 12800"/>
              <a:gd name="T40" fmla="*/ 5921 w 12800"/>
              <a:gd name="T41" fmla="*/ 5264 h 12800"/>
              <a:gd name="T42" fmla="*/ 5733 w 12800"/>
              <a:gd name="T43" fmla="*/ 5076 h 12800"/>
              <a:gd name="T44" fmla="*/ 4679 w 12800"/>
              <a:gd name="T45" fmla="*/ 6130 h 12800"/>
              <a:gd name="T46" fmla="*/ 3987 w 12800"/>
              <a:gd name="T47" fmla="*/ 5438 h 12800"/>
              <a:gd name="T48" fmla="*/ 4943 w 12800"/>
              <a:gd name="T49" fmla="*/ 4482 h 12800"/>
              <a:gd name="T50" fmla="*/ 4756 w 12800"/>
              <a:gd name="T51" fmla="*/ 4295 h 12800"/>
              <a:gd name="T52" fmla="*/ 3800 w 12800"/>
              <a:gd name="T53" fmla="*/ 5251 h 12800"/>
              <a:gd name="T54" fmla="*/ 3169 w 12800"/>
              <a:gd name="T55" fmla="*/ 4619 h 12800"/>
              <a:gd name="T56" fmla="*/ 4182 w 12800"/>
              <a:gd name="T57" fmla="*/ 3606 h 12800"/>
              <a:gd name="T58" fmla="*/ 3995 w 12800"/>
              <a:gd name="T59" fmla="*/ 3419 h 12800"/>
              <a:gd name="T60" fmla="*/ 2785 w 12800"/>
              <a:gd name="T61" fmla="*/ 4628 h 12800"/>
              <a:gd name="T62" fmla="*/ 4148 w 12800"/>
              <a:gd name="T63" fmla="*/ 3266 h 12800"/>
              <a:gd name="T64" fmla="*/ 6523 w 12800"/>
              <a:gd name="T65" fmla="*/ 4661 h 12800"/>
              <a:gd name="T66" fmla="*/ 6741 w 12800"/>
              <a:gd name="T67" fmla="*/ 4444 h 12800"/>
              <a:gd name="T68" fmla="*/ 5559 w 12800"/>
              <a:gd name="T69" fmla="*/ 2483 h 12800"/>
              <a:gd name="T70" fmla="*/ 5566 w 12800"/>
              <a:gd name="T71" fmla="*/ 2476 h 12800"/>
              <a:gd name="T72" fmla="*/ 7525 w 12800"/>
              <a:gd name="T73" fmla="*/ 3660 h 12800"/>
              <a:gd name="T74" fmla="*/ 7742 w 12800"/>
              <a:gd name="T75" fmla="*/ 3442 h 12800"/>
              <a:gd name="T76" fmla="*/ 6346 w 12800"/>
              <a:gd name="T77" fmla="*/ 1067 h 12800"/>
              <a:gd name="T78" fmla="*/ 6127 w 12800"/>
              <a:gd name="T79" fmla="*/ 1287 h 12800"/>
              <a:gd name="T80" fmla="*/ 7333 w 12800"/>
              <a:gd name="T81" fmla="*/ 3244 h 12800"/>
              <a:gd name="T82" fmla="*/ 7324 w 12800"/>
              <a:gd name="T83" fmla="*/ 3253 h 12800"/>
              <a:gd name="T84" fmla="*/ 5355 w 12800"/>
              <a:gd name="T85" fmla="*/ 2059 h 12800"/>
              <a:gd name="T86" fmla="*/ 5142 w 12800"/>
              <a:gd name="T87" fmla="*/ 2271 h 12800"/>
              <a:gd name="T88" fmla="*/ 6334 w 12800"/>
              <a:gd name="T89" fmla="*/ 4243 h 12800"/>
              <a:gd name="T90" fmla="*/ 6325 w 12800"/>
              <a:gd name="T91" fmla="*/ 4252 h 12800"/>
              <a:gd name="T92" fmla="*/ 4367 w 12800"/>
              <a:gd name="T93" fmla="*/ 3046 h 12800"/>
              <a:gd name="T94" fmla="*/ 4147 w 12800"/>
              <a:gd name="T95" fmla="*/ 3266 h 12800"/>
              <a:gd name="T96" fmla="*/ 4148 w 12800"/>
              <a:gd name="T97" fmla="*/ 3266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800" h="12800">
                <a:moveTo>
                  <a:pt x="12800" y="0"/>
                </a:moveTo>
                <a:lnTo>
                  <a:pt x="6628" y="6400"/>
                </a:lnTo>
                <a:lnTo>
                  <a:pt x="0" y="12800"/>
                </a:lnTo>
                <a:lnTo>
                  <a:pt x="0" y="0"/>
                </a:lnTo>
                <a:lnTo>
                  <a:pt x="12800" y="0"/>
                </a:lnTo>
                <a:close/>
                <a:moveTo>
                  <a:pt x="1067" y="6346"/>
                </a:moveTo>
                <a:lnTo>
                  <a:pt x="2952" y="8232"/>
                </a:lnTo>
                <a:lnTo>
                  <a:pt x="3148" y="8036"/>
                </a:lnTo>
                <a:lnTo>
                  <a:pt x="1598" y="6486"/>
                </a:lnTo>
                <a:lnTo>
                  <a:pt x="1605" y="6479"/>
                </a:lnTo>
                <a:lnTo>
                  <a:pt x="4126" y="7058"/>
                </a:lnTo>
                <a:lnTo>
                  <a:pt x="4327" y="6858"/>
                </a:lnTo>
                <a:lnTo>
                  <a:pt x="2441" y="4972"/>
                </a:lnTo>
                <a:lnTo>
                  <a:pt x="2245" y="5168"/>
                </a:lnTo>
                <a:lnTo>
                  <a:pt x="3779" y="6702"/>
                </a:lnTo>
                <a:lnTo>
                  <a:pt x="3772" y="6710"/>
                </a:lnTo>
                <a:lnTo>
                  <a:pt x="1272" y="6141"/>
                </a:lnTo>
                <a:lnTo>
                  <a:pt x="1067" y="6346"/>
                </a:lnTo>
                <a:close/>
                <a:moveTo>
                  <a:pt x="2785" y="4628"/>
                </a:moveTo>
                <a:lnTo>
                  <a:pt x="4671" y="6514"/>
                </a:lnTo>
                <a:lnTo>
                  <a:pt x="5921" y="5264"/>
                </a:lnTo>
                <a:lnTo>
                  <a:pt x="5733" y="5076"/>
                </a:lnTo>
                <a:lnTo>
                  <a:pt x="4679" y="6130"/>
                </a:lnTo>
                <a:lnTo>
                  <a:pt x="3987" y="5438"/>
                </a:lnTo>
                <a:lnTo>
                  <a:pt x="4943" y="4482"/>
                </a:lnTo>
                <a:lnTo>
                  <a:pt x="4756" y="4295"/>
                </a:lnTo>
                <a:lnTo>
                  <a:pt x="3800" y="5251"/>
                </a:lnTo>
                <a:lnTo>
                  <a:pt x="3169" y="4619"/>
                </a:lnTo>
                <a:lnTo>
                  <a:pt x="4182" y="3606"/>
                </a:lnTo>
                <a:lnTo>
                  <a:pt x="3995" y="3419"/>
                </a:lnTo>
                <a:lnTo>
                  <a:pt x="2785" y="4628"/>
                </a:lnTo>
                <a:close/>
                <a:moveTo>
                  <a:pt x="4148" y="3266"/>
                </a:moveTo>
                <a:lnTo>
                  <a:pt x="6523" y="4661"/>
                </a:lnTo>
                <a:lnTo>
                  <a:pt x="6741" y="4444"/>
                </a:lnTo>
                <a:lnTo>
                  <a:pt x="5559" y="2483"/>
                </a:lnTo>
                <a:lnTo>
                  <a:pt x="5566" y="2476"/>
                </a:lnTo>
                <a:lnTo>
                  <a:pt x="7525" y="3660"/>
                </a:lnTo>
                <a:lnTo>
                  <a:pt x="7742" y="3442"/>
                </a:lnTo>
                <a:lnTo>
                  <a:pt x="6346" y="1067"/>
                </a:lnTo>
                <a:lnTo>
                  <a:pt x="6127" y="1287"/>
                </a:lnTo>
                <a:lnTo>
                  <a:pt x="7333" y="3244"/>
                </a:lnTo>
                <a:lnTo>
                  <a:pt x="7324" y="3253"/>
                </a:lnTo>
                <a:lnTo>
                  <a:pt x="5355" y="2059"/>
                </a:lnTo>
                <a:lnTo>
                  <a:pt x="5142" y="2271"/>
                </a:lnTo>
                <a:lnTo>
                  <a:pt x="6334" y="4243"/>
                </a:lnTo>
                <a:lnTo>
                  <a:pt x="6325" y="4252"/>
                </a:lnTo>
                <a:lnTo>
                  <a:pt x="4367" y="3046"/>
                </a:lnTo>
                <a:lnTo>
                  <a:pt x="4147" y="3266"/>
                </a:lnTo>
                <a:lnTo>
                  <a:pt x="4148" y="3266"/>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37" name="iconfont-10187-1761481"/>
          <p:cNvSpPr/>
          <p:nvPr/>
        </p:nvSpPr>
        <p:spPr>
          <a:xfrm>
            <a:off x="1438926" y="4016299"/>
            <a:ext cx="204019" cy="181329"/>
          </a:xfrm>
          <a:custGeom>
            <a:avLst/>
            <a:gdLst>
              <a:gd name="T0" fmla="*/ 7328 w 11520"/>
              <a:gd name="T1" fmla="*/ 6720 h 10240"/>
              <a:gd name="T2" fmla="*/ 6048 w 11520"/>
              <a:gd name="T3" fmla="*/ 6720 h 10240"/>
              <a:gd name="T4" fmla="*/ 6048 w 11520"/>
              <a:gd name="T5" fmla="*/ 5440 h 10240"/>
              <a:gd name="T6" fmla="*/ 5728 w 11520"/>
              <a:gd name="T7" fmla="*/ 5120 h 10240"/>
              <a:gd name="T8" fmla="*/ 5408 w 11520"/>
              <a:gd name="T9" fmla="*/ 5440 h 10240"/>
              <a:gd name="T10" fmla="*/ 5408 w 11520"/>
              <a:gd name="T11" fmla="*/ 6720 h 10240"/>
              <a:gd name="T12" fmla="*/ 4128 w 11520"/>
              <a:gd name="T13" fmla="*/ 6720 h 10240"/>
              <a:gd name="T14" fmla="*/ 3808 w 11520"/>
              <a:gd name="T15" fmla="*/ 7040 h 10240"/>
              <a:gd name="T16" fmla="*/ 4128 w 11520"/>
              <a:gd name="T17" fmla="*/ 7360 h 10240"/>
              <a:gd name="T18" fmla="*/ 5408 w 11520"/>
              <a:gd name="T19" fmla="*/ 7360 h 10240"/>
              <a:gd name="T20" fmla="*/ 5408 w 11520"/>
              <a:gd name="T21" fmla="*/ 8640 h 10240"/>
              <a:gd name="T22" fmla="*/ 5728 w 11520"/>
              <a:gd name="T23" fmla="*/ 8960 h 10240"/>
              <a:gd name="T24" fmla="*/ 6048 w 11520"/>
              <a:gd name="T25" fmla="*/ 8640 h 10240"/>
              <a:gd name="T26" fmla="*/ 6048 w 11520"/>
              <a:gd name="T27" fmla="*/ 7360 h 10240"/>
              <a:gd name="T28" fmla="*/ 7328 w 11520"/>
              <a:gd name="T29" fmla="*/ 7360 h 10240"/>
              <a:gd name="T30" fmla="*/ 7648 w 11520"/>
              <a:gd name="T31" fmla="*/ 7040 h 10240"/>
              <a:gd name="T32" fmla="*/ 7328 w 11520"/>
              <a:gd name="T33" fmla="*/ 6720 h 10240"/>
              <a:gd name="T34" fmla="*/ 11168 w 11520"/>
              <a:gd name="T35" fmla="*/ 1920 h 10240"/>
              <a:gd name="T36" fmla="*/ 8864 w 11520"/>
              <a:gd name="T37" fmla="*/ 1920 h 10240"/>
              <a:gd name="T38" fmla="*/ 8672 w 11520"/>
              <a:gd name="T39" fmla="*/ 288 h 10240"/>
              <a:gd name="T40" fmla="*/ 8352 w 11520"/>
              <a:gd name="T41" fmla="*/ 0 h 10240"/>
              <a:gd name="T42" fmla="*/ 3136 w 11520"/>
              <a:gd name="T43" fmla="*/ 0 h 10240"/>
              <a:gd name="T44" fmla="*/ 2816 w 11520"/>
              <a:gd name="T45" fmla="*/ 288 h 10240"/>
              <a:gd name="T46" fmla="*/ 2624 w 11520"/>
              <a:gd name="T47" fmla="*/ 1920 h 10240"/>
              <a:gd name="T48" fmla="*/ 320 w 11520"/>
              <a:gd name="T49" fmla="*/ 1920 h 10240"/>
              <a:gd name="T50" fmla="*/ 0 w 11520"/>
              <a:gd name="T51" fmla="*/ 2240 h 10240"/>
              <a:gd name="T52" fmla="*/ 0 w 11520"/>
              <a:gd name="T53" fmla="*/ 9920 h 10240"/>
              <a:gd name="T54" fmla="*/ 320 w 11520"/>
              <a:gd name="T55" fmla="*/ 10240 h 10240"/>
              <a:gd name="T56" fmla="*/ 11200 w 11520"/>
              <a:gd name="T57" fmla="*/ 10240 h 10240"/>
              <a:gd name="T58" fmla="*/ 11520 w 11520"/>
              <a:gd name="T59" fmla="*/ 9920 h 10240"/>
              <a:gd name="T60" fmla="*/ 11520 w 11520"/>
              <a:gd name="T61" fmla="*/ 2240 h 10240"/>
              <a:gd name="T62" fmla="*/ 11168 w 11520"/>
              <a:gd name="T63" fmla="*/ 1920 h 10240"/>
              <a:gd name="T64" fmla="*/ 3424 w 11520"/>
              <a:gd name="T65" fmla="*/ 640 h 10240"/>
              <a:gd name="T66" fmla="*/ 8064 w 11520"/>
              <a:gd name="T67" fmla="*/ 640 h 10240"/>
              <a:gd name="T68" fmla="*/ 8224 w 11520"/>
              <a:gd name="T69" fmla="*/ 1920 h 10240"/>
              <a:gd name="T70" fmla="*/ 3264 w 11520"/>
              <a:gd name="T71" fmla="*/ 1920 h 10240"/>
              <a:gd name="T72" fmla="*/ 3424 w 11520"/>
              <a:gd name="T73" fmla="*/ 640 h 10240"/>
              <a:gd name="T74" fmla="*/ 608 w 11520"/>
              <a:gd name="T75" fmla="*/ 2560 h 10240"/>
              <a:gd name="T76" fmla="*/ 10848 w 11520"/>
              <a:gd name="T77" fmla="*/ 2560 h 10240"/>
              <a:gd name="T78" fmla="*/ 10848 w 11520"/>
              <a:gd name="T79" fmla="*/ 3840 h 10240"/>
              <a:gd name="T80" fmla="*/ 9248 w 11520"/>
              <a:gd name="T81" fmla="*/ 3840 h 10240"/>
              <a:gd name="T82" fmla="*/ 9248 w 11520"/>
              <a:gd name="T83" fmla="*/ 3520 h 10240"/>
              <a:gd name="T84" fmla="*/ 8928 w 11520"/>
              <a:gd name="T85" fmla="*/ 3200 h 10240"/>
              <a:gd name="T86" fmla="*/ 8608 w 11520"/>
              <a:gd name="T87" fmla="*/ 3520 h 10240"/>
              <a:gd name="T88" fmla="*/ 8608 w 11520"/>
              <a:gd name="T89" fmla="*/ 3840 h 10240"/>
              <a:gd name="T90" fmla="*/ 2848 w 11520"/>
              <a:gd name="T91" fmla="*/ 3840 h 10240"/>
              <a:gd name="T92" fmla="*/ 2848 w 11520"/>
              <a:gd name="T93" fmla="*/ 3520 h 10240"/>
              <a:gd name="T94" fmla="*/ 2528 w 11520"/>
              <a:gd name="T95" fmla="*/ 3200 h 10240"/>
              <a:gd name="T96" fmla="*/ 2208 w 11520"/>
              <a:gd name="T97" fmla="*/ 3520 h 10240"/>
              <a:gd name="T98" fmla="*/ 2208 w 11520"/>
              <a:gd name="T99" fmla="*/ 3840 h 10240"/>
              <a:gd name="T100" fmla="*/ 608 w 11520"/>
              <a:gd name="T101" fmla="*/ 3840 h 10240"/>
              <a:gd name="T102" fmla="*/ 608 w 11520"/>
              <a:gd name="T103" fmla="*/ 2560 h 10240"/>
              <a:gd name="T104" fmla="*/ 10848 w 11520"/>
              <a:gd name="T105" fmla="*/ 9600 h 10240"/>
              <a:gd name="T106" fmla="*/ 608 w 11520"/>
              <a:gd name="T107" fmla="*/ 9600 h 10240"/>
              <a:gd name="T108" fmla="*/ 608 w 11520"/>
              <a:gd name="T109" fmla="*/ 4480 h 10240"/>
              <a:gd name="T110" fmla="*/ 10848 w 11520"/>
              <a:gd name="T111" fmla="*/ 4480 h 10240"/>
              <a:gd name="T112" fmla="*/ 10848 w 11520"/>
              <a:gd name="T113" fmla="*/ 9600 h 10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520" h="10240">
                <a:moveTo>
                  <a:pt x="7328" y="6720"/>
                </a:moveTo>
                <a:lnTo>
                  <a:pt x="6048" y="6720"/>
                </a:lnTo>
                <a:lnTo>
                  <a:pt x="6048" y="5440"/>
                </a:lnTo>
                <a:cubicBezTo>
                  <a:pt x="6048" y="5280"/>
                  <a:pt x="5888" y="5120"/>
                  <a:pt x="5728" y="5120"/>
                </a:cubicBezTo>
                <a:cubicBezTo>
                  <a:pt x="5568" y="5120"/>
                  <a:pt x="5408" y="5280"/>
                  <a:pt x="5408" y="5440"/>
                </a:cubicBezTo>
                <a:lnTo>
                  <a:pt x="5408" y="6720"/>
                </a:lnTo>
                <a:lnTo>
                  <a:pt x="4128" y="6720"/>
                </a:lnTo>
                <a:cubicBezTo>
                  <a:pt x="3968" y="6720"/>
                  <a:pt x="3808" y="6880"/>
                  <a:pt x="3808" y="7040"/>
                </a:cubicBezTo>
                <a:cubicBezTo>
                  <a:pt x="3808" y="7200"/>
                  <a:pt x="3968" y="7360"/>
                  <a:pt x="4128" y="7360"/>
                </a:cubicBezTo>
                <a:lnTo>
                  <a:pt x="5408" y="7360"/>
                </a:lnTo>
                <a:lnTo>
                  <a:pt x="5408" y="8640"/>
                </a:lnTo>
                <a:cubicBezTo>
                  <a:pt x="5408" y="8800"/>
                  <a:pt x="5568" y="8960"/>
                  <a:pt x="5728" y="8960"/>
                </a:cubicBezTo>
                <a:cubicBezTo>
                  <a:pt x="5888" y="8960"/>
                  <a:pt x="6048" y="8800"/>
                  <a:pt x="6048" y="8640"/>
                </a:cubicBezTo>
                <a:lnTo>
                  <a:pt x="6048" y="7360"/>
                </a:lnTo>
                <a:lnTo>
                  <a:pt x="7328" y="7360"/>
                </a:lnTo>
                <a:cubicBezTo>
                  <a:pt x="7488" y="7360"/>
                  <a:pt x="7648" y="7200"/>
                  <a:pt x="7648" y="7040"/>
                </a:cubicBezTo>
                <a:cubicBezTo>
                  <a:pt x="7648" y="6880"/>
                  <a:pt x="7488" y="6720"/>
                  <a:pt x="7328" y="6720"/>
                </a:cubicBezTo>
                <a:close/>
                <a:moveTo>
                  <a:pt x="11168" y="1920"/>
                </a:moveTo>
                <a:lnTo>
                  <a:pt x="8864" y="1920"/>
                </a:lnTo>
                <a:lnTo>
                  <a:pt x="8672" y="288"/>
                </a:lnTo>
                <a:cubicBezTo>
                  <a:pt x="8640" y="128"/>
                  <a:pt x="8512" y="0"/>
                  <a:pt x="8352" y="0"/>
                </a:cubicBezTo>
                <a:lnTo>
                  <a:pt x="3136" y="0"/>
                </a:lnTo>
                <a:cubicBezTo>
                  <a:pt x="2976" y="0"/>
                  <a:pt x="2848" y="128"/>
                  <a:pt x="2816" y="288"/>
                </a:cubicBezTo>
                <a:lnTo>
                  <a:pt x="2624" y="1920"/>
                </a:lnTo>
                <a:lnTo>
                  <a:pt x="320" y="1920"/>
                </a:lnTo>
                <a:cubicBezTo>
                  <a:pt x="160" y="1920"/>
                  <a:pt x="0" y="2080"/>
                  <a:pt x="0" y="2240"/>
                </a:cubicBezTo>
                <a:lnTo>
                  <a:pt x="0" y="9920"/>
                </a:lnTo>
                <a:cubicBezTo>
                  <a:pt x="0" y="10080"/>
                  <a:pt x="160" y="10240"/>
                  <a:pt x="320" y="10240"/>
                </a:cubicBezTo>
                <a:lnTo>
                  <a:pt x="11200" y="10240"/>
                </a:lnTo>
                <a:cubicBezTo>
                  <a:pt x="11360" y="10240"/>
                  <a:pt x="11520" y="10080"/>
                  <a:pt x="11520" y="9920"/>
                </a:cubicBezTo>
                <a:lnTo>
                  <a:pt x="11520" y="2240"/>
                </a:lnTo>
                <a:cubicBezTo>
                  <a:pt x="11488" y="2080"/>
                  <a:pt x="11328" y="1920"/>
                  <a:pt x="11168" y="1920"/>
                </a:cubicBezTo>
                <a:close/>
                <a:moveTo>
                  <a:pt x="3424" y="640"/>
                </a:moveTo>
                <a:lnTo>
                  <a:pt x="8064" y="640"/>
                </a:lnTo>
                <a:lnTo>
                  <a:pt x="8224" y="1920"/>
                </a:lnTo>
                <a:lnTo>
                  <a:pt x="3264" y="1920"/>
                </a:lnTo>
                <a:lnTo>
                  <a:pt x="3424" y="640"/>
                </a:lnTo>
                <a:close/>
                <a:moveTo>
                  <a:pt x="608" y="2560"/>
                </a:moveTo>
                <a:lnTo>
                  <a:pt x="10848" y="2560"/>
                </a:lnTo>
                <a:lnTo>
                  <a:pt x="10848" y="3840"/>
                </a:lnTo>
                <a:lnTo>
                  <a:pt x="9248" y="3840"/>
                </a:lnTo>
                <a:lnTo>
                  <a:pt x="9248" y="3520"/>
                </a:lnTo>
                <a:cubicBezTo>
                  <a:pt x="9248" y="3360"/>
                  <a:pt x="9088" y="3200"/>
                  <a:pt x="8928" y="3200"/>
                </a:cubicBezTo>
                <a:cubicBezTo>
                  <a:pt x="8768" y="3200"/>
                  <a:pt x="8608" y="3360"/>
                  <a:pt x="8608" y="3520"/>
                </a:cubicBezTo>
                <a:lnTo>
                  <a:pt x="8608" y="3840"/>
                </a:lnTo>
                <a:lnTo>
                  <a:pt x="2848" y="3840"/>
                </a:lnTo>
                <a:lnTo>
                  <a:pt x="2848" y="3520"/>
                </a:lnTo>
                <a:cubicBezTo>
                  <a:pt x="2848" y="3360"/>
                  <a:pt x="2688" y="3200"/>
                  <a:pt x="2528" y="3200"/>
                </a:cubicBezTo>
                <a:cubicBezTo>
                  <a:pt x="2368" y="3200"/>
                  <a:pt x="2208" y="3360"/>
                  <a:pt x="2208" y="3520"/>
                </a:cubicBezTo>
                <a:lnTo>
                  <a:pt x="2208" y="3840"/>
                </a:lnTo>
                <a:lnTo>
                  <a:pt x="608" y="3840"/>
                </a:lnTo>
                <a:lnTo>
                  <a:pt x="608" y="2560"/>
                </a:lnTo>
                <a:close/>
                <a:moveTo>
                  <a:pt x="10848" y="9600"/>
                </a:moveTo>
                <a:lnTo>
                  <a:pt x="608" y="9600"/>
                </a:lnTo>
                <a:lnTo>
                  <a:pt x="608" y="4480"/>
                </a:lnTo>
                <a:lnTo>
                  <a:pt x="10848" y="4480"/>
                </a:lnTo>
                <a:lnTo>
                  <a:pt x="10848" y="96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38" name="iconfont-10187-1761481"/>
          <p:cNvSpPr/>
          <p:nvPr/>
        </p:nvSpPr>
        <p:spPr>
          <a:xfrm>
            <a:off x="1438926" y="2693352"/>
            <a:ext cx="204019" cy="181329"/>
          </a:xfrm>
          <a:custGeom>
            <a:avLst/>
            <a:gdLst>
              <a:gd name="T0" fmla="*/ 7328 w 11520"/>
              <a:gd name="T1" fmla="*/ 6720 h 10240"/>
              <a:gd name="T2" fmla="*/ 6048 w 11520"/>
              <a:gd name="T3" fmla="*/ 6720 h 10240"/>
              <a:gd name="T4" fmla="*/ 6048 w 11520"/>
              <a:gd name="T5" fmla="*/ 5440 h 10240"/>
              <a:gd name="T6" fmla="*/ 5728 w 11520"/>
              <a:gd name="T7" fmla="*/ 5120 h 10240"/>
              <a:gd name="T8" fmla="*/ 5408 w 11520"/>
              <a:gd name="T9" fmla="*/ 5440 h 10240"/>
              <a:gd name="T10" fmla="*/ 5408 w 11520"/>
              <a:gd name="T11" fmla="*/ 6720 h 10240"/>
              <a:gd name="T12" fmla="*/ 4128 w 11520"/>
              <a:gd name="T13" fmla="*/ 6720 h 10240"/>
              <a:gd name="T14" fmla="*/ 3808 w 11520"/>
              <a:gd name="T15" fmla="*/ 7040 h 10240"/>
              <a:gd name="T16" fmla="*/ 4128 w 11520"/>
              <a:gd name="T17" fmla="*/ 7360 h 10240"/>
              <a:gd name="T18" fmla="*/ 5408 w 11520"/>
              <a:gd name="T19" fmla="*/ 7360 h 10240"/>
              <a:gd name="T20" fmla="*/ 5408 w 11520"/>
              <a:gd name="T21" fmla="*/ 8640 h 10240"/>
              <a:gd name="T22" fmla="*/ 5728 w 11520"/>
              <a:gd name="T23" fmla="*/ 8960 h 10240"/>
              <a:gd name="T24" fmla="*/ 6048 w 11520"/>
              <a:gd name="T25" fmla="*/ 8640 h 10240"/>
              <a:gd name="T26" fmla="*/ 6048 w 11520"/>
              <a:gd name="T27" fmla="*/ 7360 h 10240"/>
              <a:gd name="T28" fmla="*/ 7328 w 11520"/>
              <a:gd name="T29" fmla="*/ 7360 h 10240"/>
              <a:gd name="T30" fmla="*/ 7648 w 11520"/>
              <a:gd name="T31" fmla="*/ 7040 h 10240"/>
              <a:gd name="T32" fmla="*/ 7328 w 11520"/>
              <a:gd name="T33" fmla="*/ 6720 h 10240"/>
              <a:gd name="T34" fmla="*/ 11168 w 11520"/>
              <a:gd name="T35" fmla="*/ 1920 h 10240"/>
              <a:gd name="T36" fmla="*/ 8864 w 11520"/>
              <a:gd name="T37" fmla="*/ 1920 h 10240"/>
              <a:gd name="T38" fmla="*/ 8672 w 11520"/>
              <a:gd name="T39" fmla="*/ 288 h 10240"/>
              <a:gd name="T40" fmla="*/ 8352 w 11520"/>
              <a:gd name="T41" fmla="*/ 0 h 10240"/>
              <a:gd name="T42" fmla="*/ 3136 w 11520"/>
              <a:gd name="T43" fmla="*/ 0 h 10240"/>
              <a:gd name="T44" fmla="*/ 2816 w 11520"/>
              <a:gd name="T45" fmla="*/ 288 h 10240"/>
              <a:gd name="T46" fmla="*/ 2624 w 11520"/>
              <a:gd name="T47" fmla="*/ 1920 h 10240"/>
              <a:gd name="T48" fmla="*/ 320 w 11520"/>
              <a:gd name="T49" fmla="*/ 1920 h 10240"/>
              <a:gd name="T50" fmla="*/ 0 w 11520"/>
              <a:gd name="T51" fmla="*/ 2240 h 10240"/>
              <a:gd name="T52" fmla="*/ 0 w 11520"/>
              <a:gd name="T53" fmla="*/ 9920 h 10240"/>
              <a:gd name="T54" fmla="*/ 320 w 11520"/>
              <a:gd name="T55" fmla="*/ 10240 h 10240"/>
              <a:gd name="T56" fmla="*/ 11200 w 11520"/>
              <a:gd name="T57" fmla="*/ 10240 h 10240"/>
              <a:gd name="T58" fmla="*/ 11520 w 11520"/>
              <a:gd name="T59" fmla="*/ 9920 h 10240"/>
              <a:gd name="T60" fmla="*/ 11520 w 11520"/>
              <a:gd name="T61" fmla="*/ 2240 h 10240"/>
              <a:gd name="T62" fmla="*/ 11168 w 11520"/>
              <a:gd name="T63" fmla="*/ 1920 h 10240"/>
              <a:gd name="T64" fmla="*/ 3424 w 11520"/>
              <a:gd name="T65" fmla="*/ 640 h 10240"/>
              <a:gd name="T66" fmla="*/ 8064 w 11520"/>
              <a:gd name="T67" fmla="*/ 640 h 10240"/>
              <a:gd name="T68" fmla="*/ 8224 w 11520"/>
              <a:gd name="T69" fmla="*/ 1920 h 10240"/>
              <a:gd name="T70" fmla="*/ 3264 w 11520"/>
              <a:gd name="T71" fmla="*/ 1920 h 10240"/>
              <a:gd name="T72" fmla="*/ 3424 w 11520"/>
              <a:gd name="T73" fmla="*/ 640 h 10240"/>
              <a:gd name="T74" fmla="*/ 608 w 11520"/>
              <a:gd name="T75" fmla="*/ 2560 h 10240"/>
              <a:gd name="T76" fmla="*/ 10848 w 11520"/>
              <a:gd name="T77" fmla="*/ 2560 h 10240"/>
              <a:gd name="T78" fmla="*/ 10848 w 11520"/>
              <a:gd name="T79" fmla="*/ 3840 h 10240"/>
              <a:gd name="T80" fmla="*/ 9248 w 11520"/>
              <a:gd name="T81" fmla="*/ 3840 h 10240"/>
              <a:gd name="T82" fmla="*/ 9248 w 11520"/>
              <a:gd name="T83" fmla="*/ 3520 h 10240"/>
              <a:gd name="T84" fmla="*/ 8928 w 11520"/>
              <a:gd name="T85" fmla="*/ 3200 h 10240"/>
              <a:gd name="T86" fmla="*/ 8608 w 11520"/>
              <a:gd name="T87" fmla="*/ 3520 h 10240"/>
              <a:gd name="T88" fmla="*/ 8608 w 11520"/>
              <a:gd name="T89" fmla="*/ 3840 h 10240"/>
              <a:gd name="T90" fmla="*/ 2848 w 11520"/>
              <a:gd name="T91" fmla="*/ 3840 h 10240"/>
              <a:gd name="T92" fmla="*/ 2848 w 11520"/>
              <a:gd name="T93" fmla="*/ 3520 h 10240"/>
              <a:gd name="T94" fmla="*/ 2528 w 11520"/>
              <a:gd name="T95" fmla="*/ 3200 h 10240"/>
              <a:gd name="T96" fmla="*/ 2208 w 11520"/>
              <a:gd name="T97" fmla="*/ 3520 h 10240"/>
              <a:gd name="T98" fmla="*/ 2208 w 11520"/>
              <a:gd name="T99" fmla="*/ 3840 h 10240"/>
              <a:gd name="T100" fmla="*/ 608 w 11520"/>
              <a:gd name="T101" fmla="*/ 3840 h 10240"/>
              <a:gd name="T102" fmla="*/ 608 w 11520"/>
              <a:gd name="T103" fmla="*/ 2560 h 10240"/>
              <a:gd name="T104" fmla="*/ 10848 w 11520"/>
              <a:gd name="T105" fmla="*/ 9600 h 10240"/>
              <a:gd name="T106" fmla="*/ 608 w 11520"/>
              <a:gd name="T107" fmla="*/ 9600 h 10240"/>
              <a:gd name="T108" fmla="*/ 608 w 11520"/>
              <a:gd name="T109" fmla="*/ 4480 h 10240"/>
              <a:gd name="T110" fmla="*/ 10848 w 11520"/>
              <a:gd name="T111" fmla="*/ 4480 h 10240"/>
              <a:gd name="T112" fmla="*/ 10848 w 11520"/>
              <a:gd name="T113" fmla="*/ 9600 h 10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520" h="10240">
                <a:moveTo>
                  <a:pt x="7328" y="6720"/>
                </a:moveTo>
                <a:lnTo>
                  <a:pt x="6048" y="6720"/>
                </a:lnTo>
                <a:lnTo>
                  <a:pt x="6048" y="5440"/>
                </a:lnTo>
                <a:cubicBezTo>
                  <a:pt x="6048" y="5280"/>
                  <a:pt x="5888" y="5120"/>
                  <a:pt x="5728" y="5120"/>
                </a:cubicBezTo>
                <a:cubicBezTo>
                  <a:pt x="5568" y="5120"/>
                  <a:pt x="5408" y="5280"/>
                  <a:pt x="5408" y="5440"/>
                </a:cubicBezTo>
                <a:lnTo>
                  <a:pt x="5408" y="6720"/>
                </a:lnTo>
                <a:lnTo>
                  <a:pt x="4128" y="6720"/>
                </a:lnTo>
                <a:cubicBezTo>
                  <a:pt x="3968" y="6720"/>
                  <a:pt x="3808" y="6880"/>
                  <a:pt x="3808" y="7040"/>
                </a:cubicBezTo>
                <a:cubicBezTo>
                  <a:pt x="3808" y="7200"/>
                  <a:pt x="3968" y="7360"/>
                  <a:pt x="4128" y="7360"/>
                </a:cubicBezTo>
                <a:lnTo>
                  <a:pt x="5408" y="7360"/>
                </a:lnTo>
                <a:lnTo>
                  <a:pt x="5408" y="8640"/>
                </a:lnTo>
                <a:cubicBezTo>
                  <a:pt x="5408" y="8800"/>
                  <a:pt x="5568" y="8960"/>
                  <a:pt x="5728" y="8960"/>
                </a:cubicBezTo>
                <a:cubicBezTo>
                  <a:pt x="5888" y="8960"/>
                  <a:pt x="6048" y="8800"/>
                  <a:pt x="6048" y="8640"/>
                </a:cubicBezTo>
                <a:lnTo>
                  <a:pt x="6048" y="7360"/>
                </a:lnTo>
                <a:lnTo>
                  <a:pt x="7328" y="7360"/>
                </a:lnTo>
                <a:cubicBezTo>
                  <a:pt x="7488" y="7360"/>
                  <a:pt x="7648" y="7200"/>
                  <a:pt x="7648" y="7040"/>
                </a:cubicBezTo>
                <a:cubicBezTo>
                  <a:pt x="7648" y="6880"/>
                  <a:pt x="7488" y="6720"/>
                  <a:pt x="7328" y="6720"/>
                </a:cubicBezTo>
                <a:close/>
                <a:moveTo>
                  <a:pt x="11168" y="1920"/>
                </a:moveTo>
                <a:lnTo>
                  <a:pt x="8864" y="1920"/>
                </a:lnTo>
                <a:lnTo>
                  <a:pt x="8672" y="288"/>
                </a:lnTo>
                <a:cubicBezTo>
                  <a:pt x="8640" y="128"/>
                  <a:pt x="8512" y="0"/>
                  <a:pt x="8352" y="0"/>
                </a:cubicBezTo>
                <a:lnTo>
                  <a:pt x="3136" y="0"/>
                </a:lnTo>
                <a:cubicBezTo>
                  <a:pt x="2976" y="0"/>
                  <a:pt x="2848" y="128"/>
                  <a:pt x="2816" y="288"/>
                </a:cubicBezTo>
                <a:lnTo>
                  <a:pt x="2624" y="1920"/>
                </a:lnTo>
                <a:lnTo>
                  <a:pt x="320" y="1920"/>
                </a:lnTo>
                <a:cubicBezTo>
                  <a:pt x="160" y="1920"/>
                  <a:pt x="0" y="2080"/>
                  <a:pt x="0" y="2240"/>
                </a:cubicBezTo>
                <a:lnTo>
                  <a:pt x="0" y="9920"/>
                </a:lnTo>
                <a:cubicBezTo>
                  <a:pt x="0" y="10080"/>
                  <a:pt x="160" y="10240"/>
                  <a:pt x="320" y="10240"/>
                </a:cubicBezTo>
                <a:lnTo>
                  <a:pt x="11200" y="10240"/>
                </a:lnTo>
                <a:cubicBezTo>
                  <a:pt x="11360" y="10240"/>
                  <a:pt x="11520" y="10080"/>
                  <a:pt x="11520" y="9920"/>
                </a:cubicBezTo>
                <a:lnTo>
                  <a:pt x="11520" y="2240"/>
                </a:lnTo>
                <a:cubicBezTo>
                  <a:pt x="11488" y="2080"/>
                  <a:pt x="11328" y="1920"/>
                  <a:pt x="11168" y="1920"/>
                </a:cubicBezTo>
                <a:close/>
                <a:moveTo>
                  <a:pt x="3424" y="640"/>
                </a:moveTo>
                <a:lnTo>
                  <a:pt x="8064" y="640"/>
                </a:lnTo>
                <a:lnTo>
                  <a:pt x="8224" y="1920"/>
                </a:lnTo>
                <a:lnTo>
                  <a:pt x="3264" y="1920"/>
                </a:lnTo>
                <a:lnTo>
                  <a:pt x="3424" y="640"/>
                </a:lnTo>
                <a:close/>
                <a:moveTo>
                  <a:pt x="608" y="2560"/>
                </a:moveTo>
                <a:lnTo>
                  <a:pt x="10848" y="2560"/>
                </a:lnTo>
                <a:lnTo>
                  <a:pt x="10848" y="3840"/>
                </a:lnTo>
                <a:lnTo>
                  <a:pt x="9248" y="3840"/>
                </a:lnTo>
                <a:lnTo>
                  <a:pt x="9248" y="3520"/>
                </a:lnTo>
                <a:cubicBezTo>
                  <a:pt x="9248" y="3360"/>
                  <a:pt x="9088" y="3200"/>
                  <a:pt x="8928" y="3200"/>
                </a:cubicBezTo>
                <a:cubicBezTo>
                  <a:pt x="8768" y="3200"/>
                  <a:pt x="8608" y="3360"/>
                  <a:pt x="8608" y="3520"/>
                </a:cubicBezTo>
                <a:lnTo>
                  <a:pt x="8608" y="3840"/>
                </a:lnTo>
                <a:lnTo>
                  <a:pt x="2848" y="3840"/>
                </a:lnTo>
                <a:lnTo>
                  <a:pt x="2848" y="3520"/>
                </a:lnTo>
                <a:cubicBezTo>
                  <a:pt x="2848" y="3360"/>
                  <a:pt x="2688" y="3200"/>
                  <a:pt x="2528" y="3200"/>
                </a:cubicBezTo>
                <a:cubicBezTo>
                  <a:pt x="2368" y="3200"/>
                  <a:pt x="2208" y="3360"/>
                  <a:pt x="2208" y="3520"/>
                </a:cubicBezTo>
                <a:lnTo>
                  <a:pt x="2208" y="3840"/>
                </a:lnTo>
                <a:lnTo>
                  <a:pt x="608" y="3840"/>
                </a:lnTo>
                <a:lnTo>
                  <a:pt x="608" y="2560"/>
                </a:lnTo>
                <a:close/>
                <a:moveTo>
                  <a:pt x="10848" y="9600"/>
                </a:moveTo>
                <a:lnTo>
                  <a:pt x="608" y="9600"/>
                </a:lnTo>
                <a:lnTo>
                  <a:pt x="608" y="4480"/>
                </a:lnTo>
                <a:lnTo>
                  <a:pt x="10848" y="4480"/>
                </a:lnTo>
                <a:lnTo>
                  <a:pt x="10848" y="96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39" name="iconfont-10187-1761481"/>
          <p:cNvSpPr/>
          <p:nvPr/>
        </p:nvSpPr>
        <p:spPr>
          <a:xfrm>
            <a:off x="1438926" y="1729466"/>
            <a:ext cx="204019" cy="181329"/>
          </a:xfrm>
          <a:custGeom>
            <a:avLst/>
            <a:gdLst>
              <a:gd name="T0" fmla="*/ 7328 w 11520"/>
              <a:gd name="T1" fmla="*/ 6720 h 10240"/>
              <a:gd name="T2" fmla="*/ 6048 w 11520"/>
              <a:gd name="T3" fmla="*/ 6720 h 10240"/>
              <a:gd name="T4" fmla="*/ 6048 w 11520"/>
              <a:gd name="T5" fmla="*/ 5440 h 10240"/>
              <a:gd name="T6" fmla="*/ 5728 w 11520"/>
              <a:gd name="T7" fmla="*/ 5120 h 10240"/>
              <a:gd name="T8" fmla="*/ 5408 w 11520"/>
              <a:gd name="T9" fmla="*/ 5440 h 10240"/>
              <a:gd name="T10" fmla="*/ 5408 w 11520"/>
              <a:gd name="T11" fmla="*/ 6720 h 10240"/>
              <a:gd name="T12" fmla="*/ 4128 w 11520"/>
              <a:gd name="T13" fmla="*/ 6720 h 10240"/>
              <a:gd name="T14" fmla="*/ 3808 w 11520"/>
              <a:gd name="T15" fmla="*/ 7040 h 10240"/>
              <a:gd name="T16" fmla="*/ 4128 w 11520"/>
              <a:gd name="T17" fmla="*/ 7360 h 10240"/>
              <a:gd name="T18" fmla="*/ 5408 w 11520"/>
              <a:gd name="T19" fmla="*/ 7360 h 10240"/>
              <a:gd name="T20" fmla="*/ 5408 w 11520"/>
              <a:gd name="T21" fmla="*/ 8640 h 10240"/>
              <a:gd name="T22" fmla="*/ 5728 w 11520"/>
              <a:gd name="T23" fmla="*/ 8960 h 10240"/>
              <a:gd name="T24" fmla="*/ 6048 w 11520"/>
              <a:gd name="T25" fmla="*/ 8640 h 10240"/>
              <a:gd name="T26" fmla="*/ 6048 w 11520"/>
              <a:gd name="T27" fmla="*/ 7360 h 10240"/>
              <a:gd name="T28" fmla="*/ 7328 w 11520"/>
              <a:gd name="T29" fmla="*/ 7360 h 10240"/>
              <a:gd name="T30" fmla="*/ 7648 w 11520"/>
              <a:gd name="T31" fmla="*/ 7040 h 10240"/>
              <a:gd name="T32" fmla="*/ 7328 w 11520"/>
              <a:gd name="T33" fmla="*/ 6720 h 10240"/>
              <a:gd name="T34" fmla="*/ 11168 w 11520"/>
              <a:gd name="T35" fmla="*/ 1920 h 10240"/>
              <a:gd name="T36" fmla="*/ 8864 w 11520"/>
              <a:gd name="T37" fmla="*/ 1920 h 10240"/>
              <a:gd name="T38" fmla="*/ 8672 w 11520"/>
              <a:gd name="T39" fmla="*/ 288 h 10240"/>
              <a:gd name="T40" fmla="*/ 8352 w 11520"/>
              <a:gd name="T41" fmla="*/ 0 h 10240"/>
              <a:gd name="T42" fmla="*/ 3136 w 11520"/>
              <a:gd name="T43" fmla="*/ 0 h 10240"/>
              <a:gd name="T44" fmla="*/ 2816 w 11520"/>
              <a:gd name="T45" fmla="*/ 288 h 10240"/>
              <a:gd name="T46" fmla="*/ 2624 w 11520"/>
              <a:gd name="T47" fmla="*/ 1920 h 10240"/>
              <a:gd name="T48" fmla="*/ 320 w 11520"/>
              <a:gd name="T49" fmla="*/ 1920 h 10240"/>
              <a:gd name="T50" fmla="*/ 0 w 11520"/>
              <a:gd name="T51" fmla="*/ 2240 h 10240"/>
              <a:gd name="T52" fmla="*/ 0 w 11520"/>
              <a:gd name="T53" fmla="*/ 9920 h 10240"/>
              <a:gd name="T54" fmla="*/ 320 w 11520"/>
              <a:gd name="T55" fmla="*/ 10240 h 10240"/>
              <a:gd name="T56" fmla="*/ 11200 w 11520"/>
              <a:gd name="T57" fmla="*/ 10240 h 10240"/>
              <a:gd name="T58" fmla="*/ 11520 w 11520"/>
              <a:gd name="T59" fmla="*/ 9920 h 10240"/>
              <a:gd name="T60" fmla="*/ 11520 w 11520"/>
              <a:gd name="T61" fmla="*/ 2240 h 10240"/>
              <a:gd name="T62" fmla="*/ 11168 w 11520"/>
              <a:gd name="T63" fmla="*/ 1920 h 10240"/>
              <a:gd name="T64" fmla="*/ 3424 w 11520"/>
              <a:gd name="T65" fmla="*/ 640 h 10240"/>
              <a:gd name="T66" fmla="*/ 8064 w 11520"/>
              <a:gd name="T67" fmla="*/ 640 h 10240"/>
              <a:gd name="T68" fmla="*/ 8224 w 11520"/>
              <a:gd name="T69" fmla="*/ 1920 h 10240"/>
              <a:gd name="T70" fmla="*/ 3264 w 11520"/>
              <a:gd name="T71" fmla="*/ 1920 h 10240"/>
              <a:gd name="T72" fmla="*/ 3424 w 11520"/>
              <a:gd name="T73" fmla="*/ 640 h 10240"/>
              <a:gd name="T74" fmla="*/ 608 w 11520"/>
              <a:gd name="T75" fmla="*/ 2560 h 10240"/>
              <a:gd name="T76" fmla="*/ 10848 w 11520"/>
              <a:gd name="T77" fmla="*/ 2560 h 10240"/>
              <a:gd name="T78" fmla="*/ 10848 w 11520"/>
              <a:gd name="T79" fmla="*/ 3840 h 10240"/>
              <a:gd name="T80" fmla="*/ 9248 w 11520"/>
              <a:gd name="T81" fmla="*/ 3840 h 10240"/>
              <a:gd name="T82" fmla="*/ 9248 w 11520"/>
              <a:gd name="T83" fmla="*/ 3520 h 10240"/>
              <a:gd name="T84" fmla="*/ 8928 w 11520"/>
              <a:gd name="T85" fmla="*/ 3200 h 10240"/>
              <a:gd name="T86" fmla="*/ 8608 w 11520"/>
              <a:gd name="T87" fmla="*/ 3520 h 10240"/>
              <a:gd name="T88" fmla="*/ 8608 w 11520"/>
              <a:gd name="T89" fmla="*/ 3840 h 10240"/>
              <a:gd name="T90" fmla="*/ 2848 w 11520"/>
              <a:gd name="T91" fmla="*/ 3840 h 10240"/>
              <a:gd name="T92" fmla="*/ 2848 w 11520"/>
              <a:gd name="T93" fmla="*/ 3520 h 10240"/>
              <a:gd name="T94" fmla="*/ 2528 w 11520"/>
              <a:gd name="T95" fmla="*/ 3200 h 10240"/>
              <a:gd name="T96" fmla="*/ 2208 w 11520"/>
              <a:gd name="T97" fmla="*/ 3520 h 10240"/>
              <a:gd name="T98" fmla="*/ 2208 w 11520"/>
              <a:gd name="T99" fmla="*/ 3840 h 10240"/>
              <a:gd name="T100" fmla="*/ 608 w 11520"/>
              <a:gd name="T101" fmla="*/ 3840 h 10240"/>
              <a:gd name="T102" fmla="*/ 608 w 11520"/>
              <a:gd name="T103" fmla="*/ 2560 h 10240"/>
              <a:gd name="T104" fmla="*/ 10848 w 11520"/>
              <a:gd name="T105" fmla="*/ 9600 h 10240"/>
              <a:gd name="T106" fmla="*/ 608 w 11520"/>
              <a:gd name="T107" fmla="*/ 9600 h 10240"/>
              <a:gd name="T108" fmla="*/ 608 w 11520"/>
              <a:gd name="T109" fmla="*/ 4480 h 10240"/>
              <a:gd name="T110" fmla="*/ 10848 w 11520"/>
              <a:gd name="T111" fmla="*/ 4480 h 10240"/>
              <a:gd name="T112" fmla="*/ 10848 w 11520"/>
              <a:gd name="T113" fmla="*/ 9600 h 10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520" h="10240">
                <a:moveTo>
                  <a:pt x="7328" y="6720"/>
                </a:moveTo>
                <a:lnTo>
                  <a:pt x="6048" y="6720"/>
                </a:lnTo>
                <a:lnTo>
                  <a:pt x="6048" y="5440"/>
                </a:lnTo>
                <a:cubicBezTo>
                  <a:pt x="6048" y="5280"/>
                  <a:pt x="5888" y="5120"/>
                  <a:pt x="5728" y="5120"/>
                </a:cubicBezTo>
                <a:cubicBezTo>
                  <a:pt x="5568" y="5120"/>
                  <a:pt x="5408" y="5280"/>
                  <a:pt x="5408" y="5440"/>
                </a:cubicBezTo>
                <a:lnTo>
                  <a:pt x="5408" y="6720"/>
                </a:lnTo>
                <a:lnTo>
                  <a:pt x="4128" y="6720"/>
                </a:lnTo>
                <a:cubicBezTo>
                  <a:pt x="3968" y="6720"/>
                  <a:pt x="3808" y="6880"/>
                  <a:pt x="3808" y="7040"/>
                </a:cubicBezTo>
                <a:cubicBezTo>
                  <a:pt x="3808" y="7200"/>
                  <a:pt x="3968" y="7360"/>
                  <a:pt x="4128" y="7360"/>
                </a:cubicBezTo>
                <a:lnTo>
                  <a:pt x="5408" y="7360"/>
                </a:lnTo>
                <a:lnTo>
                  <a:pt x="5408" y="8640"/>
                </a:lnTo>
                <a:cubicBezTo>
                  <a:pt x="5408" y="8800"/>
                  <a:pt x="5568" y="8960"/>
                  <a:pt x="5728" y="8960"/>
                </a:cubicBezTo>
                <a:cubicBezTo>
                  <a:pt x="5888" y="8960"/>
                  <a:pt x="6048" y="8800"/>
                  <a:pt x="6048" y="8640"/>
                </a:cubicBezTo>
                <a:lnTo>
                  <a:pt x="6048" y="7360"/>
                </a:lnTo>
                <a:lnTo>
                  <a:pt x="7328" y="7360"/>
                </a:lnTo>
                <a:cubicBezTo>
                  <a:pt x="7488" y="7360"/>
                  <a:pt x="7648" y="7200"/>
                  <a:pt x="7648" y="7040"/>
                </a:cubicBezTo>
                <a:cubicBezTo>
                  <a:pt x="7648" y="6880"/>
                  <a:pt x="7488" y="6720"/>
                  <a:pt x="7328" y="6720"/>
                </a:cubicBezTo>
                <a:close/>
                <a:moveTo>
                  <a:pt x="11168" y="1920"/>
                </a:moveTo>
                <a:lnTo>
                  <a:pt x="8864" y="1920"/>
                </a:lnTo>
                <a:lnTo>
                  <a:pt x="8672" y="288"/>
                </a:lnTo>
                <a:cubicBezTo>
                  <a:pt x="8640" y="128"/>
                  <a:pt x="8512" y="0"/>
                  <a:pt x="8352" y="0"/>
                </a:cubicBezTo>
                <a:lnTo>
                  <a:pt x="3136" y="0"/>
                </a:lnTo>
                <a:cubicBezTo>
                  <a:pt x="2976" y="0"/>
                  <a:pt x="2848" y="128"/>
                  <a:pt x="2816" y="288"/>
                </a:cubicBezTo>
                <a:lnTo>
                  <a:pt x="2624" y="1920"/>
                </a:lnTo>
                <a:lnTo>
                  <a:pt x="320" y="1920"/>
                </a:lnTo>
                <a:cubicBezTo>
                  <a:pt x="160" y="1920"/>
                  <a:pt x="0" y="2080"/>
                  <a:pt x="0" y="2240"/>
                </a:cubicBezTo>
                <a:lnTo>
                  <a:pt x="0" y="9920"/>
                </a:lnTo>
                <a:cubicBezTo>
                  <a:pt x="0" y="10080"/>
                  <a:pt x="160" y="10240"/>
                  <a:pt x="320" y="10240"/>
                </a:cubicBezTo>
                <a:lnTo>
                  <a:pt x="11200" y="10240"/>
                </a:lnTo>
                <a:cubicBezTo>
                  <a:pt x="11360" y="10240"/>
                  <a:pt x="11520" y="10080"/>
                  <a:pt x="11520" y="9920"/>
                </a:cubicBezTo>
                <a:lnTo>
                  <a:pt x="11520" y="2240"/>
                </a:lnTo>
                <a:cubicBezTo>
                  <a:pt x="11488" y="2080"/>
                  <a:pt x="11328" y="1920"/>
                  <a:pt x="11168" y="1920"/>
                </a:cubicBezTo>
                <a:close/>
                <a:moveTo>
                  <a:pt x="3424" y="640"/>
                </a:moveTo>
                <a:lnTo>
                  <a:pt x="8064" y="640"/>
                </a:lnTo>
                <a:lnTo>
                  <a:pt x="8224" y="1920"/>
                </a:lnTo>
                <a:lnTo>
                  <a:pt x="3264" y="1920"/>
                </a:lnTo>
                <a:lnTo>
                  <a:pt x="3424" y="640"/>
                </a:lnTo>
                <a:close/>
                <a:moveTo>
                  <a:pt x="608" y="2560"/>
                </a:moveTo>
                <a:lnTo>
                  <a:pt x="10848" y="2560"/>
                </a:lnTo>
                <a:lnTo>
                  <a:pt x="10848" y="3840"/>
                </a:lnTo>
                <a:lnTo>
                  <a:pt x="9248" y="3840"/>
                </a:lnTo>
                <a:lnTo>
                  <a:pt x="9248" y="3520"/>
                </a:lnTo>
                <a:cubicBezTo>
                  <a:pt x="9248" y="3360"/>
                  <a:pt x="9088" y="3200"/>
                  <a:pt x="8928" y="3200"/>
                </a:cubicBezTo>
                <a:cubicBezTo>
                  <a:pt x="8768" y="3200"/>
                  <a:pt x="8608" y="3360"/>
                  <a:pt x="8608" y="3520"/>
                </a:cubicBezTo>
                <a:lnTo>
                  <a:pt x="8608" y="3840"/>
                </a:lnTo>
                <a:lnTo>
                  <a:pt x="2848" y="3840"/>
                </a:lnTo>
                <a:lnTo>
                  <a:pt x="2848" y="3520"/>
                </a:lnTo>
                <a:cubicBezTo>
                  <a:pt x="2848" y="3360"/>
                  <a:pt x="2688" y="3200"/>
                  <a:pt x="2528" y="3200"/>
                </a:cubicBezTo>
                <a:cubicBezTo>
                  <a:pt x="2368" y="3200"/>
                  <a:pt x="2208" y="3360"/>
                  <a:pt x="2208" y="3520"/>
                </a:cubicBezTo>
                <a:lnTo>
                  <a:pt x="2208" y="3840"/>
                </a:lnTo>
                <a:lnTo>
                  <a:pt x="608" y="3840"/>
                </a:lnTo>
                <a:lnTo>
                  <a:pt x="608" y="2560"/>
                </a:lnTo>
                <a:close/>
                <a:moveTo>
                  <a:pt x="10848" y="9600"/>
                </a:moveTo>
                <a:lnTo>
                  <a:pt x="608" y="9600"/>
                </a:lnTo>
                <a:lnTo>
                  <a:pt x="608" y="4480"/>
                </a:lnTo>
                <a:lnTo>
                  <a:pt x="10848" y="4480"/>
                </a:lnTo>
                <a:lnTo>
                  <a:pt x="10848" y="96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40" name="iconfont-10187-1761481"/>
          <p:cNvSpPr/>
          <p:nvPr/>
        </p:nvSpPr>
        <p:spPr>
          <a:xfrm>
            <a:off x="4137289" y="1729466"/>
            <a:ext cx="204019" cy="181329"/>
          </a:xfrm>
          <a:custGeom>
            <a:avLst/>
            <a:gdLst>
              <a:gd name="T0" fmla="*/ 7328 w 11520"/>
              <a:gd name="T1" fmla="*/ 6720 h 10240"/>
              <a:gd name="T2" fmla="*/ 6048 w 11520"/>
              <a:gd name="T3" fmla="*/ 6720 h 10240"/>
              <a:gd name="T4" fmla="*/ 6048 w 11520"/>
              <a:gd name="T5" fmla="*/ 5440 h 10240"/>
              <a:gd name="T6" fmla="*/ 5728 w 11520"/>
              <a:gd name="T7" fmla="*/ 5120 h 10240"/>
              <a:gd name="T8" fmla="*/ 5408 w 11520"/>
              <a:gd name="T9" fmla="*/ 5440 h 10240"/>
              <a:gd name="T10" fmla="*/ 5408 w 11520"/>
              <a:gd name="T11" fmla="*/ 6720 h 10240"/>
              <a:gd name="T12" fmla="*/ 4128 w 11520"/>
              <a:gd name="T13" fmla="*/ 6720 h 10240"/>
              <a:gd name="T14" fmla="*/ 3808 w 11520"/>
              <a:gd name="T15" fmla="*/ 7040 h 10240"/>
              <a:gd name="T16" fmla="*/ 4128 w 11520"/>
              <a:gd name="T17" fmla="*/ 7360 h 10240"/>
              <a:gd name="T18" fmla="*/ 5408 w 11520"/>
              <a:gd name="T19" fmla="*/ 7360 h 10240"/>
              <a:gd name="T20" fmla="*/ 5408 w 11520"/>
              <a:gd name="T21" fmla="*/ 8640 h 10240"/>
              <a:gd name="T22" fmla="*/ 5728 w 11520"/>
              <a:gd name="T23" fmla="*/ 8960 h 10240"/>
              <a:gd name="T24" fmla="*/ 6048 w 11520"/>
              <a:gd name="T25" fmla="*/ 8640 h 10240"/>
              <a:gd name="T26" fmla="*/ 6048 w 11520"/>
              <a:gd name="T27" fmla="*/ 7360 h 10240"/>
              <a:gd name="T28" fmla="*/ 7328 w 11520"/>
              <a:gd name="T29" fmla="*/ 7360 h 10240"/>
              <a:gd name="T30" fmla="*/ 7648 w 11520"/>
              <a:gd name="T31" fmla="*/ 7040 h 10240"/>
              <a:gd name="T32" fmla="*/ 7328 w 11520"/>
              <a:gd name="T33" fmla="*/ 6720 h 10240"/>
              <a:gd name="T34" fmla="*/ 11168 w 11520"/>
              <a:gd name="T35" fmla="*/ 1920 h 10240"/>
              <a:gd name="T36" fmla="*/ 8864 w 11520"/>
              <a:gd name="T37" fmla="*/ 1920 h 10240"/>
              <a:gd name="T38" fmla="*/ 8672 w 11520"/>
              <a:gd name="T39" fmla="*/ 288 h 10240"/>
              <a:gd name="T40" fmla="*/ 8352 w 11520"/>
              <a:gd name="T41" fmla="*/ 0 h 10240"/>
              <a:gd name="T42" fmla="*/ 3136 w 11520"/>
              <a:gd name="T43" fmla="*/ 0 h 10240"/>
              <a:gd name="T44" fmla="*/ 2816 w 11520"/>
              <a:gd name="T45" fmla="*/ 288 h 10240"/>
              <a:gd name="T46" fmla="*/ 2624 w 11520"/>
              <a:gd name="T47" fmla="*/ 1920 h 10240"/>
              <a:gd name="T48" fmla="*/ 320 w 11520"/>
              <a:gd name="T49" fmla="*/ 1920 h 10240"/>
              <a:gd name="T50" fmla="*/ 0 w 11520"/>
              <a:gd name="T51" fmla="*/ 2240 h 10240"/>
              <a:gd name="T52" fmla="*/ 0 w 11520"/>
              <a:gd name="T53" fmla="*/ 9920 h 10240"/>
              <a:gd name="T54" fmla="*/ 320 w 11520"/>
              <a:gd name="T55" fmla="*/ 10240 h 10240"/>
              <a:gd name="T56" fmla="*/ 11200 w 11520"/>
              <a:gd name="T57" fmla="*/ 10240 h 10240"/>
              <a:gd name="T58" fmla="*/ 11520 w 11520"/>
              <a:gd name="T59" fmla="*/ 9920 h 10240"/>
              <a:gd name="T60" fmla="*/ 11520 w 11520"/>
              <a:gd name="T61" fmla="*/ 2240 h 10240"/>
              <a:gd name="T62" fmla="*/ 11168 w 11520"/>
              <a:gd name="T63" fmla="*/ 1920 h 10240"/>
              <a:gd name="T64" fmla="*/ 3424 w 11520"/>
              <a:gd name="T65" fmla="*/ 640 h 10240"/>
              <a:gd name="T66" fmla="*/ 8064 w 11520"/>
              <a:gd name="T67" fmla="*/ 640 h 10240"/>
              <a:gd name="T68" fmla="*/ 8224 w 11520"/>
              <a:gd name="T69" fmla="*/ 1920 h 10240"/>
              <a:gd name="T70" fmla="*/ 3264 w 11520"/>
              <a:gd name="T71" fmla="*/ 1920 h 10240"/>
              <a:gd name="T72" fmla="*/ 3424 w 11520"/>
              <a:gd name="T73" fmla="*/ 640 h 10240"/>
              <a:gd name="T74" fmla="*/ 608 w 11520"/>
              <a:gd name="T75" fmla="*/ 2560 h 10240"/>
              <a:gd name="T76" fmla="*/ 10848 w 11520"/>
              <a:gd name="T77" fmla="*/ 2560 h 10240"/>
              <a:gd name="T78" fmla="*/ 10848 w 11520"/>
              <a:gd name="T79" fmla="*/ 3840 h 10240"/>
              <a:gd name="T80" fmla="*/ 9248 w 11520"/>
              <a:gd name="T81" fmla="*/ 3840 h 10240"/>
              <a:gd name="T82" fmla="*/ 9248 w 11520"/>
              <a:gd name="T83" fmla="*/ 3520 h 10240"/>
              <a:gd name="T84" fmla="*/ 8928 w 11520"/>
              <a:gd name="T85" fmla="*/ 3200 h 10240"/>
              <a:gd name="T86" fmla="*/ 8608 w 11520"/>
              <a:gd name="T87" fmla="*/ 3520 h 10240"/>
              <a:gd name="T88" fmla="*/ 8608 w 11520"/>
              <a:gd name="T89" fmla="*/ 3840 h 10240"/>
              <a:gd name="T90" fmla="*/ 2848 w 11520"/>
              <a:gd name="T91" fmla="*/ 3840 h 10240"/>
              <a:gd name="T92" fmla="*/ 2848 w 11520"/>
              <a:gd name="T93" fmla="*/ 3520 h 10240"/>
              <a:gd name="T94" fmla="*/ 2528 w 11520"/>
              <a:gd name="T95" fmla="*/ 3200 h 10240"/>
              <a:gd name="T96" fmla="*/ 2208 w 11520"/>
              <a:gd name="T97" fmla="*/ 3520 h 10240"/>
              <a:gd name="T98" fmla="*/ 2208 w 11520"/>
              <a:gd name="T99" fmla="*/ 3840 h 10240"/>
              <a:gd name="T100" fmla="*/ 608 w 11520"/>
              <a:gd name="T101" fmla="*/ 3840 h 10240"/>
              <a:gd name="T102" fmla="*/ 608 w 11520"/>
              <a:gd name="T103" fmla="*/ 2560 h 10240"/>
              <a:gd name="T104" fmla="*/ 10848 w 11520"/>
              <a:gd name="T105" fmla="*/ 9600 h 10240"/>
              <a:gd name="T106" fmla="*/ 608 w 11520"/>
              <a:gd name="T107" fmla="*/ 9600 h 10240"/>
              <a:gd name="T108" fmla="*/ 608 w 11520"/>
              <a:gd name="T109" fmla="*/ 4480 h 10240"/>
              <a:gd name="T110" fmla="*/ 10848 w 11520"/>
              <a:gd name="T111" fmla="*/ 4480 h 10240"/>
              <a:gd name="T112" fmla="*/ 10848 w 11520"/>
              <a:gd name="T113" fmla="*/ 9600 h 10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520" h="10240">
                <a:moveTo>
                  <a:pt x="7328" y="6720"/>
                </a:moveTo>
                <a:lnTo>
                  <a:pt x="6048" y="6720"/>
                </a:lnTo>
                <a:lnTo>
                  <a:pt x="6048" y="5440"/>
                </a:lnTo>
                <a:cubicBezTo>
                  <a:pt x="6048" y="5280"/>
                  <a:pt x="5888" y="5120"/>
                  <a:pt x="5728" y="5120"/>
                </a:cubicBezTo>
                <a:cubicBezTo>
                  <a:pt x="5568" y="5120"/>
                  <a:pt x="5408" y="5280"/>
                  <a:pt x="5408" y="5440"/>
                </a:cubicBezTo>
                <a:lnTo>
                  <a:pt x="5408" y="6720"/>
                </a:lnTo>
                <a:lnTo>
                  <a:pt x="4128" y="6720"/>
                </a:lnTo>
                <a:cubicBezTo>
                  <a:pt x="3968" y="6720"/>
                  <a:pt x="3808" y="6880"/>
                  <a:pt x="3808" y="7040"/>
                </a:cubicBezTo>
                <a:cubicBezTo>
                  <a:pt x="3808" y="7200"/>
                  <a:pt x="3968" y="7360"/>
                  <a:pt x="4128" y="7360"/>
                </a:cubicBezTo>
                <a:lnTo>
                  <a:pt x="5408" y="7360"/>
                </a:lnTo>
                <a:lnTo>
                  <a:pt x="5408" y="8640"/>
                </a:lnTo>
                <a:cubicBezTo>
                  <a:pt x="5408" y="8800"/>
                  <a:pt x="5568" y="8960"/>
                  <a:pt x="5728" y="8960"/>
                </a:cubicBezTo>
                <a:cubicBezTo>
                  <a:pt x="5888" y="8960"/>
                  <a:pt x="6048" y="8800"/>
                  <a:pt x="6048" y="8640"/>
                </a:cubicBezTo>
                <a:lnTo>
                  <a:pt x="6048" y="7360"/>
                </a:lnTo>
                <a:lnTo>
                  <a:pt x="7328" y="7360"/>
                </a:lnTo>
                <a:cubicBezTo>
                  <a:pt x="7488" y="7360"/>
                  <a:pt x="7648" y="7200"/>
                  <a:pt x="7648" y="7040"/>
                </a:cubicBezTo>
                <a:cubicBezTo>
                  <a:pt x="7648" y="6880"/>
                  <a:pt x="7488" y="6720"/>
                  <a:pt x="7328" y="6720"/>
                </a:cubicBezTo>
                <a:close/>
                <a:moveTo>
                  <a:pt x="11168" y="1920"/>
                </a:moveTo>
                <a:lnTo>
                  <a:pt x="8864" y="1920"/>
                </a:lnTo>
                <a:lnTo>
                  <a:pt x="8672" y="288"/>
                </a:lnTo>
                <a:cubicBezTo>
                  <a:pt x="8640" y="128"/>
                  <a:pt x="8512" y="0"/>
                  <a:pt x="8352" y="0"/>
                </a:cubicBezTo>
                <a:lnTo>
                  <a:pt x="3136" y="0"/>
                </a:lnTo>
                <a:cubicBezTo>
                  <a:pt x="2976" y="0"/>
                  <a:pt x="2848" y="128"/>
                  <a:pt x="2816" y="288"/>
                </a:cubicBezTo>
                <a:lnTo>
                  <a:pt x="2624" y="1920"/>
                </a:lnTo>
                <a:lnTo>
                  <a:pt x="320" y="1920"/>
                </a:lnTo>
                <a:cubicBezTo>
                  <a:pt x="160" y="1920"/>
                  <a:pt x="0" y="2080"/>
                  <a:pt x="0" y="2240"/>
                </a:cubicBezTo>
                <a:lnTo>
                  <a:pt x="0" y="9920"/>
                </a:lnTo>
                <a:cubicBezTo>
                  <a:pt x="0" y="10080"/>
                  <a:pt x="160" y="10240"/>
                  <a:pt x="320" y="10240"/>
                </a:cubicBezTo>
                <a:lnTo>
                  <a:pt x="11200" y="10240"/>
                </a:lnTo>
                <a:cubicBezTo>
                  <a:pt x="11360" y="10240"/>
                  <a:pt x="11520" y="10080"/>
                  <a:pt x="11520" y="9920"/>
                </a:cubicBezTo>
                <a:lnTo>
                  <a:pt x="11520" y="2240"/>
                </a:lnTo>
                <a:cubicBezTo>
                  <a:pt x="11488" y="2080"/>
                  <a:pt x="11328" y="1920"/>
                  <a:pt x="11168" y="1920"/>
                </a:cubicBezTo>
                <a:close/>
                <a:moveTo>
                  <a:pt x="3424" y="640"/>
                </a:moveTo>
                <a:lnTo>
                  <a:pt x="8064" y="640"/>
                </a:lnTo>
                <a:lnTo>
                  <a:pt x="8224" y="1920"/>
                </a:lnTo>
                <a:lnTo>
                  <a:pt x="3264" y="1920"/>
                </a:lnTo>
                <a:lnTo>
                  <a:pt x="3424" y="640"/>
                </a:lnTo>
                <a:close/>
                <a:moveTo>
                  <a:pt x="608" y="2560"/>
                </a:moveTo>
                <a:lnTo>
                  <a:pt x="10848" y="2560"/>
                </a:lnTo>
                <a:lnTo>
                  <a:pt x="10848" y="3840"/>
                </a:lnTo>
                <a:lnTo>
                  <a:pt x="9248" y="3840"/>
                </a:lnTo>
                <a:lnTo>
                  <a:pt x="9248" y="3520"/>
                </a:lnTo>
                <a:cubicBezTo>
                  <a:pt x="9248" y="3360"/>
                  <a:pt x="9088" y="3200"/>
                  <a:pt x="8928" y="3200"/>
                </a:cubicBezTo>
                <a:cubicBezTo>
                  <a:pt x="8768" y="3200"/>
                  <a:pt x="8608" y="3360"/>
                  <a:pt x="8608" y="3520"/>
                </a:cubicBezTo>
                <a:lnTo>
                  <a:pt x="8608" y="3840"/>
                </a:lnTo>
                <a:lnTo>
                  <a:pt x="2848" y="3840"/>
                </a:lnTo>
                <a:lnTo>
                  <a:pt x="2848" y="3520"/>
                </a:lnTo>
                <a:cubicBezTo>
                  <a:pt x="2848" y="3360"/>
                  <a:pt x="2688" y="3200"/>
                  <a:pt x="2528" y="3200"/>
                </a:cubicBezTo>
                <a:cubicBezTo>
                  <a:pt x="2368" y="3200"/>
                  <a:pt x="2208" y="3360"/>
                  <a:pt x="2208" y="3520"/>
                </a:cubicBezTo>
                <a:lnTo>
                  <a:pt x="2208" y="3840"/>
                </a:lnTo>
                <a:lnTo>
                  <a:pt x="608" y="3840"/>
                </a:lnTo>
                <a:lnTo>
                  <a:pt x="608" y="2560"/>
                </a:lnTo>
                <a:close/>
                <a:moveTo>
                  <a:pt x="10848" y="9600"/>
                </a:moveTo>
                <a:lnTo>
                  <a:pt x="608" y="9600"/>
                </a:lnTo>
                <a:lnTo>
                  <a:pt x="608" y="4480"/>
                </a:lnTo>
                <a:lnTo>
                  <a:pt x="10848" y="4480"/>
                </a:lnTo>
                <a:lnTo>
                  <a:pt x="10848" y="96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41" name="iconfont-10187-1761481"/>
          <p:cNvSpPr/>
          <p:nvPr/>
        </p:nvSpPr>
        <p:spPr>
          <a:xfrm>
            <a:off x="4137289" y="2735942"/>
            <a:ext cx="204019" cy="181329"/>
          </a:xfrm>
          <a:custGeom>
            <a:avLst/>
            <a:gdLst>
              <a:gd name="T0" fmla="*/ 7328 w 11520"/>
              <a:gd name="T1" fmla="*/ 6720 h 10240"/>
              <a:gd name="T2" fmla="*/ 6048 w 11520"/>
              <a:gd name="T3" fmla="*/ 6720 h 10240"/>
              <a:gd name="T4" fmla="*/ 6048 w 11520"/>
              <a:gd name="T5" fmla="*/ 5440 h 10240"/>
              <a:gd name="T6" fmla="*/ 5728 w 11520"/>
              <a:gd name="T7" fmla="*/ 5120 h 10240"/>
              <a:gd name="T8" fmla="*/ 5408 w 11520"/>
              <a:gd name="T9" fmla="*/ 5440 h 10240"/>
              <a:gd name="T10" fmla="*/ 5408 w 11520"/>
              <a:gd name="T11" fmla="*/ 6720 h 10240"/>
              <a:gd name="T12" fmla="*/ 4128 w 11520"/>
              <a:gd name="T13" fmla="*/ 6720 h 10240"/>
              <a:gd name="T14" fmla="*/ 3808 w 11520"/>
              <a:gd name="T15" fmla="*/ 7040 h 10240"/>
              <a:gd name="T16" fmla="*/ 4128 w 11520"/>
              <a:gd name="T17" fmla="*/ 7360 h 10240"/>
              <a:gd name="T18" fmla="*/ 5408 w 11520"/>
              <a:gd name="T19" fmla="*/ 7360 h 10240"/>
              <a:gd name="T20" fmla="*/ 5408 w 11520"/>
              <a:gd name="T21" fmla="*/ 8640 h 10240"/>
              <a:gd name="T22" fmla="*/ 5728 w 11520"/>
              <a:gd name="T23" fmla="*/ 8960 h 10240"/>
              <a:gd name="T24" fmla="*/ 6048 w 11520"/>
              <a:gd name="T25" fmla="*/ 8640 h 10240"/>
              <a:gd name="T26" fmla="*/ 6048 w 11520"/>
              <a:gd name="T27" fmla="*/ 7360 h 10240"/>
              <a:gd name="T28" fmla="*/ 7328 w 11520"/>
              <a:gd name="T29" fmla="*/ 7360 h 10240"/>
              <a:gd name="T30" fmla="*/ 7648 w 11520"/>
              <a:gd name="T31" fmla="*/ 7040 h 10240"/>
              <a:gd name="T32" fmla="*/ 7328 w 11520"/>
              <a:gd name="T33" fmla="*/ 6720 h 10240"/>
              <a:gd name="T34" fmla="*/ 11168 w 11520"/>
              <a:gd name="T35" fmla="*/ 1920 h 10240"/>
              <a:gd name="T36" fmla="*/ 8864 w 11520"/>
              <a:gd name="T37" fmla="*/ 1920 h 10240"/>
              <a:gd name="T38" fmla="*/ 8672 w 11520"/>
              <a:gd name="T39" fmla="*/ 288 h 10240"/>
              <a:gd name="T40" fmla="*/ 8352 w 11520"/>
              <a:gd name="T41" fmla="*/ 0 h 10240"/>
              <a:gd name="T42" fmla="*/ 3136 w 11520"/>
              <a:gd name="T43" fmla="*/ 0 h 10240"/>
              <a:gd name="T44" fmla="*/ 2816 w 11520"/>
              <a:gd name="T45" fmla="*/ 288 h 10240"/>
              <a:gd name="T46" fmla="*/ 2624 w 11520"/>
              <a:gd name="T47" fmla="*/ 1920 h 10240"/>
              <a:gd name="T48" fmla="*/ 320 w 11520"/>
              <a:gd name="T49" fmla="*/ 1920 h 10240"/>
              <a:gd name="T50" fmla="*/ 0 w 11520"/>
              <a:gd name="T51" fmla="*/ 2240 h 10240"/>
              <a:gd name="T52" fmla="*/ 0 w 11520"/>
              <a:gd name="T53" fmla="*/ 9920 h 10240"/>
              <a:gd name="T54" fmla="*/ 320 w 11520"/>
              <a:gd name="T55" fmla="*/ 10240 h 10240"/>
              <a:gd name="T56" fmla="*/ 11200 w 11520"/>
              <a:gd name="T57" fmla="*/ 10240 h 10240"/>
              <a:gd name="T58" fmla="*/ 11520 w 11520"/>
              <a:gd name="T59" fmla="*/ 9920 h 10240"/>
              <a:gd name="T60" fmla="*/ 11520 w 11520"/>
              <a:gd name="T61" fmla="*/ 2240 h 10240"/>
              <a:gd name="T62" fmla="*/ 11168 w 11520"/>
              <a:gd name="T63" fmla="*/ 1920 h 10240"/>
              <a:gd name="T64" fmla="*/ 3424 w 11520"/>
              <a:gd name="T65" fmla="*/ 640 h 10240"/>
              <a:gd name="T66" fmla="*/ 8064 w 11520"/>
              <a:gd name="T67" fmla="*/ 640 h 10240"/>
              <a:gd name="T68" fmla="*/ 8224 w 11520"/>
              <a:gd name="T69" fmla="*/ 1920 h 10240"/>
              <a:gd name="T70" fmla="*/ 3264 w 11520"/>
              <a:gd name="T71" fmla="*/ 1920 h 10240"/>
              <a:gd name="T72" fmla="*/ 3424 w 11520"/>
              <a:gd name="T73" fmla="*/ 640 h 10240"/>
              <a:gd name="T74" fmla="*/ 608 w 11520"/>
              <a:gd name="T75" fmla="*/ 2560 h 10240"/>
              <a:gd name="T76" fmla="*/ 10848 w 11520"/>
              <a:gd name="T77" fmla="*/ 2560 h 10240"/>
              <a:gd name="T78" fmla="*/ 10848 w 11520"/>
              <a:gd name="T79" fmla="*/ 3840 h 10240"/>
              <a:gd name="T80" fmla="*/ 9248 w 11520"/>
              <a:gd name="T81" fmla="*/ 3840 h 10240"/>
              <a:gd name="T82" fmla="*/ 9248 w 11520"/>
              <a:gd name="T83" fmla="*/ 3520 h 10240"/>
              <a:gd name="T84" fmla="*/ 8928 w 11520"/>
              <a:gd name="T85" fmla="*/ 3200 h 10240"/>
              <a:gd name="T86" fmla="*/ 8608 w 11520"/>
              <a:gd name="T87" fmla="*/ 3520 h 10240"/>
              <a:gd name="T88" fmla="*/ 8608 w 11520"/>
              <a:gd name="T89" fmla="*/ 3840 h 10240"/>
              <a:gd name="T90" fmla="*/ 2848 w 11520"/>
              <a:gd name="T91" fmla="*/ 3840 h 10240"/>
              <a:gd name="T92" fmla="*/ 2848 w 11520"/>
              <a:gd name="T93" fmla="*/ 3520 h 10240"/>
              <a:gd name="T94" fmla="*/ 2528 w 11520"/>
              <a:gd name="T95" fmla="*/ 3200 h 10240"/>
              <a:gd name="T96" fmla="*/ 2208 w 11520"/>
              <a:gd name="T97" fmla="*/ 3520 h 10240"/>
              <a:gd name="T98" fmla="*/ 2208 w 11520"/>
              <a:gd name="T99" fmla="*/ 3840 h 10240"/>
              <a:gd name="T100" fmla="*/ 608 w 11520"/>
              <a:gd name="T101" fmla="*/ 3840 h 10240"/>
              <a:gd name="T102" fmla="*/ 608 w 11520"/>
              <a:gd name="T103" fmla="*/ 2560 h 10240"/>
              <a:gd name="T104" fmla="*/ 10848 w 11520"/>
              <a:gd name="T105" fmla="*/ 9600 h 10240"/>
              <a:gd name="T106" fmla="*/ 608 w 11520"/>
              <a:gd name="T107" fmla="*/ 9600 h 10240"/>
              <a:gd name="T108" fmla="*/ 608 w 11520"/>
              <a:gd name="T109" fmla="*/ 4480 h 10240"/>
              <a:gd name="T110" fmla="*/ 10848 w 11520"/>
              <a:gd name="T111" fmla="*/ 4480 h 10240"/>
              <a:gd name="T112" fmla="*/ 10848 w 11520"/>
              <a:gd name="T113" fmla="*/ 9600 h 10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520" h="10240">
                <a:moveTo>
                  <a:pt x="7328" y="6720"/>
                </a:moveTo>
                <a:lnTo>
                  <a:pt x="6048" y="6720"/>
                </a:lnTo>
                <a:lnTo>
                  <a:pt x="6048" y="5440"/>
                </a:lnTo>
                <a:cubicBezTo>
                  <a:pt x="6048" y="5280"/>
                  <a:pt x="5888" y="5120"/>
                  <a:pt x="5728" y="5120"/>
                </a:cubicBezTo>
                <a:cubicBezTo>
                  <a:pt x="5568" y="5120"/>
                  <a:pt x="5408" y="5280"/>
                  <a:pt x="5408" y="5440"/>
                </a:cubicBezTo>
                <a:lnTo>
                  <a:pt x="5408" y="6720"/>
                </a:lnTo>
                <a:lnTo>
                  <a:pt x="4128" y="6720"/>
                </a:lnTo>
                <a:cubicBezTo>
                  <a:pt x="3968" y="6720"/>
                  <a:pt x="3808" y="6880"/>
                  <a:pt x="3808" y="7040"/>
                </a:cubicBezTo>
                <a:cubicBezTo>
                  <a:pt x="3808" y="7200"/>
                  <a:pt x="3968" y="7360"/>
                  <a:pt x="4128" y="7360"/>
                </a:cubicBezTo>
                <a:lnTo>
                  <a:pt x="5408" y="7360"/>
                </a:lnTo>
                <a:lnTo>
                  <a:pt x="5408" y="8640"/>
                </a:lnTo>
                <a:cubicBezTo>
                  <a:pt x="5408" y="8800"/>
                  <a:pt x="5568" y="8960"/>
                  <a:pt x="5728" y="8960"/>
                </a:cubicBezTo>
                <a:cubicBezTo>
                  <a:pt x="5888" y="8960"/>
                  <a:pt x="6048" y="8800"/>
                  <a:pt x="6048" y="8640"/>
                </a:cubicBezTo>
                <a:lnTo>
                  <a:pt x="6048" y="7360"/>
                </a:lnTo>
                <a:lnTo>
                  <a:pt x="7328" y="7360"/>
                </a:lnTo>
                <a:cubicBezTo>
                  <a:pt x="7488" y="7360"/>
                  <a:pt x="7648" y="7200"/>
                  <a:pt x="7648" y="7040"/>
                </a:cubicBezTo>
                <a:cubicBezTo>
                  <a:pt x="7648" y="6880"/>
                  <a:pt x="7488" y="6720"/>
                  <a:pt x="7328" y="6720"/>
                </a:cubicBezTo>
                <a:close/>
                <a:moveTo>
                  <a:pt x="11168" y="1920"/>
                </a:moveTo>
                <a:lnTo>
                  <a:pt x="8864" y="1920"/>
                </a:lnTo>
                <a:lnTo>
                  <a:pt x="8672" y="288"/>
                </a:lnTo>
                <a:cubicBezTo>
                  <a:pt x="8640" y="128"/>
                  <a:pt x="8512" y="0"/>
                  <a:pt x="8352" y="0"/>
                </a:cubicBezTo>
                <a:lnTo>
                  <a:pt x="3136" y="0"/>
                </a:lnTo>
                <a:cubicBezTo>
                  <a:pt x="2976" y="0"/>
                  <a:pt x="2848" y="128"/>
                  <a:pt x="2816" y="288"/>
                </a:cubicBezTo>
                <a:lnTo>
                  <a:pt x="2624" y="1920"/>
                </a:lnTo>
                <a:lnTo>
                  <a:pt x="320" y="1920"/>
                </a:lnTo>
                <a:cubicBezTo>
                  <a:pt x="160" y="1920"/>
                  <a:pt x="0" y="2080"/>
                  <a:pt x="0" y="2240"/>
                </a:cubicBezTo>
                <a:lnTo>
                  <a:pt x="0" y="9920"/>
                </a:lnTo>
                <a:cubicBezTo>
                  <a:pt x="0" y="10080"/>
                  <a:pt x="160" y="10240"/>
                  <a:pt x="320" y="10240"/>
                </a:cubicBezTo>
                <a:lnTo>
                  <a:pt x="11200" y="10240"/>
                </a:lnTo>
                <a:cubicBezTo>
                  <a:pt x="11360" y="10240"/>
                  <a:pt x="11520" y="10080"/>
                  <a:pt x="11520" y="9920"/>
                </a:cubicBezTo>
                <a:lnTo>
                  <a:pt x="11520" y="2240"/>
                </a:lnTo>
                <a:cubicBezTo>
                  <a:pt x="11488" y="2080"/>
                  <a:pt x="11328" y="1920"/>
                  <a:pt x="11168" y="1920"/>
                </a:cubicBezTo>
                <a:close/>
                <a:moveTo>
                  <a:pt x="3424" y="640"/>
                </a:moveTo>
                <a:lnTo>
                  <a:pt x="8064" y="640"/>
                </a:lnTo>
                <a:lnTo>
                  <a:pt x="8224" y="1920"/>
                </a:lnTo>
                <a:lnTo>
                  <a:pt x="3264" y="1920"/>
                </a:lnTo>
                <a:lnTo>
                  <a:pt x="3424" y="640"/>
                </a:lnTo>
                <a:close/>
                <a:moveTo>
                  <a:pt x="608" y="2560"/>
                </a:moveTo>
                <a:lnTo>
                  <a:pt x="10848" y="2560"/>
                </a:lnTo>
                <a:lnTo>
                  <a:pt x="10848" y="3840"/>
                </a:lnTo>
                <a:lnTo>
                  <a:pt x="9248" y="3840"/>
                </a:lnTo>
                <a:lnTo>
                  <a:pt x="9248" y="3520"/>
                </a:lnTo>
                <a:cubicBezTo>
                  <a:pt x="9248" y="3360"/>
                  <a:pt x="9088" y="3200"/>
                  <a:pt x="8928" y="3200"/>
                </a:cubicBezTo>
                <a:cubicBezTo>
                  <a:pt x="8768" y="3200"/>
                  <a:pt x="8608" y="3360"/>
                  <a:pt x="8608" y="3520"/>
                </a:cubicBezTo>
                <a:lnTo>
                  <a:pt x="8608" y="3840"/>
                </a:lnTo>
                <a:lnTo>
                  <a:pt x="2848" y="3840"/>
                </a:lnTo>
                <a:lnTo>
                  <a:pt x="2848" y="3520"/>
                </a:lnTo>
                <a:cubicBezTo>
                  <a:pt x="2848" y="3360"/>
                  <a:pt x="2688" y="3200"/>
                  <a:pt x="2528" y="3200"/>
                </a:cubicBezTo>
                <a:cubicBezTo>
                  <a:pt x="2368" y="3200"/>
                  <a:pt x="2208" y="3360"/>
                  <a:pt x="2208" y="3520"/>
                </a:cubicBezTo>
                <a:lnTo>
                  <a:pt x="2208" y="3840"/>
                </a:lnTo>
                <a:lnTo>
                  <a:pt x="608" y="3840"/>
                </a:lnTo>
                <a:lnTo>
                  <a:pt x="608" y="2560"/>
                </a:lnTo>
                <a:close/>
                <a:moveTo>
                  <a:pt x="10848" y="9600"/>
                </a:moveTo>
                <a:lnTo>
                  <a:pt x="608" y="9600"/>
                </a:lnTo>
                <a:lnTo>
                  <a:pt x="608" y="4480"/>
                </a:lnTo>
                <a:lnTo>
                  <a:pt x="10848" y="4480"/>
                </a:lnTo>
                <a:lnTo>
                  <a:pt x="10848" y="96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42" name="iconfont-10187-1761481"/>
          <p:cNvSpPr/>
          <p:nvPr/>
        </p:nvSpPr>
        <p:spPr>
          <a:xfrm>
            <a:off x="4137289" y="5057156"/>
            <a:ext cx="204019" cy="181329"/>
          </a:xfrm>
          <a:custGeom>
            <a:avLst/>
            <a:gdLst>
              <a:gd name="T0" fmla="*/ 7328 w 11520"/>
              <a:gd name="T1" fmla="*/ 6720 h 10240"/>
              <a:gd name="T2" fmla="*/ 6048 w 11520"/>
              <a:gd name="T3" fmla="*/ 6720 h 10240"/>
              <a:gd name="T4" fmla="*/ 6048 w 11520"/>
              <a:gd name="T5" fmla="*/ 5440 h 10240"/>
              <a:gd name="T6" fmla="*/ 5728 w 11520"/>
              <a:gd name="T7" fmla="*/ 5120 h 10240"/>
              <a:gd name="T8" fmla="*/ 5408 w 11520"/>
              <a:gd name="T9" fmla="*/ 5440 h 10240"/>
              <a:gd name="T10" fmla="*/ 5408 w 11520"/>
              <a:gd name="T11" fmla="*/ 6720 h 10240"/>
              <a:gd name="T12" fmla="*/ 4128 w 11520"/>
              <a:gd name="T13" fmla="*/ 6720 h 10240"/>
              <a:gd name="T14" fmla="*/ 3808 w 11520"/>
              <a:gd name="T15" fmla="*/ 7040 h 10240"/>
              <a:gd name="T16" fmla="*/ 4128 w 11520"/>
              <a:gd name="T17" fmla="*/ 7360 h 10240"/>
              <a:gd name="T18" fmla="*/ 5408 w 11520"/>
              <a:gd name="T19" fmla="*/ 7360 h 10240"/>
              <a:gd name="T20" fmla="*/ 5408 w 11520"/>
              <a:gd name="T21" fmla="*/ 8640 h 10240"/>
              <a:gd name="T22" fmla="*/ 5728 w 11520"/>
              <a:gd name="T23" fmla="*/ 8960 h 10240"/>
              <a:gd name="T24" fmla="*/ 6048 w 11520"/>
              <a:gd name="T25" fmla="*/ 8640 h 10240"/>
              <a:gd name="T26" fmla="*/ 6048 w 11520"/>
              <a:gd name="T27" fmla="*/ 7360 h 10240"/>
              <a:gd name="T28" fmla="*/ 7328 w 11520"/>
              <a:gd name="T29" fmla="*/ 7360 h 10240"/>
              <a:gd name="T30" fmla="*/ 7648 w 11520"/>
              <a:gd name="T31" fmla="*/ 7040 h 10240"/>
              <a:gd name="T32" fmla="*/ 7328 w 11520"/>
              <a:gd name="T33" fmla="*/ 6720 h 10240"/>
              <a:gd name="T34" fmla="*/ 11168 w 11520"/>
              <a:gd name="T35" fmla="*/ 1920 h 10240"/>
              <a:gd name="T36" fmla="*/ 8864 w 11520"/>
              <a:gd name="T37" fmla="*/ 1920 h 10240"/>
              <a:gd name="T38" fmla="*/ 8672 w 11520"/>
              <a:gd name="T39" fmla="*/ 288 h 10240"/>
              <a:gd name="T40" fmla="*/ 8352 w 11520"/>
              <a:gd name="T41" fmla="*/ 0 h 10240"/>
              <a:gd name="T42" fmla="*/ 3136 w 11520"/>
              <a:gd name="T43" fmla="*/ 0 h 10240"/>
              <a:gd name="T44" fmla="*/ 2816 w 11520"/>
              <a:gd name="T45" fmla="*/ 288 h 10240"/>
              <a:gd name="T46" fmla="*/ 2624 w 11520"/>
              <a:gd name="T47" fmla="*/ 1920 h 10240"/>
              <a:gd name="T48" fmla="*/ 320 w 11520"/>
              <a:gd name="T49" fmla="*/ 1920 h 10240"/>
              <a:gd name="T50" fmla="*/ 0 w 11520"/>
              <a:gd name="T51" fmla="*/ 2240 h 10240"/>
              <a:gd name="T52" fmla="*/ 0 w 11520"/>
              <a:gd name="T53" fmla="*/ 9920 h 10240"/>
              <a:gd name="T54" fmla="*/ 320 w 11520"/>
              <a:gd name="T55" fmla="*/ 10240 h 10240"/>
              <a:gd name="T56" fmla="*/ 11200 w 11520"/>
              <a:gd name="T57" fmla="*/ 10240 h 10240"/>
              <a:gd name="T58" fmla="*/ 11520 w 11520"/>
              <a:gd name="T59" fmla="*/ 9920 h 10240"/>
              <a:gd name="T60" fmla="*/ 11520 w 11520"/>
              <a:gd name="T61" fmla="*/ 2240 h 10240"/>
              <a:gd name="T62" fmla="*/ 11168 w 11520"/>
              <a:gd name="T63" fmla="*/ 1920 h 10240"/>
              <a:gd name="T64" fmla="*/ 3424 w 11520"/>
              <a:gd name="T65" fmla="*/ 640 h 10240"/>
              <a:gd name="T66" fmla="*/ 8064 w 11520"/>
              <a:gd name="T67" fmla="*/ 640 h 10240"/>
              <a:gd name="T68" fmla="*/ 8224 w 11520"/>
              <a:gd name="T69" fmla="*/ 1920 h 10240"/>
              <a:gd name="T70" fmla="*/ 3264 w 11520"/>
              <a:gd name="T71" fmla="*/ 1920 h 10240"/>
              <a:gd name="T72" fmla="*/ 3424 w 11520"/>
              <a:gd name="T73" fmla="*/ 640 h 10240"/>
              <a:gd name="T74" fmla="*/ 608 w 11520"/>
              <a:gd name="T75" fmla="*/ 2560 h 10240"/>
              <a:gd name="T76" fmla="*/ 10848 w 11520"/>
              <a:gd name="T77" fmla="*/ 2560 h 10240"/>
              <a:gd name="T78" fmla="*/ 10848 w 11520"/>
              <a:gd name="T79" fmla="*/ 3840 h 10240"/>
              <a:gd name="T80" fmla="*/ 9248 w 11520"/>
              <a:gd name="T81" fmla="*/ 3840 h 10240"/>
              <a:gd name="T82" fmla="*/ 9248 w 11520"/>
              <a:gd name="T83" fmla="*/ 3520 h 10240"/>
              <a:gd name="T84" fmla="*/ 8928 w 11520"/>
              <a:gd name="T85" fmla="*/ 3200 h 10240"/>
              <a:gd name="T86" fmla="*/ 8608 w 11520"/>
              <a:gd name="T87" fmla="*/ 3520 h 10240"/>
              <a:gd name="T88" fmla="*/ 8608 w 11520"/>
              <a:gd name="T89" fmla="*/ 3840 h 10240"/>
              <a:gd name="T90" fmla="*/ 2848 w 11520"/>
              <a:gd name="T91" fmla="*/ 3840 h 10240"/>
              <a:gd name="T92" fmla="*/ 2848 w 11520"/>
              <a:gd name="T93" fmla="*/ 3520 h 10240"/>
              <a:gd name="T94" fmla="*/ 2528 w 11520"/>
              <a:gd name="T95" fmla="*/ 3200 h 10240"/>
              <a:gd name="T96" fmla="*/ 2208 w 11520"/>
              <a:gd name="T97" fmla="*/ 3520 h 10240"/>
              <a:gd name="T98" fmla="*/ 2208 w 11520"/>
              <a:gd name="T99" fmla="*/ 3840 h 10240"/>
              <a:gd name="T100" fmla="*/ 608 w 11520"/>
              <a:gd name="T101" fmla="*/ 3840 h 10240"/>
              <a:gd name="T102" fmla="*/ 608 w 11520"/>
              <a:gd name="T103" fmla="*/ 2560 h 10240"/>
              <a:gd name="T104" fmla="*/ 10848 w 11520"/>
              <a:gd name="T105" fmla="*/ 9600 h 10240"/>
              <a:gd name="T106" fmla="*/ 608 w 11520"/>
              <a:gd name="T107" fmla="*/ 9600 h 10240"/>
              <a:gd name="T108" fmla="*/ 608 w 11520"/>
              <a:gd name="T109" fmla="*/ 4480 h 10240"/>
              <a:gd name="T110" fmla="*/ 10848 w 11520"/>
              <a:gd name="T111" fmla="*/ 4480 h 10240"/>
              <a:gd name="T112" fmla="*/ 10848 w 11520"/>
              <a:gd name="T113" fmla="*/ 9600 h 10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520" h="10240">
                <a:moveTo>
                  <a:pt x="7328" y="6720"/>
                </a:moveTo>
                <a:lnTo>
                  <a:pt x="6048" y="6720"/>
                </a:lnTo>
                <a:lnTo>
                  <a:pt x="6048" y="5440"/>
                </a:lnTo>
                <a:cubicBezTo>
                  <a:pt x="6048" y="5280"/>
                  <a:pt x="5888" y="5120"/>
                  <a:pt x="5728" y="5120"/>
                </a:cubicBezTo>
                <a:cubicBezTo>
                  <a:pt x="5568" y="5120"/>
                  <a:pt x="5408" y="5280"/>
                  <a:pt x="5408" y="5440"/>
                </a:cubicBezTo>
                <a:lnTo>
                  <a:pt x="5408" y="6720"/>
                </a:lnTo>
                <a:lnTo>
                  <a:pt x="4128" y="6720"/>
                </a:lnTo>
                <a:cubicBezTo>
                  <a:pt x="3968" y="6720"/>
                  <a:pt x="3808" y="6880"/>
                  <a:pt x="3808" y="7040"/>
                </a:cubicBezTo>
                <a:cubicBezTo>
                  <a:pt x="3808" y="7200"/>
                  <a:pt x="3968" y="7360"/>
                  <a:pt x="4128" y="7360"/>
                </a:cubicBezTo>
                <a:lnTo>
                  <a:pt x="5408" y="7360"/>
                </a:lnTo>
                <a:lnTo>
                  <a:pt x="5408" y="8640"/>
                </a:lnTo>
                <a:cubicBezTo>
                  <a:pt x="5408" y="8800"/>
                  <a:pt x="5568" y="8960"/>
                  <a:pt x="5728" y="8960"/>
                </a:cubicBezTo>
                <a:cubicBezTo>
                  <a:pt x="5888" y="8960"/>
                  <a:pt x="6048" y="8800"/>
                  <a:pt x="6048" y="8640"/>
                </a:cubicBezTo>
                <a:lnTo>
                  <a:pt x="6048" y="7360"/>
                </a:lnTo>
                <a:lnTo>
                  <a:pt x="7328" y="7360"/>
                </a:lnTo>
                <a:cubicBezTo>
                  <a:pt x="7488" y="7360"/>
                  <a:pt x="7648" y="7200"/>
                  <a:pt x="7648" y="7040"/>
                </a:cubicBezTo>
                <a:cubicBezTo>
                  <a:pt x="7648" y="6880"/>
                  <a:pt x="7488" y="6720"/>
                  <a:pt x="7328" y="6720"/>
                </a:cubicBezTo>
                <a:close/>
                <a:moveTo>
                  <a:pt x="11168" y="1920"/>
                </a:moveTo>
                <a:lnTo>
                  <a:pt x="8864" y="1920"/>
                </a:lnTo>
                <a:lnTo>
                  <a:pt x="8672" y="288"/>
                </a:lnTo>
                <a:cubicBezTo>
                  <a:pt x="8640" y="128"/>
                  <a:pt x="8512" y="0"/>
                  <a:pt x="8352" y="0"/>
                </a:cubicBezTo>
                <a:lnTo>
                  <a:pt x="3136" y="0"/>
                </a:lnTo>
                <a:cubicBezTo>
                  <a:pt x="2976" y="0"/>
                  <a:pt x="2848" y="128"/>
                  <a:pt x="2816" y="288"/>
                </a:cubicBezTo>
                <a:lnTo>
                  <a:pt x="2624" y="1920"/>
                </a:lnTo>
                <a:lnTo>
                  <a:pt x="320" y="1920"/>
                </a:lnTo>
                <a:cubicBezTo>
                  <a:pt x="160" y="1920"/>
                  <a:pt x="0" y="2080"/>
                  <a:pt x="0" y="2240"/>
                </a:cubicBezTo>
                <a:lnTo>
                  <a:pt x="0" y="9920"/>
                </a:lnTo>
                <a:cubicBezTo>
                  <a:pt x="0" y="10080"/>
                  <a:pt x="160" y="10240"/>
                  <a:pt x="320" y="10240"/>
                </a:cubicBezTo>
                <a:lnTo>
                  <a:pt x="11200" y="10240"/>
                </a:lnTo>
                <a:cubicBezTo>
                  <a:pt x="11360" y="10240"/>
                  <a:pt x="11520" y="10080"/>
                  <a:pt x="11520" y="9920"/>
                </a:cubicBezTo>
                <a:lnTo>
                  <a:pt x="11520" y="2240"/>
                </a:lnTo>
                <a:cubicBezTo>
                  <a:pt x="11488" y="2080"/>
                  <a:pt x="11328" y="1920"/>
                  <a:pt x="11168" y="1920"/>
                </a:cubicBezTo>
                <a:close/>
                <a:moveTo>
                  <a:pt x="3424" y="640"/>
                </a:moveTo>
                <a:lnTo>
                  <a:pt x="8064" y="640"/>
                </a:lnTo>
                <a:lnTo>
                  <a:pt x="8224" y="1920"/>
                </a:lnTo>
                <a:lnTo>
                  <a:pt x="3264" y="1920"/>
                </a:lnTo>
                <a:lnTo>
                  <a:pt x="3424" y="640"/>
                </a:lnTo>
                <a:close/>
                <a:moveTo>
                  <a:pt x="608" y="2560"/>
                </a:moveTo>
                <a:lnTo>
                  <a:pt x="10848" y="2560"/>
                </a:lnTo>
                <a:lnTo>
                  <a:pt x="10848" y="3840"/>
                </a:lnTo>
                <a:lnTo>
                  <a:pt x="9248" y="3840"/>
                </a:lnTo>
                <a:lnTo>
                  <a:pt x="9248" y="3520"/>
                </a:lnTo>
                <a:cubicBezTo>
                  <a:pt x="9248" y="3360"/>
                  <a:pt x="9088" y="3200"/>
                  <a:pt x="8928" y="3200"/>
                </a:cubicBezTo>
                <a:cubicBezTo>
                  <a:pt x="8768" y="3200"/>
                  <a:pt x="8608" y="3360"/>
                  <a:pt x="8608" y="3520"/>
                </a:cubicBezTo>
                <a:lnTo>
                  <a:pt x="8608" y="3840"/>
                </a:lnTo>
                <a:lnTo>
                  <a:pt x="2848" y="3840"/>
                </a:lnTo>
                <a:lnTo>
                  <a:pt x="2848" y="3520"/>
                </a:lnTo>
                <a:cubicBezTo>
                  <a:pt x="2848" y="3360"/>
                  <a:pt x="2688" y="3200"/>
                  <a:pt x="2528" y="3200"/>
                </a:cubicBezTo>
                <a:cubicBezTo>
                  <a:pt x="2368" y="3200"/>
                  <a:pt x="2208" y="3360"/>
                  <a:pt x="2208" y="3520"/>
                </a:cubicBezTo>
                <a:lnTo>
                  <a:pt x="2208" y="3840"/>
                </a:lnTo>
                <a:lnTo>
                  <a:pt x="608" y="3840"/>
                </a:lnTo>
                <a:lnTo>
                  <a:pt x="608" y="2560"/>
                </a:lnTo>
                <a:close/>
                <a:moveTo>
                  <a:pt x="10848" y="9600"/>
                </a:moveTo>
                <a:lnTo>
                  <a:pt x="608" y="9600"/>
                </a:lnTo>
                <a:lnTo>
                  <a:pt x="608" y="4480"/>
                </a:lnTo>
                <a:lnTo>
                  <a:pt x="10848" y="4480"/>
                </a:lnTo>
                <a:lnTo>
                  <a:pt x="10848" y="96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43" name="iconfont-10187-1761481"/>
          <p:cNvSpPr/>
          <p:nvPr/>
        </p:nvSpPr>
        <p:spPr>
          <a:xfrm>
            <a:off x="10612038" y="1638801"/>
            <a:ext cx="204019" cy="181329"/>
          </a:xfrm>
          <a:custGeom>
            <a:avLst/>
            <a:gdLst>
              <a:gd name="T0" fmla="*/ 7328 w 11520"/>
              <a:gd name="T1" fmla="*/ 6720 h 10240"/>
              <a:gd name="T2" fmla="*/ 6048 w 11520"/>
              <a:gd name="T3" fmla="*/ 6720 h 10240"/>
              <a:gd name="T4" fmla="*/ 6048 w 11520"/>
              <a:gd name="T5" fmla="*/ 5440 h 10240"/>
              <a:gd name="T6" fmla="*/ 5728 w 11520"/>
              <a:gd name="T7" fmla="*/ 5120 h 10240"/>
              <a:gd name="T8" fmla="*/ 5408 w 11520"/>
              <a:gd name="T9" fmla="*/ 5440 h 10240"/>
              <a:gd name="T10" fmla="*/ 5408 w 11520"/>
              <a:gd name="T11" fmla="*/ 6720 h 10240"/>
              <a:gd name="T12" fmla="*/ 4128 w 11520"/>
              <a:gd name="T13" fmla="*/ 6720 h 10240"/>
              <a:gd name="T14" fmla="*/ 3808 w 11520"/>
              <a:gd name="T15" fmla="*/ 7040 h 10240"/>
              <a:gd name="T16" fmla="*/ 4128 w 11520"/>
              <a:gd name="T17" fmla="*/ 7360 h 10240"/>
              <a:gd name="T18" fmla="*/ 5408 w 11520"/>
              <a:gd name="T19" fmla="*/ 7360 h 10240"/>
              <a:gd name="T20" fmla="*/ 5408 w 11520"/>
              <a:gd name="T21" fmla="*/ 8640 h 10240"/>
              <a:gd name="T22" fmla="*/ 5728 w 11520"/>
              <a:gd name="T23" fmla="*/ 8960 h 10240"/>
              <a:gd name="T24" fmla="*/ 6048 w 11520"/>
              <a:gd name="T25" fmla="*/ 8640 h 10240"/>
              <a:gd name="T26" fmla="*/ 6048 w 11520"/>
              <a:gd name="T27" fmla="*/ 7360 h 10240"/>
              <a:gd name="T28" fmla="*/ 7328 w 11520"/>
              <a:gd name="T29" fmla="*/ 7360 h 10240"/>
              <a:gd name="T30" fmla="*/ 7648 w 11520"/>
              <a:gd name="T31" fmla="*/ 7040 h 10240"/>
              <a:gd name="T32" fmla="*/ 7328 w 11520"/>
              <a:gd name="T33" fmla="*/ 6720 h 10240"/>
              <a:gd name="T34" fmla="*/ 11168 w 11520"/>
              <a:gd name="T35" fmla="*/ 1920 h 10240"/>
              <a:gd name="T36" fmla="*/ 8864 w 11520"/>
              <a:gd name="T37" fmla="*/ 1920 h 10240"/>
              <a:gd name="T38" fmla="*/ 8672 w 11520"/>
              <a:gd name="T39" fmla="*/ 288 h 10240"/>
              <a:gd name="T40" fmla="*/ 8352 w 11520"/>
              <a:gd name="T41" fmla="*/ 0 h 10240"/>
              <a:gd name="T42" fmla="*/ 3136 w 11520"/>
              <a:gd name="T43" fmla="*/ 0 h 10240"/>
              <a:gd name="T44" fmla="*/ 2816 w 11520"/>
              <a:gd name="T45" fmla="*/ 288 h 10240"/>
              <a:gd name="T46" fmla="*/ 2624 w 11520"/>
              <a:gd name="T47" fmla="*/ 1920 h 10240"/>
              <a:gd name="T48" fmla="*/ 320 w 11520"/>
              <a:gd name="T49" fmla="*/ 1920 h 10240"/>
              <a:gd name="T50" fmla="*/ 0 w 11520"/>
              <a:gd name="T51" fmla="*/ 2240 h 10240"/>
              <a:gd name="T52" fmla="*/ 0 w 11520"/>
              <a:gd name="T53" fmla="*/ 9920 h 10240"/>
              <a:gd name="T54" fmla="*/ 320 w 11520"/>
              <a:gd name="T55" fmla="*/ 10240 h 10240"/>
              <a:gd name="T56" fmla="*/ 11200 w 11520"/>
              <a:gd name="T57" fmla="*/ 10240 h 10240"/>
              <a:gd name="T58" fmla="*/ 11520 w 11520"/>
              <a:gd name="T59" fmla="*/ 9920 h 10240"/>
              <a:gd name="T60" fmla="*/ 11520 w 11520"/>
              <a:gd name="T61" fmla="*/ 2240 h 10240"/>
              <a:gd name="T62" fmla="*/ 11168 w 11520"/>
              <a:gd name="T63" fmla="*/ 1920 h 10240"/>
              <a:gd name="T64" fmla="*/ 3424 w 11520"/>
              <a:gd name="T65" fmla="*/ 640 h 10240"/>
              <a:gd name="T66" fmla="*/ 8064 w 11520"/>
              <a:gd name="T67" fmla="*/ 640 h 10240"/>
              <a:gd name="T68" fmla="*/ 8224 w 11520"/>
              <a:gd name="T69" fmla="*/ 1920 h 10240"/>
              <a:gd name="T70" fmla="*/ 3264 w 11520"/>
              <a:gd name="T71" fmla="*/ 1920 h 10240"/>
              <a:gd name="T72" fmla="*/ 3424 w 11520"/>
              <a:gd name="T73" fmla="*/ 640 h 10240"/>
              <a:gd name="T74" fmla="*/ 608 w 11520"/>
              <a:gd name="T75" fmla="*/ 2560 h 10240"/>
              <a:gd name="T76" fmla="*/ 10848 w 11520"/>
              <a:gd name="T77" fmla="*/ 2560 h 10240"/>
              <a:gd name="T78" fmla="*/ 10848 w 11520"/>
              <a:gd name="T79" fmla="*/ 3840 h 10240"/>
              <a:gd name="T80" fmla="*/ 9248 w 11520"/>
              <a:gd name="T81" fmla="*/ 3840 h 10240"/>
              <a:gd name="T82" fmla="*/ 9248 w 11520"/>
              <a:gd name="T83" fmla="*/ 3520 h 10240"/>
              <a:gd name="T84" fmla="*/ 8928 w 11520"/>
              <a:gd name="T85" fmla="*/ 3200 h 10240"/>
              <a:gd name="T86" fmla="*/ 8608 w 11520"/>
              <a:gd name="T87" fmla="*/ 3520 h 10240"/>
              <a:gd name="T88" fmla="*/ 8608 w 11520"/>
              <a:gd name="T89" fmla="*/ 3840 h 10240"/>
              <a:gd name="T90" fmla="*/ 2848 w 11520"/>
              <a:gd name="T91" fmla="*/ 3840 h 10240"/>
              <a:gd name="T92" fmla="*/ 2848 w 11520"/>
              <a:gd name="T93" fmla="*/ 3520 h 10240"/>
              <a:gd name="T94" fmla="*/ 2528 w 11520"/>
              <a:gd name="T95" fmla="*/ 3200 h 10240"/>
              <a:gd name="T96" fmla="*/ 2208 w 11520"/>
              <a:gd name="T97" fmla="*/ 3520 h 10240"/>
              <a:gd name="T98" fmla="*/ 2208 w 11520"/>
              <a:gd name="T99" fmla="*/ 3840 h 10240"/>
              <a:gd name="T100" fmla="*/ 608 w 11520"/>
              <a:gd name="T101" fmla="*/ 3840 h 10240"/>
              <a:gd name="T102" fmla="*/ 608 w 11520"/>
              <a:gd name="T103" fmla="*/ 2560 h 10240"/>
              <a:gd name="T104" fmla="*/ 10848 w 11520"/>
              <a:gd name="T105" fmla="*/ 9600 h 10240"/>
              <a:gd name="T106" fmla="*/ 608 w 11520"/>
              <a:gd name="T107" fmla="*/ 9600 h 10240"/>
              <a:gd name="T108" fmla="*/ 608 w 11520"/>
              <a:gd name="T109" fmla="*/ 4480 h 10240"/>
              <a:gd name="T110" fmla="*/ 10848 w 11520"/>
              <a:gd name="T111" fmla="*/ 4480 h 10240"/>
              <a:gd name="T112" fmla="*/ 10848 w 11520"/>
              <a:gd name="T113" fmla="*/ 9600 h 10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520" h="10240">
                <a:moveTo>
                  <a:pt x="7328" y="6720"/>
                </a:moveTo>
                <a:lnTo>
                  <a:pt x="6048" y="6720"/>
                </a:lnTo>
                <a:lnTo>
                  <a:pt x="6048" y="5440"/>
                </a:lnTo>
                <a:cubicBezTo>
                  <a:pt x="6048" y="5280"/>
                  <a:pt x="5888" y="5120"/>
                  <a:pt x="5728" y="5120"/>
                </a:cubicBezTo>
                <a:cubicBezTo>
                  <a:pt x="5568" y="5120"/>
                  <a:pt x="5408" y="5280"/>
                  <a:pt x="5408" y="5440"/>
                </a:cubicBezTo>
                <a:lnTo>
                  <a:pt x="5408" y="6720"/>
                </a:lnTo>
                <a:lnTo>
                  <a:pt x="4128" y="6720"/>
                </a:lnTo>
                <a:cubicBezTo>
                  <a:pt x="3968" y="6720"/>
                  <a:pt x="3808" y="6880"/>
                  <a:pt x="3808" y="7040"/>
                </a:cubicBezTo>
                <a:cubicBezTo>
                  <a:pt x="3808" y="7200"/>
                  <a:pt x="3968" y="7360"/>
                  <a:pt x="4128" y="7360"/>
                </a:cubicBezTo>
                <a:lnTo>
                  <a:pt x="5408" y="7360"/>
                </a:lnTo>
                <a:lnTo>
                  <a:pt x="5408" y="8640"/>
                </a:lnTo>
                <a:cubicBezTo>
                  <a:pt x="5408" y="8800"/>
                  <a:pt x="5568" y="8960"/>
                  <a:pt x="5728" y="8960"/>
                </a:cubicBezTo>
                <a:cubicBezTo>
                  <a:pt x="5888" y="8960"/>
                  <a:pt x="6048" y="8800"/>
                  <a:pt x="6048" y="8640"/>
                </a:cubicBezTo>
                <a:lnTo>
                  <a:pt x="6048" y="7360"/>
                </a:lnTo>
                <a:lnTo>
                  <a:pt x="7328" y="7360"/>
                </a:lnTo>
                <a:cubicBezTo>
                  <a:pt x="7488" y="7360"/>
                  <a:pt x="7648" y="7200"/>
                  <a:pt x="7648" y="7040"/>
                </a:cubicBezTo>
                <a:cubicBezTo>
                  <a:pt x="7648" y="6880"/>
                  <a:pt x="7488" y="6720"/>
                  <a:pt x="7328" y="6720"/>
                </a:cubicBezTo>
                <a:close/>
                <a:moveTo>
                  <a:pt x="11168" y="1920"/>
                </a:moveTo>
                <a:lnTo>
                  <a:pt x="8864" y="1920"/>
                </a:lnTo>
                <a:lnTo>
                  <a:pt x="8672" y="288"/>
                </a:lnTo>
                <a:cubicBezTo>
                  <a:pt x="8640" y="128"/>
                  <a:pt x="8512" y="0"/>
                  <a:pt x="8352" y="0"/>
                </a:cubicBezTo>
                <a:lnTo>
                  <a:pt x="3136" y="0"/>
                </a:lnTo>
                <a:cubicBezTo>
                  <a:pt x="2976" y="0"/>
                  <a:pt x="2848" y="128"/>
                  <a:pt x="2816" y="288"/>
                </a:cubicBezTo>
                <a:lnTo>
                  <a:pt x="2624" y="1920"/>
                </a:lnTo>
                <a:lnTo>
                  <a:pt x="320" y="1920"/>
                </a:lnTo>
                <a:cubicBezTo>
                  <a:pt x="160" y="1920"/>
                  <a:pt x="0" y="2080"/>
                  <a:pt x="0" y="2240"/>
                </a:cubicBezTo>
                <a:lnTo>
                  <a:pt x="0" y="9920"/>
                </a:lnTo>
                <a:cubicBezTo>
                  <a:pt x="0" y="10080"/>
                  <a:pt x="160" y="10240"/>
                  <a:pt x="320" y="10240"/>
                </a:cubicBezTo>
                <a:lnTo>
                  <a:pt x="11200" y="10240"/>
                </a:lnTo>
                <a:cubicBezTo>
                  <a:pt x="11360" y="10240"/>
                  <a:pt x="11520" y="10080"/>
                  <a:pt x="11520" y="9920"/>
                </a:cubicBezTo>
                <a:lnTo>
                  <a:pt x="11520" y="2240"/>
                </a:lnTo>
                <a:cubicBezTo>
                  <a:pt x="11488" y="2080"/>
                  <a:pt x="11328" y="1920"/>
                  <a:pt x="11168" y="1920"/>
                </a:cubicBezTo>
                <a:close/>
                <a:moveTo>
                  <a:pt x="3424" y="640"/>
                </a:moveTo>
                <a:lnTo>
                  <a:pt x="8064" y="640"/>
                </a:lnTo>
                <a:lnTo>
                  <a:pt x="8224" y="1920"/>
                </a:lnTo>
                <a:lnTo>
                  <a:pt x="3264" y="1920"/>
                </a:lnTo>
                <a:lnTo>
                  <a:pt x="3424" y="640"/>
                </a:lnTo>
                <a:close/>
                <a:moveTo>
                  <a:pt x="608" y="2560"/>
                </a:moveTo>
                <a:lnTo>
                  <a:pt x="10848" y="2560"/>
                </a:lnTo>
                <a:lnTo>
                  <a:pt x="10848" y="3840"/>
                </a:lnTo>
                <a:lnTo>
                  <a:pt x="9248" y="3840"/>
                </a:lnTo>
                <a:lnTo>
                  <a:pt x="9248" y="3520"/>
                </a:lnTo>
                <a:cubicBezTo>
                  <a:pt x="9248" y="3360"/>
                  <a:pt x="9088" y="3200"/>
                  <a:pt x="8928" y="3200"/>
                </a:cubicBezTo>
                <a:cubicBezTo>
                  <a:pt x="8768" y="3200"/>
                  <a:pt x="8608" y="3360"/>
                  <a:pt x="8608" y="3520"/>
                </a:cubicBezTo>
                <a:lnTo>
                  <a:pt x="8608" y="3840"/>
                </a:lnTo>
                <a:lnTo>
                  <a:pt x="2848" y="3840"/>
                </a:lnTo>
                <a:lnTo>
                  <a:pt x="2848" y="3520"/>
                </a:lnTo>
                <a:cubicBezTo>
                  <a:pt x="2848" y="3360"/>
                  <a:pt x="2688" y="3200"/>
                  <a:pt x="2528" y="3200"/>
                </a:cubicBezTo>
                <a:cubicBezTo>
                  <a:pt x="2368" y="3200"/>
                  <a:pt x="2208" y="3360"/>
                  <a:pt x="2208" y="3520"/>
                </a:cubicBezTo>
                <a:lnTo>
                  <a:pt x="2208" y="3840"/>
                </a:lnTo>
                <a:lnTo>
                  <a:pt x="608" y="3840"/>
                </a:lnTo>
                <a:lnTo>
                  <a:pt x="608" y="2560"/>
                </a:lnTo>
                <a:close/>
                <a:moveTo>
                  <a:pt x="10848" y="9600"/>
                </a:moveTo>
                <a:lnTo>
                  <a:pt x="608" y="9600"/>
                </a:lnTo>
                <a:lnTo>
                  <a:pt x="608" y="4480"/>
                </a:lnTo>
                <a:lnTo>
                  <a:pt x="10848" y="4480"/>
                </a:lnTo>
                <a:lnTo>
                  <a:pt x="10848" y="96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44" name="iconfont-10187-1761481"/>
          <p:cNvSpPr/>
          <p:nvPr/>
        </p:nvSpPr>
        <p:spPr>
          <a:xfrm>
            <a:off x="10612038" y="4266174"/>
            <a:ext cx="204019" cy="181329"/>
          </a:xfrm>
          <a:custGeom>
            <a:avLst/>
            <a:gdLst>
              <a:gd name="T0" fmla="*/ 7328 w 11520"/>
              <a:gd name="T1" fmla="*/ 6720 h 10240"/>
              <a:gd name="T2" fmla="*/ 6048 w 11520"/>
              <a:gd name="T3" fmla="*/ 6720 h 10240"/>
              <a:gd name="T4" fmla="*/ 6048 w 11520"/>
              <a:gd name="T5" fmla="*/ 5440 h 10240"/>
              <a:gd name="T6" fmla="*/ 5728 w 11520"/>
              <a:gd name="T7" fmla="*/ 5120 h 10240"/>
              <a:gd name="T8" fmla="*/ 5408 w 11520"/>
              <a:gd name="T9" fmla="*/ 5440 h 10240"/>
              <a:gd name="T10" fmla="*/ 5408 w 11520"/>
              <a:gd name="T11" fmla="*/ 6720 h 10240"/>
              <a:gd name="T12" fmla="*/ 4128 w 11520"/>
              <a:gd name="T13" fmla="*/ 6720 h 10240"/>
              <a:gd name="T14" fmla="*/ 3808 w 11520"/>
              <a:gd name="T15" fmla="*/ 7040 h 10240"/>
              <a:gd name="T16" fmla="*/ 4128 w 11520"/>
              <a:gd name="T17" fmla="*/ 7360 h 10240"/>
              <a:gd name="T18" fmla="*/ 5408 w 11520"/>
              <a:gd name="T19" fmla="*/ 7360 h 10240"/>
              <a:gd name="T20" fmla="*/ 5408 w 11520"/>
              <a:gd name="T21" fmla="*/ 8640 h 10240"/>
              <a:gd name="T22" fmla="*/ 5728 w 11520"/>
              <a:gd name="T23" fmla="*/ 8960 h 10240"/>
              <a:gd name="T24" fmla="*/ 6048 w 11520"/>
              <a:gd name="T25" fmla="*/ 8640 h 10240"/>
              <a:gd name="T26" fmla="*/ 6048 w 11520"/>
              <a:gd name="T27" fmla="*/ 7360 h 10240"/>
              <a:gd name="T28" fmla="*/ 7328 w 11520"/>
              <a:gd name="T29" fmla="*/ 7360 h 10240"/>
              <a:gd name="T30" fmla="*/ 7648 w 11520"/>
              <a:gd name="T31" fmla="*/ 7040 h 10240"/>
              <a:gd name="T32" fmla="*/ 7328 w 11520"/>
              <a:gd name="T33" fmla="*/ 6720 h 10240"/>
              <a:gd name="T34" fmla="*/ 11168 w 11520"/>
              <a:gd name="T35" fmla="*/ 1920 h 10240"/>
              <a:gd name="T36" fmla="*/ 8864 w 11520"/>
              <a:gd name="T37" fmla="*/ 1920 h 10240"/>
              <a:gd name="T38" fmla="*/ 8672 w 11520"/>
              <a:gd name="T39" fmla="*/ 288 h 10240"/>
              <a:gd name="T40" fmla="*/ 8352 w 11520"/>
              <a:gd name="T41" fmla="*/ 0 h 10240"/>
              <a:gd name="T42" fmla="*/ 3136 w 11520"/>
              <a:gd name="T43" fmla="*/ 0 h 10240"/>
              <a:gd name="T44" fmla="*/ 2816 w 11520"/>
              <a:gd name="T45" fmla="*/ 288 h 10240"/>
              <a:gd name="T46" fmla="*/ 2624 w 11520"/>
              <a:gd name="T47" fmla="*/ 1920 h 10240"/>
              <a:gd name="T48" fmla="*/ 320 w 11520"/>
              <a:gd name="T49" fmla="*/ 1920 h 10240"/>
              <a:gd name="T50" fmla="*/ 0 w 11520"/>
              <a:gd name="T51" fmla="*/ 2240 h 10240"/>
              <a:gd name="T52" fmla="*/ 0 w 11520"/>
              <a:gd name="T53" fmla="*/ 9920 h 10240"/>
              <a:gd name="T54" fmla="*/ 320 w 11520"/>
              <a:gd name="T55" fmla="*/ 10240 h 10240"/>
              <a:gd name="T56" fmla="*/ 11200 w 11520"/>
              <a:gd name="T57" fmla="*/ 10240 h 10240"/>
              <a:gd name="T58" fmla="*/ 11520 w 11520"/>
              <a:gd name="T59" fmla="*/ 9920 h 10240"/>
              <a:gd name="T60" fmla="*/ 11520 w 11520"/>
              <a:gd name="T61" fmla="*/ 2240 h 10240"/>
              <a:gd name="T62" fmla="*/ 11168 w 11520"/>
              <a:gd name="T63" fmla="*/ 1920 h 10240"/>
              <a:gd name="T64" fmla="*/ 3424 w 11520"/>
              <a:gd name="T65" fmla="*/ 640 h 10240"/>
              <a:gd name="T66" fmla="*/ 8064 w 11520"/>
              <a:gd name="T67" fmla="*/ 640 h 10240"/>
              <a:gd name="T68" fmla="*/ 8224 w 11520"/>
              <a:gd name="T69" fmla="*/ 1920 h 10240"/>
              <a:gd name="T70" fmla="*/ 3264 w 11520"/>
              <a:gd name="T71" fmla="*/ 1920 h 10240"/>
              <a:gd name="T72" fmla="*/ 3424 w 11520"/>
              <a:gd name="T73" fmla="*/ 640 h 10240"/>
              <a:gd name="T74" fmla="*/ 608 w 11520"/>
              <a:gd name="T75" fmla="*/ 2560 h 10240"/>
              <a:gd name="T76" fmla="*/ 10848 w 11520"/>
              <a:gd name="T77" fmla="*/ 2560 h 10240"/>
              <a:gd name="T78" fmla="*/ 10848 w 11520"/>
              <a:gd name="T79" fmla="*/ 3840 h 10240"/>
              <a:gd name="T80" fmla="*/ 9248 w 11520"/>
              <a:gd name="T81" fmla="*/ 3840 h 10240"/>
              <a:gd name="T82" fmla="*/ 9248 w 11520"/>
              <a:gd name="T83" fmla="*/ 3520 h 10240"/>
              <a:gd name="T84" fmla="*/ 8928 w 11520"/>
              <a:gd name="T85" fmla="*/ 3200 h 10240"/>
              <a:gd name="T86" fmla="*/ 8608 w 11520"/>
              <a:gd name="T87" fmla="*/ 3520 h 10240"/>
              <a:gd name="T88" fmla="*/ 8608 w 11520"/>
              <a:gd name="T89" fmla="*/ 3840 h 10240"/>
              <a:gd name="T90" fmla="*/ 2848 w 11520"/>
              <a:gd name="T91" fmla="*/ 3840 h 10240"/>
              <a:gd name="T92" fmla="*/ 2848 w 11520"/>
              <a:gd name="T93" fmla="*/ 3520 h 10240"/>
              <a:gd name="T94" fmla="*/ 2528 w 11520"/>
              <a:gd name="T95" fmla="*/ 3200 h 10240"/>
              <a:gd name="T96" fmla="*/ 2208 w 11520"/>
              <a:gd name="T97" fmla="*/ 3520 h 10240"/>
              <a:gd name="T98" fmla="*/ 2208 w 11520"/>
              <a:gd name="T99" fmla="*/ 3840 h 10240"/>
              <a:gd name="T100" fmla="*/ 608 w 11520"/>
              <a:gd name="T101" fmla="*/ 3840 h 10240"/>
              <a:gd name="T102" fmla="*/ 608 w 11520"/>
              <a:gd name="T103" fmla="*/ 2560 h 10240"/>
              <a:gd name="T104" fmla="*/ 10848 w 11520"/>
              <a:gd name="T105" fmla="*/ 9600 h 10240"/>
              <a:gd name="T106" fmla="*/ 608 w 11520"/>
              <a:gd name="T107" fmla="*/ 9600 h 10240"/>
              <a:gd name="T108" fmla="*/ 608 w 11520"/>
              <a:gd name="T109" fmla="*/ 4480 h 10240"/>
              <a:gd name="T110" fmla="*/ 10848 w 11520"/>
              <a:gd name="T111" fmla="*/ 4480 h 10240"/>
              <a:gd name="T112" fmla="*/ 10848 w 11520"/>
              <a:gd name="T113" fmla="*/ 9600 h 10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520" h="10240">
                <a:moveTo>
                  <a:pt x="7328" y="6720"/>
                </a:moveTo>
                <a:lnTo>
                  <a:pt x="6048" y="6720"/>
                </a:lnTo>
                <a:lnTo>
                  <a:pt x="6048" y="5440"/>
                </a:lnTo>
                <a:cubicBezTo>
                  <a:pt x="6048" y="5280"/>
                  <a:pt x="5888" y="5120"/>
                  <a:pt x="5728" y="5120"/>
                </a:cubicBezTo>
                <a:cubicBezTo>
                  <a:pt x="5568" y="5120"/>
                  <a:pt x="5408" y="5280"/>
                  <a:pt x="5408" y="5440"/>
                </a:cubicBezTo>
                <a:lnTo>
                  <a:pt x="5408" y="6720"/>
                </a:lnTo>
                <a:lnTo>
                  <a:pt x="4128" y="6720"/>
                </a:lnTo>
                <a:cubicBezTo>
                  <a:pt x="3968" y="6720"/>
                  <a:pt x="3808" y="6880"/>
                  <a:pt x="3808" y="7040"/>
                </a:cubicBezTo>
                <a:cubicBezTo>
                  <a:pt x="3808" y="7200"/>
                  <a:pt x="3968" y="7360"/>
                  <a:pt x="4128" y="7360"/>
                </a:cubicBezTo>
                <a:lnTo>
                  <a:pt x="5408" y="7360"/>
                </a:lnTo>
                <a:lnTo>
                  <a:pt x="5408" y="8640"/>
                </a:lnTo>
                <a:cubicBezTo>
                  <a:pt x="5408" y="8800"/>
                  <a:pt x="5568" y="8960"/>
                  <a:pt x="5728" y="8960"/>
                </a:cubicBezTo>
                <a:cubicBezTo>
                  <a:pt x="5888" y="8960"/>
                  <a:pt x="6048" y="8800"/>
                  <a:pt x="6048" y="8640"/>
                </a:cubicBezTo>
                <a:lnTo>
                  <a:pt x="6048" y="7360"/>
                </a:lnTo>
                <a:lnTo>
                  <a:pt x="7328" y="7360"/>
                </a:lnTo>
                <a:cubicBezTo>
                  <a:pt x="7488" y="7360"/>
                  <a:pt x="7648" y="7200"/>
                  <a:pt x="7648" y="7040"/>
                </a:cubicBezTo>
                <a:cubicBezTo>
                  <a:pt x="7648" y="6880"/>
                  <a:pt x="7488" y="6720"/>
                  <a:pt x="7328" y="6720"/>
                </a:cubicBezTo>
                <a:close/>
                <a:moveTo>
                  <a:pt x="11168" y="1920"/>
                </a:moveTo>
                <a:lnTo>
                  <a:pt x="8864" y="1920"/>
                </a:lnTo>
                <a:lnTo>
                  <a:pt x="8672" y="288"/>
                </a:lnTo>
                <a:cubicBezTo>
                  <a:pt x="8640" y="128"/>
                  <a:pt x="8512" y="0"/>
                  <a:pt x="8352" y="0"/>
                </a:cubicBezTo>
                <a:lnTo>
                  <a:pt x="3136" y="0"/>
                </a:lnTo>
                <a:cubicBezTo>
                  <a:pt x="2976" y="0"/>
                  <a:pt x="2848" y="128"/>
                  <a:pt x="2816" y="288"/>
                </a:cubicBezTo>
                <a:lnTo>
                  <a:pt x="2624" y="1920"/>
                </a:lnTo>
                <a:lnTo>
                  <a:pt x="320" y="1920"/>
                </a:lnTo>
                <a:cubicBezTo>
                  <a:pt x="160" y="1920"/>
                  <a:pt x="0" y="2080"/>
                  <a:pt x="0" y="2240"/>
                </a:cubicBezTo>
                <a:lnTo>
                  <a:pt x="0" y="9920"/>
                </a:lnTo>
                <a:cubicBezTo>
                  <a:pt x="0" y="10080"/>
                  <a:pt x="160" y="10240"/>
                  <a:pt x="320" y="10240"/>
                </a:cubicBezTo>
                <a:lnTo>
                  <a:pt x="11200" y="10240"/>
                </a:lnTo>
                <a:cubicBezTo>
                  <a:pt x="11360" y="10240"/>
                  <a:pt x="11520" y="10080"/>
                  <a:pt x="11520" y="9920"/>
                </a:cubicBezTo>
                <a:lnTo>
                  <a:pt x="11520" y="2240"/>
                </a:lnTo>
                <a:cubicBezTo>
                  <a:pt x="11488" y="2080"/>
                  <a:pt x="11328" y="1920"/>
                  <a:pt x="11168" y="1920"/>
                </a:cubicBezTo>
                <a:close/>
                <a:moveTo>
                  <a:pt x="3424" y="640"/>
                </a:moveTo>
                <a:lnTo>
                  <a:pt x="8064" y="640"/>
                </a:lnTo>
                <a:lnTo>
                  <a:pt x="8224" y="1920"/>
                </a:lnTo>
                <a:lnTo>
                  <a:pt x="3264" y="1920"/>
                </a:lnTo>
                <a:lnTo>
                  <a:pt x="3424" y="640"/>
                </a:lnTo>
                <a:close/>
                <a:moveTo>
                  <a:pt x="608" y="2560"/>
                </a:moveTo>
                <a:lnTo>
                  <a:pt x="10848" y="2560"/>
                </a:lnTo>
                <a:lnTo>
                  <a:pt x="10848" y="3840"/>
                </a:lnTo>
                <a:lnTo>
                  <a:pt x="9248" y="3840"/>
                </a:lnTo>
                <a:lnTo>
                  <a:pt x="9248" y="3520"/>
                </a:lnTo>
                <a:cubicBezTo>
                  <a:pt x="9248" y="3360"/>
                  <a:pt x="9088" y="3200"/>
                  <a:pt x="8928" y="3200"/>
                </a:cubicBezTo>
                <a:cubicBezTo>
                  <a:pt x="8768" y="3200"/>
                  <a:pt x="8608" y="3360"/>
                  <a:pt x="8608" y="3520"/>
                </a:cubicBezTo>
                <a:lnTo>
                  <a:pt x="8608" y="3840"/>
                </a:lnTo>
                <a:lnTo>
                  <a:pt x="2848" y="3840"/>
                </a:lnTo>
                <a:lnTo>
                  <a:pt x="2848" y="3520"/>
                </a:lnTo>
                <a:cubicBezTo>
                  <a:pt x="2848" y="3360"/>
                  <a:pt x="2688" y="3200"/>
                  <a:pt x="2528" y="3200"/>
                </a:cubicBezTo>
                <a:cubicBezTo>
                  <a:pt x="2368" y="3200"/>
                  <a:pt x="2208" y="3360"/>
                  <a:pt x="2208" y="3520"/>
                </a:cubicBezTo>
                <a:lnTo>
                  <a:pt x="2208" y="3840"/>
                </a:lnTo>
                <a:lnTo>
                  <a:pt x="608" y="3840"/>
                </a:lnTo>
                <a:lnTo>
                  <a:pt x="608" y="2560"/>
                </a:lnTo>
                <a:close/>
                <a:moveTo>
                  <a:pt x="10848" y="9600"/>
                </a:moveTo>
                <a:lnTo>
                  <a:pt x="608" y="9600"/>
                </a:lnTo>
                <a:lnTo>
                  <a:pt x="608" y="4480"/>
                </a:lnTo>
                <a:lnTo>
                  <a:pt x="10848" y="4480"/>
                </a:lnTo>
                <a:lnTo>
                  <a:pt x="10848" y="96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45" name="light-bulb_99723"/>
          <p:cNvSpPr/>
          <p:nvPr/>
        </p:nvSpPr>
        <p:spPr>
          <a:xfrm>
            <a:off x="685112" y="5073247"/>
            <a:ext cx="219876" cy="249325"/>
          </a:xfrm>
          <a:custGeom>
            <a:avLst/>
            <a:gdLst>
              <a:gd name="connsiteX0" fmla="*/ 43428 w 535805"/>
              <a:gd name="connsiteY0" fmla="*/ 277681 h 607568"/>
              <a:gd name="connsiteX1" fmla="*/ 71228 w 535805"/>
              <a:gd name="connsiteY1" fmla="*/ 298542 h 607568"/>
              <a:gd name="connsiteX2" fmla="*/ 50339 w 535805"/>
              <a:gd name="connsiteY2" fmla="*/ 326306 h 607568"/>
              <a:gd name="connsiteX3" fmla="*/ 28068 w 535805"/>
              <a:gd name="connsiteY3" fmla="*/ 329528 h 607568"/>
              <a:gd name="connsiteX4" fmla="*/ 24536 w 535805"/>
              <a:gd name="connsiteY4" fmla="*/ 329681 h 607568"/>
              <a:gd name="connsiteX5" fmla="*/ 268 w 535805"/>
              <a:gd name="connsiteY5" fmla="*/ 308666 h 607568"/>
              <a:gd name="connsiteX6" fmla="*/ 21157 w 535805"/>
              <a:gd name="connsiteY6" fmla="*/ 280902 h 607568"/>
              <a:gd name="connsiteX7" fmla="*/ 492377 w 535805"/>
              <a:gd name="connsiteY7" fmla="*/ 277411 h 607568"/>
              <a:gd name="connsiteX8" fmla="*/ 514802 w 535805"/>
              <a:gd name="connsiteY8" fmla="*/ 280631 h 607568"/>
              <a:gd name="connsiteX9" fmla="*/ 535537 w 535805"/>
              <a:gd name="connsiteY9" fmla="*/ 308390 h 607568"/>
              <a:gd name="connsiteX10" fmla="*/ 511269 w 535805"/>
              <a:gd name="connsiteY10" fmla="*/ 329400 h 607568"/>
              <a:gd name="connsiteX11" fmla="*/ 507737 w 535805"/>
              <a:gd name="connsiteY11" fmla="*/ 329093 h 607568"/>
              <a:gd name="connsiteX12" fmla="*/ 485466 w 535805"/>
              <a:gd name="connsiteY12" fmla="*/ 325873 h 607568"/>
              <a:gd name="connsiteX13" fmla="*/ 464577 w 535805"/>
              <a:gd name="connsiteY13" fmla="*/ 298114 h 607568"/>
              <a:gd name="connsiteX14" fmla="*/ 492377 w 535805"/>
              <a:gd name="connsiteY14" fmla="*/ 277411 h 607568"/>
              <a:gd name="connsiteX15" fmla="*/ 240083 w 535805"/>
              <a:gd name="connsiteY15" fmla="*/ 265892 h 607568"/>
              <a:gd name="connsiteX16" fmla="*/ 267126 w 535805"/>
              <a:gd name="connsiteY16" fmla="*/ 350889 h 607568"/>
              <a:gd name="connsiteX17" fmla="*/ 292633 w 535805"/>
              <a:gd name="connsiteY17" fmla="*/ 265892 h 607568"/>
              <a:gd name="connsiteX18" fmla="*/ 35560 w 535805"/>
              <a:gd name="connsiteY18" fmla="*/ 145308 h 607568"/>
              <a:gd name="connsiteX19" fmla="*/ 54335 w 535805"/>
              <a:gd name="connsiteY19" fmla="*/ 146037 h 607568"/>
              <a:gd name="connsiteX20" fmla="*/ 74937 w 535805"/>
              <a:gd name="connsiteY20" fmla="*/ 155251 h 607568"/>
              <a:gd name="connsiteX21" fmla="*/ 87082 w 535805"/>
              <a:gd name="connsiteY21" fmla="*/ 187806 h 607568"/>
              <a:gd name="connsiteX22" fmla="*/ 64636 w 535805"/>
              <a:gd name="connsiteY22" fmla="*/ 202241 h 607568"/>
              <a:gd name="connsiteX23" fmla="*/ 54489 w 535805"/>
              <a:gd name="connsiteY23" fmla="*/ 200091 h 607568"/>
              <a:gd name="connsiteX24" fmla="*/ 33888 w 535805"/>
              <a:gd name="connsiteY24" fmla="*/ 190724 h 607568"/>
              <a:gd name="connsiteX25" fmla="*/ 21742 w 535805"/>
              <a:gd name="connsiteY25" fmla="*/ 158168 h 607568"/>
              <a:gd name="connsiteX26" fmla="*/ 35560 w 535805"/>
              <a:gd name="connsiteY26" fmla="*/ 145308 h 607568"/>
              <a:gd name="connsiteX27" fmla="*/ 500064 w 535805"/>
              <a:gd name="connsiteY27" fmla="*/ 144934 h 607568"/>
              <a:gd name="connsiteX28" fmla="*/ 513869 w 535805"/>
              <a:gd name="connsiteY28" fmla="*/ 157720 h 607568"/>
              <a:gd name="connsiteX29" fmla="*/ 501581 w 535805"/>
              <a:gd name="connsiteY29" fmla="*/ 190232 h 607568"/>
              <a:gd name="connsiteX30" fmla="*/ 481152 w 535805"/>
              <a:gd name="connsiteY30" fmla="*/ 199587 h 607568"/>
              <a:gd name="connsiteX31" fmla="*/ 471014 w 535805"/>
              <a:gd name="connsiteY31" fmla="*/ 201887 h 607568"/>
              <a:gd name="connsiteX32" fmla="*/ 448588 w 535805"/>
              <a:gd name="connsiteY32" fmla="*/ 187472 h 607568"/>
              <a:gd name="connsiteX33" fmla="*/ 460723 w 535805"/>
              <a:gd name="connsiteY33" fmla="*/ 154960 h 607568"/>
              <a:gd name="connsiteX34" fmla="*/ 481305 w 535805"/>
              <a:gd name="connsiteY34" fmla="*/ 145605 h 607568"/>
              <a:gd name="connsiteX35" fmla="*/ 500064 w 535805"/>
              <a:gd name="connsiteY35" fmla="*/ 144934 h 607568"/>
              <a:gd name="connsiteX36" fmla="*/ 267434 w 535805"/>
              <a:gd name="connsiteY36" fmla="*/ 135634 h 607568"/>
              <a:gd name="connsiteX37" fmla="*/ 129605 w 535805"/>
              <a:gd name="connsiteY37" fmla="*/ 273256 h 607568"/>
              <a:gd name="connsiteX38" fmla="*/ 206740 w 535805"/>
              <a:gd name="connsiteY38" fmla="*/ 396916 h 607568"/>
              <a:gd name="connsiteX39" fmla="*/ 215652 w 535805"/>
              <a:gd name="connsiteY39" fmla="*/ 411645 h 607568"/>
              <a:gd name="connsiteX40" fmla="*/ 215652 w 535805"/>
              <a:gd name="connsiteY40" fmla="*/ 454144 h 607568"/>
              <a:gd name="connsiteX41" fmla="*/ 250378 w 535805"/>
              <a:gd name="connsiteY41" fmla="*/ 454144 h 607568"/>
              <a:gd name="connsiteX42" fmla="*/ 250378 w 535805"/>
              <a:gd name="connsiteY42" fmla="*/ 409344 h 607568"/>
              <a:gd name="connsiteX43" fmla="*/ 201669 w 535805"/>
              <a:gd name="connsiteY43" fmla="*/ 254692 h 607568"/>
              <a:gd name="connsiteX44" fmla="*/ 204435 w 535805"/>
              <a:gd name="connsiteY44" fmla="*/ 239963 h 607568"/>
              <a:gd name="connsiteX45" fmla="*/ 217650 w 535805"/>
              <a:gd name="connsiteY45" fmla="*/ 233212 h 607568"/>
              <a:gd name="connsiteX46" fmla="*/ 314605 w 535805"/>
              <a:gd name="connsiteY46" fmla="*/ 233212 h 607568"/>
              <a:gd name="connsiteX47" fmla="*/ 327666 w 535805"/>
              <a:gd name="connsiteY47" fmla="*/ 239810 h 607568"/>
              <a:gd name="connsiteX48" fmla="*/ 329971 w 535805"/>
              <a:gd name="connsiteY48" fmla="*/ 254232 h 607568"/>
              <a:gd name="connsiteX49" fmla="*/ 283260 w 535805"/>
              <a:gd name="connsiteY49" fmla="*/ 409190 h 607568"/>
              <a:gd name="connsiteX50" fmla="*/ 283260 w 535805"/>
              <a:gd name="connsiteY50" fmla="*/ 454144 h 607568"/>
              <a:gd name="connsiteX51" fmla="*/ 317986 w 535805"/>
              <a:gd name="connsiteY51" fmla="*/ 454144 h 607568"/>
              <a:gd name="connsiteX52" fmla="*/ 317986 w 535805"/>
              <a:gd name="connsiteY52" fmla="*/ 411645 h 607568"/>
              <a:gd name="connsiteX53" fmla="*/ 327666 w 535805"/>
              <a:gd name="connsiteY53" fmla="*/ 396916 h 607568"/>
              <a:gd name="connsiteX54" fmla="*/ 405108 w 535805"/>
              <a:gd name="connsiteY54" fmla="*/ 273256 h 607568"/>
              <a:gd name="connsiteX55" fmla="*/ 267434 w 535805"/>
              <a:gd name="connsiteY55" fmla="*/ 135634 h 607568"/>
              <a:gd name="connsiteX56" fmla="*/ 267587 w 535805"/>
              <a:gd name="connsiteY56" fmla="*/ 102955 h 607568"/>
              <a:gd name="connsiteX57" fmla="*/ 437683 w 535805"/>
              <a:gd name="connsiteY57" fmla="*/ 273256 h 607568"/>
              <a:gd name="connsiteX58" fmla="*/ 350868 w 535805"/>
              <a:gd name="connsiteY58" fmla="*/ 421464 h 607568"/>
              <a:gd name="connsiteX59" fmla="*/ 350868 w 535805"/>
              <a:gd name="connsiteY59" fmla="*/ 455371 h 607568"/>
              <a:gd name="connsiteX60" fmla="*/ 369000 w 535805"/>
              <a:gd name="connsiteY60" fmla="*/ 479766 h 607568"/>
              <a:gd name="connsiteX61" fmla="*/ 343646 w 535805"/>
              <a:gd name="connsiteY61" fmla="*/ 505234 h 607568"/>
              <a:gd name="connsiteX62" fmla="*/ 321674 w 535805"/>
              <a:gd name="connsiteY62" fmla="*/ 505234 h 607568"/>
              <a:gd name="connsiteX63" fmla="*/ 337193 w 535805"/>
              <a:gd name="connsiteY63" fmla="*/ 528861 h 607568"/>
              <a:gd name="connsiteX64" fmla="*/ 311532 w 535805"/>
              <a:gd name="connsiteY64" fmla="*/ 554330 h 607568"/>
              <a:gd name="connsiteX65" fmla="*/ 295552 w 535805"/>
              <a:gd name="connsiteY65" fmla="*/ 554330 h 607568"/>
              <a:gd name="connsiteX66" fmla="*/ 295552 w 535805"/>
              <a:gd name="connsiteY66" fmla="*/ 578111 h 607568"/>
              <a:gd name="connsiteX67" fmla="*/ 267587 w 535805"/>
              <a:gd name="connsiteY67" fmla="*/ 607568 h 607568"/>
              <a:gd name="connsiteX68" fmla="*/ 267434 w 535805"/>
              <a:gd name="connsiteY68" fmla="*/ 607568 h 607568"/>
              <a:gd name="connsiteX69" fmla="*/ 236088 w 535805"/>
              <a:gd name="connsiteY69" fmla="*/ 578111 h 607568"/>
              <a:gd name="connsiteX70" fmla="*/ 236088 w 535805"/>
              <a:gd name="connsiteY70" fmla="*/ 554330 h 607568"/>
              <a:gd name="connsiteX71" fmla="*/ 221491 w 535805"/>
              <a:gd name="connsiteY71" fmla="*/ 554330 h 607568"/>
              <a:gd name="connsiteX72" fmla="*/ 195831 w 535805"/>
              <a:gd name="connsiteY72" fmla="*/ 528861 h 607568"/>
              <a:gd name="connsiteX73" fmla="*/ 211350 w 535805"/>
              <a:gd name="connsiteY73" fmla="*/ 505234 h 607568"/>
              <a:gd name="connsiteX74" fmla="*/ 189377 w 535805"/>
              <a:gd name="connsiteY74" fmla="*/ 505234 h 607568"/>
              <a:gd name="connsiteX75" fmla="*/ 163409 w 535805"/>
              <a:gd name="connsiteY75" fmla="*/ 479766 h 607568"/>
              <a:gd name="connsiteX76" fmla="*/ 182770 w 535805"/>
              <a:gd name="connsiteY76" fmla="*/ 454757 h 607568"/>
              <a:gd name="connsiteX77" fmla="*/ 182770 w 535805"/>
              <a:gd name="connsiteY77" fmla="*/ 421464 h 607568"/>
              <a:gd name="connsiteX78" fmla="*/ 96570 w 535805"/>
              <a:gd name="connsiteY78" fmla="*/ 273256 h 607568"/>
              <a:gd name="connsiteX79" fmla="*/ 267587 w 535805"/>
              <a:gd name="connsiteY79" fmla="*/ 102955 h 607568"/>
              <a:gd name="connsiteX80" fmla="*/ 139966 w 535805"/>
              <a:gd name="connsiteY80" fmla="*/ 39746 h 607568"/>
              <a:gd name="connsiteX81" fmla="*/ 155450 w 535805"/>
              <a:gd name="connsiteY81" fmla="*/ 50503 h 607568"/>
              <a:gd name="connsiteX82" fmla="*/ 167591 w 535805"/>
              <a:gd name="connsiteY82" fmla="*/ 69371 h 607568"/>
              <a:gd name="connsiteX83" fmla="*/ 160214 w 535805"/>
              <a:gd name="connsiteY83" fmla="*/ 103272 h 607568"/>
              <a:gd name="connsiteX84" fmla="*/ 146843 w 535805"/>
              <a:gd name="connsiteY84" fmla="*/ 107260 h 607568"/>
              <a:gd name="connsiteX85" fmla="*/ 126249 w 535805"/>
              <a:gd name="connsiteY85" fmla="*/ 95909 h 607568"/>
              <a:gd name="connsiteX86" fmla="*/ 113954 w 535805"/>
              <a:gd name="connsiteY86" fmla="*/ 77041 h 607568"/>
              <a:gd name="connsiteX87" fmla="*/ 121485 w 535805"/>
              <a:gd name="connsiteY87" fmla="*/ 43140 h 607568"/>
              <a:gd name="connsiteX88" fmla="*/ 139966 w 535805"/>
              <a:gd name="connsiteY88" fmla="*/ 39746 h 607568"/>
              <a:gd name="connsiteX89" fmla="*/ 395557 w 535805"/>
              <a:gd name="connsiteY89" fmla="*/ 39451 h 607568"/>
              <a:gd name="connsiteX90" fmla="*/ 414038 w 535805"/>
              <a:gd name="connsiteY90" fmla="*/ 42787 h 607568"/>
              <a:gd name="connsiteX91" fmla="*/ 421415 w 535805"/>
              <a:gd name="connsiteY91" fmla="*/ 76688 h 607568"/>
              <a:gd name="connsiteX92" fmla="*/ 409274 w 535805"/>
              <a:gd name="connsiteY92" fmla="*/ 95709 h 607568"/>
              <a:gd name="connsiteX93" fmla="*/ 388526 w 535805"/>
              <a:gd name="connsiteY93" fmla="*/ 106907 h 607568"/>
              <a:gd name="connsiteX94" fmla="*/ 375156 w 535805"/>
              <a:gd name="connsiteY94" fmla="*/ 103072 h 607568"/>
              <a:gd name="connsiteX95" fmla="*/ 367932 w 535805"/>
              <a:gd name="connsiteY95" fmla="*/ 69018 h 607568"/>
              <a:gd name="connsiteX96" fmla="*/ 380073 w 535805"/>
              <a:gd name="connsiteY96" fmla="*/ 50150 h 607568"/>
              <a:gd name="connsiteX97" fmla="*/ 395557 w 535805"/>
              <a:gd name="connsiteY97" fmla="*/ 39451 h 607568"/>
              <a:gd name="connsiteX98" fmla="*/ 266844 w 535805"/>
              <a:gd name="connsiteY98" fmla="*/ 0 h 607568"/>
              <a:gd name="connsiteX99" fmla="*/ 291401 w 535805"/>
              <a:gd name="connsiteY99" fmla="*/ 24539 h 607568"/>
              <a:gd name="connsiteX100" fmla="*/ 291401 w 535805"/>
              <a:gd name="connsiteY100" fmla="*/ 47085 h 607568"/>
              <a:gd name="connsiteX101" fmla="*/ 266844 w 535805"/>
              <a:gd name="connsiteY101" fmla="*/ 71624 h 607568"/>
              <a:gd name="connsiteX102" fmla="*/ 242287 w 535805"/>
              <a:gd name="connsiteY102" fmla="*/ 47085 h 607568"/>
              <a:gd name="connsiteX103" fmla="*/ 242287 w 535805"/>
              <a:gd name="connsiteY103" fmla="*/ 24539 h 607568"/>
              <a:gd name="connsiteX104" fmla="*/ 266844 w 535805"/>
              <a:gd name="connsiteY104" fmla="*/ 0 h 60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535805" h="607568">
                <a:moveTo>
                  <a:pt x="43428" y="277681"/>
                </a:moveTo>
                <a:cubicBezTo>
                  <a:pt x="56790" y="275840"/>
                  <a:pt x="69231" y="285044"/>
                  <a:pt x="71228" y="298542"/>
                </a:cubicBezTo>
                <a:cubicBezTo>
                  <a:pt x="73071" y="311887"/>
                  <a:pt x="63855" y="324312"/>
                  <a:pt x="50339" y="326306"/>
                </a:cubicBezTo>
                <a:lnTo>
                  <a:pt x="28068" y="329528"/>
                </a:lnTo>
                <a:cubicBezTo>
                  <a:pt x="26840" y="329681"/>
                  <a:pt x="25765" y="329681"/>
                  <a:pt x="24536" y="329681"/>
                </a:cubicBezTo>
                <a:cubicBezTo>
                  <a:pt x="12556" y="329681"/>
                  <a:pt x="1958" y="320938"/>
                  <a:pt x="268" y="308666"/>
                </a:cubicBezTo>
                <a:cubicBezTo>
                  <a:pt x="-1728" y="295321"/>
                  <a:pt x="7641" y="282896"/>
                  <a:pt x="21157" y="280902"/>
                </a:cubicBezTo>
                <a:close/>
                <a:moveTo>
                  <a:pt x="492377" y="277411"/>
                </a:moveTo>
                <a:lnTo>
                  <a:pt x="514802" y="280631"/>
                </a:lnTo>
                <a:cubicBezTo>
                  <a:pt x="528164" y="282472"/>
                  <a:pt x="537533" y="294894"/>
                  <a:pt x="535537" y="308390"/>
                </a:cubicBezTo>
                <a:cubicBezTo>
                  <a:pt x="533693" y="320658"/>
                  <a:pt x="523249" y="329400"/>
                  <a:pt x="511269" y="329400"/>
                </a:cubicBezTo>
                <a:cubicBezTo>
                  <a:pt x="510040" y="329400"/>
                  <a:pt x="508965" y="329247"/>
                  <a:pt x="507737" y="329093"/>
                </a:cubicBezTo>
                <a:lnTo>
                  <a:pt x="485466" y="325873"/>
                </a:lnTo>
                <a:cubicBezTo>
                  <a:pt x="471950" y="324032"/>
                  <a:pt x="462734" y="311457"/>
                  <a:pt x="464577" y="298114"/>
                </a:cubicBezTo>
                <a:cubicBezTo>
                  <a:pt x="466574" y="284772"/>
                  <a:pt x="479015" y="275417"/>
                  <a:pt x="492377" y="277411"/>
                </a:cubicBezTo>
                <a:close/>
                <a:moveTo>
                  <a:pt x="240083" y="265892"/>
                </a:moveTo>
                <a:lnTo>
                  <a:pt x="267126" y="350889"/>
                </a:lnTo>
                <a:lnTo>
                  <a:pt x="292633" y="265892"/>
                </a:lnTo>
                <a:close/>
                <a:moveTo>
                  <a:pt x="35560" y="145308"/>
                </a:moveTo>
                <a:cubicBezTo>
                  <a:pt x="41459" y="143119"/>
                  <a:pt x="48186" y="143196"/>
                  <a:pt x="54335" y="146037"/>
                </a:cubicBezTo>
                <a:lnTo>
                  <a:pt x="74937" y="155251"/>
                </a:lnTo>
                <a:cubicBezTo>
                  <a:pt x="87236" y="160933"/>
                  <a:pt x="92617" y="175521"/>
                  <a:pt x="87082" y="187806"/>
                </a:cubicBezTo>
                <a:cubicBezTo>
                  <a:pt x="82931" y="196866"/>
                  <a:pt x="74014" y="202241"/>
                  <a:pt x="64636" y="202241"/>
                </a:cubicBezTo>
                <a:cubicBezTo>
                  <a:pt x="61254" y="202241"/>
                  <a:pt x="57718" y="201473"/>
                  <a:pt x="54489" y="200091"/>
                </a:cubicBezTo>
                <a:lnTo>
                  <a:pt x="33888" y="190724"/>
                </a:lnTo>
                <a:cubicBezTo>
                  <a:pt x="21588" y="185042"/>
                  <a:pt x="16054" y="170453"/>
                  <a:pt x="21742" y="158168"/>
                </a:cubicBezTo>
                <a:cubicBezTo>
                  <a:pt x="24587" y="151949"/>
                  <a:pt x="29660" y="147496"/>
                  <a:pt x="35560" y="145308"/>
                </a:cubicBezTo>
                <a:close/>
                <a:moveTo>
                  <a:pt x="500064" y="144934"/>
                </a:moveTo>
                <a:cubicBezTo>
                  <a:pt x="505958" y="147139"/>
                  <a:pt x="511027" y="151586"/>
                  <a:pt x="513869" y="157720"/>
                </a:cubicBezTo>
                <a:cubicBezTo>
                  <a:pt x="519398" y="170142"/>
                  <a:pt x="514022" y="184711"/>
                  <a:pt x="501581" y="190232"/>
                </a:cubicBezTo>
                <a:lnTo>
                  <a:pt x="481152" y="199587"/>
                </a:lnTo>
                <a:cubicBezTo>
                  <a:pt x="477773" y="201120"/>
                  <a:pt x="474393" y="201887"/>
                  <a:pt x="471014" y="201887"/>
                </a:cubicBezTo>
                <a:cubicBezTo>
                  <a:pt x="461644" y="201887"/>
                  <a:pt x="452736" y="196520"/>
                  <a:pt x="448588" y="187472"/>
                </a:cubicBezTo>
                <a:cubicBezTo>
                  <a:pt x="442905" y="175050"/>
                  <a:pt x="448435" y="160634"/>
                  <a:pt x="460723" y="154960"/>
                </a:cubicBezTo>
                <a:lnTo>
                  <a:pt x="481305" y="145605"/>
                </a:lnTo>
                <a:cubicBezTo>
                  <a:pt x="487449" y="142768"/>
                  <a:pt x="494169" y="142730"/>
                  <a:pt x="500064" y="144934"/>
                </a:cubicBezTo>
                <a:close/>
                <a:moveTo>
                  <a:pt x="267434" y="135634"/>
                </a:moveTo>
                <a:cubicBezTo>
                  <a:pt x="191528" y="135634"/>
                  <a:pt x="129605" y="197465"/>
                  <a:pt x="129605" y="273256"/>
                </a:cubicBezTo>
                <a:cubicBezTo>
                  <a:pt x="129605" y="326188"/>
                  <a:pt x="159107" y="373596"/>
                  <a:pt x="206740" y="396916"/>
                </a:cubicBezTo>
                <a:cubicBezTo>
                  <a:pt x="212425" y="399678"/>
                  <a:pt x="215652" y="405355"/>
                  <a:pt x="215652" y="411645"/>
                </a:cubicBezTo>
                <a:lnTo>
                  <a:pt x="215652" y="454144"/>
                </a:lnTo>
                <a:lnTo>
                  <a:pt x="250378" y="454144"/>
                </a:lnTo>
                <a:lnTo>
                  <a:pt x="250378" y="409344"/>
                </a:lnTo>
                <a:lnTo>
                  <a:pt x="201669" y="254692"/>
                </a:lnTo>
                <a:cubicBezTo>
                  <a:pt x="200133" y="249782"/>
                  <a:pt x="201362" y="244259"/>
                  <a:pt x="204435" y="239963"/>
                </a:cubicBezTo>
                <a:cubicBezTo>
                  <a:pt x="207508" y="235821"/>
                  <a:pt x="212425" y="233212"/>
                  <a:pt x="217650" y="233212"/>
                </a:cubicBezTo>
                <a:lnTo>
                  <a:pt x="314605" y="233212"/>
                </a:lnTo>
                <a:cubicBezTo>
                  <a:pt x="319830" y="233212"/>
                  <a:pt x="324593" y="235667"/>
                  <a:pt x="327666" y="239810"/>
                </a:cubicBezTo>
                <a:cubicBezTo>
                  <a:pt x="330739" y="243952"/>
                  <a:pt x="331507" y="249322"/>
                  <a:pt x="329971" y="254232"/>
                </a:cubicBezTo>
                <a:lnTo>
                  <a:pt x="283260" y="409190"/>
                </a:lnTo>
                <a:lnTo>
                  <a:pt x="283260" y="454144"/>
                </a:lnTo>
                <a:lnTo>
                  <a:pt x="317986" y="454144"/>
                </a:lnTo>
                <a:lnTo>
                  <a:pt x="317986" y="411645"/>
                </a:lnTo>
                <a:cubicBezTo>
                  <a:pt x="317986" y="405355"/>
                  <a:pt x="321981" y="399678"/>
                  <a:pt x="327666" y="396916"/>
                </a:cubicBezTo>
                <a:cubicBezTo>
                  <a:pt x="375300" y="373596"/>
                  <a:pt x="405108" y="326188"/>
                  <a:pt x="405108" y="273256"/>
                </a:cubicBezTo>
                <a:cubicBezTo>
                  <a:pt x="405108" y="197465"/>
                  <a:pt x="343339" y="135634"/>
                  <a:pt x="267434" y="135634"/>
                </a:cubicBezTo>
                <a:close/>
                <a:moveTo>
                  <a:pt x="267587" y="102955"/>
                </a:moveTo>
                <a:cubicBezTo>
                  <a:pt x="361624" y="102955"/>
                  <a:pt x="437683" y="179360"/>
                  <a:pt x="437683" y="273256"/>
                </a:cubicBezTo>
                <a:cubicBezTo>
                  <a:pt x="437683" y="335393"/>
                  <a:pt x="406184" y="391240"/>
                  <a:pt x="350868" y="421464"/>
                </a:cubicBezTo>
                <a:lnTo>
                  <a:pt x="350868" y="455371"/>
                </a:lnTo>
                <a:cubicBezTo>
                  <a:pt x="361010" y="458746"/>
                  <a:pt x="369000" y="468259"/>
                  <a:pt x="369000" y="479766"/>
                </a:cubicBezTo>
                <a:cubicBezTo>
                  <a:pt x="369000" y="493881"/>
                  <a:pt x="357782" y="505234"/>
                  <a:pt x="343646" y="505234"/>
                </a:cubicBezTo>
                <a:lnTo>
                  <a:pt x="321674" y="505234"/>
                </a:lnTo>
                <a:cubicBezTo>
                  <a:pt x="330739" y="509223"/>
                  <a:pt x="337193" y="518275"/>
                  <a:pt x="337193" y="528861"/>
                </a:cubicBezTo>
                <a:cubicBezTo>
                  <a:pt x="337193" y="542976"/>
                  <a:pt x="325669" y="554330"/>
                  <a:pt x="311532" y="554330"/>
                </a:cubicBezTo>
                <a:lnTo>
                  <a:pt x="295552" y="554330"/>
                </a:lnTo>
                <a:lnTo>
                  <a:pt x="295552" y="578111"/>
                </a:lnTo>
                <a:cubicBezTo>
                  <a:pt x="295552" y="594374"/>
                  <a:pt x="284028" y="607568"/>
                  <a:pt x="267587" y="607568"/>
                </a:cubicBezTo>
                <a:lnTo>
                  <a:pt x="267434" y="607568"/>
                </a:lnTo>
                <a:cubicBezTo>
                  <a:pt x="251146" y="607568"/>
                  <a:pt x="236088" y="594374"/>
                  <a:pt x="236088" y="578111"/>
                </a:cubicBezTo>
                <a:lnTo>
                  <a:pt x="236088" y="554330"/>
                </a:lnTo>
                <a:lnTo>
                  <a:pt x="221491" y="554330"/>
                </a:lnTo>
                <a:cubicBezTo>
                  <a:pt x="207355" y="554330"/>
                  <a:pt x="195831" y="542976"/>
                  <a:pt x="195831" y="528861"/>
                </a:cubicBezTo>
                <a:cubicBezTo>
                  <a:pt x="195831" y="518275"/>
                  <a:pt x="202284" y="509223"/>
                  <a:pt x="211350" y="505234"/>
                </a:cubicBezTo>
                <a:lnTo>
                  <a:pt x="189377" y="505234"/>
                </a:lnTo>
                <a:cubicBezTo>
                  <a:pt x="175241" y="505234"/>
                  <a:pt x="163409" y="493881"/>
                  <a:pt x="163409" y="479766"/>
                </a:cubicBezTo>
                <a:cubicBezTo>
                  <a:pt x="163409" y="467645"/>
                  <a:pt x="172629" y="457519"/>
                  <a:pt x="182770" y="454757"/>
                </a:cubicBezTo>
                <a:lnTo>
                  <a:pt x="182770" y="421464"/>
                </a:lnTo>
                <a:cubicBezTo>
                  <a:pt x="129605" y="391240"/>
                  <a:pt x="96570" y="335393"/>
                  <a:pt x="96570" y="273256"/>
                </a:cubicBezTo>
                <a:cubicBezTo>
                  <a:pt x="96570" y="179360"/>
                  <a:pt x="173551" y="102955"/>
                  <a:pt x="267587" y="102955"/>
                </a:cubicBezTo>
                <a:close/>
                <a:moveTo>
                  <a:pt x="139966" y="39746"/>
                </a:moveTo>
                <a:cubicBezTo>
                  <a:pt x="146113" y="41069"/>
                  <a:pt x="151761" y="44751"/>
                  <a:pt x="155450" y="50503"/>
                </a:cubicBezTo>
                <a:lnTo>
                  <a:pt x="167591" y="69371"/>
                </a:lnTo>
                <a:cubicBezTo>
                  <a:pt x="174968" y="80722"/>
                  <a:pt x="171587" y="95909"/>
                  <a:pt x="160214" y="103272"/>
                </a:cubicBezTo>
                <a:cubicBezTo>
                  <a:pt x="156064" y="105879"/>
                  <a:pt x="151454" y="107260"/>
                  <a:pt x="146843" y="107260"/>
                </a:cubicBezTo>
                <a:cubicBezTo>
                  <a:pt x="138851" y="107260"/>
                  <a:pt x="130860" y="103272"/>
                  <a:pt x="126249" y="95909"/>
                </a:cubicBezTo>
                <a:lnTo>
                  <a:pt x="113954" y="77041"/>
                </a:lnTo>
                <a:cubicBezTo>
                  <a:pt x="106731" y="65536"/>
                  <a:pt x="109958" y="50350"/>
                  <a:pt x="121485" y="43140"/>
                </a:cubicBezTo>
                <a:cubicBezTo>
                  <a:pt x="127171" y="39459"/>
                  <a:pt x="133818" y="38423"/>
                  <a:pt x="139966" y="39746"/>
                </a:cubicBezTo>
                <a:close/>
                <a:moveTo>
                  <a:pt x="395557" y="39451"/>
                </a:moveTo>
                <a:cubicBezTo>
                  <a:pt x="401705" y="38109"/>
                  <a:pt x="408352" y="39106"/>
                  <a:pt x="414038" y="42787"/>
                </a:cubicBezTo>
                <a:cubicBezTo>
                  <a:pt x="425411" y="50150"/>
                  <a:pt x="428792" y="65336"/>
                  <a:pt x="421415" y="76688"/>
                </a:cubicBezTo>
                <a:lnTo>
                  <a:pt x="409274" y="95709"/>
                </a:lnTo>
                <a:cubicBezTo>
                  <a:pt x="404510" y="102919"/>
                  <a:pt x="396518" y="106907"/>
                  <a:pt x="388526" y="106907"/>
                </a:cubicBezTo>
                <a:cubicBezTo>
                  <a:pt x="383916" y="106907"/>
                  <a:pt x="379305" y="105680"/>
                  <a:pt x="375156" y="103072"/>
                </a:cubicBezTo>
                <a:cubicBezTo>
                  <a:pt x="363783" y="95709"/>
                  <a:pt x="360555" y="80523"/>
                  <a:pt x="367932" y="69018"/>
                </a:cubicBezTo>
                <a:lnTo>
                  <a:pt x="380073" y="50150"/>
                </a:lnTo>
                <a:cubicBezTo>
                  <a:pt x="383762" y="44475"/>
                  <a:pt x="389410" y="40793"/>
                  <a:pt x="395557" y="39451"/>
                </a:cubicBezTo>
                <a:close/>
                <a:moveTo>
                  <a:pt x="266844" y="0"/>
                </a:moveTo>
                <a:cubicBezTo>
                  <a:pt x="280504" y="0"/>
                  <a:pt x="291401" y="11043"/>
                  <a:pt x="291401" y="24539"/>
                </a:cubicBezTo>
                <a:lnTo>
                  <a:pt x="291401" y="47085"/>
                </a:lnTo>
                <a:cubicBezTo>
                  <a:pt x="291401" y="60581"/>
                  <a:pt x="280504" y="71624"/>
                  <a:pt x="266844" y="71624"/>
                </a:cubicBezTo>
                <a:cubicBezTo>
                  <a:pt x="253337" y="71624"/>
                  <a:pt x="242287" y="60581"/>
                  <a:pt x="242287" y="47085"/>
                </a:cubicBezTo>
                <a:lnTo>
                  <a:pt x="242287" y="24539"/>
                </a:lnTo>
                <a:cubicBezTo>
                  <a:pt x="242287" y="11043"/>
                  <a:pt x="253337" y="0"/>
                  <a:pt x="266844"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46" name="light-bulb_99723"/>
          <p:cNvSpPr/>
          <p:nvPr/>
        </p:nvSpPr>
        <p:spPr>
          <a:xfrm>
            <a:off x="3338948" y="5891229"/>
            <a:ext cx="219876" cy="249325"/>
          </a:xfrm>
          <a:custGeom>
            <a:avLst/>
            <a:gdLst>
              <a:gd name="connsiteX0" fmla="*/ 43428 w 535805"/>
              <a:gd name="connsiteY0" fmla="*/ 277681 h 607568"/>
              <a:gd name="connsiteX1" fmla="*/ 71228 w 535805"/>
              <a:gd name="connsiteY1" fmla="*/ 298542 h 607568"/>
              <a:gd name="connsiteX2" fmla="*/ 50339 w 535805"/>
              <a:gd name="connsiteY2" fmla="*/ 326306 h 607568"/>
              <a:gd name="connsiteX3" fmla="*/ 28068 w 535805"/>
              <a:gd name="connsiteY3" fmla="*/ 329528 h 607568"/>
              <a:gd name="connsiteX4" fmla="*/ 24536 w 535805"/>
              <a:gd name="connsiteY4" fmla="*/ 329681 h 607568"/>
              <a:gd name="connsiteX5" fmla="*/ 268 w 535805"/>
              <a:gd name="connsiteY5" fmla="*/ 308666 h 607568"/>
              <a:gd name="connsiteX6" fmla="*/ 21157 w 535805"/>
              <a:gd name="connsiteY6" fmla="*/ 280902 h 607568"/>
              <a:gd name="connsiteX7" fmla="*/ 492377 w 535805"/>
              <a:gd name="connsiteY7" fmla="*/ 277411 h 607568"/>
              <a:gd name="connsiteX8" fmla="*/ 514802 w 535805"/>
              <a:gd name="connsiteY8" fmla="*/ 280631 h 607568"/>
              <a:gd name="connsiteX9" fmla="*/ 535537 w 535805"/>
              <a:gd name="connsiteY9" fmla="*/ 308390 h 607568"/>
              <a:gd name="connsiteX10" fmla="*/ 511269 w 535805"/>
              <a:gd name="connsiteY10" fmla="*/ 329400 h 607568"/>
              <a:gd name="connsiteX11" fmla="*/ 507737 w 535805"/>
              <a:gd name="connsiteY11" fmla="*/ 329093 h 607568"/>
              <a:gd name="connsiteX12" fmla="*/ 485466 w 535805"/>
              <a:gd name="connsiteY12" fmla="*/ 325873 h 607568"/>
              <a:gd name="connsiteX13" fmla="*/ 464577 w 535805"/>
              <a:gd name="connsiteY13" fmla="*/ 298114 h 607568"/>
              <a:gd name="connsiteX14" fmla="*/ 492377 w 535805"/>
              <a:gd name="connsiteY14" fmla="*/ 277411 h 607568"/>
              <a:gd name="connsiteX15" fmla="*/ 240083 w 535805"/>
              <a:gd name="connsiteY15" fmla="*/ 265892 h 607568"/>
              <a:gd name="connsiteX16" fmla="*/ 267126 w 535805"/>
              <a:gd name="connsiteY16" fmla="*/ 350889 h 607568"/>
              <a:gd name="connsiteX17" fmla="*/ 292633 w 535805"/>
              <a:gd name="connsiteY17" fmla="*/ 265892 h 607568"/>
              <a:gd name="connsiteX18" fmla="*/ 35560 w 535805"/>
              <a:gd name="connsiteY18" fmla="*/ 145308 h 607568"/>
              <a:gd name="connsiteX19" fmla="*/ 54335 w 535805"/>
              <a:gd name="connsiteY19" fmla="*/ 146037 h 607568"/>
              <a:gd name="connsiteX20" fmla="*/ 74937 w 535805"/>
              <a:gd name="connsiteY20" fmla="*/ 155251 h 607568"/>
              <a:gd name="connsiteX21" fmla="*/ 87082 w 535805"/>
              <a:gd name="connsiteY21" fmla="*/ 187806 h 607568"/>
              <a:gd name="connsiteX22" fmla="*/ 64636 w 535805"/>
              <a:gd name="connsiteY22" fmla="*/ 202241 h 607568"/>
              <a:gd name="connsiteX23" fmla="*/ 54489 w 535805"/>
              <a:gd name="connsiteY23" fmla="*/ 200091 h 607568"/>
              <a:gd name="connsiteX24" fmla="*/ 33888 w 535805"/>
              <a:gd name="connsiteY24" fmla="*/ 190724 h 607568"/>
              <a:gd name="connsiteX25" fmla="*/ 21742 w 535805"/>
              <a:gd name="connsiteY25" fmla="*/ 158168 h 607568"/>
              <a:gd name="connsiteX26" fmla="*/ 35560 w 535805"/>
              <a:gd name="connsiteY26" fmla="*/ 145308 h 607568"/>
              <a:gd name="connsiteX27" fmla="*/ 500064 w 535805"/>
              <a:gd name="connsiteY27" fmla="*/ 144934 h 607568"/>
              <a:gd name="connsiteX28" fmla="*/ 513869 w 535805"/>
              <a:gd name="connsiteY28" fmla="*/ 157720 h 607568"/>
              <a:gd name="connsiteX29" fmla="*/ 501581 w 535805"/>
              <a:gd name="connsiteY29" fmla="*/ 190232 h 607568"/>
              <a:gd name="connsiteX30" fmla="*/ 481152 w 535805"/>
              <a:gd name="connsiteY30" fmla="*/ 199587 h 607568"/>
              <a:gd name="connsiteX31" fmla="*/ 471014 w 535805"/>
              <a:gd name="connsiteY31" fmla="*/ 201887 h 607568"/>
              <a:gd name="connsiteX32" fmla="*/ 448588 w 535805"/>
              <a:gd name="connsiteY32" fmla="*/ 187472 h 607568"/>
              <a:gd name="connsiteX33" fmla="*/ 460723 w 535805"/>
              <a:gd name="connsiteY33" fmla="*/ 154960 h 607568"/>
              <a:gd name="connsiteX34" fmla="*/ 481305 w 535805"/>
              <a:gd name="connsiteY34" fmla="*/ 145605 h 607568"/>
              <a:gd name="connsiteX35" fmla="*/ 500064 w 535805"/>
              <a:gd name="connsiteY35" fmla="*/ 144934 h 607568"/>
              <a:gd name="connsiteX36" fmla="*/ 267434 w 535805"/>
              <a:gd name="connsiteY36" fmla="*/ 135634 h 607568"/>
              <a:gd name="connsiteX37" fmla="*/ 129605 w 535805"/>
              <a:gd name="connsiteY37" fmla="*/ 273256 h 607568"/>
              <a:gd name="connsiteX38" fmla="*/ 206740 w 535805"/>
              <a:gd name="connsiteY38" fmla="*/ 396916 h 607568"/>
              <a:gd name="connsiteX39" fmla="*/ 215652 w 535805"/>
              <a:gd name="connsiteY39" fmla="*/ 411645 h 607568"/>
              <a:gd name="connsiteX40" fmla="*/ 215652 w 535805"/>
              <a:gd name="connsiteY40" fmla="*/ 454144 h 607568"/>
              <a:gd name="connsiteX41" fmla="*/ 250378 w 535805"/>
              <a:gd name="connsiteY41" fmla="*/ 454144 h 607568"/>
              <a:gd name="connsiteX42" fmla="*/ 250378 w 535805"/>
              <a:gd name="connsiteY42" fmla="*/ 409344 h 607568"/>
              <a:gd name="connsiteX43" fmla="*/ 201669 w 535805"/>
              <a:gd name="connsiteY43" fmla="*/ 254692 h 607568"/>
              <a:gd name="connsiteX44" fmla="*/ 204435 w 535805"/>
              <a:gd name="connsiteY44" fmla="*/ 239963 h 607568"/>
              <a:gd name="connsiteX45" fmla="*/ 217650 w 535805"/>
              <a:gd name="connsiteY45" fmla="*/ 233212 h 607568"/>
              <a:gd name="connsiteX46" fmla="*/ 314605 w 535805"/>
              <a:gd name="connsiteY46" fmla="*/ 233212 h 607568"/>
              <a:gd name="connsiteX47" fmla="*/ 327666 w 535805"/>
              <a:gd name="connsiteY47" fmla="*/ 239810 h 607568"/>
              <a:gd name="connsiteX48" fmla="*/ 329971 w 535805"/>
              <a:gd name="connsiteY48" fmla="*/ 254232 h 607568"/>
              <a:gd name="connsiteX49" fmla="*/ 283260 w 535805"/>
              <a:gd name="connsiteY49" fmla="*/ 409190 h 607568"/>
              <a:gd name="connsiteX50" fmla="*/ 283260 w 535805"/>
              <a:gd name="connsiteY50" fmla="*/ 454144 h 607568"/>
              <a:gd name="connsiteX51" fmla="*/ 317986 w 535805"/>
              <a:gd name="connsiteY51" fmla="*/ 454144 h 607568"/>
              <a:gd name="connsiteX52" fmla="*/ 317986 w 535805"/>
              <a:gd name="connsiteY52" fmla="*/ 411645 h 607568"/>
              <a:gd name="connsiteX53" fmla="*/ 327666 w 535805"/>
              <a:gd name="connsiteY53" fmla="*/ 396916 h 607568"/>
              <a:gd name="connsiteX54" fmla="*/ 405108 w 535805"/>
              <a:gd name="connsiteY54" fmla="*/ 273256 h 607568"/>
              <a:gd name="connsiteX55" fmla="*/ 267434 w 535805"/>
              <a:gd name="connsiteY55" fmla="*/ 135634 h 607568"/>
              <a:gd name="connsiteX56" fmla="*/ 267587 w 535805"/>
              <a:gd name="connsiteY56" fmla="*/ 102955 h 607568"/>
              <a:gd name="connsiteX57" fmla="*/ 437683 w 535805"/>
              <a:gd name="connsiteY57" fmla="*/ 273256 h 607568"/>
              <a:gd name="connsiteX58" fmla="*/ 350868 w 535805"/>
              <a:gd name="connsiteY58" fmla="*/ 421464 h 607568"/>
              <a:gd name="connsiteX59" fmla="*/ 350868 w 535805"/>
              <a:gd name="connsiteY59" fmla="*/ 455371 h 607568"/>
              <a:gd name="connsiteX60" fmla="*/ 369000 w 535805"/>
              <a:gd name="connsiteY60" fmla="*/ 479766 h 607568"/>
              <a:gd name="connsiteX61" fmla="*/ 343646 w 535805"/>
              <a:gd name="connsiteY61" fmla="*/ 505234 h 607568"/>
              <a:gd name="connsiteX62" fmla="*/ 321674 w 535805"/>
              <a:gd name="connsiteY62" fmla="*/ 505234 h 607568"/>
              <a:gd name="connsiteX63" fmla="*/ 337193 w 535805"/>
              <a:gd name="connsiteY63" fmla="*/ 528861 h 607568"/>
              <a:gd name="connsiteX64" fmla="*/ 311532 w 535805"/>
              <a:gd name="connsiteY64" fmla="*/ 554330 h 607568"/>
              <a:gd name="connsiteX65" fmla="*/ 295552 w 535805"/>
              <a:gd name="connsiteY65" fmla="*/ 554330 h 607568"/>
              <a:gd name="connsiteX66" fmla="*/ 295552 w 535805"/>
              <a:gd name="connsiteY66" fmla="*/ 578111 h 607568"/>
              <a:gd name="connsiteX67" fmla="*/ 267587 w 535805"/>
              <a:gd name="connsiteY67" fmla="*/ 607568 h 607568"/>
              <a:gd name="connsiteX68" fmla="*/ 267434 w 535805"/>
              <a:gd name="connsiteY68" fmla="*/ 607568 h 607568"/>
              <a:gd name="connsiteX69" fmla="*/ 236088 w 535805"/>
              <a:gd name="connsiteY69" fmla="*/ 578111 h 607568"/>
              <a:gd name="connsiteX70" fmla="*/ 236088 w 535805"/>
              <a:gd name="connsiteY70" fmla="*/ 554330 h 607568"/>
              <a:gd name="connsiteX71" fmla="*/ 221491 w 535805"/>
              <a:gd name="connsiteY71" fmla="*/ 554330 h 607568"/>
              <a:gd name="connsiteX72" fmla="*/ 195831 w 535805"/>
              <a:gd name="connsiteY72" fmla="*/ 528861 h 607568"/>
              <a:gd name="connsiteX73" fmla="*/ 211350 w 535805"/>
              <a:gd name="connsiteY73" fmla="*/ 505234 h 607568"/>
              <a:gd name="connsiteX74" fmla="*/ 189377 w 535805"/>
              <a:gd name="connsiteY74" fmla="*/ 505234 h 607568"/>
              <a:gd name="connsiteX75" fmla="*/ 163409 w 535805"/>
              <a:gd name="connsiteY75" fmla="*/ 479766 h 607568"/>
              <a:gd name="connsiteX76" fmla="*/ 182770 w 535805"/>
              <a:gd name="connsiteY76" fmla="*/ 454757 h 607568"/>
              <a:gd name="connsiteX77" fmla="*/ 182770 w 535805"/>
              <a:gd name="connsiteY77" fmla="*/ 421464 h 607568"/>
              <a:gd name="connsiteX78" fmla="*/ 96570 w 535805"/>
              <a:gd name="connsiteY78" fmla="*/ 273256 h 607568"/>
              <a:gd name="connsiteX79" fmla="*/ 267587 w 535805"/>
              <a:gd name="connsiteY79" fmla="*/ 102955 h 607568"/>
              <a:gd name="connsiteX80" fmla="*/ 139966 w 535805"/>
              <a:gd name="connsiteY80" fmla="*/ 39746 h 607568"/>
              <a:gd name="connsiteX81" fmla="*/ 155450 w 535805"/>
              <a:gd name="connsiteY81" fmla="*/ 50503 h 607568"/>
              <a:gd name="connsiteX82" fmla="*/ 167591 w 535805"/>
              <a:gd name="connsiteY82" fmla="*/ 69371 h 607568"/>
              <a:gd name="connsiteX83" fmla="*/ 160214 w 535805"/>
              <a:gd name="connsiteY83" fmla="*/ 103272 h 607568"/>
              <a:gd name="connsiteX84" fmla="*/ 146843 w 535805"/>
              <a:gd name="connsiteY84" fmla="*/ 107260 h 607568"/>
              <a:gd name="connsiteX85" fmla="*/ 126249 w 535805"/>
              <a:gd name="connsiteY85" fmla="*/ 95909 h 607568"/>
              <a:gd name="connsiteX86" fmla="*/ 113954 w 535805"/>
              <a:gd name="connsiteY86" fmla="*/ 77041 h 607568"/>
              <a:gd name="connsiteX87" fmla="*/ 121485 w 535805"/>
              <a:gd name="connsiteY87" fmla="*/ 43140 h 607568"/>
              <a:gd name="connsiteX88" fmla="*/ 139966 w 535805"/>
              <a:gd name="connsiteY88" fmla="*/ 39746 h 607568"/>
              <a:gd name="connsiteX89" fmla="*/ 395557 w 535805"/>
              <a:gd name="connsiteY89" fmla="*/ 39451 h 607568"/>
              <a:gd name="connsiteX90" fmla="*/ 414038 w 535805"/>
              <a:gd name="connsiteY90" fmla="*/ 42787 h 607568"/>
              <a:gd name="connsiteX91" fmla="*/ 421415 w 535805"/>
              <a:gd name="connsiteY91" fmla="*/ 76688 h 607568"/>
              <a:gd name="connsiteX92" fmla="*/ 409274 w 535805"/>
              <a:gd name="connsiteY92" fmla="*/ 95709 h 607568"/>
              <a:gd name="connsiteX93" fmla="*/ 388526 w 535805"/>
              <a:gd name="connsiteY93" fmla="*/ 106907 h 607568"/>
              <a:gd name="connsiteX94" fmla="*/ 375156 w 535805"/>
              <a:gd name="connsiteY94" fmla="*/ 103072 h 607568"/>
              <a:gd name="connsiteX95" fmla="*/ 367932 w 535805"/>
              <a:gd name="connsiteY95" fmla="*/ 69018 h 607568"/>
              <a:gd name="connsiteX96" fmla="*/ 380073 w 535805"/>
              <a:gd name="connsiteY96" fmla="*/ 50150 h 607568"/>
              <a:gd name="connsiteX97" fmla="*/ 395557 w 535805"/>
              <a:gd name="connsiteY97" fmla="*/ 39451 h 607568"/>
              <a:gd name="connsiteX98" fmla="*/ 266844 w 535805"/>
              <a:gd name="connsiteY98" fmla="*/ 0 h 607568"/>
              <a:gd name="connsiteX99" fmla="*/ 291401 w 535805"/>
              <a:gd name="connsiteY99" fmla="*/ 24539 h 607568"/>
              <a:gd name="connsiteX100" fmla="*/ 291401 w 535805"/>
              <a:gd name="connsiteY100" fmla="*/ 47085 h 607568"/>
              <a:gd name="connsiteX101" fmla="*/ 266844 w 535805"/>
              <a:gd name="connsiteY101" fmla="*/ 71624 h 607568"/>
              <a:gd name="connsiteX102" fmla="*/ 242287 w 535805"/>
              <a:gd name="connsiteY102" fmla="*/ 47085 h 607568"/>
              <a:gd name="connsiteX103" fmla="*/ 242287 w 535805"/>
              <a:gd name="connsiteY103" fmla="*/ 24539 h 607568"/>
              <a:gd name="connsiteX104" fmla="*/ 266844 w 535805"/>
              <a:gd name="connsiteY104" fmla="*/ 0 h 60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535805" h="607568">
                <a:moveTo>
                  <a:pt x="43428" y="277681"/>
                </a:moveTo>
                <a:cubicBezTo>
                  <a:pt x="56790" y="275840"/>
                  <a:pt x="69231" y="285044"/>
                  <a:pt x="71228" y="298542"/>
                </a:cubicBezTo>
                <a:cubicBezTo>
                  <a:pt x="73071" y="311887"/>
                  <a:pt x="63855" y="324312"/>
                  <a:pt x="50339" y="326306"/>
                </a:cubicBezTo>
                <a:lnTo>
                  <a:pt x="28068" y="329528"/>
                </a:lnTo>
                <a:cubicBezTo>
                  <a:pt x="26840" y="329681"/>
                  <a:pt x="25765" y="329681"/>
                  <a:pt x="24536" y="329681"/>
                </a:cubicBezTo>
                <a:cubicBezTo>
                  <a:pt x="12556" y="329681"/>
                  <a:pt x="1958" y="320938"/>
                  <a:pt x="268" y="308666"/>
                </a:cubicBezTo>
                <a:cubicBezTo>
                  <a:pt x="-1728" y="295321"/>
                  <a:pt x="7641" y="282896"/>
                  <a:pt x="21157" y="280902"/>
                </a:cubicBezTo>
                <a:close/>
                <a:moveTo>
                  <a:pt x="492377" y="277411"/>
                </a:moveTo>
                <a:lnTo>
                  <a:pt x="514802" y="280631"/>
                </a:lnTo>
                <a:cubicBezTo>
                  <a:pt x="528164" y="282472"/>
                  <a:pt x="537533" y="294894"/>
                  <a:pt x="535537" y="308390"/>
                </a:cubicBezTo>
                <a:cubicBezTo>
                  <a:pt x="533693" y="320658"/>
                  <a:pt x="523249" y="329400"/>
                  <a:pt x="511269" y="329400"/>
                </a:cubicBezTo>
                <a:cubicBezTo>
                  <a:pt x="510040" y="329400"/>
                  <a:pt x="508965" y="329247"/>
                  <a:pt x="507737" y="329093"/>
                </a:cubicBezTo>
                <a:lnTo>
                  <a:pt x="485466" y="325873"/>
                </a:lnTo>
                <a:cubicBezTo>
                  <a:pt x="471950" y="324032"/>
                  <a:pt x="462734" y="311457"/>
                  <a:pt x="464577" y="298114"/>
                </a:cubicBezTo>
                <a:cubicBezTo>
                  <a:pt x="466574" y="284772"/>
                  <a:pt x="479015" y="275417"/>
                  <a:pt x="492377" y="277411"/>
                </a:cubicBezTo>
                <a:close/>
                <a:moveTo>
                  <a:pt x="240083" y="265892"/>
                </a:moveTo>
                <a:lnTo>
                  <a:pt x="267126" y="350889"/>
                </a:lnTo>
                <a:lnTo>
                  <a:pt x="292633" y="265892"/>
                </a:lnTo>
                <a:close/>
                <a:moveTo>
                  <a:pt x="35560" y="145308"/>
                </a:moveTo>
                <a:cubicBezTo>
                  <a:pt x="41459" y="143119"/>
                  <a:pt x="48186" y="143196"/>
                  <a:pt x="54335" y="146037"/>
                </a:cubicBezTo>
                <a:lnTo>
                  <a:pt x="74937" y="155251"/>
                </a:lnTo>
                <a:cubicBezTo>
                  <a:pt x="87236" y="160933"/>
                  <a:pt x="92617" y="175521"/>
                  <a:pt x="87082" y="187806"/>
                </a:cubicBezTo>
                <a:cubicBezTo>
                  <a:pt x="82931" y="196866"/>
                  <a:pt x="74014" y="202241"/>
                  <a:pt x="64636" y="202241"/>
                </a:cubicBezTo>
                <a:cubicBezTo>
                  <a:pt x="61254" y="202241"/>
                  <a:pt x="57718" y="201473"/>
                  <a:pt x="54489" y="200091"/>
                </a:cubicBezTo>
                <a:lnTo>
                  <a:pt x="33888" y="190724"/>
                </a:lnTo>
                <a:cubicBezTo>
                  <a:pt x="21588" y="185042"/>
                  <a:pt x="16054" y="170453"/>
                  <a:pt x="21742" y="158168"/>
                </a:cubicBezTo>
                <a:cubicBezTo>
                  <a:pt x="24587" y="151949"/>
                  <a:pt x="29660" y="147496"/>
                  <a:pt x="35560" y="145308"/>
                </a:cubicBezTo>
                <a:close/>
                <a:moveTo>
                  <a:pt x="500064" y="144934"/>
                </a:moveTo>
                <a:cubicBezTo>
                  <a:pt x="505958" y="147139"/>
                  <a:pt x="511027" y="151586"/>
                  <a:pt x="513869" y="157720"/>
                </a:cubicBezTo>
                <a:cubicBezTo>
                  <a:pt x="519398" y="170142"/>
                  <a:pt x="514022" y="184711"/>
                  <a:pt x="501581" y="190232"/>
                </a:cubicBezTo>
                <a:lnTo>
                  <a:pt x="481152" y="199587"/>
                </a:lnTo>
                <a:cubicBezTo>
                  <a:pt x="477773" y="201120"/>
                  <a:pt x="474393" y="201887"/>
                  <a:pt x="471014" y="201887"/>
                </a:cubicBezTo>
                <a:cubicBezTo>
                  <a:pt x="461644" y="201887"/>
                  <a:pt x="452736" y="196520"/>
                  <a:pt x="448588" y="187472"/>
                </a:cubicBezTo>
                <a:cubicBezTo>
                  <a:pt x="442905" y="175050"/>
                  <a:pt x="448435" y="160634"/>
                  <a:pt x="460723" y="154960"/>
                </a:cubicBezTo>
                <a:lnTo>
                  <a:pt x="481305" y="145605"/>
                </a:lnTo>
                <a:cubicBezTo>
                  <a:pt x="487449" y="142768"/>
                  <a:pt x="494169" y="142730"/>
                  <a:pt x="500064" y="144934"/>
                </a:cubicBezTo>
                <a:close/>
                <a:moveTo>
                  <a:pt x="267434" y="135634"/>
                </a:moveTo>
                <a:cubicBezTo>
                  <a:pt x="191528" y="135634"/>
                  <a:pt x="129605" y="197465"/>
                  <a:pt x="129605" y="273256"/>
                </a:cubicBezTo>
                <a:cubicBezTo>
                  <a:pt x="129605" y="326188"/>
                  <a:pt x="159107" y="373596"/>
                  <a:pt x="206740" y="396916"/>
                </a:cubicBezTo>
                <a:cubicBezTo>
                  <a:pt x="212425" y="399678"/>
                  <a:pt x="215652" y="405355"/>
                  <a:pt x="215652" y="411645"/>
                </a:cubicBezTo>
                <a:lnTo>
                  <a:pt x="215652" y="454144"/>
                </a:lnTo>
                <a:lnTo>
                  <a:pt x="250378" y="454144"/>
                </a:lnTo>
                <a:lnTo>
                  <a:pt x="250378" y="409344"/>
                </a:lnTo>
                <a:lnTo>
                  <a:pt x="201669" y="254692"/>
                </a:lnTo>
                <a:cubicBezTo>
                  <a:pt x="200133" y="249782"/>
                  <a:pt x="201362" y="244259"/>
                  <a:pt x="204435" y="239963"/>
                </a:cubicBezTo>
                <a:cubicBezTo>
                  <a:pt x="207508" y="235821"/>
                  <a:pt x="212425" y="233212"/>
                  <a:pt x="217650" y="233212"/>
                </a:cubicBezTo>
                <a:lnTo>
                  <a:pt x="314605" y="233212"/>
                </a:lnTo>
                <a:cubicBezTo>
                  <a:pt x="319830" y="233212"/>
                  <a:pt x="324593" y="235667"/>
                  <a:pt x="327666" y="239810"/>
                </a:cubicBezTo>
                <a:cubicBezTo>
                  <a:pt x="330739" y="243952"/>
                  <a:pt x="331507" y="249322"/>
                  <a:pt x="329971" y="254232"/>
                </a:cubicBezTo>
                <a:lnTo>
                  <a:pt x="283260" y="409190"/>
                </a:lnTo>
                <a:lnTo>
                  <a:pt x="283260" y="454144"/>
                </a:lnTo>
                <a:lnTo>
                  <a:pt x="317986" y="454144"/>
                </a:lnTo>
                <a:lnTo>
                  <a:pt x="317986" y="411645"/>
                </a:lnTo>
                <a:cubicBezTo>
                  <a:pt x="317986" y="405355"/>
                  <a:pt x="321981" y="399678"/>
                  <a:pt x="327666" y="396916"/>
                </a:cubicBezTo>
                <a:cubicBezTo>
                  <a:pt x="375300" y="373596"/>
                  <a:pt x="405108" y="326188"/>
                  <a:pt x="405108" y="273256"/>
                </a:cubicBezTo>
                <a:cubicBezTo>
                  <a:pt x="405108" y="197465"/>
                  <a:pt x="343339" y="135634"/>
                  <a:pt x="267434" y="135634"/>
                </a:cubicBezTo>
                <a:close/>
                <a:moveTo>
                  <a:pt x="267587" y="102955"/>
                </a:moveTo>
                <a:cubicBezTo>
                  <a:pt x="361624" y="102955"/>
                  <a:pt x="437683" y="179360"/>
                  <a:pt x="437683" y="273256"/>
                </a:cubicBezTo>
                <a:cubicBezTo>
                  <a:pt x="437683" y="335393"/>
                  <a:pt x="406184" y="391240"/>
                  <a:pt x="350868" y="421464"/>
                </a:cubicBezTo>
                <a:lnTo>
                  <a:pt x="350868" y="455371"/>
                </a:lnTo>
                <a:cubicBezTo>
                  <a:pt x="361010" y="458746"/>
                  <a:pt x="369000" y="468259"/>
                  <a:pt x="369000" y="479766"/>
                </a:cubicBezTo>
                <a:cubicBezTo>
                  <a:pt x="369000" y="493881"/>
                  <a:pt x="357782" y="505234"/>
                  <a:pt x="343646" y="505234"/>
                </a:cubicBezTo>
                <a:lnTo>
                  <a:pt x="321674" y="505234"/>
                </a:lnTo>
                <a:cubicBezTo>
                  <a:pt x="330739" y="509223"/>
                  <a:pt x="337193" y="518275"/>
                  <a:pt x="337193" y="528861"/>
                </a:cubicBezTo>
                <a:cubicBezTo>
                  <a:pt x="337193" y="542976"/>
                  <a:pt x="325669" y="554330"/>
                  <a:pt x="311532" y="554330"/>
                </a:cubicBezTo>
                <a:lnTo>
                  <a:pt x="295552" y="554330"/>
                </a:lnTo>
                <a:lnTo>
                  <a:pt x="295552" y="578111"/>
                </a:lnTo>
                <a:cubicBezTo>
                  <a:pt x="295552" y="594374"/>
                  <a:pt x="284028" y="607568"/>
                  <a:pt x="267587" y="607568"/>
                </a:cubicBezTo>
                <a:lnTo>
                  <a:pt x="267434" y="607568"/>
                </a:lnTo>
                <a:cubicBezTo>
                  <a:pt x="251146" y="607568"/>
                  <a:pt x="236088" y="594374"/>
                  <a:pt x="236088" y="578111"/>
                </a:cubicBezTo>
                <a:lnTo>
                  <a:pt x="236088" y="554330"/>
                </a:lnTo>
                <a:lnTo>
                  <a:pt x="221491" y="554330"/>
                </a:lnTo>
                <a:cubicBezTo>
                  <a:pt x="207355" y="554330"/>
                  <a:pt x="195831" y="542976"/>
                  <a:pt x="195831" y="528861"/>
                </a:cubicBezTo>
                <a:cubicBezTo>
                  <a:pt x="195831" y="518275"/>
                  <a:pt x="202284" y="509223"/>
                  <a:pt x="211350" y="505234"/>
                </a:cubicBezTo>
                <a:lnTo>
                  <a:pt x="189377" y="505234"/>
                </a:lnTo>
                <a:cubicBezTo>
                  <a:pt x="175241" y="505234"/>
                  <a:pt x="163409" y="493881"/>
                  <a:pt x="163409" y="479766"/>
                </a:cubicBezTo>
                <a:cubicBezTo>
                  <a:pt x="163409" y="467645"/>
                  <a:pt x="172629" y="457519"/>
                  <a:pt x="182770" y="454757"/>
                </a:cubicBezTo>
                <a:lnTo>
                  <a:pt x="182770" y="421464"/>
                </a:lnTo>
                <a:cubicBezTo>
                  <a:pt x="129605" y="391240"/>
                  <a:pt x="96570" y="335393"/>
                  <a:pt x="96570" y="273256"/>
                </a:cubicBezTo>
                <a:cubicBezTo>
                  <a:pt x="96570" y="179360"/>
                  <a:pt x="173551" y="102955"/>
                  <a:pt x="267587" y="102955"/>
                </a:cubicBezTo>
                <a:close/>
                <a:moveTo>
                  <a:pt x="139966" y="39746"/>
                </a:moveTo>
                <a:cubicBezTo>
                  <a:pt x="146113" y="41069"/>
                  <a:pt x="151761" y="44751"/>
                  <a:pt x="155450" y="50503"/>
                </a:cubicBezTo>
                <a:lnTo>
                  <a:pt x="167591" y="69371"/>
                </a:lnTo>
                <a:cubicBezTo>
                  <a:pt x="174968" y="80722"/>
                  <a:pt x="171587" y="95909"/>
                  <a:pt x="160214" y="103272"/>
                </a:cubicBezTo>
                <a:cubicBezTo>
                  <a:pt x="156064" y="105879"/>
                  <a:pt x="151454" y="107260"/>
                  <a:pt x="146843" y="107260"/>
                </a:cubicBezTo>
                <a:cubicBezTo>
                  <a:pt x="138851" y="107260"/>
                  <a:pt x="130860" y="103272"/>
                  <a:pt x="126249" y="95909"/>
                </a:cubicBezTo>
                <a:lnTo>
                  <a:pt x="113954" y="77041"/>
                </a:lnTo>
                <a:cubicBezTo>
                  <a:pt x="106731" y="65536"/>
                  <a:pt x="109958" y="50350"/>
                  <a:pt x="121485" y="43140"/>
                </a:cubicBezTo>
                <a:cubicBezTo>
                  <a:pt x="127171" y="39459"/>
                  <a:pt x="133818" y="38423"/>
                  <a:pt x="139966" y="39746"/>
                </a:cubicBezTo>
                <a:close/>
                <a:moveTo>
                  <a:pt x="395557" y="39451"/>
                </a:moveTo>
                <a:cubicBezTo>
                  <a:pt x="401705" y="38109"/>
                  <a:pt x="408352" y="39106"/>
                  <a:pt x="414038" y="42787"/>
                </a:cubicBezTo>
                <a:cubicBezTo>
                  <a:pt x="425411" y="50150"/>
                  <a:pt x="428792" y="65336"/>
                  <a:pt x="421415" y="76688"/>
                </a:cubicBezTo>
                <a:lnTo>
                  <a:pt x="409274" y="95709"/>
                </a:lnTo>
                <a:cubicBezTo>
                  <a:pt x="404510" y="102919"/>
                  <a:pt x="396518" y="106907"/>
                  <a:pt x="388526" y="106907"/>
                </a:cubicBezTo>
                <a:cubicBezTo>
                  <a:pt x="383916" y="106907"/>
                  <a:pt x="379305" y="105680"/>
                  <a:pt x="375156" y="103072"/>
                </a:cubicBezTo>
                <a:cubicBezTo>
                  <a:pt x="363783" y="95709"/>
                  <a:pt x="360555" y="80523"/>
                  <a:pt x="367932" y="69018"/>
                </a:cubicBezTo>
                <a:lnTo>
                  <a:pt x="380073" y="50150"/>
                </a:lnTo>
                <a:cubicBezTo>
                  <a:pt x="383762" y="44475"/>
                  <a:pt x="389410" y="40793"/>
                  <a:pt x="395557" y="39451"/>
                </a:cubicBezTo>
                <a:close/>
                <a:moveTo>
                  <a:pt x="266844" y="0"/>
                </a:moveTo>
                <a:cubicBezTo>
                  <a:pt x="280504" y="0"/>
                  <a:pt x="291401" y="11043"/>
                  <a:pt x="291401" y="24539"/>
                </a:cubicBezTo>
                <a:lnTo>
                  <a:pt x="291401" y="47085"/>
                </a:lnTo>
                <a:cubicBezTo>
                  <a:pt x="291401" y="60581"/>
                  <a:pt x="280504" y="71624"/>
                  <a:pt x="266844" y="71624"/>
                </a:cubicBezTo>
                <a:cubicBezTo>
                  <a:pt x="253337" y="71624"/>
                  <a:pt x="242287" y="60581"/>
                  <a:pt x="242287" y="47085"/>
                </a:cubicBezTo>
                <a:lnTo>
                  <a:pt x="242287" y="24539"/>
                </a:lnTo>
                <a:cubicBezTo>
                  <a:pt x="242287" y="11043"/>
                  <a:pt x="253337" y="0"/>
                  <a:pt x="266844"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47" name="light-bulb_99723"/>
          <p:cNvSpPr/>
          <p:nvPr/>
        </p:nvSpPr>
        <p:spPr>
          <a:xfrm>
            <a:off x="3338948" y="3827686"/>
            <a:ext cx="219876" cy="249325"/>
          </a:xfrm>
          <a:custGeom>
            <a:avLst/>
            <a:gdLst>
              <a:gd name="connsiteX0" fmla="*/ 43428 w 535805"/>
              <a:gd name="connsiteY0" fmla="*/ 277681 h 607568"/>
              <a:gd name="connsiteX1" fmla="*/ 71228 w 535805"/>
              <a:gd name="connsiteY1" fmla="*/ 298542 h 607568"/>
              <a:gd name="connsiteX2" fmla="*/ 50339 w 535805"/>
              <a:gd name="connsiteY2" fmla="*/ 326306 h 607568"/>
              <a:gd name="connsiteX3" fmla="*/ 28068 w 535805"/>
              <a:gd name="connsiteY3" fmla="*/ 329528 h 607568"/>
              <a:gd name="connsiteX4" fmla="*/ 24536 w 535805"/>
              <a:gd name="connsiteY4" fmla="*/ 329681 h 607568"/>
              <a:gd name="connsiteX5" fmla="*/ 268 w 535805"/>
              <a:gd name="connsiteY5" fmla="*/ 308666 h 607568"/>
              <a:gd name="connsiteX6" fmla="*/ 21157 w 535805"/>
              <a:gd name="connsiteY6" fmla="*/ 280902 h 607568"/>
              <a:gd name="connsiteX7" fmla="*/ 492377 w 535805"/>
              <a:gd name="connsiteY7" fmla="*/ 277411 h 607568"/>
              <a:gd name="connsiteX8" fmla="*/ 514802 w 535805"/>
              <a:gd name="connsiteY8" fmla="*/ 280631 h 607568"/>
              <a:gd name="connsiteX9" fmla="*/ 535537 w 535805"/>
              <a:gd name="connsiteY9" fmla="*/ 308390 h 607568"/>
              <a:gd name="connsiteX10" fmla="*/ 511269 w 535805"/>
              <a:gd name="connsiteY10" fmla="*/ 329400 h 607568"/>
              <a:gd name="connsiteX11" fmla="*/ 507737 w 535805"/>
              <a:gd name="connsiteY11" fmla="*/ 329093 h 607568"/>
              <a:gd name="connsiteX12" fmla="*/ 485466 w 535805"/>
              <a:gd name="connsiteY12" fmla="*/ 325873 h 607568"/>
              <a:gd name="connsiteX13" fmla="*/ 464577 w 535805"/>
              <a:gd name="connsiteY13" fmla="*/ 298114 h 607568"/>
              <a:gd name="connsiteX14" fmla="*/ 492377 w 535805"/>
              <a:gd name="connsiteY14" fmla="*/ 277411 h 607568"/>
              <a:gd name="connsiteX15" fmla="*/ 240083 w 535805"/>
              <a:gd name="connsiteY15" fmla="*/ 265892 h 607568"/>
              <a:gd name="connsiteX16" fmla="*/ 267126 w 535805"/>
              <a:gd name="connsiteY16" fmla="*/ 350889 h 607568"/>
              <a:gd name="connsiteX17" fmla="*/ 292633 w 535805"/>
              <a:gd name="connsiteY17" fmla="*/ 265892 h 607568"/>
              <a:gd name="connsiteX18" fmla="*/ 35560 w 535805"/>
              <a:gd name="connsiteY18" fmla="*/ 145308 h 607568"/>
              <a:gd name="connsiteX19" fmla="*/ 54335 w 535805"/>
              <a:gd name="connsiteY19" fmla="*/ 146037 h 607568"/>
              <a:gd name="connsiteX20" fmla="*/ 74937 w 535805"/>
              <a:gd name="connsiteY20" fmla="*/ 155251 h 607568"/>
              <a:gd name="connsiteX21" fmla="*/ 87082 w 535805"/>
              <a:gd name="connsiteY21" fmla="*/ 187806 h 607568"/>
              <a:gd name="connsiteX22" fmla="*/ 64636 w 535805"/>
              <a:gd name="connsiteY22" fmla="*/ 202241 h 607568"/>
              <a:gd name="connsiteX23" fmla="*/ 54489 w 535805"/>
              <a:gd name="connsiteY23" fmla="*/ 200091 h 607568"/>
              <a:gd name="connsiteX24" fmla="*/ 33888 w 535805"/>
              <a:gd name="connsiteY24" fmla="*/ 190724 h 607568"/>
              <a:gd name="connsiteX25" fmla="*/ 21742 w 535805"/>
              <a:gd name="connsiteY25" fmla="*/ 158168 h 607568"/>
              <a:gd name="connsiteX26" fmla="*/ 35560 w 535805"/>
              <a:gd name="connsiteY26" fmla="*/ 145308 h 607568"/>
              <a:gd name="connsiteX27" fmla="*/ 500064 w 535805"/>
              <a:gd name="connsiteY27" fmla="*/ 144934 h 607568"/>
              <a:gd name="connsiteX28" fmla="*/ 513869 w 535805"/>
              <a:gd name="connsiteY28" fmla="*/ 157720 h 607568"/>
              <a:gd name="connsiteX29" fmla="*/ 501581 w 535805"/>
              <a:gd name="connsiteY29" fmla="*/ 190232 h 607568"/>
              <a:gd name="connsiteX30" fmla="*/ 481152 w 535805"/>
              <a:gd name="connsiteY30" fmla="*/ 199587 h 607568"/>
              <a:gd name="connsiteX31" fmla="*/ 471014 w 535805"/>
              <a:gd name="connsiteY31" fmla="*/ 201887 h 607568"/>
              <a:gd name="connsiteX32" fmla="*/ 448588 w 535805"/>
              <a:gd name="connsiteY32" fmla="*/ 187472 h 607568"/>
              <a:gd name="connsiteX33" fmla="*/ 460723 w 535805"/>
              <a:gd name="connsiteY33" fmla="*/ 154960 h 607568"/>
              <a:gd name="connsiteX34" fmla="*/ 481305 w 535805"/>
              <a:gd name="connsiteY34" fmla="*/ 145605 h 607568"/>
              <a:gd name="connsiteX35" fmla="*/ 500064 w 535805"/>
              <a:gd name="connsiteY35" fmla="*/ 144934 h 607568"/>
              <a:gd name="connsiteX36" fmla="*/ 267434 w 535805"/>
              <a:gd name="connsiteY36" fmla="*/ 135634 h 607568"/>
              <a:gd name="connsiteX37" fmla="*/ 129605 w 535805"/>
              <a:gd name="connsiteY37" fmla="*/ 273256 h 607568"/>
              <a:gd name="connsiteX38" fmla="*/ 206740 w 535805"/>
              <a:gd name="connsiteY38" fmla="*/ 396916 h 607568"/>
              <a:gd name="connsiteX39" fmla="*/ 215652 w 535805"/>
              <a:gd name="connsiteY39" fmla="*/ 411645 h 607568"/>
              <a:gd name="connsiteX40" fmla="*/ 215652 w 535805"/>
              <a:gd name="connsiteY40" fmla="*/ 454144 h 607568"/>
              <a:gd name="connsiteX41" fmla="*/ 250378 w 535805"/>
              <a:gd name="connsiteY41" fmla="*/ 454144 h 607568"/>
              <a:gd name="connsiteX42" fmla="*/ 250378 w 535805"/>
              <a:gd name="connsiteY42" fmla="*/ 409344 h 607568"/>
              <a:gd name="connsiteX43" fmla="*/ 201669 w 535805"/>
              <a:gd name="connsiteY43" fmla="*/ 254692 h 607568"/>
              <a:gd name="connsiteX44" fmla="*/ 204435 w 535805"/>
              <a:gd name="connsiteY44" fmla="*/ 239963 h 607568"/>
              <a:gd name="connsiteX45" fmla="*/ 217650 w 535805"/>
              <a:gd name="connsiteY45" fmla="*/ 233212 h 607568"/>
              <a:gd name="connsiteX46" fmla="*/ 314605 w 535805"/>
              <a:gd name="connsiteY46" fmla="*/ 233212 h 607568"/>
              <a:gd name="connsiteX47" fmla="*/ 327666 w 535805"/>
              <a:gd name="connsiteY47" fmla="*/ 239810 h 607568"/>
              <a:gd name="connsiteX48" fmla="*/ 329971 w 535805"/>
              <a:gd name="connsiteY48" fmla="*/ 254232 h 607568"/>
              <a:gd name="connsiteX49" fmla="*/ 283260 w 535805"/>
              <a:gd name="connsiteY49" fmla="*/ 409190 h 607568"/>
              <a:gd name="connsiteX50" fmla="*/ 283260 w 535805"/>
              <a:gd name="connsiteY50" fmla="*/ 454144 h 607568"/>
              <a:gd name="connsiteX51" fmla="*/ 317986 w 535805"/>
              <a:gd name="connsiteY51" fmla="*/ 454144 h 607568"/>
              <a:gd name="connsiteX52" fmla="*/ 317986 w 535805"/>
              <a:gd name="connsiteY52" fmla="*/ 411645 h 607568"/>
              <a:gd name="connsiteX53" fmla="*/ 327666 w 535805"/>
              <a:gd name="connsiteY53" fmla="*/ 396916 h 607568"/>
              <a:gd name="connsiteX54" fmla="*/ 405108 w 535805"/>
              <a:gd name="connsiteY54" fmla="*/ 273256 h 607568"/>
              <a:gd name="connsiteX55" fmla="*/ 267434 w 535805"/>
              <a:gd name="connsiteY55" fmla="*/ 135634 h 607568"/>
              <a:gd name="connsiteX56" fmla="*/ 267587 w 535805"/>
              <a:gd name="connsiteY56" fmla="*/ 102955 h 607568"/>
              <a:gd name="connsiteX57" fmla="*/ 437683 w 535805"/>
              <a:gd name="connsiteY57" fmla="*/ 273256 h 607568"/>
              <a:gd name="connsiteX58" fmla="*/ 350868 w 535805"/>
              <a:gd name="connsiteY58" fmla="*/ 421464 h 607568"/>
              <a:gd name="connsiteX59" fmla="*/ 350868 w 535805"/>
              <a:gd name="connsiteY59" fmla="*/ 455371 h 607568"/>
              <a:gd name="connsiteX60" fmla="*/ 369000 w 535805"/>
              <a:gd name="connsiteY60" fmla="*/ 479766 h 607568"/>
              <a:gd name="connsiteX61" fmla="*/ 343646 w 535805"/>
              <a:gd name="connsiteY61" fmla="*/ 505234 h 607568"/>
              <a:gd name="connsiteX62" fmla="*/ 321674 w 535805"/>
              <a:gd name="connsiteY62" fmla="*/ 505234 h 607568"/>
              <a:gd name="connsiteX63" fmla="*/ 337193 w 535805"/>
              <a:gd name="connsiteY63" fmla="*/ 528861 h 607568"/>
              <a:gd name="connsiteX64" fmla="*/ 311532 w 535805"/>
              <a:gd name="connsiteY64" fmla="*/ 554330 h 607568"/>
              <a:gd name="connsiteX65" fmla="*/ 295552 w 535805"/>
              <a:gd name="connsiteY65" fmla="*/ 554330 h 607568"/>
              <a:gd name="connsiteX66" fmla="*/ 295552 w 535805"/>
              <a:gd name="connsiteY66" fmla="*/ 578111 h 607568"/>
              <a:gd name="connsiteX67" fmla="*/ 267587 w 535805"/>
              <a:gd name="connsiteY67" fmla="*/ 607568 h 607568"/>
              <a:gd name="connsiteX68" fmla="*/ 267434 w 535805"/>
              <a:gd name="connsiteY68" fmla="*/ 607568 h 607568"/>
              <a:gd name="connsiteX69" fmla="*/ 236088 w 535805"/>
              <a:gd name="connsiteY69" fmla="*/ 578111 h 607568"/>
              <a:gd name="connsiteX70" fmla="*/ 236088 w 535805"/>
              <a:gd name="connsiteY70" fmla="*/ 554330 h 607568"/>
              <a:gd name="connsiteX71" fmla="*/ 221491 w 535805"/>
              <a:gd name="connsiteY71" fmla="*/ 554330 h 607568"/>
              <a:gd name="connsiteX72" fmla="*/ 195831 w 535805"/>
              <a:gd name="connsiteY72" fmla="*/ 528861 h 607568"/>
              <a:gd name="connsiteX73" fmla="*/ 211350 w 535805"/>
              <a:gd name="connsiteY73" fmla="*/ 505234 h 607568"/>
              <a:gd name="connsiteX74" fmla="*/ 189377 w 535805"/>
              <a:gd name="connsiteY74" fmla="*/ 505234 h 607568"/>
              <a:gd name="connsiteX75" fmla="*/ 163409 w 535805"/>
              <a:gd name="connsiteY75" fmla="*/ 479766 h 607568"/>
              <a:gd name="connsiteX76" fmla="*/ 182770 w 535805"/>
              <a:gd name="connsiteY76" fmla="*/ 454757 h 607568"/>
              <a:gd name="connsiteX77" fmla="*/ 182770 w 535805"/>
              <a:gd name="connsiteY77" fmla="*/ 421464 h 607568"/>
              <a:gd name="connsiteX78" fmla="*/ 96570 w 535805"/>
              <a:gd name="connsiteY78" fmla="*/ 273256 h 607568"/>
              <a:gd name="connsiteX79" fmla="*/ 267587 w 535805"/>
              <a:gd name="connsiteY79" fmla="*/ 102955 h 607568"/>
              <a:gd name="connsiteX80" fmla="*/ 139966 w 535805"/>
              <a:gd name="connsiteY80" fmla="*/ 39746 h 607568"/>
              <a:gd name="connsiteX81" fmla="*/ 155450 w 535805"/>
              <a:gd name="connsiteY81" fmla="*/ 50503 h 607568"/>
              <a:gd name="connsiteX82" fmla="*/ 167591 w 535805"/>
              <a:gd name="connsiteY82" fmla="*/ 69371 h 607568"/>
              <a:gd name="connsiteX83" fmla="*/ 160214 w 535805"/>
              <a:gd name="connsiteY83" fmla="*/ 103272 h 607568"/>
              <a:gd name="connsiteX84" fmla="*/ 146843 w 535805"/>
              <a:gd name="connsiteY84" fmla="*/ 107260 h 607568"/>
              <a:gd name="connsiteX85" fmla="*/ 126249 w 535805"/>
              <a:gd name="connsiteY85" fmla="*/ 95909 h 607568"/>
              <a:gd name="connsiteX86" fmla="*/ 113954 w 535805"/>
              <a:gd name="connsiteY86" fmla="*/ 77041 h 607568"/>
              <a:gd name="connsiteX87" fmla="*/ 121485 w 535805"/>
              <a:gd name="connsiteY87" fmla="*/ 43140 h 607568"/>
              <a:gd name="connsiteX88" fmla="*/ 139966 w 535805"/>
              <a:gd name="connsiteY88" fmla="*/ 39746 h 607568"/>
              <a:gd name="connsiteX89" fmla="*/ 395557 w 535805"/>
              <a:gd name="connsiteY89" fmla="*/ 39451 h 607568"/>
              <a:gd name="connsiteX90" fmla="*/ 414038 w 535805"/>
              <a:gd name="connsiteY90" fmla="*/ 42787 h 607568"/>
              <a:gd name="connsiteX91" fmla="*/ 421415 w 535805"/>
              <a:gd name="connsiteY91" fmla="*/ 76688 h 607568"/>
              <a:gd name="connsiteX92" fmla="*/ 409274 w 535805"/>
              <a:gd name="connsiteY92" fmla="*/ 95709 h 607568"/>
              <a:gd name="connsiteX93" fmla="*/ 388526 w 535805"/>
              <a:gd name="connsiteY93" fmla="*/ 106907 h 607568"/>
              <a:gd name="connsiteX94" fmla="*/ 375156 w 535805"/>
              <a:gd name="connsiteY94" fmla="*/ 103072 h 607568"/>
              <a:gd name="connsiteX95" fmla="*/ 367932 w 535805"/>
              <a:gd name="connsiteY95" fmla="*/ 69018 h 607568"/>
              <a:gd name="connsiteX96" fmla="*/ 380073 w 535805"/>
              <a:gd name="connsiteY96" fmla="*/ 50150 h 607568"/>
              <a:gd name="connsiteX97" fmla="*/ 395557 w 535805"/>
              <a:gd name="connsiteY97" fmla="*/ 39451 h 607568"/>
              <a:gd name="connsiteX98" fmla="*/ 266844 w 535805"/>
              <a:gd name="connsiteY98" fmla="*/ 0 h 607568"/>
              <a:gd name="connsiteX99" fmla="*/ 291401 w 535805"/>
              <a:gd name="connsiteY99" fmla="*/ 24539 h 607568"/>
              <a:gd name="connsiteX100" fmla="*/ 291401 w 535805"/>
              <a:gd name="connsiteY100" fmla="*/ 47085 h 607568"/>
              <a:gd name="connsiteX101" fmla="*/ 266844 w 535805"/>
              <a:gd name="connsiteY101" fmla="*/ 71624 h 607568"/>
              <a:gd name="connsiteX102" fmla="*/ 242287 w 535805"/>
              <a:gd name="connsiteY102" fmla="*/ 47085 h 607568"/>
              <a:gd name="connsiteX103" fmla="*/ 242287 w 535805"/>
              <a:gd name="connsiteY103" fmla="*/ 24539 h 607568"/>
              <a:gd name="connsiteX104" fmla="*/ 266844 w 535805"/>
              <a:gd name="connsiteY104" fmla="*/ 0 h 60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535805" h="607568">
                <a:moveTo>
                  <a:pt x="43428" y="277681"/>
                </a:moveTo>
                <a:cubicBezTo>
                  <a:pt x="56790" y="275840"/>
                  <a:pt x="69231" y="285044"/>
                  <a:pt x="71228" y="298542"/>
                </a:cubicBezTo>
                <a:cubicBezTo>
                  <a:pt x="73071" y="311887"/>
                  <a:pt x="63855" y="324312"/>
                  <a:pt x="50339" y="326306"/>
                </a:cubicBezTo>
                <a:lnTo>
                  <a:pt x="28068" y="329528"/>
                </a:lnTo>
                <a:cubicBezTo>
                  <a:pt x="26840" y="329681"/>
                  <a:pt x="25765" y="329681"/>
                  <a:pt x="24536" y="329681"/>
                </a:cubicBezTo>
                <a:cubicBezTo>
                  <a:pt x="12556" y="329681"/>
                  <a:pt x="1958" y="320938"/>
                  <a:pt x="268" y="308666"/>
                </a:cubicBezTo>
                <a:cubicBezTo>
                  <a:pt x="-1728" y="295321"/>
                  <a:pt x="7641" y="282896"/>
                  <a:pt x="21157" y="280902"/>
                </a:cubicBezTo>
                <a:close/>
                <a:moveTo>
                  <a:pt x="492377" y="277411"/>
                </a:moveTo>
                <a:lnTo>
                  <a:pt x="514802" y="280631"/>
                </a:lnTo>
                <a:cubicBezTo>
                  <a:pt x="528164" y="282472"/>
                  <a:pt x="537533" y="294894"/>
                  <a:pt x="535537" y="308390"/>
                </a:cubicBezTo>
                <a:cubicBezTo>
                  <a:pt x="533693" y="320658"/>
                  <a:pt x="523249" y="329400"/>
                  <a:pt x="511269" y="329400"/>
                </a:cubicBezTo>
                <a:cubicBezTo>
                  <a:pt x="510040" y="329400"/>
                  <a:pt x="508965" y="329247"/>
                  <a:pt x="507737" y="329093"/>
                </a:cubicBezTo>
                <a:lnTo>
                  <a:pt x="485466" y="325873"/>
                </a:lnTo>
                <a:cubicBezTo>
                  <a:pt x="471950" y="324032"/>
                  <a:pt x="462734" y="311457"/>
                  <a:pt x="464577" y="298114"/>
                </a:cubicBezTo>
                <a:cubicBezTo>
                  <a:pt x="466574" y="284772"/>
                  <a:pt x="479015" y="275417"/>
                  <a:pt x="492377" y="277411"/>
                </a:cubicBezTo>
                <a:close/>
                <a:moveTo>
                  <a:pt x="240083" y="265892"/>
                </a:moveTo>
                <a:lnTo>
                  <a:pt x="267126" y="350889"/>
                </a:lnTo>
                <a:lnTo>
                  <a:pt x="292633" y="265892"/>
                </a:lnTo>
                <a:close/>
                <a:moveTo>
                  <a:pt x="35560" y="145308"/>
                </a:moveTo>
                <a:cubicBezTo>
                  <a:pt x="41459" y="143119"/>
                  <a:pt x="48186" y="143196"/>
                  <a:pt x="54335" y="146037"/>
                </a:cubicBezTo>
                <a:lnTo>
                  <a:pt x="74937" y="155251"/>
                </a:lnTo>
                <a:cubicBezTo>
                  <a:pt x="87236" y="160933"/>
                  <a:pt x="92617" y="175521"/>
                  <a:pt x="87082" y="187806"/>
                </a:cubicBezTo>
                <a:cubicBezTo>
                  <a:pt x="82931" y="196866"/>
                  <a:pt x="74014" y="202241"/>
                  <a:pt x="64636" y="202241"/>
                </a:cubicBezTo>
                <a:cubicBezTo>
                  <a:pt x="61254" y="202241"/>
                  <a:pt x="57718" y="201473"/>
                  <a:pt x="54489" y="200091"/>
                </a:cubicBezTo>
                <a:lnTo>
                  <a:pt x="33888" y="190724"/>
                </a:lnTo>
                <a:cubicBezTo>
                  <a:pt x="21588" y="185042"/>
                  <a:pt x="16054" y="170453"/>
                  <a:pt x="21742" y="158168"/>
                </a:cubicBezTo>
                <a:cubicBezTo>
                  <a:pt x="24587" y="151949"/>
                  <a:pt x="29660" y="147496"/>
                  <a:pt x="35560" y="145308"/>
                </a:cubicBezTo>
                <a:close/>
                <a:moveTo>
                  <a:pt x="500064" y="144934"/>
                </a:moveTo>
                <a:cubicBezTo>
                  <a:pt x="505958" y="147139"/>
                  <a:pt x="511027" y="151586"/>
                  <a:pt x="513869" y="157720"/>
                </a:cubicBezTo>
                <a:cubicBezTo>
                  <a:pt x="519398" y="170142"/>
                  <a:pt x="514022" y="184711"/>
                  <a:pt x="501581" y="190232"/>
                </a:cubicBezTo>
                <a:lnTo>
                  <a:pt x="481152" y="199587"/>
                </a:lnTo>
                <a:cubicBezTo>
                  <a:pt x="477773" y="201120"/>
                  <a:pt x="474393" y="201887"/>
                  <a:pt x="471014" y="201887"/>
                </a:cubicBezTo>
                <a:cubicBezTo>
                  <a:pt x="461644" y="201887"/>
                  <a:pt x="452736" y="196520"/>
                  <a:pt x="448588" y="187472"/>
                </a:cubicBezTo>
                <a:cubicBezTo>
                  <a:pt x="442905" y="175050"/>
                  <a:pt x="448435" y="160634"/>
                  <a:pt x="460723" y="154960"/>
                </a:cubicBezTo>
                <a:lnTo>
                  <a:pt x="481305" y="145605"/>
                </a:lnTo>
                <a:cubicBezTo>
                  <a:pt x="487449" y="142768"/>
                  <a:pt x="494169" y="142730"/>
                  <a:pt x="500064" y="144934"/>
                </a:cubicBezTo>
                <a:close/>
                <a:moveTo>
                  <a:pt x="267434" y="135634"/>
                </a:moveTo>
                <a:cubicBezTo>
                  <a:pt x="191528" y="135634"/>
                  <a:pt x="129605" y="197465"/>
                  <a:pt x="129605" y="273256"/>
                </a:cubicBezTo>
                <a:cubicBezTo>
                  <a:pt x="129605" y="326188"/>
                  <a:pt x="159107" y="373596"/>
                  <a:pt x="206740" y="396916"/>
                </a:cubicBezTo>
                <a:cubicBezTo>
                  <a:pt x="212425" y="399678"/>
                  <a:pt x="215652" y="405355"/>
                  <a:pt x="215652" y="411645"/>
                </a:cubicBezTo>
                <a:lnTo>
                  <a:pt x="215652" y="454144"/>
                </a:lnTo>
                <a:lnTo>
                  <a:pt x="250378" y="454144"/>
                </a:lnTo>
                <a:lnTo>
                  <a:pt x="250378" y="409344"/>
                </a:lnTo>
                <a:lnTo>
                  <a:pt x="201669" y="254692"/>
                </a:lnTo>
                <a:cubicBezTo>
                  <a:pt x="200133" y="249782"/>
                  <a:pt x="201362" y="244259"/>
                  <a:pt x="204435" y="239963"/>
                </a:cubicBezTo>
                <a:cubicBezTo>
                  <a:pt x="207508" y="235821"/>
                  <a:pt x="212425" y="233212"/>
                  <a:pt x="217650" y="233212"/>
                </a:cubicBezTo>
                <a:lnTo>
                  <a:pt x="314605" y="233212"/>
                </a:lnTo>
                <a:cubicBezTo>
                  <a:pt x="319830" y="233212"/>
                  <a:pt x="324593" y="235667"/>
                  <a:pt x="327666" y="239810"/>
                </a:cubicBezTo>
                <a:cubicBezTo>
                  <a:pt x="330739" y="243952"/>
                  <a:pt x="331507" y="249322"/>
                  <a:pt x="329971" y="254232"/>
                </a:cubicBezTo>
                <a:lnTo>
                  <a:pt x="283260" y="409190"/>
                </a:lnTo>
                <a:lnTo>
                  <a:pt x="283260" y="454144"/>
                </a:lnTo>
                <a:lnTo>
                  <a:pt x="317986" y="454144"/>
                </a:lnTo>
                <a:lnTo>
                  <a:pt x="317986" y="411645"/>
                </a:lnTo>
                <a:cubicBezTo>
                  <a:pt x="317986" y="405355"/>
                  <a:pt x="321981" y="399678"/>
                  <a:pt x="327666" y="396916"/>
                </a:cubicBezTo>
                <a:cubicBezTo>
                  <a:pt x="375300" y="373596"/>
                  <a:pt x="405108" y="326188"/>
                  <a:pt x="405108" y="273256"/>
                </a:cubicBezTo>
                <a:cubicBezTo>
                  <a:pt x="405108" y="197465"/>
                  <a:pt x="343339" y="135634"/>
                  <a:pt x="267434" y="135634"/>
                </a:cubicBezTo>
                <a:close/>
                <a:moveTo>
                  <a:pt x="267587" y="102955"/>
                </a:moveTo>
                <a:cubicBezTo>
                  <a:pt x="361624" y="102955"/>
                  <a:pt x="437683" y="179360"/>
                  <a:pt x="437683" y="273256"/>
                </a:cubicBezTo>
                <a:cubicBezTo>
                  <a:pt x="437683" y="335393"/>
                  <a:pt x="406184" y="391240"/>
                  <a:pt x="350868" y="421464"/>
                </a:cubicBezTo>
                <a:lnTo>
                  <a:pt x="350868" y="455371"/>
                </a:lnTo>
                <a:cubicBezTo>
                  <a:pt x="361010" y="458746"/>
                  <a:pt x="369000" y="468259"/>
                  <a:pt x="369000" y="479766"/>
                </a:cubicBezTo>
                <a:cubicBezTo>
                  <a:pt x="369000" y="493881"/>
                  <a:pt x="357782" y="505234"/>
                  <a:pt x="343646" y="505234"/>
                </a:cubicBezTo>
                <a:lnTo>
                  <a:pt x="321674" y="505234"/>
                </a:lnTo>
                <a:cubicBezTo>
                  <a:pt x="330739" y="509223"/>
                  <a:pt x="337193" y="518275"/>
                  <a:pt x="337193" y="528861"/>
                </a:cubicBezTo>
                <a:cubicBezTo>
                  <a:pt x="337193" y="542976"/>
                  <a:pt x="325669" y="554330"/>
                  <a:pt x="311532" y="554330"/>
                </a:cubicBezTo>
                <a:lnTo>
                  <a:pt x="295552" y="554330"/>
                </a:lnTo>
                <a:lnTo>
                  <a:pt x="295552" y="578111"/>
                </a:lnTo>
                <a:cubicBezTo>
                  <a:pt x="295552" y="594374"/>
                  <a:pt x="284028" y="607568"/>
                  <a:pt x="267587" y="607568"/>
                </a:cubicBezTo>
                <a:lnTo>
                  <a:pt x="267434" y="607568"/>
                </a:lnTo>
                <a:cubicBezTo>
                  <a:pt x="251146" y="607568"/>
                  <a:pt x="236088" y="594374"/>
                  <a:pt x="236088" y="578111"/>
                </a:cubicBezTo>
                <a:lnTo>
                  <a:pt x="236088" y="554330"/>
                </a:lnTo>
                <a:lnTo>
                  <a:pt x="221491" y="554330"/>
                </a:lnTo>
                <a:cubicBezTo>
                  <a:pt x="207355" y="554330"/>
                  <a:pt x="195831" y="542976"/>
                  <a:pt x="195831" y="528861"/>
                </a:cubicBezTo>
                <a:cubicBezTo>
                  <a:pt x="195831" y="518275"/>
                  <a:pt x="202284" y="509223"/>
                  <a:pt x="211350" y="505234"/>
                </a:cubicBezTo>
                <a:lnTo>
                  <a:pt x="189377" y="505234"/>
                </a:lnTo>
                <a:cubicBezTo>
                  <a:pt x="175241" y="505234"/>
                  <a:pt x="163409" y="493881"/>
                  <a:pt x="163409" y="479766"/>
                </a:cubicBezTo>
                <a:cubicBezTo>
                  <a:pt x="163409" y="467645"/>
                  <a:pt x="172629" y="457519"/>
                  <a:pt x="182770" y="454757"/>
                </a:cubicBezTo>
                <a:lnTo>
                  <a:pt x="182770" y="421464"/>
                </a:lnTo>
                <a:cubicBezTo>
                  <a:pt x="129605" y="391240"/>
                  <a:pt x="96570" y="335393"/>
                  <a:pt x="96570" y="273256"/>
                </a:cubicBezTo>
                <a:cubicBezTo>
                  <a:pt x="96570" y="179360"/>
                  <a:pt x="173551" y="102955"/>
                  <a:pt x="267587" y="102955"/>
                </a:cubicBezTo>
                <a:close/>
                <a:moveTo>
                  <a:pt x="139966" y="39746"/>
                </a:moveTo>
                <a:cubicBezTo>
                  <a:pt x="146113" y="41069"/>
                  <a:pt x="151761" y="44751"/>
                  <a:pt x="155450" y="50503"/>
                </a:cubicBezTo>
                <a:lnTo>
                  <a:pt x="167591" y="69371"/>
                </a:lnTo>
                <a:cubicBezTo>
                  <a:pt x="174968" y="80722"/>
                  <a:pt x="171587" y="95909"/>
                  <a:pt x="160214" y="103272"/>
                </a:cubicBezTo>
                <a:cubicBezTo>
                  <a:pt x="156064" y="105879"/>
                  <a:pt x="151454" y="107260"/>
                  <a:pt x="146843" y="107260"/>
                </a:cubicBezTo>
                <a:cubicBezTo>
                  <a:pt x="138851" y="107260"/>
                  <a:pt x="130860" y="103272"/>
                  <a:pt x="126249" y="95909"/>
                </a:cubicBezTo>
                <a:lnTo>
                  <a:pt x="113954" y="77041"/>
                </a:lnTo>
                <a:cubicBezTo>
                  <a:pt x="106731" y="65536"/>
                  <a:pt x="109958" y="50350"/>
                  <a:pt x="121485" y="43140"/>
                </a:cubicBezTo>
                <a:cubicBezTo>
                  <a:pt x="127171" y="39459"/>
                  <a:pt x="133818" y="38423"/>
                  <a:pt x="139966" y="39746"/>
                </a:cubicBezTo>
                <a:close/>
                <a:moveTo>
                  <a:pt x="395557" y="39451"/>
                </a:moveTo>
                <a:cubicBezTo>
                  <a:pt x="401705" y="38109"/>
                  <a:pt x="408352" y="39106"/>
                  <a:pt x="414038" y="42787"/>
                </a:cubicBezTo>
                <a:cubicBezTo>
                  <a:pt x="425411" y="50150"/>
                  <a:pt x="428792" y="65336"/>
                  <a:pt x="421415" y="76688"/>
                </a:cubicBezTo>
                <a:lnTo>
                  <a:pt x="409274" y="95709"/>
                </a:lnTo>
                <a:cubicBezTo>
                  <a:pt x="404510" y="102919"/>
                  <a:pt x="396518" y="106907"/>
                  <a:pt x="388526" y="106907"/>
                </a:cubicBezTo>
                <a:cubicBezTo>
                  <a:pt x="383916" y="106907"/>
                  <a:pt x="379305" y="105680"/>
                  <a:pt x="375156" y="103072"/>
                </a:cubicBezTo>
                <a:cubicBezTo>
                  <a:pt x="363783" y="95709"/>
                  <a:pt x="360555" y="80523"/>
                  <a:pt x="367932" y="69018"/>
                </a:cubicBezTo>
                <a:lnTo>
                  <a:pt x="380073" y="50150"/>
                </a:lnTo>
                <a:cubicBezTo>
                  <a:pt x="383762" y="44475"/>
                  <a:pt x="389410" y="40793"/>
                  <a:pt x="395557" y="39451"/>
                </a:cubicBezTo>
                <a:close/>
                <a:moveTo>
                  <a:pt x="266844" y="0"/>
                </a:moveTo>
                <a:cubicBezTo>
                  <a:pt x="280504" y="0"/>
                  <a:pt x="291401" y="11043"/>
                  <a:pt x="291401" y="24539"/>
                </a:cubicBezTo>
                <a:lnTo>
                  <a:pt x="291401" y="47085"/>
                </a:lnTo>
                <a:cubicBezTo>
                  <a:pt x="291401" y="60581"/>
                  <a:pt x="280504" y="71624"/>
                  <a:pt x="266844" y="71624"/>
                </a:cubicBezTo>
                <a:cubicBezTo>
                  <a:pt x="253337" y="71624"/>
                  <a:pt x="242287" y="60581"/>
                  <a:pt x="242287" y="47085"/>
                </a:cubicBezTo>
                <a:lnTo>
                  <a:pt x="242287" y="24539"/>
                </a:lnTo>
                <a:cubicBezTo>
                  <a:pt x="242287" y="11043"/>
                  <a:pt x="253337" y="0"/>
                  <a:pt x="266844"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48" name="light-bulb_99723"/>
          <p:cNvSpPr/>
          <p:nvPr/>
        </p:nvSpPr>
        <p:spPr>
          <a:xfrm>
            <a:off x="5699010" y="2670013"/>
            <a:ext cx="219876" cy="249325"/>
          </a:xfrm>
          <a:custGeom>
            <a:avLst/>
            <a:gdLst>
              <a:gd name="connsiteX0" fmla="*/ 43428 w 535805"/>
              <a:gd name="connsiteY0" fmla="*/ 277681 h 607568"/>
              <a:gd name="connsiteX1" fmla="*/ 71228 w 535805"/>
              <a:gd name="connsiteY1" fmla="*/ 298542 h 607568"/>
              <a:gd name="connsiteX2" fmla="*/ 50339 w 535805"/>
              <a:gd name="connsiteY2" fmla="*/ 326306 h 607568"/>
              <a:gd name="connsiteX3" fmla="*/ 28068 w 535805"/>
              <a:gd name="connsiteY3" fmla="*/ 329528 h 607568"/>
              <a:gd name="connsiteX4" fmla="*/ 24536 w 535805"/>
              <a:gd name="connsiteY4" fmla="*/ 329681 h 607568"/>
              <a:gd name="connsiteX5" fmla="*/ 268 w 535805"/>
              <a:gd name="connsiteY5" fmla="*/ 308666 h 607568"/>
              <a:gd name="connsiteX6" fmla="*/ 21157 w 535805"/>
              <a:gd name="connsiteY6" fmla="*/ 280902 h 607568"/>
              <a:gd name="connsiteX7" fmla="*/ 492377 w 535805"/>
              <a:gd name="connsiteY7" fmla="*/ 277411 h 607568"/>
              <a:gd name="connsiteX8" fmla="*/ 514802 w 535805"/>
              <a:gd name="connsiteY8" fmla="*/ 280631 h 607568"/>
              <a:gd name="connsiteX9" fmla="*/ 535537 w 535805"/>
              <a:gd name="connsiteY9" fmla="*/ 308390 h 607568"/>
              <a:gd name="connsiteX10" fmla="*/ 511269 w 535805"/>
              <a:gd name="connsiteY10" fmla="*/ 329400 h 607568"/>
              <a:gd name="connsiteX11" fmla="*/ 507737 w 535805"/>
              <a:gd name="connsiteY11" fmla="*/ 329093 h 607568"/>
              <a:gd name="connsiteX12" fmla="*/ 485466 w 535805"/>
              <a:gd name="connsiteY12" fmla="*/ 325873 h 607568"/>
              <a:gd name="connsiteX13" fmla="*/ 464577 w 535805"/>
              <a:gd name="connsiteY13" fmla="*/ 298114 h 607568"/>
              <a:gd name="connsiteX14" fmla="*/ 492377 w 535805"/>
              <a:gd name="connsiteY14" fmla="*/ 277411 h 607568"/>
              <a:gd name="connsiteX15" fmla="*/ 240083 w 535805"/>
              <a:gd name="connsiteY15" fmla="*/ 265892 h 607568"/>
              <a:gd name="connsiteX16" fmla="*/ 267126 w 535805"/>
              <a:gd name="connsiteY16" fmla="*/ 350889 h 607568"/>
              <a:gd name="connsiteX17" fmla="*/ 292633 w 535805"/>
              <a:gd name="connsiteY17" fmla="*/ 265892 h 607568"/>
              <a:gd name="connsiteX18" fmla="*/ 35560 w 535805"/>
              <a:gd name="connsiteY18" fmla="*/ 145308 h 607568"/>
              <a:gd name="connsiteX19" fmla="*/ 54335 w 535805"/>
              <a:gd name="connsiteY19" fmla="*/ 146037 h 607568"/>
              <a:gd name="connsiteX20" fmla="*/ 74937 w 535805"/>
              <a:gd name="connsiteY20" fmla="*/ 155251 h 607568"/>
              <a:gd name="connsiteX21" fmla="*/ 87082 w 535805"/>
              <a:gd name="connsiteY21" fmla="*/ 187806 h 607568"/>
              <a:gd name="connsiteX22" fmla="*/ 64636 w 535805"/>
              <a:gd name="connsiteY22" fmla="*/ 202241 h 607568"/>
              <a:gd name="connsiteX23" fmla="*/ 54489 w 535805"/>
              <a:gd name="connsiteY23" fmla="*/ 200091 h 607568"/>
              <a:gd name="connsiteX24" fmla="*/ 33888 w 535805"/>
              <a:gd name="connsiteY24" fmla="*/ 190724 h 607568"/>
              <a:gd name="connsiteX25" fmla="*/ 21742 w 535805"/>
              <a:gd name="connsiteY25" fmla="*/ 158168 h 607568"/>
              <a:gd name="connsiteX26" fmla="*/ 35560 w 535805"/>
              <a:gd name="connsiteY26" fmla="*/ 145308 h 607568"/>
              <a:gd name="connsiteX27" fmla="*/ 500064 w 535805"/>
              <a:gd name="connsiteY27" fmla="*/ 144934 h 607568"/>
              <a:gd name="connsiteX28" fmla="*/ 513869 w 535805"/>
              <a:gd name="connsiteY28" fmla="*/ 157720 h 607568"/>
              <a:gd name="connsiteX29" fmla="*/ 501581 w 535805"/>
              <a:gd name="connsiteY29" fmla="*/ 190232 h 607568"/>
              <a:gd name="connsiteX30" fmla="*/ 481152 w 535805"/>
              <a:gd name="connsiteY30" fmla="*/ 199587 h 607568"/>
              <a:gd name="connsiteX31" fmla="*/ 471014 w 535805"/>
              <a:gd name="connsiteY31" fmla="*/ 201887 h 607568"/>
              <a:gd name="connsiteX32" fmla="*/ 448588 w 535805"/>
              <a:gd name="connsiteY32" fmla="*/ 187472 h 607568"/>
              <a:gd name="connsiteX33" fmla="*/ 460723 w 535805"/>
              <a:gd name="connsiteY33" fmla="*/ 154960 h 607568"/>
              <a:gd name="connsiteX34" fmla="*/ 481305 w 535805"/>
              <a:gd name="connsiteY34" fmla="*/ 145605 h 607568"/>
              <a:gd name="connsiteX35" fmla="*/ 500064 w 535805"/>
              <a:gd name="connsiteY35" fmla="*/ 144934 h 607568"/>
              <a:gd name="connsiteX36" fmla="*/ 267434 w 535805"/>
              <a:gd name="connsiteY36" fmla="*/ 135634 h 607568"/>
              <a:gd name="connsiteX37" fmla="*/ 129605 w 535805"/>
              <a:gd name="connsiteY37" fmla="*/ 273256 h 607568"/>
              <a:gd name="connsiteX38" fmla="*/ 206740 w 535805"/>
              <a:gd name="connsiteY38" fmla="*/ 396916 h 607568"/>
              <a:gd name="connsiteX39" fmla="*/ 215652 w 535805"/>
              <a:gd name="connsiteY39" fmla="*/ 411645 h 607568"/>
              <a:gd name="connsiteX40" fmla="*/ 215652 w 535805"/>
              <a:gd name="connsiteY40" fmla="*/ 454144 h 607568"/>
              <a:gd name="connsiteX41" fmla="*/ 250378 w 535805"/>
              <a:gd name="connsiteY41" fmla="*/ 454144 h 607568"/>
              <a:gd name="connsiteX42" fmla="*/ 250378 w 535805"/>
              <a:gd name="connsiteY42" fmla="*/ 409344 h 607568"/>
              <a:gd name="connsiteX43" fmla="*/ 201669 w 535805"/>
              <a:gd name="connsiteY43" fmla="*/ 254692 h 607568"/>
              <a:gd name="connsiteX44" fmla="*/ 204435 w 535805"/>
              <a:gd name="connsiteY44" fmla="*/ 239963 h 607568"/>
              <a:gd name="connsiteX45" fmla="*/ 217650 w 535805"/>
              <a:gd name="connsiteY45" fmla="*/ 233212 h 607568"/>
              <a:gd name="connsiteX46" fmla="*/ 314605 w 535805"/>
              <a:gd name="connsiteY46" fmla="*/ 233212 h 607568"/>
              <a:gd name="connsiteX47" fmla="*/ 327666 w 535805"/>
              <a:gd name="connsiteY47" fmla="*/ 239810 h 607568"/>
              <a:gd name="connsiteX48" fmla="*/ 329971 w 535805"/>
              <a:gd name="connsiteY48" fmla="*/ 254232 h 607568"/>
              <a:gd name="connsiteX49" fmla="*/ 283260 w 535805"/>
              <a:gd name="connsiteY49" fmla="*/ 409190 h 607568"/>
              <a:gd name="connsiteX50" fmla="*/ 283260 w 535805"/>
              <a:gd name="connsiteY50" fmla="*/ 454144 h 607568"/>
              <a:gd name="connsiteX51" fmla="*/ 317986 w 535805"/>
              <a:gd name="connsiteY51" fmla="*/ 454144 h 607568"/>
              <a:gd name="connsiteX52" fmla="*/ 317986 w 535805"/>
              <a:gd name="connsiteY52" fmla="*/ 411645 h 607568"/>
              <a:gd name="connsiteX53" fmla="*/ 327666 w 535805"/>
              <a:gd name="connsiteY53" fmla="*/ 396916 h 607568"/>
              <a:gd name="connsiteX54" fmla="*/ 405108 w 535805"/>
              <a:gd name="connsiteY54" fmla="*/ 273256 h 607568"/>
              <a:gd name="connsiteX55" fmla="*/ 267434 w 535805"/>
              <a:gd name="connsiteY55" fmla="*/ 135634 h 607568"/>
              <a:gd name="connsiteX56" fmla="*/ 267587 w 535805"/>
              <a:gd name="connsiteY56" fmla="*/ 102955 h 607568"/>
              <a:gd name="connsiteX57" fmla="*/ 437683 w 535805"/>
              <a:gd name="connsiteY57" fmla="*/ 273256 h 607568"/>
              <a:gd name="connsiteX58" fmla="*/ 350868 w 535805"/>
              <a:gd name="connsiteY58" fmla="*/ 421464 h 607568"/>
              <a:gd name="connsiteX59" fmla="*/ 350868 w 535805"/>
              <a:gd name="connsiteY59" fmla="*/ 455371 h 607568"/>
              <a:gd name="connsiteX60" fmla="*/ 369000 w 535805"/>
              <a:gd name="connsiteY60" fmla="*/ 479766 h 607568"/>
              <a:gd name="connsiteX61" fmla="*/ 343646 w 535805"/>
              <a:gd name="connsiteY61" fmla="*/ 505234 h 607568"/>
              <a:gd name="connsiteX62" fmla="*/ 321674 w 535805"/>
              <a:gd name="connsiteY62" fmla="*/ 505234 h 607568"/>
              <a:gd name="connsiteX63" fmla="*/ 337193 w 535805"/>
              <a:gd name="connsiteY63" fmla="*/ 528861 h 607568"/>
              <a:gd name="connsiteX64" fmla="*/ 311532 w 535805"/>
              <a:gd name="connsiteY64" fmla="*/ 554330 h 607568"/>
              <a:gd name="connsiteX65" fmla="*/ 295552 w 535805"/>
              <a:gd name="connsiteY65" fmla="*/ 554330 h 607568"/>
              <a:gd name="connsiteX66" fmla="*/ 295552 w 535805"/>
              <a:gd name="connsiteY66" fmla="*/ 578111 h 607568"/>
              <a:gd name="connsiteX67" fmla="*/ 267587 w 535805"/>
              <a:gd name="connsiteY67" fmla="*/ 607568 h 607568"/>
              <a:gd name="connsiteX68" fmla="*/ 267434 w 535805"/>
              <a:gd name="connsiteY68" fmla="*/ 607568 h 607568"/>
              <a:gd name="connsiteX69" fmla="*/ 236088 w 535805"/>
              <a:gd name="connsiteY69" fmla="*/ 578111 h 607568"/>
              <a:gd name="connsiteX70" fmla="*/ 236088 w 535805"/>
              <a:gd name="connsiteY70" fmla="*/ 554330 h 607568"/>
              <a:gd name="connsiteX71" fmla="*/ 221491 w 535805"/>
              <a:gd name="connsiteY71" fmla="*/ 554330 h 607568"/>
              <a:gd name="connsiteX72" fmla="*/ 195831 w 535805"/>
              <a:gd name="connsiteY72" fmla="*/ 528861 h 607568"/>
              <a:gd name="connsiteX73" fmla="*/ 211350 w 535805"/>
              <a:gd name="connsiteY73" fmla="*/ 505234 h 607568"/>
              <a:gd name="connsiteX74" fmla="*/ 189377 w 535805"/>
              <a:gd name="connsiteY74" fmla="*/ 505234 h 607568"/>
              <a:gd name="connsiteX75" fmla="*/ 163409 w 535805"/>
              <a:gd name="connsiteY75" fmla="*/ 479766 h 607568"/>
              <a:gd name="connsiteX76" fmla="*/ 182770 w 535805"/>
              <a:gd name="connsiteY76" fmla="*/ 454757 h 607568"/>
              <a:gd name="connsiteX77" fmla="*/ 182770 w 535805"/>
              <a:gd name="connsiteY77" fmla="*/ 421464 h 607568"/>
              <a:gd name="connsiteX78" fmla="*/ 96570 w 535805"/>
              <a:gd name="connsiteY78" fmla="*/ 273256 h 607568"/>
              <a:gd name="connsiteX79" fmla="*/ 267587 w 535805"/>
              <a:gd name="connsiteY79" fmla="*/ 102955 h 607568"/>
              <a:gd name="connsiteX80" fmla="*/ 139966 w 535805"/>
              <a:gd name="connsiteY80" fmla="*/ 39746 h 607568"/>
              <a:gd name="connsiteX81" fmla="*/ 155450 w 535805"/>
              <a:gd name="connsiteY81" fmla="*/ 50503 h 607568"/>
              <a:gd name="connsiteX82" fmla="*/ 167591 w 535805"/>
              <a:gd name="connsiteY82" fmla="*/ 69371 h 607568"/>
              <a:gd name="connsiteX83" fmla="*/ 160214 w 535805"/>
              <a:gd name="connsiteY83" fmla="*/ 103272 h 607568"/>
              <a:gd name="connsiteX84" fmla="*/ 146843 w 535805"/>
              <a:gd name="connsiteY84" fmla="*/ 107260 h 607568"/>
              <a:gd name="connsiteX85" fmla="*/ 126249 w 535805"/>
              <a:gd name="connsiteY85" fmla="*/ 95909 h 607568"/>
              <a:gd name="connsiteX86" fmla="*/ 113954 w 535805"/>
              <a:gd name="connsiteY86" fmla="*/ 77041 h 607568"/>
              <a:gd name="connsiteX87" fmla="*/ 121485 w 535805"/>
              <a:gd name="connsiteY87" fmla="*/ 43140 h 607568"/>
              <a:gd name="connsiteX88" fmla="*/ 139966 w 535805"/>
              <a:gd name="connsiteY88" fmla="*/ 39746 h 607568"/>
              <a:gd name="connsiteX89" fmla="*/ 395557 w 535805"/>
              <a:gd name="connsiteY89" fmla="*/ 39451 h 607568"/>
              <a:gd name="connsiteX90" fmla="*/ 414038 w 535805"/>
              <a:gd name="connsiteY90" fmla="*/ 42787 h 607568"/>
              <a:gd name="connsiteX91" fmla="*/ 421415 w 535805"/>
              <a:gd name="connsiteY91" fmla="*/ 76688 h 607568"/>
              <a:gd name="connsiteX92" fmla="*/ 409274 w 535805"/>
              <a:gd name="connsiteY92" fmla="*/ 95709 h 607568"/>
              <a:gd name="connsiteX93" fmla="*/ 388526 w 535805"/>
              <a:gd name="connsiteY93" fmla="*/ 106907 h 607568"/>
              <a:gd name="connsiteX94" fmla="*/ 375156 w 535805"/>
              <a:gd name="connsiteY94" fmla="*/ 103072 h 607568"/>
              <a:gd name="connsiteX95" fmla="*/ 367932 w 535805"/>
              <a:gd name="connsiteY95" fmla="*/ 69018 h 607568"/>
              <a:gd name="connsiteX96" fmla="*/ 380073 w 535805"/>
              <a:gd name="connsiteY96" fmla="*/ 50150 h 607568"/>
              <a:gd name="connsiteX97" fmla="*/ 395557 w 535805"/>
              <a:gd name="connsiteY97" fmla="*/ 39451 h 607568"/>
              <a:gd name="connsiteX98" fmla="*/ 266844 w 535805"/>
              <a:gd name="connsiteY98" fmla="*/ 0 h 607568"/>
              <a:gd name="connsiteX99" fmla="*/ 291401 w 535805"/>
              <a:gd name="connsiteY99" fmla="*/ 24539 h 607568"/>
              <a:gd name="connsiteX100" fmla="*/ 291401 w 535805"/>
              <a:gd name="connsiteY100" fmla="*/ 47085 h 607568"/>
              <a:gd name="connsiteX101" fmla="*/ 266844 w 535805"/>
              <a:gd name="connsiteY101" fmla="*/ 71624 h 607568"/>
              <a:gd name="connsiteX102" fmla="*/ 242287 w 535805"/>
              <a:gd name="connsiteY102" fmla="*/ 47085 h 607568"/>
              <a:gd name="connsiteX103" fmla="*/ 242287 w 535805"/>
              <a:gd name="connsiteY103" fmla="*/ 24539 h 607568"/>
              <a:gd name="connsiteX104" fmla="*/ 266844 w 535805"/>
              <a:gd name="connsiteY104" fmla="*/ 0 h 60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535805" h="607568">
                <a:moveTo>
                  <a:pt x="43428" y="277681"/>
                </a:moveTo>
                <a:cubicBezTo>
                  <a:pt x="56790" y="275840"/>
                  <a:pt x="69231" y="285044"/>
                  <a:pt x="71228" y="298542"/>
                </a:cubicBezTo>
                <a:cubicBezTo>
                  <a:pt x="73071" y="311887"/>
                  <a:pt x="63855" y="324312"/>
                  <a:pt x="50339" y="326306"/>
                </a:cubicBezTo>
                <a:lnTo>
                  <a:pt x="28068" y="329528"/>
                </a:lnTo>
                <a:cubicBezTo>
                  <a:pt x="26840" y="329681"/>
                  <a:pt x="25765" y="329681"/>
                  <a:pt x="24536" y="329681"/>
                </a:cubicBezTo>
                <a:cubicBezTo>
                  <a:pt x="12556" y="329681"/>
                  <a:pt x="1958" y="320938"/>
                  <a:pt x="268" y="308666"/>
                </a:cubicBezTo>
                <a:cubicBezTo>
                  <a:pt x="-1728" y="295321"/>
                  <a:pt x="7641" y="282896"/>
                  <a:pt x="21157" y="280902"/>
                </a:cubicBezTo>
                <a:close/>
                <a:moveTo>
                  <a:pt x="492377" y="277411"/>
                </a:moveTo>
                <a:lnTo>
                  <a:pt x="514802" y="280631"/>
                </a:lnTo>
                <a:cubicBezTo>
                  <a:pt x="528164" y="282472"/>
                  <a:pt x="537533" y="294894"/>
                  <a:pt x="535537" y="308390"/>
                </a:cubicBezTo>
                <a:cubicBezTo>
                  <a:pt x="533693" y="320658"/>
                  <a:pt x="523249" y="329400"/>
                  <a:pt x="511269" y="329400"/>
                </a:cubicBezTo>
                <a:cubicBezTo>
                  <a:pt x="510040" y="329400"/>
                  <a:pt x="508965" y="329247"/>
                  <a:pt x="507737" y="329093"/>
                </a:cubicBezTo>
                <a:lnTo>
                  <a:pt x="485466" y="325873"/>
                </a:lnTo>
                <a:cubicBezTo>
                  <a:pt x="471950" y="324032"/>
                  <a:pt x="462734" y="311457"/>
                  <a:pt x="464577" y="298114"/>
                </a:cubicBezTo>
                <a:cubicBezTo>
                  <a:pt x="466574" y="284772"/>
                  <a:pt x="479015" y="275417"/>
                  <a:pt x="492377" y="277411"/>
                </a:cubicBezTo>
                <a:close/>
                <a:moveTo>
                  <a:pt x="240083" y="265892"/>
                </a:moveTo>
                <a:lnTo>
                  <a:pt x="267126" y="350889"/>
                </a:lnTo>
                <a:lnTo>
                  <a:pt x="292633" y="265892"/>
                </a:lnTo>
                <a:close/>
                <a:moveTo>
                  <a:pt x="35560" y="145308"/>
                </a:moveTo>
                <a:cubicBezTo>
                  <a:pt x="41459" y="143119"/>
                  <a:pt x="48186" y="143196"/>
                  <a:pt x="54335" y="146037"/>
                </a:cubicBezTo>
                <a:lnTo>
                  <a:pt x="74937" y="155251"/>
                </a:lnTo>
                <a:cubicBezTo>
                  <a:pt x="87236" y="160933"/>
                  <a:pt x="92617" y="175521"/>
                  <a:pt x="87082" y="187806"/>
                </a:cubicBezTo>
                <a:cubicBezTo>
                  <a:pt x="82931" y="196866"/>
                  <a:pt x="74014" y="202241"/>
                  <a:pt x="64636" y="202241"/>
                </a:cubicBezTo>
                <a:cubicBezTo>
                  <a:pt x="61254" y="202241"/>
                  <a:pt x="57718" y="201473"/>
                  <a:pt x="54489" y="200091"/>
                </a:cubicBezTo>
                <a:lnTo>
                  <a:pt x="33888" y="190724"/>
                </a:lnTo>
                <a:cubicBezTo>
                  <a:pt x="21588" y="185042"/>
                  <a:pt x="16054" y="170453"/>
                  <a:pt x="21742" y="158168"/>
                </a:cubicBezTo>
                <a:cubicBezTo>
                  <a:pt x="24587" y="151949"/>
                  <a:pt x="29660" y="147496"/>
                  <a:pt x="35560" y="145308"/>
                </a:cubicBezTo>
                <a:close/>
                <a:moveTo>
                  <a:pt x="500064" y="144934"/>
                </a:moveTo>
                <a:cubicBezTo>
                  <a:pt x="505958" y="147139"/>
                  <a:pt x="511027" y="151586"/>
                  <a:pt x="513869" y="157720"/>
                </a:cubicBezTo>
                <a:cubicBezTo>
                  <a:pt x="519398" y="170142"/>
                  <a:pt x="514022" y="184711"/>
                  <a:pt x="501581" y="190232"/>
                </a:cubicBezTo>
                <a:lnTo>
                  <a:pt x="481152" y="199587"/>
                </a:lnTo>
                <a:cubicBezTo>
                  <a:pt x="477773" y="201120"/>
                  <a:pt x="474393" y="201887"/>
                  <a:pt x="471014" y="201887"/>
                </a:cubicBezTo>
                <a:cubicBezTo>
                  <a:pt x="461644" y="201887"/>
                  <a:pt x="452736" y="196520"/>
                  <a:pt x="448588" y="187472"/>
                </a:cubicBezTo>
                <a:cubicBezTo>
                  <a:pt x="442905" y="175050"/>
                  <a:pt x="448435" y="160634"/>
                  <a:pt x="460723" y="154960"/>
                </a:cubicBezTo>
                <a:lnTo>
                  <a:pt x="481305" y="145605"/>
                </a:lnTo>
                <a:cubicBezTo>
                  <a:pt x="487449" y="142768"/>
                  <a:pt x="494169" y="142730"/>
                  <a:pt x="500064" y="144934"/>
                </a:cubicBezTo>
                <a:close/>
                <a:moveTo>
                  <a:pt x="267434" y="135634"/>
                </a:moveTo>
                <a:cubicBezTo>
                  <a:pt x="191528" y="135634"/>
                  <a:pt x="129605" y="197465"/>
                  <a:pt x="129605" y="273256"/>
                </a:cubicBezTo>
                <a:cubicBezTo>
                  <a:pt x="129605" y="326188"/>
                  <a:pt x="159107" y="373596"/>
                  <a:pt x="206740" y="396916"/>
                </a:cubicBezTo>
                <a:cubicBezTo>
                  <a:pt x="212425" y="399678"/>
                  <a:pt x="215652" y="405355"/>
                  <a:pt x="215652" y="411645"/>
                </a:cubicBezTo>
                <a:lnTo>
                  <a:pt x="215652" y="454144"/>
                </a:lnTo>
                <a:lnTo>
                  <a:pt x="250378" y="454144"/>
                </a:lnTo>
                <a:lnTo>
                  <a:pt x="250378" y="409344"/>
                </a:lnTo>
                <a:lnTo>
                  <a:pt x="201669" y="254692"/>
                </a:lnTo>
                <a:cubicBezTo>
                  <a:pt x="200133" y="249782"/>
                  <a:pt x="201362" y="244259"/>
                  <a:pt x="204435" y="239963"/>
                </a:cubicBezTo>
                <a:cubicBezTo>
                  <a:pt x="207508" y="235821"/>
                  <a:pt x="212425" y="233212"/>
                  <a:pt x="217650" y="233212"/>
                </a:cubicBezTo>
                <a:lnTo>
                  <a:pt x="314605" y="233212"/>
                </a:lnTo>
                <a:cubicBezTo>
                  <a:pt x="319830" y="233212"/>
                  <a:pt x="324593" y="235667"/>
                  <a:pt x="327666" y="239810"/>
                </a:cubicBezTo>
                <a:cubicBezTo>
                  <a:pt x="330739" y="243952"/>
                  <a:pt x="331507" y="249322"/>
                  <a:pt x="329971" y="254232"/>
                </a:cubicBezTo>
                <a:lnTo>
                  <a:pt x="283260" y="409190"/>
                </a:lnTo>
                <a:lnTo>
                  <a:pt x="283260" y="454144"/>
                </a:lnTo>
                <a:lnTo>
                  <a:pt x="317986" y="454144"/>
                </a:lnTo>
                <a:lnTo>
                  <a:pt x="317986" y="411645"/>
                </a:lnTo>
                <a:cubicBezTo>
                  <a:pt x="317986" y="405355"/>
                  <a:pt x="321981" y="399678"/>
                  <a:pt x="327666" y="396916"/>
                </a:cubicBezTo>
                <a:cubicBezTo>
                  <a:pt x="375300" y="373596"/>
                  <a:pt x="405108" y="326188"/>
                  <a:pt x="405108" y="273256"/>
                </a:cubicBezTo>
                <a:cubicBezTo>
                  <a:pt x="405108" y="197465"/>
                  <a:pt x="343339" y="135634"/>
                  <a:pt x="267434" y="135634"/>
                </a:cubicBezTo>
                <a:close/>
                <a:moveTo>
                  <a:pt x="267587" y="102955"/>
                </a:moveTo>
                <a:cubicBezTo>
                  <a:pt x="361624" y="102955"/>
                  <a:pt x="437683" y="179360"/>
                  <a:pt x="437683" y="273256"/>
                </a:cubicBezTo>
                <a:cubicBezTo>
                  <a:pt x="437683" y="335393"/>
                  <a:pt x="406184" y="391240"/>
                  <a:pt x="350868" y="421464"/>
                </a:cubicBezTo>
                <a:lnTo>
                  <a:pt x="350868" y="455371"/>
                </a:lnTo>
                <a:cubicBezTo>
                  <a:pt x="361010" y="458746"/>
                  <a:pt x="369000" y="468259"/>
                  <a:pt x="369000" y="479766"/>
                </a:cubicBezTo>
                <a:cubicBezTo>
                  <a:pt x="369000" y="493881"/>
                  <a:pt x="357782" y="505234"/>
                  <a:pt x="343646" y="505234"/>
                </a:cubicBezTo>
                <a:lnTo>
                  <a:pt x="321674" y="505234"/>
                </a:lnTo>
                <a:cubicBezTo>
                  <a:pt x="330739" y="509223"/>
                  <a:pt x="337193" y="518275"/>
                  <a:pt x="337193" y="528861"/>
                </a:cubicBezTo>
                <a:cubicBezTo>
                  <a:pt x="337193" y="542976"/>
                  <a:pt x="325669" y="554330"/>
                  <a:pt x="311532" y="554330"/>
                </a:cubicBezTo>
                <a:lnTo>
                  <a:pt x="295552" y="554330"/>
                </a:lnTo>
                <a:lnTo>
                  <a:pt x="295552" y="578111"/>
                </a:lnTo>
                <a:cubicBezTo>
                  <a:pt x="295552" y="594374"/>
                  <a:pt x="284028" y="607568"/>
                  <a:pt x="267587" y="607568"/>
                </a:cubicBezTo>
                <a:lnTo>
                  <a:pt x="267434" y="607568"/>
                </a:lnTo>
                <a:cubicBezTo>
                  <a:pt x="251146" y="607568"/>
                  <a:pt x="236088" y="594374"/>
                  <a:pt x="236088" y="578111"/>
                </a:cubicBezTo>
                <a:lnTo>
                  <a:pt x="236088" y="554330"/>
                </a:lnTo>
                <a:lnTo>
                  <a:pt x="221491" y="554330"/>
                </a:lnTo>
                <a:cubicBezTo>
                  <a:pt x="207355" y="554330"/>
                  <a:pt x="195831" y="542976"/>
                  <a:pt x="195831" y="528861"/>
                </a:cubicBezTo>
                <a:cubicBezTo>
                  <a:pt x="195831" y="518275"/>
                  <a:pt x="202284" y="509223"/>
                  <a:pt x="211350" y="505234"/>
                </a:cubicBezTo>
                <a:lnTo>
                  <a:pt x="189377" y="505234"/>
                </a:lnTo>
                <a:cubicBezTo>
                  <a:pt x="175241" y="505234"/>
                  <a:pt x="163409" y="493881"/>
                  <a:pt x="163409" y="479766"/>
                </a:cubicBezTo>
                <a:cubicBezTo>
                  <a:pt x="163409" y="467645"/>
                  <a:pt x="172629" y="457519"/>
                  <a:pt x="182770" y="454757"/>
                </a:cubicBezTo>
                <a:lnTo>
                  <a:pt x="182770" y="421464"/>
                </a:lnTo>
                <a:cubicBezTo>
                  <a:pt x="129605" y="391240"/>
                  <a:pt x="96570" y="335393"/>
                  <a:pt x="96570" y="273256"/>
                </a:cubicBezTo>
                <a:cubicBezTo>
                  <a:pt x="96570" y="179360"/>
                  <a:pt x="173551" y="102955"/>
                  <a:pt x="267587" y="102955"/>
                </a:cubicBezTo>
                <a:close/>
                <a:moveTo>
                  <a:pt x="139966" y="39746"/>
                </a:moveTo>
                <a:cubicBezTo>
                  <a:pt x="146113" y="41069"/>
                  <a:pt x="151761" y="44751"/>
                  <a:pt x="155450" y="50503"/>
                </a:cubicBezTo>
                <a:lnTo>
                  <a:pt x="167591" y="69371"/>
                </a:lnTo>
                <a:cubicBezTo>
                  <a:pt x="174968" y="80722"/>
                  <a:pt x="171587" y="95909"/>
                  <a:pt x="160214" y="103272"/>
                </a:cubicBezTo>
                <a:cubicBezTo>
                  <a:pt x="156064" y="105879"/>
                  <a:pt x="151454" y="107260"/>
                  <a:pt x="146843" y="107260"/>
                </a:cubicBezTo>
                <a:cubicBezTo>
                  <a:pt x="138851" y="107260"/>
                  <a:pt x="130860" y="103272"/>
                  <a:pt x="126249" y="95909"/>
                </a:cubicBezTo>
                <a:lnTo>
                  <a:pt x="113954" y="77041"/>
                </a:lnTo>
                <a:cubicBezTo>
                  <a:pt x="106731" y="65536"/>
                  <a:pt x="109958" y="50350"/>
                  <a:pt x="121485" y="43140"/>
                </a:cubicBezTo>
                <a:cubicBezTo>
                  <a:pt x="127171" y="39459"/>
                  <a:pt x="133818" y="38423"/>
                  <a:pt x="139966" y="39746"/>
                </a:cubicBezTo>
                <a:close/>
                <a:moveTo>
                  <a:pt x="395557" y="39451"/>
                </a:moveTo>
                <a:cubicBezTo>
                  <a:pt x="401705" y="38109"/>
                  <a:pt x="408352" y="39106"/>
                  <a:pt x="414038" y="42787"/>
                </a:cubicBezTo>
                <a:cubicBezTo>
                  <a:pt x="425411" y="50150"/>
                  <a:pt x="428792" y="65336"/>
                  <a:pt x="421415" y="76688"/>
                </a:cubicBezTo>
                <a:lnTo>
                  <a:pt x="409274" y="95709"/>
                </a:lnTo>
                <a:cubicBezTo>
                  <a:pt x="404510" y="102919"/>
                  <a:pt x="396518" y="106907"/>
                  <a:pt x="388526" y="106907"/>
                </a:cubicBezTo>
                <a:cubicBezTo>
                  <a:pt x="383916" y="106907"/>
                  <a:pt x="379305" y="105680"/>
                  <a:pt x="375156" y="103072"/>
                </a:cubicBezTo>
                <a:cubicBezTo>
                  <a:pt x="363783" y="95709"/>
                  <a:pt x="360555" y="80523"/>
                  <a:pt x="367932" y="69018"/>
                </a:cubicBezTo>
                <a:lnTo>
                  <a:pt x="380073" y="50150"/>
                </a:lnTo>
                <a:cubicBezTo>
                  <a:pt x="383762" y="44475"/>
                  <a:pt x="389410" y="40793"/>
                  <a:pt x="395557" y="39451"/>
                </a:cubicBezTo>
                <a:close/>
                <a:moveTo>
                  <a:pt x="266844" y="0"/>
                </a:moveTo>
                <a:cubicBezTo>
                  <a:pt x="280504" y="0"/>
                  <a:pt x="291401" y="11043"/>
                  <a:pt x="291401" y="24539"/>
                </a:cubicBezTo>
                <a:lnTo>
                  <a:pt x="291401" y="47085"/>
                </a:lnTo>
                <a:cubicBezTo>
                  <a:pt x="291401" y="60581"/>
                  <a:pt x="280504" y="71624"/>
                  <a:pt x="266844" y="71624"/>
                </a:cubicBezTo>
                <a:cubicBezTo>
                  <a:pt x="253337" y="71624"/>
                  <a:pt x="242287" y="60581"/>
                  <a:pt x="242287" y="47085"/>
                </a:cubicBezTo>
                <a:lnTo>
                  <a:pt x="242287" y="24539"/>
                </a:lnTo>
                <a:cubicBezTo>
                  <a:pt x="242287" y="11043"/>
                  <a:pt x="253337" y="0"/>
                  <a:pt x="266844"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150" name="图片 149">
            <a:hlinkClick r:id="" action="ppaction://noaction"/>
          </p:cNvPr>
          <p:cNvPicPr>
            <a:picLocks noChangeAspect="1"/>
          </p:cNvPicPr>
          <p:nvPr>
            <p:custDataLst>
              <p:tags r:id="rId22"/>
            </p:custDataLst>
          </p:nvPr>
        </p:nvPicPr>
        <p:blipFill rotWithShape="1">
          <a:blip r:embed="rId23">
            <a:clrChange>
              <a:clrFrom>
                <a:srgbClr val="FFFFFF">
                  <a:alpha val="100000"/>
                </a:srgbClr>
              </a:clrFrom>
              <a:clrTo>
                <a:srgbClr val="FFFFFF">
                  <a:alpha val="100000"/>
                  <a:alpha val="0"/>
                </a:srgbClr>
              </a:clrTo>
            </a:clrChange>
          </a:blip>
          <a:srcRect l="76016" t="67701" b="1555"/>
          <a:stretch>
            <a:fillRect/>
          </a:stretch>
        </p:blipFill>
        <p:spPr>
          <a:xfrm>
            <a:off x="5489476" y="4493575"/>
            <a:ext cx="745852" cy="521146"/>
          </a:xfrm>
          <a:prstGeom prst="rect">
            <a:avLst/>
          </a:prstGeom>
        </p:spPr>
      </p:pic>
      <p:pic>
        <p:nvPicPr>
          <p:cNvPr id="151" name="object 4"/>
          <p:cNvPicPr/>
          <p:nvPr>
            <p:custDataLst>
              <p:tags r:id="rId24"/>
            </p:custDataLst>
          </p:nvPr>
        </p:nvPicPr>
        <p:blipFill>
          <a:blip r:embed="rId25" cstate="print"/>
          <a:stretch>
            <a:fillRect/>
          </a:stretch>
        </p:blipFill>
        <p:spPr>
          <a:xfrm>
            <a:off x="6251233" y="4408859"/>
            <a:ext cx="454624" cy="645915"/>
          </a:xfrm>
          <a:prstGeom prst="rect">
            <a:avLst/>
          </a:prstGeom>
        </p:spPr>
      </p:pic>
      <p:sp>
        <p:nvSpPr>
          <p:cNvPr id="152" name="矩形 151"/>
          <p:cNvSpPr/>
          <p:nvPr/>
        </p:nvSpPr>
        <p:spPr>
          <a:xfrm>
            <a:off x="5789884" y="5117566"/>
            <a:ext cx="762385" cy="18466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防眩筒灯</a:t>
            </a:r>
            <a:r>
              <a:rPr kumimoji="0" lang="en-US" altLang="zh-CN"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a:t>
            </a: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佳系列</a:t>
            </a:r>
            <a:endPar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sp>
        <p:nvSpPr>
          <p:cNvPr id="153" name="iconfont-10187-1761481"/>
          <p:cNvSpPr/>
          <p:nvPr/>
        </p:nvSpPr>
        <p:spPr>
          <a:xfrm>
            <a:off x="6513079" y="4949569"/>
            <a:ext cx="204019" cy="181329"/>
          </a:xfrm>
          <a:custGeom>
            <a:avLst/>
            <a:gdLst>
              <a:gd name="T0" fmla="*/ 7328 w 11520"/>
              <a:gd name="T1" fmla="*/ 6720 h 10240"/>
              <a:gd name="T2" fmla="*/ 6048 w 11520"/>
              <a:gd name="T3" fmla="*/ 6720 h 10240"/>
              <a:gd name="T4" fmla="*/ 6048 w 11520"/>
              <a:gd name="T5" fmla="*/ 5440 h 10240"/>
              <a:gd name="T6" fmla="*/ 5728 w 11520"/>
              <a:gd name="T7" fmla="*/ 5120 h 10240"/>
              <a:gd name="T8" fmla="*/ 5408 w 11520"/>
              <a:gd name="T9" fmla="*/ 5440 h 10240"/>
              <a:gd name="T10" fmla="*/ 5408 w 11520"/>
              <a:gd name="T11" fmla="*/ 6720 h 10240"/>
              <a:gd name="T12" fmla="*/ 4128 w 11520"/>
              <a:gd name="T13" fmla="*/ 6720 h 10240"/>
              <a:gd name="T14" fmla="*/ 3808 w 11520"/>
              <a:gd name="T15" fmla="*/ 7040 h 10240"/>
              <a:gd name="T16" fmla="*/ 4128 w 11520"/>
              <a:gd name="T17" fmla="*/ 7360 h 10240"/>
              <a:gd name="T18" fmla="*/ 5408 w 11520"/>
              <a:gd name="T19" fmla="*/ 7360 h 10240"/>
              <a:gd name="T20" fmla="*/ 5408 w 11520"/>
              <a:gd name="T21" fmla="*/ 8640 h 10240"/>
              <a:gd name="T22" fmla="*/ 5728 w 11520"/>
              <a:gd name="T23" fmla="*/ 8960 h 10240"/>
              <a:gd name="T24" fmla="*/ 6048 w 11520"/>
              <a:gd name="T25" fmla="*/ 8640 h 10240"/>
              <a:gd name="T26" fmla="*/ 6048 w 11520"/>
              <a:gd name="T27" fmla="*/ 7360 h 10240"/>
              <a:gd name="T28" fmla="*/ 7328 w 11520"/>
              <a:gd name="T29" fmla="*/ 7360 h 10240"/>
              <a:gd name="T30" fmla="*/ 7648 w 11520"/>
              <a:gd name="T31" fmla="*/ 7040 h 10240"/>
              <a:gd name="T32" fmla="*/ 7328 w 11520"/>
              <a:gd name="T33" fmla="*/ 6720 h 10240"/>
              <a:gd name="T34" fmla="*/ 11168 w 11520"/>
              <a:gd name="T35" fmla="*/ 1920 h 10240"/>
              <a:gd name="T36" fmla="*/ 8864 w 11520"/>
              <a:gd name="T37" fmla="*/ 1920 h 10240"/>
              <a:gd name="T38" fmla="*/ 8672 w 11520"/>
              <a:gd name="T39" fmla="*/ 288 h 10240"/>
              <a:gd name="T40" fmla="*/ 8352 w 11520"/>
              <a:gd name="T41" fmla="*/ 0 h 10240"/>
              <a:gd name="T42" fmla="*/ 3136 w 11520"/>
              <a:gd name="T43" fmla="*/ 0 h 10240"/>
              <a:gd name="T44" fmla="*/ 2816 w 11520"/>
              <a:gd name="T45" fmla="*/ 288 h 10240"/>
              <a:gd name="T46" fmla="*/ 2624 w 11520"/>
              <a:gd name="T47" fmla="*/ 1920 h 10240"/>
              <a:gd name="T48" fmla="*/ 320 w 11520"/>
              <a:gd name="T49" fmla="*/ 1920 h 10240"/>
              <a:gd name="T50" fmla="*/ 0 w 11520"/>
              <a:gd name="T51" fmla="*/ 2240 h 10240"/>
              <a:gd name="T52" fmla="*/ 0 w 11520"/>
              <a:gd name="T53" fmla="*/ 9920 h 10240"/>
              <a:gd name="T54" fmla="*/ 320 w 11520"/>
              <a:gd name="T55" fmla="*/ 10240 h 10240"/>
              <a:gd name="T56" fmla="*/ 11200 w 11520"/>
              <a:gd name="T57" fmla="*/ 10240 h 10240"/>
              <a:gd name="T58" fmla="*/ 11520 w 11520"/>
              <a:gd name="T59" fmla="*/ 9920 h 10240"/>
              <a:gd name="T60" fmla="*/ 11520 w 11520"/>
              <a:gd name="T61" fmla="*/ 2240 h 10240"/>
              <a:gd name="T62" fmla="*/ 11168 w 11520"/>
              <a:gd name="T63" fmla="*/ 1920 h 10240"/>
              <a:gd name="T64" fmla="*/ 3424 w 11520"/>
              <a:gd name="T65" fmla="*/ 640 h 10240"/>
              <a:gd name="T66" fmla="*/ 8064 w 11520"/>
              <a:gd name="T67" fmla="*/ 640 h 10240"/>
              <a:gd name="T68" fmla="*/ 8224 w 11520"/>
              <a:gd name="T69" fmla="*/ 1920 h 10240"/>
              <a:gd name="T70" fmla="*/ 3264 w 11520"/>
              <a:gd name="T71" fmla="*/ 1920 h 10240"/>
              <a:gd name="T72" fmla="*/ 3424 w 11520"/>
              <a:gd name="T73" fmla="*/ 640 h 10240"/>
              <a:gd name="T74" fmla="*/ 608 w 11520"/>
              <a:gd name="T75" fmla="*/ 2560 h 10240"/>
              <a:gd name="T76" fmla="*/ 10848 w 11520"/>
              <a:gd name="T77" fmla="*/ 2560 h 10240"/>
              <a:gd name="T78" fmla="*/ 10848 w 11520"/>
              <a:gd name="T79" fmla="*/ 3840 h 10240"/>
              <a:gd name="T80" fmla="*/ 9248 w 11520"/>
              <a:gd name="T81" fmla="*/ 3840 h 10240"/>
              <a:gd name="T82" fmla="*/ 9248 w 11520"/>
              <a:gd name="T83" fmla="*/ 3520 h 10240"/>
              <a:gd name="T84" fmla="*/ 8928 w 11520"/>
              <a:gd name="T85" fmla="*/ 3200 h 10240"/>
              <a:gd name="T86" fmla="*/ 8608 w 11520"/>
              <a:gd name="T87" fmla="*/ 3520 h 10240"/>
              <a:gd name="T88" fmla="*/ 8608 w 11520"/>
              <a:gd name="T89" fmla="*/ 3840 h 10240"/>
              <a:gd name="T90" fmla="*/ 2848 w 11520"/>
              <a:gd name="T91" fmla="*/ 3840 h 10240"/>
              <a:gd name="T92" fmla="*/ 2848 w 11520"/>
              <a:gd name="T93" fmla="*/ 3520 h 10240"/>
              <a:gd name="T94" fmla="*/ 2528 w 11520"/>
              <a:gd name="T95" fmla="*/ 3200 h 10240"/>
              <a:gd name="T96" fmla="*/ 2208 w 11520"/>
              <a:gd name="T97" fmla="*/ 3520 h 10240"/>
              <a:gd name="T98" fmla="*/ 2208 w 11520"/>
              <a:gd name="T99" fmla="*/ 3840 h 10240"/>
              <a:gd name="T100" fmla="*/ 608 w 11520"/>
              <a:gd name="T101" fmla="*/ 3840 h 10240"/>
              <a:gd name="T102" fmla="*/ 608 w 11520"/>
              <a:gd name="T103" fmla="*/ 2560 h 10240"/>
              <a:gd name="T104" fmla="*/ 10848 w 11520"/>
              <a:gd name="T105" fmla="*/ 9600 h 10240"/>
              <a:gd name="T106" fmla="*/ 608 w 11520"/>
              <a:gd name="T107" fmla="*/ 9600 h 10240"/>
              <a:gd name="T108" fmla="*/ 608 w 11520"/>
              <a:gd name="T109" fmla="*/ 4480 h 10240"/>
              <a:gd name="T110" fmla="*/ 10848 w 11520"/>
              <a:gd name="T111" fmla="*/ 4480 h 10240"/>
              <a:gd name="T112" fmla="*/ 10848 w 11520"/>
              <a:gd name="T113" fmla="*/ 9600 h 10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520" h="10240">
                <a:moveTo>
                  <a:pt x="7328" y="6720"/>
                </a:moveTo>
                <a:lnTo>
                  <a:pt x="6048" y="6720"/>
                </a:lnTo>
                <a:lnTo>
                  <a:pt x="6048" y="5440"/>
                </a:lnTo>
                <a:cubicBezTo>
                  <a:pt x="6048" y="5280"/>
                  <a:pt x="5888" y="5120"/>
                  <a:pt x="5728" y="5120"/>
                </a:cubicBezTo>
                <a:cubicBezTo>
                  <a:pt x="5568" y="5120"/>
                  <a:pt x="5408" y="5280"/>
                  <a:pt x="5408" y="5440"/>
                </a:cubicBezTo>
                <a:lnTo>
                  <a:pt x="5408" y="6720"/>
                </a:lnTo>
                <a:lnTo>
                  <a:pt x="4128" y="6720"/>
                </a:lnTo>
                <a:cubicBezTo>
                  <a:pt x="3968" y="6720"/>
                  <a:pt x="3808" y="6880"/>
                  <a:pt x="3808" y="7040"/>
                </a:cubicBezTo>
                <a:cubicBezTo>
                  <a:pt x="3808" y="7200"/>
                  <a:pt x="3968" y="7360"/>
                  <a:pt x="4128" y="7360"/>
                </a:cubicBezTo>
                <a:lnTo>
                  <a:pt x="5408" y="7360"/>
                </a:lnTo>
                <a:lnTo>
                  <a:pt x="5408" y="8640"/>
                </a:lnTo>
                <a:cubicBezTo>
                  <a:pt x="5408" y="8800"/>
                  <a:pt x="5568" y="8960"/>
                  <a:pt x="5728" y="8960"/>
                </a:cubicBezTo>
                <a:cubicBezTo>
                  <a:pt x="5888" y="8960"/>
                  <a:pt x="6048" y="8800"/>
                  <a:pt x="6048" y="8640"/>
                </a:cubicBezTo>
                <a:lnTo>
                  <a:pt x="6048" y="7360"/>
                </a:lnTo>
                <a:lnTo>
                  <a:pt x="7328" y="7360"/>
                </a:lnTo>
                <a:cubicBezTo>
                  <a:pt x="7488" y="7360"/>
                  <a:pt x="7648" y="7200"/>
                  <a:pt x="7648" y="7040"/>
                </a:cubicBezTo>
                <a:cubicBezTo>
                  <a:pt x="7648" y="6880"/>
                  <a:pt x="7488" y="6720"/>
                  <a:pt x="7328" y="6720"/>
                </a:cubicBezTo>
                <a:close/>
                <a:moveTo>
                  <a:pt x="11168" y="1920"/>
                </a:moveTo>
                <a:lnTo>
                  <a:pt x="8864" y="1920"/>
                </a:lnTo>
                <a:lnTo>
                  <a:pt x="8672" y="288"/>
                </a:lnTo>
                <a:cubicBezTo>
                  <a:pt x="8640" y="128"/>
                  <a:pt x="8512" y="0"/>
                  <a:pt x="8352" y="0"/>
                </a:cubicBezTo>
                <a:lnTo>
                  <a:pt x="3136" y="0"/>
                </a:lnTo>
                <a:cubicBezTo>
                  <a:pt x="2976" y="0"/>
                  <a:pt x="2848" y="128"/>
                  <a:pt x="2816" y="288"/>
                </a:cubicBezTo>
                <a:lnTo>
                  <a:pt x="2624" y="1920"/>
                </a:lnTo>
                <a:lnTo>
                  <a:pt x="320" y="1920"/>
                </a:lnTo>
                <a:cubicBezTo>
                  <a:pt x="160" y="1920"/>
                  <a:pt x="0" y="2080"/>
                  <a:pt x="0" y="2240"/>
                </a:cubicBezTo>
                <a:lnTo>
                  <a:pt x="0" y="9920"/>
                </a:lnTo>
                <a:cubicBezTo>
                  <a:pt x="0" y="10080"/>
                  <a:pt x="160" y="10240"/>
                  <a:pt x="320" y="10240"/>
                </a:cubicBezTo>
                <a:lnTo>
                  <a:pt x="11200" y="10240"/>
                </a:lnTo>
                <a:cubicBezTo>
                  <a:pt x="11360" y="10240"/>
                  <a:pt x="11520" y="10080"/>
                  <a:pt x="11520" y="9920"/>
                </a:cubicBezTo>
                <a:lnTo>
                  <a:pt x="11520" y="2240"/>
                </a:lnTo>
                <a:cubicBezTo>
                  <a:pt x="11488" y="2080"/>
                  <a:pt x="11328" y="1920"/>
                  <a:pt x="11168" y="1920"/>
                </a:cubicBezTo>
                <a:close/>
                <a:moveTo>
                  <a:pt x="3424" y="640"/>
                </a:moveTo>
                <a:lnTo>
                  <a:pt x="8064" y="640"/>
                </a:lnTo>
                <a:lnTo>
                  <a:pt x="8224" y="1920"/>
                </a:lnTo>
                <a:lnTo>
                  <a:pt x="3264" y="1920"/>
                </a:lnTo>
                <a:lnTo>
                  <a:pt x="3424" y="640"/>
                </a:lnTo>
                <a:close/>
                <a:moveTo>
                  <a:pt x="608" y="2560"/>
                </a:moveTo>
                <a:lnTo>
                  <a:pt x="10848" y="2560"/>
                </a:lnTo>
                <a:lnTo>
                  <a:pt x="10848" y="3840"/>
                </a:lnTo>
                <a:lnTo>
                  <a:pt x="9248" y="3840"/>
                </a:lnTo>
                <a:lnTo>
                  <a:pt x="9248" y="3520"/>
                </a:lnTo>
                <a:cubicBezTo>
                  <a:pt x="9248" y="3360"/>
                  <a:pt x="9088" y="3200"/>
                  <a:pt x="8928" y="3200"/>
                </a:cubicBezTo>
                <a:cubicBezTo>
                  <a:pt x="8768" y="3200"/>
                  <a:pt x="8608" y="3360"/>
                  <a:pt x="8608" y="3520"/>
                </a:cubicBezTo>
                <a:lnTo>
                  <a:pt x="8608" y="3840"/>
                </a:lnTo>
                <a:lnTo>
                  <a:pt x="2848" y="3840"/>
                </a:lnTo>
                <a:lnTo>
                  <a:pt x="2848" y="3520"/>
                </a:lnTo>
                <a:cubicBezTo>
                  <a:pt x="2848" y="3360"/>
                  <a:pt x="2688" y="3200"/>
                  <a:pt x="2528" y="3200"/>
                </a:cubicBezTo>
                <a:cubicBezTo>
                  <a:pt x="2368" y="3200"/>
                  <a:pt x="2208" y="3360"/>
                  <a:pt x="2208" y="3520"/>
                </a:cubicBezTo>
                <a:lnTo>
                  <a:pt x="2208" y="3840"/>
                </a:lnTo>
                <a:lnTo>
                  <a:pt x="608" y="3840"/>
                </a:lnTo>
                <a:lnTo>
                  <a:pt x="608" y="2560"/>
                </a:lnTo>
                <a:close/>
                <a:moveTo>
                  <a:pt x="10848" y="9600"/>
                </a:moveTo>
                <a:lnTo>
                  <a:pt x="608" y="9600"/>
                </a:lnTo>
                <a:lnTo>
                  <a:pt x="608" y="4480"/>
                </a:lnTo>
                <a:lnTo>
                  <a:pt x="10848" y="4480"/>
                </a:lnTo>
                <a:lnTo>
                  <a:pt x="10848" y="96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54" name="iconfont-10187-1761481"/>
          <p:cNvSpPr/>
          <p:nvPr/>
        </p:nvSpPr>
        <p:spPr>
          <a:xfrm>
            <a:off x="6240867" y="1648743"/>
            <a:ext cx="204019" cy="181329"/>
          </a:xfrm>
          <a:custGeom>
            <a:avLst/>
            <a:gdLst>
              <a:gd name="T0" fmla="*/ 7328 w 11520"/>
              <a:gd name="T1" fmla="*/ 6720 h 10240"/>
              <a:gd name="T2" fmla="*/ 6048 w 11520"/>
              <a:gd name="T3" fmla="*/ 6720 h 10240"/>
              <a:gd name="T4" fmla="*/ 6048 w 11520"/>
              <a:gd name="T5" fmla="*/ 5440 h 10240"/>
              <a:gd name="T6" fmla="*/ 5728 w 11520"/>
              <a:gd name="T7" fmla="*/ 5120 h 10240"/>
              <a:gd name="T8" fmla="*/ 5408 w 11520"/>
              <a:gd name="T9" fmla="*/ 5440 h 10240"/>
              <a:gd name="T10" fmla="*/ 5408 w 11520"/>
              <a:gd name="T11" fmla="*/ 6720 h 10240"/>
              <a:gd name="T12" fmla="*/ 4128 w 11520"/>
              <a:gd name="T13" fmla="*/ 6720 h 10240"/>
              <a:gd name="T14" fmla="*/ 3808 w 11520"/>
              <a:gd name="T15" fmla="*/ 7040 h 10240"/>
              <a:gd name="T16" fmla="*/ 4128 w 11520"/>
              <a:gd name="T17" fmla="*/ 7360 h 10240"/>
              <a:gd name="T18" fmla="*/ 5408 w 11520"/>
              <a:gd name="T19" fmla="*/ 7360 h 10240"/>
              <a:gd name="T20" fmla="*/ 5408 w 11520"/>
              <a:gd name="T21" fmla="*/ 8640 h 10240"/>
              <a:gd name="T22" fmla="*/ 5728 w 11520"/>
              <a:gd name="T23" fmla="*/ 8960 h 10240"/>
              <a:gd name="T24" fmla="*/ 6048 w 11520"/>
              <a:gd name="T25" fmla="*/ 8640 h 10240"/>
              <a:gd name="T26" fmla="*/ 6048 w 11520"/>
              <a:gd name="T27" fmla="*/ 7360 h 10240"/>
              <a:gd name="T28" fmla="*/ 7328 w 11520"/>
              <a:gd name="T29" fmla="*/ 7360 h 10240"/>
              <a:gd name="T30" fmla="*/ 7648 w 11520"/>
              <a:gd name="T31" fmla="*/ 7040 h 10240"/>
              <a:gd name="T32" fmla="*/ 7328 w 11520"/>
              <a:gd name="T33" fmla="*/ 6720 h 10240"/>
              <a:gd name="T34" fmla="*/ 11168 w 11520"/>
              <a:gd name="T35" fmla="*/ 1920 h 10240"/>
              <a:gd name="T36" fmla="*/ 8864 w 11520"/>
              <a:gd name="T37" fmla="*/ 1920 h 10240"/>
              <a:gd name="T38" fmla="*/ 8672 w 11520"/>
              <a:gd name="T39" fmla="*/ 288 h 10240"/>
              <a:gd name="T40" fmla="*/ 8352 w 11520"/>
              <a:gd name="T41" fmla="*/ 0 h 10240"/>
              <a:gd name="T42" fmla="*/ 3136 w 11520"/>
              <a:gd name="T43" fmla="*/ 0 h 10240"/>
              <a:gd name="T44" fmla="*/ 2816 w 11520"/>
              <a:gd name="T45" fmla="*/ 288 h 10240"/>
              <a:gd name="T46" fmla="*/ 2624 w 11520"/>
              <a:gd name="T47" fmla="*/ 1920 h 10240"/>
              <a:gd name="T48" fmla="*/ 320 w 11520"/>
              <a:gd name="T49" fmla="*/ 1920 h 10240"/>
              <a:gd name="T50" fmla="*/ 0 w 11520"/>
              <a:gd name="T51" fmla="*/ 2240 h 10240"/>
              <a:gd name="T52" fmla="*/ 0 w 11520"/>
              <a:gd name="T53" fmla="*/ 9920 h 10240"/>
              <a:gd name="T54" fmla="*/ 320 w 11520"/>
              <a:gd name="T55" fmla="*/ 10240 h 10240"/>
              <a:gd name="T56" fmla="*/ 11200 w 11520"/>
              <a:gd name="T57" fmla="*/ 10240 h 10240"/>
              <a:gd name="T58" fmla="*/ 11520 w 11520"/>
              <a:gd name="T59" fmla="*/ 9920 h 10240"/>
              <a:gd name="T60" fmla="*/ 11520 w 11520"/>
              <a:gd name="T61" fmla="*/ 2240 h 10240"/>
              <a:gd name="T62" fmla="*/ 11168 w 11520"/>
              <a:gd name="T63" fmla="*/ 1920 h 10240"/>
              <a:gd name="T64" fmla="*/ 3424 w 11520"/>
              <a:gd name="T65" fmla="*/ 640 h 10240"/>
              <a:gd name="T66" fmla="*/ 8064 w 11520"/>
              <a:gd name="T67" fmla="*/ 640 h 10240"/>
              <a:gd name="T68" fmla="*/ 8224 w 11520"/>
              <a:gd name="T69" fmla="*/ 1920 h 10240"/>
              <a:gd name="T70" fmla="*/ 3264 w 11520"/>
              <a:gd name="T71" fmla="*/ 1920 h 10240"/>
              <a:gd name="T72" fmla="*/ 3424 w 11520"/>
              <a:gd name="T73" fmla="*/ 640 h 10240"/>
              <a:gd name="T74" fmla="*/ 608 w 11520"/>
              <a:gd name="T75" fmla="*/ 2560 h 10240"/>
              <a:gd name="T76" fmla="*/ 10848 w 11520"/>
              <a:gd name="T77" fmla="*/ 2560 h 10240"/>
              <a:gd name="T78" fmla="*/ 10848 w 11520"/>
              <a:gd name="T79" fmla="*/ 3840 h 10240"/>
              <a:gd name="T80" fmla="*/ 9248 w 11520"/>
              <a:gd name="T81" fmla="*/ 3840 h 10240"/>
              <a:gd name="T82" fmla="*/ 9248 w 11520"/>
              <a:gd name="T83" fmla="*/ 3520 h 10240"/>
              <a:gd name="T84" fmla="*/ 8928 w 11520"/>
              <a:gd name="T85" fmla="*/ 3200 h 10240"/>
              <a:gd name="T86" fmla="*/ 8608 w 11520"/>
              <a:gd name="T87" fmla="*/ 3520 h 10240"/>
              <a:gd name="T88" fmla="*/ 8608 w 11520"/>
              <a:gd name="T89" fmla="*/ 3840 h 10240"/>
              <a:gd name="T90" fmla="*/ 2848 w 11520"/>
              <a:gd name="T91" fmla="*/ 3840 h 10240"/>
              <a:gd name="T92" fmla="*/ 2848 w 11520"/>
              <a:gd name="T93" fmla="*/ 3520 h 10240"/>
              <a:gd name="T94" fmla="*/ 2528 w 11520"/>
              <a:gd name="T95" fmla="*/ 3200 h 10240"/>
              <a:gd name="T96" fmla="*/ 2208 w 11520"/>
              <a:gd name="T97" fmla="*/ 3520 h 10240"/>
              <a:gd name="T98" fmla="*/ 2208 w 11520"/>
              <a:gd name="T99" fmla="*/ 3840 h 10240"/>
              <a:gd name="T100" fmla="*/ 608 w 11520"/>
              <a:gd name="T101" fmla="*/ 3840 h 10240"/>
              <a:gd name="T102" fmla="*/ 608 w 11520"/>
              <a:gd name="T103" fmla="*/ 2560 h 10240"/>
              <a:gd name="T104" fmla="*/ 10848 w 11520"/>
              <a:gd name="T105" fmla="*/ 9600 h 10240"/>
              <a:gd name="T106" fmla="*/ 608 w 11520"/>
              <a:gd name="T107" fmla="*/ 9600 h 10240"/>
              <a:gd name="T108" fmla="*/ 608 w 11520"/>
              <a:gd name="T109" fmla="*/ 4480 h 10240"/>
              <a:gd name="T110" fmla="*/ 10848 w 11520"/>
              <a:gd name="T111" fmla="*/ 4480 h 10240"/>
              <a:gd name="T112" fmla="*/ 10848 w 11520"/>
              <a:gd name="T113" fmla="*/ 9600 h 10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520" h="10240">
                <a:moveTo>
                  <a:pt x="7328" y="6720"/>
                </a:moveTo>
                <a:lnTo>
                  <a:pt x="6048" y="6720"/>
                </a:lnTo>
                <a:lnTo>
                  <a:pt x="6048" y="5440"/>
                </a:lnTo>
                <a:cubicBezTo>
                  <a:pt x="6048" y="5280"/>
                  <a:pt x="5888" y="5120"/>
                  <a:pt x="5728" y="5120"/>
                </a:cubicBezTo>
                <a:cubicBezTo>
                  <a:pt x="5568" y="5120"/>
                  <a:pt x="5408" y="5280"/>
                  <a:pt x="5408" y="5440"/>
                </a:cubicBezTo>
                <a:lnTo>
                  <a:pt x="5408" y="6720"/>
                </a:lnTo>
                <a:lnTo>
                  <a:pt x="4128" y="6720"/>
                </a:lnTo>
                <a:cubicBezTo>
                  <a:pt x="3968" y="6720"/>
                  <a:pt x="3808" y="6880"/>
                  <a:pt x="3808" y="7040"/>
                </a:cubicBezTo>
                <a:cubicBezTo>
                  <a:pt x="3808" y="7200"/>
                  <a:pt x="3968" y="7360"/>
                  <a:pt x="4128" y="7360"/>
                </a:cubicBezTo>
                <a:lnTo>
                  <a:pt x="5408" y="7360"/>
                </a:lnTo>
                <a:lnTo>
                  <a:pt x="5408" y="8640"/>
                </a:lnTo>
                <a:cubicBezTo>
                  <a:pt x="5408" y="8800"/>
                  <a:pt x="5568" y="8960"/>
                  <a:pt x="5728" y="8960"/>
                </a:cubicBezTo>
                <a:cubicBezTo>
                  <a:pt x="5888" y="8960"/>
                  <a:pt x="6048" y="8800"/>
                  <a:pt x="6048" y="8640"/>
                </a:cubicBezTo>
                <a:lnTo>
                  <a:pt x="6048" y="7360"/>
                </a:lnTo>
                <a:lnTo>
                  <a:pt x="7328" y="7360"/>
                </a:lnTo>
                <a:cubicBezTo>
                  <a:pt x="7488" y="7360"/>
                  <a:pt x="7648" y="7200"/>
                  <a:pt x="7648" y="7040"/>
                </a:cubicBezTo>
                <a:cubicBezTo>
                  <a:pt x="7648" y="6880"/>
                  <a:pt x="7488" y="6720"/>
                  <a:pt x="7328" y="6720"/>
                </a:cubicBezTo>
                <a:close/>
                <a:moveTo>
                  <a:pt x="11168" y="1920"/>
                </a:moveTo>
                <a:lnTo>
                  <a:pt x="8864" y="1920"/>
                </a:lnTo>
                <a:lnTo>
                  <a:pt x="8672" y="288"/>
                </a:lnTo>
                <a:cubicBezTo>
                  <a:pt x="8640" y="128"/>
                  <a:pt x="8512" y="0"/>
                  <a:pt x="8352" y="0"/>
                </a:cubicBezTo>
                <a:lnTo>
                  <a:pt x="3136" y="0"/>
                </a:lnTo>
                <a:cubicBezTo>
                  <a:pt x="2976" y="0"/>
                  <a:pt x="2848" y="128"/>
                  <a:pt x="2816" y="288"/>
                </a:cubicBezTo>
                <a:lnTo>
                  <a:pt x="2624" y="1920"/>
                </a:lnTo>
                <a:lnTo>
                  <a:pt x="320" y="1920"/>
                </a:lnTo>
                <a:cubicBezTo>
                  <a:pt x="160" y="1920"/>
                  <a:pt x="0" y="2080"/>
                  <a:pt x="0" y="2240"/>
                </a:cubicBezTo>
                <a:lnTo>
                  <a:pt x="0" y="9920"/>
                </a:lnTo>
                <a:cubicBezTo>
                  <a:pt x="0" y="10080"/>
                  <a:pt x="160" y="10240"/>
                  <a:pt x="320" y="10240"/>
                </a:cubicBezTo>
                <a:lnTo>
                  <a:pt x="11200" y="10240"/>
                </a:lnTo>
                <a:cubicBezTo>
                  <a:pt x="11360" y="10240"/>
                  <a:pt x="11520" y="10080"/>
                  <a:pt x="11520" y="9920"/>
                </a:cubicBezTo>
                <a:lnTo>
                  <a:pt x="11520" y="2240"/>
                </a:lnTo>
                <a:cubicBezTo>
                  <a:pt x="11488" y="2080"/>
                  <a:pt x="11328" y="1920"/>
                  <a:pt x="11168" y="1920"/>
                </a:cubicBezTo>
                <a:close/>
                <a:moveTo>
                  <a:pt x="3424" y="640"/>
                </a:moveTo>
                <a:lnTo>
                  <a:pt x="8064" y="640"/>
                </a:lnTo>
                <a:lnTo>
                  <a:pt x="8224" y="1920"/>
                </a:lnTo>
                <a:lnTo>
                  <a:pt x="3264" y="1920"/>
                </a:lnTo>
                <a:lnTo>
                  <a:pt x="3424" y="640"/>
                </a:lnTo>
                <a:close/>
                <a:moveTo>
                  <a:pt x="608" y="2560"/>
                </a:moveTo>
                <a:lnTo>
                  <a:pt x="10848" y="2560"/>
                </a:lnTo>
                <a:lnTo>
                  <a:pt x="10848" y="3840"/>
                </a:lnTo>
                <a:lnTo>
                  <a:pt x="9248" y="3840"/>
                </a:lnTo>
                <a:lnTo>
                  <a:pt x="9248" y="3520"/>
                </a:lnTo>
                <a:cubicBezTo>
                  <a:pt x="9248" y="3360"/>
                  <a:pt x="9088" y="3200"/>
                  <a:pt x="8928" y="3200"/>
                </a:cubicBezTo>
                <a:cubicBezTo>
                  <a:pt x="8768" y="3200"/>
                  <a:pt x="8608" y="3360"/>
                  <a:pt x="8608" y="3520"/>
                </a:cubicBezTo>
                <a:lnTo>
                  <a:pt x="8608" y="3840"/>
                </a:lnTo>
                <a:lnTo>
                  <a:pt x="2848" y="3840"/>
                </a:lnTo>
                <a:lnTo>
                  <a:pt x="2848" y="3520"/>
                </a:lnTo>
                <a:cubicBezTo>
                  <a:pt x="2848" y="3360"/>
                  <a:pt x="2688" y="3200"/>
                  <a:pt x="2528" y="3200"/>
                </a:cubicBezTo>
                <a:cubicBezTo>
                  <a:pt x="2368" y="3200"/>
                  <a:pt x="2208" y="3360"/>
                  <a:pt x="2208" y="3520"/>
                </a:cubicBezTo>
                <a:lnTo>
                  <a:pt x="2208" y="3840"/>
                </a:lnTo>
                <a:lnTo>
                  <a:pt x="608" y="3840"/>
                </a:lnTo>
                <a:lnTo>
                  <a:pt x="608" y="2560"/>
                </a:lnTo>
                <a:close/>
                <a:moveTo>
                  <a:pt x="10848" y="9600"/>
                </a:moveTo>
                <a:lnTo>
                  <a:pt x="608" y="9600"/>
                </a:lnTo>
                <a:lnTo>
                  <a:pt x="608" y="4480"/>
                </a:lnTo>
                <a:lnTo>
                  <a:pt x="10848" y="4480"/>
                </a:lnTo>
                <a:lnTo>
                  <a:pt x="10848" y="96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55" name="文本框 154"/>
          <p:cNvSpPr txBox="1"/>
          <p:nvPr/>
        </p:nvSpPr>
        <p:spPr>
          <a:xfrm>
            <a:off x="8340612" y="1145605"/>
            <a:ext cx="369048"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700" b="0" i="0" u="none" strike="noStrike" kern="1200" cap="none" spc="0" normalizeH="0" baseline="0" noProof="0" dirty="0">
                <a:ln>
                  <a:noFill/>
                </a:ln>
                <a:solidFill>
                  <a:srgbClr val="44546A"/>
                </a:solidFill>
                <a:effectLst/>
                <a:uLnTx/>
                <a:uFillTx/>
                <a:latin typeface="Arial" panose="020B0604020202020204"/>
                <a:ea typeface="黑体" panose="02010609060101010101" charset="-122"/>
                <a:cs typeface="+mn-cs"/>
              </a:rPr>
              <a:t>超薄</a:t>
            </a:r>
            <a:r>
              <a:rPr kumimoji="0" lang="en-US" sz="700" b="0" i="0" u="none" strike="noStrike" kern="1200" cap="none" spc="0" normalizeH="0" baseline="0" noProof="0" dirty="0">
                <a:ln>
                  <a:noFill/>
                </a:ln>
                <a:solidFill>
                  <a:srgbClr val="44546A"/>
                </a:solidFill>
                <a:effectLst/>
                <a:uLnTx/>
                <a:uFillTx/>
                <a:latin typeface="Arial" panose="020B0604020202020204"/>
                <a:ea typeface="+mn-ea"/>
                <a:cs typeface="+mn-cs"/>
              </a:rPr>
              <a:t>IP65</a:t>
            </a:r>
            <a:endParaRPr kumimoji="0" lang="en-US" sz="700" b="0" i="0" u="none" strike="noStrike" kern="1200" cap="none" spc="0" normalizeH="0" baseline="0" noProof="0" dirty="0">
              <a:ln>
                <a:noFill/>
              </a:ln>
              <a:solidFill>
                <a:srgbClr val="44546A"/>
              </a:solidFill>
              <a:effectLst/>
              <a:uLnTx/>
              <a:uFillTx/>
              <a:latin typeface="Arial" panose="020B0604020202020204"/>
              <a:ea typeface="+mn-ea"/>
              <a:cs typeface="+mn-cs"/>
            </a:endParaRPr>
          </a:p>
        </p:txBody>
      </p:sp>
      <p:sp>
        <p:nvSpPr>
          <p:cNvPr id="157" name="文本框 156"/>
          <p:cNvSpPr txBox="1"/>
          <p:nvPr/>
        </p:nvSpPr>
        <p:spPr>
          <a:xfrm>
            <a:off x="8340612" y="2127815"/>
            <a:ext cx="369048"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700" b="0" i="0" u="none" strike="noStrike" kern="1200" cap="none" spc="0" normalizeH="0" baseline="0" noProof="0" dirty="0">
                <a:ln>
                  <a:noFill/>
                </a:ln>
                <a:solidFill>
                  <a:srgbClr val="44546A"/>
                </a:solidFill>
                <a:effectLst/>
                <a:uLnTx/>
                <a:uFillTx/>
                <a:latin typeface="Arial" panose="020B0604020202020204"/>
                <a:ea typeface="黑体" panose="02010609060101010101" charset="-122"/>
                <a:cs typeface="+mn-cs"/>
              </a:rPr>
              <a:t>超薄</a:t>
            </a:r>
            <a:r>
              <a:rPr kumimoji="0" lang="en-US" sz="700" b="0" i="0" u="none" strike="noStrike" kern="1200" cap="none" spc="0" normalizeH="0" baseline="0" noProof="0" dirty="0">
                <a:ln>
                  <a:noFill/>
                </a:ln>
                <a:solidFill>
                  <a:srgbClr val="44546A"/>
                </a:solidFill>
                <a:effectLst/>
                <a:uLnTx/>
                <a:uFillTx/>
                <a:latin typeface="Arial" panose="020B0604020202020204"/>
                <a:ea typeface="+mn-ea"/>
                <a:cs typeface="+mn-cs"/>
              </a:rPr>
              <a:t>IP54</a:t>
            </a:r>
            <a:endParaRPr kumimoji="0" lang="en-US" sz="700" b="0" i="0" u="none" strike="noStrike" kern="1200" cap="none" spc="0" normalizeH="0" baseline="0" noProof="0" dirty="0">
              <a:ln>
                <a:noFill/>
              </a:ln>
              <a:solidFill>
                <a:srgbClr val="44546A"/>
              </a:solidFill>
              <a:effectLst/>
              <a:uLnTx/>
              <a:uFillTx/>
              <a:latin typeface="Arial" panose="020B0604020202020204"/>
              <a:ea typeface="+mn-ea"/>
              <a:cs typeface="+mn-cs"/>
            </a:endParaRPr>
          </a:p>
        </p:txBody>
      </p:sp>
      <p:sp>
        <p:nvSpPr>
          <p:cNvPr id="158" name="light-bulb_99723"/>
          <p:cNvSpPr/>
          <p:nvPr/>
        </p:nvSpPr>
        <p:spPr>
          <a:xfrm>
            <a:off x="7717382" y="1650613"/>
            <a:ext cx="219876" cy="249325"/>
          </a:xfrm>
          <a:custGeom>
            <a:avLst/>
            <a:gdLst>
              <a:gd name="connsiteX0" fmla="*/ 43428 w 535805"/>
              <a:gd name="connsiteY0" fmla="*/ 277681 h 607568"/>
              <a:gd name="connsiteX1" fmla="*/ 71228 w 535805"/>
              <a:gd name="connsiteY1" fmla="*/ 298542 h 607568"/>
              <a:gd name="connsiteX2" fmla="*/ 50339 w 535805"/>
              <a:gd name="connsiteY2" fmla="*/ 326306 h 607568"/>
              <a:gd name="connsiteX3" fmla="*/ 28068 w 535805"/>
              <a:gd name="connsiteY3" fmla="*/ 329528 h 607568"/>
              <a:gd name="connsiteX4" fmla="*/ 24536 w 535805"/>
              <a:gd name="connsiteY4" fmla="*/ 329681 h 607568"/>
              <a:gd name="connsiteX5" fmla="*/ 268 w 535805"/>
              <a:gd name="connsiteY5" fmla="*/ 308666 h 607568"/>
              <a:gd name="connsiteX6" fmla="*/ 21157 w 535805"/>
              <a:gd name="connsiteY6" fmla="*/ 280902 h 607568"/>
              <a:gd name="connsiteX7" fmla="*/ 492377 w 535805"/>
              <a:gd name="connsiteY7" fmla="*/ 277411 h 607568"/>
              <a:gd name="connsiteX8" fmla="*/ 514802 w 535805"/>
              <a:gd name="connsiteY8" fmla="*/ 280631 h 607568"/>
              <a:gd name="connsiteX9" fmla="*/ 535537 w 535805"/>
              <a:gd name="connsiteY9" fmla="*/ 308390 h 607568"/>
              <a:gd name="connsiteX10" fmla="*/ 511269 w 535805"/>
              <a:gd name="connsiteY10" fmla="*/ 329400 h 607568"/>
              <a:gd name="connsiteX11" fmla="*/ 507737 w 535805"/>
              <a:gd name="connsiteY11" fmla="*/ 329093 h 607568"/>
              <a:gd name="connsiteX12" fmla="*/ 485466 w 535805"/>
              <a:gd name="connsiteY12" fmla="*/ 325873 h 607568"/>
              <a:gd name="connsiteX13" fmla="*/ 464577 w 535805"/>
              <a:gd name="connsiteY13" fmla="*/ 298114 h 607568"/>
              <a:gd name="connsiteX14" fmla="*/ 492377 w 535805"/>
              <a:gd name="connsiteY14" fmla="*/ 277411 h 607568"/>
              <a:gd name="connsiteX15" fmla="*/ 240083 w 535805"/>
              <a:gd name="connsiteY15" fmla="*/ 265892 h 607568"/>
              <a:gd name="connsiteX16" fmla="*/ 267126 w 535805"/>
              <a:gd name="connsiteY16" fmla="*/ 350889 h 607568"/>
              <a:gd name="connsiteX17" fmla="*/ 292633 w 535805"/>
              <a:gd name="connsiteY17" fmla="*/ 265892 h 607568"/>
              <a:gd name="connsiteX18" fmla="*/ 35560 w 535805"/>
              <a:gd name="connsiteY18" fmla="*/ 145308 h 607568"/>
              <a:gd name="connsiteX19" fmla="*/ 54335 w 535805"/>
              <a:gd name="connsiteY19" fmla="*/ 146037 h 607568"/>
              <a:gd name="connsiteX20" fmla="*/ 74937 w 535805"/>
              <a:gd name="connsiteY20" fmla="*/ 155251 h 607568"/>
              <a:gd name="connsiteX21" fmla="*/ 87082 w 535805"/>
              <a:gd name="connsiteY21" fmla="*/ 187806 h 607568"/>
              <a:gd name="connsiteX22" fmla="*/ 64636 w 535805"/>
              <a:gd name="connsiteY22" fmla="*/ 202241 h 607568"/>
              <a:gd name="connsiteX23" fmla="*/ 54489 w 535805"/>
              <a:gd name="connsiteY23" fmla="*/ 200091 h 607568"/>
              <a:gd name="connsiteX24" fmla="*/ 33888 w 535805"/>
              <a:gd name="connsiteY24" fmla="*/ 190724 h 607568"/>
              <a:gd name="connsiteX25" fmla="*/ 21742 w 535805"/>
              <a:gd name="connsiteY25" fmla="*/ 158168 h 607568"/>
              <a:gd name="connsiteX26" fmla="*/ 35560 w 535805"/>
              <a:gd name="connsiteY26" fmla="*/ 145308 h 607568"/>
              <a:gd name="connsiteX27" fmla="*/ 500064 w 535805"/>
              <a:gd name="connsiteY27" fmla="*/ 144934 h 607568"/>
              <a:gd name="connsiteX28" fmla="*/ 513869 w 535805"/>
              <a:gd name="connsiteY28" fmla="*/ 157720 h 607568"/>
              <a:gd name="connsiteX29" fmla="*/ 501581 w 535805"/>
              <a:gd name="connsiteY29" fmla="*/ 190232 h 607568"/>
              <a:gd name="connsiteX30" fmla="*/ 481152 w 535805"/>
              <a:gd name="connsiteY30" fmla="*/ 199587 h 607568"/>
              <a:gd name="connsiteX31" fmla="*/ 471014 w 535805"/>
              <a:gd name="connsiteY31" fmla="*/ 201887 h 607568"/>
              <a:gd name="connsiteX32" fmla="*/ 448588 w 535805"/>
              <a:gd name="connsiteY32" fmla="*/ 187472 h 607568"/>
              <a:gd name="connsiteX33" fmla="*/ 460723 w 535805"/>
              <a:gd name="connsiteY33" fmla="*/ 154960 h 607568"/>
              <a:gd name="connsiteX34" fmla="*/ 481305 w 535805"/>
              <a:gd name="connsiteY34" fmla="*/ 145605 h 607568"/>
              <a:gd name="connsiteX35" fmla="*/ 500064 w 535805"/>
              <a:gd name="connsiteY35" fmla="*/ 144934 h 607568"/>
              <a:gd name="connsiteX36" fmla="*/ 267434 w 535805"/>
              <a:gd name="connsiteY36" fmla="*/ 135634 h 607568"/>
              <a:gd name="connsiteX37" fmla="*/ 129605 w 535805"/>
              <a:gd name="connsiteY37" fmla="*/ 273256 h 607568"/>
              <a:gd name="connsiteX38" fmla="*/ 206740 w 535805"/>
              <a:gd name="connsiteY38" fmla="*/ 396916 h 607568"/>
              <a:gd name="connsiteX39" fmla="*/ 215652 w 535805"/>
              <a:gd name="connsiteY39" fmla="*/ 411645 h 607568"/>
              <a:gd name="connsiteX40" fmla="*/ 215652 w 535805"/>
              <a:gd name="connsiteY40" fmla="*/ 454144 h 607568"/>
              <a:gd name="connsiteX41" fmla="*/ 250378 w 535805"/>
              <a:gd name="connsiteY41" fmla="*/ 454144 h 607568"/>
              <a:gd name="connsiteX42" fmla="*/ 250378 w 535805"/>
              <a:gd name="connsiteY42" fmla="*/ 409344 h 607568"/>
              <a:gd name="connsiteX43" fmla="*/ 201669 w 535805"/>
              <a:gd name="connsiteY43" fmla="*/ 254692 h 607568"/>
              <a:gd name="connsiteX44" fmla="*/ 204435 w 535805"/>
              <a:gd name="connsiteY44" fmla="*/ 239963 h 607568"/>
              <a:gd name="connsiteX45" fmla="*/ 217650 w 535805"/>
              <a:gd name="connsiteY45" fmla="*/ 233212 h 607568"/>
              <a:gd name="connsiteX46" fmla="*/ 314605 w 535805"/>
              <a:gd name="connsiteY46" fmla="*/ 233212 h 607568"/>
              <a:gd name="connsiteX47" fmla="*/ 327666 w 535805"/>
              <a:gd name="connsiteY47" fmla="*/ 239810 h 607568"/>
              <a:gd name="connsiteX48" fmla="*/ 329971 w 535805"/>
              <a:gd name="connsiteY48" fmla="*/ 254232 h 607568"/>
              <a:gd name="connsiteX49" fmla="*/ 283260 w 535805"/>
              <a:gd name="connsiteY49" fmla="*/ 409190 h 607568"/>
              <a:gd name="connsiteX50" fmla="*/ 283260 w 535805"/>
              <a:gd name="connsiteY50" fmla="*/ 454144 h 607568"/>
              <a:gd name="connsiteX51" fmla="*/ 317986 w 535805"/>
              <a:gd name="connsiteY51" fmla="*/ 454144 h 607568"/>
              <a:gd name="connsiteX52" fmla="*/ 317986 w 535805"/>
              <a:gd name="connsiteY52" fmla="*/ 411645 h 607568"/>
              <a:gd name="connsiteX53" fmla="*/ 327666 w 535805"/>
              <a:gd name="connsiteY53" fmla="*/ 396916 h 607568"/>
              <a:gd name="connsiteX54" fmla="*/ 405108 w 535805"/>
              <a:gd name="connsiteY54" fmla="*/ 273256 h 607568"/>
              <a:gd name="connsiteX55" fmla="*/ 267434 w 535805"/>
              <a:gd name="connsiteY55" fmla="*/ 135634 h 607568"/>
              <a:gd name="connsiteX56" fmla="*/ 267587 w 535805"/>
              <a:gd name="connsiteY56" fmla="*/ 102955 h 607568"/>
              <a:gd name="connsiteX57" fmla="*/ 437683 w 535805"/>
              <a:gd name="connsiteY57" fmla="*/ 273256 h 607568"/>
              <a:gd name="connsiteX58" fmla="*/ 350868 w 535805"/>
              <a:gd name="connsiteY58" fmla="*/ 421464 h 607568"/>
              <a:gd name="connsiteX59" fmla="*/ 350868 w 535805"/>
              <a:gd name="connsiteY59" fmla="*/ 455371 h 607568"/>
              <a:gd name="connsiteX60" fmla="*/ 369000 w 535805"/>
              <a:gd name="connsiteY60" fmla="*/ 479766 h 607568"/>
              <a:gd name="connsiteX61" fmla="*/ 343646 w 535805"/>
              <a:gd name="connsiteY61" fmla="*/ 505234 h 607568"/>
              <a:gd name="connsiteX62" fmla="*/ 321674 w 535805"/>
              <a:gd name="connsiteY62" fmla="*/ 505234 h 607568"/>
              <a:gd name="connsiteX63" fmla="*/ 337193 w 535805"/>
              <a:gd name="connsiteY63" fmla="*/ 528861 h 607568"/>
              <a:gd name="connsiteX64" fmla="*/ 311532 w 535805"/>
              <a:gd name="connsiteY64" fmla="*/ 554330 h 607568"/>
              <a:gd name="connsiteX65" fmla="*/ 295552 w 535805"/>
              <a:gd name="connsiteY65" fmla="*/ 554330 h 607568"/>
              <a:gd name="connsiteX66" fmla="*/ 295552 w 535805"/>
              <a:gd name="connsiteY66" fmla="*/ 578111 h 607568"/>
              <a:gd name="connsiteX67" fmla="*/ 267587 w 535805"/>
              <a:gd name="connsiteY67" fmla="*/ 607568 h 607568"/>
              <a:gd name="connsiteX68" fmla="*/ 267434 w 535805"/>
              <a:gd name="connsiteY68" fmla="*/ 607568 h 607568"/>
              <a:gd name="connsiteX69" fmla="*/ 236088 w 535805"/>
              <a:gd name="connsiteY69" fmla="*/ 578111 h 607568"/>
              <a:gd name="connsiteX70" fmla="*/ 236088 w 535805"/>
              <a:gd name="connsiteY70" fmla="*/ 554330 h 607568"/>
              <a:gd name="connsiteX71" fmla="*/ 221491 w 535805"/>
              <a:gd name="connsiteY71" fmla="*/ 554330 h 607568"/>
              <a:gd name="connsiteX72" fmla="*/ 195831 w 535805"/>
              <a:gd name="connsiteY72" fmla="*/ 528861 h 607568"/>
              <a:gd name="connsiteX73" fmla="*/ 211350 w 535805"/>
              <a:gd name="connsiteY73" fmla="*/ 505234 h 607568"/>
              <a:gd name="connsiteX74" fmla="*/ 189377 w 535805"/>
              <a:gd name="connsiteY74" fmla="*/ 505234 h 607568"/>
              <a:gd name="connsiteX75" fmla="*/ 163409 w 535805"/>
              <a:gd name="connsiteY75" fmla="*/ 479766 h 607568"/>
              <a:gd name="connsiteX76" fmla="*/ 182770 w 535805"/>
              <a:gd name="connsiteY76" fmla="*/ 454757 h 607568"/>
              <a:gd name="connsiteX77" fmla="*/ 182770 w 535805"/>
              <a:gd name="connsiteY77" fmla="*/ 421464 h 607568"/>
              <a:gd name="connsiteX78" fmla="*/ 96570 w 535805"/>
              <a:gd name="connsiteY78" fmla="*/ 273256 h 607568"/>
              <a:gd name="connsiteX79" fmla="*/ 267587 w 535805"/>
              <a:gd name="connsiteY79" fmla="*/ 102955 h 607568"/>
              <a:gd name="connsiteX80" fmla="*/ 139966 w 535805"/>
              <a:gd name="connsiteY80" fmla="*/ 39746 h 607568"/>
              <a:gd name="connsiteX81" fmla="*/ 155450 w 535805"/>
              <a:gd name="connsiteY81" fmla="*/ 50503 h 607568"/>
              <a:gd name="connsiteX82" fmla="*/ 167591 w 535805"/>
              <a:gd name="connsiteY82" fmla="*/ 69371 h 607568"/>
              <a:gd name="connsiteX83" fmla="*/ 160214 w 535805"/>
              <a:gd name="connsiteY83" fmla="*/ 103272 h 607568"/>
              <a:gd name="connsiteX84" fmla="*/ 146843 w 535805"/>
              <a:gd name="connsiteY84" fmla="*/ 107260 h 607568"/>
              <a:gd name="connsiteX85" fmla="*/ 126249 w 535805"/>
              <a:gd name="connsiteY85" fmla="*/ 95909 h 607568"/>
              <a:gd name="connsiteX86" fmla="*/ 113954 w 535805"/>
              <a:gd name="connsiteY86" fmla="*/ 77041 h 607568"/>
              <a:gd name="connsiteX87" fmla="*/ 121485 w 535805"/>
              <a:gd name="connsiteY87" fmla="*/ 43140 h 607568"/>
              <a:gd name="connsiteX88" fmla="*/ 139966 w 535805"/>
              <a:gd name="connsiteY88" fmla="*/ 39746 h 607568"/>
              <a:gd name="connsiteX89" fmla="*/ 395557 w 535805"/>
              <a:gd name="connsiteY89" fmla="*/ 39451 h 607568"/>
              <a:gd name="connsiteX90" fmla="*/ 414038 w 535805"/>
              <a:gd name="connsiteY90" fmla="*/ 42787 h 607568"/>
              <a:gd name="connsiteX91" fmla="*/ 421415 w 535805"/>
              <a:gd name="connsiteY91" fmla="*/ 76688 h 607568"/>
              <a:gd name="connsiteX92" fmla="*/ 409274 w 535805"/>
              <a:gd name="connsiteY92" fmla="*/ 95709 h 607568"/>
              <a:gd name="connsiteX93" fmla="*/ 388526 w 535805"/>
              <a:gd name="connsiteY93" fmla="*/ 106907 h 607568"/>
              <a:gd name="connsiteX94" fmla="*/ 375156 w 535805"/>
              <a:gd name="connsiteY94" fmla="*/ 103072 h 607568"/>
              <a:gd name="connsiteX95" fmla="*/ 367932 w 535805"/>
              <a:gd name="connsiteY95" fmla="*/ 69018 h 607568"/>
              <a:gd name="connsiteX96" fmla="*/ 380073 w 535805"/>
              <a:gd name="connsiteY96" fmla="*/ 50150 h 607568"/>
              <a:gd name="connsiteX97" fmla="*/ 395557 w 535805"/>
              <a:gd name="connsiteY97" fmla="*/ 39451 h 607568"/>
              <a:gd name="connsiteX98" fmla="*/ 266844 w 535805"/>
              <a:gd name="connsiteY98" fmla="*/ 0 h 607568"/>
              <a:gd name="connsiteX99" fmla="*/ 291401 w 535805"/>
              <a:gd name="connsiteY99" fmla="*/ 24539 h 607568"/>
              <a:gd name="connsiteX100" fmla="*/ 291401 w 535805"/>
              <a:gd name="connsiteY100" fmla="*/ 47085 h 607568"/>
              <a:gd name="connsiteX101" fmla="*/ 266844 w 535805"/>
              <a:gd name="connsiteY101" fmla="*/ 71624 h 607568"/>
              <a:gd name="connsiteX102" fmla="*/ 242287 w 535805"/>
              <a:gd name="connsiteY102" fmla="*/ 47085 h 607568"/>
              <a:gd name="connsiteX103" fmla="*/ 242287 w 535805"/>
              <a:gd name="connsiteY103" fmla="*/ 24539 h 607568"/>
              <a:gd name="connsiteX104" fmla="*/ 266844 w 535805"/>
              <a:gd name="connsiteY104" fmla="*/ 0 h 60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535805" h="607568">
                <a:moveTo>
                  <a:pt x="43428" y="277681"/>
                </a:moveTo>
                <a:cubicBezTo>
                  <a:pt x="56790" y="275840"/>
                  <a:pt x="69231" y="285044"/>
                  <a:pt x="71228" y="298542"/>
                </a:cubicBezTo>
                <a:cubicBezTo>
                  <a:pt x="73071" y="311887"/>
                  <a:pt x="63855" y="324312"/>
                  <a:pt x="50339" y="326306"/>
                </a:cubicBezTo>
                <a:lnTo>
                  <a:pt x="28068" y="329528"/>
                </a:lnTo>
                <a:cubicBezTo>
                  <a:pt x="26840" y="329681"/>
                  <a:pt x="25765" y="329681"/>
                  <a:pt x="24536" y="329681"/>
                </a:cubicBezTo>
                <a:cubicBezTo>
                  <a:pt x="12556" y="329681"/>
                  <a:pt x="1958" y="320938"/>
                  <a:pt x="268" y="308666"/>
                </a:cubicBezTo>
                <a:cubicBezTo>
                  <a:pt x="-1728" y="295321"/>
                  <a:pt x="7641" y="282896"/>
                  <a:pt x="21157" y="280902"/>
                </a:cubicBezTo>
                <a:close/>
                <a:moveTo>
                  <a:pt x="492377" y="277411"/>
                </a:moveTo>
                <a:lnTo>
                  <a:pt x="514802" y="280631"/>
                </a:lnTo>
                <a:cubicBezTo>
                  <a:pt x="528164" y="282472"/>
                  <a:pt x="537533" y="294894"/>
                  <a:pt x="535537" y="308390"/>
                </a:cubicBezTo>
                <a:cubicBezTo>
                  <a:pt x="533693" y="320658"/>
                  <a:pt x="523249" y="329400"/>
                  <a:pt x="511269" y="329400"/>
                </a:cubicBezTo>
                <a:cubicBezTo>
                  <a:pt x="510040" y="329400"/>
                  <a:pt x="508965" y="329247"/>
                  <a:pt x="507737" y="329093"/>
                </a:cubicBezTo>
                <a:lnTo>
                  <a:pt x="485466" y="325873"/>
                </a:lnTo>
                <a:cubicBezTo>
                  <a:pt x="471950" y="324032"/>
                  <a:pt x="462734" y="311457"/>
                  <a:pt x="464577" y="298114"/>
                </a:cubicBezTo>
                <a:cubicBezTo>
                  <a:pt x="466574" y="284772"/>
                  <a:pt x="479015" y="275417"/>
                  <a:pt x="492377" y="277411"/>
                </a:cubicBezTo>
                <a:close/>
                <a:moveTo>
                  <a:pt x="240083" y="265892"/>
                </a:moveTo>
                <a:lnTo>
                  <a:pt x="267126" y="350889"/>
                </a:lnTo>
                <a:lnTo>
                  <a:pt x="292633" y="265892"/>
                </a:lnTo>
                <a:close/>
                <a:moveTo>
                  <a:pt x="35560" y="145308"/>
                </a:moveTo>
                <a:cubicBezTo>
                  <a:pt x="41459" y="143119"/>
                  <a:pt x="48186" y="143196"/>
                  <a:pt x="54335" y="146037"/>
                </a:cubicBezTo>
                <a:lnTo>
                  <a:pt x="74937" y="155251"/>
                </a:lnTo>
                <a:cubicBezTo>
                  <a:pt x="87236" y="160933"/>
                  <a:pt x="92617" y="175521"/>
                  <a:pt x="87082" y="187806"/>
                </a:cubicBezTo>
                <a:cubicBezTo>
                  <a:pt x="82931" y="196866"/>
                  <a:pt x="74014" y="202241"/>
                  <a:pt x="64636" y="202241"/>
                </a:cubicBezTo>
                <a:cubicBezTo>
                  <a:pt x="61254" y="202241"/>
                  <a:pt x="57718" y="201473"/>
                  <a:pt x="54489" y="200091"/>
                </a:cubicBezTo>
                <a:lnTo>
                  <a:pt x="33888" y="190724"/>
                </a:lnTo>
                <a:cubicBezTo>
                  <a:pt x="21588" y="185042"/>
                  <a:pt x="16054" y="170453"/>
                  <a:pt x="21742" y="158168"/>
                </a:cubicBezTo>
                <a:cubicBezTo>
                  <a:pt x="24587" y="151949"/>
                  <a:pt x="29660" y="147496"/>
                  <a:pt x="35560" y="145308"/>
                </a:cubicBezTo>
                <a:close/>
                <a:moveTo>
                  <a:pt x="500064" y="144934"/>
                </a:moveTo>
                <a:cubicBezTo>
                  <a:pt x="505958" y="147139"/>
                  <a:pt x="511027" y="151586"/>
                  <a:pt x="513869" y="157720"/>
                </a:cubicBezTo>
                <a:cubicBezTo>
                  <a:pt x="519398" y="170142"/>
                  <a:pt x="514022" y="184711"/>
                  <a:pt x="501581" y="190232"/>
                </a:cubicBezTo>
                <a:lnTo>
                  <a:pt x="481152" y="199587"/>
                </a:lnTo>
                <a:cubicBezTo>
                  <a:pt x="477773" y="201120"/>
                  <a:pt x="474393" y="201887"/>
                  <a:pt x="471014" y="201887"/>
                </a:cubicBezTo>
                <a:cubicBezTo>
                  <a:pt x="461644" y="201887"/>
                  <a:pt x="452736" y="196520"/>
                  <a:pt x="448588" y="187472"/>
                </a:cubicBezTo>
                <a:cubicBezTo>
                  <a:pt x="442905" y="175050"/>
                  <a:pt x="448435" y="160634"/>
                  <a:pt x="460723" y="154960"/>
                </a:cubicBezTo>
                <a:lnTo>
                  <a:pt x="481305" y="145605"/>
                </a:lnTo>
                <a:cubicBezTo>
                  <a:pt x="487449" y="142768"/>
                  <a:pt x="494169" y="142730"/>
                  <a:pt x="500064" y="144934"/>
                </a:cubicBezTo>
                <a:close/>
                <a:moveTo>
                  <a:pt x="267434" y="135634"/>
                </a:moveTo>
                <a:cubicBezTo>
                  <a:pt x="191528" y="135634"/>
                  <a:pt x="129605" y="197465"/>
                  <a:pt x="129605" y="273256"/>
                </a:cubicBezTo>
                <a:cubicBezTo>
                  <a:pt x="129605" y="326188"/>
                  <a:pt x="159107" y="373596"/>
                  <a:pt x="206740" y="396916"/>
                </a:cubicBezTo>
                <a:cubicBezTo>
                  <a:pt x="212425" y="399678"/>
                  <a:pt x="215652" y="405355"/>
                  <a:pt x="215652" y="411645"/>
                </a:cubicBezTo>
                <a:lnTo>
                  <a:pt x="215652" y="454144"/>
                </a:lnTo>
                <a:lnTo>
                  <a:pt x="250378" y="454144"/>
                </a:lnTo>
                <a:lnTo>
                  <a:pt x="250378" y="409344"/>
                </a:lnTo>
                <a:lnTo>
                  <a:pt x="201669" y="254692"/>
                </a:lnTo>
                <a:cubicBezTo>
                  <a:pt x="200133" y="249782"/>
                  <a:pt x="201362" y="244259"/>
                  <a:pt x="204435" y="239963"/>
                </a:cubicBezTo>
                <a:cubicBezTo>
                  <a:pt x="207508" y="235821"/>
                  <a:pt x="212425" y="233212"/>
                  <a:pt x="217650" y="233212"/>
                </a:cubicBezTo>
                <a:lnTo>
                  <a:pt x="314605" y="233212"/>
                </a:lnTo>
                <a:cubicBezTo>
                  <a:pt x="319830" y="233212"/>
                  <a:pt x="324593" y="235667"/>
                  <a:pt x="327666" y="239810"/>
                </a:cubicBezTo>
                <a:cubicBezTo>
                  <a:pt x="330739" y="243952"/>
                  <a:pt x="331507" y="249322"/>
                  <a:pt x="329971" y="254232"/>
                </a:cubicBezTo>
                <a:lnTo>
                  <a:pt x="283260" y="409190"/>
                </a:lnTo>
                <a:lnTo>
                  <a:pt x="283260" y="454144"/>
                </a:lnTo>
                <a:lnTo>
                  <a:pt x="317986" y="454144"/>
                </a:lnTo>
                <a:lnTo>
                  <a:pt x="317986" y="411645"/>
                </a:lnTo>
                <a:cubicBezTo>
                  <a:pt x="317986" y="405355"/>
                  <a:pt x="321981" y="399678"/>
                  <a:pt x="327666" y="396916"/>
                </a:cubicBezTo>
                <a:cubicBezTo>
                  <a:pt x="375300" y="373596"/>
                  <a:pt x="405108" y="326188"/>
                  <a:pt x="405108" y="273256"/>
                </a:cubicBezTo>
                <a:cubicBezTo>
                  <a:pt x="405108" y="197465"/>
                  <a:pt x="343339" y="135634"/>
                  <a:pt x="267434" y="135634"/>
                </a:cubicBezTo>
                <a:close/>
                <a:moveTo>
                  <a:pt x="267587" y="102955"/>
                </a:moveTo>
                <a:cubicBezTo>
                  <a:pt x="361624" y="102955"/>
                  <a:pt x="437683" y="179360"/>
                  <a:pt x="437683" y="273256"/>
                </a:cubicBezTo>
                <a:cubicBezTo>
                  <a:pt x="437683" y="335393"/>
                  <a:pt x="406184" y="391240"/>
                  <a:pt x="350868" y="421464"/>
                </a:cubicBezTo>
                <a:lnTo>
                  <a:pt x="350868" y="455371"/>
                </a:lnTo>
                <a:cubicBezTo>
                  <a:pt x="361010" y="458746"/>
                  <a:pt x="369000" y="468259"/>
                  <a:pt x="369000" y="479766"/>
                </a:cubicBezTo>
                <a:cubicBezTo>
                  <a:pt x="369000" y="493881"/>
                  <a:pt x="357782" y="505234"/>
                  <a:pt x="343646" y="505234"/>
                </a:cubicBezTo>
                <a:lnTo>
                  <a:pt x="321674" y="505234"/>
                </a:lnTo>
                <a:cubicBezTo>
                  <a:pt x="330739" y="509223"/>
                  <a:pt x="337193" y="518275"/>
                  <a:pt x="337193" y="528861"/>
                </a:cubicBezTo>
                <a:cubicBezTo>
                  <a:pt x="337193" y="542976"/>
                  <a:pt x="325669" y="554330"/>
                  <a:pt x="311532" y="554330"/>
                </a:cubicBezTo>
                <a:lnTo>
                  <a:pt x="295552" y="554330"/>
                </a:lnTo>
                <a:lnTo>
                  <a:pt x="295552" y="578111"/>
                </a:lnTo>
                <a:cubicBezTo>
                  <a:pt x="295552" y="594374"/>
                  <a:pt x="284028" y="607568"/>
                  <a:pt x="267587" y="607568"/>
                </a:cubicBezTo>
                <a:lnTo>
                  <a:pt x="267434" y="607568"/>
                </a:lnTo>
                <a:cubicBezTo>
                  <a:pt x="251146" y="607568"/>
                  <a:pt x="236088" y="594374"/>
                  <a:pt x="236088" y="578111"/>
                </a:cubicBezTo>
                <a:lnTo>
                  <a:pt x="236088" y="554330"/>
                </a:lnTo>
                <a:lnTo>
                  <a:pt x="221491" y="554330"/>
                </a:lnTo>
                <a:cubicBezTo>
                  <a:pt x="207355" y="554330"/>
                  <a:pt x="195831" y="542976"/>
                  <a:pt x="195831" y="528861"/>
                </a:cubicBezTo>
                <a:cubicBezTo>
                  <a:pt x="195831" y="518275"/>
                  <a:pt x="202284" y="509223"/>
                  <a:pt x="211350" y="505234"/>
                </a:cubicBezTo>
                <a:lnTo>
                  <a:pt x="189377" y="505234"/>
                </a:lnTo>
                <a:cubicBezTo>
                  <a:pt x="175241" y="505234"/>
                  <a:pt x="163409" y="493881"/>
                  <a:pt x="163409" y="479766"/>
                </a:cubicBezTo>
                <a:cubicBezTo>
                  <a:pt x="163409" y="467645"/>
                  <a:pt x="172629" y="457519"/>
                  <a:pt x="182770" y="454757"/>
                </a:cubicBezTo>
                <a:lnTo>
                  <a:pt x="182770" y="421464"/>
                </a:lnTo>
                <a:cubicBezTo>
                  <a:pt x="129605" y="391240"/>
                  <a:pt x="96570" y="335393"/>
                  <a:pt x="96570" y="273256"/>
                </a:cubicBezTo>
                <a:cubicBezTo>
                  <a:pt x="96570" y="179360"/>
                  <a:pt x="173551" y="102955"/>
                  <a:pt x="267587" y="102955"/>
                </a:cubicBezTo>
                <a:close/>
                <a:moveTo>
                  <a:pt x="139966" y="39746"/>
                </a:moveTo>
                <a:cubicBezTo>
                  <a:pt x="146113" y="41069"/>
                  <a:pt x="151761" y="44751"/>
                  <a:pt x="155450" y="50503"/>
                </a:cubicBezTo>
                <a:lnTo>
                  <a:pt x="167591" y="69371"/>
                </a:lnTo>
                <a:cubicBezTo>
                  <a:pt x="174968" y="80722"/>
                  <a:pt x="171587" y="95909"/>
                  <a:pt x="160214" y="103272"/>
                </a:cubicBezTo>
                <a:cubicBezTo>
                  <a:pt x="156064" y="105879"/>
                  <a:pt x="151454" y="107260"/>
                  <a:pt x="146843" y="107260"/>
                </a:cubicBezTo>
                <a:cubicBezTo>
                  <a:pt x="138851" y="107260"/>
                  <a:pt x="130860" y="103272"/>
                  <a:pt x="126249" y="95909"/>
                </a:cubicBezTo>
                <a:lnTo>
                  <a:pt x="113954" y="77041"/>
                </a:lnTo>
                <a:cubicBezTo>
                  <a:pt x="106731" y="65536"/>
                  <a:pt x="109958" y="50350"/>
                  <a:pt x="121485" y="43140"/>
                </a:cubicBezTo>
                <a:cubicBezTo>
                  <a:pt x="127171" y="39459"/>
                  <a:pt x="133818" y="38423"/>
                  <a:pt x="139966" y="39746"/>
                </a:cubicBezTo>
                <a:close/>
                <a:moveTo>
                  <a:pt x="395557" y="39451"/>
                </a:moveTo>
                <a:cubicBezTo>
                  <a:pt x="401705" y="38109"/>
                  <a:pt x="408352" y="39106"/>
                  <a:pt x="414038" y="42787"/>
                </a:cubicBezTo>
                <a:cubicBezTo>
                  <a:pt x="425411" y="50150"/>
                  <a:pt x="428792" y="65336"/>
                  <a:pt x="421415" y="76688"/>
                </a:cubicBezTo>
                <a:lnTo>
                  <a:pt x="409274" y="95709"/>
                </a:lnTo>
                <a:cubicBezTo>
                  <a:pt x="404510" y="102919"/>
                  <a:pt x="396518" y="106907"/>
                  <a:pt x="388526" y="106907"/>
                </a:cubicBezTo>
                <a:cubicBezTo>
                  <a:pt x="383916" y="106907"/>
                  <a:pt x="379305" y="105680"/>
                  <a:pt x="375156" y="103072"/>
                </a:cubicBezTo>
                <a:cubicBezTo>
                  <a:pt x="363783" y="95709"/>
                  <a:pt x="360555" y="80523"/>
                  <a:pt x="367932" y="69018"/>
                </a:cubicBezTo>
                <a:lnTo>
                  <a:pt x="380073" y="50150"/>
                </a:lnTo>
                <a:cubicBezTo>
                  <a:pt x="383762" y="44475"/>
                  <a:pt x="389410" y="40793"/>
                  <a:pt x="395557" y="39451"/>
                </a:cubicBezTo>
                <a:close/>
                <a:moveTo>
                  <a:pt x="266844" y="0"/>
                </a:moveTo>
                <a:cubicBezTo>
                  <a:pt x="280504" y="0"/>
                  <a:pt x="291401" y="11043"/>
                  <a:pt x="291401" y="24539"/>
                </a:cubicBezTo>
                <a:lnTo>
                  <a:pt x="291401" y="47085"/>
                </a:lnTo>
                <a:cubicBezTo>
                  <a:pt x="291401" y="60581"/>
                  <a:pt x="280504" y="71624"/>
                  <a:pt x="266844" y="71624"/>
                </a:cubicBezTo>
                <a:cubicBezTo>
                  <a:pt x="253337" y="71624"/>
                  <a:pt x="242287" y="60581"/>
                  <a:pt x="242287" y="47085"/>
                </a:cubicBezTo>
                <a:lnTo>
                  <a:pt x="242287" y="24539"/>
                </a:lnTo>
                <a:cubicBezTo>
                  <a:pt x="242287" y="11043"/>
                  <a:pt x="253337" y="0"/>
                  <a:pt x="266844"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59" name="文本框 158"/>
          <p:cNvSpPr txBox="1"/>
          <p:nvPr/>
        </p:nvSpPr>
        <p:spPr>
          <a:xfrm>
            <a:off x="8340612" y="3243433"/>
            <a:ext cx="369048"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700" b="0" i="0" u="none" strike="noStrike" kern="1200" cap="none" spc="0" normalizeH="0" baseline="0" noProof="0" dirty="0">
                <a:ln>
                  <a:noFill/>
                </a:ln>
                <a:solidFill>
                  <a:srgbClr val="44546A"/>
                </a:solidFill>
                <a:effectLst/>
                <a:uLnTx/>
                <a:uFillTx/>
                <a:latin typeface="Arial" panose="020B0604020202020204"/>
                <a:ea typeface="+mn-ea"/>
                <a:cs typeface="+mn-cs"/>
              </a:rPr>
              <a:t>IP54</a:t>
            </a:r>
            <a:endParaRPr kumimoji="0" lang="en-US" sz="700" b="0" i="0" u="none" strike="noStrike" kern="1200" cap="none" spc="0" normalizeH="0" baseline="0" noProof="0" dirty="0">
              <a:ln>
                <a:noFill/>
              </a:ln>
              <a:solidFill>
                <a:srgbClr val="44546A"/>
              </a:solidFill>
              <a:effectLst/>
              <a:uLnTx/>
              <a:uFillTx/>
              <a:latin typeface="Arial" panose="020B0604020202020204"/>
              <a:ea typeface="+mn-ea"/>
              <a:cs typeface="+mn-cs"/>
            </a:endParaRPr>
          </a:p>
        </p:txBody>
      </p:sp>
      <p:sp>
        <p:nvSpPr>
          <p:cNvPr id="160" name="文本框 159"/>
          <p:cNvSpPr txBox="1"/>
          <p:nvPr/>
        </p:nvSpPr>
        <p:spPr>
          <a:xfrm>
            <a:off x="8340612" y="4493575"/>
            <a:ext cx="369048"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700" b="0" i="0" u="none" strike="noStrike" kern="1200" cap="none" spc="0" normalizeH="0" baseline="0" noProof="0" dirty="0">
                <a:ln>
                  <a:noFill/>
                </a:ln>
                <a:solidFill>
                  <a:srgbClr val="44546A"/>
                </a:solidFill>
                <a:effectLst/>
                <a:uLnTx/>
                <a:uFillTx/>
                <a:latin typeface="Arial" panose="020B0604020202020204"/>
                <a:ea typeface="+mn-ea"/>
                <a:cs typeface="+mn-cs"/>
              </a:rPr>
              <a:t>IP54</a:t>
            </a:r>
            <a:endParaRPr kumimoji="0" lang="en-US" sz="700" b="0" i="0" u="none" strike="noStrike" kern="1200" cap="none" spc="0" normalizeH="0" baseline="0" noProof="0" dirty="0">
              <a:ln>
                <a:noFill/>
              </a:ln>
              <a:solidFill>
                <a:srgbClr val="44546A"/>
              </a:solidFill>
              <a:effectLst/>
              <a:uLnTx/>
              <a:uFillTx/>
              <a:latin typeface="Arial" panose="020B0604020202020204"/>
              <a:ea typeface="+mn-ea"/>
              <a:cs typeface="+mn-cs"/>
            </a:endParaRPr>
          </a:p>
        </p:txBody>
      </p:sp>
      <p:sp>
        <p:nvSpPr>
          <p:cNvPr id="161" name="iconfont-10187-1761481"/>
          <p:cNvSpPr/>
          <p:nvPr/>
        </p:nvSpPr>
        <p:spPr>
          <a:xfrm>
            <a:off x="11228299" y="865829"/>
            <a:ext cx="204019" cy="181329"/>
          </a:xfrm>
          <a:custGeom>
            <a:avLst/>
            <a:gdLst>
              <a:gd name="T0" fmla="*/ 7328 w 11520"/>
              <a:gd name="T1" fmla="*/ 6720 h 10240"/>
              <a:gd name="T2" fmla="*/ 6048 w 11520"/>
              <a:gd name="T3" fmla="*/ 6720 h 10240"/>
              <a:gd name="T4" fmla="*/ 6048 w 11520"/>
              <a:gd name="T5" fmla="*/ 5440 h 10240"/>
              <a:gd name="T6" fmla="*/ 5728 w 11520"/>
              <a:gd name="T7" fmla="*/ 5120 h 10240"/>
              <a:gd name="T8" fmla="*/ 5408 w 11520"/>
              <a:gd name="T9" fmla="*/ 5440 h 10240"/>
              <a:gd name="T10" fmla="*/ 5408 w 11520"/>
              <a:gd name="T11" fmla="*/ 6720 h 10240"/>
              <a:gd name="T12" fmla="*/ 4128 w 11520"/>
              <a:gd name="T13" fmla="*/ 6720 h 10240"/>
              <a:gd name="T14" fmla="*/ 3808 w 11520"/>
              <a:gd name="T15" fmla="*/ 7040 h 10240"/>
              <a:gd name="T16" fmla="*/ 4128 w 11520"/>
              <a:gd name="T17" fmla="*/ 7360 h 10240"/>
              <a:gd name="T18" fmla="*/ 5408 w 11520"/>
              <a:gd name="T19" fmla="*/ 7360 h 10240"/>
              <a:gd name="T20" fmla="*/ 5408 w 11520"/>
              <a:gd name="T21" fmla="*/ 8640 h 10240"/>
              <a:gd name="T22" fmla="*/ 5728 w 11520"/>
              <a:gd name="T23" fmla="*/ 8960 h 10240"/>
              <a:gd name="T24" fmla="*/ 6048 w 11520"/>
              <a:gd name="T25" fmla="*/ 8640 h 10240"/>
              <a:gd name="T26" fmla="*/ 6048 w 11520"/>
              <a:gd name="T27" fmla="*/ 7360 h 10240"/>
              <a:gd name="T28" fmla="*/ 7328 w 11520"/>
              <a:gd name="T29" fmla="*/ 7360 h 10240"/>
              <a:gd name="T30" fmla="*/ 7648 w 11520"/>
              <a:gd name="T31" fmla="*/ 7040 h 10240"/>
              <a:gd name="T32" fmla="*/ 7328 w 11520"/>
              <a:gd name="T33" fmla="*/ 6720 h 10240"/>
              <a:gd name="T34" fmla="*/ 11168 w 11520"/>
              <a:gd name="T35" fmla="*/ 1920 h 10240"/>
              <a:gd name="T36" fmla="*/ 8864 w 11520"/>
              <a:gd name="T37" fmla="*/ 1920 h 10240"/>
              <a:gd name="T38" fmla="*/ 8672 w 11520"/>
              <a:gd name="T39" fmla="*/ 288 h 10240"/>
              <a:gd name="T40" fmla="*/ 8352 w 11520"/>
              <a:gd name="T41" fmla="*/ 0 h 10240"/>
              <a:gd name="T42" fmla="*/ 3136 w 11520"/>
              <a:gd name="T43" fmla="*/ 0 h 10240"/>
              <a:gd name="T44" fmla="*/ 2816 w 11520"/>
              <a:gd name="T45" fmla="*/ 288 h 10240"/>
              <a:gd name="T46" fmla="*/ 2624 w 11520"/>
              <a:gd name="T47" fmla="*/ 1920 h 10240"/>
              <a:gd name="T48" fmla="*/ 320 w 11520"/>
              <a:gd name="T49" fmla="*/ 1920 h 10240"/>
              <a:gd name="T50" fmla="*/ 0 w 11520"/>
              <a:gd name="T51" fmla="*/ 2240 h 10240"/>
              <a:gd name="T52" fmla="*/ 0 w 11520"/>
              <a:gd name="T53" fmla="*/ 9920 h 10240"/>
              <a:gd name="T54" fmla="*/ 320 w 11520"/>
              <a:gd name="T55" fmla="*/ 10240 h 10240"/>
              <a:gd name="T56" fmla="*/ 11200 w 11520"/>
              <a:gd name="T57" fmla="*/ 10240 h 10240"/>
              <a:gd name="T58" fmla="*/ 11520 w 11520"/>
              <a:gd name="T59" fmla="*/ 9920 h 10240"/>
              <a:gd name="T60" fmla="*/ 11520 w 11520"/>
              <a:gd name="T61" fmla="*/ 2240 h 10240"/>
              <a:gd name="T62" fmla="*/ 11168 w 11520"/>
              <a:gd name="T63" fmla="*/ 1920 h 10240"/>
              <a:gd name="T64" fmla="*/ 3424 w 11520"/>
              <a:gd name="T65" fmla="*/ 640 h 10240"/>
              <a:gd name="T66" fmla="*/ 8064 w 11520"/>
              <a:gd name="T67" fmla="*/ 640 h 10240"/>
              <a:gd name="T68" fmla="*/ 8224 w 11520"/>
              <a:gd name="T69" fmla="*/ 1920 h 10240"/>
              <a:gd name="T70" fmla="*/ 3264 w 11520"/>
              <a:gd name="T71" fmla="*/ 1920 h 10240"/>
              <a:gd name="T72" fmla="*/ 3424 w 11520"/>
              <a:gd name="T73" fmla="*/ 640 h 10240"/>
              <a:gd name="T74" fmla="*/ 608 w 11520"/>
              <a:gd name="T75" fmla="*/ 2560 h 10240"/>
              <a:gd name="T76" fmla="*/ 10848 w 11520"/>
              <a:gd name="T77" fmla="*/ 2560 h 10240"/>
              <a:gd name="T78" fmla="*/ 10848 w 11520"/>
              <a:gd name="T79" fmla="*/ 3840 h 10240"/>
              <a:gd name="T80" fmla="*/ 9248 w 11520"/>
              <a:gd name="T81" fmla="*/ 3840 h 10240"/>
              <a:gd name="T82" fmla="*/ 9248 w 11520"/>
              <a:gd name="T83" fmla="*/ 3520 h 10240"/>
              <a:gd name="T84" fmla="*/ 8928 w 11520"/>
              <a:gd name="T85" fmla="*/ 3200 h 10240"/>
              <a:gd name="T86" fmla="*/ 8608 w 11520"/>
              <a:gd name="T87" fmla="*/ 3520 h 10240"/>
              <a:gd name="T88" fmla="*/ 8608 w 11520"/>
              <a:gd name="T89" fmla="*/ 3840 h 10240"/>
              <a:gd name="T90" fmla="*/ 2848 w 11520"/>
              <a:gd name="T91" fmla="*/ 3840 h 10240"/>
              <a:gd name="T92" fmla="*/ 2848 w 11520"/>
              <a:gd name="T93" fmla="*/ 3520 h 10240"/>
              <a:gd name="T94" fmla="*/ 2528 w 11520"/>
              <a:gd name="T95" fmla="*/ 3200 h 10240"/>
              <a:gd name="T96" fmla="*/ 2208 w 11520"/>
              <a:gd name="T97" fmla="*/ 3520 h 10240"/>
              <a:gd name="T98" fmla="*/ 2208 w 11520"/>
              <a:gd name="T99" fmla="*/ 3840 h 10240"/>
              <a:gd name="T100" fmla="*/ 608 w 11520"/>
              <a:gd name="T101" fmla="*/ 3840 h 10240"/>
              <a:gd name="T102" fmla="*/ 608 w 11520"/>
              <a:gd name="T103" fmla="*/ 2560 h 10240"/>
              <a:gd name="T104" fmla="*/ 10848 w 11520"/>
              <a:gd name="T105" fmla="*/ 9600 h 10240"/>
              <a:gd name="T106" fmla="*/ 608 w 11520"/>
              <a:gd name="T107" fmla="*/ 9600 h 10240"/>
              <a:gd name="T108" fmla="*/ 608 w 11520"/>
              <a:gd name="T109" fmla="*/ 4480 h 10240"/>
              <a:gd name="T110" fmla="*/ 10848 w 11520"/>
              <a:gd name="T111" fmla="*/ 4480 h 10240"/>
              <a:gd name="T112" fmla="*/ 10848 w 11520"/>
              <a:gd name="T113" fmla="*/ 9600 h 10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520" h="10240">
                <a:moveTo>
                  <a:pt x="7328" y="6720"/>
                </a:moveTo>
                <a:lnTo>
                  <a:pt x="6048" y="6720"/>
                </a:lnTo>
                <a:lnTo>
                  <a:pt x="6048" y="5440"/>
                </a:lnTo>
                <a:cubicBezTo>
                  <a:pt x="6048" y="5280"/>
                  <a:pt x="5888" y="5120"/>
                  <a:pt x="5728" y="5120"/>
                </a:cubicBezTo>
                <a:cubicBezTo>
                  <a:pt x="5568" y="5120"/>
                  <a:pt x="5408" y="5280"/>
                  <a:pt x="5408" y="5440"/>
                </a:cubicBezTo>
                <a:lnTo>
                  <a:pt x="5408" y="6720"/>
                </a:lnTo>
                <a:lnTo>
                  <a:pt x="4128" y="6720"/>
                </a:lnTo>
                <a:cubicBezTo>
                  <a:pt x="3968" y="6720"/>
                  <a:pt x="3808" y="6880"/>
                  <a:pt x="3808" y="7040"/>
                </a:cubicBezTo>
                <a:cubicBezTo>
                  <a:pt x="3808" y="7200"/>
                  <a:pt x="3968" y="7360"/>
                  <a:pt x="4128" y="7360"/>
                </a:cubicBezTo>
                <a:lnTo>
                  <a:pt x="5408" y="7360"/>
                </a:lnTo>
                <a:lnTo>
                  <a:pt x="5408" y="8640"/>
                </a:lnTo>
                <a:cubicBezTo>
                  <a:pt x="5408" y="8800"/>
                  <a:pt x="5568" y="8960"/>
                  <a:pt x="5728" y="8960"/>
                </a:cubicBezTo>
                <a:cubicBezTo>
                  <a:pt x="5888" y="8960"/>
                  <a:pt x="6048" y="8800"/>
                  <a:pt x="6048" y="8640"/>
                </a:cubicBezTo>
                <a:lnTo>
                  <a:pt x="6048" y="7360"/>
                </a:lnTo>
                <a:lnTo>
                  <a:pt x="7328" y="7360"/>
                </a:lnTo>
                <a:cubicBezTo>
                  <a:pt x="7488" y="7360"/>
                  <a:pt x="7648" y="7200"/>
                  <a:pt x="7648" y="7040"/>
                </a:cubicBezTo>
                <a:cubicBezTo>
                  <a:pt x="7648" y="6880"/>
                  <a:pt x="7488" y="6720"/>
                  <a:pt x="7328" y="6720"/>
                </a:cubicBezTo>
                <a:close/>
                <a:moveTo>
                  <a:pt x="11168" y="1920"/>
                </a:moveTo>
                <a:lnTo>
                  <a:pt x="8864" y="1920"/>
                </a:lnTo>
                <a:lnTo>
                  <a:pt x="8672" y="288"/>
                </a:lnTo>
                <a:cubicBezTo>
                  <a:pt x="8640" y="128"/>
                  <a:pt x="8512" y="0"/>
                  <a:pt x="8352" y="0"/>
                </a:cubicBezTo>
                <a:lnTo>
                  <a:pt x="3136" y="0"/>
                </a:lnTo>
                <a:cubicBezTo>
                  <a:pt x="2976" y="0"/>
                  <a:pt x="2848" y="128"/>
                  <a:pt x="2816" y="288"/>
                </a:cubicBezTo>
                <a:lnTo>
                  <a:pt x="2624" y="1920"/>
                </a:lnTo>
                <a:lnTo>
                  <a:pt x="320" y="1920"/>
                </a:lnTo>
                <a:cubicBezTo>
                  <a:pt x="160" y="1920"/>
                  <a:pt x="0" y="2080"/>
                  <a:pt x="0" y="2240"/>
                </a:cubicBezTo>
                <a:lnTo>
                  <a:pt x="0" y="9920"/>
                </a:lnTo>
                <a:cubicBezTo>
                  <a:pt x="0" y="10080"/>
                  <a:pt x="160" y="10240"/>
                  <a:pt x="320" y="10240"/>
                </a:cubicBezTo>
                <a:lnTo>
                  <a:pt x="11200" y="10240"/>
                </a:lnTo>
                <a:cubicBezTo>
                  <a:pt x="11360" y="10240"/>
                  <a:pt x="11520" y="10080"/>
                  <a:pt x="11520" y="9920"/>
                </a:cubicBezTo>
                <a:lnTo>
                  <a:pt x="11520" y="2240"/>
                </a:lnTo>
                <a:cubicBezTo>
                  <a:pt x="11488" y="2080"/>
                  <a:pt x="11328" y="1920"/>
                  <a:pt x="11168" y="1920"/>
                </a:cubicBezTo>
                <a:close/>
                <a:moveTo>
                  <a:pt x="3424" y="640"/>
                </a:moveTo>
                <a:lnTo>
                  <a:pt x="8064" y="640"/>
                </a:lnTo>
                <a:lnTo>
                  <a:pt x="8224" y="1920"/>
                </a:lnTo>
                <a:lnTo>
                  <a:pt x="3264" y="1920"/>
                </a:lnTo>
                <a:lnTo>
                  <a:pt x="3424" y="640"/>
                </a:lnTo>
                <a:close/>
                <a:moveTo>
                  <a:pt x="608" y="2560"/>
                </a:moveTo>
                <a:lnTo>
                  <a:pt x="10848" y="2560"/>
                </a:lnTo>
                <a:lnTo>
                  <a:pt x="10848" y="3840"/>
                </a:lnTo>
                <a:lnTo>
                  <a:pt x="9248" y="3840"/>
                </a:lnTo>
                <a:lnTo>
                  <a:pt x="9248" y="3520"/>
                </a:lnTo>
                <a:cubicBezTo>
                  <a:pt x="9248" y="3360"/>
                  <a:pt x="9088" y="3200"/>
                  <a:pt x="8928" y="3200"/>
                </a:cubicBezTo>
                <a:cubicBezTo>
                  <a:pt x="8768" y="3200"/>
                  <a:pt x="8608" y="3360"/>
                  <a:pt x="8608" y="3520"/>
                </a:cubicBezTo>
                <a:lnTo>
                  <a:pt x="8608" y="3840"/>
                </a:lnTo>
                <a:lnTo>
                  <a:pt x="2848" y="3840"/>
                </a:lnTo>
                <a:lnTo>
                  <a:pt x="2848" y="3520"/>
                </a:lnTo>
                <a:cubicBezTo>
                  <a:pt x="2848" y="3360"/>
                  <a:pt x="2688" y="3200"/>
                  <a:pt x="2528" y="3200"/>
                </a:cubicBezTo>
                <a:cubicBezTo>
                  <a:pt x="2368" y="3200"/>
                  <a:pt x="2208" y="3360"/>
                  <a:pt x="2208" y="3520"/>
                </a:cubicBezTo>
                <a:lnTo>
                  <a:pt x="2208" y="3840"/>
                </a:lnTo>
                <a:lnTo>
                  <a:pt x="608" y="3840"/>
                </a:lnTo>
                <a:lnTo>
                  <a:pt x="608" y="2560"/>
                </a:lnTo>
                <a:close/>
                <a:moveTo>
                  <a:pt x="10848" y="9600"/>
                </a:moveTo>
                <a:lnTo>
                  <a:pt x="608" y="9600"/>
                </a:lnTo>
                <a:lnTo>
                  <a:pt x="608" y="4480"/>
                </a:lnTo>
                <a:lnTo>
                  <a:pt x="10848" y="4480"/>
                </a:lnTo>
                <a:lnTo>
                  <a:pt x="10848" y="96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62" name="light-bulb_99723"/>
          <p:cNvSpPr/>
          <p:nvPr/>
        </p:nvSpPr>
        <p:spPr>
          <a:xfrm>
            <a:off x="11220370" y="1339099"/>
            <a:ext cx="219876" cy="249325"/>
          </a:xfrm>
          <a:custGeom>
            <a:avLst/>
            <a:gdLst>
              <a:gd name="connsiteX0" fmla="*/ 43428 w 535805"/>
              <a:gd name="connsiteY0" fmla="*/ 277681 h 607568"/>
              <a:gd name="connsiteX1" fmla="*/ 71228 w 535805"/>
              <a:gd name="connsiteY1" fmla="*/ 298542 h 607568"/>
              <a:gd name="connsiteX2" fmla="*/ 50339 w 535805"/>
              <a:gd name="connsiteY2" fmla="*/ 326306 h 607568"/>
              <a:gd name="connsiteX3" fmla="*/ 28068 w 535805"/>
              <a:gd name="connsiteY3" fmla="*/ 329528 h 607568"/>
              <a:gd name="connsiteX4" fmla="*/ 24536 w 535805"/>
              <a:gd name="connsiteY4" fmla="*/ 329681 h 607568"/>
              <a:gd name="connsiteX5" fmla="*/ 268 w 535805"/>
              <a:gd name="connsiteY5" fmla="*/ 308666 h 607568"/>
              <a:gd name="connsiteX6" fmla="*/ 21157 w 535805"/>
              <a:gd name="connsiteY6" fmla="*/ 280902 h 607568"/>
              <a:gd name="connsiteX7" fmla="*/ 492377 w 535805"/>
              <a:gd name="connsiteY7" fmla="*/ 277411 h 607568"/>
              <a:gd name="connsiteX8" fmla="*/ 514802 w 535805"/>
              <a:gd name="connsiteY8" fmla="*/ 280631 h 607568"/>
              <a:gd name="connsiteX9" fmla="*/ 535537 w 535805"/>
              <a:gd name="connsiteY9" fmla="*/ 308390 h 607568"/>
              <a:gd name="connsiteX10" fmla="*/ 511269 w 535805"/>
              <a:gd name="connsiteY10" fmla="*/ 329400 h 607568"/>
              <a:gd name="connsiteX11" fmla="*/ 507737 w 535805"/>
              <a:gd name="connsiteY11" fmla="*/ 329093 h 607568"/>
              <a:gd name="connsiteX12" fmla="*/ 485466 w 535805"/>
              <a:gd name="connsiteY12" fmla="*/ 325873 h 607568"/>
              <a:gd name="connsiteX13" fmla="*/ 464577 w 535805"/>
              <a:gd name="connsiteY13" fmla="*/ 298114 h 607568"/>
              <a:gd name="connsiteX14" fmla="*/ 492377 w 535805"/>
              <a:gd name="connsiteY14" fmla="*/ 277411 h 607568"/>
              <a:gd name="connsiteX15" fmla="*/ 240083 w 535805"/>
              <a:gd name="connsiteY15" fmla="*/ 265892 h 607568"/>
              <a:gd name="connsiteX16" fmla="*/ 267126 w 535805"/>
              <a:gd name="connsiteY16" fmla="*/ 350889 h 607568"/>
              <a:gd name="connsiteX17" fmla="*/ 292633 w 535805"/>
              <a:gd name="connsiteY17" fmla="*/ 265892 h 607568"/>
              <a:gd name="connsiteX18" fmla="*/ 35560 w 535805"/>
              <a:gd name="connsiteY18" fmla="*/ 145308 h 607568"/>
              <a:gd name="connsiteX19" fmla="*/ 54335 w 535805"/>
              <a:gd name="connsiteY19" fmla="*/ 146037 h 607568"/>
              <a:gd name="connsiteX20" fmla="*/ 74937 w 535805"/>
              <a:gd name="connsiteY20" fmla="*/ 155251 h 607568"/>
              <a:gd name="connsiteX21" fmla="*/ 87082 w 535805"/>
              <a:gd name="connsiteY21" fmla="*/ 187806 h 607568"/>
              <a:gd name="connsiteX22" fmla="*/ 64636 w 535805"/>
              <a:gd name="connsiteY22" fmla="*/ 202241 h 607568"/>
              <a:gd name="connsiteX23" fmla="*/ 54489 w 535805"/>
              <a:gd name="connsiteY23" fmla="*/ 200091 h 607568"/>
              <a:gd name="connsiteX24" fmla="*/ 33888 w 535805"/>
              <a:gd name="connsiteY24" fmla="*/ 190724 h 607568"/>
              <a:gd name="connsiteX25" fmla="*/ 21742 w 535805"/>
              <a:gd name="connsiteY25" fmla="*/ 158168 h 607568"/>
              <a:gd name="connsiteX26" fmla="*/ 35560 w 535805"/>
              <a:gd name="connsiteY26" fmla="*/ 145308 h 607568"/>
              <a:gd name="connsiteX27" fmla="*/ 500064 w 535805"/>
              <a:gd name="connsiteY27" fmla="*/ 144934 h 607568"/>
              <a:gd name="connsiteX28" fmla="*/ 513869 w 535805"/>
              <a:gd name="connsiteY28" fmla="*/ 157720 h 607568"/>
              <a:gd name="connsiteX29" fmla="*/ 501581 w 535805"/>
              <a:gd name="connsiteY29" fmla="*/ 190232 h 607568"/>
              <a:gd name="connsiteX30" fmla="*/ 481152 w 535805"/>
              <a:gd name="connsiteY30" fmla="*/ 199587 h 607568"/>
              <a:gd name="connsiteX31" fmla="*/ 471014 w 535805"/>
              <a:gd name="connsiteY31" fmla="*/ 201887 h 607568"/>
              <a:gd name="connsiteX32" fmla="*/ 448588 w 535805"/>
              <a:gd name="connsiteY32" fmla="*/ 187472 h 607568"/>
              <a:gd name="connsiteX33" fmla="*/ 460723 w 535805"/>
              <a:gd name="connsiteY33" fmla="*/ 154960 h 607568"/>
              <a:gd name="connsiteX34" fmla="*/ 481305 w 535805"/>
              <a:gd name="connsiteY34" fmla="*/ 145605 h 607568"/>
              <a:gd name="connsiteX35" fmla="*/ 500064 w 535805"/>
              <a:gd name="connsiteY35" fmla="*/ 144934 h 607568"/>
              <a:gd name="connsiteX36" fmla="*/ 267434 w 535805"/>
              <a:gd name="connsiteY36" fmla="*/ 135634 h 607568"/>
              <a:gd name="connsiteX37" fmla="*/ 129605 w 535805"/>
              <a:gd name="connsiteY37" fmla="*/ 273256 h 607568"/>
              <a:gd name="connsiteX38" fmla="*/ 206740 w 535805"/>
              <a:gd name="connsiteY38" fmla="*/ 396916 h 607568"/>
              <a:gd name="connsiteX39" fmla="*/ 215652 w 535805"/>
              <a:gd name="connsiteY39" fmla="*/ 411645 h 607568"/>
              <a:gd name="connsiteX40" fmla="*/ 215652 w 535805"/>
              <a:gd name="connsiteY40" fmla="*/ 454144 h 607568"/>
              <a:gd name="connsiteX41" fmla="*/ 250378 w 535805"/>
              <a:gd name="connsiteY41" fmla="*/ 454144 h 607568"/>
              <a:gd name="connsiteX42" fmla="*/ 250378 w 535805"/>
              <a:gd name="connsiteY42" fmla="*/ 409344 h 607568"/>
              <a:gd name="connsiteX43" fmla="*/ 201669 w 535805"/>
              <a:gd name="connsiteY43" fmla="*/ 254692 h 607568"/>
              <a:gd name="connsiteX44" fmla="*/ 204435 w 535805"/>
              <a:gd name="connsiteY44" fmla="*/ 239963 h 607568"/>
              <a:gd name="connsiteX45" fmla="*/ 217650 w 535805"/>
              <a:gd name="connsiteY45" fmla="*/ 233212 h 607568"/>
              <a:gd name="connsiteX46" fmla="*/ 314605 w 535805"/>
              <a:gd name="connsiteY46" fmla="*/ 233212 h 607568"/>
              <a:gd name="connsiteX47" fmla="*/ 327666 w 535805"/>
              <a:gd name="connsiteY47" fmla="*/ 239810 h 607568"/>
              <a:gd name="connsiteX48" fmla="*/ 329971 w 535805"/>
              <a:gd name="connsiteY48" fmla="*/ 254232 h 607568"/>
              <a:gd name="connsiteX49" fmla="*/ 283260 w 535805"/>
              <a:gd name="connsiteY49" fmla="*/ 409190 h 607568"/>
              <a:gd name="connsiteX50" fmla="*/ 283260 w 535805"/>
              <a:gd name="connsiteY50" fmla="*/ 454144 h 607568"/>
              <a:gd name="connsiteX51" fmla="*/ 317986 w 535805"/>
              <a:gd name="connsiteY51" fmla="*/ 454144 h 607568"/>
              <a:gd name="connsiteX52" fmla="*/ 317986 w 535805"/>
              <a:gd name="connsiteY52" fmla="*/ 411645 h 607568"/>
              <a:gd name="connsiteX53" fmla="*/ 327666 w 535805"/>
              <a:gd name="connsiteY53" fmla="*/ 396916 h 607568"/>
              <a:gd name="connsiteX54" fmla="*/ 405108 w 535805"/>
              <a:gd name="connsiteY54" fmla="*/ 273256 h 607568"/>
              <a:gd name="connsiteX55" fmla="*/ 267434 w 535805"/>
              <a:gd name="connsiteY55" fmla="*/ 135634 h 607568"/>
              <a:gd name="connsiteX56" fmla="*/ 267587 w 535805"/>
              <a:gd name="connsiteY56" fmla="*/ 102955 h 607568"/>
              <a:gd name="connsiteX57" fmla="*/ 437683 w 535805"/>
              <a:gd name="connsiteY57" fmla="*/ 273256 h 607568"/>
              <a:gd name="connsiteX58" fmla="*/ 350868 w 535805"/>
              <a:gd name="connsiteY58" fmla="*/ 421464 h 607568"/>
              <a:gd name="connsiteX59" fmla="*/ 350868 w 535805"/>
              <a:gd name="connsiteY59" fmla="*/ 455371 h 607568"/>
              <a:gd name="connsiteX60" fmla="*/ 369000 w 535805"/>
              <a:gd name="connsiteY60" fmla="*/ 479766 h 607568"/>
              <a:gd name="connsiteX61" fmla="*/ 343646 w 535805"/>
              <a:gd name="connsiteY61" fmla="*/ 505234 h 607568"/>
              <a:gd name="connsiteX62" fmla="*/ 321674 w 535805"/>
              <a:gd name="connsiteY62" fmla="*/ 505234 h 607568"/>
              <a:gd name="connsiteX63" fmla="*/ 337193 w 535805"/>
              <a:gd name="connsiteY63" fmla="*/ 528861 h 607568"/>
              <a:gd name="connsiteX64" fmla="*/ 311532 w 535805"/>
              <a:gd name="connsiteY64" fmla="*/ 554330 h 607568"/>
              <a:gd name="connsiteX65" fmla="*/ 295552 w 535805"/>
              <a:gd name="connsiteY65" fmla="*/ 554330 h 607568"/>
              <a:gd name="connsiteX66" fmla="*/ 295552 w 535805"/>
              <a:gd name="connsiteY66" fmla="*/ 578111 h 607568"/>
              <a:gd name="connsiteX67" fmla="*/ 267587 w 535805"/>
              <a:gd name="connsiteY67" fmla="*/ 607568 h 607568"/>
              <a:gd name="connsiteX68" fmla="*/ 267434 w 535805"/>
              <a:gd name="connsiteY68" fmla="*/ 607568 h 607568"/>
              <a:gd name="connsiteX69" fmla="*/ 236088 w 535805"/>
              <a:gd name="connsiteY69" fmla="*/ 578111 h 607568"/>
              <a:gd name="connsiteX70" fmla="*/ 236088 w 535805"/>
              <a:gd name="connsiteY70" fmla="*/ 554330 h 607568"/>
              <a:gd name="connsiteX71" fmla="*/ 221491 w 535805"/>
              <a:gd name="connsiteY71" fmla="*/ 554330 h 607568"/>
              <a:gd name="connsiteX72" fmla="*/ 195831 w 535805"/>
              <a:gd name="connsiteY72" fmla="*/ 528861 h 607568"/>
              <a:gd name="connsiteX73" fmla="*/ 211350 w 535805"/>
              <a:gd name="connsiteY73" fmla="*/ 505234 h 607568"/>
              <a:gd name="connsiteX74" fmla="*/ 189377 w 535805"/>
              <a:gd name="connsiteY74" fmla="*/ 505234 h 607568"/>
              <a:gd name="connsiteX75" fmla="*/ 163409 w 535805"/>
              <a:gd name="connsiteY75" fmla="*/ 479766 h 607568"/>
              <a:gd name="connsiteX76" fmla="*/ 182770 w 535805"/>
              <a:gd name="connsiteY76" fmla="*/ 454757 h 607568"/>
              <a:gd name="connsiteX77" fmla="*/ 182770 w 535805"/>
              <a:gd name="connsiteY77" fmla="*/ 421464 h 607568"/>
              <a:gd name="connsiteX78" fmla="*/ 96570 w 535805"/>
              <a:gd name="connsiteY78" fmla="*/ 273256 h 607568"/>
              <a:gd name="connsiteX79" fmla="*/ 267587 w 535805"/>
              <a:gd name="connsiteY79" fmla="*/ 102955 h 607568"/>
              <a:gd name="connsiteX80" fmla="*/ 139966 w 535805"/>
              <a:gd name="connsiteY80" fmla="*/ 39746 h 607568"/>
              <a:gd name="connsiteX81" fmla="*/ 155450 w 535805"/>
              <a:gd name="connsiteY81" fmla="*/ 50503 h 607568"/>
              <a:gd name="connsiteX82" fmla="*/ 167591 w 535805"/>
              <a:gd name="connsiteY82" fmla="*/ 69371 h 607568"/>
              <a:gd name="connsiteX83" fmla="*/ 160214 w 535805"/>
              <a:gd name="connsiteY83" fmla="*/ 103272 h 607568"/>
              <a:gd name="connsiteX84" fmla="*/ 146843 w 535805"/>
              <a:gd name="connsiteY84" fmla="*/ 107260 h 607568"/>
              <a:gd name="connsiteX85" fmla="*/ 126249 w 535805"/>
              <a:gd name="connsiteY85" fmla="*/ 95909 h 607568"/>
              <a:gd name="connsiteX86" fmla="*/ 113954 w 535805"/>
              <a:gd name="connsiteY86" fmla="*/ 77041 h 607568"/>
              <a:gd name="connsiteX87" fmla="*/ 121485 w 535805"/>
              <a:gd name="connsiteY87" fmla="*/ 43140 h 607568"/>
              <a:gd name="connsiteX88" fmla="*/ 139966 w 535805"/>
              <a:gd name="connsiteY88" fmla="*/ 39746 h 607568"/>
              <a:gd name="connsiteX89" fmla="*/ 395557 w 535805"/>
              <a:gd name="connsiteY89" fmla="*/ 39451 h 607568"/>
              <a:gd name="connsiteX90" fmla="*/ 414038 w 535805"/>
              <a:gd name="connsiteY90" fmla="*/ 42787 h 607568"/>
              <a:gd name="connsiteX91" fmla="*/ 421415 w 535805"/>
              <a:gd name="connsiteY91" fmla="*/ 76688 h 607568"/>
              <a:gd name="connsiteX92" fmla="*/ 409274 w 535805"/>
              <a:gd name="connsiteY92" fmla="*/ 95709 h 607568"/>
              <a:gd name="connsiteX93" fmla="*/ 388526 w 535805"/>
              <a:gd name="connsiteY93" fmla="*/ 106907 h 607568"/>
              <a:gd name="connsiteX94" fmla="*/ 375156 w 535805"/>
              <a:gd name="connsiteY94" fmla="*/ 103072 h 607568"/>
              <a:gd name="connsiteX95" fmla="*/ 367932 w 535805"/>
              <a:gd name="connsiteY95" fmla="*/ 69018 h 607568"/>
              <a:gd name="connsiteX96" fmla="*/ 380073 w 535805"/>
              <a:gd name="connsiteY96" fmla="*/ 50150 h 607568"/>
              <a:gd name="connsiteX97" fmla="*/ 395557 w 535805"/>
              <a:gd name="connsiteY97" fmla="*/ 39451 h 607568"/>
              <a:gd name="connsiteX98" fmla="*/ 266844 w 535805"/>
              <a:gd name="connsiteY98" fmla="*/ 0 h 607568"/>
              <a:gd name="connsiteX99" fmla="*/ 291401 w 535805"/>
              <a:gd name="connsiteY99" fmla="*/ 24539 h 607568"/>
              <a:gd name="connsiteX100" fmla="*/ 291401 w 535805"/>
              <a:gd name="connsiteY100" fmla="*/ 47085 h 607568"/>
              <a:gd name="connsiteX101" fmla="*/ 266844 w 535805"/>
              <a:gd name="connsiteY101" fmla="*/ 71624 h 607568"/>
              <a:gd name="connsiteX102" fmla="*/ 242287 w 535805"/>
              <a:gd name="connsiteY102" fmla="*/ 47085 h 607568"/>
              <a:gd name="connsiteX103" fmla="*/ 242287 w 535805"/>
              <a:gd name="connsiteY103" fmla="*/ 24539 h 607568"/>
              <a:gd name="connsiteX104" fmla="*/ 266844 w 535805"/>
              <a:gd name="connsiteY104" fmla="*/ 0 h 60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535805" h="607568">
                <a:moveTo>
                  <a:pt x="43428" y="277681"/>
                </a:moveTo>
                <a:cubicBezTo>
                  <a:pt x="56790" y="275840"/>
                  <a:pt x="69231" y="285044"/>
                  <a:pt x="71228" y="298542"/>
                </a:cubicBezTo>
                <a:cubicBezTo>
                  <a:pt x="73071" y="311887"/>
                  <a:pt x="63855" y="324312"/>
                  <a:pt x="50339" y="326306"/>
                </a:cubicBezTo>
                <a:lnTo>
                  <a:pt x="28068" y="329528"/>
                </a:lnTo>
                <a:cubicBezTo>
                  <a:pt x="26840" y="329681"/>
                  <a:pt x="25765" y="329681"/>
                  <a:pt x="24536" y="329681"/>
                </a:cubicBezTo>
                <a:cubicBezTo>
                  <a:pt x="12556" y="329681"/>
                  <a:pt x="1958" y="320938"/>
                  <a:pt x="268" y="308666"/>
                </a:cubicBezTo>
                <a:cubicBezTo>
                  <a:pt x="-1728" y="295321"/>
                  <a:pt x="7641" y="282896"/>
                  <a:pt x="21157" y="280902"/>
                </a:cubicBezTo>
                <a:close/>
                <a:moveTo>
                  <a:pt x="492377" y="277411"/>
                </a:moveTo>
                <a:lnTo>
                  <a:pt x="514802" y="280631"/>
                </a:lnTo>
                <a:cubicBezTo>
                  <a:pt x="528164" y="282472"/>
                  <a:pt x="537533" y="294894"/>
                  <a:pt x="535537" y="308390"/>
                </a:cubicBezTo>
                <a:cubicBezTo>
                  <a:pt x="533693" y="320658"/>
                  <a:pt x="523249" y="329400"/>
                  <a:pt x="511269" y="329400"/>
                </a:cubicBezTo>
                <a:cubicBezTo>
                  <a:pt x="510040" y="329400"/>
                  <a:pt x="508965" y="329247"/>
                  <a:pt x="507737" y="329093"/>
                </a:cubicBezTo>
                <a:lnTo>
                  <a:pt x="485466" y="325873"/>
                </a:lnTo>
                <a:cubicBezTo>
                  <a:pt x="471950" y="324032"/>
                  <a:pt x="462734" y="311457"/>
                  <a:pt x="464577" y="298114"/>
                </a:cubicBezTo>
                <a:cubicBezTo>
                  <a:pt x="466574" y="284772"/>
                  <a:pt x="479015" y="275417"/>
                  <a:pt x="492377" y="277411"/>
                </a:cubicBezTo>
                <a:close/>
                <a:moveTo>
                  <a:pt x="240083" y="265892"/>
                </a:moveTo>
                <a:lnTo>
                  <a:pt x="267126" y="350889"/>
                </a:lnTo>
                <a:lnTo>
                  <a:pt x="292633" y="265892"/>
                </a:lnTo>
                <a:close/>
                <a:moveTo>
                  <a:pt x="35560" y="145308"/>
                </a:moveTo>
                <a:cubicBezTo>
                  <a:pt x="41459" y="143119"/>
                  <a:pt x="48186" y="143196"/>
                  <a:pt x="54335" y="146037"/>
                </a:cubicBezTo>
                <a:lnTo>
                  <a:pt x="74937" y="155251"/>
                </a:lnTo>
                <a:cubicBezTo>
                  <a:pt x="87236" y="160933"/>
                  <a:pt x="92617" y="175521"/>
                  <a:pt x="87082" y="187806"/>
                </a:cubicBezTo>
                <a:cubicBezTo>
                  <a:pt x="82931" y="196866"/>
                  <a:pt x="74014" y="202241"/>
                  <a:pt x="64636" y="202241"/>
                </a:cubicBezTo>
                <a:cubicBezTo>
                  <a:pt x="61254" y="202241"/>
                  <a:pt x="57718" y="201473"/>
                  <a:pt x="54489" y="200091"/>
                </a:cubicBezTo>
                <a:lnTo>
                  <a:pt x="33888" y="190724"/>
                </a:lnTo>
                <a:cubicBezTo>
                  <a:pt x="21588" y="185042"/>
                  <a:pt x="16054" y="170453"/>
                  <a:pt x="21742" y="158168"/>
                </a:cubicBezTo>
                <a:cubicBezTo>
                  <a:pt x="24587" y="151949"/>
                  <a:pt x="29660" y="147496"/>
                  <a:pt x="35560" y="145308"/>
                </a:cubicBezTo>
                <a:close/>
                <a:moveTo>
                  <a:pt x="500064" y="144934"/>
                </a:moveTo>
                <a:cubicBezTo>
                  <a:pt x="505958" y="147139"/>
                  <a:pt x="511027" y="151586"/>
                  <a:pt x="513869" y="157720"/>
                </a:cubicBezTo>
                <a:cubicBezTo>
                  <a:pt x="519398" y="170142"/>
                  <a:pt x="514022" y="184711"/>
                  <a:pt x="501581" y="190232"/>
                </a:cubicBezTo>
                <a:lnTo>
                  <a:pt x="481152" y="199587"/>
                </a:lnTo>
                <a:cubicBezTo>
                  <a:pt x="477773" y="201120"/>
                  <a:pt x="474393" y="201887"/>
                  <a:pt x="471014" y="201887"/>
                </a:cubicBezTo>
                <a:cubicBezTo>
                  <a:pt x="461644" y="201887"/>
                  <a:pt x="452736" y="196520"/>
                  <a:pt x="448588" y="187472"/>
                </a:cubicBezTo>
                <a:cubicBezTo>
                  <a:pt x="442905" y="175050"/>
                  <a:pt x="448435" y="160634"/>
                  <a:pt x="460723" y="154960"/>
                </a:cubicBezTo>
                <a:lnTo>
                  <a:pt x="481305" y="145605"/>
                </a:lnTo>
                <a:cubicBezTo>
                  <a:pt x="487449" y="142768"/>
                  <a:pt x="494169" y="142730"/>
                  <a:pt x="500064" y="144934"/>
                </a:cubicBezTo>
                <a:close/>
                <a:moveTo>
                  <a:pt x="267434" y="135634"/>
                </a:moveTo>
                <a:cubicBezTo>
                  <a:pt x="191528" y="135634"/>
                  <a:pt x="129605" y="197465"/>
                  <a:pt x="129605" y="273256"/>
                </a:cubicBezTo>
                <a:cubicBezTo>
                  <a:pt x="129605" y="326188"/>
                  <a:pt x="159107" y="373596"/>
                  <a:pt x="206740" y="396916"/>
                </a:cubicBezTo>
                <a:cubicBezTo>
                  <a:pt x="212425" y="399678"/>
                  <a:pt x="215652" y="405355"/>
                  <a:pt x="215652" y="411645"/>
                </a:cubicBezTo>
                <a:lnTo>
                  <a:pt x="215652" y="454144"/>
                </a:lnTo>
                <a:lnTo>
                  <a:pt x="250378" y="454144"/>
                </a:lnTo>
                <a:lnTo>
                  <a:pt x="250378" y="409344"/>
                </a:lnTo>
                <a:lnTo>
                  <a:pt x="201669" y="254692"/>
                </a:lnTo>
                <a:cubicBezTo>
                  <a:pt x="200133" y="249782"/>
                  <a:pt x="201362" y="244259"/>
                  <a:pt x="204435" y="239963"/>
                </a:cubicBezTo>
                <a:cubicBezTo>
                  <a:pt x="207508" y="235821"/>
                  <a:pt x="212425" y="233212"/>
                  <a:pt x="217650" y="233212"/>
                </a:cubicBezTo>
                <a:lnTo>
                  <a:pt x="314605" y="233212"/>
                </a:lnTo>
                <a:cubicBezTo>
                  <a:pt x="319830" y="233212"/>
                  <a:pt x="324593" y="235667"/>
                  <a:pt x="327666" y="239810"/>
                </a:cubicBezTo>
                <a:cubicBezTo>
                  <a:pt x="330739" y="243952"/>
                  <a:pt x="331507" y="249322"/>
                  <a:pt x="329971" y="254232"/>
                </a:cubicBezTo>
                <a:lnTo>
                  <a:pt x="283260" y="409190"/>
                </a:lnTo>
                <a:lnTo>
                  <a:pt x="283260" y="454144"/>
                </a:lnTo>
                <a:lnTo>
                  <a:pt x="317986" y="454144"/>
                </a:lnTo>
                <a:lnTo>
                  <a:pt x="317986" y="411645"/>
                </a:lnTo>
                <a:cubicBezTo>
                  <a:pt x="317986" y="405355"/>
                  <a:pt x="321981" y="399678"/>
                  <a:pt x="327666" y="396916"/>
                </a:cubicBezTo>
                <a:cubicBezTo>
                  <a:pt x="375300" y="373596"/>
                  <a:pt x="405108" y="326188"/>
                  <a:pt x="405108" y="273256"/>
                </a:cubicBezTo>
                <a:cubicBezTo>
                  <a:pt x="405108" y="197465"/>
                  <a:pt x="343339" y="135634"/>
                  <a:pt x="267434" y="135634"/>
                </a:cubicBezTo>
                <a:close/>
                <a:moveTo>
                  <a:pt x="267587" y="102955"/>
                </a:moveTo>
                <a:cubicBezTo>
                  <a:pt x="361624" y="102955"/>
                  <a:pt x="437683" y="179360"/>
                  <a:pt x="437683" y="273256"/>
                </a:cubicBezTo>
                <a:cubicBezTo>
                  <a:pt x="437683" y="335393"/>
                  <a:pt x="406184" y="391240"/>
                  <a:pt x="350868" y="421464"/>
                </a:cubicBezTo>
                <a:lnTo>
                  <a:pt x="350868" y="455371"/>
                </a:lnTo>
                <a:cubicBezTo>
                  <a:pt x="361010" y="458746"/>
                  <a:pt x="369000" y="468259"/>
                  <a:pt x="369000" y="479766"/>
                </a:cubicBezTo>
                <a:cubicBezTo>
                  <a:pt x="369000" y="493881"/>
                  <a:pt x="357782" y="505234"/>
                  <a:pt x="343646" y="505234"/>
                </a:cubicBezTo>
                <a:lnTo>
                  <a:pt x="321674" y="505234"/>
                </a:lnTo>
                <a:cubicBezTo>
                  <a:pt x="330739" y="509223"/>
                  <a:pt x="337193" y="518275"/>
                  <a:pt x="337193" y="528861"/>
                </a:cubicBezTo>
                <a:cubicBezTo>
                  <a:pt x="337193" y="542976"/>
                  <a:pt x="325669" y="554330"/>
                  <a:pt x="311532" y="554330"/>
                </a:cubicBezTo>
                <a:lnTo>
                  <a:pt x="295552" y="554330"/>
                </a:lnTo>
                <a:lnTo>
                  <a:pt x="295552" y="578111"/>
                </a:lnTo>
                <a:cubicBezTo>
                  <a:pt x="295552" y="594374"/>
                  <a:pt x="284028" y="607568"/>
                  <a:pt x="267587" y="607568"/>
                </a:cubicBezTo>
                <a:lnTo>
                  <a:pt x="267434" y="607568"/>
                </a:lnTo>
                <a:cubicBezTo>
                  <a:pt x="251146" y="607568"/>
                  <a:pt x="236088" y="594374"/>
                  <a:pt x="236088" y="578111"/>
                </a:cubicBezTo>
                <a:lnTo>
                  <a:pt x="236088" y="554330"/>
                </a:lnTo>
                <a:lnTo>
                  <a:pt x="221491" y="554330"/>
                </a:lnTo>
                <a:cubicBezTo>
                  <a:pt x="207355" y="554330"/>
                  <a:pt x="195831" y="542976"/>
                  <a:pt x="195831" y="528861"/>
                </a:cubicBezTo>
                <a:cubicBezTo>
                  <a:pt x="195831" y="518275"/>
                  <a:pt x="202284" y="509223"/>
                  <a:pt x="211350" y="505234"/>
                </a:cubicBezTo>
                <a:lnTo>
                  <a:pt x="189377" y="505234"/>
                </a:lnTo>
                <a:cubicBezTo>
                  <a:pt x="175241" y="505234"/>
                  <a:pt x="163409" y="493881"/>
                  <a:pt x="163409" y="479766"/>
                </a:cubicBezTo>
                <a:cubicBezTo>
                  <a:pt x="163409" y="467645"/>
                  <a:pt x="172629" y="457519"/>
                  <a:pt x="182770" y="454757"/>
                </a:cubicBezTo>
                <a:lnTo>
                  <a:pt x="182770" y="421464"/>
                </a:lnTo>
                <a:cubicBezTo>
                  <a:pt x="129605" y="391240"/>
                  <a:pt x="96570" y="335393"/>
                  <a:pt x="96570" y="273256"/>
                </a:cubicBezTo>
                <a:cubicBezTo>
                  <a:pt x="96570" y="179360"/>
                  <a:pt x="173551" y="102955"/>
                  <a:pt x="267587" y="102955"/>
                </a:cubicBezTo>
                <a:close/>
                <a:moveTo>
                  <a:pt x="139966" y="39746"/>
                </a:moveTo>
                <a:cubicBezTo>
                  <a:pt x="146113" y="41069"/>
                  <a:pt x="151761" y="44751"/>
                  <a:pt x="155450" y="50503"/>
                </a:cubicBezTo>
                <a:lnTo>
                  <a:pt x="167591" y="69371"/>
                </a:lnTo>
                <a:cubicBezTo>
                  <a:pt x="174968" y="80722"/>
                  <a:pt x="171587" y="95909"/>
                  <a:pt x="160214" y="103272"/>
                </a:cubicBezTo>
                <a:cubicBezTo>
                  <a:pt x="156064" y="105879"/>
                  <a:pt x="151454" y="107260"/>
                  <a:pt x="146843" y="107260"/>
                </a:cubicBezTo>
                <a:cubicBezTo>
                  <a:pt x="138851" y="107260"/>
                  <a:pt x="130860" y="103272"/>
                  <a:pt x="126249" y="95909"/>
                </a:cubicBezTo>
                <a:lnTo>
                  <a:pt x="113954" y="77041"/>
                </a:lnTo>
                <a:cubicBezTo>
                  <a:pt x="106731" y="65536"/>
                  <a:pt x="109958" y="50350"/>
                  <a:pt x="121485" y="43140"/>
                </a:cubicBezTo>
                <a:cubicBezTo>
                  <a:pt x="127171" y="39459"/>
                  <a:pt x="133818" y="38423"/>
                  <a:pt x="139966" y="39746"/>
                </a:cubicBezTo>
                <a:close/>
                <a:moveTo>
                  <a:pt x="395557" y="39451"/>
                </a:moveTo>
                <a:cubicBezTo>
                  <a:pt x="401705" y="38109"/>
                  <a:pt x="408352" y="39106"/>
                  <a:pt x="414038" y="42787"/>
                </a:cubicBezTo>
                <a:cubicBezTo>
                  <a:pt x="425411" y="50150"/>
                  <a:pt x="428792" y="65336"/>
                  <a:pt x="421415" y="76688"/>
                </a:cubicBezTo>
                <a:lnTo>
                  <a:pt x="409274" y="95709"/>
                </a:lnTo>
                <a:cubicBezTo>
                  <a:pt x="404510" y="102919"/>
                  <a:pt x="396518" y="106907"/>
                  <a:pt x="388526" y="106907"/>
                </a:cubicBezTo>
                <a:cubicBezTo>
                  <a:pt x="383916" y="106907"/>
                  <a:pt x="379305" y="105680"/>
                  <a:pt x="375156" y="103072"/>
                </a:cubicBezTo>
                <a:cubicBezTo>
                  <a:pt x="363783" y="95709"/>
                  <a:pt x="360555" y="80523"/>
                  <a:pt x="367932" y="69018"/>
                </a:cubicBezTo>
                <a:lnTo>
                  <a:pt x="380073" y="50150"/>
                </a:lnTo>
                <a:cubicBezTo>
                  <a:pt x="383762" y="44475"/>
                  <a:pt x="389410" y="40793"/>
                  <a:pt x="395557" y="39451"/>
                </a:cubicBezTo>
                <a:close/>
                <a:moveTo>
                  <a:pt x="266844" y="0"/>
                </a:moveTo>
                <a:cubicBezTo>
                  <a:pt x="280504" y="0"/>
                  <a:pt x="291401" y="11043"/>
                  <a:pt x="291401" y="24539"/>
                </a:cubicBezTo>
                <a:lnTo>
                  <a:pt x="291401" y="47085"/>
                </a:lnTo>
                <a:cubicBezTo>
                  <a:pt x="291401" y="60581"/>
                  <a:pt x="280504" y="71624"/>
                  <a:pt x="266844" y="71624"/>
                </a:cubicBezTo>
                <a:cubicBezTo>
                  <a:pt x="253337" y="71624"/>
                  <a:pt x="242287" y="60581"/>
                  <a:pt x="242287" y="47085"/>
                </a:cubicBezTo>
                <a:lnTo>
                  <a:pt x="242287" y="24539"/>
                </a:lnTo>
                <a:cubicBezTo>
                  <a:pt x="242287" y="11043"/>
                  <a:pt x="253337" y="0"/>
                  <a:pt x="266844"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63" name="矩形 162"/>
          <p:cNvSpPr/>
          <p:nvPr/>
        </p:nvSpPr>
        <p:spPr>
          <a:xfrm>
            <a:off x="11440246" y="862492"/>
            <a:ext cx="415498" cy="1846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健康类</a:t>
            </a:r>
            <a:endPar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sp>
        <p:nvSpPr>
          <p:cNvPr id="164" name="矩形 163"/>
          <p:cNvSpPr/>
          <p:nvPr/>
        </p:nvSpPr>
        <p:spPr>
          <a:xfrm>
            <a:off x="11440246" y="1343036"/>
            <a:ext cx="415498" cy="1846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节能类</a:t>
            </a:r>
            <a:endPar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pic>
        <p:nvPicPr>
          <p:cNvPr id="11" name="图片 10" descr="图片1"/>
          <p:cNvPicPr>
            <a:picLocks noChangeAspect="1"/>
          </p:cNvPicPr>
          <p:nvPr>
            <p:custDataLst>
              <p:tags r:id="rId26"/>
            </p:custDataLst>
          </p:nvPr>
        </p:nvPicPr>
        <p:blipFill>
          <a:blip r:embed="rId27"/>
          <a:srcRect l="30625" t="60578" r="28571"/>
          <a:stretch>
            <a:fillRect/>
          </a:stretch>
        </p:blipFill>
        <p:spPr>
          <a:xfrm>
            <a:off x="5718386" y="3355954"/>
            <a:ext cx="721214" cy="804378"/>
          </a:xfrm>
          <a:prstGeom prst="rect">
            <a:avLst/>
          </a:prstGeom>
        </p:spPr>
      </p:pic>
      <p:sp>
        <p:nvSpPr>
          <p:cNvPr id="12" name="矩形 11"/>
          <p:cNvSpPr/>
          <p:nvPr/>
        </p:nvSpPr>
        <p:spPr>
          <a:xfrm>
            <a:off x="5789884" y="4167953"/>
            <a:ext cx="762385" cy="18466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600" dirty="0">
                <a:solidFill>
                  <a:srgbClr val="0070C0"/>
                </a:solidFill>
                <a:latin typeface="微软雅黑" panose="020B0503020204020204" charset="-122"/>
                <a:ea typeface="微软雅黑" panose="020B0503020204020204" charset="-122"/>
              </a:rPr>
              <a:t>深嵌射灯</a:t>
            </a:r>
            <a:r>
              <a:rPr kumimoji="0" lang="en-US" altLang="zh-CN"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a:t>
            </a:r>
            <a:r>
              <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rPr>
              <a:t>佳系列</a:t>
            </a:r>
            <a:endParaRPr kumimoji="0" lang="zh-CN" altLang="en-US" sz="600" b="0" i="0" u="none" strike="noStrike" kern="120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cs"/>
            </a:endParaRPr>
          </a:p>
        </p:txBody>
      </p:sp>
      <p:sp>
        <p:nvSpPr>
          <p:cNvPr id="13" name="iconfont-10187-1761481"/>
          <p:cNvSpPr/>
          <p:nvPr/>
        </p:nvSpPr>
        <p:spPr>
          <a:xfrm>
            <a:off x="6513079" y="3923832"/>
            <a:ext cx="204019" cy="181329"/>
          </a:xfrm>
          <a:custGeom>
            <a:avLst/>
            <a:gdLst>
              <a:gd name="T0" fmla="*/ 7328 w 11520"/>
              <a:gd name="T1" fmla="*/ 6720 h 10240"/>
              <a:gd name="T2" fmla="*/ 6048 w 11520"/>
              <a:gd name="T3" fmla="*/ 6720 h 10240"/>
              <a:gd name="T4" fmla="*/ 6048 w 11520"/>
              <a:gd name="T5" fmla="*/ 5440 h 10240"/>
              <a:gd name="T6" fmla="*/ 5728 w 11520"/>
              <a:gd name="T7" fmla="*/ 5120 h 10240"/>
              <a:gd name="T8" fmla="*/ 5408 w 11520"/>
              <a:gd name="T9" fmla="*/ 5440 h 10240"/>
              <a:gd name="T10" fmla="*/ 5408 w 11520"/>
              <a:gd name="T11" fmla="*/ 6720 h 10240"/>
              <a:gd name="T12" fmla="*/ 4128 w 11520"/>
              <a:gd name="T13" fmla="*/ 6720 h 10240"/>
              <a:gd name="T14" fmla="*/ 3808 w 11520"/>
              <a:gd name="T15" fmla="*/ 7040 h 10240"/>
              <a:gd name="T16" fmla="*/ 4128 w 11520"/>
              <a:gd name="T17" fmla="*/ 7360 h 10240"/>
              <a:gd name="T18" fmla="*/ 5408 w 11520"/>
              <a:gd name="T19" fmla="*/ 7360 h 10240"/>
              <a:gd name="T20" fmla="*/ 5408 w 11520"/>
              <a:gd name="T21" fmla="*/ 8640 h 10240"/>
              <a:gd name="T22" fmla="*/ 5728 w 11520"/>
              <a:gd name="T23" fmla="*/ 8960 h 10240"/>
              <a:gd name="T24" fmla="*/ 6048 w 11520"/>
              <a:gd name="T25" fmla="*/ 8640 h 10240"/>
              <a:gd name="T26" fmla="*/ 6048 w 11520"/>
              <a:gd name="T27" fmla="*/ 7360 h 10240"/>
              <a:gd name="T28" fmla="*/ 7328 w 11520"/>
              <a:gd name="T29" fmla="*/ 7360 h 10240"/>
              <a:gd name="T30" fmla="*/ 7648 w 11520"/>
              <a:gd name="T31" fmla="*/ 7040 h 10240"/>
              <a:gd name="T32" fmla="*/ 7328 w 11520"/>
              <a:gd name="T33" fmla="*/ 6720 h 10240"/>
              <a:gd name="T34" fmla="*/ 11168 w 11520"/>
              <a:gd name="T35" fmla="*/ 1920 h 10240"/>
              <a:gd name="T36" fmla="*/ 8864 w 11520"/>
              <a:gd name="T37" fmla="*/ 1920 h 10240"/>
              <a:gd name="T38" fmla="*/ 8672 w 11520"/>
              <a:gd name="T39" fmla="*/ 288 h 10240"/>
              <a:gd name="T40" fmla="*/ 8352 w 11520"/>
              <a:gd name="T41" fmla="*/ 0 h 10240"/>
              <a:gd name="T42" fmla="*/ 3136 w 11520"/>
              <a:gd name="T43" fmla="*/ 0 h 10240"/>
              <a:gd name="T44" fmla="*/ 2816 w 11520"/>
              <a:gd name="T45" fmla="*/ 288 h 10240"/>
              <a:gd name="T46" fmla="*/ 2624 w 11520"/>
              <a:gd name="T47" fmla="*/ 1920 h 10240"/>
              <a:gd name="T48" fmla="*/ 320 w 11520"/>
              <a:gd name="T49" fmla="*/ 1920 h 10240"/>
              <a:gd name="T50" fmla="*/ 0 w 11520"/>
              <a:gd name="T51" fmla="*/ 2240 h 10240"/>
              <a:gd name="T52" fmla="*/ 0 w 11520"/>
              <a:gd name="T53" fmla="*/ 9920 h 10240"/>
              <a:gd name="T54" fmla="*/ 320 w 11520"/>
              <a:gd name="T55" fmla="*/ 10240 h 10240"/>
              <a:gd name="T56" fmla="*/ 11200 w 11520"/>
              <a:gd name="T57" fmla="*/ 10240 h 10240"/>
              <a:gd name="T58" fmla="*/ 11520 w 11520"/>
              <a:gd name="T59" fmla="*/ 9920 h 10240"/>
              <a:gd name="T60" fmla="*/ 11520 w 11520"/>
              <a:gd name="T61" fmla="*/ 2240 h 10240"/>
              <a:gd name="T62" fmla="*/ 11168 w 11520"/>
              <a:gd name="T63" fmla="*/ 1920 h 10240"/>
              <a:gd name="T64" fmla="*/ 3424 w 11520"/>
              <a:gd name="T65" fmla="*/ 640 h 10240"/>
              <a:gd name="T66" fmla="*/ 8064 w 11520"/>
              <a:gd name="T67" fmla="*/ 640 h 10240"/>
              <a:gd name="T68" fmla="*/ 8224 w 11520"/>
              <a:gd name="T69" fmla="*/ 1920 h 10240"/>
              <a:gd name="T70" fmla="*/ 3264 w 11520"/>
              <a:gd name="T71" fmla="*/ 1920 h 10240"/>
              <a:gd name="T72" fmla="*/ 3424 w 11520"/>
              <a:gd name="T73" fmla="*/ 640 h 10240"/>
              <a:gd name="T74" fmla="*/ 608 w 11520"/>
              <a:gd name="T75" fmla="*/ 2560 h 10240"/>
              <a:gd name="T76" fmla="*/ 10848 w 11520"/>
              <a:gd name="T77" fmla="*/ 2560 h 10240"/>
              <a:gd name="T78" fmla="*/ 10848 w 11520"/>
              <a:gd name="T79" fmla="*/ 3840 h 10240"/>
              <a:gd name="T80" fmla="*/ 9248 w 11520"/>
              <a:gd name="T81" fmla="*/ 3840 h 10240"/>
              <a:gd name="T82" fmla="*/ 9248 w 11520"/>
              <a:gd name="T83" fmla="*/ 3520 h 10240"/>
              <a:gd name="T84" fmla="*/ 8928 w 11520"/>
              <a:gd name="T85" fmla="*/ 3200 h 10240"/>
              <a:gd name="T86" fmla="*/ 8608 w 11520"/>
              <a:gd name="T87" fmla="*/ 3520 h 10240"/>
              <a:gd name="T88" fmla="*/ 8608 w 11520"/>
              <a:gd name="T89" fmla="*/ 3840 h 10240"/>
              <a:gd name="T90" fmla="*/ 2848 w 11520"/>
              <a:gd name="T91" fmla="*/ 3840 h 10240"/>
              <a:gd name="T92" fmla="*/ 2848 w 11520"/>
              <a:gd name="T93" fmla="*/ 3520 h 10240"/>
              <a:gd name="T94" fmla="*/ 2528 w 11520"/>
              <a:gd name="T95" fmla="*/ 3200 h 10240"/>
              <a:gd name="T96" fmla="*/ 2208 w 11520"/>
              <a:gd name="T97" fmla="*/ 3520 h 10240"/>
              <a:gd name="T98" fmla="*/ 2208 w 11520"/>
              <a:gd name="T99" fmla="*/ 3840 h 10240"/>
              <a:gd name="T100" fmla="*/ 608 w 11520"/>
              <a:gd name="T101" fmla="*/ 3840 h 10240"/>
              <a:gd name="T102" fmla="*/ 608 w 11520"/>
              <a:gd name="T103" fmla="*/ 2560 h 10240"/>
              <a:gd name="T104" fmla="*/ 10848 w 11520"/>
              <a:gd name="T105" fmla="*/ 9600 h 10240"/>
              <a:gd name="T106" fmla="*/ 608 w 11520"/>
              <a:gd name="T107" fmla="*/ 9600 h 10240"/>
              <a:gd name="T108" fmla="*/ 608 w 11520"/>
              <a:gd name="T109" fmla="*/ 4480 h 10240"/>
              <a:gd name="T110" fmla="*/ 10848 w 11520"/>
              <a:gd name="T111" fmla="*/ 4480 h 10240"/>
              <a:gd name="T112" fmla="*/ 10848 w 11520"/>
              <a:gd name="T113" fmla="*/ 9600 h 10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520" h="10240">
                <a:moveTo>
                  <a:pt x="7328" y="6720"/>
                </a:moveTo>
                <a:lnTo>
                  <a:pt x="6048" y="6720"/>
                </a:lnTo>
                <a:lnTo>
                  <a:pt x="6048" y="5440"/>
                </a:lnTo>
                <a:cubicBezTo>
                  <a:pt x="6048" y="5280"/>
                  <a:pt x="5888" y="5120"/>
                  <a:pt x="5728" y="5120"/>
                </a:cubicBezTo>
                <a:cubicBezTo>
                  <a:pt x="5568" y="5120"/>
                  <a:pt x="5408" y="5280"/>
                  <a:pt x="5408" y="5440"/>
                </a:cubicBezTo>
                <a:lnTo>
                  <a:pt x="5408" y="6720"/>
                </a:lnTo>
                <a:lnTo>
                  <a:pt x="4128" y="6720"/>
                </a:lnTo>
                <a:cubicBezTo>
                  <a:pt x="3968" y="6720"/>
                  <a:pt x="3808" y="6880"/>
                  <a:pt x="3808" y="7040"/>
                </a:cubicBezTo>
                <a:cubicBezTo>
                  <a:pt x="3808" y="7200"/>
                  <a:pt x="3968" y="7360"/>
                  <a:pt x="4128" y="7360"/>
                </a:cubicBezTo>
                <a:lnTo>
                  <a:pt x="5408" y="7360"/>
                </a:lnTo>
                <a:lnTo>
                  <a:pt x="5408" y="8640"/>
                </a:lnTo>
                <a:cubicBezTo>
                  <a:pt x="5408" y="8800"/>
                  <a:pt x="5568" y="8960"/>
                  <a:pt x="5728" y="8960"/>
                </a:cubicBezTo>
                <a:cubicBezTo>
                  <a:pt x="5888" y="8960"/>
                  <a:pt x="6048" y="8800"/>
                  <a:pt x="6048" y="8640"/>
                </a:cubicBezTo>
                <a:lnTo>
                  <a:pt x="6048" y="7360"/>
                </a:lnTo>
                <a:lnTo>
                  <a:pt x="7328" y="7360"/>
                </a:lnTo>
                <a:cubicBezTo>
                  <a:pt x="7488" y="7360"/>
                  <a:pt x="7648" y="7200"/>
                  <a:pt x="7648" y="7040"/>
                </a:cubicBezTo>
                <a:cubicBezTo>
                  <a:pt x="7648" y="6880"/>
                  <a:pt x="7488" y="6720"/>
                  <a:pt x="7328" y="6720"/>
                </a:cubicBezTo>
                <a:close/>
                <a:moveTo>
                  <a:pt x="11168" y="1920"/>
                </a:moveTo>
                <a:lnTo>
                  <a:pt x="8864" y="1920"/>
                </a:lnTo>
                <a:lnTo>
                  <a:pt x="8672" y="288"/>
                </a:lnTo>
                <a:cubicBezTo>
                  <a:pt x="8640" y="128"/>
                  <a:pt x="8512" y="0"/>
                  <a:pt x="8352" y="0"/>
                </a:cubicBezTo>
                <a:lnTo>
                  <a:pt x="3136" y="0"/>
                </a:lnTo>
                <a:cubicBezTo>
                  <a:pt x="2976" y="0"/>
                  <a:pt x="2848" y="128"/>
                  <a:pt x="2816" y="288"/>
                </a:cubicBezTo>
                <a:lnTo>
                  <a:pt x="2624" y="1920"/>
                </a:lnTo>
                <a:lnTo>
                  <a:pt x="320" y="1920"/>
                </a:lnTo>
                <a:cubicBezTo>
                  <a:pt x="160" y="1920"/>
                  <a:pt x="0" y="2080"/>
                  <a:pt x="0" y="2240"/>
                </a:cubicBezTo>
                <a:lnTo>
                  <a:pt x="0" y="9920"/>
                </a:lnTo>
                <a:cubicBezTo>
                  <a:pt x="0" y="10080"/>
                  <a:pt x="160" y="10240"/>
                  <a:pt x="320" y="10240"/>
                </a:cubicBezTo>
                <a:lnTo>
                  <a:pt x="11200" y="10240"/>
                </a:lnTo>
                <a:cubicBezTo>
                  <a:pt x="11360" y="10240"/>
                  <a:pt x="11520" y="10080"/>
                  <a:pt x="11520" y="9920"/>
                </a:cubicBezTo>
                <a:lnTo>
                  <a:pt x="11520" y="2240"/>
                </a:lnTo>
                <a:cubicBezTo>
                  <a:pt x="11488" y="2080"/>
                  <a:pt x="11328" y="1920"/>
                  <a:pt x="11168" y="1920"/>
                </a:cubicBezTo>
                <a:close/>
                <a:moveTo>
                  <a:pt x="3424" y="640"/>
                </a:moveTo>
                <a:lnTo>
                  <a:pt x="8064" y="640"/>
                </a:lnTo>
                <a:lnTo>
                  <a:pt x="8224" y="1920"/>
                </a:lnTo>
                <a:lnTo>
                  <a:pt x="3264" y="1920"/>
                </a:lnTo>
                <a:lnTo>
                  <a:pt x="3424" y="640"/>
                </a:lnTo>
                <a:close/>
                <a:moveTo>
                  <a:pt x="608" y="2560"/>
                </a:moveTo>
                <a:lnTo>
                  <a:pt x="10848" y="2560"/>
                </a:lnTo>
                <a:lnTo>
                  <a:pt x="10848" y="3840"/>
                </a:lnTo>
                <a:lnTo>
                  <a:pt x="9248" y="3840"/>
                </a:lnTo>
                <a:lnTo>
                  <a:pt x="9248" y="3520"/>
                </a:lnTo>
                <a:cubicBezTo>
                  <a:pt x="9248" y="3360"/>
                  <a:pt x="9088" y="3200"/>
                  <a:pt x="8928" y="3200"/>
                </a:cubicBezTo>
                <a:cubicBezTo>
                  <a:pt x="8768" y="3200"/>
                  <a:pt x="8608" y="3360"/>
                  <a:pt x="8608" y="3520"/>
                </a:cubicBezTo>
                <a:lnTo>
                  <a:pt x="8608" y="3840"/>
                </a:lnTo>
                <a:lnTo>
                  <a:pt x="2848" y="3840"/>
                </a:lnTo>
                <a:lnTo>
                  <a:pt x="2848" y="3520"/>
                </a:lnTo>
                <a:cubicBezTo>
                  <a:pt x="2848" y="3360"/>
                  <a:pt x="2688" y="3200"/>
                  <a:pt x="2528" y="3200"/>
                </a:cubicBezTo>
                <a:cubicBezTo>
                  <a:pt x="2368" y="3200"/>
                  <a:pt x="2208" y="3360"/>
                  <a:pt x="2208" y="3520"/>
                </a:cubicBezTo>
                <a:lnTo>
                  <a:pt x="2208" y="3840"/>
                </a:lnTo>
                <a:lnTo>
                  <a:pt x="608" y="3840"/>
                </a:lnTo>
                <a:lnTo>
                  <a:pt x="608" y="2560"/>
                </a:lnTo>
                <a:close/>
                <a:moveTo>
                  <a:pt x="10848" y="9600"/>
                </a:moveTo>
                <a:lnTo>
                  <a:pt x="608" y="9600"/>
                </a:lnTo>
                <a:lnTo>
                  <a:pt x="608" y="4480"/>
                </a:lnTo>
                <a:lnTo>
                  <a:pt x="10848" y="4480"/>
                </a:lnTo>
                <a:lnTo>
                  <a:pt x="10848" y="96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24" name="图片 2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4571999" cy="6858000"/>
          </a:xfrm>
          <a:prstGeom prst="rect">
            <a:avLst/>
          </a:prstGeom>
        </p:spPr>
      </p:pic>
      <p:grpSp>
        <p:nvGrpSpPr>
          <p:cNvPr id="49" name="组合 48"/>
          <p:cNvGrpSpPr/>
          <p:nvPr/>
        </p:nvGrpSpPr>
        <p:grpSpPr>
          <a:xfrm>
            <a:off x="4676582" y="-13310"/>
            <a:ext cx="4571999" cy="3250061"/>
            <a:chOff x="7171660" y="0"/>
            <a:chExt cx="5020340" cy="3568770"/>
          </a:xfrm>
        </p:grpSpPr>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12820" y="0"/>
              <a:ext cx="2379180" cy="3568770"/>
            </a:xfrm>
            <a:prstGeom prst="rect">
              <a:avLst/>
            </a:prstGeom>
          </p:spPr>
        </p:pic>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71660" y="1915676"/>
              <a:ext cx="2479642" cy="1653094"/>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71660" y="0"/>
              <a:ext cx="2477424" cy="1792856"/>
            </a:xfrm>
            <a:prstGeom prst="rect">
              <a:avLst/>
            </a:prstGeom>
          </p:spPr>
        </p:pic>
      </p:grpSp>
      <p:grpSp>
        <p:nvGrpSpPr>
          <p:cNvPr id="22" name="组合 21"/>
          <p:cNvGrpSpPr/>
          <p:nvPr/>
        </p:nvGrpSpPr>
        <p:grpSpPr>
          <a:xfrm>
            <a:off x="280321" y="197398"/>
            <a:ext cx="2005678" cy="588408"/>
            <a:chOff x="503727" y="408638"/>
            <a:chExt cx="2462995" cy="722569"/>
          </a:xfrm>
        </p:grpSpPr>
        <p:sp>
          <p:nvSpPr>
            <p:cNvPr id="19" name="任意多边形: 形状 18"/>
            <p:cNvSpPr/>
            <p:nvPr/>
          </p:nvSpPr>
          <p:spPr>
            <a:xfrm>
              <a:off x="503727" y="476249"/>
              <a:ext cx="242888" cy="242888"/>
            </a:xfrm>
            <a:custGeom>
              <a:avLst/>
              <a:gdLst>
                <a:gd name="connsiteX0" fmla="*/ 142631 w 285750"/>
                <a:gd name="connsiteY0" fmla="*/ 67072 h 285750"/>
                <a:gd name="connsiteX1" fmla="*/ 65088 w 285750"/>
                <a:gd name="connsiteY1" fmla="*/ 144615 h 285750"/>
                <a:gd name="connsiteX2" fmla="*/ 142631 w 285750"/>
                <a:gd name="connsiteY2" fmla="*/ 222158 h 285750"/>
                <a:gd name="connsiteX3" fmla="*/ 220174 w 285750"/>
                <a:gd name="connsiteY3" fmla="*/ 144615 h 285750"/>
                <a:gd name="connsiteX4" fmla="*/ 142631 w 285750"/>
                <a:gd name="connsiteY4" fmla="*/ 67072 h 285750"/>
                <a:gd name="connsiteX5" fmla="*/ 142875 w 285750"/>
                <a:gd name="connsiteY5" fmla="*/ 0 h 285750"/>
                <a:gd name="connsiteX6" fmla="*/ 285750 w 285750"/>
                <a:gd name="connsiteY6" fmla="*/ 142875 h 285750"/>
                <a:gd name="connsiteX7" fmla="*/ 142875 w 285750"/>
                <a:gd name="connsiteY7" fmla="*/ 285750 h 285750"/>
                <a:gd name="connsiteX8" fmla="*/ 0 w 285750"/>
                <a:gd name="connsiteY8" fmla="*/ 142875 h 285750"/>
                <a:gd name="connsiteX9" fmla="*/ 142875 w 285750"/>
                <a:gd name="connsiteY9" fmla="*/ 0 h 28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5750" h="285750">
                  <a:moveTo>
                    <a:pt x="142631" y="67072"/>
                  </a:moveTo>
                  <a:cubicBezTo>
                    <a:pt x="99805" y="67072"/>
                    <a:pt x="65088" y="101789"/>
                    <a:pt x="65088" y="144615"/>
                  </a:cubicBezTo>
                  <a:cubicBezTo>
                    <a:pt x="65088" y="187441"/>
                    <a:pt x="99805" y="222158"/>
                    <a:pt x="142631" y="222158"/>
                  </a:cubicBezTo>
                  <a:cubicBezTo>
                    <a:pt x="185457" y="222158"/>
                    <a:pt x="220174" y="187441"/>
                    <a:pt x="220174" y="144615"/>
                  </a:cubicBezTo>
                  <a:cubicBezTo>
                    <a:pt x="220174" y="101789"/>
                    <a:pt x="185457" y="67072"/>
                    <a:pt x="142631" y="67072"/>
                  </a:cubicBezTo>
                  <a:close/>
                  <a:moveTo>
                    <a:pt x="142875" y="0"/>
                  </a:moveTo>
                  <a:cubicBezTo>
                    <a:pt x="221783" y="0"/>
                    <a:pt x="285750" y="63967"/>
                    <a:pt x="285750" y="142875"/>
                  </a:cubicBezTo>
                  <a:cubicBezTo>
                    <a:pt x="285750" y="221783"/>
                    <a:pt x="221783" y="285750"/>
                    <a:pt x="142875" y="285750"/>
                  </a:cubicBezTo>
                  <a:cubicBezTo>
                    <a:pt x="63967" y="285750"/>
                    <a:pt x="0" y="221783"/>
                    <a:pt x="0" y="142875"/>
                  </a:cubicBezTo>
                  <a:cubicBezTo>
                    <a:pt x="0" y="63967"/>
                    <a:pt x="63967" y="0"/>
                    <a:pt x="1428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endParaRPr>
            </a:p>
          </p:txBody>
        </p:sp>
        <p:sp>
          <p:nvSpPr>
            <p:cNvPr id="20" name="文本框 19"/>
            <p:cNvSpPr txBox="1"/>
            <p:nvPr/>
          </p:nvSpPr>
          <p:spPr>
            <a:xfrm>
              <a:off x="746615" y="408638"/>
              <a:ext cx="2220107" cy="321259"/>
            </a:xfrm>
            <a:prstGeom prst="rect">
              <a:avLst/>
            </a:prstGeom>
            <a:noFill/>
          </p:spPr>
          <p:txBody>
            <a:bodyPr wrap="square" rtlCol="0">
              <a:spAutoFit/>
            </a:bodyPr>
            <a:lstStyle/>
            <a:p>
              <a:r>
                <a:rPr lang="zh-CN" altLang="en-US" sz="1100" dirty="0">
                  <a:solidFill>
                    <a:schemeClr val="bg1"/>
                  </a:solidFill>
                  <a:latin typeface="微软雅黑 Light" panose="020B0502040204020203" charset="-122"/>
                  <a:ea typeface="微软雅黑 Light" panose="020B0502040204020203" charset="-122"/>
                </a:rPr>
                <a:t>照明应用案例</a:t>
              </a:r>
              <a:endParaRPr lang="zh-CN" altLang="en-US" sz="1100" dirty="0">
                <a:solidFill>
                  <a:schemeClr val="bg1"/>
                </a:solidFill>
                <a:latin typeface="微软雅黑 Light" panose="020B0502040204020203" charset="-122"/>
                <a:ea typeface="微软雅黑 Light" panose="020B0502040204020203" charset="-122"/>
              </a:endParaRPr>
            </a:p>
          </p:txBody>
        </p:sp>
        <p:sp>
          <p:nvSpPr>
            <p:cNvPr id="21" name="文本框 20"/>
            <p:cNvSpPr txBox="1"/>
            <p:nvPr/>
          </p:nvSpPr>
          <p:spPr>
            <a:xfrm>
              <a:off x="746615" y="658767"/>
              <a:ext cx="2000858" cy="472440"/>
            </a:xfrm>
            <a:prstGeom prst="rect">
              <a:avLst/>
            </a:prstGeom>
            <a:noFill/>
          </p:spPr>
          <p:txBody>
            <a:bodyPr wrap="square" rtlCol="0">
              <a:spAutoFit/>
            </a:bodyPr>
            <a:lstStyle/>
            <a:p>
              <a:r>
                <a:rPr lang="en-US" altLang="zh-CN" sz="800" dirty="0">
                  <a:solidFill>
                    <a:schemeClr val="bg1"/>
                  </a:solidFill>
                </a:rPr>
                <a:t>OUR PROJECTS</a:t>
              </a:r>
              <a:endParaRPr lang="en-US" altLang="zh-CN" sz="800" dirty="0">
                <a:solidFill>
                  <a:schemeClr val="bg1"/>
                </a:solidFill>
              </a:endParaRPr>
            </a:p>
            <a:p>
              <a:endParaRPr lang="zh-CN" altLang="en-US" sz="1100" dirty="0">
                <a:solidFill>
                  <a:schemeClr val="bg1"/>
                </a:solidFill>
              </a:endParaRPr>
            </a:p>
          </p:txBody>
        </p:sp>
      </p:grpSp>
      <p:pic>
        <p:nvPicPr>
          <p:cNvPr id="27" name="图片 2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59212" y="3955938"/>
            <a:ext cx="4623655" cy="2902062"/>
          </a:xfrm>
          <a:prstGeom prst="rect">
            <a:avLst/>
          </a:prstGeom>
        </p:spPr>
      </p:pic>
      <p:sp>
        <p:nvSpPr>
          <p:cNvPr id="36" name="文本框 35"/>
          <p:cNvSpPr txBox="1"/>
          <p:nvPr/>
        </p:nvSpPr>
        <p:spPr>
          <a:xfrm>
            <a:off x="4576587" y="3444126"/>
            <a:ext cx="4340484" cy="461665"/>
          </a:xfrm>
          <a:prstGeom prst="rect">
            <a:avLst/>
          </a:prstGeom>
          <a:noFill/>
        </p:spPr>
        <p:txBody>
          <a:bodyPr wrap="square" rtlCol="0">
            <a:spAutoFit/>
          </a:bodyPr>
          <a:lstStyle/>
          <a:p>
            <a:r>
              <a:rPr lang="zh-CN" altLang="en-US" sz="1200" dirty="0"/>
              <a:t>“ </a:t>
            </a:r>
            <a:r>
              <a:rPr lang="zh-CN" altLang="en-US" sz="900" dirty="0">
                <a:latin typeface="微软雅黑 Light" panose="020B0502040204020203" charset="-122"/>
                <a:ea typeface="微软雅黑 Light" panose="020B0502040204020203" charset="-122"/>
              </a:rPr>
              <a:t>用动态、柔和的光</a:t>
            </a:r>
            <a:endParaRPr lang="en-US" altLang="zh-CN" sz="900" dirty="0">
              <a:latin typeface="微软雅黑 Light" panose="020B0502040204020203" charset="-122"/>
              <a:ea typeface="微软雅黑 Light" panose="020B0502040204020203" charset="-122"/>
            </a:endParaRPr>
          </a:p>
          <a:p>
            <a:r>
              <a:rPr lang="zh-CN" altLang="en-US" sz="900" dirty="0">
                <a:latin typeface="微软雅黑 Light" panose="020B0502040204020203" charset="-122"/>
                <a:ea typeface="微软雅黑 Light" panose="020B0502040204020203" charset="-122"/>
              </a:rPr>
              <a:t>      实现“生理”和“心理”的双重疗愈 </a:t>
            </a:r>
            <a:r>
              <a:rPr lang="zh-CN" altLang="en-US" sz="1200" dirty="0"/>
              <a:t>”</a:t>
            </a:r>
            <a:endParaRPr lang="zh-CN" altLang="en-US" sz="900" dirty="0"/>
          </a:p>
        </p:txBody>
      </p:sp>
      <p:grpSp>
        <p:nvGrpSpPr>
          <p:cNvPr id="38" name="组合 37"/>
          <p:cNvGrpSpPr/>
          <p:nvPr/>
        </p:nvGrpSpPr>
        <p:grpSpPr>
          <a:xfrm>
            <a:off x="8369812" y="3674959"/>
            <a:ext cx="1180768" cy="230832"/>
            <a:chOff x="9707493" y="4292584"/>
            <a:chExt cx="1180768" cy="230832"/>
          </a:xfrm>
        </p:grpSpPr>
        <p:sp>
          <p:nvSpPr>
            <p:cNvPr id="33" name="文本框 32"/>
            <p:cNvSpPr txBox="1"/>
            <p:nvPr/>
          </p:nvSpPr>
          <p:spPr>
            <a:xfrm>
              <a:off x="9707493" y="4292584"/>
              <a:ext cx="1180768" cy="230832"/>
            </a:xfrm>
            <a:prstGeom prst="rect">
              <a:avLst/>
            </a:prstGeom>
            <a:noFill/>
          </p:spPr>
          <p:txBody>
            <a:bodyPr wrap="square" rtlCol="0">
              <a:spAutoFit/>
            </a:bodyPr>
            <a:lstStyle/>
            <a:p>
              <a:r>
                <a:rPr lang="zh-CN" altLang="en-US" sz="900" b="1" dirty="0">
                  <a:solidFill>
                    <a:schemeClr val="tx1">
                      <a:lumMod val="75000"/>
                      <a:lumOff val="25000"/>
                    </a:schemeClr>
                  </a:solidFill>
                  <a:latin typeface="微软雅黑 Light" panose="020B0502040204020203" charset="-122"/>
                  <a:ea typeface="微软雅黑 Light" panose="020B0502040204020203" charset="-122"/>
                </a:rPr>
                <a:t>瑞金医院</a:t>
              </a:r>
              <a:endParaRPr lang="zh-CN" altLang="en-US" sz="900" b="1" dirty="0">
                <a:solidFill>
                  <a:schemeClr val="tx1">
                    <a:lumMod val="75000"/>
                    <a:lumOff val="25000"/>
                  </a:schemeClr>
                </a:solidFill>
                <a:latin typeface="微软雅黑 Light" panose="020B0502040204020203" charset="-122"/>
                <a:ea typeface="微软雅黑 Light" panose="020B0502040204020203" charset="-122"/>
              </a:endParaRPr>
            </a:p>
          </p:txBody>
        </p:sp>
        <p:sp>
          <p:nvSpPr>
            <p:cNvPr id="37" name="等腰三角形 36"/>
            <p:cNvSpPr/>
            <p:nvPr/>
          </p:nvSpPr>
          <p:spPr>
            <a:xfrm rot="10800000">
              <a:off x="10395956" y="4359966"/>
              <a:ext cx="136316" cy="95944"/>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9" name="组合 38"/>
          <p:cNvGrpSpPr/>
          <p:nvPr/>
        </p:nvGrpSpPr>
        <p:grpSpPr>
          <a:xfrm>
            <a:off x="7668234" y="3263160"/>
            <a:ext cx="1791778" cy="369332"/>
            <a:chOff x="9123873" y="4294673"/>
            <a:chExt cx="1791778" cy="369332"/>
          </a:xfrm>
        </p:grpSpPr>
        <p:sp>
          <p:nvSpPr>
            <p:cNvPr id="40" name="文本框 39"/>
            <p:cNvSpPr txBox="1"/>
            <p:nvPr/>
          </p:nvSpPr>
          <p:spPr>
            <a:xfrm>
              <a:off x="9123873" y="4294673"/>
              <a:ext cx="1791778" cy="369332"/>
            </a:xfrm>
            <a:prstGeom prst="rect">
              <a:avLst/>
            </a:prstGeom>
            <a:noFill/>
          </p:spPr>
          <p:txBody>
            <a:bodyPr wrap="square" rtlCol="0">
              <a:spAutoFit/>
            </a:bodyPr>
            <a:lstStyle/>
            <a:p>
              <a:r>
                <a:rPr lang="zh-CN" altLang="en-US" sz="900" b="1" dirty="0">
                  <a:solidFill>
                    <a:schemeClr val="tx1">
                      <a:lumMod val="85000"/>
                      <a:lumOff val="15000"/>
                    </a:schemeClr>
                  </a:solidFill>
                  <a:latin typeface="等线 Light" panose="02010600030101010101" pitchFamily="2" charset="-122"/>
                  <a:ea typeface="等线 Light" panose="02010600030101010101" pitchFamily="2" charset="-122"/>
                </a:rPr>
                <a:t>深圳市龙华区中心医院</a:t>
              </a:r>
              <a:endParaRPr lang="zh-CN" altLang="en-US" sz="900" b="1" dirty="0">
                <a:solidFill>
                  <a:schemeClr val="tx1">
                    <a:lumMod val="85000"/>
                    <a:lumOff val="15000"/>
                  </a:schemeClr>
                </a:solidFill>
                <a:latin typeface="等线 Light" panose="02010600030101010101" pitchFamily="2" charset="-122"/>
                <a:ea typeface="等线 Light" panose="02010600030101010101" pitchFamily="2" charset="-122"/>
              </a:endParaRPr>
            </a:p>
            <a:p>
              <a:endParaRPr lang="zh-CN" altLang="en-US" sz="900" b="1" dirty="0">
                <a:solidFill>
                  <a:schemeClr val="tx1">
                    <a:lumMod val="85000"/>
                    <a:lumOff val="15000"/>
                  </a:schemeClr>
                </a:solidFill>
                <a:latin typeface="微软雅黑 Light" panose="020B0502040204020203" charset="-122"/>
                <a:ea typeface="微软雅黑 Light" panose="020B0502040204020203" charset="-122"/>
              </a:endParaRPr>
            </a:p>
          </p:txBody>
        </p:sp>
        <p:sp>
          <p:nvSpPr>
            <p:cNvPr id="41" name="等腰三角形 40"/>
            <p:cNvSpPr/>
            <p:nvPr/>
          </p:nvSpPr>
          <p:spPr>
            <a:xfrm>
              <a:off x="10513914" y="4337140"/>
              <a:ext cx="141061" cy="99283"/>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sp>
        <p:nvSpPr>
          <p:cNvPr id="45" name="文本框 44"/>
          <p:cNvSpPr txBox="1"/>
          <p:nvPr/>
        </p:nvSpPr>
        <p:spPr>
          <a:xfrm>
            <a:off x="4963941" y="891203"/>
            <a:ext cx="492357" cy="307777"/>
          </a:xfrm>
          <a:prstGeom prst="rect">
            <a:avLst/>
          </a:prstGeom>
          <a:noFill/>
        </p:spPr>
        <p:txBody>
          <a:bodyPr wrap="square">
            <a:spAutoFit/>
          </a:bodyPr>
          <a:lstStyle/>
          <a:p>
            <a:r>
              <a:rPr lang="zh-CN" altLang="en-US" sz="1400" dirty="0"/>
              <a:t>“ </a:t>
            </a:r>
            <a:endParaRPr lang="zh-CN" altLang="en-US" sz="1400" dirty="0"/>
          </a:p>
        </p:txBody>
      </p:sp>
      <p:sp>
        <p:nvSpPr>
          <p:cNvPr id="47" name="文本框 46"/>
          <p:cNvSpPr txBox="1"/>
          <p:nvPr/>
        </p:nvSpPr>
        <p:spPr>
          <a:xfrm>
            <a:off x="5366980" y="2389141"/>
            <a:ext cx="285135" cy="276999"/>
          </a:xfrm>
          <a:prstGeom prst="rect">
            <a:avLst/>
          </a:prstGeom>
          <a:noFill/>
        </p:spPr>
        <p:txBody>
          <a:bodyPr wrap="square">
            <a:spAutoFit/>
          </a:bodyPr>
          <a:lstStyle/>
          <a:p>
            <a:r>
              <a:rPr lang="zh-CN" altLang="en-US" sz="1200" dirty="0"/>
              <a:t>”</a:t>
            </a:r>
            <a:endParaRPr lang="zh-CN" altLang="en-US" sz="1200" dirty="0"/>
          </a:p>
        </p:txBody>
      </p:sp>
      <p:sp>
        <p:nvSpPr>
          <p:cNvPr id="28" name="文本框 27"/>
          <p:cNvSpPr txBox="1"/>
          <p:nvPr/>
        </p:nvSpPr>
        <p:spPr>
          <a:xfrm>
            <a:off x="9530989" y="197398"/>
            <a:ext cx="2421968" cy="6527108"/>
          </a:xfrm>
          <a:prstGeom prst="rect">
            <a:avLst/>
          </a:prstGeom>
          <a:noFill/>
        </p:spPr>
        <p:txBody>
          <a:bodyPr wrap="square">
            <a:spAutoFit/>
          </a:bodyPr>
          <a:lstStyle/>
          <a:p>
            <a:pPr indent="0">
              <a:lnSpc>
                <a:spcPct val="150000"/>
              </a:lnSpc>
              <a:buNone/>
            </a:pPr>
            <a:r>
              <a:rPr lang="zh-CN" altLang="zh-CN" sz="1000" b="0" dirty="0">
                <a:solidFill>
                  <a:srgbClr val="000000"/>
                </a:solidFill>
              </a:rPr>
              <a:t>兰州军区陆军总院项目</a:t>
            </a:r>
            <a:endParaRPr lang="en-US" altLang="zh-CN" sz="1000" b="0" dirty="0">
              <a:solidFill>
                <a:srgbClr val="000000"/>
              </a:solidFill>
            </a:endParaRPr>
          </a:p>
          <a:p>
            <a:pPr>
              <a:lnSpc>
                <a:spcPct val="150000"/>
              </a:lnSpc>
            </a:pPr>
            <a:r>
              <a:rPr lang="zh-CN" altLang="zh-CN" sz="1000" b="0" dirty="0">
                <a:solidFill>
                  <a:srgbClr val="000000"/>
                </a:solidFill>
              </a:rPr>
              <a:t>通州区人民医院（南通市）</a:t>
            </a:r>
            <a:endParaRPr lang="en-US" altLang="zh-CN" sz="1000" b="0" dirty="0">
              <a:solidFill>
                <a:srgbClr val="000000"/>
              </a:solidFill>
            </a:endParaRPr>
          </a:p>
          <a:p>
            <a:pPr>
              <a:lnSpc>
                <a:spcPct val="150000"/>
              </a:lnSpc>
            </a:pPr>
            <a:r>
              <a:rPr lang="zh-CN" altLang="zh-CN" sz="1000" b="0" dirty="0">
                <a:solidFill>
                  <a:srgbClr val="000000"/>
                </a:solidFill>
              </a:rPr>
              <a:t>四川省成都军区总医院住院</a:t>
            </a:r>
            <a:endParaRPr lang="en-US" altLang="en-US" sz="1000" b="0" dirty="0">
              <a:solidFill>
                <a:srgbClr val="000000"/>
              </a:solidFill>
              <a:latin typeface="微软雅黑" panose="020B0503020204020204" charset="-122"/>
            </a:endParaRPr>
          </a:p>
          <a:p>
            <a:pPr>
              <a:lnSpc>
                <a:spcPct val="150000"/>
              </a:lnSpc>
            </a:pPr>
            <a:r>
              <a:rPr lang="zh-CN" altLang="zh-CN" sz="1000" b="0" dirty="0">
                <a:solidFill>
                  <a:srgbClr val="000000"/>
                </a:solidFill>
              </a:rPr>
              <a:t>山东大学齐鲁医院</a:t>
            </a:r>
            <a:endParaRPr lang="en-US" altLang="en-US" sz="1000" b="0" dirty="0">
              <a:solidFill>
                <a:srgbClr val="000000"/>
              </a:solidFill>
              <a:latin typeface="微软雅黑" panose="020B0503020204020204" charset="-122"/>
            </a:endParaRPr>
          </a:p>
          <a:p>
            <a:pPr>
              <a:lnSpc>
                <a:spcPct val="150000"/>
              </a:lnSpc>
            </a:pPr>
            <a:r>
              <a:rPr lang="zh-CN" altLang="zh-CN" sz="1000" b="0" dirty="0">
                <a:solidFill>
                  <a:srgbClr val="000000"/>
                </a:solidFill>
              </a:rPr>
              <a:t>哈尔滨肿瘤医院</a:t>
            </a:r>
            <a:endParaRPr lang="en-US" altLang="en-US" sz="1000" b="0" dirty="0">
              <a:solidFill>
                <a:srgbClr val="000000"/>
              </a:solidFill>
              <a:latin typeface="微软雅黑" panose="020B0503020204020204" charset="-122"/>
            </a:endParaRPr>
          </a:p>
          <a:p>
            <a:pPr>
              <a:lnSpc>
                <a:spcPct val="150000"/>
              </a:lnSpc>
            </a:pPr>
            <a:r>
              <a:rPr lang="zh-CN" altLang="zh-CN" sz="1000" b="0" dirty="0">
                <a:solidFill>
                  <a:srgbClr val="000000"/>
                </a:solidFill>
              </a:rPr>
              <a:t>沈阳肿瘤医院</a:t>
            </a:r>
            <a:endParaRPr lang="en-US" altLang="en-US" sz="1000" b="0" dirty="0">
              <a:solidFill>
                <a:srgbClr val="000000"/>
              </a:solidFill>
              <a:latin typeface="微软雅黑" panose="020B0503020204020204" charset="-122"/>
            </a:endParaRPr>
          </a:p>
          <a:p>
            <a:pPr>
              <a:lnSpc>
                <a:spcPct val="150000"/>
              </a:lnSpc>
            </a:pPr>
            <a:r>
              <a:rPr lang="zh-CN" altLang="zh-CN" sz="1000" b="0" dirty="0">
                <a:solidFill>
                  <a:srgbClr val="000000"/>
                </a:solidFill>
              </a:rPr>
              <a:t>郑州市赛德口腔医院</a:t>
            </a:r>
            <a:endParaRPr lang="en-US" altLang="en-US" sz="1000" b="0" dirty="0">
              <a:solidFill>
                <a:srgbClr val="000000"/>
              </a:solidFill>
              <a:latin typeface="微软雅黑" panose="020B0503020204020204" charset="-122"/>
            </a:endParaRPr>
          </a:p>
          <a:p>
            <a:pPr>
              <a:lnSpc>
                <a:spcPct val="150000"/>
              </a:lnSpc>
            </a:pPr>
            <a:r>
              <a:rPr lang="zh-CN" altLang="zh-CN" sz="1000" b="0" dirty="0">
                <a:solidFill>
                  <a:srgbClr val="000000"/>
                </a:solidFill>
              </a:rPr>
              <a:t>海安疾控中心</a:t>
            </a:r>
            <a:endParaRPr lang="en-US" altLang="en-US" sz="1000" b="0" dirty="0">
              <a:solidFill>
                <a:srgbClr val="000000"/>
              </a:solidFill>
              <a:latin typeface="微软雅黑" panose="020B0503020204020204" charset="-122"/>
            </a:endParaRPr>
          </a:p>
          <a:p>
            <a:pPr>
              <a:lnSpc>
                <a:spcPct val="150000"/>
              </a:lnSpc>
            </a:pPr>
            <a:r>
              <a:rPr lang="zh-CN" altLang="zh-CN" sz="1000" b="0" dirty="0">
                <a:solidFill>
                  <a:srgbClr val="000000"/>
                </a:solidFill>
              </a:rPr>
              <a:t>兰州市第一人民医院项目</a:t>
            </a:r>
            <a:endParaRPr lang="en-US" altLang="en-US" sz="1000" b="0" dirty="0">
              <a:solidFill>
                <a:srgbClr val="000000"/>
              </a:solidFill>
              <a:latin typeface="微软雅黑" panose="020B0503020204020204" charset="-122"/>
            </a:endParaRPr>
          </a:p>
          <a:p>
            <a:pPr>
              <a:lnSpc>
                <a:spcPct val="150000"/>
              </a:lnSpc>
            </a:pPr>
            <a:r>
              <a:rPr lang="zh-CN" altLang="zh-CN" sz="1000" b="0" dirty="0">
                <a:solidFill>
                  <a:srgbClr val="000000"/>
                </a:solidFill>
              </a:rPr>
              <a:t>甘肃兰州市兰大一院门诊综合楼</a:t>
            </a:r>
            <a:endParaRPr lang="en-US" altLang="en-US" sz="1000" b="0" dirty="0">
              <a:solidFill>
                <a:srgbClr val="000000"/>
              </a:solidFill>
              <a:latin typeface="微软雅黑" panose="020B0503020204020204" charset="-122"/>
            </a:endParaRPr>
          </a:p>
          <a:p>
            <a:pPr>
              <a:lnSpc>
                <a:spcPct val="150000"/>
              </a:lnSpc>
            </a:pPr>
            <a:r>
              <a:rPr lang="zh-CN" altLang="zh-CN" sz="1000" b="0" dirty="0">
                <a:solidFill>
                  <a:srgbClr val="000000"/>
                </a:solidFill>
              </a:rPr>
              <a:t>南县人民医院</a:t>
            </a:r>
            <a:endParaRPr lang="en-US" altLang="en-US" sz="1000" b="0" dirty="0">
              <a:solidFill>
                <a:srgbClr val="000000"/>
              </a:solidFill>
              <a:latin typeface="微软雅黑" panose="020B0503020204020204" charset="-122"/>
            </a:endParaRPr>
          </a:p>
          <a:p>
            <a:pPr>
              <a:lnSpc>
                <a:spcPct val="150000"/>
              </a:lnSpc>
            </a:pPr>
            <a:r>
              <a:rPr lang="zh-CN" altLang="zh-CN" sz="1000" b="0" dirty="0">
                <a:solidFill>
                  <a:srgbClr val="000000"/>
                </a:solidFill>
              </a:rPr>
              <a:t>通州区人民医院（南通市）</a:t>
            </a:r>
            <a:endParaRPr lang="en-US" altLang="en-US" sz="1000" b="0" dirty="0">
              <a:solidFill>
                <a:srgbClr val="000000"/>
              </a:solidFill>
              <a:latin typeface="微软雅黑" panose="020B0503020204020204" charset="-122"/>
            </a:endParaRPr>
          </a:p>
          <a:p>
            <a:pPr>
              <a:lnSpc>
                <a:spcPct val="150000"/>
              </a:lnSpc>
            </a:pPr>
            <a:r>
              <a:rPr lang="zh-CN" altLang="zh-CN" sz="1000" b="0" dirty="0">
                <a:solidFill>
                  <a:srgbClr val="000000"/>
                </a:solidFill>
              </a:rPr>
              <a:t>南通瑞慈医院</a:t>
            </a:r>
            <a:endParaRPr lang="en-US" altLang="en-US" sz="1000" b="0" dirty="0">
              <a:solidFill>
                <a:srgbClr val="000000"/>
              </a:solidFill>
              <a:latin typeface="微软雅黑" panose="020B0503020204020204" charset="-122"/>
            </a:endParaRPr>
          </a:p>
          <a:p>
            <a:pPr>
              <a:lnSpc>
                <a:spcPct val="150000"/>
              </a:lnSpc>
            </a:pPr>
            <a:r>
              <a:rPr lang="zh-CN" altLang="zh-CN" sz="1000" b="0" dirty="0">
                <a:solidFill>
                  <a:srgbClr val="000000"/>
                </a:solidFill>
              </a:rPr>
              <a:t>武夷山市中医院新院大楼项目</a:t>
            </a:r>
            <a:endParaRPr lang="en-US" altLang="en-US" sz="1000" b="0" dirty="0">
              <a:solidFill>
                <a:srgbClr val="000000"/>
              </a:solidFill>
              <a:latin typeface="微软雅黑" panose="020B0503020204020204" charset="-122"/>
            </a:endParaRPr>
          </a:p>
          <a:p>
            <a:pPr>
              <a:lnSpc>
                <a:spcPct val="150000"/>
              </a:lnSpc>
            </a:pPr>
            <a:r>
              <a:rPr lang="zh-CN" altLang="en-US" sz="1000" b="0" dirty="0">
                <a:solidFill>
                  <a:srgbClr val="000000"/>
                </a:solidFill>
                <a:effectLst/>
                <a:latin typeface="MicrosoftYaHei"/>
              </a:rPr>
              <a:t>中国医学科学院肿瘤医院</a:t>
            </a:r>
            <a:endParaRPr lang="en-US" altLang="en-US" sz="1000" b="0" dirty="0">
              <a:solidFill>
                <a:srgbClr val="000000"/>
              </a:solidFill>
              <a:latin typeface="微软雅黑" panose="020B0503020204020204" charset="-122"/>
            </a:endParaRPr>
          </a:p>
          <a:p>
            <a:pPr indent="0">
              <a:lnSpc>
                <a:spcPct val="150000"/>
              </a:lnSpc>
              <a:buNone/>
            </a:pPr>
            <a:r>
              <a:rPr lang="zh-CN" altLang="en-US" sz="1000" b="0" dirty="0">
                <a:solidFill>
                  <a:srgbClr val="000000"/>
                </a:solidFill>
                <a:effectLst/>
                <a:latin typeface="MicrosoftYaHei"/>
              </a:rPr>
              <a:t>贵州省人民医院金朱医院</a:t>
            </a:r>
            <a:endParaRPr lang="en-US" altLang="zh-CN" sz="1000" b="0" dirty="0">
              <a:solidFill>
                <a:srgbClr val="000000"/>
              </a:solidFill>
            </a:endParaRPr>
          </a:p>
          <a:p>
            <a:pPr indent="0">
              <a:lnSpc>
                <a:spcPct val="150000"/>
              </a:lnSpc>
              <a:buNone/>
            </a:pPr>
            <a:r>
              <a:rPr lang="zh-CN" altLang="en-US" sz="1000" b="0" dirty="0">
                <a:solidFill>
                  <a:srgbClr val="000000"/>
                </a:solidFill>
                <a:effectLst/>
                <a:latin typeface="MicrosoftYaHei"/>
              </a:rPr>
              <a:t>中国福利会国际和平妇幼保健院</a:t>
            </a:r>
            <a:endParaRPr lang="en-US" altLang="zh-CN" sz="1000" b="0" dirty="0">
              <a:solidFill>
                <a:srgbClr val="000000"/>
              </a:solidFill>
              <a:effectLst/>
              <a:latin typeface="MicrosoftYaHei"/>
            </a:endParaRPr>
          </a:p>
          <a:p>
            <a:pPr indent="0">
              <a:lnSpc>
                <a:spcPct val="150000"/>
              </a:lnSpc>
              <a:buNone/>
            </a:pPr>
            <a:r>
              <a:rPr lang="zh-CN" altLang="en-US" sz="1000" b="0" dirty="0">
                <a:solidFill>
                  <a:srgbClr val="000000"/>
                </a:solidFill>
                <a:effectLst/>
                <a:latin typeface="MicrosoftYaHei"/>
              </a:rPr>
              <a:t>上海远大健康城</a:t>
            </a:r>
            <a:endParaRPr lang="en-US" altLang="zh-CN" sz="1000" dirty="0">
              <a:solidFill>
                <a:srgbClr val="000000"/>
              </a:solidFill>
              <a:latin typeface="MicrosoftYaHei"/>
            </a:endParaRPr>
          </a:p>
          <a:p>
            <a:pPr indent="0">
              <a:lnSpc>
                <a:spcPct val="150000"/>
              </a:lnSpc>
              <a:buNone/>
            </a:pPr>
            <a:r>
              <a:rPr lang="zh-CN" altLang="en-US" sz="1000" b="0" dirty="0">
                <a:solidFill>
                  <a:srgbClr val="000000"/>
                </a:solidFill>
                <a:effectLst/>
                <a:latin typeface="MicrosoftYaHei"/>
              </a:rPr>
              <a:t>武汉云景山医院</a:t>
            </a:r>
            <a:endParaRPr lang="en-US" altLang="zh-CN" sz="1000" b="0" dirty="0">
              <a:solidFill>
                <a:srgbClr val="000000"/>
              </a:solidFill>
              <a:effectLst/>
              <a:latin typeface="MicrosoftYaHei"/>
            </a:endParaRPr>
          </a:p>
          <a:p>
            <a:pPr indent="0">
              <a:lnSpc>
                <a:spcPct val="150000"/>
              </a:lnSpc>
              <a:buNone/>
            </a:pPr>
            <a:r>
              <a:rPr lang="zh-CN" altLang="en-US" sz="1000" b="0" dirty="0">
                <a:solidFill>
                  <a:srgbClr val="000000"/>
                </a:solidFill>
                <a:effectLst/>
                <a:latin typeface="MicrosoftYaHei"/>
              </a:rPr>
              <a:t>成都华西医院室外亮化</a:t>
            </a:r>
            <a:endParaRPr lang="en-US" altLang="zh-CN" sz="1000" dirty="0">
              <a:solidFill>
                <a:srgbClr val="000000"/>
              </a:solidFill>
              <a:latin typeface="MicrosoftYaHei"/>
            </a:endParaRPr>
          </a:p>
          <a:p>
            <a:pPr indent="0">
              <a:lnSpc>
                <a:spcPct val="150000"/>
              </a:lnSpc>
              <a:buNone/>
            </a:pPr>
            <a:r>
              <a:rPr lang="zh-CN" altLang="en-US" sz="1000" b="0" dirty="0">
                <a:solidFill>
                  <a:srgbClr val="000000"/>
                </a:solidFill>
                <a:effectLst/>
                <a:latin typeface="MicrosoftYaHei"/>
              </a:rPr>
              <a:t>范县人民医院</a:t>
            </a:r>
            <a:endParaRPr lang="en-US" altLang="zh-CN" sz="1000" b="0" dirty="0">
              <a:solidFill>
                <a:srgbClr val="000000"/>
              </a:solidFill>
              <a:effectLst/>
              <a:latin typeface="MicrosoftYaHei"/>
            </a:endParaRPr>
          </a:p>
          <a:p>
            <a:pPr indent="0">
              <a:lnSpc>
                <a:spcPct val="150000"/>
              </a:lnSpc>
              <a:buNone/>
            </a:pPr>
            <a:r>
              <a:rPr lang="zh-CN" altLang="en-US" sz="1000" b="0" dirty="0">
                <a:solidFill>
                  <a:srgbClr val="000000"/>
                </a:solidFill>
                <a:effectLst/>
                <a:latin typeface="MicrosoftYaHei"/>
              </a:rPr>
              <a:t>南京市江宁中医院</a:t>
            </a:r>
            <a:endParaRPr lang="en-US" altLang="zh-CN" sz="1000" dirty="0">
              <a:solidFill>
                <a:srgbClr val="000000"/>
              </a:solidFill>
              <a:latin typeface="MicrosoftYaHei"/>
            </a:endParaRPr>
          </a:p>
          <a:p>
            <a:pPr indent="0">
              <a:lnSpc>
                <a:spcPct val="150000"/>
              </a:lnSpc>
              <a:buNone/>
            </a:pPr>
            <a:r>
              <a:rPr lang="zh-CN" altLang="en-US" sz="1000" b="0" dirty="0">
                <a:solidFill>
                  <a:srgbClr val="000000"/>
                </a:solidFill>
                <a:effectLst/>
                <a:latin typeface="MicrosoftYaHei"/>
              </a:rPr>
              <a:t>南京医科大学第四人民医院</a:t>
            </a:r>
            <a:endParaRPr lang="en-US" altLang="zh-CN" sz="1000" b="0" dirty="0">
              <a:solidFill>
                <a:srgbClr val="000000"/>
              </a:solidFill>
              <a:effectLst/>
              <a:latin typeface="MicrosoftYaHei"/>
            </a:endParaRPr>
          </a:p>
          <a:p>
            <a:pPr indent="0">
              <a:lnSpc>
                <a:spcPct val="150000"/>
              </a:lnSpc>
              <a:buNone/>
            </a:pPr>
            <a:r>
              <a:rPr lang="zh-CN" altLang="en-US" sz="1000" dirty="0">
                <a:solidFill>
                  <a:srgbClr val="000000"/>
                </a:solidFill>
              </a:rPr>
              <a:t>湖北宜昌市宜昌妇幼保健院</a:t>
            </a:r>
            <a:endParaRPr lang="en-US" altLang="zh-CN" sz="1000" dirty="0">
              <a:solidFill>
                <a:srgbClr val="000000"/>
              </a:solidFill>
            </a:endParaRPr>
          </a:p>
          <a:p>
            <a:pPr indent="0">
              <a:lnSpc>
                <a:spcPct val="150000"/>
              </a:lnSpc>
              <a:buNone/>
            </a:pPr>
            <a:r>
              <a:rPr lang="zh-CN" altLang="en-US" sz="1000" dirty="0">
                <a:solidFill>
                  <a:srgbClr val="000000"/>
                </a:solidFill>
              </a:rPr>
              <a:t>湖北宜昌市夷陵区妇女儿童医院</a:t>
            </a:r>
            <a:endParaRPr lang="en-US" altLang="zh-CN" sz="1000" dirty="0">
              <a:solidFill>
                <a:srgbClr val="000000"/>
              </a:solidFill>
            </a:endParaRPr>
          </a:p>
          <a:p>
            <a:pPr indent="0">
              <a:lnSpc>
                <a:spcPct val="150000"/>
              </a:lnSpc>
              <a:buNone/>
            </a:pPr>
            <a:r>
              <a:rPr lang="zh-CN" altLang="en-US" sz="1000" dirty="0">
                <a:solidFill>
                  <a:srgbClr val="000000"/>
                </a:solidFill>
              </a:rPr>
              <a:t>三门峡黄河商务中心医院</a:t>
            </a:r>
            <a:endParaRPr lang="en-US" altLang="zh-CN" sz="1000" dirty="0">
              <a:solidFill>
                <a:srgbClr val="000000"/>
              </a:solidFill>
            </a:endParaRPr>
          </a:p>
          <a:p>
            <a:pPr indent="0">
              <a:lnSpc>
                <a:spcPct val="150000"/>
              </a:lnSpc>
              <a:buNone/>
            </a:pPr>
            <a:r>
              <a:rPr lang="zh-CN" altLang="en-US" sz="1000" dirty="0">
                <a:solidFill>
                  <a:srgbClr val="000000"/>
                </a:solidFill>
              </a:rPr>
              <a:t>瑞金医院血液科改造项目</a:t>
            </a:r>
            <a:endParaRPr lang="en-US" altLang="zh-CN" sz="1000" dirty="0">
              <a:solidFill>
                <a:srgbClr val="000000"/>
              </a:solidFill>
            </a:endParaRPr>
          </a:p>
          <a:p>
            <a:pPr indent="0">
              <a:lnSpc>
                <a:spcPct val="150000"/>
              </a:lnSpc>
              <a:buNone/>
            </a:pPr>
            <a:r>
              <a:rPr lang="zh-CN" altLang="en-US" sz="1000" dirty="0">
                <a:solidFill>
                  <a:srgbClr val="000000"/>
                </a:solidFill>
              </a:rPr>
              <a:t>深圳市龙华区中心医院</a:t>
            </a:r>
            <a:endParaRPr lang="en-US" altLang="en-US" sz="1000" dirty="0">
              <a:solidFill>
                <a:srgbClr val="000000"/>
              </a:solidFill>
            </a:endParaRPr>
          </a:p>
        </p:txBody>
      </p:sp>
    </p:spTree>
  </p:cSld>
  <p:clrMapOvr>
    <a:masterClrMapping/>
  </p:clrMapOvr>
</p:sld>
</file>

<file path=ppt/tags/tag1.xml><?xml version="1.0" encoding="utf-8"?>
<p:tagLst xmlns:p="http://schemas.openxmlformats.org/presentationml/2006/main">
  <p:tag name="KSO_WM_DIAGRAM_VIRTUALLY_FRAME" val="{&quot;height&quot;:394.75,&quot;left&quot;:62.4,&quot;top&quot;:125.55,&quot;width&quot;:800.1}"/>
</p:tagLst>
</file>

<file path=ppt/tags/tag2.xml><?xml version="1.0" encoding="utf-8"?>
<p:tagLst xmlns:p="http://schemas.openxmlformats.org/presentationml/2006/main">
  <p:tag name="KSO_WM_DIAGRAM_VIRTUALLY_FRAME" val="{&quot;height&quot;:394.75,&quot;left&quot;:62.4,&quot;top&quot;:125.55,&quot;width&quot;:800.1}"/>
</p:tagLst>
</file>

<file path=ppt/tags/tag3.xml><?xml version="1.0" encoding="utf-8"?>
<p:tagLst xmlns:p="http://schemas.openxmlformats.org/presentationml/2006/main">
  <p:tag name="KSO_WM_DIAGRAM_VIRTUALLY_FRAME" val="{&quot;height&quot;:394.75,&quot;left&quot;:62.4,&quot;top&quot;:125.55,&quot;width&quot;:800.1}"/>
</p:tagLst>
</file>

<file path=ppt/tags/tag4.xml><?xml version="1.0" encoding="utf-8"?>
<p:tagLst xmlns:p="http://schemas.openxmlformats.org/presentationml/2006/main">
  <p:tag name="KSO_WM_DIAGRAM_VIRTUALLY_FRAME" val="{&quot;height&quot;:344.20236220472435,&quot;left&quot;:8.696929133858267,&quot;top&quot;:84.77377952755903,&quot;width&quot;:924.0608661417322}"/>
</p:tagLst>
</file>

<file path=ppt/tags/tag5.xml><?xml version="1.0" encoding="utf-8"?>
<p:tagLst xmlns:p="http://schemas.openxmlformats.org/presentationml/2006/main">
  <p:tag name="KSO_WM_DIAGRAM_VIRTUALLY_FRAME" val="{&quot;height&quot;:344.20236220472435,&quot;left&quot;:8.696929133858267,&quot;top&quot;:84.77377952755903,&quot;width&quot;:924.0608661417322}"/>
</p:tagLst>
</file>

<file path=ppt/tags/tag6.xml><?xml version="1.0" encoding="utf-8"?>
<p:tagLst xmlns:p="http://schemas.openxmlformats.org/presentationml/2006/main">
  <p:tag name="KSO_WM_DIAGRAM_VIRTUALLY_FRAME" val="{&quot;height&quot;:344.20236220472435,&quot;left&quot;:8.696929133858267,&quot;top&quot;:84.77377952755903,&quot;width&quot;:924.0608661417322}"/>
</p:tagLst>
</file>

<file path=ppt/tags/tag7.xml><?xml version="1.0" encoding="utf-8"?>
<p:tagLst xmlns:p="http://schemas.openxmlformats.org/presentationml/2006/main">
  <p:tag name="KSO_WM_DIAGRAM_VIRTUALLY_FRAME" val="{&quot;height&quot;:344.20236220472435,&quot;left&quot;:8.696929133858267,&quot;top&quot;:84.77377952755903,&quot;width&quot;:924.0608661417322}"/>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rml55tnj">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0</TotalTime>
  <Words>5973</Words>
  <Application>WPS 演示</Application>
  <PresentationFormat>宽屏</PresentationFormat>
  <Paragraphs>990</Paragraphs>
  <Slides>27</Slides>
  <Notes>11</Notes>
  <HiddenSlides>0</HiddenSlides>
  <MMClips>0</MMClips>
  <ScaleCrop>false</ScaleCrop>
  <HeadingPairs>
    <vt:vector size="6" baseType="variant">
      <vt:variant>
        <vt:lpstr>已用的字体</vt:lpstr>
      </vt:variant>
      <vt:variant>
        <vt:i4>35</vt:i4>
      </vt:variant>
      <vt:variant>
        <vt:lpstr>主题</vt:lpstr>
      </vt:variant>
      <vt:variant>
        <vt:i4>1</vt:i4>
      </vt:variant>
      <vt:variant>
        <vt:lpstr>幻灯片标题</vt:lpstr>
      </vt:variant>
      <vt:variant>
        <vt:i4>27</vt:i4>
      </vt:variant>
    </vt:vector>
  </HeadingPairs>
  <TitlesOfParts>
    <vt:vector size="63" baseType="lpstr">
      <vt:lpstr>Arial</vt:lpstr>
      <vt:lpstr>宋体</vt:lpstr>
      <vt:lpstr>Wingdings</vt:lpstr>
      <vt:lpstr>方正兰亭中粗黑简体</vt:lpstr>
      <vt:lpstr>OPPOSans M</vt:lpstr>
      <vt:lpstr>Calibri</vt:lpstr>
      <vt:lpstr>OPPOSans B</vt:lpstr>
      <vt:lpstr>等线</vt:lpstr>
      <vt:lpstr>微软雅黑 Light</vt:lpstr>
      <vt:lpstr>Arial</vt:lpstr>
      <vt:lpstr>微软雅黑</vt:lpstr>
      <vt:lpstr>Aharoni</vt:lpstr>
      <vt:lpstr>Yu Gothic UI Semibold</vt:lpstr>
      <vt:lpstr>Segoe UI</vt:lpstr>
      <vt:lpstr>DeepSeek-CJK-patch</vt:lpstr>
      <vt:lpstr>AMGDT</vt:lpstr>
      <vt:lpstr>SALOMON Sans 200 Reg</vt:lpstr>
      <vt:lpstr>Segoe UI Black</vt:lpstr>
      <vt:lpstr>Segoe UI Symbol</vt:lpstr>
      <vt:lpstr>72 Light</vt:lpstr>
      <vt:lpstr>Arial Unicode MS</vt:lpstr>
      <vt:lpstr>黑体</vt:lpstr>
      <vt:lpstr>等线 Light</vt:lpstr>
      <vt:lpstr>DM Serif Display</vt:lpstr>
      <vt:lpstr>Open Sans Light</vt:lpstr>
      <vt:lpstr>Impact</vt:lpstr>
      <vt:lpstr>MicrosoftYaHei</vt:lpstr>
      <vt:lpstr>Calibri</vt:lpstr>
      <vt:lpstr>Times New Roman</vt:lpstr>
      <vt:lpstr>MS PGothic</vt:lpstr>
      <vt:lpstr>Arial Unicode MS</vt:lpstr>
      <vt:lpstr>Open Sans</vt:lpstr>
      <vt:lpstr>Tahoma</vt:lpstr>
      <vt:lpstr>Ebrima</vt:lpstr>
      <vt:lpstr>Broadway</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xin-jia geng(耿欣佳)</dc:creator>
  <cp:lastModifiedBy>张恒健</cp:lastModifiedBy>
  <cp:revision>971</cp:revision>
  <dcterms:created xsi:type="dcterms:W3CDTF">2024-01-25T01:38:00Z</dcterms:created>
  <dcterms:modified xsi:type="dcterms:W3CDTF">2025-07-15T06:00:57Z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10A7D422B4FB444188FD6FD6DE99BFC0_13</vt:lpwstr>
  </property>
  <property fmtid="{D5CDD505-2E9C-101B-9397-08002B2CF9AE}" pid="3" name="KSOProductBuildVer">
    <vt:lpwstr>2052-12.1.0.21915</vt:lpwstr>
  </property>
</Properties>
</file>