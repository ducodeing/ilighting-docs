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99" r:id="rId5"/>
    <p:sldId id="308" r:id="rId6"/>
    <p:sldId id="310" r:id="rId7"/>
    <p:sldId id="312" r:id="rId8"/>
    <p:sldId id="305" r:id="rId9"/>
    <p:sldId id="284" r:id="rId10"/>
    <p:sldId id="287" r:id="rId11"/>
    <p:sldId id="318" r:id="rId12"/>
    <p:sldId id="300" r:id="rId13"/>
    <p:sldId id="315" r:id="rId14"/>
    <p:sldId id="304" r:id="rId15"/>
    <p:sldId id="314" r:id="rId16"/>
    <p:sldId id="267" r:id="rId17"/>
    <p:sldId id="311" r:id="rId18"/>
    <p:sldId id="270" r:id="rId19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Times New Roman" panose="02020603050405020304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Times New Roman" panose="02020603050405020304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Times New Roman" panose="02020603050405020304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Times New Roman" panose="02020603050405020304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Times New Roman" panose="02020603050405020304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Times New Roman" panose="02020603050405020304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Times New Roman" panose="02020603050405020304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Times New Roman" panose="02020603050405020304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Times New Roman" panose="0202060305040502030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pos="28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ang Chen(陈亮)" initials="LC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A0A"/>
    <a:srgbClr val="0D42A5"/>
    <a:srgbClr val="E7E9F1"/>
    <a:srgbClr val="C8EECD"/>
    <a:srgbClr val="7F7F7F"/>
    <a:srgbClr val="CBCFE2"/>
    <a:srgbClr val="F2F2F2"/>
    <a:srgbClr val="0000FF"/>
    <a:srgbClr val="FF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96379" autoAdjust="0"/>
  </p:normalViewPr>
  <p:slideViewPr>
    <p:cSldViewPr showGuides="1">
      <p:cViewPr varScale="1">
        <p:scale>
          <a:sx n="96" d="100"/>
          <a:sy n="96" d="100"/>
        </p:scale>
        <p:origin x="594" y="78"/>
      </p:cViewPr>
      <p:guideLst>
        <p:guide orient="horz" pos="1584"/>
        <p:guide pos="2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5" d="100"/>
          <a:sy n="125" d="100"/>
        </p:scale>
        <p:origin x="0" y="0"/>
      </p:cViewPr>
      <p:guideLst>
        <p:guide orient="horz" pos="2824"/>
        <p:guide pos="2160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ftr" idx="2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l"/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algn="l"/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algn="r"/>
            <a:fld id="{CAD2D6BD-DE1B-4B5F-8B41-2702339687B9}" type="datetime1">
              <a:rPr lang="zh-CN" altLang="en-US" sz="12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9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" name="文本框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l"/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Calibri" panose="020F0502020204030204" charset="0"/>
      </a:defRPr>
    </a:lvl1pPr>
    <a:lvl2pPr marL="4572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Calibri" panose="020F0502020204030204" charset="0"/>
      </a:defRPr>
    </a:lvl2pPr>
    <a:lvl3pPr marL="9144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Calibri" panose="020F0502020204030204" charset="0"/>
      </a:defRPr>
    </a:lvl3pPr>
    <a:lvl4pPr marL="13716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Calibri" panose="020F0502020204030204" charset="0"/>
      </a:defRPr>
    </a:lvl4pPr>
    <a:lvl5pPr marL="18288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Calibri" panose="020F050202020403020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Calibri" panose="020F050202020403020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Calibri" panose="020F050202020403020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Calibri" panose="020F050202020403020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Calibri" panose="020F050202020403020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17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118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"/>
          <p:cNvSpPr>
            <a:spLocks noGrp="1"/>
          </p:cNvSpPr>
          <p:nvPr>
            <p:ph type="body" hasCustomPrompt="1"/>
          </p:nvPr>
        </p:nvSpPr>
        <p:spPr>
          <a:xfrm>
            <a:off x="1714480" y="1000114"/>
            <a:ext cx="7020000" cy="185738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>
              <a:lnSpc>
                <a:spcPts val="2000"/>
              </a:lnSpc>
            </a:pPr>
            <a:r>
              <a:rPr lang="en-US" altLang="zh-CN" sz="1600" b="0" i="0" kern="2200" cap="all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area: To place an image, drag and drop selected content directly into the image area box, or by accessing the insert drop down menu</a:t>
            </a:r>
            <a:endParaRPr lang="zh-CN" altLang="en-US" sz="1600" b="0" i="0" kern="2200" cap="all" spc="0" baseline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body" hasCustomPrompt="1"/>
          </p:nvPr>
        </p:nvSpPr>
        <p:spPr>
          <a:xfrm>
            <a:off x="1714480" y="2928940"/>
            <a:ext cx="7020000" cy="714380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>
              <a:lnSpc>
                <a:spcPts val="3200"/>
              </a:lnSpc>
            </a:pPr>
            <a:r>
              <a:rPr lang="en-US" altLang="zh-CN" sz="2800" b="0" i="0" kern="1200" cap="all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title</a:t>
            </a:r>
            <a:endParaRPr lang="zh-CN" altLang="en-US" sz="2800" b="0" i="0" kern="1200" cap="all" spc="0" baseline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"/>
          <p:cNvSpPr>
            <a:spLocks noGrp="1"/>
          </p:cNvSpPr>
          <p:nvPr>
            <p:ph type="body" idx="10"/>
          </p:nvPr>
        </p:nvSpPr>
        <p:spPr>
          <a:xfrm>
            <a:off x="1714480" y="3714758"/>
            <a:ext cx="7020000" cy="107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>
              <a:lnSpc>
                <a:spcPts val="2000"/>
              </a:lnSpc>
            </a:pPr>
            <a:r>
              <a:rPr lang="en-US" altLang="zh-CN" sz="1600" b="1" i="0" kern="1200" cap="all" spc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edit Master text styles</a:t>
            </a:r>
            <a:endParaRPr lang="zh-CN" altLang="en-US" sz="1600" b="1" i="0" kern="1200" cap="all" spc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片" descr="E:\work\2014 OPPLE  VI  Brief（中国区）\新建文件夹 (2)\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7584" y="267494"/>
            <a:ext cx="1214446" cy="54176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8" name="文本框"/>
          <p:cNvSpPr>
            <a:spLocks noGrp="1"/>
          </p:cNvSpPr>
          <p:nvPr>
            <p:ph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r"/>
            <a:fld id="{CAD2D6BD-DE1B-4B5F-8B41-2702339687B9}" type="slidenum">
              <a:rPr lang="en-US" altLang="zh-CN" sz="800" b="0" i="0" u="none" strike="noStrike" kern="1200" cap="none" spc="0" baseline="0"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800">
              <a:solidFill>
                <a:srgbClr val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9" name="矩形"/>
          <p:cNvSpPr/>
          <p:nvPr/>
        </p:nvSpPr>
        <p:spPr>
          <a:xfrm>
            <a:off x="827584" y="4762915"/>
            <a:ext cx="731006" cy="2152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chemeClr val="accent1"/>
                </a:solidFill>
                <a:latin typeface="Calibri" panose="020F0502020204030204" charset="0"/>
                <a:ea typeface="宋体" panose="02010600030101010101" pitchFamily="2" charset="-122"/>
                <a:cs typeface="Whitney-Semibold" charset="0"/>
              </a:rPr>
              <a:t>OPPLE.COM</a:t>
            </a:r>
            <a:endParaRPr lang="zh-CN" altLang="en-US" sz="900" b="1" i="0" u="none" strike="noStrike" kern="1200" cap="none" spc="0" baseline="0">
              <a:solidFill>
                <a:schemeClr val="accent1"/>
              </a:solidFill>
              <a:latin typeface="Calibri" panose="020F0502020204030204" charset="0"/>
              <a:ea typeface="宋体" panose="02010600030101010101" pitchFamily="2" charset="-122"/>
              <a:cs typeface="Whitney-Semibold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 hasCustomPrompt="1"/>
          </p:nvPr>
        </p:nvSpPr>
        <p:spPr>
          <a:xfrm>
            <a:off x="431999" y="450000"/>
            <a:ext cx="8280000" cy="107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EDIT MASTER TITLE STYLE</a:t>
            </a:r>
            <a:endParaRPr lang="zh-CN" altLang="en-US" sz="2400" b="1" i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直线"/>
          <p:cNvSpPr/>
          <p:nvPr/>
        </p:nvSpPr>
        <p:spPr>
          <a:xfrm>
            <a:off x="431999" y="843558"/>
            <a:ext cx="828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  <p:sp>
        <p:nvSpPr>
          <p:cNvPr id="25" name="文本框"/>
          <p:cNvSpPr>
            <a:spLocks noGrp="1"/>
          </p:cNvSpPr>
          <p:nvPr>
            <p:ph type="body" idx="1" hasCustomPrompt="1"/>
          </p:nvPr>
        </p:nvSpPr>
        <p:spPr>
          <a:xfrm>
            <a:off x="431999" y="1674000"/>
            <a:ext cx="8280000" cy="4752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r>
              <a:rPr lang="en-US" altLang="zh-CN" sz="1600">
                <a:solidFill>
                  <a:srgbClr val="002060"/>
                </a:solidFill>
              </a:rPr>
              <a:t>Header and First Level Content</a:t>
            </a:r>
            <a:endParaRPr lang="en-US" altLang="zh-CN" sz="1600">
              <a:solidFill>
                <a:srgbClr val="002060"/>
              </a:solidFill>
            </a:endParaRPr>
          </a:p>
          <a:p>
            <a:pPr lvl="1"/>
            <a:r>
              <a:rPr lang="en-US" altLang="zh-CN" sz="1600">
                <a:solidFill>
                  <a:srgbClr val="002060"/>
                </a:solidFill>
              </a:rPr>
              <a:t>Second Level Content</a:t>
            </a:r>
            <a:endParaRPr lang="en-US" altLang="zh-CN" sz="1600">
              <a:solidFill>
                <a:srgbClr val="002060"/>
              </a:solidFill>
            </a:endParaRPr>
          </a:p>
          <a:p>
            <a:pPr lvl="2"/>
            <a:r>
              <a:rPr lang="en-US" altLang="zh-CN" sz="1600">
                <a:solidFill>
                  <a:srgbClr val="002060"/>
                </a:solidFill>
              </a:rPr>
              <a:t>Third Level Content</a:t>
            </a:r>
            <a:endParaRPr lang="en-US" altLang="zh-CN" sz="1600">
              <a:solidFill>
                <a:srgbClr val="002060"/>
              </a:solidFill>
            </a:endParaRPr>
          </a:p>
          <a:p>
            <a:pPr lvl="3"/>
            <a:r>
              <a:rPr lang="en-US" altLang="zh-CN" sz="1400">
                <a:solidFill>
                  <a:srgbClr val="002060"/>
                </a:solidFill>
              </a:rPr>
              <a:t>Fourth Level Content</a:t>
            </a:r>
            <a:endParaRPr lang="en-US" altLang="zh-CN" sz="1400">
              <a:solidFill>
                <a:srgbClr val="002060"/>
              </a:solidFill>
            </a:endParaRPr>
          </a:p>
          <a:p>
            <a:pPr lvl="4"/>
            <a:r>
              <a:rPr lang="en-US" altLang="zh-CN" sz="1400">
                <a:solidFill>
                  <a:srgbClr val="002060"/>
                </a:solidFill>
              </a:rPr>
              <a:t>Fifth Level Content</a:t>
            </a:r>
            <a:endParaRPr lang="zh-CN" altLang="en-US" sz="1400">
              <a:solidFill>
                <a:srgbClr val="002060"/>
              </a:solidFill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algn="r"/>
            <a:fld id="{CAD2D6BD-DE1B-4B5F-8B41-2702339687B9}" type="slidenum">
              <a:rPr lang="en-US" altLang="zh-CN" sz="800" b="0" i="0" u="none" strike="noStrike" kern="1200" cap="none" spc="0" baseline="0"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800">
              <a:solidFill>
                <a:srgbClr val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28" name="矩形"/>
          <p:cNvSpPr/>
          <p:nvPr/>
        </p:nvSpPr>
        <p:spPr>
          <a:xfrm>
            <a:off x="431999" y="4762915"/>
            <a:ext cx="639566" cy="2152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45720" rIns="91440" bIns="45720" anchor="t" anchorCtr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chemeClr val="accent1"/>
                </a:solidFill>
                <a:latin typeface="Calibri" panose="020F0502020204030204" charset="0"/>
                <a:ea typeface="宋体" panose="02010600030101010101" pitchFamily="2" charset="-122"/>
                <a:cs typeface="Whitney-Semibold" charset="0"/>
              </a:rPr>
              <a:t>OPPLE.COM</a:t>
            </a:r>
            <a:endParaRPr lang="zh-CN" altLang="en-US" sz="900" b="1" i="0" u="none" strike="noStrike" kern="1200" cap="none" spc="0" baseline="0">
              <a:solidFill>
                <a:schemeClr val="accent1"/>
              </a:solidFill>
              <a:latin typeface="Calibri" panose="020F0502020204030204" charset="0"/>
              <a:ea typeface="宋体" panose="02010600030101010101" pitchFamily="2" charset="-122"/>
              <a:cs typeface="Whitney-Semibol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"/>
          <p:cNvSpPr>
            <a:spLocks noGrp="1"/>
          </p:cNvSpPr>
          <p:nvPr>
            <p:ph type="body" idx="10"/>
          </p:nvPr>
        </p:nvSpPr>
        <p:spPr>
          <a:xfrm>
            <a:off x="431999" y="1674000"/>
            <a:ext cx="2664137" cy="107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>
              <a:lnSpc>
                <a:spcPts val="2000"/>
              </a:lnSpc>
            </a:pPr>
            <a:r>
              <a:rPr lang="en-US" altLang="zh-CN" sz="1600" b="1" i="0" cap="all" spc="-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edit Master text styles</a:t>
            </a:r>
            <a:endParaRPr lang="zh-CN" altLang="en-US" sz="1600" b="1" i="0" cap="all" spc="-5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title" hasCustomPrompt="1"/>
          </p:nvPr>
        </p:nvSpPr>
        <p:spPr>
          <a:xfrm>
            <a:off x="431999" y="450000"/>
            <a:ext cx="8280000" cy="107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EDIT MASTER TITLE STYLE</a:t>
            </a:r>
            <a:endParaRPr lang="zh-CN" altLang="en-US" sz="2400" b="1" i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"/>
          <p:cNvSpPr>
            <a:spLocks noGrp="1"/>
          </p:cNvSpPr>
          <p:nvPr>
            <p:ph type="body" idx="1" hasCustomPrompt="1"/>
          </p:nvPr>
        </p:nvSpPr>
        <p:spPr>
          <a:xfrm>
            <a:off x="3240000" y="1674000"/>
            <a:ext cx="5472000" cy="4752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r>
              <a:rPr lang="en-US" altLang="zh-CN" baseline="0">
                <a:latin typeface="Arial" panose="020B0604020202020204" pitchFamily="34" charset="0"/>
                <a:cs typeface="Arial" panose="020B0604020202020204" pitchFamily="34" charset="0"/>
              </a:rPr>
              <a:t>Header and First Level Content</a:t>
            </a:r>
            <a:endParaRPr lang="en-US" altLang="zh-CN" baseline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Second Level Content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Third Level Content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Fourth Level Content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4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Fifth Level Content</a:t>
            </a:r>
            <a:endParaRPr lang="zh-CN" altLang="en-US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"/>
          <p:cNvSpPr/>
          <p:nvPr/>
        </p:nvSpPr>
        <p:spPr>
          <a:xfrm>
            <a:off x="7308304" y="73663"/>
            <a:ext cx="1502591" cy="20574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1" i="0" u="none" strike="noStrike" kern="1200" cap="none" spc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charset="0"/>
              </a:rPr>
              <a:t>LED</a:t>
            </a:r>
            <a:r>
              <a:rPr lang="zh-CN" altLang="en-US" sz="800" b="1" i="0" u="none" strike="noStrike" kern="1200" cap="none" spc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charset="0"/>
              </a:rPr>
              <a:t>天棚灯</a:t>
            </a:r>
            <a:r>
              <a:rPr lang="en-US" altLang="zh-CN" sz="800" b="1" i="0" u="none" strike="noStrike" kern="1200" cap="none" spc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charset="0"/>
              </a:rPr>
              <a:t>- </a:t>
            </a:r>
            <a:r>
              <a:rPr lang="zh-CN" altLang="en-US" sz="800" b="1" i="0" u="none" strike="noStrike" kern="1200" cap="none" spc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charset="0"/>
              </a:rPr>
              <a:t>鹏晖</a:t>
            </a:r>
            <a:r>
              <a:rPr lang="en-US" altLang="zh-CN" sz="800" b="1" i="0" u="none" strike="noStrike" kern="1200" cap="none" spc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charset="0"/>
              </a:rPr>
              <a:t>Ⅱ-</a:t>
            </a:r>
            <a:r>
              <a:rPr lang="zh-CN" altLang="en-US" sz="800" b="1" i="0" u="none" strike="noStrike" kern="1200" cap="none" spc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charset="0"/>
              </a:rPr>
              <a:t>上市介绍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charset="0"/>
            </a:endParaRPr>
          </a:p>
        </p:txBody>
      </p:sp>
      <p:sp>
        <p:nvSpPr>
          <p:cNvPr id="41" name="矩形"/>
          <p:cNvSpPr/>
          <p:nvPr/>
        </p:nvSpPr>
        <p:spPr>
          <a:xfrm>
            <a:off x="431999" y="4762915"/>
            <a:ext cx="639566" cy="2152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45720" rIns="91440" bIns="45720" anchor="t" anchorCtr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chemeClr val="accent1"/>
                </a:solidFill>
                <a:latin typeface="Calibri" panose="020F0502020204030204" charset="0"/>
                <a:ea typeface="宋体" panose="02010600030101010101" pitchFamily="2" charset="-122"/>
                <a:cs typeface="Whitney-Semibold" charset="0"/>
              </a:rPr>
              <a:t>OPPLE.COM</a:t>
            </a:r>
            <a:endParaRPr lang="zh-CN" altLang="en-US" sz="900" b="1" i="0" u="none" strike="noStrike" kern="1200" cap="none" spc="0" baseline="0">
              <a:solidFill>
                <a:schemeClr val="accent1"/>
              </a:solidFill>
              <a:latin typeface="Calibri" panose="020F0502020204030204" charset="0"/>
              <a:ea typeface="宋体" panose="02010600030101010101" pitchFamily="2" charset="-122"/>
              <a:cs typeface="Whitney-Semibold" charset="0"/>
            </a:endParaRPr>
          </a:p>
        </p:txBody>
      </p:sp>
      <p:sp>
        <p:nvSpPr>
          <p:cNvPr id="42" name="直线"/>
          <p:cNvSpPr/>
          <p:nvPr/>
        </p:nvSpPr>
        <p:spPr>
          <a:xfrm>
            <a:off x="431999" y="843558"/>
            <a:ext cx="828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"/>
          <p:cNvSpPr/>
          <p:nvPr/>
        </p:nvSpPr>
        <p:spPr>
          <a:xfrm>
            <a:off x="884014" y="3100431"/>
            <a:ext cx="7802786" cy="542887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round/>
          </a:ln>
        </p:spPr>
        <p:txBody>
          <a:bodyPr vert="horz" wrap="square" lIns="144000" tIns="72000" rIns="144000" bIns="72000" anchor="t" anchorCtr="0"/>
          <a:lstStyle/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Whitney-Bold" charset="0"/>
              </a:rPr>
              <a:t>OPPLE LIGHTING CO., LTD.  </a:t>
            </a:r>
            <a:r>
              <a:rPr lang="zh-CN" altLang="en-US" sz="800" b="0" i="0" u="none" strike="noStrike" kern="1200" cap="none" spc="0" baseline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Heavy" charset="0"/>
              </a:rPr>
              <a:t>欧普照明股份有限公司</a:t>
            </a:r>
            <a:endParaRPr lang="en-US" altLang="zh-CN" sz="900" b="0" i="0" u="none" strike="noStrike" kern="1200" cap="none" spc="0" baseline="0">
              <a:solidFill>
                <a:srgbClr val="0046A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Whitney-Book" charset="0"/>
            </a:endParaRP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Whitney-Bold" charset="0"/>
              </a:rPr>
              <a:t>T</a:t>
            </a:r>
            <a:r>
              <a:rPr lang="en-US" altLang="zh-CN" sz="900" b="0" i="0" u="none" strike="noStrike" kern="1200" cap="none" spc="0" baseline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Whitney-Semibold" charset="0"/>
              </a:rPr>
              <a:t> </a:t>
            </a:r>
            <a:r>
              <a:rPr lang="en-US" altLang="zh-CN" sz="900" b="0" i="0" u="none" strike="noStrike" kern="1200" cap="none" spc="0" baseline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Whitney-Book" charset="0"/>
              </a:rPr>
              <a:t>+</a:t>
            </a:r>
            <a:r>
              <a:rPr lang="en-US" altLang="zh-CN" sz="900" b="0" i="0" u="none" strike="noStrike" kern="1200" cap="none" spc="0" baseline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Whitney-BookSC" charset="0"/>
              </a:rPr>
              <a:t>86 21 3855 0000	</a:t>
            </a:r>
            <a:r>
              <a:rPr lang="en-US" altLang="zh-CN" sz="900" b="1" i="0" u="none" strike="noStrike" kern="1200" cap="none" spc="0" baseline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Whitney-Bold" charset="0"/>
              </a:rPr>
              <a:t>E</a:t>
            </a:r>
            <a:r>
              <a:rPr lang="en-US" altLang="zh-CN" sz="900" b="0" i="0" u="none" strike="noStrike" kern="1200" cap="none" spc="0" baseline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Whitney-Semibold" charset="0"/>
              </a:rPr>
              <a:t> </a:t>
            </a:r>
            <a:r>
              <a:rPr lang="en-US" altLang="zh-CN" sz="900" b="0" i="0" u="none" strike="noStrike" kern="1200" cap="none" spc="0" baseline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Whitney-Book" charset="0"/>
              </a:rPr>
              <a:t>intersales@opple.com</a:t>
            </a:r>
            <a:endParaRPr lang="zh-CN" altLang="en-US" sz="900" b="0" i="0" u="none" strike="noStrike" kern="1200" cap="none" spc="0" baseline="0">
              <a:solidFill>
                <a:srgbClr val="0046A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Whitney-Book" charset="0"/>
            </a:endParaRPr>
          </a:p>
        </p:txBody>
      </p:sp>
      <p:sp>
        <p:nvSpPr>
          <p:cNvPr id="123" name="矩形"/>
          <p:cNvSpPr/>
          <p:nvPr/>
        </p:nvSpPr>
        <p:spPr>
          <a:xfrm>
            <a:off x="899592" y="2001379"/>
            <a:ext cx="5415280" cy="166624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0" rIns="0" bIns="0" anchor="t" anchorCtr="0"/>
          <a:lstStyle/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  <a:endParaRPr lang="en-US" altLang="zh-CN" sz="4800" b="0" i="0" u="none" strike="noStrike" kern="1200" cap="none" spc="0" baseline="0">
              <a:solidFill>
                <a:srgbClr val="0046A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3200" b="0" i="0" u="none" strike="noStrike" kern="1200" cap="none" spc="0" baseline="0">
              <a:solidFill>
                <a:schemeClr val="bg1"/>
              </a:solidFill>
              <a:latin typeface="方正兰亭准黑简体" charset="-122"/>
              <a:ea typeface="方正兰亭准黑简体" charset="-122"/>
              <a:cs typeface="Calibri" panose="020F0502020204030204" charset="0"/>
            </a:endParaRPr>
          </a:p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0" i="0" u="none" strike="noStrike" kern="1200" cap="none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charset="0"/>
              </a:rPr>
              <a:t>感谢您的关注</a:t>
            </a:r>
            <a:endParaRPr lang="zh-CN" altLang="en-US" sz="3200" b="0" i="0" u="none" strike="noStrike" kern="1200" cap="none" spc="0" baseline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charset="0"/>
            </a:endParaRPr>
          </a:p>
        </p:txBody>
      </p:sp>
      <p:pic>
        <p:nvPicPr>
          <p:cNvPr id="124" name="图片" descr="LOGO-0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9135" y="102235"/>
            <a:ext cx="1471929" cy="84836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25" name="矩形"/>
          <p:cNvSpPr/>
          <p:nvPr/>
        </p:nvSpPr>
        <p:spPr>
          <a:xfrm>
            <a:off x="827584" y="4679342"/>
            <a:ext cx="639566" cy="21526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45720" rIns="91440" bIns="45720" anchor="t" anchorCtr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chemeClr val="bg1"/>
                </a:solidFill>
                <a:latin typeface="Calibri" panose="020F0502020204030204" charset="0"/>
                <a:ea typeface="宋体" panose="02010600030101010101" pitchFamily="2" charset="-122"/>
                <a:cs typeface="Whitney-Semibold" charset="0"/>
              </a:rPr>
              <a:t>OPPLE.COM</a:t>
            </a:r>
            <a:endParaRPr lang="zh-CN" altLang="en-US" sz="900" b="1" i="0" u="none" strike="noStrike" kern="1200" cap="none" spc="0" baseline="0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  <a:cs typeface="Whitney-Semibold" charset="0"/>
            </a:endParaRPr>
          </a:p>
        </p:txBody>
      </p:sp>
      <p:sp>
        <p:nvSpPr>
          <p:cNvPr id="126" name="文本框"/>
          <p:cNvSpPr>
            <a:spLocks noGrp="1"/>
          </p:cNvSpPr>
          <p:nvPr>
            <p:ph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algn="r"/>
            <a:fld id="{CAD2D6BD-DE1B-4B5F-8B41-2702339687B9}" type="slidenum">
              <a:rPr lang="en-US" altLang="zh-CN" sz="800" b="0" i="0" u="none" strike="noStrike" kern="1200" cap="none" spc="0" baseline="0"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800">
              <a:solidFill>
                <a:srgbClr val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6"/>
          <p:cNvSpPr/>
          <p:nvPr userDrawn="1"/>
        </p:nvSpPr>
        <p:spPr>
          <a:xfrm>
            <a:off x="899490" y="3195832"/>
            <a:ext cx="7072362" cy="542888"/>
          </a:xfrm>
          <a:prstGeom prst="rect">
            <a:avLst/>
          </a:prstGeom>
          <a:solidFill>
            <a:srgbClr val="0046AA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72000" rIns="144000" bIns="72000" numCol="1" spcCol="0" rtlCol="0" fromWordArt="0" anchor="t" anchorCtr="0" forceAA="0" compatLnSpc="1">
            <a:noAutofit/>
          </a:bodyPr>
          <a:lstStyle/>
          <a:p>
            <a:pPr>
              <a:lnSpc>
                <a:spcPts val="1400"/>
              </a:lnSpc>
            </a:pPr>
            <a:r>
              <a:rPr lang="en-US" sz="900" b="1" i="0" kern="1200" dirty="0" smtClean="0">
                <a:solidFill>
                  <a:srgbClr val="FFFFFF"/>
                </a:solidFill>
                <a:latin typeface="+mn-lt"/>
                <a:ea typeface="+mn-ea"/>
                <a:cs typeface="Whitney-Bold"/>
              </a:rPr>
              <a:t>OPPLE LIGHTING CO., LTD.  </a:t>
            </a:r>
            <a:r>
              <a:rPr lang="zh-TW" altLang="en-US" sz="800" b="0" i="0" kern="12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Heavy"/>
              </a:rPr>
              <a:t>欧普照明股份有限公司</a:t>
            </a:r>
            <a:endParaRPr lang="en-US" sz="900" b="0" i="0" kern="1200" dirty="0" smtClea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Whitney-Book"/>
            </a:endParaRPr>
          </a:p>
          <a:p>
            <a:pPr>
              <a:lnSpc>
                <a:spcPts val="1400"/>
              </a:lnSpc>
            </a:pPr>
            <a:r>
              <a:rPr lang="nb-NO" sz="900" b="1" i="0" kern="1200" dirty="0" smtClean="0">
                <a:solidFill>
                  <a:srgbClr val="FFFFFF"/>
                </a:solidFill>
                <a:latin typeface="+mn-lt"/>
                <a:ea typeface="+mn-ea"/>
                <a:cs typeface="Whitney-Bold"/>
              </a:rPr>
              <a:t>T</a:t>
            </a:r>
            <a:r>
              <a:rPr lang="nb-NO" sz="900" b="0" i="0" kern="1200" dirty="0" smtClean="0">
                <a:solidFill>
                  <a:srgbClr val="FFFFFF"/>
                </a:solidFill>
                <a:latin typeface="+mn-lt"/>
                <a:ea typeface="+mn-ea"/>
                <a:cs typeface="Whitney-Semibold"/>
              </a:rPr>
              <a:t> </a:t>
            </a:r>
            <a:r>
              <a:rPr lang="nb-NO" sz="900" b="0" i="0" kern="1200" dirty="0" smtClean="0">
                <a:solidFill>
                  <a:srgbClr val="FFFFFF"/>
                </a:solidFill>
                <a:latin typeface="+mn-lt"/>
                <a:ea typeface="+mn-ea"/>
                <a:cs typeface="Whitney-Book"/>
              </a:rPr>
              <a:t>+</a:t>
            </a:r>
            <a:r>
              <a:rPr lang="nb-NO" sz="900" b="0" i="0" kern="1200" dirty="0" smtClean="0">
                <a:solidFill>
                  <a:srgbClr val="FFFFFF"/>
                </a:solidFill>
                <a:latin typeface="+mn-lt"/>
                <a:ea typeface="+mn-ea"/>
                <a:cs typeface="Whitney-BookSC"/>
              </a:rPr>
              <a:t>86 21 3855 0000	</a:t>
            </a:r>
            <a:r>
              <a:rPr lang="nb-NO" sz="900" b="1" i="0" kern="1200" dirty="0" smtClean="0">
                <a:solidFill>
                  <a:srgbClr val="FFFFFF"/>
                </a:solidFill>
                <a:latin typeface="+mn-lt"/>
                <a:ea typeface="+mn-ea"/>
                <a:cs typeface="Whitney-Bold"/>
              </a:rPr>
              <a:t>E</a:t>
            </a:r>
            <a:r>
              <a:rPr lang="nb-NO" sz="900" b="0" i="0" kern="1200" dirty="0" smtClean="0">
                <a:solidFill>
                  <a:srgbClr val="FFFFFF"/>
                </a:solidFill>
                <a:latin typeface="+mn-lt"/>
                <a:ea typeface="+mn-ea"/>
                <a:cs typeface="Whitney-Semibold"/>
              </a:rPr>
              <a:t> </a:t>
            </a:r>
            <a:r>
              <a:rPr lang="nb-NO" sz="900" b="0" i="0" kern="1200" dirty="0" smtClean="0">
                <a:solidFill>
                  <a:srgbClr val="FFFFFF"/>
                </a:solidFill>
                <a:latin typeface="+mn-lt"/>
                <a:ea typeface="+mn-ea"/>
                <a:cs typeface="Whitney-Book"/>
              </a:rPr>
              <a:t>intersales@opple.com</a:t>
            </a:r>
            <a:endParaRPr lang="nb-NO" sz="900" b="0" i="0" kern="1200" dirty="0" smtClean="0">
              <a:solidFill>
                <a:srgbClr val="FFFFFF"/>
              </a:solidFill>
              <a:latin typeface="+mn-lt"/>
              <a:ea typeface="+mn-ea"/>
              <a:cs typeface="Whitney-Book"/>
            </a:endParaRPr>
          </a:p>
        </p:txBody>
      </p:sp>
      <p:sp>
        <p:nvSpPr>
          <p:cNvPr id="7" name="Rectangle 7"/>
          <p:cNvSpPr/>
          <p:nvPr userDrawn="1"/>
        </p:nvSpPr>
        <p:spPr>
          <a:xfrm>
            <a:off x="899491" y="4569124"/>
            <a:ext cx="78803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/>
            <a:r>
              <a:rPr lang="en-US" altLang="zh-CN" sz="900" b="1" i="0" dirty="0" smtClean="0">
                <a:solidFill>
                  <a:schemeClr val="accent1"/>
                </a:solidFill>
                <a:latin typeface="+mj-lt"/>
                <a:cs typeface="Whitney-Semibold"/>
              </a:rPr>
              <a:t>OPPLE.COM</a:t>
            </a:r>
            <a:endParaRPr lang="zh-CN" altLang="en-US" sz="900" b="1" i="0" dirty="0" smtClean="0">
              <a:solidFill>
                <a:schemeClr val="accent1"/>
              </a:solidFill>
              <a:latin typeface="+mj-lt"/>
              <a:cs typeface="Whitney-Semibold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99491" y="1786728"/>
            <a:ext cx="5415280" cy="166624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zh-CN" sz="4800" dirty="0" smtClean="0">
                <a:solidFill>
                  <a:srgbClr val="0046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altLang="zh-CN" sz="4800" dirty="0" smtClean="0">
              <a:solidFill>
                <a:srgbClr val="0046A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200"/>
              </a:lnSpc>
            </a:pPr>
            <a:endParaRPr lang="en-US" altLang="zh-CN" sz="3200" dirty="0" smtClean="0">
              <a:solidFill>
                <a:srgbClr val="0046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3200" dirty="0" smtClean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感谢您的关注</a:t>
            </a:r>
            <a:endParaRPr lang="zh-CN" altLang="en-US" sz="3200" dirty="0" smtClean="0">
              <a:solidFill>
                <a:srgbClr val="0046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2" descr="E:\work\2014 OPPLE  VI  Brief（中国区）\新建文件夹 (2)\3.jpg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899491" y="339440"/>
            <a:ext cx="1214446" cy="54176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l"/>
            <a:fld id="{CAD2D6BD-DE1B-4B5F-8B41-2702339687B9}" type="datetime1">
              <a:rPr lang="zh-CN" altLang="en-US" sz="1200">
                <a:solidFill>
                  <a:srgbClr val="8993C4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solidFill>
                <a:srgbClr val="8993C4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ctr"/>
            <a:r>
              <a:rPr lang="en-US" altLang="zh-CN" sz="1200">
                <a:solidFill>
                  <a:srgbClr val="0046AA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OPPLE.COM</a:t>
            </a:r>
            <a:endParaRPr lang="zh-CN" altLang="en-US" sz="1200">
              <a:solidFill>
                <a:srgbClr val="0046AA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93C4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solidFill>
                <a:srgbClr val="8993C4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3.xml"/><Relationship Id="rId5" Type="http://schemas.microsoft.com/office/2007/relationships/hdphoto" Target="../media/image29.wdp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emf"/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47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2.emf"/><Relationship Id="rId1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"/>
          <p:cNvSpPr/>
          <p:nvPr/>
        </p:nvSpPr>
        <p:spPr>
          <a:xfrm>
            <a:off x="539440" y="3939901"/>
            <a:ext cx="8160026" cy="529581"/>
          </a:xfrm>
          <a:prstGeom prst="rect">
            <a:avLst/>
          </a:prstGeom>
          <a:solidFill>
            <a:srgbClr val="0046AA"/>
          </a:solidFill>
          <a:ln w="9525" cap="flat" cmpd="sng">
            <a:noFill/>
            <a:prstDash val="solid"/>
            <a:miter/>
          </a:ln>
        </p:spPr>
        <p:txBody>
          <a:bodyPr vert="horz" wrap="square" lIns="144000" tIns="72000" rIns="144000" bIns="72000" anchor="t" anchorCtr="0"/>
          <a:lstStyle/>
          <a:p>
            <a:pPr defTabSz="457200">
              <a:lnSpc>
                <a:spcPts val="3200"/>
              </a:lnSpc>
              <a:spcAft>
                <a:spcPts val="400"/>
              </a:spcAft>
            </a:pPr>
            <a:r>
              <a:rPr lang="zh-CN" altLang="en-US" sz="2400" b="1" cap="all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户外洗墙灯</a:t>
            </a:r>
            <a:r>
              <a:rPr lang="en-US" altLang="zh-CN" sz="2400" b="1" i="0" u="none" strike="noStrike" kern="1200" cap="all" spc="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-A01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</a:t>
            </a:r>
            <a:r>
              <a:rPr lang="zh-CN" altLang="en-US" sz="2400" b="1" i="0" u="none" strike="noStrike" kern="1200" cap="all" spc="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系列</a:t>
            </a:r>
            <a:r>
              <a:rPr lang="en-US" altLang="zh-CN" sz="2400" b="1" i="0" u="none" strike="noStrike" kern="1200" cap="all" spc="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b="1" cap="all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产品</a:t>
            </a:r>
            <a:r>
              <a:rPr lang="zh-CN" altLang="en-US" sz="2400" b="1" i="0" u="none" strike="noStrike" kern="1200" cap="all" spc="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介绍</a:t>
            </a:r>
            <a:endParaRPr lang="zh-CN" altLang="en-US" sz="1600" b="0" i="0" u="none" strike="noStrike" kern="1200" cap="all" spc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1" name="矩形"/>
          <p:cNvSpPr/>
          <p:nvPr/>
        </p:nvSpPr>
        <p:spPr>
          <a:xfrm>
            <a:off x="7459183" y="3907774"/>
            <a:ext cx="1240283" cy="62810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00" b="1" i="0" u="none" strike="noStrike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商用事业部 ·产品部</a:t>
            </a:r>
            <a:endParaRPr lang="en-US" altLang="zh-CN" sz="800" b="1" i="0" u="none" strike="noStrike" kern="1200" cap="none" spc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1" i="0" u="none" strike="noStrike" kern="1200" cap="none" spc="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2020</a:t>
            </a:r>
            <a:r>
              <a:rPr lang="zh-CN" altLang="en-US" sz="800" b="1" i="0" u="none" strike="noStrike" kern="1200" cap="none" spc="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年</a:t>
            </a:r>
            <a:r>
              <a:rPr lang="en-US" altLang="zh-CN" sz="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</a:t>
            </a:r>
            <a:r>
              <a:rPr lang="zh-CN" altLang="en-US" sz="800" b="1" i="0" u="none" strike="noStrike" kern="1200" cap="none" spc="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月</a:t>
            </a:r>
            <a:endParaRPr lang="zh-CN" altLang="en-US" sz="800" b="1" i="0" u="none" strike="noStrike" kern="1200" cap="none" spc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13" b="32491"/>
          <a:stretch>
            <a:fillRect/>
          </a:stretch>
        </p:blipFill>
        <p:spPr>
          <a:xfrm>
            <a:off x="539440" y="915520"/>
            <a:ext cx="8160026" cy="302438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"/>
          <p:cNvSpPr/>
          <p:nvPr/>
        </p:nvSpPr>
        <p:spPr>
          <a:xfrm>
            <a:off x="431999" y="450000"/>
            <a:ext cx="8285305" cy="84652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应用</a:t>
            </a: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场所</a:t>
            </a:r>
            <a:r>
              <a:rPr lang="en-US" altLang="zh-CN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: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5649" y="1314577"/>
            <a:ext cx="6700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 smtClean="0"/>
              <a:t>专为户外建筑照明订制的线型洗墙应用灯具</a:t>
            </a:r>
            <a:endParaRPr lang="en-US" altLang="zh-CN" sz="1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 smtClean="0"/>
              <a:t>适用于建筑</a:t>
            </a:r>
            <a:r>
              <a:rPr lang="zh-CN" altLang="en-US" sz="1400" dirty="0"/>
              <a:t>外墙、</a:t>
            </a:r>
            <a:r>
              <a:rPr lang="zh-CN" altLang="en-US" sz="1400" dirty="0" smtClean="0"/>
              <a:t>桥梁等建筑立面装饰，凸显建筑独特的结构风格</a:t>
            </a:r>
            <a:endParaRPr lang="zh-CN" altLang="en-US" sz="1400" dirty="0"/>
          </a:p>
        </p:txBody>
      </p:sp>
      <p:sp>
        <p:nvSpPr>
          <p:cNvPr id="5" name="矩形 4"/>
          <p:cNvSpPr/>
          <p:nvPr/>
        </p:nvSpPr>
        <p:spPr>
          <a:xfrm>
            <a:off x="330149" y="1022463"/>
            <a:ext cx="2941831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rtl="0">
              <a:lnSpc>
                <a:spcPct val="80000"/>
              </a:lnSpc>
              <a:spcBef>
                <a:spcPct val="0"/>
              </a:spcBef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户外洗墙灯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-A01 Com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" r="802"/>
          <a:stretch>
            <a:fillRect/>
          </a:stretch>
        </p:blipFill>
        <p:spPr>
          <a:xfrm>
            <a:off x="3923911" y="1929627"/>
            <a:ext cx="2446695" cy="1505916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10" y="3463513"/>
            <a:ext cx="2446695" cy="1508937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3"/>
          <a:stretch>
            <a:fillRect/>
          </a:stretch>
        </p:blipFill>
        <p:spPr>
          <a:xfrm>
            <a:off x="6397811" y="1929627"/>
            <a:ext cx="2441796" cy="1505916"/>
          </a:xfrm>
          <a:prstGeom prst="rect">
            <a:avLst/>
          </a:prstGeom>
        </p:spPr>
      </p:pic>
      <p:pic>
        <p:nvPicPr>
          <p:cNvPr id="28" name="图片 27"/>
          <p:cNvPicPr/>
          <p:nvPr/>
        </p:nvPicPr>
        <p:blipFill>
          <a:blip r:embed="rId4"/>
          <a:stretch>
            <a:fillRect/>
          </a:stretch>
        </p:blipFill>
        <p:spPr>
          <a:xfrm>
            <a:off x="6397811" y="3463513"/>
            <a:ext cx="2441796" cy="1505916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5489626" y="3169755"/>
            <a:ext cx="880980" cy="27699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市政亮化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939348" y="3169755"/>
            <a:ext cx="900259" cy="27699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特色古镇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547338" y="4692669"/>
            <a:ext cx="823267" cy="27699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商业单体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939348" y="4686882"/>
            <a:ext cx="900259" cy="27699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桥梁隧道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4680" y="1628509"/>
            <a:ext cx="4791685" cy="3197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title"/>
          </p:nvPr>
        </p:nvSpPr>
        <p:spPr>
          <a:xfrm>
            <a:off x="395420" y="361629"/>
            <a:ext cx="8285305" cy="46556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 algn="l"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市场</a:t>
            </a: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定位</a:t>
            </a:r>
            <a:r>
              <a:rPr lang="en-US" altLang="zh-CN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(</a:t>
            </a: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产品定位</a:t>
            </a:r>
            <a:r>
              <a:rPr lang="en-US" altLang="zh-CN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)</a:t>
            </a: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：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 flipV="1">
            <a:off x="1403560" y="3255122"/>
            <a:ext cx="6127523" cy="1067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834211" y="1031749"/>
            <a:ext cx="6835694" cy="4141066"/>
            <a:chOff x="3106474" y="987530"/>
            <a:chExt cx="6835694" cy="4141066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3635870" y="4730042"/>
              <a:ext cx="630629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/>
            <p:cNvGrpSpPr/>
            <p:nvPr/>
          </p:nvGrpSpPr>
          <p:grpSpPr>
            <a:xfrm>
              <a:off x="3106474" y="987530"/>
              <a:ext cx="5033968" cy="4141066"/>
              <a:chOff x="3106474" y="987530"/>
              <a:chExt cx="5033968" cy="4141066"/>
            </a:xfrm>
          </p:grpSpPr>
          <p:cxnSp>
            <p:nvCxnSpPr>
              <p:cNvPr id="10" name="直接箭头连接符 9"/>
              <p:cNvCxnSpPr/>
              <p:nvPr/>
            </p:nvCxnSpPr>
            <p:spPr>
              <a:xfrm flipV="1">
                <a:off x="3635870" y="987530"/>
                <a:ext cx="7382" cy="37425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12"/>
              <p:cNvSpPr txBox="1"/>
              <p:nvPr/>
            </p:nvSpPr>
            <p:spPr>
              <a:xfrm>
                <a:off x="3106474" y="1736955"/>
                <a:ext cx="400110" cy="743355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zh-CN" altLang="en-US" sz="140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品质型</a:t>
                </a:r>
                <a:endParaRPr lang="zh-CN" altLang="en-US" sz="1400" b="1" dirty="0" smtClean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5783067" y="4710405"/>
                <a:ext cx="2357375" cy="418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户外“线形灯”家族</a:t>
                </a:r>
                <a:endPara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3136508" y="3653878"/>
                <a:ext cx="400110" cy="743355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zh-CN" altLang="en-US" sz="140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基础型</a:t>
                </a:r>
                <a:endParaRPr lang="zh-CN" altLang="en-US" sz="1400" b="1" dirty="0" smtClean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7"/>
          <a:stretch>
            <a:fillRect/>
          </a:stretch>
        </p:blipFill>
        <p:spPr>
          <a:xfrm>
            <a:off x="3565358" y="2128250"/>
            <a:ext cx="1636026" cy="72482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946" y="3125212"/>
            <a:ext cx="1778467" cy="1186963"/>
          </a:xfrm>
          <a:prstGeom prst="rect">
            <a:avLst/>
          </a:prstGeom>
        </p:spPr>
      </p:pic>
      <p:sp>
        <p:nvSpPr>
          <p:cNvPr id="23" name="íŝľíḍê"/>
          <p:cNvSpPr txBox="1"/>
          <p:nvPr/>
        </p:nvSpPr>
        <p:spPr bwMode="auto">
          <a:xfrm>
            <a:off x="3477946" y="2687447"/>
            <a:ext cx="2001600" cy="49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B01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线条灯</a:t>
            </a:r>
            <a:endParaRPr lang="zh-CN" altLang="en-US" sz="9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ct val="0"/>
              </a:spcBef>
            </a:pP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功率：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12W(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每米</a:t>
            </a:r>
            <a:r>
              <a:rPr lang="en-US" altLang="zh-CN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9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íŝľíḍê"/>
          <p:cNvSpPr txBox="1"/>
          <p:nvPr/>
        </p:nvSpPr>
        <p:spPr bwMode="auto">
          <a:xfrm>
            <a:off x="3417944" y="4143119"/>
            <a:ext cx="2001600" cy="49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B02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线条灯</a:t>
            </a:r>
            <a:endParaRPr lang="zh-CN" altLang="en-US" sz="9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ct val="0"/>
              </a:spcBef>
            </a:pP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功率：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10W/15W(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每米</a:t>
            </a:r>
            <a:r>
              <a:rPr lang="en-US" altLang="zh-CN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9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31044">
            <a:off x="1553424" y="690729"/>
            <a:ext cx="1898500" cy="126709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85"/>
          <a:stretch>
            <a:fillRect/>
          </a:stretch>
        </p:blipFill>
        <p:spPr>
          <a:xfrm>
            <a:off x="1503987" y="2056240"/>
            <a:ext cx="1931242" cy="88889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991" y="1906567"/>
            <a:ext cx="1691600" cy="960659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458480" y="2676936"/>
            <a:ext cx="2001600" cy="49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algn="ctr" defTabSz="914400" rtl="0">
              <a:spcBef>
                <a:spcPct val="0"/>
              </a:spcBef>
              <a:defRPr sz="9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defTabSz="914400" rtl="0"/>
            <a:lvl3pPr marL="914400" defTabSz="914400" rtl="0"/>
            <a:lvl4pPr marL="1371600" defTabSz="914400" rtl="0"/>
            <a:lvl5pPr marL="1828800" defTabSz="914400" rtl="0"/>
            <a:lvl6pPr marL="2286000" defTabSz="914400" rtl="0"/>
            <a:lvl7pPr marL="2743200" defTabSz="914400" rtl="0"/>
            <a:lvl8pPr marL="3200400" defTabSz="914400" rtl="0"/>
            <a:lvl9pPr marL="3657600" defTabSz="914400" rtl="0"/>
          </a:lstStyle>
          <a:p>
            <a:r>
              <a:rPr lang="en-US" altLang="zh-CN" dirty="0"/>
              <a:t>A01</a:t>
            </a:r>
            <a:r>
              <a:rPr lang="zh-CN" altLang="en-US" dirty="0"/>
              <a:t>洗墙灯</a:t>
            </a:r>
            <a:endParaRPr lang="en-US" altLang="zh-CN" dirty="0"/>
          </a:p>
          <a:p>
            <a:r>
              <a:rPr lang="zh-CN" altLang="en-US" dirty="0"/>
              <a:t>功率：</a:t>
            </a:r>
            <a:r>
              <a:rPr lang="en-US" altLang="zh-CN" dirty="0"/>
              <a:t>18W/24W/36W(</a:t>
            </a:r>
            <a:r>
              <a:rPr lang="zh-CN" altLang="en-US" dirty="0"/>
              <a:t>每米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1409906" y="1509683"/>
            <a:ext cx="2001600" cy="49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algn="ctr" defTabSz="914400" rtl="0">
              <a:spcBef>
                <a:spcPct val="0"/>
              </a:spcBef>
              <a:defRPr sz="9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defTabSz="914400" rtl="0"/>
            <a:lvl3pPr marL="914400" defTabSz="914400" rtl="0"/>
            <a:lvl4pPr marL="1371600" defTabSz="914400" rtl="0"/>
            <a:lvl5pPr marL="1828800" defTabSz="914400" rtl="0"/>
            <a:lvl6pPr marL="2286000" defTabSz="914400" rtl="0"/>
            <a:lvl7pPr marL="2743200" defTabSz="914400" rtl="0"/>
            <a:lvl8pPr marL="3200400" defTabSz="914400" rtl="0"/>
            <a:lvl9pPr marL="3657600" defTabSz="914400" rtl="0"/>
          </a:lstStyle>
          <a:p>
            <a:r>
              <a:rPr lang="en-US" altLang="zh-CN" dirty="0"/>
              <a:t>A02</a:t>
            </a:r>
            <a:r>
              <a:rPr lang="zh-CN" altLang="en-US" dirty="0"/>
              <a:t>洗墙灯（</a:t>
            </a:r>
            <a:r>
              <a:rPr lang="en-US" altLang="zh-CN" dirty="0"/>
              <a:t>DMX512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 smtClean="0"/>
              <a:t>功率：</a:t>
            </a:r>
            <a:r>
              <a:rPr lang="en-US" altLang="zh-CN" dirty="0"/>
              <a:t>18W/24W/36W(</a:t>
            </a:r>
            <a:r>
              <a:rPr lang="zh-CN" altLang="en-US" dirty="0"/>
              <a:t>每米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1409906" y="4144537"/>
            <a:ext cx="2001600" cy="493200"/>
          </a:xfrm>
          <a:prstGeom prst="rect">
            <a:avLst/>
          </a:prstGeom>
          <a:solidFill>
            <a:srgbClr val="C8EECD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algn="ctr" defTabSz="914400" rtl="0">
              <a:spcBef>
                <a:spcPct val="0"/>
              </a:spcBef>
              <a:defRPr sz="9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defTabSz="914400" rtl="0"/>
            <a:lvl3pPr marL="914400" defTabSz="914400" rtl="0"/>
            <a:lvl4pPr marL="1371600" defTabSz="914400" rtl="0"/>
            <a:lvl5pPr marL="1828800" defTabSz="914400" rtl="0"/>
            <a:lvl6pPr marL="2286000" defTabSz="914400" rtl="0"/>
            <a:lvl7pPr marL="2743200" defTabSz="914400" rtl="0"/>
            <a:lvl8pPr marL="3200400" defTabSz="914400" rtl="0"/>
            <a:lvl9pPr marL="3657600" defTabSz="914400" rtl="0"/>
          </a:lstStyle>
          <a:p>
            <a:r>
              <a:rPr lang="en-US" altLang="zh-CN" dirty="0" smtClean="0"/>
              <a:t>A01 Com </a:t>
            </a:r>
            <a:r>
              <a:rPr lang="zh-CN" altLang="en-US" dirty="0" smtClean="0"/>
              <a:t>洗</a:t>
            </a:r>
            <a:r>
              <a:rPr lang="zh-CN" altLang="en-US" dirty="0"/>
              <a:t>墙灯</a:t>
            </a:r>
            <a:endParaRPr lang="en-US" altLang="zh-CN" dirty="0"/>
          </a:p>
          <a:p>
            <a:r>
              <a:rPr lang="zh-CN" altLang="en-US" dirty="0"/>
              <a:t>功率：</a:t>
            </a:r>
            <a:r>
              <a:rPr lang="en-US" altLang="zh-CN" dirty="0"/>
              <a:t>18W/24W/36W(</a:t>
            </a:r>
            <a:r>
              <a:rPr lang="zh-CN" altLang="en-US" dirty="0"/>
              <a:t>每米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5502830" y="2684855"/>
            <a:ext cx="2002916" cy="49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algn="ctr" defTabSz="914400" rtl="0">
              <a:spcBef>
                <a:spcPct val="0"/>
              </a:spcBef>
              <a:defRPr sz="9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defTabSz="914400" rtl="0"/>
            <a:lvl3pPr marL="914400" defTabSz="914400" rtl="0"/>
            <a:lvl4pPr marL="1371600" defTabSz="914400" rtl="0"/>
            <a:lvl5pPr marL="1828800" defTabSz="914400" rtl="0"/>
            <a:lvl6pPr marL="2286000" defTabSz="914400" rtl="0"/>
            <a:lvl7pPr marL="2743200" defTabSz="914400" rtl="0"/>
            <a:lvl8pPr marL="3200400" defTabSz="914400" rtl="0"/>
            <a:lvl9pPr marL="3657600" defTabSz="914400" rtl="0"/>
          </a:lstStyle>
          <a:p>
            <a:r>
              <a:rPr lang="en-US" altLang="zh-CN" dirty="0"/>
              <a:t>C01</a:t>
            </a:r>
            <a:r>
              <a:rPr lang="zh-CN" altLang="en-US" dirty="0"/>
              <a:t>轮廓灯</a:t>
            </a:r>
            <a:endParaRPr lang="en-US" altLang="zh-CN" dirty="0"/>
          </a:p>
          <a:p>
            <a:r>
              <a:rPr lang="zh-CN" altLang="en-US" dirty="0"/>
              <a:t>功率：</a:t>
            </a:r>
            <a:r>
              <a:rPr lang="en-US" altLang="zh-CN" dirty="0"/>
              <a:t>12W(</a:t>
            </a:r>
            <a:r>
              <a:rPr lang="zh-CN" altLang="en-US" dirty="0"/>
              <a:t>每米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5468672" y="4136432"/>
            <a:ext cx="2002916" cy="493845"/>
          </a:xfrm>
          <a:prstGeom prst="rect">
            <a:avLst/>
          </a:prstGeom>
          <a:solidFill>
            <a:srgbClr val="C8EECD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algn="ctr" defTabSz="914400" rtl="0">
              <a:spcBef>
                <a:spcPct val="0"/>
              </a:spcBef>
              <a:defRPr sz="9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defTabSz="914400" rtl="0"/>
            <a:lvl3pPr marL="914400" defTabSz="914400" rtl="0"/>
            <a:lvl4pPr marL="1371600" defTabSz="914400" rtl="0"/>
            <a:lvl5pPr marL="1828800" defTabSz="914400" rtl="0"/>
            <a:lvl6pPr marL="2286000" defTabSz="914400" rtl="0"/>
            <a:lvl7pPr marL="2743200" defTabSz="914400" rtl="0"/>
            <a:lvl8pPr marL="3200400" defTabSz="914400" rtl="0"/>
            <a:lvl9pPr marL="3657600" defTabSz="914400" rtl="0"/>
          </a:lstStyle>
          <a:p>
            <a:r>
              <a:rPr lang="en-US" altLang="zh-CN" dirty="0" smtClean="0"/>
              <a:t>C02</a:t>
            </a:r>
            <a:r>
              <a:rPr lang="zh-CN" altLang="en-US" dirty="0" smtClean="0"/>
              <a:t>轮廓</a:t>
            </a:r>
            <a:r>
              <a:rPr lang="zh-CN" altLang="en-US" dirty="0"/>
              <a:t>灯</a:t>
            </a:r>
            <a:endParaRPr lang="en-US" altLang="zh-CN" dirty="0"/>
          </a:p>
          <a:p>
            <a:r>
              <a:rPr lang="zh-CN" altLang="en-US" dirty="0"/>
              <a:t>功率：</a:t>
            </a:r>
            <a:r>
              <a:rPr lang="en-US" altLang="zh-CN" dirty="0"/>
              <a:t>12W(</a:t>
            </a:r>
            <a:r>
              <a:rPr lang="zh-CN" altLang="en-US" dirty="0"/>
              <a:t>每米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5530149" y="1522053"/>
            <a:ext cx="2002916" cy="493200"/>
          </a:xfrm>
          <a:prstGeom prst="rect">
            <a:avLst/>
          </a:prstGeom>
          <a:solidFill>
            <a:srgbClr val="C8EECD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algn="ctr" defTabSz="914400" rtl="0">
              <a:spcBef>
                <a:spcPct val="0"/>
              </a:spcBef>
              <a:defRPr sz="9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defTabSz="914400" rtl="0"/>
            <a:lvl3pPr marL="914400" defTabSz="914400" rtl="0"/>
            <a:lvl4pPr marL="1371600" defTabSz="914400" rtl="0"/>
            <a:lvl5pPr marL="1828800" defTabSz="914400" rtl="0"/>
            <a:lvl6pPr marL="2286000" defTabSz="914400" rtl="0"/>
            <a:lvl7pPr marL="2743200" defTabSz="914400" rtl="0"/>
            <a:lvl8pPr marL="3200400" defTabSz="914400" rtl="0"/>
            <a:lvl9pPr marL="3657600" defTabSz="914400" rtl="0"/>
          </a:lstStyle>
          <a:p>
            <a:r>
              <a:rPr lang="en-US" altLang="zh-CN" dirty="0" smtClean="0"/>
              <a:t>C01 Pro </a:t>
            </a:r>
            <a:r>
              <a:rPr lang="zh-CN" altLang="en-US" dirty="0" smtClean="0"/>
              <a:t>轮廓</a:t>
            </a:r>
            <a:r>
              <a:rPr lang="zh-CN" altLang="en-US" dirty="0"/>
              <a:t>灯</a:t>
            </a:r>
            <a:endParaRPr lang="en-US" altLang="zh-CN" dirty="0"/>
          </a:p>
          <a:p>
            <a:r>
              <a:rPr lang="zh-CN" altLang="en-US" dirty="0"/>
              <a:t>功率：</a:t>
            </a:r>
            <a:r>
              <a:rPr lang="en-US" altLang="zh-CN" dirty="0"/>
              <a:t>12W(</a:t>
            </a:r>
            <a:r>
              <a:rPr lang="zh-CN" altLang="en-US" dirty="0"/>
              <a:t>每米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50" name="椭圆 49"/>
          <p:cNvSpPr/>
          <p:nvPr/>
        </p:nvSpPr>
        <p:spPr>
          <a:xfrm>
            <a:off x="6876145" y="2128393"/>
            <a:ext cx="656920" cy="24858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2">
                    <a:lumMod val="10000"/>
                  </a:schemeClr>
                </a:solidFill>
              </a:rPr>
              <a:t>退市</a:t>
            </a:r>
            <a:endParaRPr lang="zh-CN" altLang="en-US" sz="11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2826935" y="2064791"/>
            <a:ext cx="656920" cy="24858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2">
                    <a:lumMod val="10000"/>
                  </a:schemeClr>
                </a:solidFill>
              </a:rPr>
              <a:t>退市</a:t>
            </a:r>
            <a:endParaRPr lang="zh-CN" altLang="en-US" sz="11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388067" y="3306660"/>
            <a:ext cx="2057308" cy="13534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3057632" y="3059311"/>
            <a:ext cx="369332" cy="568212"/>
            <a:chOff x="1458214" y="2977826"/>
            <a:chExt cx="369332" cy="568212"/>
          </a:xfrm>
        </p:grpSpPr>
        <p:sp>
          <p:nvSpPr>
            <p:cNvPr id="39" name="右箭头 38"/>
            <p:cNvSpPr/>
            <p:nvPr/>
          </p:nvSpPr>
          <p:spPr>
            <a:xfrm rot="16200000" flipH="1">
              <a:off x="1365364" y="3097146"/>
              <a:ext cx="568212" cy="32957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458214" y="3028544"/>
              <a:ext cx="369332" cy="50787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1200" b="1" dirty="0" smtClean="0">
                  <a:solidFill>
                    <a:schemeClr val="bg1"/>
                  </a:solidFill>
                </a:rPr>
                <a:t>替 换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44" name="图片 4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10636" flipH="1">
            <a:off x="5027040" y="569328"/>
            <a:ext cx="2658147" cy="1441549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4" t="22807" r="16623" b="19219"/>
          <a:stretch>
            <a:fillRect/>
          </a:stretch>
        </p:blipFill>
        <p:spPr>
          <a:xfrm rot="21108907" flipH="1">
            <a:off x="5614016" y="3355302"/>
            <a:ext cx="1665049" cy="984708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7394489" y="3885448"/>
            <a:ext cx="1784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tx2"/>
                </a:solidFill>
              </a:rPr>
              <a:t>经济款，性价比更高</a:t>
            </a:r>
            <a:endParaRPr lang="en-US" altLang="zh-CN" sz="1400" dirty="0" smtClean="0">
              <a:solidFill>
                <a:schemeClr val="tx2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96805" flipH="1">
            <a:off x="1535653" y="3043006"/>
            <a:ext cx="1884853" cy="1656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8474">
            <a:off x="-102668" y="893230"/>
            <a:ext cx="4812705" cy="321161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5420" y="1045813"/>
            <a:ext cx="3816530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rtl="0">
              <a:lnSpc>
                <a:spcPct val="80000"/>
              </a:lnSpc>
              <a:spcBef>
                <a:spcPct val="0"/>
              </a:spcBef>
            </a:pPr>
            <a:r>
              <a:rPr lang="en-US" altLang="zh-CN" sz="1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1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户外洗墙灯</a:t>
            </a:r>
            <a:r>
              <a:rPr lang="en-US" altLang="zh-CN" sz="1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-A01 Com</a:t>
            </a:r>
            <a:endParaRPr lang="zh-CN" altLang="en-US" sz="19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7429" y="3347638"/>
            <a:ext cx="4032561" cy="1131079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可靠性高</a:t>
            </a:r>
            <a:r>
              <a:rPr lang="zh-CN" altLang="en-US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IP65</a:t>
            </a:r>
            <a:r>
              <a:rPr lang="zh-CN" altLang="en-US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</a:t>
            </a:r>
            <a:r>
              <a:rPr lang="en-US" altLang="zh-CN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洗墙</a:t>
            </a:r>
            <a:r>
              <a:rPr lang="zh-CN" altLang="en-US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灯具</a:t>
            </a:r>
            <a:endParaRPr lang="en-US" altLang="zh-CN" sz="9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20×40°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光学透镜</a:t>
            </a:r>
            <a:r>
              <a:rPr lang="zh-CN" altLang="en-US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二维对称配光</a:t>
            </a:r>
            <a:r>
              <a:rPr lang="zh-CN" altLang="en-US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设计，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混光</a:t>
            </a:r>
            <a:r>
              <a:rPr lang="zh-CN" altLang="en-US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均匀，洗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墙效果佳</a:t>
            </a:r>
            <a:endParaRPr lang="zh-CN" altLang="en-US" sz="9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1000mm,500mm,300mm</a:t>
            </a:r>
            <a:r>
              <a:rPr lang="zh-CN" altLang="en-US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三种长度</a:t>
            </a:r>
            <a:r>
              <a:rPr lang="zh-CN" altLang="en-US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规格可选</a:t>
            </a:r>
            <a:endParaRPr lang="en-US" altLang="zh-CN" sz="9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防水</a:t>
            </a:r>
            <a:r>
              <a:rPr lang="zh-CN" altLang="en-US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设计，户外使用长效稳定</a:t>
            </a:r>
            <a:endParaRPr lang="zh-CN" altLang="en-US" sz="9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广泛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应用于</a:t>
            </a:r>
            <a:r>
              <a:rPr lang="zh-CN" altLang="en-US" sz="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建筑外立面照明</a:t>
            </a:r>
            <a:endParaRPr lang="zh-CN" altLang="en-US" sz="9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title"/>
          </p:nvPr>
        </p:nvSpPr>
        <p:spPr>
          <a:xfrm>
            <a:off x="395420" y="361629"/>
            <a:ext cx="8285305" cy="46556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 algn="l">
              <a:lnSpc>
                <a:spcPts val="3000"/>
              </a:lnSpc>
            </a:pP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产品介绍：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842063" y="1006099"/>
          <a:ext cx="3838662" cy="3894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097"/>
                <a:gridCol w="1429734"/>
                <a:gridCol w="1526831"/>
              </a:tblGrid>
              <a:tr h="3414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A01 Com</a:t>
                      </a:r>
                      <a:r>
                        <a:rPr lang="zh-CN" altLang="en-US" sz="12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NEW</a:t>
                      </a:r>
                      <a:r>
                        <a:rPr lang="zh-CN" altLang="en-US" sz="12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A01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2880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</a:t>
                      </a:r>
                      <a:r>
                        <a:rPr lang="en-US" altLang="zh-CN" sz="1100" b="1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</a:t>
                      </a:r>
                      <a:endParaRPr lang="zh-CN" altLang="en-US" sz="1100" b="1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marL="0" marR="0" lvl="0" indent="0" algn="ctr" defTabSz="8401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18/24/36W</a:t>
                      </a:r>
                      <a:endParaRPr lang="zh-CN" altLang="en-US" sz="1100" b="0" kern="1200" dirty="0" smtClean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marL="0" marR="0" lvl="0" indent="0" algn="ctr" defTabSz="8401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18/24/36W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</a:tr>
              <a:tr h="193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</a:t>
                      </a:r>
                      <a:endParaRPr lang="zh-CN" altLang="en-US" sz="1100" b="1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1W/</a:t>
                      </a:r>
                      <a:r>
                        <a:rPr lang="zh-CN" altLang="en-US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颗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1W/</a:t>
                      </a:r>
                      <a:r>
                        <a:rPr lang="zh-CN" altLang="en-US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颗</a:t>
                      </a:r>
                      <a:endParaRPr lang="zh-CN" altLang="en-US" sz="1100" b="0" kern="1200" dirty="0" smtClean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</a:tr>
              <a:tr h="3314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输入电压</a:t>
                      </a:r>
                      <a:endParaRPr lang="zh-CN" altLang="en-US" sz="1100" b="1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DC24V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DC24V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</a:tr>
              <a:tr h="1938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色温</a:t>
                      </a:r>
                      <a:endParaRPr lang="zh-CN" altLang="en-US" sz="1100" b="1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3000K/4000K</a:t>
                      </a:r>
                      <a:endParaRPr lang="en-US" altLang="zh-CN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>
                    <a:solidFill>
                      <a:srgbClr val="E7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3000K/6000K</a:t>
                      </a:r>
                      <a:endParaRPr lang="en-US" altLang="zh-CN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</a:tr>
              <a:tr h="3314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显色指数</a:t>
                      </a:r>
                      <a:r>
                        <a:rPr lang="en-US" altLang="zh-CN" sz="1100" b="1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Ra</a:t>
                      </a:r>
                      <a:endParaRPr lang="zh-CN" altLang="en-US" sz="1100" b="1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≥</a:t>
                      </a:r>
                      <a:r>
                        <a:rPr lang="en-US" altLang="zh-CN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80</a:t>
                      </a:r>
                      <a:endParaRPr lang="en-US" altLang="zh-CN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≥</a:t>
                      </a:r>
                      <a:r>
                        <a:rPr lang="en-US" altLang="zh-CN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80</a:t>
                      </a:r>
                      <a:endParaRPr lang="en-US" altLang="zh-CN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</a:tr>
              <a:tr h="1938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寿命</a:t>
                      </a:r>
                      <a:endParaRPr lang="zh-CN" altLang="en-US" sz="1100" b="1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30000hrs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30000hrs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</a:tr>
              <a:tr h="3314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光束角</a:t>
                      </a:r>
                      <a:endParaRPr lang="zh-CN" altLang="en-US" sz="1100" b="1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20×40°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>
                    <a:solidFill>
                      <a:srgbClr val="CBCFE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10×60°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</a:tr>
              <a:tr h="3314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防护等级</a:t>
                      </a:r>
                      <a:endParaRPr lang="zh-CN" altLang="en-US" sz="1100" b="1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IP65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IP65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</a:tr>
              <a:tr h="3314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防冲击</a:t>
                      </a:r>
                      <a:endParaRPr lang="zh-CN" altLang="en-US" sz="1100" b="1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IK06 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IK06 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</a:tr>
              <a:tr h="1938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材质</a:t>
                      </a:r>
                      <a:endParaRPr lang="zh-CN" altLang="en-US" sz="1100" b="1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铝</a:t>
                      </a:r>
                      <a:r>
                        <a:rPr lang="en-US" altLang="zh-CN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钢化玻璃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铝</a:t>
                      </a:r>
                      <a:r>
                        <a:rPr lang="en-US" altLang="zh-CN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钢化玻璃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</a:tr>
              <a:tr h="3314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安装方式</a:t>
                      </a:r>
                      <a:endParaRPr lang="zh-CN" altLang="en-US" sz="1100" b="1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上下支架</a:t>
                      </a:r>
                      <a:endParaRPr lang="en-US" altLang="zh-CN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kern="1200" dirty="0" smtClean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旋转支架</a:t>
                      </a:r>
                      <a:endParaRPr lang="en-US" altLang="zh-CN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</a:tr>
              <a:tr h="3314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控制方式</a:t>
                      </a:r>
                      <a:endParaRPr lang="zh-CN" altLang="en-US" sz="1100" b="1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开关 </a:t>
                      </a:r>
                      <a:r>
                        <a:rPr lang="en-US" altLang="zh-CN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on/off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开关 </a:t>
                      </a:r>
                      <a:r>
                        <a:rPr lang="en-US" altLang="zh-CN" sz="1100" b="0" kern="1200" dirty="0">
                          <a:solidFill>
                            <a:srgbClr val="4141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on/off</a:t>
                      </a:r>
                      <a:endParaRPr lang="zh-CN" altLang="en-US" sz="1100" b="0" kern="1200" dirty="0">
                        <a:solidFill>
                          <a:srgbClr val="4141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1" marR="68581" marT="34233" marB="34233" anchor="ctr"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95420" y="1327268"/>
            <a:ext cx="309643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替换原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A01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洗墙灯，尺寸更小，更专业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636" y="2715770"/>
            <a:ext cx="1120103" cy="5099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"/>
          <p:cNvSpPr>
            <a:spLocks noGrp="1"/>
          </p:cNvSpPr>
          <p:nvPr>
            <p:ph type="title"/>
          </p:nvPr>
        </p:nvSpPr>
        <p:spPr>
          <a:xfrm>
            <a:off x="395420" y="361629"/>
            <a:ext cx="8285305" cy="46556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 algn="l">
              <a:lnSpc>
                <a:spcPts val="3000"/>
              </a:lnSpc>
            </a:pP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产品介绍：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5114" flipH="1">
            <a:off x="2686762" y="1197093"/>
            <a:ext cx="5171352" cy="351505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319556" y="2006825"/>
            <a:ext cx="23871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1000(L) × 31(W) × 65.5(H)mm</a:t>
            </a:r>
            <a:endParaRPr lang="zh-CN" altLang="en-US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531918" y="3486299"/>
            <a:ext cx="22605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1000(L) × 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 lang="en-US" altLang="zh-CN" sz="1200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</a:t>
            </a:r>
            <a:r>
              <a:rPr lang="en-US" altLang="zh-CN" sz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× 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86</a:t>
            </a:r>
            <a:r>
              <a:rPr lang="en-US" altLang="zh-CN" sz="1200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(H)mm</a:t>
            </a:r>
            <a:endParaRPr lang="zh-CN" altLang="en-US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413656" y="1886792"/>
            <a:ext cx="2161323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rtl="0">
              <a:lnSpc>
                <a:spcPct val="80000"/>
              </a:lnSpc>
              <a:spcBef>
                <a:spcPct val="0"/>
              </a:spcBef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1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户外洗墙灯</a:t>
            </a:r>
            <a:r>
              <a:rPr lang="en-US" altLang="zh-CN" sz="1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-A01 Com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096684" y="2532182"/>
            <a:ext cx="2161323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rtl="0">
              <a:lnSpc>
                <a:spcPct val="80000"/>
              </a:lnSpc>
              <a:spcBef>
                <a:spcPct val="0"/>
              </a:spcBef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1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户外洗墙灯</a:t>
            </a:r>
            <a:r>
              <a:rPr lang="en-US" altLang="zh-CN" sz="1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-A01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5420" y="1045813"/>
            <a:ext cx="3816530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rtl="0">
              <a:lnSpc>
                <a:spcPct val="80000"/>
              </a:lnSpc>
              <a:spcBef>
                <a:spcPct val="0"/>
              </a:spcBef>
            </a:pPr>
            <a:r>
              <a:rPr lang="zh-CN" altLang="en-US" sz="19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产品迭代关系</a:t>
            </a:r>
            <a:endParaRPr lang="zh-CN" altLang="en-US" sz="19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7591484" y="2751600"/>
            <a:ext cx="656920" cy="24858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2">
                    <a:lumMod val="10000"/>
                  </a:schemeClr>
                </a:solidFill>
              </a:rPr>
              <a:t>退市</a:t>
            </a:r>
            <a:endParaRPr lang="zh-CN" altLang="en-US" sz="11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90965" y="3236782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旋转支架</a:t>
            </a:r>
            <a:endParaRPr lang="zh-CN" altLang="en-US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13043" y="1741751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dirty="0" smtClea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上下支架</a:t>
            </a:r>
            <a:endParaRPr lang="zh-CN" altLang="en-US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爆炸形 1 18"/>
          <p:cNvSpPr/>
          <p:nvPr/>
        </p:nvSpPr>
        <p:spPr>
          <a:xfrm>
            <a:off x="6991184" y="1378461"/>
            <a:ext cx="860801" cy="602454"/>
          </a:xfrm>
          <a:prstGeom prst="irregularSeal1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/>
              <a:t>NEW</a:t>
            </a:r>
            <a:endParaRPr lang="zh-CN" altLang="en-US" sz="1000" dirty="0"/>
          </a:p>
        </p:txBody>
      </p:sp>
      <p:grpSp>
        <p:nvGrpSpPr>
          <p:cNvPr id="26" name="组合 25"/>
          <p:cNvGrpSpPr/>
          <p:nvPr/>
        </p:nvGrpSpPr>
        <p:grpSpPr>
          <a:xfrm>
            <a:off x="505785" y="3879943"/>
            <a:ext cx="4675851" cy="716494"/>
            <a:chOff x="505785" y="3879943"/>
            <a:chExt cx="4675851" cy="716494"/>
          </a:xfrm>
        </p:grpSpPr>
        <p:sp>
          <p:nvSpPr>
            <p:cNvPr id="20" name="椭圆 19"/>
            <p:cNvSpPr/>
            <p:nvPr/>
          </p:nvSpPr>
          <p:spPr>
            <a:xfrm>
              <a:off x="509813" y="3949629"/>
              <a:ext cx="144577" cy="1440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509813" y="4172810"/>
              <a:ext cx="144577" cy="14402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505785" y="4395991"/>
              <a:ext cx="144577" cy="14402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2237" y="3879943"/>
              <a:ext cx="30034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外观更专业，端盖</a:t>
              </a:r>
              <a:r>
                <a:rPr lang="en-US" altLang="zh-CN" sz="1100" dirty="0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LOGO</a:t>
              </a:r>
              <a:r>
                <a:rPr lang="zh-CN" altLang="en-US" sz="1100" dirty="0" smtClean="0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，质感显著提升</a:t>
              </a:r>
              <a:endParaRPr lang="en-US" altLang="zh-CN" sz="1100" dirty="0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11450" y="4113193"/>
              <a:ext cx="30034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尺寸更纤巧，方便安装</a:t>
              </a:r>
              <a:endParaRPr lang="zh-CN" altLang="en-US" sz="1100" dirty="0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11450" y="4334827"/>
              <a:ext cx="45701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上下支架，保障一定角度可调的前提下，更方便包装和运输</a:t>
              </a:r>
              <a:endParaRPr lang="zh-CN" altLang="en-US" sz="1100" dirty="0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20" y="1020624"/>
            <a:ext cx="5626415" cy="37546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"/>
          <p:cNvSpPr/>
          <p:nvPr/>
        </p:nvSpPr>
        <p:spPr>
          <a:xfrm>
            <a:off x="431999" y="450001"/>
            <a:ext cx="8172561" cy="3215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</a:t>
            </a: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特点：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grpSp>
        <p:nvGrpSpPr>
          <p:cNvPr id="4" name="25959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31999" y="1419590"/>
            <a:ext cx="8460599" cy="3156935"/>
            <a:chOff x="560692" y="1663554"/>
            <a:chExt cx="11280800" cy="4209247"/>
          </a:xfrm>
        </p:grpSpPr>
        <p:sp>
          <p:nvSpPr>
            <p:cNvPr id="8" name="iṣľídè"/>
            <p:cNvSpPr/>
            <p:nvPr/>
          </p:nvSpPr>
          <p:spPr>
            <a:xfrm>
              <a:off x="3676663" y="2758013"/>
              <a:ext cx="1355033" cy="1355036"/>
            </a:xfrm>
            <a:prstGeom prst="ellipse">
              <a:avLst/>
            </a:prstGeom>
            <a:solidFill>
              <a:schemeClr val="accent1"/>
            </a:solidFill>
            <a:ln w="57150" cap="flat" cmpd="sng" algn="ctr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îṣlíḍe"/>
            <p:cNvSpPr/>
            <p:nvPr/>
          </p:nvSpPr>
          <p:spPr>
            <a:xfrm>
              <a:off x="7141814" y="2758013"/>
              <a:ext cx="1355033" cy="1355036"/>
            </a:xfrm>
            <a:prstGeom prst="ellipse">
              <a:avLst/>
            </a:prstGeom>
            <a:solidFill>
              <a:schemeClr val="accent2"/>
            </a:solidFill>
            <a:ln w="57150" cap="flat" cmpd="sng" algn="ctr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" name="îṧ1iḑè"/>
            <p:cNvGrpSpPr/>
            <p:nvPr/>
          </p:nvGrpSpPr>
          <p:grpSpPr>
            <a:xfrm>
              <a:off x="560692" y="1663554"/>
              <a:ext cx="2915848" cy="1276945"/>
              <a:chOff x="560483" y="4313660"/>
              <a:chExt cx="3200459" cy="1276945"/>
            </a:xfrm>
          </p:grpSpPr>
          <p:sp>
            <p:nvSpPr>
              <p:cNvPr id="25" name="iṣľïḍé"/>
              <p:cNvSpPr/>
              <p:nvPr/>
            </p:nvSpPr>
            <p:spPr bwMode="auto">
              <a:xfrm>
                <a:off x="560483" y="4755464"/>
                <a:ext cx="3200459" cy="8351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1050" b="1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结构防水，</a:t>
                </a:r>
                <a:r>
                  <a:rPr lang="zh-CN" altLang="en-US" sz="105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防护等级</a:t>
                </a:r>
                <a:r>
                  <a:rPr lang="en-US" altLang="zh-CN" sz="105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IP65</a:t>
                </a:r>
                <a:r>
                  <a:rPr lang="zh-CN" altLang="en-US" sz="105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，搭配</a:t>
                </a:r>
                <a:r>
                  <a:rPr lang="zh-CN" altLang="en-US" sz="105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优质</a:t>
                </a:r>
                <a:r>
                  <a:rPr lang="zh-CN" altLang="en-US" sz="105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防水接线头，全方位防水</a:t>
                </a:r>
                <a:endParaRPr lang="en-US" altLang="zh-CN" sz="1050" b="1" dirty="0" smtClean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íŝľíḍê"/>
              <p:cNvSpPr txBox="1"/>
              <p:nvPr/>
            </p:nvSpPr>
            <p:spPr bwMode="auto">
              <a:xfrm>
                <a:off x="638466" y="4313660"/>
                <a:ext cx="3122475" cy="44180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sz="200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防护等级</a:t>
                </a:r>
                <a:endParaRPr lang="en-US" altLang="zh-CN" sz="2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" name="îṣ1ïḍé"/>
            <p:cNvGrpSpPr/>
            <p:nvPr/>
          </p:nvGrpSpPr>
          <p:grpSpPr>
            <a:xfrm>
              <a:off x="621905" y="2993728"/>
              <a:ext cx="2844799" cy="1276944"/>
              <a:chOff x="627672" y="4010279"/>
              <a:chExt cx="3122475" cy="1276944"/>
            </a:xfrm>
          </p:grpSpPr>
          <p:sp>
            <p:nvSpPr>
              <p:cNvPr id="23" name="ïS1iḓê"/>
              <p:cNvSpPr/>
              <p:nvPr/>
            </p:nvSpPr>
            <p:spPr bwMode="auto">
              <a:xfrm>
                <a:off x="1139259" y="4452082"/>
                <a:ext cx="2610887" cy="8351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105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灯体</a:t>
                </a:r>
                <a:r>
                  <a:rPr lang="zh-CN" altLang="en-US" sz="105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宽度</a:t>
                </a:r>
                <a:r>
                  <a:rPr lang="en-US" altLang="zh-CN" sz="1050" b="1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31mm</a:t>
                </a:r>
                <a:r>
                  <a:rPr lang="zh-CN" altLang="en-US" sz="105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endParaRPr lang="en-US" altLang="zh-CN" sz="1050" b="1" dirty="0" smtClean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105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体型小巧，三种长度可选</a:t>
                </a:r>
                <a:endParaRPr lang="en-US" altLang="zh-CN" sz="105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iŝḷíḋé"/>
              <p:cNvSpPr txBox="1"/>
              <p:nvPr/>
            </p:nvSpPr>
            <p:spPr bwMode="auto">
              <a:xfrm>
                <a:off x="627672" y="4010279"/>
                <a:ext cx="3122475" cy="44180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sz="200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尺寸</a:t>
                </a:r>
                <a:endParaRPr lang="en-US" altLang="zh-CN" sz="2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" name="îṣlîdê"/>
            <p:cNvGrpSpPr/>
            <p:nvPr/>
          </p:nvGrpSpPr>
          <p:grpSpPr>
            <a:xfrm>
              <a:off x="621904" y="4270672"/>
              <a:ext cx="2844799" cy="1276945"/>
              <a:chOff x="627671" y="3653668"/>
              <a:chExt cx="3122476" cy="1276945"/>
            </a:xfrm>
          </p:grpSpPr>
          <p:sp>
            <p:nvSpPr>
              <p:cNvPr id="21" name="is1ïḓé"/>
              <p:cNvSpPr/>
              <p:nvPr/>
            </p:nvSpPr>
            <p:spPr bwMode="auto">
              <a:xfrm>
                <a:off x="1139259" y="4095472"/>
                <a:ext cx="2610888" cy="8351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1050" b="1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上下支架安装</a:t>
                </a:r>
                <a:r>
                  <a:rPr lang="zh-CN" altLang="en-US" sz="105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endParaRPr lang="en-US" altLang="zh-CN" sz="1050" b="1" dirty="0" smtClean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105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稳定可靠</a:t>
                </a:r>
                <a:endParaRPr lang="en-US" altLang="zh-CN" sz="1050" b="1" dirty="0" smtClean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iṡlíḓê"/>
              <p:cNvSpPr txBox="1"/>
              <p:nvPr/>
            </p:nvSpPr>
            <p:spPr bwMode="auto">
              <a:xfrm>
                <a:off x="627671" y="3653668"/>
                <a:ext cx="3122475" cy="44180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sz="200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支架</a:t>
                </a:r>
                <a:endParaRPr lang="en-US" altLang="zh-CN" sz="2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" name="ïŝļíḑê"/>
            <p:cNvGrpSpPr/>
            <p:nvPr/>
          </p:nvGrpSpPr>
          <p:grpSpPr>
            <a:xfrm>
              <a:off x="8664741" y="1668008"/>
              <a:ext cx="2872059" cy="1439537"/>
              <a:chOff x="667645" y="4318114"/>
              <a:chExt cx="3152396" cy="1439537"/>
            </a:xfrm>
          </p:grpSpPr>
          <p:sp>
            <p:nvSpPr>
              <p:cNvPr id="19" name="i$ľíḓé"/>
              <p:cNvSpPr/>
              <p:nvPr/>
            </p:nvSpPr>
            <p:spPr bwMode="auto">
              <a:xfrm>
                <a:off x="667645" y="4922510"/>
                <a:ext cx="3122475" cy="8351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105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钢化玻璃表面处理，抗</a:t>
                </a:r>
                <a:r>
                  <a:rPr lang="zh-CN" altLang="en-US" sz="105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盐雾</a:t>
                </a:r>
                <a:endParaRPr lang="zh-CN" altLang="en-US" sz="105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ïş1îďè"/>
              <p:cNvSpPr txBox="1"/>
              <p:nvPr/>
            </p:nvSpPr>
            <p:spPr bwMode="auto">
              <a:xfrm>
                <a:off x="697567" y="4318114"/>
                <a:ext cx="3122474" cy="44180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sz="20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耐用</a:t>
                </a:r>
                <a:endParaRPr lang="en-US" altLang="zh-CN" sz="2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iŝḻïďè"/>
            <p:cNvGrpSpPr/>
            <p:nvPr/>
          </p:nvGrpSpPr>
          <p:grpSpPr>
            <a:xfrm>
              <a:off x="8666819" y="2993728"/>
              <a:ext cx="2844799" cy="1276945"/>
              <a:chOff x="669926" y="4010279"/>
              <a:chExt cx="3122475" cy="1276945"/>
            </a:xfrm>
          </p:grpSpPr>
          <p:sp>
            <p:nvSpPr>
              <p:cNvPr id="17" name="ís1ídé"/>
              <p:cNvSpPr/>
              <p:nvPr/>
            </p:nvSpPr>
            <p:spPr bwMode="auto">
              <a:xfrm>
                <a:off x="669927" y="4452083"/>
                <a:ext cx="3122473" cy="8351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DC24V</a:t>
                </a:r>
                <a:r>
                  <a:rPr lang="zh-CN" altLang="en-US" sz="100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外置供电</a:t>
                </a:r>
                <a:r>
                  <a:rPr lang="zh-CN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，安全可靠</a:t>
                </a:r>
                <a:endParaRPr lang="en-US" altLang="zh-CN" sz="1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iS1íḓe"/>
              <p:cNvSpPr txBox="1"/>
              <p:nvPr/>
            </p:nvSpPr>
            <p:spPr bwMode="auto">
              <a:xfrm>
                <a:off x="669926" y="4010279"/>
                <a:ext cx="3122475" cy="44180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sz="200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安全</a:t>
                </a:r>
                <a:endParaRPr lang="en-US" altLang="zh-CN" sz="2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iś1îďè"/>
            <p:cNvGrpSpPr/>
            <p:nvPr/>
          </p:nvGrpSpPr>
          <p:grpSpPr>
            <a:xfrm>
              <a:off x="8666818" y="4270671"/>
              <a:ext cx="3174674" cy="1602130"/>
              <a:chOff x="669925" y="3653667"/>
              <a:chExt cx="3484548" cy="1602130"/>
            </a:xfrm>
          </p:grpSpPr>
          <p:sp>
            <p:nvSpPr>
              <p:cNvPr id="15" name="ïṧḷide"/>
              <p:cNvSpPr/>
              <p:nvPr/>
            </p:nvSpPr>
            <p:spPr bwMode="auto">
              <a:xfrm>
                <a:off x="669925" y="4095470"/>
                <a:ext cx="3484548" cy="1160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defRPr/>
                </a:pPr>
                <a:r>
                  <a:rPr lang="en-US" altLang="zh-CN" sz="105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20×40°</a:t>
                </a:r>
                <a:r>
                  <a:rPr lang="zh-CN" altLang="en-US" sz="105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光学透镜，配光</a:t>
                </a:r>
                <a:r>
                  <a:rPr lang="zh-CN" altLang="en-US" sz="105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对称，钢化玻璃</a:t>
                </a:r>
                <a:r>
                  <a:rPr lang="zh-CN" altLang="en-US" sz="105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表面处理，抗盐雾，出光柔和均匀，拼接无暗区</a:t>
                </a:r>
                <a:endParaRPr lang="zh-CN" altLang="en-US" sz="105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zh-CN" sz="11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îṥliďè"/>
              <p:cNvSpPr txBox="1"/>
              <p:nvPr/>
            </p:nvSpPr>
            <p:spPr bwMode="auto">
              <a:xfrm>
                <a:off x="669925" y="3653667"/>
                <a:ext cx="3122475" cy="44180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sz="2000" b="1" dirty="0" smtClean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光学</a:t>
                </a:r>
                <a:endParaRPr lang="en-US" altLang="zh-CN" sz="2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išḷíḋé"/>
            <p:cNvSpPr/>
            <p:nvPr/>
          </p:nvSpPr>
          <p:spPr>
            <a:xfrm>
              <a:off x="4412343" y="1801977"/>
              <a:ext cx="3367314" cy="3367314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1pPr>
              <a:lvl2pPr marL="0" marR="0" indent="2286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2pPr>
              <a:lvl3pPr marL="0" marR="0" indent="4572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3pPr>
              <a:lvl4pPr marL="0" marR="0" indent="6858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4pPr>
              <a:lvl5pPr marL="0" marR="0" indent="9144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5pPr>
              <a:lvl6pPr marL="0" marR="0" indent="11430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6pPr>
              <a:lvl7pPr marL="0" marR="0" indent="13716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7pPr>
              <a:lvl8pPr marL="0" marR="0" indent="16002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8pPr>
              <a:lvl9pPr marL="0" marR="0" indent="18288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9pPr>
            </a:lstStyle>
            <a:p>
              <a:endParaRPr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ïṥľiḍé"/>
            <p:cNvSpPr/>
            <p:nvPr/>
          </p:nvSpPr>
          <p:spPr>
            <a:xfrm>
              <a:off x="4567080" y="1960673"/>
              <a:ext cx="3049920" cy="3049920"/>
            </a:xfrm>
            <a:prstGeom prst="ellipse">
              <a:avLst/>
            </a:prstGeom>
            <a:noFill/>
            <a:ln w="28575" cap="flat" cmpd="sng" algn="ctr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1pPr>
              <a:lvl2pPr marL="0" marR="0" indent="2286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2pPr>
              <a:lvl3pPr marL="0" marR="0" indent="4572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3pPr>
              <a:lvl4pPr marL="0" marR="0" indent="6858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4pPr>
              <a:lvl5pPr marL="0" marR="0" indent="9144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5pPr>
              <a:lvl6pPr marL="0" marR="0" indent="11430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6pPr>
              <a:lvl7pPr marL="0" marR="0" indent="13716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7pPr>
              <a:lvl8pPr marL="0" marR="0" indent="16002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8pPr>
              <a:lvl9pPr marL="0" marR="0" indent="182880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7400" b="0" i="0" u="none" strike="noStrike" cap="none" spc="0" normalizeH="0" baseline="0">
                  <a:ln>
                    <a:noFill/>
                  </a:ln>
                  <a:solidFill>
                    <a:srgbClr val="FFFFFB"/>
                  </a:solidFill>
                  <a:effectLst/>
                  <a:uFillTx/>
                </a:defRPr>
              </a:lvl9pPr>
            </a:lstStyle>
            <a:p>
              <a:endParaRPr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890282" y="2386256"/>
            <a:ext cx="417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结</a:t>
            </a:r>
            <a:endParaRPr lang="en-US" altLang="zh-CN" b="1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r>
              <a:rPr lang="zh-CN" altLang="en-US" b="1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构</a:t>
            </a:r>
            <a:endParaRPr lang="zh-CN" altLang="en-US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839742" y="2396089"/>
            <a:ext cx="417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光</a:t>
            </a:r>
            <a:endParaRPr lang="en-US" altLang="zh-CN" b="1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r>
              <a:rPr lang="zh-CN" altLang="en-US" b="1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电</a:t>
            </a:r>
            <a:endParaRPr lang="zh-CN" altLang="en-US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648156" y="3374928"/>
            <a:ext cx="2161323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rtl="0">
              <a:lnSpc>
                <a:spcPct val="80000"/>
              </a:lnSpc>
              <a:spcBef>
                <a:spcPct val="0"/>
              </a:spcBef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1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户外洗墙灯</a:t>
            </a:r>
            <a:r>
              <a:rPr lang="en-US" altLang="zh-CN" sz="1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-A01 Com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4" t="43000" r="59343" b="23400"/>
          <a:stretch>
            <a:fillRect/>
          </a:stretch>
        </p:blipFill>
        <p:spPr>
          <a:xfrm>
            <a:off x="3351541" y="1766721"/>
            <a:ext cx="2088290" cy="1728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5557780" y="3371013"/>
            <a:ext cx="5750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24°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"/>
          <p:cNvSpPr/>
          <p:nvPr/>
        </p:nvSpPr>
        <p:spPr>
          <a:xfrm>
            <a:off x="431999" y="450001"/>
            <a:ext cx="8460480" cy="3215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</a:t>
            </a: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特点：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31999" y="987530"/>
            <a:ext cx="594025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3</a:t>
            </a: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种功率，</a:t>
            </a:r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3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种长度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t="18001"/>
          <a:stretch>
            <a:fillRect/>
          </a:stretch>
        </p:blipFill>
        <p:spPr>
          <a:xfrm>
            <a:off x="3182234" y="3195153"/>
            <a:ext cx="5065969" cy="1261923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808388" y="1630969"/>
            <a:ext cx="7707702" cy="1135874"/>
            <a:chOff x="833305" y="1530698"/>
            <a:chExt cx="7707702" cy="113587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01" b="42599"/>
            <a:stretch>
              <a:fillRect/>
            </a:stretch>
          </p:blipFill>
          <p:spPr>
            <a:xfrm>
              <a:off x="833305" y="1530698"/>
              <a:ext cx="7707702" cy="1008140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5343438" y="2426506"/>
              <a:ext cx="2467402" cy="2400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 rtl="0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LED</a:t>
              </a:r>
              <a:r>
                <a:rPr lang="zh-CN" altLang="en-US" sz="1200" dirty="0" smtClean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户外洗墙灯</a:t>
              </a:r>
              <a:r>
                <a:rPr lang="en-US" altLang="zh-CN" sz="1200" dirty="0" smtClean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-A01 Com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56067" y="3372426"/>
            <a:ext cx="2053188" cy="740163"/>
            <a:chOff x="762358" y="3291608"/>
            <a:chExt cx="2053188" cy="740163"/>
          </a:xfrm>
        </p:grpSpPr>
        <p:grpSp>
          <p:nvGrpSpPr>
            <p:cNvPr id="32" name="组合 31"/>
            <p:cNvGrpSpPr/>
            <p:nvPr/>
          </p:nvGrpSpPr>
          <p:grpSpPr>
            <a:xfrm>
              <a:off x="762358" y="3295275"/>
              <a:ext cx="915870" cy="736496"/>
              <a:chOff x="624954" y="2937322"/>
              <a:chExt cx="915870" cy="736496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628982" y="3003811"/>
                <a:ext cx="144577" cy="14402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628982" y="3226992"/>
                <a:ext cx="144577" cy="14402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624954" y="3450173"/>
                <a:ext cx="144577" cy="144020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769531" y="2937322"/>
                <a:ext cx="76174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 dirty="0" smtClean="0">
                    <a:solidFill>
                      <a:srgbClr val="0A0A0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准黑简体" charset="-122"/>
                  </a:rPr>
                  <a:t>18W/m</a:t>
                </a:r>
                <a:endParaRPr lang="zh-CN" altLang="en-US" sz="1200" b="1" dirty="0">
                  <a:solidFill>
                    <a:srgbClr val="0A0A0A"/>
                  </a:solidFill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779077" y="3160502"/>
                <a:ext cx="76174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 dirty="0" smtClean="0">
                    <a:solidFill>
                      <a:srgbClr val="0A0A0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准黑简体" charset="-122"/>
                  </a:rPr>
                  <a:t>24W/m</a:t>
                </a:r>
                <a:endParaRPr lang="zh-CN" altLang="en-US" sz="1200" b="1" dirty="0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769531" y="3396819"/>
                <a:ext cx="76174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 dirty="0" smtClean="0">
                    <a:solidFill>
                      <a:srgbClr val="0A0A0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准黑简体" charset="-122"/>
                  </a:rPr>
                  <a:t>36W/m</a:t>
                </a:r>
                <a:endParaRPr lang="zh-CN" altLang="en-US" sz="1200" b="1" dirty="0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1830676" y="3291608"/>
              <a:ext cx="984870" cy="730688"/>
              <a:chOff x="1830676" y="3291608"/>
              <a:chExt cx="984870" cy="730688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1987637" y="3371015"/>
                <a:ext cx="5750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8°</a:t>
                </a:r>
                <a:endPara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1830676" y="3364566"/>
                <a:ext cx="144577" cy="144020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967237" y="3291608"/>
                <a:ext cx="76976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 dirty="0">
                    <a:solidFill>
                      <a:srgbClr val="0A0A0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准黑简体" charset="-122"/>
                  </a:rPr>
                  <a:t>300mm</a:t>
                </a:r>
                <a:endParaRPr lang="zh-CN" altLang="en-US" sz="1200" b="1" dirty="0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1835266" y="3584942"/>
                <a:ext cx="144577" cy="144020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967237" y="3518455"/>
                <a:ext cx="76976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 dirty="0" smtClean="0">
                    <a:solidFill>
                      <a:srgbClr val="0A0A0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准黑简体" charset="-122"/>
                  </a:rPr>
                  <a:t>500mm</a:t>
                </a:r>
                <a:endParaRPr lang="zh-CN" altLang="en-US" sz="1200" b="1" dirty="0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1830676" y="3812796"/>
                <a:ext cx="144577" cy="144020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1951207" y="3745297"/>
                <a:ext cx="864339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b="1" dirty="0" smtClean="0">
                    <a:solidFill>
                      <a:srgbClr val="0A0A0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准黑简体" charset="-122"/>
                  </a:rPr>
                  <a:t>1000mm</a:t>
                </a:r>
                <a:endParaRPr lang="zh-CN" altLang="en-US" sz="1200" b="1" dirty="0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"/>
          <p:cNvSpPr/>
          <p:nvPr/>
        </p:nvSpPr>
        <p:spPr>
          <a:xfrm>
            <a:off x="431999" y="450001"/>
            <a:ext cx="8460480" cy="3215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</a:t>
            </a: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特点：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00" y="1275569"/>
            <a:ext cx="2304320" cy="345263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948" y="1272304"/>
            <a:ext cx="2306497" cy="345590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24692" y="691931"/>
            <a:ext cx="31406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20×40</a:t>
            </a: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°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光学透镜</a:t>
            </a: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，配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光对称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钢化玻璃表面处理，抗盐雾，拼接无暗区</a:t>
            </a:r>
            <a:endParaRPr lang="en-US" altLang="zh-CN" sz="16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尺寸小方便安装</a:t>
            </a:r>
            <a:endParaRPr lang="en-US" altLang="zh-CN" sz="16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结构防水</a:t>
            </a:r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IP65</a:t>
            </a:r>
            <a:endParaRPr lang="en-US" altLang="zh-CN" sz="16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61333" y="4170703"/>
            <a:ext cx="2467402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rtl="0">
              <a:lnSpc>
                <a:spcPct val="80000"/>
              </a:lnSpc>
              <a:spcBef>
                <a:spcPct val="0"/>
              </a:spcBef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1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户外洗墙灯</a:t>
            </a:r>
            <a:r>
              <a:rPr lang="en-US" altLang="zh-CN" sz="1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-A01 Com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775" y="2732536"/>
            <a:ext cx="1668125" cy="24997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320" t="27042" r="15704" b="17645"/>
          <a:stretch>
            <a:fillRect/>
          </a:stretch>
        </p:blipFill>
        <p:spPr>
          <a:xfrm rot="252665">
            <a:off x="609959" y="2921070"/>
            <a:ext cx="2092802" cy="11198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l="16100" r="18727"/>
          <a:stretch>
            <a:fillRect/>
          </a:stretch>
        </p:blipFill>
        <p:spPr>
          <a:xfrm>
            <a:off x="5688374" y="3607901"/>
            <a:ext cx="1152161" cy="96393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16493" r="18222"/>
          <a:stretch>
            <a:fillRect/>
          </a:stretch>
        </p:blipFill>
        <p:spPr>
          <a:xfrm>
            <a:off x="1654099" y="3607901"/>
            <a:ext cx="1080150" cy="9639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16493" r="18222"/>
          <a:stretch>
            <a:fillRect/>
          </a:stretch>
        </p:blipFill>
        <p:spPr>
          <a:xfrm>
            <a:off x="2851787" y="3597319"/>
            <a:ext cx="1080150" cy="9639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/>
          <a:srcRect l="16293" r="18534"/>
          <a:stretch>
            <a:fillRect/>
          </a:stretch>
        </p:blipFill>
        <p:spPr>
          <a:xfrm>
            <a:off x="6958073" y="3597319"/>
            <a:ext cx="1152160" cy="96393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l="16405" r="18241"/>
          <a:stretch>
            <a:fillRect/>
          </a:stretch>
        </p:blipFill>
        <p:spPr>
          <a:xfrm>
            <a:off x="456411" y="3608411"/>
            <a:ext cx="1080150" cy="9629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/>
          <a:srcRect l="5721" r="2729"/>
          <a:stretch>
            <a:fillRect/>
          </a:stretch>
        </p:blipFill>
        <p:spPr>
          <a:xfrm>
            <a:off x="4418676" y="3609755"/>
            <a:ext cx="1152160" cy="9629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148080" y="1499576"/>
            <a:ext cx="282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最佳离墙距离：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0.1m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48080" y="945578"/>
            <a:ext cx="282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建议投射高度：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2~5m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小白白(http://dwz.cn/Wu2UP)"/>
          <p:cNvSpPr txBox="1">
            <a:spLocks noChangeArrowheads="1"/>
          </p:cNvSpPr>
          <p:nvPr/>
        </p:nvSpPr>
        <p:spPr bwMode="auto">
          <a:xfrm>
            <a:off x="5216602" y="1866276"/>
            <a:ext cx="26476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</a:rPr>
              <a:t>如受限于安装位置，灯具离墙距离不足，则投射高度会降低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en-US" altLang="zh-CN" sz="1000" dirty="0">
              <a:solidFill>
                <a:srgbClr val="404040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稻壳儿小白白(http://dwz.cn/Wu2UP)"/>
          <p:cNvSpPr txBox="1">
            <a:spLocks noChangeArrowheads="1"/>
          </p:cNvSpPr>
          <p:nvPr/>
        </p:nvSpPr>
        <p:spPr bwMode="auto">
          <a:xfrm>
            <a:off x="5216602" y="1283558"/>
            <a:ext cx="275966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000" dirty="0">
                <a:solidFill>
                  <a:srgbClr val="404040"/>
                </a:solidFill>
                <a:latin typeface="微软雅黑" panose="020B0503020204020204" pitchFamily="34" charset="-122"/>
              </a:rPr>
              <a:t>18W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rgbClr val="404040"/>
                </a:solidFill>
                <a:latin typeface="微软雅黑" panose="020B0503020204020204" pitchFamily="34" charset="-122"/>
              </a:rPr>
              <a:t>2~3m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；</a:t>
            </a:r>
            <a:r>
              <a:rPr lang="en-US" altLang="zh-CN" sz="1000" dirty="0">
                <a:solidFill>
                  <a:srgbClr val="40404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24W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：</a:t>
            </a:r>
            <a:r>
              <a:rPr lang="en-US" altLang="zh-CN" sz="1000" dirty="0">
                <a:solidFill>
                  <a:srgbClr val="40404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3~4m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；</a:t>
            </a:r>
            <a:r>
              <a:rPr lang="en-US" altLang="zh-CN" sz="1000" dirty="0">
                <a:solidFill>
                  <a:srgbClr val="40404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36W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：</a:t>
            </a:r>
            <a:r>
              <a:rPr lang="en-US" altLang="zh-CN" sz="1000" dirty="0">
                <a:solidFill>
                  <a:srgbClr val="40404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4~5m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en-US" altLang="zh-CN" sz="1000" dirty="0">
              <a:solidFill>
                <a:srgbClr val="404040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148080" y="2213049"/>
            <a:ext cx="282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注意灯具倾角：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小白白(http://dwz.cn/Wu2UP)"/>
          <p:cNvSpPr txBox="1">
            <a:spLocks noChangeArrowheads="1"/>
          </p:cNvSpPr>
          <p:nvPr/>
        </p:nvSpPr>
        <p:spPr bwMode="auto">
          <a:xfrm>
            <a:off x="5216602" y="2579749"/>
            <a:ext cx="26476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</a:rPr>
              <a:t>灯具向墙壁方向要略微有一点倾角（</a:t>
            </a:r>
            <a:r>
              <a:rPr lang="en-US" altLang="zh-CN" sz="1000" dirty="0">
                <a:solidFill>
                  <a:srgbClr val="404040"/>
                </a:solidFill>
                <a:latin typeface="微软雅黑" panose="020B0503020204020204" pitchFamily="34" charset="-122"/>
              </a:rPr>
              <a:t>5°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</a:rPr>
              <a:t>以内），让墙面着光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en-US" altLang="zh-CN" sz="1000" dirty="0">
              <a:solidFill>
                <a:srgbClr val="404040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54" r="23077"/>
          <a:stretch>
            <a:fillRect/>
          </a:stretch>
        </p:blipFill>
        <p:spPr>
          <a:xfrm>
            <a:off x="431999" y="912259"/>
            <a:ext cx="1800250" cy="216196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5" t="12292" r="10515" b="23463"/>
          <a:stretch>
            <a:fillRect/>
          </a:stretch>
        </p:blipFill>
        <p:spPr>
          <a:xfrm>
            <a:off x="2232249" y="918655"/>
            <a:ext cx="1784741" cy="215556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614623" y="4714879"/>
            <a:ext cx="11887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灯光模拟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754251" y="4745915"/>
            <a:ext cx="11887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伪色表现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"/>
          <p:cNvSpPr/>
          <p:nvPr/>
        </p:nvSpPr>
        <p:spPr>
          <a:xfrm>
            <a:off x="431999" y="450001"/>
            <a:ext cx="8460480" cy="3215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>
              <a:lnSpc>
                <a:spcPts val="3000"/>
              </a:lnSpc>
            </a:pP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效果</a:t>
            </a: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：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52858" y="3189910"/>
            <a:ext cx="11887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18W</a:t>
            </a:r>
            <a:r>
              <a:rPr lang="zh-CN" altLang="en-US" sz="13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672832" y="3179329"/>
            <a:ext cx="11887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36W</a:t>
            </a:r>
            <a:r>
              <a:rPr lang="zh-CN" altLang="en-US" sz="13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"/>
          <p:cNvSpPr/>
          <p:nvPr/>
        </p:nvSpPr>
        <p:spPr>
          <a:xfrm>
            <a:off x="431999" y="450001"/>
            <a:ext cx="8460480" cy="3215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>
              <a:lnSpc>
                <a:spcPts val="3000"/>
              </a:lnSpc>
            </a:pP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配件</a:t>
            </a: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：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16505" y="959611"/>
            <a:ext cx="5796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IP67</a:t>
            </a: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级两芯公母头</a:t>
            </a:r>
            <a:endParaRPr lang="en-US" altLang="zh-CN" sz="16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实心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插针防水接头，接触可靠性高，过电流能力强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355" y="2155507"/>
            <a:ext cx="2121958" cy="141603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834865" y="3802823"/>
            <a:ext cx="16952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130" y="2204100"/>
            <a:ext cx="1416244" cy="121077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682508" y="3454962"/>
            <a:ext cx="73266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空芯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58255" y="3383070"/>
            <a:ext cx="73266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实芯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286734" y="2887724"/>
            <a:ext cx="360050" cy="567238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487481" y="3802823"/>
            <a:ext cx="16952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OPPLE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20600" y="2517854"/>
            <a:ext cx="792110" cy="584775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VS</a:t>
            </a:r>
            <a:endParaRPr lang="zh-CN" altLang="en-US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7682508" y="2713668"/>
            <a:ext cx="360050" cy="567238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05" y="2014498"/>
            <a:ext cx="3074465" cy="2051871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354727" y="3564525"/>
            <a:ext cx="115555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rtl="0">
              <a:lnSpc>
                <a:spcPct val="80000"/>
              </a:lnSpc>
              <a:spcBef>
                <a:spcPct val="0"/>
              </a:spcBef>
            </a:pPr>
            <a:r>
              <a:rPr lang="en-US" altLang="zh-CN" sz="1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A01 Com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13" r="39498"/>
          <a:stretch>
            <a:fillRect/>
          </a:stretch>
        </p:blipFill>
        <p:spPr>
          <a:xfrm>
            <a:off x="2987780" y="1859110"/>
            <a:ext cx="792110" cy="197350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570455" y="3467896"/>
            <a:ext cx="954107" cy="3366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两芯公母线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588" y="3337180"/>
            <a:ext cx="4240903" cy="173302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722" y="2186920"/>
            <a:ext cx="4248238" cy="167293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781" y="872595"/>
            <a:ext cx="3887299" cy="1540597"/>
          </a:xfrm>
          <a:prstGeom prst="rect">
            <a:avLst/>
          </a:prstGeom>
        </p:spPr>
      </p:pic>
      <p:sp>
        <p:nvSpPr>
          <p:cNvPr id="93" name="矩形"/>
          <p:cNvSpPr/>
          <p:nvPr/>
        </p:nvSpPr>
        <p:spPr>
          <a:xfrm>
            <a:off x="431999" y="450001"/>
            <a:ext cx="8244571" cy="3215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>
              <a:lnSpc>
                <a:spcPts val="3000"/>
              </a:lnSpc>
            </a:pP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配套产品</a:t>
            </a: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（预告）</a:t>
            </a:r>
            <a:r>
              <a:rPr lang="en-US" altLang="zh-CN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: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4939396" y="1243865"/>
            <a:ext cx="1177464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4950339" y="978288"/>
            <a:ext cx="0" cy="79324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2693689" y="921502"/>
            <a:ext cx="226895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300W</a:t>
            </a:r>
            <a:endParaRPr lang="en-US" altLang="zh-CN" sz="3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尺寸：</a:t>
            </a:r>
            <a:r>
              <a:rPr lang="en-US" altLang="zh-CN" sz="11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225×115×30 </a:t>
            </a:r>
            <a:r>
              <a:rPr lang="en-US" altLang="zh-CN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</a:t>
            </a:r>
            <a:endParaRPr lang="en-US" altLang="zh-CN" sz="11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重量：</a:t>
            </a:r>
            <a:r>
              <a:rPr lang="en-US" altLang="zh-CN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1.35 kg</a:t>
            </a:r>
            <a:endParaRPr lang="zh-CN" altLang="en-US" sz="11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5383997" y="2281568"/>
            <a:ext cx="107898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115048" y="1949480"/>
            <a:ext cx="22689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200W</a:t>
            </a:r>
            <a:endParaRPr lang="en-US" altLang="zh-CN" sz="16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endParaRPr lang="en-US" altLang="zh-CN" sz="3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尺寸：</a:t>
            </a:r>
            <a:r>
              <a:rPr lang="en-US" altLang="zh-CN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216×64×33 </a:t>
            </a:r>
            <a:r>
              <a:rPr lang="en-US" altLang="zh-CN" sz="11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</a:t>
            </a:r>
            <a:endParaRPr lang="zh-CN" altLang="en-US" sz="11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1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</a:t>
            </a:r>
            <a:r>
              <a:rPr lang="zh-CN" altLang="en-US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0.81 kg</a:t>
            </a:r>
            <a:endParaRPr lang="zh-CN" altLang="en-US" sz="11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7448421" y="4515044"/>
            <a:ext cx="144020" cy="14402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/>
          <p:cNvCxnSpPr/>
          <p:nvPr/>
        </p:nvCxnSpPr>
        <p:spPr>
          <a:xfrm>
            <a:off x="6795929" y="4590574"/>
            <a:ext cx="734325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586433" y="4223180"/>
            <a:ext cx="223231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150W</a:t>
            </a:r>
            <a:endParaRPr lang="en-US" altLang="zh-CN" sz="16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endParaRPr lang="en-US" altLang="zh-CN" sz="3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尺寸：</a:t>
            </a:r>
            <a:r>
              <a:rPr lang="en-US" altLang="zh-CN" sz="11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167×64×33 </a:t>
            </a:r>
            <a:r>
              <a:rPr lang="en-US" altLang="zh-CN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</a:t>
            </a:r>
            <a:endParaRPr lang="en-US" altLang="zh-CN" sz="11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1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</a:t>
            </a:r>
            <a:r>
              <a:rPr lang="zh-CN" altLang="en-US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0.61 kg</a:t>
            </a:r>
            <a:endParaRPr lang="zh-CN" altLang="en-US" sz="11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431999" y="978288"/>
            <a:ext cx="2555782" cy="1041325"/>
          </a:xfrm>
          <a:prstGeom prst="roundRect">
            <a:avLst>
              <a:gd name="adj" fmla="val 5914"/>
            </a:avLst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914400">
              <a:tabLst>
                <a:tab pos="1527175" algn="l"/>
              </a:tabLst>
              <a:defRPr/>
            </a:pPr>
            <a:r>
              <a:rPr lang="en-US" altLang="zh-CN" b="1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b="1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即将上市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>
              <a:defRPr/>
            </a:pPr>
            <a:endParaRPr lang="en-US" altLang="zh-CN" sz="900" b="1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914400">
              <a:defRPr/>
            </a:pPr>
            <a:r>
              <a:rPr lang="zh-CN" altLang="en-US" sz="1100" b="1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户外首款低压电源系列，适配欧普线条灯</a:t>
            </a:r>
            <a:r>
              <a:rPr lang="en-US" altLang="zh-CN" sz="1100" b="1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100" b="1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100" b="1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100" b="1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100" b="1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 b="1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系列、点光源</a:t>
            </a:r>
            <a:r>
              <a:rPr lang="en-US" altLang="zh-CN" sz="1100" b="1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100" b="1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系列、户外灯带</a:t>
            </a:r>
            <a:r>
              <a:rPr lang="en-US" altLang="zh-CN" sz="1100" b="1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1100" b="1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系列等</a:t>
            </a:r>
            <a:r>
              <a:rPr lang="zh-CN" altLang="en-US" sz="11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低压</a:t>
            </a:r>
            <a:r>
              <a:rPr lang="en-US" altLang="zh-CN" sz="11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24V</a:t>
            </a:r>
            <a:r>
              <a:rPr lang="zh-CN" altLang="en-US" sz="11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endParaRPr lang="zh-CN" altLang="en-US" sz="11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044850" y="1171507"/>
            <a:ext cx="144020" cy="1440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8081" y="1854430"/>
            <a:ext cx="4218528" cy="189102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9582" y="2997729"/>
            <a:ext cx="3591391" cy="1985063"/>
          </a:xfrm>
          <a:prstGeom prst="rect">
            <a:avLst/>
          </a:prstGeom>
        </p:spPr>
      </p:pic>
      <p:cxnSp>
        <p:nvCxnSpPr>
          <p:cNvPr id="40" name="直接连接符 39"/>
          <p:cNvCxnSpPr/>
          <p:nvPr/>
        </p:nvCxnSpPr>
        <p:spPr>
          <a:xfrm flipV="1">
            <a:off x="5377397" y="2006704"/>
            <a:ext cx="0" cy="79324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6795929" y="4271045"/>
            <a:ext cx="0" cy="79324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094622" y="3327474"/>
            <a:ext cx="64692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3794086" y="2958540"/>
            <a:ext cx="22689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885950" algn="l"/>
              </a:tabLst>
            </a:pPr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100W</a:t>
            </a:r>
            <a:endParaRPr lang="en-US" altLang="zh-CN" sz="16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tabLst>
                <a:tab pos="1885950" algn="l"/>
              </a:tabLst>
            </a:pPr>
            <a:endParaRPr lang="en-US" altLang="zh-CN" sz="3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tabLst>
                <a:tab pos="1885950" algn="l"/>
              </a:tabLst>
            </a:pPr>
            <a:r>
              <a:rPr lang="zh-CN" altLang="en-US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尺寸：</a:t>
            </a:r>
            <a:r>
              <a:rPr lang="en-US" altLang="zh-CN" sz="11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167×64×33 mm</a:t>
            </a:r>
            <a:endParaRPr lang="zh-CN" altLang="en-US" sz="11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tabLst>
                <a:tab pos="1885950" algn="l"/>
              </a:tabLst>
            </a:pPr>
            <a:r>
              <a:rPr lang="zh-CN" altLang="en-US" sz="11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</a:t>
            </a:r>
            <a:r>
              <a:rPr lang="zh-CN" altLang="en-US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0.63 kg</a:t>
            </a:r>
            <a:endParaRPr lang="zh-CN" altLang="en-US" sz="11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2971028" y="3255464"/>
            <a:ext cx="144020" cy="1440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 flipV="1">
            <a:off x="3741548" y="2991936"/>
            <a:ext cx="0" cy="79324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2508420" y="4359195"/>
            <a:ext cx="64692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207884" y="3990261"/>
            <a:ext cx="22689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50W</a:t>
            </a:r>
            <a:endParaRPr lang="en-US" altLang="zh-CN" sz="16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尺寸：</a:t>
            </a:r>
            <a:r>
              <a:rPr lang="en-US" altLang="zh-CN" sz="11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165×64×33 mm</a:t>
            </a:r>
            <a:endParaRPr lang="zh-CN" altLang="en-US" sz="11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</a:t>
            </a:r>
            <a:r>
              <a:rPr lang="zh-CN" altLang="en-US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0.49 kg</a:t>
            </a:r>
            <a:endParaRPr lang="zh-CN" altLang="en-US" sz="11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2384826" y="4287185"/>
            <a:ext cx="144020" cy="14402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/>
          <p:nvPr/>
        </p:nvCxnSpPr>
        <p:spPr>
          <a:xfrm flipV="1">
            <a:off x="3155346" y="4023657"/>
            <a:ext cx="0" cy="79324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6390973" y="2450832"/>
            <a:ext cx="144020" cy="14402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462983" y="2271332"/>
            <a:ext cx="0" cy="229206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23528" y="1131590"/>
            <a:ext cx="8712968" cy="47625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21" name="矩形"/>
          <p:cNvSpPr/>
          <p:nvPr/>
        </p:nvSpPr>
        <p:spPr>
          <a:xfrm>
            <a:off x="431999" y="450001"/>
            <a:ext cx="8285305" cy="3935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技术参数表：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31999" y="869711"/>
          <a:ext cx="8285307" cy="410404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15581"/>
                <a:gridCol w="1440200"/>
                <a:gridCol w="2112660"/>
                <a:gridCol w="1808433"/>
                <a:gridCol w="1808433"/>
              </a:tblGrid>
              <a:tr h="5771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A01 Com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图片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CN" altLang="en-US" sz="9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hMerge="1">
                  <a:tcPr anchor="ctr">
                    <a:solidFill>
                      <a:srgbClr val="F2F2F2"/>
                    </a:solidFill>
                  </a:tcPr>
                </a:tc>
                <a:tc hMerge="1">
                  <a:tcPr/>
                </a:tc>
              </a:tr>
              <a:tr h="233412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概述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</a:t>
                      </a:r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颗数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 pcs</a:t>
                      </a:r>
                      <a:r>
                        <a:rPr lang="zh-CN" altLang="en-US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（每米）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 hMerge="1">
                  <a:tcPr anchor="ctr"/>
                </a:tc>
                <a:tc hMerge="1">
                  <a:tcPr/>
                </a:tc>
              </a:tr>
              <a:tr h="23341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18W/M;</a:t>
                      </a:r>
                      <a:r>
                        <a:rPr lang="en-US" altLang="zh-CN" sz="900" kern="1200" baseline="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24W/M;</a:t>
                      </a:r>
                      <a:r>
                        <a:rPr lang="en-US" altLang="zh-CN" sz="900" kern="1200" baseline="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36W/M</a:t>
                      </a:r>
                      <a:endParaRPr lang="zh-CN" altLang="en-US" sz="9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hMerge="1">
                  <a:tcPr anchor="ctr">
                    <a:solidFill>
                      <a:srgbClr val="F2F2F2"/>
                    </a:solidFill>
                  </a:tcPr>
                </a:tc>
                <a:tc hMerge="1">
                  <a:tcPr/>
                </a:tc>
              </a:tr>
              <a:tr h="23341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可选长度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1000/500/300 mm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 hMerge="1">
                  <a:tcPr anchor="ctr"/>
                </a:tc>
                <a:tc hMerge="1">
                  <a:tcPr/>
                </a:tc>
              </a:tr>
              <a:tr h="233412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光学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颜色色温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3000K/4000K</a:t>
                      </a:r>
                      <a:endParaRPr lang="zh-CN" altLang="en-US" sz="9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hMerge="1">
                  <a:tcPr anchor="ctr"/>
                </a:tc>
                <a:tc hMerge="1">
                  <a:tcPr/>
                </a:tc>
              </a:tr>
              <a:tr h="23341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显指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≥80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 hMerge="1">
                  <a:tcPr anchor="ctr"/>
                </a:tc>
                <a:tc hMerge="1">
                  <a:tcPr/>
                </a:tc>
              </a:tr>
              <a:tr h="23341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光束角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20×40°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hMerge="1">
                  <a:tcPr anchor="ctr">
                    <a:solidFill>
                      <a:srgbClr val="F2F2F2"/>
                    </a:solidFill>
                  </a:tcPr>
                </a:tc>
                <a:tc hMerge="1">
                  <a:tcPr/>
                </a:tc>
              </a:tr>
              <a:tr h="233412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电子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输入电压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DC 24V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 hMerge="1">
                  <a:tcPr anchor="ctr"/>
                </a:tc>
                <a:tc hMerge="1">
                  <a:tcPr/>
                </a:tc>
              </a:tr>
              <a:tr h="23341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防触电等级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CLASS III</a:t>
                      </a:r>
                      <a:endParaRPr lang="en-US" altLang="zh-CN" sz="9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hMerge="1">
                  <a:tcPr anchor="ctr"/>
                </a:tc>
                <a:tc hMerge="1">
                  <a:tcPr/>
                </a:tc>
              </a:tr>
              <a:tr h="23341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控制方式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ON/OFF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 hMerge="1">
                  <a:tcPr anchor="ctr"/>
                </a:tc>
                <a:tc hMerge="1">
                  <a:tcPr/>
                </a:tc>
              </a:tr>
              <a:tr h="233412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防护等级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IP65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hMerge="1">
                  <a:tcPr anchor="ctr"/>
                </a:tc>
                <a:tc hMerge="1">
                  <a:tcPr/>
                </a:tc>
              </a:tr>
              <a:tr h="23341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尺寸（含支架）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1000(L) × 31(W) × 65.5(H)mm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500(L) × 31(W) × 65.5(H)mm</a:t>
                      </a:r>
                      <a:endParaRPr lang="zh-CN" altLang="en-US" sz="9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300(L) × 31(W) × 65.5(H)mm</a:t>
                      </a:r>
                      <a:endParaRPr lang="zh-CN" altLang="en-US" sz="9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</a:tr>
              <a:tr h="23341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安装方式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上下支架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hMerge="1">
                  <a:tcPr anchor="ctr">
                    <a:solidFill>
                      <a:srgbClr val="F2F2F2"/>
                    </a:solidFill>
                  </a:tcPr>
                </a:tc>
                <a:tc hMerge="1">
                  <a:tcPr/>
                </a:tc>
              </a:tr>
              <a:tr h="233412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寿命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30000 </a:t>
                      </a:r>
                      <a:r>
                        <a:rPr lang="en-US" altLang="zh-CN" sz="900" kern="1200" dirty="0" err="1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hrs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 hMerge="1">
                  <a:tcPr anchor="ctr"/>
                </a:tc>
                <a:tc hMerge="1">
                  <a:tcPr/>
                </a:tc>
              </a:tr>
              <a:tr h="23341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工作环境温度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-30</a:t>
                      </a:r>
                      <a:r>
                        <a:rPr lang="zh-CN" altLang="en-US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℃</a:t>
                      </a:r>
                      <a:r>
                        <a:rPr lang="en-US" altLang="zh-CN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~45</a:t>
                      </a:r>
                      <a:r>
                        <a:rPr lang="zh-CN" altLang="en-US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℃</a:t>
                      </a:r>
                      <a:endParaRPr lang="zh-CN" altLang="en-US" sz="9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 hMerge="1">
                  <a:tcPr anchor="ctr"/>
                </a:tc>
                <a:tc hMerge="1">
                  <a:tcPr/>
                </a:tc>
              </a:tr>
              <a:tr h="2334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使用场所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使用场所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9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建筑、景观户外亮化等场所，立面装饰照明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CBCFE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27801">
            <a:off x="4710145" y="419791"/>
            <a:ext cx="2298515" cy="15338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23528" y="1131590"/>
            <a:ext cx="8712968" cy="47625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21" name="矩形"/>
          <p:cNvSpPr/>
          <p:nvPr/>
        </p:nvSpPr>
        <p:spPr>
          <a:xfrm>
            <a:off x="431999" y="450001"/>
            <a:ext cx="8285305" cy="3935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>
              <a:lnSpc>
                <a:spcPts val="3000"/>
              </a:lnSpc>
            </a:pP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竞品分析：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54020" y="915520"/>
          <a:ext cx="8112662" cy="4032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工作表" r:id="rId2" imgW="8953500" imgH="4455160" progId="Excel.Sheet.12">
                  <p:embed/>
                </p:oleObj>
              </mc:Choice>
              <mc:Fallback>
                <p:oleObj name="工作表" r:id="rId2" imgW="8953500" imgH="4455160" progId="Excel.Sheet.12">
                  <p:embed/>
                  <p:pic>
                    <p:nvPicPr>
                      <p:cNvPr id="0" name="对象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4020" y="915520"/>
                        <a:ext cx="8112662" cy="4032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t="31099"/>
          <a:stretch>
            <a:fillRect/>
          </a:stretch>
        </p:blipFill>
        <p:spPr>
          <a:xfrm>
            <a:off x="3491850" y="1419590"/>
            <a:ext cx="4484241" cy="8641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03"/>
          <a:stretch>
            <a:fillRect/>
          </a:stretch>
        </p:blipFill>
        <p:spPr>
          <a:xfrm>
            <a:off x="53724" y="3182634"/>
            <a:ext cx="3676745" cy="864119"/>
          </a:xfrm>
          <a:prstGeom prst="rect">
            <a:avLst/>
          </a:prstGeom>
        </p:spPr>
      </p:pic>
      <p:sp>
        <p:nvSpPr>
          <p:cNvPr id="121" name="矩形"/>
          <p:cNvSpPr/>
          <p:nvPr/>
        </p:nvSpPr>
        <p:spPr>
          <a:xfrm>
            <a:off x="431999" y="450001"/>
            <a:ext cx="8285305" cy="3935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>
              <a:lnSpc>
                <a:spcPts val="3000"/>
              </a:lnSpc>
            </a:pPr>
            <a:r>
              <a:rPr lang="zh-CN" altLang="en-US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安装说明：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11020" t="19624" r="21673"/>
          <a:stretch>
            <a:fillRect/>
          </a:stretch>
        </p:blipFill>
        <p:spPr>
          <a:xfrm>
            <a:off x="35370" y="1491599"/>
            <a:ext cx="3384470" cy="10080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283960" y="497262"/>
            <a:ext cx="4433344" cy="316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1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详细安装说明与注意事项参见使用说明书和</a:t>
            </a:r>
            <a:r>
              <a:rPr lang="en-US" altLang="zh-CN" sz="11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1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户外产品安装指导手册</a:t>
            </a:r>
            <a:r>
              <a:rPr lang="en-US" altLang="zh-CN" sz="11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en-US" altLang="zh-CN" sz="11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364" y="1042923"/>
            <a:ext cx="2483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：按照图示打好安装孔</a:t>
            </a:r>
            <a:endParaRPr lang="zh-CN" altLang="en-US" sz="12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95978" y="1042923"/>
            <a:ext cx="3960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：把不锈钢爆炸螺丝塞入孔内，并将灯具安装紧固，调整投射角度，并旋紧螺丝</a:t>
            </a:r>
            <a:endParaRPr lang="zh-CN" altLang="en-US" sz="12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364" y="2532863"/>
            <a:ext cx="3275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：灯具接线方式：单色灯具只需接</a:t>
            </a:r>
            <a:r>
              <a:rPr lang="en-US" altLang="zh-CN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DC24V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隔离电源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39690" y="3460806"/>
            <a:ext cx="49876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DC24V</a:t>
            </a:r>
            <a:endParaRPr lang="zh-CN" altLang="en-US" sz="4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4637" y="4161491"/>
            <a:ext cx="35232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18W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为例，灯具串接单边最多带</a:t>
            </a:r>
            <a:r>
              <a:rPr lang="en-US" altLang="zh-CN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条，共</a:t>
            </a:r>
            <a:r>
              <a:rPr lang="en-US" altLang="zh-CN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endParaRPr lang="en-US" altLang="zh-CN" sz="12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73"/>
          <a:stretch>
            <a:fillRect/>
          </a:stretch>
        </p:blipFill>
        <p:spPr>
          <a:xfrm>
            <a:off x="4592323" y="3510148"/>
            <a:ext cx="2629530" cy="1401313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3795978" y="2532863"/>
            <a:ext cx="4073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：电缆的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所有接头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包括公母插头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必须使用防水橡胶自粘带缠绕和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UV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电工胶带的双层绝缘和防护，胶带必须完全包住接头并延伸到橡胶外皮上</a:t>
            </a:r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30mm</a:t>
            </a:r>
            <a:r>
              <a:rPr lang="zh-CN" altLang="en-US" sz="12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长以上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不可以使金属裸露，避免导入雷电。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2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32338" y="3514228"/>
            <a:ext cx="4987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½</a:t>
            </a:r>
            <a:r>
              <a:rPr lang="zh-CN" altLang="en-US" sz="600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带宽</a:t>
            </a:r>
            <a:endParaRPr lang="zh-CN" altLang="en-US" sz="6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673689" y="3503955"/>
            <a:ext cx="11008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缠高压防水绝缘橡胶自粘带</a:t>
            </a:r>
            <a:endParaRPr lang="zh-CN" altLang="en-US" sz="6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32338" y="4156506"/>
            <a:ext cx="4987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½</a:t>
            </a:r>
            <a:r>
              <a:rPr lang="zh-CN" altLang="en-US" sz="600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带宽</a:t>
            </a:r>
            <a:endParaRPr lang="zh-CN" altLang="en-US" sz="6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681543" y="4156506"/>
            <a:ext cx="11008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" dirty="0" smtClean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缠保护色胶带</a:t>
            </a:r>
            <a:endParaRPr lang="zh-CN" altLang="en-US" sz="6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7929558" y="1118396"/>
          <a:ext cx="1021080" cy="2828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980"/>
                <a:gridCol w="546100"/>
              </a:tblGrid>
              <a:tr h="42169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单边最多</a:t>
                      </a:r>
                      <a:endParaRPr lang="en-US" altLang="zh-CN" sz="10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串接数量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401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6W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1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9W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1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12W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1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18W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1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24W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01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36W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7135724" y="4092241"/>
            <a:ext cx="200827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7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注：在实际安装时，单路支持的最大串接数会与</a:t>
            </a:r>
            <a:r>
              <a:rPr lang="en-US" altLang="zh-CN" sz="7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7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驱动电源等因素相关，该数据仅作参考</a:t>
            </a:r>
            <a:r>
              <a:rPr lang="zh-CN" altLang="en-US" sz="7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7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31800" y="4732050"/>
            <a:ext cx="720100" cy="339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"/>
          <p:cNvSpPr/>
          <p:nvPr/>
        </p:nvSpPr>
        <p:spPr>
          <a:xfrm>
            <a:off x="431999" y="450000"/>
            <a:ext cx="8285305" cy="84652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 marL="0" indent="0" algn="l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i="0" u="none" strike="noStrike" kern="1200" cap="none" spc="0" baseline="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订货信息：</a:t>
            </a:r>
            <a:r>
              <a:rPr lang="en-US" altLang="zh-CN" sz="2400" b="1" i="0" u="none" strike="noStrike" kern="1200" cap="none" spc="0" baseline="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A01 Com</a:t>
            </a:r>
            <a:endParaRPr lang="zh-CN" altLang="en-US" sz="2400" b="1" i="0" u="none" strike="noStrike" kern="1200" cap="none" spc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31800" y="894578"/>
          <a:ext cx="8285504" cy="4075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" name="工作表" r:id="rId1" imgW="8307070" imgH="4091305" progId="Excel.Sheet.12">
                  <p:embed/>
                </p:oleObj>
              </mc:Choice>
              <mc:Fallback>
                <p:oleObj name="工作表" r:id="rId1" imgW="8307070" imgH="4091305" progId="Excel.Sheet.12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1800" y="894578"/>
                        <a:ext cx="8285504" cy="40757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LIDE.DIAGRAM" val="259599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46AA"/>
      </a:dk1>
      <a:lt1>
        <a:srgbClr val="FFFFFF"/>
      </a:lt1>
      <a:dk2>
        <a:srgbClr val="1F497D"/>
      </a:dk2>
      <a:lt2>
        <a:srgbClr val="EEECE1"/>
      </a:lt2>
      <a:accent1>
        <a:srgbClr val="0046A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主题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handoutMaster1">
  <a:themeElements>
    <a:clrScheme name="handout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andout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handout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cheme1">
    <a:dk1>
      <a:srgbClr val="0046AA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0</TotalTime>
  <Words>2483</Words>
  <Application>WPS 演示</Application>
  <PresentationFormat>全屏显示(16:9)</PresentationFormat>
  <Paragraphs>530</Paragraphs>
  <Slides>16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40" baseType="lpstr">
      <vt:lpstr>Arial</vt:lpstr>
      <vt:lpstr>宋体</vt:lpstr>
      <vt:lpstr>Wingdings</vt:lpstr>
      <vt:lpstr>Times New Roman</vt:lpstr>
      <vt:lpstr>Calibri</vt:lpstr>
      <vt:lpstr>Whitney-Semibold</vt:lpstr>
      <vt:lpstr>ksdb</vt:lpstr>
      <vt:lpstr>微软雅黑</vt:lpstr>
      <vt:lpstr>Whitney-Bold</vt:lpstr>
      <vt:lpstr>Lantinghei SC Heavy</vt:lpstr>
      <vt:lpstr>Whitney-Book</vt:lpstr>
      <vt:lpstr>Whitney-BookSC</vt:lpstr>
      <vt:lpstr>方正兰亭准黑简体</vt:lpstr>
      <vt:lpstr>Whitney-Bold</vt:lpstr>
      <vt:lpstr>Lantinghei SC Heavy</vt:lpstr>
      <vt:lpstr>Whitney-Book</vt:lpstr>
      <vt:lpstr>Whitney-Semibold</vt:lpstr>
      <vt:lpstr>Whitney-BookSC</vt:lpstr>
      <vt:lpstr>黑体</vt:lpstr>
      <vt:lpstr>思源宋体 CN Heavy</vt:lpstr>
      <vt:lpstr>Arial Unicode MS</vt:lpstr>
      <vt:lpstr>Office 主题</vt:lpstr>
      <vt:lpstr>Excel.Sheet.12</vt:lpstr>
      <vt:lpstr>Excel.Sheet.12</vt:lpstr>
      <vt:lpstr>PowerPoint 演示文稿</vt:lpstr>
      <vt:lpstr>PowerPoint 演示文稿</vt:lpstr>
      <vt:lpstr>市场定位(产品定位)：</vt:lpstr>
      <vt:lpstr>产品介绍：</vt:lpstr>
      <vt:lpstr>产品介绍：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tclsevers</dc:creator>
  <cp:lastModifiedBy>悠然</cp:lastModifiedBy>
  <cp:revision>529</cp:revision>
  <dcterms:created xsi:type="dcterms:W3CDTF">2014-12-22T07:36:00Z</dcterms:created>
  <dcterms:modified xsi:type="dcterms:W3CDTF">2026-03-26T03:48:18Z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E06149CB69114F419F5C47A13A6B13BD_13</vt:lpwstr>
  </property>
</Properties>
</file>