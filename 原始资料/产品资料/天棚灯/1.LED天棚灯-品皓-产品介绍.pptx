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5" r:id="rId2"/>
    <p:sldId id="294" r:id="rId3"/>
    <p:sldId id="260" r:id="rId4"/>
    <p:sldId id="290" r:id="rId5"/>
    <p:sldId id="263" r:id="rId6"/>
    <p:sldId id="296" r:id="rId7"/>
    <p:sldId id="298" r:id="rId8"/>
    <p:sldId id="279" r:id="rId9"/>
    <p:sldId id="291" r:id="rId10"/>
    <p:sldId id="261" r:id="rId11"/>
    <p:sldId id="297" r:id="rId12"/>
    <p:sldId id="27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angyu sun(孙光瑀)" initials="gs" lastIdx="1" clrIdx="0">
    <p:extLst>
      <p:ext uri="{19B8F6BF-5375-455C-9EA6-DF929625EA0E}">
        <p15:presenceInfo xmlns:p15="http://schemas.microsoft.com/office/powerpoint/2012/main" userId="S::OP063479@opple.com::5a855f7f-509f-43c4-a5d6-4dfe92f771e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399D"/>
    <a:srgbClr val="A6A6A6"/>
    <a:srgbClr val="ECF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17"/>
    <p:restoredTop sz="94694"/>
  </p:normalViewPr>
  <p:slideViewPr>
    <p:cSldViewPr snapToGrid="0" snapToObjects="1">
      <p:cViewPr varScale="1">
        <p:scale>
          <a:sx n="72" d="100"/>
          <a:sy n="72" d="100"/>
        </p:scale>
        <p:origin x="7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A_&#39033;&#30446;\0-2024&#20135;&#21697;\&#33258;&#21046;\&#40527;&#30355;III&amp;&#21697;&#30355;\&#27979;&#35797;&#25253;&#21578;\&#20809;&#36890;&#37327;&#32500;&#25345;&#29575;&#29702;&#35770;&#23551;&#21629;&#26354;&#32447;&#22270;&#65288;3&#19975;&#23567;&#26102;&#65289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altLang="zh-CN" sz="1050" dirty="0"/>
              <a:t>Lumen</a:t>
            </a:r>
            <a:r>
              <a:rPr lang="en-US" altLang="zh-CN" sz="1050" baseline="0" dirty="0"/>
              <a:t> Maintenance Curve</a:t>
            </a:r>
            <a:r>
              <a:rPr lang="zh-CN" altLang="en-US" sz="1050" baseline="0" dirty="0"/>
              <a:t> </a:t>
            </a:r>
            <a:r>
              <a:rPr lang="en-US" altLang="zh-CN" sz="1050" b="1" i="0" u="none" strike="noStrike" kern="1200" baseline="0" dirty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(Percentage of Initial Luminous Flux)</a:t>
            </a:r>
            <a:endParaRPr lang="zh-CN" altLang="en-US" sz="1050" b="1" i="0" u="none" strike="noStrike" kern="1200" baseline="0" dirty="0">
              <a:solidFill>
                <a:sysClr val="windowText" lastClr="000000"/>
              </a:solidFill>
              <a:latin typeface="+mn-lt"/>
              <a:ea typeface="+mn-ea"/>
              <a:cs typeface="+mn-cs"/>
            </a:endParaRP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灯具理论光通量维持率曲线图!$C$2</c:f>
              <c:strCache>
                <c:ptCount val="1"/>
                <c:pt idx="0">
                  <c:v>Lumen Maintenance (Percentage of Initial Lumious Fux)</c:v>
                </c:pt>
              </c:strCache>
            </c:strRef>
          </c:tx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C1A-4F3D-918E-2861485E3C00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C1A-4F3D-918E-2861485E3C00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C1A-4F3D-918E-2861485E3C00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C1A-4F3D-918E-2861485E3C00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C1A-4F3D-918E-2861485E3C00}"/>
                </c:ext>
              </c:extLst>
            </c:dLbl>
            <c:dLbl>
              <c:idx val="5"/>
              <c:layout>
                <c:manualLayout>
                  <c:x val="-4.625291815657865E-2"/>
                  <c:y val="-6.679352322325266E-2"/>
                </c:manualLayout>
              </c:layout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C1A-4F3D-918E-2861485E3C00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C1A-4F3D-918E-2861485E3C00}"/>
                </c:ext>
              </c:extLst>
            </c:dLbl>
            <c:dLbl>
              <c:idx val="7"/>
              <c:layout>
                <c:manualLayout>
                  <c:x val="-5.6906219397623935E-2"/>
                  <c:y val="-7.9587982154651363E-2"/>
                </c:manualLayout>
              </c:layout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C1A-4F3D-918E-2861485E3C00}"/>
                </c:ext>
              </c:extLst>
            </c:dLbl>
            <c:dLbl>
              <c:idx val="8"/>
              <c:layout>
                <c:manualLayout>
                  <c:x val="-3.0822998777092308E-2"/>
                  <c:y val="-7.4470198582091862E-2"/>
                </c:manualLayout>
              </c:layout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C1A-4F3D-918E-2861485E3C00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C1A-4F3D-918E-2861485E3C00}"/>
                </c:ext>
              </c:extLst>
            </c:dLbl>
            <c:dLbl>
              <c:idx val="10"/>
              <c:layout>
                <c:manualLayout>
                  <c:x val="-1.1260583311693707E-2"/>
                  <c:y val="-7.7029090368371619E-2"/>
                </c:manualLayout>
              </c:layout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C1A-4F3D-918E-2861485E3C0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C1A-4F3D-918E-2861485E3C0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C1A-4F3D-918E-2861485E3C00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C1A-4F3D-918E-2861485E3C00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1A-4F3D-918E-2861485E3C00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1A-4F3D-918E-2861485E3C00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灯具理论光通量维持率曲线图!$B$3:$B$28</c:f>
              <c:numCache>
                <c:formatCode>#,##0_ </c:formatCode>
                <c:ptCount val="26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10000</c:v>
                </c:pt>
                <c:pt idx="7">
                  <c:v>20000</c:v>
                </c:pt>
                <c:pt idx="8">
                  <c:v>30000</c:v>
                </c:pt>
                <c:pt idx="9">
                  <c:v>40000</c:v>
                </c:pt>
                <c:pt idx="10">
                  <c:v>50000</c:v>
                </c:pt>
                <c:pt idx="11">
                  <c:v>60000</c:v>
                </c:pt>
                <c:pt idx="12">
                  <c:v>70000</c:v>
                </c:pt>
                <c:pt idx="13">
                  <c:v>80000</c:v>
                </c:pt>
                <c:pt idx="14">
                  <c:v>90000</c:v>
                </c:pt>
                <c:pt idx="15">
                  <c:v>100000</c:v>
                </c:pt>
              </c:numCache>
            </c:numRef>
          </c:xVal>
          <c:yVal>
            <c:numRef>
              <c:f>灯具理论光通量维持率曲线图!$C$3:$C$28</c:f>
              <c:numCache>
                <c:formatCode>0.00%</c:formatCode>
                <c:ptCount val="26"/>
                <c:pt idx="0">
                  <c:v>0.98818123205903685</c:v>
                </c:pt>
                <c:pt idx="1">
                  <c:v>0.9765021473937161</c:v>
                </c:pt>
                <c:pt idx="2">
                  <c:v>0.96496109511981765</c:v>
                </c:pt>
                <c:pt idx="3">
                  <c:v>0.95355644386453886</c:v>
                </c:pt>
                <c:pt idx="4">
                  <c:v>0.94228658153589384</c:v>
                </c:pt>
                <c:pt idx="5">
                  <c:v>0.93114991509483769</c:v>
                </c:pt>
                <c:pt idx="6">
                  <c:v>0.88790400174260065</c:v>
                </c:pt>
                <c:pt idx="7">
                  <c:v>0.78837351631052421</c:v>
                </c:pt>
                <c:pt idx="8">
                  <c:v>0.7</c:v>
                </c:pt>
                <c:pt idx="9">
                  <c:v>0.62153280121982046</c:v>
                </c:pt>
                <c:pt idx="10">
                  <c:v>0.55186146141736692</c:v>
                </c:pt>
                <c:pt idx="11">
                  <c:v>0.48999999999999994</c:v>
                </c:pt>
                <c:pt idx="12">
                  <c:v>0.43507296085387426</c:v>
                </c:pt>
                <c:pt idx="13">
                  <c:v>0.38630302299215685</c:v>
                </c:pt>
                <c:pt idx="14">
                  <c:v>0.34299999999999992</c:v>
                </c:pt>
                <c:pt idx="15">
                  <c:v>0.30455107259771197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0-4C1A-4F3D-918E-2861485E3C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5383536"/>
        <c:axId val="743465416"/>
      </c:scatterChart>
      <c:valAx>
        <c:axId val="335383536"/>
        <c:scaling>
          <c:logBase val="10"/>
          <c:orientation val="minMax"/>
          <c:min val="1000"/>
        </c:scaling>
        <c:delete val="0"/>
        <c:axPos val="b"/>
        <c:majorGridlines/>
        <c:minorGridlines/>
        <c:title>
          <c:tx>
            <c:rich>
              <a:bodyPr/>
              <a:lstStyle/>
              <a:p>
                <a:pPr>
                  <a:defRPr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pPr>
                <a:r>
                  <a:rPr lang="en-US" altLang="zh-CN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Time</a:t>
                </a:r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</a:p>
            </c:rich>
          </c:tx>
          <c:layout>
            <c:manualLayout>
              <c:xMode val="edge"/>
              <c:yMode val="edge"/>
              <c:x val="0.52217557249049562"/>
              <c:y val="0.94085296809163199"/>
            </c:manualLayout>
          </c:layout>
          <c:overlay val="0"/>
        </c:title>
        <c:numFmt formatCode="#,##0_ " sourceLinked="1"/>
        <c:majorTickMark val="out"/>
        <c:minorTickMark val="none"/>
        <c:tickLblPos val="nextTo"/>
        <c:crossAx val="743465416"/>
        <c:crosses val="autoZero"/>
        <c:crossBetween val="midCat"/>
      </c:valAx>
      <c:valAx>
        <c:axId val="743465416"/>
        <c:scaling>
          <c:orientation val="minMax"/>
          <c:min val="0.2"/>
        </c:scaling>
        <c:delete val="0"/>
        <c:axPos val="l"/>
        <c:majorGridlines/>
        <c:minorGridlines/>
        <c:title>
          <c:tx>
            <c:rich>
              <a:bodyPr/>
              <a:lstStyle/>
              <a:p>
                <a:pPr>
                  <a:defRPr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pPr>
                <a:r>
                  <a:rPr lang="en-US" altLang="zh-CN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Lumen Maintenance</a:t>
                </a:r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%</a:t>
                </a:r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</a:p>
            </c:rich>
          </c:tx>
          <c:layout>
            <c:manualLayout>
              <c:xMode val="edge"/>
              <c:yMode val="edge"/>
              <c:x val="1.7707008703808043E-2"/>
              <c:y val="0.3085468653597232"/>
            </c:manualLayout>
          </c:layout>
          <c:overlay val="0"/>
        </c:title>
        <c:numFmt formatCode="0%" sourceLinked="0"/>
        <c:majorTickMark val="out"/>
        <c:minorTickMark val="none"/>
        <c:tickLblPos val="nextTo"/>
        <c:crossAx val="335383536"/>
        <c:crosses val="autoZero"/>
        <c:crossBetween val="midCat"/>
      </c:valAx>
      <c:spPr>
        <a:ln>
          <a:solidFill>
            <a:schemeClr val="accent1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5-30T11:03:44.468" idx="1">
    <p:pos x="7680" y="166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1C3A225-E00E-D946-93CA-09D8232F69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27B33B-C75F-854A-A94C-D5A615FDD7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98F4B-766B-B048-800F-AEB0225C4C39}" type="datetimeFigureOut">
              <a:rPr kumimoji="1" lang="zh-CN" altLang="en-US" smtClean="0"/>
              <a:t>2024/5/30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F77B57-761A-844E-9DB0-5124039DAB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8E6E0C-B24B-9E42-9DA5-40FD7EE8C4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0CF6A-3771-4E41-A23C-8574DEBB2A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3707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2E6B6C-3917-4568-BA95-C1FB4FC38CFA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D9724-F8E5-4560-B0F9-32C853415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18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31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4385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843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88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9405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200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53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223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910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762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277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D9A12E7-85A5-7E4F-8CE0-5DB20317144F}"/>
              </a:ext>
            </a:extLst>
          </p:cNvPr>
          <p:cNvSpPr/>
          <p:nvPr userDrawn="1"/>
        </p:nvSpPr>
        <p:spPr>
          <a:xfrm>
            <a:off x="0" y="1530"/>
            <a:ext cx="12192000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E3022F-FFCD-1C43-9C27-807E89FF8B0C}"/>
              </a:ext>
            </a:extLst>
          </p:cNvPr>
          <p:cNvSpPr txBox="1"/>
          <p:nvPr userDrawn="1"/>
        </p:nvSpPr>
        <p:spPr>
          <a:xfrm>
            <a:off x="417441" y="6369802"/>
            <a:ext cx="1771639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5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OPPLE.COM</a:t>
            </a:r>
            <a:endParaRPr kumimoji="1" lang="zh-CN" altLang="en-US" sz="850" b="0" i="0" dirty="0">
              <a:solidFill>
                <a:schemeClr val="tx1">
                  <a:lumMod val="75000"/>
                  <a:lumOff val="25000"/>
                </a:schemeClr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1604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comments" Target="../comments/commen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>
            <a:extLst>
              <a:ext uri="{FF2B5EF4-FFF2-40B4-BE49-F238E27FC236}">
                <a16:creationId xmlns:a16="http://schemas.microsoft.com/office/drawing/2014/main" id="{54D8F5E8-58DA-8549-9ABE-0447175395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2"/>
          <a:stretch/>
        </p:blipFill>
        <p:spPr bwMode="auto">
          <a:xfrm>
            <a:off x="-1" y="2789270"/>
            <a:ext cx="7770759" cy="3374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 descr="图表, 漏斗图&#10;&#10;描述已自动生成">
            <a:extLst>
              <a:ext uri="{FF2B5EF4-FFF2-40B4-BE49-F238E27FC236}">
                <a16:creationId xmlns:a16="http://schemas.microsoft.com/office/drawing/2014/main" id="{9D01F0D6-1DAC-D34E-83A5-91296B00D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8" y="0"/>
            <a:ext cx="12181172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EF42C0A-8748-7A4F-86D7-0009CED40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62" y="6370496"/>
            <a:ext cx="666179" cy="10248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8B86AE2-E153-A64C-9B80-7C303BD6469C}"/>
              </a:ext>
            </a:extLst>
          </p:cNvPr>
          <p:cNvSpPr/>
          <p:nvPr/>
        </p:nvSpPr>
        <p:spPr>
          <a:xfrm>
            <a:off x="554059" y="1690094"/>
            <a:ext cx="516561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cap="all" dirty="0">
                <a:solidFill>
                  <a:srgbClr val="30303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Arial" pitchFamily="34" charset="0"/>
              </a:rPr>
              <a:t>LED</a:t>
            </a:r>
            <a:r>
              <a:rPr lang="zh-CN" altLang="en-US" sz="3200" cap="all" dirty="0">
                <a:solidFill>
                  <a:srgbClr val="30303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Arial" pitchFamily="34" charset="0"/>
              </a:rPr>
              <a:t>天棚灯</a:t>
            </a:r>
            <a:endParaRPr lang="en-US" altLang="zh-CN" sz="3200" cap="all" dirty="0">
              <a:solidFill>
                <a:srgbClr val="30303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  <a:cs typeface="Arial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B0E74C-AEB9-C540-AD14-4AF0907839CF}"/>
              </a:ext>
            </a:extLst>
          </p:cNvPr>
          <p:cNvSpPr/>
          <p:nvPr/>
        </p:nvSpPr>
        <p:spPr>
          <a:xfrm>
            <a:off x="561775" y="2274869"/>
            <a:ext cx="44811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cap="all" dirty="0">
                <a:solidFill>
                  <a:srgbClr val="44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品皓</a:t>
            </a:r>
            <a:r>
              <a:rPr lang="en-US" altLang="zh-CN" sz="3200" cap="all" dirty="0">
                <a:solidFill>
                  <a:srgbClr val="3030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-</a:t>
            </a:r>
            <a:r>
              <a:rPr lang="zh-CN" altLang="en-US" sz="3200" cap="all" dirty="0">
                <a:solidFill>
                  <a:srgbClr val="30303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Arial" pitchFamily="34" charset="0"/>
              </a:rPr>
              <a:t>上市介绍（非终版）</a:t>
            </a:r>
          </a:p>
        </p:txBody>
      </p:sp>
      <p:sp>
        <p:nvSpPr>
          <p:cNvPr id="12" name="矩形">
            <a:extLst>
              <a:ext uri="{FF2B5EF4-FFF2-40B4-BE49-F238E27FC236}">
                <a16:creationId xmlns:a16="http://schemas.microsoft.com/office/drawing/2014/main" id="{A9CF19EF-BE63-DF42-BEE9-890B080B615D}"/>
              </a:ext>
            </a:extLst>
          </p:cNvPr>
          <p:cNvSpPr>
            <a:spLocks/>
          </p:cNvSpPr>
          <p:nvPr/>
        </p:nvSpPr>
        <p:spPr>
          <a:xfrm>
            <a:off x="10051401" y="5745019"/>
            <a:ext cx="1653711" cy="83747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21920" tIns="60960" rIns="121920" bIns="60960" anchor="ctr" anchorCtr="0">
            <a:prstTxWarp prst="textNoShape">
              <a:avLst/>
            </a:prstTxWarp>
          </a:bodyPr>
          <a:lstStyle/>
          <a:p>
            <a:pPr algn="r">
              <a:lnSpc>
                <a:spcPct val="150000"/>
              </a:lnSpc>
            </a:pPr>
            <a:r>
              <a:rPr lang="zh-CN" altLang="en-US" sz="1100" dirty="0">
                <a:solidFill>
                  <a:srgbClr val="444444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Arial" pitchFamily="34" charset="0"/>
              </a:rPr>
              <a:t>照明产品管理</a:t>
            </a:r>
            <a:endParaRPr lang="en-US" altLang="zh-CN" sz="1100" dirty="0">
              <a:solidFill>
                <a:srgbClr val="444444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  <a:cs typeface="Arial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rgbClr val="444444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Arial" pitchFamily="34" charset="0"/>
              </a:rPr>
              <a:t>2024</a:t>
            </a:r>
            <a:r>
              <a:rPr lang="zh-CN" altLang="en-US" sz="1100" dirty="0">
                <a:solidFill>
                  <a:srgbClr val="444444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Arial" pitchFamily="34" charset="0"/>
              </a:rPr>
              <a:t>年</a:t>
            </a:r>
            <a:r>
              <a:rPr lang="en-US" altLang="zh-CN" sz="1100" dirty="0">
                <a:solidFill>
                  <a:srgbClr val="444444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Arial" pitchFamily="34" charset="0"/>
              </a:rPr>
              <a:t>05</a:t>
            </a:r>
            <a:r>
              <a:rPr lang="zh-CN" altLang="en-US" sz="1100" dirty="0">
                <a:solidFill>
                  <a:srgbClr val="444444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Arial" pitchFamily="34" charset="0"/>
              </a:rPr>
              <a:t>月</a:t>
            </a:r>
          </a:p>
        </p:txBody>
      </p:sp>
      <p:sp>
        <p:nvSpPr>
          <p:cNvPr id="13" name="矩形">
            <a:extLst>
              <a:ext uri="{FF2B5EF4-FFF2-40B4-BE49-F238E27FC236}">
                <a16:creationId xmlns:a16="http://schemas.microsoft.com/office/drawing/2014/main" id="{73F92D4D-C9C1-4009-97A3-A1665CC75D1D}"/>
              </a:ext>
            </a:extLst>
          </p:cNvPr>
          <p:cNvSpPr>
            <a:spLocks/>
          </p:cNvSpPr>
          <p:nvPr/>
        </p:nvSpPr>
        <p:spPr>
          <a:xfrm>
            <a:off x="10053538" y="-3821"/>
            <a:ext cx="1653711" cy="83747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21920" tIns="60960" rIns="121920" bIns="60960" anchor="ctr" anchorCtr="0">
            <a:prstTxWarp prst="textNoShape">
              <a:avLst/>
            </a:prstTxWarp>
          </a:bodyPr>
          <a:lstStyle/>
          <a:p>
            <a:pPr algn="r">
              <a:lnSpc>
                <a:spcPct val="150000"/>
              </a:lnSpc>
            </a:pPr>
            <a:r>
              <a:rPr lang="en-US" altLang="zh-CN" sz="1100" b="1" dirty="0">
                <a:solidFill>
                  <a:srgbClr val="444444"/>
                </a:solidFill>
                <a:latin typeface="FZLanTingHei-EB-GBK" charset="-122"/>
                <a:ea typeface="FZLanTingHei-EB-GBK" charset="-122"/>
                <a:cs typeface="FZLanTingHei-EB-GBK" charset="-122"/>
              </a:rPr>
              <a:t>OPPLE.COM</a:t>
            </a:r>
            <a:endParaRPr lang="zh-CN" altLang="en-US" sz="1100" b="1" dirty="0">
              <a:solidFill>
                <a:srgbClr val="444444"/>
              </a:solidFill>
              <a:latin typeface="FZLanTingHei-EB-GBK" charset="-122"/>
              <a:ea typeface="FZLanTingHei-EB-GBK" charset="-122"/>
              <a:cs typeface="FZLanTingHei-EB-GBK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819E36-D60B-48B3-93AD-DB5A72386C2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6920" y="3528061"/>
            <a:ext cx="3049863" cy="20650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A256575-FBE1-414D-B080-899B7D0BFE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732" b="92516" l="8125" r="90000">
                        <a14:foregroundMark x1="8281" y1="50936" x2="9844" y2="62578"/>
                        <a14:foregroundMark x1="48750" y1="92516" x2="55625" y2="91684"/>
                        <a14:foregroundMark x1="25625" y1="30769" x2="26719" y2="30146"/>
                        <a14:foregroundMark x1="29063" y1="28898" x2="29531" y2="28690"/>
                        <a14:foregroundMark x1="27656" y1="28898" x2="24844" y2="30353"/>
                        <a14:foregroundMark x1="29063" y1="24116" x2="29063" y2="24116"/>
                        <a14:foregroundMark x1="29063" y1="23493" x2="29063" y2="23493"/>
                        <a14:foregroundMark x1="31563" y1="21206" x2="31563" y2="21206"/>
                        <a14:foregroundMark x1="32188" y1="20582" x2="32188" y2="20582"/>
                        <a14:foregroundMark x1="35000" y1="18295" x2="35625" y2="17879"/>
                        <a14:foregroundMark x1="37656" y1="16424" x2="37656" y2="16424"/>
                        <a14:foregroundMark x1="37656" y1="16424" x2="37656" y2="16424"/>
                        <a14:foregroundMark x1="39375" y1="15177" x2="42969" y2="12682"/>
                        <a14:foregroundMark x1="44063" y1="11227" x2="44063" y2="11227"/>
                        <a14:foregroundMark x1="45000" y1="10395" x2="45625" y2="9563"/>
                        <a14:foregroundMark x1="45938" y1="9563" x2="29531" y2="23077"/>
                        <a14:foregroundMark x1="45469" y1="9563" x2="48594" y2="8732"/>
                        <a14:foregroundMark x1="48594" y1="8732" x2="48594" y2="8732"/>
                        <a14:foregroundMark x1="48594" y1="8732" x2="48594" y2="10603"/>
                        <a14:foregroundMark x1="60000" y1="18087" x2="65469" y2="2432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8000" y="3374045"/>
            <a:ext cx="3048000" cy="229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18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52"/>
          <a:stretch/>
        </p:blipFill>
        <p:spPr>
          <a:xfrm>
            <a:off x="4049487" y="3589310"/>
            <a:ext cx="3709851" cy="291084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05B018B-9958-9040-9377-653612C3F8D7}"/>
              </a:ext>
            </a:extLst>
          </p:cNvPr>
          <p:cNvSpPr/>
          <p:nvPr/>
        </p:nvSpPr>
        <p:spPr>
          <a:xfrm>
            <a:off x="445366" y="319117"/>
            <a:ext cx="33746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市场应用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应用空间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1AE8F6-9F9C-634C-BF69-03EC902F517F}"/>
              </a:ext>
            </a:extLst>
          </p:cNvPr>
          <p:cNvSpPr/>
          <p:nvPr/>
        </p:nvSpPr>
        <p:spPr>
          <a:xfrm flipH="1">
            <a:off x="2105069" y="436727"/>
            <a:ext cx="18000" cy="288000"/>
          </a:xfrm>
          <a:prstGeom prst="rect">
            <a:avLst/>
          </a:prstGeom>
          <a:solidFill>
            <a:srgbClr val="C7A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06A58A-89BB-9140-BF15-987FF37E3EAA}"/>
              </a:ext>
            </a:extLst>
          </p:cNvPr>
          <p:cNvSpPr txBox="1"/>
          <p:nvPr/>
        </p:nvSpPr>
        <p:spPr>
          <a:xfrm>
            <a:off x="445365" y="1458089"/>
            <a:ext cx="39814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厂房空间、仓储空间、公共区域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D46AC4-2F2B-8B43-9723-AAE2C34533D2}"/>
              </a:ext>
            </a:extLst>
          </p:cNvPr>
          <p:cNvSpPr/>
          <p:nvPr/>
        </p:nvSpPr>
        <p:spPr>
          <a:xfrm>
            <a:off x="445366" y="1980547"/>
            <a:ext cx="5672257" cy="654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1399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品皓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系列天棚灯，可以提供高效、充足而均匀的光环境。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适用于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一般性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工业厂房、车间，仓库等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中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高空间应用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6" name="TextBox 33">
            <a:extLst>
              <a:ext uri="{FF2B5EF4-FFF2-40B4-BE49-F238E27FC236}">
                <a16:creationId xmlns:a16="http://schemas.microsoft.com/office/drawing/2014/main" id="{C8B410AF-8CA9-DC46-9417-679A59B71B8B}"/>
              </a:ext>
            </a:extLst>
          </p:cNvPr>
          <p:cNvSpPr txBox="1"/>
          <p:nvPr/>
        </p:nvSpPr>
        <p:spPr>
          <a:xfrm>
            <a:off x="8233327" y="3601777"/>
            <a:ext cx="126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64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空间明亮</a:t>
            </a: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05D1B746-578B-9047-926C-C049E0928E72}"/>
              </a:ext>
            </a:extLst>
          </p:cNvPr>
          <p:cNvSpPr txBox="1"/>
          <p:nvPr/>
        </p:nvSpPr>
        <p:spPr>
          <a:xfrm>
            <a:off x="8272579" y="3895094"/>
            <a:ext cx="3001934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6410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良好而充足的空间照明，能够有效提升工作效率，提高生产效率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TextBox 33">
            <a:extLst>
              <a:ext uri="{FF2B5EF4-FFF2-40B4-BE49-F238E27FC236}">
                <a16:creationId xmlns:a16="http://schemas.microsoft.com/office/drawing/2014/main" id="{C8B410AF-8CA9-DC46-9417-679A59B71B8B}"/>
              </a:ext>
            </a:extLst>
          </p:cNvPr>
          <p:cNvSpPr txBox="1"/>
          <p:nvPr/>
        </p:nvSpPr>
        <p:spPr>
          <a:xfrm>
            <a:off x="8233327" y="4558296"/>
            <a:ext cx="126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64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均匀舒适</a:t>
            </a:r>
          </a:p>
        </p:txBody>
      </p:sp>
      <p:sp>
        <p:nvSpPr>
          <p:cNvPr id="9" name="TextBox 34">
            <a:extLst>
              <a:ext uri="{FF2B5EF4-FFF2-40B4-BE49-F238E27FC236}">
                <a16:creationId xmlns:a16="http://schemas.microsoft.com/office/drawing/2014/main" id="{05D1B746-578B-9047-926C-C049E0928E72}"/>
              </a:ext>
            </a:extLst>
          </p:cNvPr>
          <p:cNvSpPr txBox="1"/>
          <p:nvPr/>
        </p:nvSpPr>
        <p:spPr>
          <a:xfrm>
            <a:off x="8272579" y="4851613"/>
            <a:ext cx="3001934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6410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均匀而柔和的光环境，可以避免产生不舒适的眩光，同时可以有效消除阴影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extBox 34">
            <a:extLst>
              <a:ext uri="{FF2B5EF4-FFF2-40B4-BE49-F238E27FC236}">
                <a16:creationId xmlns:a16="http://schemas.microsoft.com/office/drawing/2014/main" id="{05D1B746-578B-9047-926C-C049E0928E72}"/>
              </a:ext>
            </a:extLst>
          </p:cNvPr>
          <p:cNvSpPr txBox="1"/>
          <p:nvPr/>
        </p:nvSpPr>
        <p:spPr>
          <a:xfrm>
            <a:off x="8272579" y="5875678"/>
            <a:ext cx="3001934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6410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安装的便利性，更长的使用寿命，大大降低使用周期内的成本。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TextBox 33">
            <a:extLst>
              <a:ext uri="{FF2B5EF4-FFF2-40B4-BE49-F238E27FC236}">
                <a16:creationId xmlns:a16="http://schemas.microsoft.com/office/drawing/2014/main" id="{C8B410AF-8CA9-DC46-9417-679A59B71B8B}"/>
              </a:ext>
            </a:extLst>
          </p:cNvPr>
          <p:cNvSpPr txBox="1"/>
          <p:nvPr/>
        </p:nvSpPr>
        <p:spPr>
          <a:xfrm>
            <a:off x="8272579" y="5575176"/>
            <a:ext cx="126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64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方便使用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0"/>
          <a:stretch/>
        </p:blipFill>
        <p:spPr>
          <a:xfrm>
            <a:off x="327808" y="3600095"/>
            <a:ext cx="3734741" cy="290006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46"/>
          <a:stretch/>
        </p:blipFill>
        <p:spPr>
          <a:xfrm>
            <a:off x="7518026" y="373451"/>
            <a:ext cx="4511040" cy="311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4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AA426B3-A9B7-E541-9313-51F7447FD67E}"/>
              </a:ext>
            </a:extLst>
          </p:cNvPr>
          <p:cNvSpPr/>
          <p:nvPr/>
        </p:nvSpPr>
        <p:spPr>
          <a:xfrm>
            <a:off x="445366" y="319117"/>
            <a:ext cx="33554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市场定位</a:t>
            </a:r>
            <a:r>
              <a:rPr lang="en-US" altLang="zh-CN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   </a:t>
            </a:r>
            <a:r>
              <a:rPr lang="zh-CN" altLang="en-US" sz="2800" dirty="0">
                <a:solidFill>
                  <a:srgbClr val="2C2C2C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方正兰亭准黑简体" charset="-122"/>
              </a:rPr>
              <a:t>产品参数</a:t>
            </a:r>
            <a:endParaRPr lang="zh-CN" altLang="en-US" sz="2800" dirty="0">
              <a:solidFill>
                <a:srgbClr val="2C2C2C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D57187-D3D7-9A4C-8401-20D2DF93F9ED}"/>
              </a:ext>
            </a:extLst>
          </p:cNvPr>
          <p:cNvSpPr/>
          <p:nvPr/>
        </p:nvSpPr>
        <p:spPr>
          <a:xfrm>
            <a:off x="609406" y="834528"/>
            <a:ext cx="10823890" cy="345305"/>
          </a:xfrm>
          <a:prstGeom prst="rect">
            <a:avLst/>
          </a:prstGeom>
          <a:solidFill>
            <a:srgbClr val="013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034B05-A7AC-5C47-A8D8-F455E5D0BB34}"/>
              </a:ext>
            </a:extLst>
          </p:cNvPr>
          <p:cNvSpPr/>
          <p:nvPr/>
        </p:nvSpPr>
        <p:spPr>
          <a:xfrm>
            <a:off x="4485050" y="853291"/>
            <a:ext cx="51656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cap="all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LED</a:t>
            </a:r>
            <a:r>
              <a:rPr lang="zh-CN" altLang="en-US" sz="1400" cap="all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天棚灯 </a:t>
            </a:r>
            <a:r>
              <a:rPr lang="en-US" altLang="zh-CN" sz="1400" cap="all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–</a:t>
            </a:r>
            <a:r>
              <a:rPr lang="zh-CN" altLang="en-US" sz="1400" cap="all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品皓</a:t>
            </a:r>
            <a:r>
              <a:rPr lang="en-US" altLang="zh-CN" sz="1400" cap="all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-</a:t>
            </a:r>
            <a:r>
              <a:rPr lang="zh-CN" altLang="en-US" sz="1400" cap="all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 产品参数</a:t>
            </a:r>
            <a:endParaRPr lang="en-US" altLang="zh-CN" sz="1400" cap="all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7DBFCB-4B4B-5946-A031-5250D579CAD2}"/>
              </a:ext>
            </a:extLst>
          </p:cNvPr>
          <p:cNvSpPr/>
          <p:nvPr/>
        </p:nvSpPr>
        <p:spPr>
          <a:xfrm flipH="1">
            <a:off x="2105069" y="436727"/>
            <a:ext cx="18000" cy="288000"/>
          </a:xfrm>
          <a:prstGeom prst="rect">
            <a:avLst/>
          </a:prstGeom>
          <a:solidFill>
            <a:srgbClr val="213C84"/>
          </a:solidFill>
          <a:ln>
            <a:solidFill>
              <a:srgbClr val="0139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663804"/>
              </p:ext>
            </p:extLst>
          </p:nvPr>
        </p:nvGraphicFramePr>
        <p:xfrm>
          <a:off x="609410" y="1172092"/>
          <a:ext cx="10836000" cy="56800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132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4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4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4000">
                <a:tc row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概述</a:t>
                      </a: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型号</a:t>
                      </a: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LTP09035009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LTP09050018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LTP09070010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LTP09100023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LTP09150025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LTP09200012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光通量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3500lm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5000lm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7000lm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12000lm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18000 lm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 lm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000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光学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色温（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CCT）</a:t>
                      </a:r>
                      <a:endParaRPr 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5700K</a:t>
                      </a: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4000K/5700K</a:t>
                      </a: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显色指数（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Ra＞80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光束角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90°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60°/90°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000">
                <a:tc vMerge="1">
                  <a:txBody>
                    <a:bodyPr/>
                    <a:lstStyle/>
                    <a:p>
                      <a:pPr algn="ctr" rtl="0" fontAlgn="ctr"/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频闪</a:t>
                      </a:r>
                    </a:p>
                  </a:txBody>
                  <a:tcPr marL="6160" marR="6160" marT="6160" marB="0" anchor="ctr"/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可视无频闪</a:t>
                      </a:r>
                      <a:endParaRPr lang="en-US" altLang="zh-CN" sz="11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无频闪</a:t>
                      </a:r>
                      <a:endParaRPr lang="en-US" altLang="zh-CN" sz="11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319423"/>
                  </a:ext>
                </a:extLst>
              </a:tr>
              <a:tr h="284000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电子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工作电压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220Vac；50Hz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总谐波（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THD）</a:t>
                      </a:r>
                      <a:endParaRPr 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未知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功率因数（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PF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防触电等级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ClassⅠ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000">
                <a:tc vMerge="1">
                  <a:txBody>
                    <a:bodyPr/>
                    <a:lstStyle/>
                    <a:p>
                      <a:pPr algn="ctr" rtl="0" fontAlgn="ctr"/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浪涌</a:t>
                      </a:r>
                    </a:p>
                  </a:txBody>
                  <a:tcPr marL="6160" marR="6160" marT="6160" marB="0" anchor="ctr"/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en-US" altLang="zh-CN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kV/2kV</a:t>
                      </a:r>
                      <a:endParaRPr 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2kV/4kV</a:t>
                      </a: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136104"/>
                  </a:ext>
                </a:extLst>
              </a:tr>
              <a:tr h="284000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防护等级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规格尺寸（口径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高度）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Φ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290</a:t>
                      </a:r>
                      <a:r>
                        <a:rPr lang="el-GR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74mm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Φ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290</a:t>
                      </a:r>
                      <a:r>
                        <a:rPr lang="el-GR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74mm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Φ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290</a:t>
                      </a:r>
                      <a:r>
                        <a:rPr lang="el-GR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74mm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Φ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320</a:t>
                      </a:r>
                      <a:r>
                        <a:rPr lang="el-GR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94mm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Φ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400</a:t>
                      </a:r>
                      <a:r>
                        <a:rPr kumimoji="0" lang="el-GR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×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102mm</a:t>
                      </a:r>
                      <a:endParaRPr kumimoji="0" lang="en-US" altLang="zh-C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Φ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400</a:t>
                      </a:r>
                      <a:r>
                        <a:rPr kumimoji="0" lang="el-GR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×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102mm</a:t>
                      </a:r>
                      <a:endParaRPr kumimoji="0" lang="en-US" altLang="zh-C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160" marR="6160" marT="616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安装方式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吊钩、吊链、吊杆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000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灯具寿命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30000hrs （@LN70/B50）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工作环境（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℃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℃</a:t>
                      </a: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安全认证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CCC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4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同光通替换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传统金卤灯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70W/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150W/200W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300W/400W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使用场所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建议安装高度</a:t>
                      </a:r>
                      <a:endParaRPr lang="zh-CN" altLang="en-US" sz="1100" b="1" i="0" u="none" strike="noStrike" dirty="0">
                        <a:solidFill>
                          <a:srgbClr val="0046AA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4-8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米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8-12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米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12-20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米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60" marR="6160" marT="616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857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1883" y="4785743"/>
            <a:ext cx="5492750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专业光学透镜设计，搭配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型灯罩，角度更精准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紧密式光源腔，可防止蚊虫进入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2kV/4kV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雷击浪涌，可有效防止电网波动对照明的影响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83682" y="4772680"/>
            <a:ext cx="5473700" cy="1156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光效高达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120lm/w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，节能更省电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型均热散热设计，全系列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30000hrs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使用寿命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六档功率细分，两种角度，满足不同层高应用场合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73100" y="4456611"/>
            <a:ext cx="10985500" cy="18161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B37CB9-F79F-174D-9217-C0995D949A54}"/>
              </a:ext>
            </a:extLst>
          </p:cNvPr>
          <p:cNvSpPr/>
          <p:nvPr/>
        </p:nvSpPr>
        <p:spPr>
          <a:xfrm>
            <a:off x="445366" y="319117"/>
            <a:ext cx="33746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核心卖点</a:t>
            </a:r>
            <a:r>
              <a:rPr lang="en-US" altLang="zh-CN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   </a:t>
            </a:r>
            <a:r>
              <a:rPr lang="zh-CN" altLang="en-US" sz="2800" dirty="0">
                <a:solidFill>
                  <a:srgbClr val="2C2C2C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方正兰亭准黑简体" charset="-122"/>
              </a:rPr>
              <a:t>产品介绍</a:t>
            </a:r>
            <a:endParaRPr lang="zh-CN" altLang="en-US" sz="2800" dirty="0">
              <a:solidFill>
                <a:srgbClr val="2C2C2C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D2F6C8-1ECA-F445-AD5F-8DA9987C5A6D}"/>
              </a:ext>
            </a:extLst>
          </p:cNvPr>
          <p:cNvSpPr/>
          <p:nvPr/>
        </p:nvSpPr>
        <p:spPr>
          <a:xfrm flipH="1">
            <a:off x="2105069" y="436727"/>
            <a:ext cx="18000" cy="288000"/>
          </a:xfrm>
          <a:prstGeom prst="rect">
            <a:avLst/>
          </a:prstGeom>
          <a:solidFill>
            <a:srgbClr val="213C84"/>
          </a:solidFill>
          <a:ln>
            <a:solidFill>
              <a:srgbClr val="0139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129638" y="1207135"/>
            <a:ext cx="1581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150W/200W</a:t>
            </a: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60°/90°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985062" y="1207135"/>
            <a:ext cx="1013725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200" dirty="0"/>
              <a:t>100W</a:t>
            </a:r>
          </a:p>
          <a:p>
            <a:r>
              <a:rPr lang="en-US" altLang="zh-CN" sz="1200" dirty="0"/>
              <a:t>60°/90°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202074" y="1295319"/>
            <a:ext cx="1861225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200" dirty="0"/>
              <a:t>35W/50W/70W</a:t>
            </a:r>
          </a:p>
          <a:p>
            <a:r>
              <a:rPr lang="en-US" altLang="zh-CN" sz="1200" dirty="0"/>
              <a:t>90°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6E86C79-ACC7-4403-AEF0-6D38424EB89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99995" y="1853466"/>
            <a:ext cx="4241110" cy="228594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B6B66AB-5210-4AED-A389-A1A0AC19EB4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95672" y="2049300"/>
            <a:ext cx="4620039" cy="201835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9BCAD48-2D37-4109-BA14-1382037F484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2068" y="2448497"/>
            <a:ext cx="3752533" cy="148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69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5E98F39E-A1F8-432D-A5FA-B3BECE606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732" b="92516" l="8125" r="90000">
                        <a14:foregroundMark x1="8281" y1="50936" x2="9844" y2="62578"/>
                        <a14:foregroundMark x1="48750" y1="92516" x2="55625" y2="91684"/>
                        <a14:foregroundMark x1="25625" y1="30769" x2="26719" y2="30146"/>
                        <a14:foregroundMark x1="29063" y1="28898" x2="29531" y2="28690"/>
                        <a14:foregroundMark x1="27656" y1="28898" x2="24844" y2="30353"/>
                        <a14:foregroundMark x1="29063" y1="24116" x2="29063" y2="24116"/>
                        <a14:foregroundMark x1="29063" y1="23493" x2="29063" y2="23493"/>
                        <a14:foregroundMark x1="31563" y1="21206" x2="31563" y2="21206"/>
                        <a14:foregroundMark x1="32188" y1="20582" x2="32188" y2="20582"/>
                        <a14:foregroundMark x1="35000" y1="18295" x2="35625" y2="17879"/>
                        <a14:foregroundMark x1="37656" y1="16424" x2="37656" y2="16424"/>
                        <a14:foregroundMark x1="37656" y1="16424" x2="37656" y2="16424"/>
                        <a14:foregroundMark x1="39375" y1="15177" x2="42969" y2="12682"/>
                        <a14:foregroundMark x1="44063" y1="11227" x2="44063" y2="11227"/>
                        <a14:foregroundMark x1="45000" y1="10395" x2="45625" y2="9563"/>
                        <a14:foregroundMark x1="45938" y1="9563" x2="29531" y2="23077"/>
                        <a14:foregroundMark x1="45469" y1="9563" x2="48594" y2="8732"/>
                        <a14:foregroundMark x1="48594" y1="8732" x2="48594" y2="8732"/>
                        <a14:foregroundMark x1="48594" y1="8732" x2="48594" y2="10603"/>
                        <a14:foregroundMark x1="60000" y1="18087" x2="65469" y2="2432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1762" y="1272876"/>
            <a:ext cx="2991489" cy="224829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4B37CB9-F79F-174D-9217-C0995D949A54}"/>
              </a:ext>
            </a:extLst>
          </p:cNvPr>
          <p:cNvSpPr/>
          <p:nvPr/>
        </p:nvSpPr>
        <p:spPr>
          <a:xfrm>
            <a:off x="445366" y="319117"/>
            <a:ext cx="33746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核心卖点</a:t>
            </a:r>
            <a:r>
              <a:rPr lang="en-US" altLang="zh-CN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   </a:t>
            </a:r>
            <a:r>
              <a:rPr lang="zh-CN" altLang="en-US" sz="2800" dirty="0">
                <a:solidFill>
                  <a:srgbClr val="2C2C2C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方正兰亭准黑简体" charset="-122"/>
              </a:rPr>
              <a:t>长效可靠</a:t>
            </a:r>
            <a:endParaRPr lang="zh-CN" altLang="en-US" sz="2800" dirty="0">
              <a:solidFill>
                <a:srgbClr val="2C2C2C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7D2F6C8-1ECA-F445-AD5F-8DA9987C5A6D}"/>
              </a:ext>
            </a:extLst>
          </p:cNvPr>
          <p:cNvSpPr/>
          <p:nvPr/>
        </p:nvSpPr>
        <p:spPr>
          <a:xfrm flipH="1">
            <a:off x="2105069" y="436727"/>
            <a:ext cx="18000" cy="288000"/>
          </a:xfrm>
          <a:prstGeom prst="rect">
            <a:avLst/>
          </a:prstGeom>
          <a:solidFill>
            <a:srgbClr val="213C84"/>
          </a:solidFill>
          <a:ln>
            <a:solidFill>
              <a:srgbClr val="0139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352408" y="1917746"/>
            <a:ext cx="5435963" cy="136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zh-CN" altLang="en-US" sz="2133" b="1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镂空散热设计</a:t>
            </a:r>
            <a:endParaRPr lang="en-US" altLang="zh-CN" sz="2133" b="1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rtl="0"/>
            <a:endParaRPr lang="en-US" altLang="zh-CN" sz="667" b="1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rtl="0"/>
            <a:endParaRPr lang="en-US" altLang="zh-CN" sz="1467" dirty="0">
              <a:solidFill>
                <a:srgbClr val="4141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rtl="0"/>
            <a:r>
              <a:rPr lang="zh-CN" altLang="en-US" sz="1600" dirty="0">
                <a:solidFill>
                  <a:srgbClr val="4141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电源和</a:t>
            </a:r>
            <a:r>
              <a:rPr lang="en-US" altLang="zh-CN" sz="1600" dirty="0">
                <a:solidFill>
                  <a:srgbClr val="4141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1600" dirty="0">
                <a:solidFill>
                  <a:srgbClr val="4141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热学分离，对流散热结合</a:t>
            </a:r>
            <a:r>
              <a:rPr lang="en-US" altLang="zh-CN" sz="1600" dirty="0">
                <a:solidFill>
                  <a:srgbClr val="4141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1600" dirty="0">
                <a:solidFill>
                  <a:srgbClr val="4141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型双侧散热</a:t>
            </a:r>
            <a:endParaRPr lang="en-US" altLang="zh-CN" sz="1600" dirty="0">
              <a:solidFill>
                <a:srgbClr val="4141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rtl="0">
              <a:lnSpc>
                <a:spcPct val="150000"/>
              </a:lnSpc>
            </a:pPr>
            <a:r>
              <a:rPr lang="zh-CN" altLang="en-US" b="1" dirty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全系列寿命可达</a:t>
            </a:r>
            <a:r>
              <a:rPr lang="en-US" altLang="zh-CN" b="1" dirty="0">
                <a:solidFill>
                  <a:srgbClr val="0046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30000hrs</a:t>
            </a:r>
          </a:p>
        </p:txBody>
      </p:sp>
      <p:cxnSp>
        <p:nvCxnSpPr>
          <p:cNvPr id="61" name="直接连接符 60"/>
          <p:cNvCxnSpPr>
            <a:cxnSpLocks/>
          </p:cNvCxnSpPr>
          <p:nvPr/>
        </p:nvCxnSpPr>
        <p:spPr>
          <a:xfrm flipH="1" flipV="1">
            <a:off x="6083429" y="1885720"/>
            <a:ext cx="12571" cy="154328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9396549" y="3768746"/>
            <a:ext cx="606134" cy="42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endParaRPr lang="en-US" altLang="zh-CN" sz="667" b="1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rtl="0"/>
            <a:r>
              <a:rPr lang="en-US" altLang="zh-CN" sz="146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60°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ECD649C8-9F32-4A44-9372-25493CEA976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50399" y="3951707"/>
            <a:ext cx="3170754" cy="2146919"/>
          </a:xfrm>
          <a:prstGeom prst="rect">
            <a:avLst/>
          </a:prstGeom>
        </p:spPr>
      </p:pic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11FE526-FDF3-483F-9678-1AA2CF560FD4}"/>
              </a:ext>
            </a:extLst>
          </p:cNvPr>
          <p:cNvCxnSpPr>
            <a:cxnSpLocks/>
          </p:cNvCxnSpPr>
          <p:nvPr/>
        </p:nvCxnSpPr>
        <p:spPr>
          <a:xfrm>
            <a:off x="3154017" y="2543622"/>
            <a:ext cx="2929412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CED439CE-76CD-4C5E-8F8F-D329F2B85B8B}"/>
              </a:ext>
            </a:extLst>
          </p:cNvPr>
          <p:cNvCxnSpPr>
            <a:cxnSpLocks/>
          </p:cNvCxnSpPr>
          <p:nvPr/>
        </p:nvCxnSpPr>
        <p:spPr>
          <a:xfrm>
            <a:off x="2879387" y="5178572"/>
            <a:ext cx="212925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D3A1A36-F868-45A5-A29B-A92432A50730}"/>
              </a:ext>
            </a:extLst>
          </p:cNvPr>
          <p:cNvCxnSpPr>
            <a:cxnSpLocks/>
          </p:cNvCxnSpPr>
          <p:nvPr/>
        </p:nvCxnSpPr>
        <p:spPr>
          <a:xfrm flipH="1" flipV="1">
            <a:off x="5008641" y="2543622"/>
            <a:ext cx="1" cy="263495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5D02849-A8B6-48A1-B2A9-25BB0BFB8A62}"/>
              </a:ext>
            </a:extLst>
          </p:cNvPr>
          <p:cNvSpPr/>
          <p:nvPr/>
        </p:nvSpPr>
        <p:spPr>
          <a:xfrm>
            <a:off x="3068436" y="2506658"/>
            <a:ext cx="89632" cy="75909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E93526D5-5C95-405D-AA64-A0F72D9F5229}"/>
              </a:ext>
            </a:extLst>
          </p:cNvPr>
          <p:cNvSpPr/>
          <p:nvPr/>
        </p:nvSpPr>
        <p:spPr>
          <a:xfrm>
            <a:off x="2827507" y="5140617"/>
            <a:ext cx="89632" cy="75909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2081907"/>
              </p:ext>
            </p:extLst>
          </p:nvPr>
        </p:nvGraphicFramePr>
        <p:xfrm>
          <a:off x="6096000" y="4019783"/>
          <a:ext cx="5314122" cy="2528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F81661AE-5760-4312-89EF-CB9AAF3A611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6519"/>
          <a:stretch/>
        </p:blipFill>
        <p:spPr>
          <a:xfrm>
            <a:off x="8912768" y="2868380"/>
            <a:ext cx="2432878" cy="116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14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4B37CB9-F79F-174D-9217-C0995D949A54}"/>
              </a:ext>
            </a:extLst>
          </p:cNvPr>
          <p:cNvSpPr/>
          <p:nvPr/>
        </p:nvSpPr>
        <p:spPr>
          <a:xfrm>
            <a:off x="445366" y="319117"/>
            <a:ext cx="33746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核心卖点</a:t>
            </a:r>
            <a:r>
              <a:rPr lang="en-US" altLang="zh-CN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   </a:t>
            </a:r>
            <a:r>
              <a:rPr lang="zh-CN" altLang="en-US" sz="2800" dirty="0">
                <a:solidFill>
                  <a:srgbClr val="2C2C2C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方正兰亭准黑简体" charset="-122"/>
              </a:rPr>
              <a:t>稳定高效</a:t>
            </a:r>
            <a:endParaRPr lang="zh-CN" altLang="en-US" sz="2800" dirty="0">
              <a:solidFill>
                <a:srgbClr val="2C2C2C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D2F6C8-1ECA-F445-AD5F-8DA9987C5A6D}"/>
              </a:ext>
            </a:extLst>
          </p:cNvPr>
          <p:cNvSpPr/>
          <p:nvPr/>
        </p:nvSpPr>
        <p:spPr>
          <a:xfrm flipH="1">
            <a:off x="2105069" y="436727"/>
            <a:ext cx="18000" cy="288000"/>
          </a:xfrm>
          <a:prstGeom prst="rect">
            <a:avLst/>
          </a:prstGeom>
          <a:solidFill>
            <a:srgbClr val="213C84"/>
          </a:solidFill>
          <a:ln>
            <a:solidFill>
              <a:srgbClr val="0139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33219" y="3355657"/>
            <a:ext cx="4414712" cy="1143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zh-CN" altLang="en-US" sz="2133" b="1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抗雷击</a:t>
            </a:r>
            <a:endParaRPr lang="en-US" altLang="zh-CN" sz="2133" b="1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rtl="0"/>
            <a:endParaRPr lang="en-US" altLang="zh-CN" sz="400" b="1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4141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通过雷击浪涌</a:t>
            </a:r>
            <a:r>
              <a:rPr lang="en-US" altLang="zh-CN" b="1" dirty="0">
                <a:solidFill>
                  <a:srgbClr val="0139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2kV/4kV</a:t>
            </a:r>
            <a:r>
              <a:rPr lang="zh-CN" altLang="en-US" sz="1600" dirty="0">
                <a:solidFill>
                  <a:srgbClr val="4141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测试，</a:t>
            </a:r>
            <a:endParaRPr lang="en-US" altLang="zh-CN" sz="1600" dirty="0">
              <a:solidFill>
                <a:srgbClr val="4141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rgbClr val="4141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适应电网波动出现的突变</a:t>
            </a:r>
            <a:endParaRPr lang="en-US" altLang="zh-CN" sz="1600" dirty="0">
              <a:solidFill>
                <a:srgbClr val="4141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>
            <a:cxnSpLocks/>
          </p:cNvCxnSpPr>
          <p:nvPr/>
        </p:nvCxnSpPr>
        <p:spPr>
          <a:xfrm>
            <a:off x="3418029" y="3662695"/>
            <a:ext cx="393024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cxnSpLocks/>
          </p:cNvCxnSpPr>
          <p:nvPr/>
        </p:nvCxnSpPr>
        <p:spPr>
          <a:xfrm flipV="1">
            <a:off x="7379723" y="3295600"/>
            <a:ext cx="0" cy="113679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68F9D9A1-F270-499F-B87D-400332E4C8A3}"/>
              </a:ext>
            </a:extLst>
          </p:cNvPr>
          <p:cNvSpPr txBox="1"/>
          <p:nvPr/>
        </p:nvSpPr>
        <p:spPr>
          <a:xfrm>
            <a:off x="5669903" y="1349004"/>
            <a:ext cx="5263137" cy="1161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zh-CN" altLang="en-US" sz="2133" b="1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高效电源</a:t>
            </a:r>
            <a:endParaRPr lang="en-US" altLang="zh-CN" sz="400" b="1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139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PF 0.95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4141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电源效率高，减少电力浪费；谐波小对电网影响小</a:t>
            </a:r>
            <a:endParaRPr lang="en-US" altLang="zh-CN" sz="1600" dirty="0">
              <a:solidFill>
                <a:srgbClr val="4141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B12804F-4899-4E60-A3C6-952156055B9F}"/>
              </a:ext>
            </a:extLst>
          </p:cNvPr>
          <p:cNvCxnSpPr>
            <a:cxnSpLocks/>
          </p:cNvCxnSpPr>
          <p:nvPr/>
        </p:nvCxnSpPr>
        <p:spPr>
          <a:xfrm flipV="1">
            <a:off x="5593375" y="1292609"/>
            <a:ext cx="0" cy="150930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91124BFB-1BE7-49EC-9CAD-FE85D4F52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989" b="91783" l="10000" r="90000">
                        <a14:foregroundMark x1="49875" y1="24095" x2="54000" y2="35237"/>
                        <a14:foregroundMark x1="46625" y1="54875" x2="47500" y2="65042"/>
                        <a14:foregroundMark x1="46625" y1="91783" x2="52250" y2="91783"/>
                        <a14:foregroundMark x1="47750" y1="90251" x2="52750" y2="90251"/>
                        <a14:foregroundMark x1="39875" y1="24373" x2="39500" y2="22702"/>
                        <a14:foregroundMark x1="35500" y1="91922" x2="38625" y2="91504"/>
                        <a14:foregroundMark x1="16375" y1="84680" x2="17500" y2="83983"/>
                        <a14:foregroundMark x1="18125" y1="83287" x2="16375" y2="84958"/>
                        <a14:foregroundMark x1="53750" y1="20334" x2="58375" y2="19499"/>
                        <a14:foregroundMark x1="55375" y1="53482" x2="57000" y2="56546"/>
                        <a14:foregroundMark x1="58125" y1="57382" x2="58375" y2="58774"/>
                        <a14:foregroundMark x1="62250" y1="22423" x2="65125" y2="23120"/>
                        <a14:foregroundMark x1="42500" y1="14206" x2="44625" y2="12256"/>
                        <a14:foregroundMark x1="50500" y1="6407" x2="50375" y2="5989"/>
                        <a14:foregroundMark x1="54875" y1="62953" x2="58625" y2="64067"/>
                        <a14:foregroundMark x1="66875" y1="24373" x2="69875" y2="25070"/>
                        <a14:foregroundMark x1="57250" y1="23120" x2="56625" y2="26741"/>
                        <a14:foregroundMark x1="56000" y1="22423" x2="55750" y2="2562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6029" y="1840490"/>
            <a:ext cx="3539855" cy="3177020"/>
          </a:xfrm>
          <a:prstGeom prst="rect">
            <a:avLst/>
          </a:prstGeom>
        </p:spPr>
      </p:pic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3178CFF-16BB-491D-8741-1187C5AAD6EE}"/>
              </a:ext>
            </a:extLst>
          </p:cNvPr>
          <p:cNvCxnSpPr>
            <a:cxnSpLocks/>
          </p:cNvCxnSpPr>
          <p:nvPr/>
        </p:nvCxnSpPr>
        <p:spPr>
          <a:xfrm>
            <a:off x="4280452" y="2047261"/>
            <a:ext cx="1312923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6E997C2-81CB-47FF-8ED9-966CCE90ACE7}"/>
              </a:ext>
            </a:extLst>
          </p:cNvPr>
          <p:cNvCxnSpPr>
            <a:cxnSpLocks/>
          </p:cNvCxnSpPr>
          <p:nvPr/>
        </p:nvCxnSpPr>
        <p:spPr>
          <a:xfrm flipH="1" flipV="1">
            <a:off x="4280451" y="2035540"/>
            <a:ext cx="20830" cy="162715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58C75DE5-C691-440E-A744-53FFADCB92D0}"/>
              </a:ext>
            </a:extLst>
          </p:cNvPr>
          <p:cNvSpPr/>
          <p:nvPr/>
        </p:nvSpPr>
        <p:spPr>
          <a:xfrm>
            <a:off x="3332710" y="3624740"/>
            <a:ext cx="89632" cy="75909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285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872A103-CD86-4581-BC04-8C620FC8D5F6}"/>
              </a:ext>
            </a:extLst>
          </p:cNvPr>
          <p:cNvSpPr/>
          <p:nvPr/>
        </p:nvSpPr>
        <p:spPr>
          <a:xfrm>
            <a:off x="445366" y="319117"/>
            <a:ext cx="33746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核心卖点</a:t>
            </a:r>
            <a:r>
              <a:rPr lang="en-US" altLang="zh-CN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   </a:t>
            </a:r>
            <a:r>
              <a:rPr lang="zh-CN" altLang="en-US" sz="2800" dirty="0">
                <a:solidFill>
                  <a:srgbClr val="2C2C2C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方正兰亭准黑简体" charset="-122"/>
              </a:rPr>
              <a:t>节能先锋</a:t>
            </a:r>
            <a:endParaRPr lang="zh-CN" altLang="en-US" sz="2800" dirty="0">
              <a:solidFill>
                <a:srgbClr val="2C2C2C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5CA89B-CDC8-41BA-AE79-94BEA636DA82}"/>
              </a:ext>
            </a:extLst>
          </p:cNvPr>
          <p:cNvSpPr/>
          <p:nvPr/>
        </p:nvSpPr>
        <p:spPr>
          <a:xfrm flipH="1">
            <a:off x="2105069" y="436727"/>
            <a:ext cx="18000" cy="288000"/>
          </a:xfrm>
          <a:prstGeom prst="rect">
            <a:avLst/>
          </a:prstGeom>
          <a:solidFill>
            <a:srgbClr val="213C84"/>
          </a:solidFill>
          <a:ln>
            <a:solidFill>
              <a:srgbClr val="0139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286960-1EE9-48DE-811E-F172E9879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732" b="92516" l="8125" r="90000">
                        <a14:foregroundMark x1="8281" y1="50936" x2="9844" y2="62578"/>
                        <a14:foregroundMark x1="48750" y1="92516" x2="55625" y2="91684"/>
                        <a14:foregroundMark x1="25625" y1="30769" x2="26719" y2="30146"/>
                        <a14:foregroundMark x1="29063" y1="28898" x2="29531" y2="28690"/>
                        <a14:foregroundMark x1="27656" y1="28898" x2="24844" y2="30353"/>
                        <a14:foregroundMark x1="29063" y1="24116" x2="29063" y2="24116"/>
                        <a14:foregroundMark x1="29063" y1="23493" x2="29063" y2="23493"/>
                        <a14:foregroundMark x1="31563" y1="21206" x2="31563" y2="21206"/>
                        <a14:foregroundMark x1="32188" y1="20582" x2="32188" y2="20582"/>
                        <a14:foregroundMark x1="35000" y1="18295" x2="35625" y2="17879"/>
                        <a14:foregroundMark x1="37656" y1="16424" x2="37656" y2="16424"/>
                        <a14:foregroundMark x1="37656" y1="16424" x2="37656" y2="16424"/>
                        <a14:foregroundMark x1="39375" y1="15177" x2="42969" y2="12682"/>
                        <a14:foregroundMark x1="44063" y1="11227" x2="44063" y2="11227"/>
                        <a14:foregroundMark x1="45000" y1="10395" x2="45625" y2="9563"/>
                        <a14:foregroundMark x1="45938" y1="9563" x2="29531" y2="23077"/>
                        <a14:foregroundMark x1="45469" y1="9563" x2="48594" y2="8732"/>
                        <a14:foregroundMark x1="48594" y1="8732" x2="48594" y2="8732"/>
                        <a14:foregroundMark x1="48594" y1="8732" x2="48594" y2="10603"/>
                        <a14:foregroundMark x1="60000" y1="18087" x2="65469" y2="2432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88610" y="593347"/>
            <a:ext cx="2605149" cy="195793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D596EF2-7D3C-41AE-AD86-1168892EA4C1}"/>
              </a:ext>
            </a:extLst>
          </p:cNvPr>
          <p:cNvSpPr txBox="1"/>
          <p:nvPr/>
        </p:nvSpPr>
        <p:spPr>
          <a:xfrm>
            <a:off x="474841" y="927917"/>
            <a:ext cx="609600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应用示例：仓储仓库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安装高度：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布灯间距：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5*5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总布灯数：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面积：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50*50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灯具选型：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LTP09100023-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品皓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100W-5700K-90°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2A2B173-1A2B-437C-B650-84AE4D7CB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115" y="2832727"/>
            <a:ext cx="4724141" cy="281590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ED534EA4-A451-444C-AC89-6A29E6306A58}"/>
              </a:ext>
            </a:extLst>
          </p:cNvPr>
          <p:cNvSpPr txBox="1"/>
          <p:nvPr/>
        </p:nvSpPr>
        <p:spPr>
          <a:xfrm>
            <a:off x="2193740" y="5930083"/>
            <a:ext cx="80899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考虑仓储仓库地面照度需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&gt;300lx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，品皓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352lx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可满足照度要求，均匀度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0.53</a:t>
            </a: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可同点位替换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150W-200W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的传统金卤灯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A91BC48-EE67-4586-ACB7-9204E9237FE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6175" y="2938353"/>
            <a:ext cx="2480131" cy="237729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D5E495C-CE48-42B7-9501-782D248DC3A5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9781" y="3334324"/>
            <a:ext cx="2814756" cy="203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340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4615A3B-9432-7441-9356-94AB44D0FFBC}"/>
              </a:ext>
            </a:extLst>
          </p:cNvPr>
          <p:cNvSpPr/>
          <p:nvPr/>
        </p:nvSpPr>
        <p:spPr>
          <a:xfrm>
            <a:off x="445366" y="319117"/>
            <a:ext cx="35173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安装说明   </a:t>
            </a:r>
            <a:r>
              <a:rPr lang="zh-CN" altLang="en-US" sz="2800" dirty="0">
                <a:solidFill>
                  <a:srgbClr val="2C2C2C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方正兰亭准黑简体" charset="-122"/>
              </a:rPr>
              <a:t>挂钩</a:t>
            </a:r>
            <a:r>
              <a:rPr lang="en-US" altLang="zh-CN" sz="2800" dirty="0">
                <a:solidFill>
                  <a:srgbClr val="2C2C2C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方正兰亭准黑简体" charset="-122"/>
              </a:rPr>
              <a:t>/</a:t>
            </a:r>
            <a:r>
              <a:rPr lang="zh-CN" altLang="en-US" sz="2800" dirty="0">
                <a:solidFill>
                  <a:srgbClr val="2C2C2C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方正兰亭准黑简体" charset="-122"/>
              </a:rPr>
              <a:t>吊杆</a:t>
            </a:r>
            <a:endParaRPr lang="zh-CN" altLang="en-US" sz="2800" dirty="0">
              <a:solidFill>
                <a:srgbClr val="2C2C2C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DF8774-6490-6F40-BEB2-07911EEA697E}"/>
              </a:ext>
            </a:extLst>
          </p:cNvPr>
          <p:cNvSpPr/>
          <p:nvPr/>
        </p:nvSpPr>
        <p:spPr>
          <a:xfrm flipH="1">
            <a:off x="2105069" y="436727"/>
            <a:ext cx="18000" cy="288000"/>
          </a:xfrm>
          <a:prstGeom prst="rect">
            <a:avLst/>
          </a:prstGeom>
          <a:solidFill>
            <a:srgbClr val="213C84"/>
          </a:solidFill>
          <a:ln>
            <a:solidFill>
              <a:srgbClr val="0139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0130E6-FA3F-4399-B193-3F489371A6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609600" y="959947"/>
            <a:ext cx="10972800" cy="54578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19622BA-7BB1-4DE4-99B7-C4491BC08E3C}"/>
              </a:ext>
            </a:extLst>
          </p:cNvPr>
          <p:cNvSpPr txBox="1"/>
          <p:nvPr/>
        </p:nvSpPr>
        <p:spPr>
          <a:xfrm>
            <a:off x="5795360" y="626388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599005000700</a:t>
            </a:r>
            <a:r>
              <a:rPr lang="en-US" altLang="zh-CN" sz="1400" dirty="0"/>
              <a:t> 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天棚灯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配件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吊杆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(Rp1/2-14)-L300</a:t>
            </a:r>
            <a:r>
              <a:rPr lang="en-US" altLang="zh-CN" sz="1400" dirty="0"/>
              <a:t> 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88996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4615A3B-9432-7441-9356-94AB44D0FFBC}"/>
              </a:ext>
            </a:extLst>
          </p:cNvPr>
          <p:cNvSpPr/>
          <p:nvPr/>
        </p:nvSpPr>
        <p:spPr>
          <a:xfrm>
            <a:off x="445366" y="319117"/>
            <a:ext cx="26564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安装说明   </a:t>
            </a:r>
            <a:r>
              <a:rPr lang="zh-CN" altLang="en-US" sz="2800" dirty="0">
                <a:solidFill>
                  <a:srgbClr val="2C2C2C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方正兰亭准黑简体" charset="-122"/>
              </a:rPr>
              <a:t>吊链</a:t>
            </a:r>
            <a:endParaRPr lang="zh-CN" altLang="en-US" sz="2800" dirty="0">
              <a:solidFill>
                <a:srgbClr val="2C2C2C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DF8774-6490-6F40-BEB2-07911EEA697E}"/>
              </a:ext>
            </a:extLst>
          </p:cNvPr>
          <p:cNvSpPr/>
          <p:nvPr/>
        </p:nvSpPr>
        <p:spPr>
          <a:xfrm flipH="1">
            <a:off x="2105069" y="436727"/>
            <a:ext cx="18000" cy="288000"/>
          </a:xfrm>
          <a:prstGeom prst="rect">
            <a:avLst/>
          </a:prstGeom>
          <a:solidFill>
            <a:srgbClr val="213C84"/>
          </a:solidFill>
          <a:ln>
            <a:solidFill>
              <a:srgbClr val="0139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47D057-6335-42D3-AE6C-7F3F73C7AE1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5366" y="1327909"/>
            <a:ext cx="10982773" cy="365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712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04A4202-EF5F-7A4F-9161-C3DEB4535C4A}"/>
              </a:ext>
            </a:extLst>
          </p:cNvPr>
          <p:cNvSpPr/>
          <p:nvPr/>
        </p:nvSpPr>
        <p:spPr>
          <a:xfrm>
            <a:off x="445366" y="319117"/>
            <a:ext cx="33746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订货信息</a:t>
            </a:r>
            <a:r>
              <a:rPr lang="en-US" altLang="zh-CN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   </a:t>
            </a:r>
            <a:r>
              <a:rPr lang="zh-CN" altLang="en-US" sz="2800" dirty="0">
                <a:solidFill>
                  <a:srgbClr val="2C2C2C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方正兰亭准黑简体" charset="-122"/>
              </a:rPr>
              <a:t>产品代码</a:t>
            </a:r>
            <a:endParaRPr lang="zh-CN" altLang="en-US" sz="2800" dirty="0">
              <a:solidFill>
                <a:srgbClr val="2C2C2C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B34DB3-648C-5041-914A-7A21F07B2248}"/>
              </a:ext>
            </a:extLst>
          </p:cNvPr>
          <p:cNvSpPr/>
          <p:nvPr/>
        </p:nvSpPr>
        <p:spPr>
          <a:xfrm flipH="1">
            <a:off x="2105069" y="436727"/>
            <a:ext cx="18000" cy="288000"/>
          </a:xfrm>
          <a:prstGeom prst="rect">
            <a:avLst/>
          </a:prstGeom>
          <a:solidFill>
            <a:srgbClr val="213C84"/>
          </a:solidFill>
          <a:ln>
            <a:solidFill>
              <a:srgbClr val="0139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776980"/>
              </p:ext>
            </p:extLst>
          </p:nvPr>
        </p:nvGraphicFramePr>
        <p:xfrm>
          <a:off x="546966" y="893208"/>
          <a:ext cx="10743334" cy="4742362"/>
        </p:xfrm>
        <a:graphic>
          <a:graphicData uri="http://schemas.openxmlformats.org/drawingml/2006/table">
            <a:tbl>
              <a:tblPr firstRow="1" bandRow="1"/>
              <a:tblGrid>
                <a:gridCol w="1587370">
                  <a:extLst>
                    <a:ext uri="{9D8B030D-6E8A-4147-A177-3AD203B41FA5}">
                      <a16:colId xmlns:a16="http://schemas.microsoft.com/office/drawing/2014/main" val="1237790934"/>
                    </a:ext>
                  </a:extLst>
                </a:gridCol>
                <a:gridCol w="3613157">
                  <a:extLst>
                    <a:ext uri="{9D8B030D-6E8A-4147-A177-3AD203B41FA5}">
                      <a16:colId xmlns:a16="http://schemas.microsoft.com/office/drawing/2014/main" val="2932839433"/>
                    </a:ext>
                  </a:extLst>
                </a:gridCol>
                <a:gridCol w="1363455">
                  <a:extLst>
                    <a:ext uri="{9D8B030D-6E8A-4147-A177-3AD203B41FA5}">
                      <a16:colId xmlns:a16="http://schemas.microsoft.com/office/drawing/2014/main" val="195171494"/>
                    </a:ext>
                  </a:extLst>
                </a:gridCol>
                <a:gridCol w="1249834">
                  <a:extLst>
                    <a:ext uri="{9D8B030D-6E8A-4147-A177-3AD203B41FA5}">
                      <a16:colId xmlns:a16="http://schemas.microsoft.com/office/drawing/2014/main" val="2783251236"/>
                    </a:ext>
                  </a:extLst>
                </a:gridCol>
                <a:gridCol w="1464759">
                  <a:extLst>
                    <a:ext uri="{9D8B030D-6E8A-4147-A177-3AD203B41FA5}">
                      <a16:colId xmlns:a16="http://schemas.microsoft.com/office/drawing/2014/main" val="1261137080"/>
                    </a:ext>
                  </a:extLst>
                </a:gridCol>
                <a:gridCol w="1464759">
                  <a:extLst>
                    <a:ext uri="{9D8B030D-6E8A-4147-A177-3AD203B41FA5}">
                      <a16:colId xmlns:a16="http://schemas.microsoft.com/office/drawing/2014/main" val="3369117582"/>
                    </a:ext>
                  </a:extLst>
                </a:gridCol>
              </a:tblGrid>
              <a:tr h="2634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物料代码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物料描述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05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05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色温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05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角度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装箱数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69562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545006000100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LTP09035009-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-35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W-5700K-90°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514350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35W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514350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5700K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514350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813103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545006000200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LTP09050018-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-50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W-5700K-90°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514350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50W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algn="ctr" defTabSz="514350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5700K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996173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545006000300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LTP09070010-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-70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W-5700K-90°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70W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5700K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309225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545006000400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LTP09100023-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-100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W-4000K-90°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100W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4000K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248522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545006000500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LTP09100023-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-100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W-4000K-60°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100W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4000K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038067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545006000600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LTP09100023-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-100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W-5700K-90°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100W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5700K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38890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545006000700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LTP09100023-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-100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W-5700K-60°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100W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5700K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49854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545006000800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LTP09150025-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-150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W-4000K-90°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150W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4000K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219035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545006000900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LTP09150025-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-150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W-4000K-60°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150W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4000K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604032"/>
                  </a:ext>
                </a:extLst>
              </a:tr>
              <a:tr h="2636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545006001000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LTP09150025-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-150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W-5700K-90°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150W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5700K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594668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545006001100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LTP09150025-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-150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W-5700K-60°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150W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5700K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21222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545006001200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LTP09200012-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-200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W-4000K-90°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200W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4000K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609859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545006001300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LTP09200012-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-200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W-4000K-60°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200W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4000K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617185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545006001400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LTP09200012-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-200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W-5700K-90°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200W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5700K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616918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545006001500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LTP09200012-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品皓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-200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W-5700K-60°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200W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5700K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60°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211004"/>
                  </a:ext>
                </a:extLst>
              </a:tr>
              <a:tr h="2634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599005000700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天棚灯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配件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吊杆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Rp1/2-14)-L300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233168"/>
                  </a:ext>
                </a:extLst>
              </a:tr>
              <a:tr h="2634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737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917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4A4202-EF5F-7A4F-9161-C3DEB4535C4A}"/>
              </a:ext>
            </a:extLst>
          </p:cNvPr>
          <p:cNvSpPr/>
          <p:nvPr/>
        </p:nvSpPr>
        <p:spPr>
          <a:xfrm>
            <a:off x="445366" y="319117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2C2C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方正兰亭准黑简体" charset="-122"/>
              </a:rPr>
              <a:t>常见问题解答</a:t>
            </a:r>
            <a:endParaRPr lang="zh-CN" altLang="en-US" sz="2800" dirty="0">
              <a:solidFill>
                <a:srgbClr val="2C2C2C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5366" y="1045373"/>
            <a:ext cx="868557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：是否可用于户外或半户外？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：产品防护等级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IP20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，不适用于户外或半户外。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：接线是否有要求？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：外部输入线请与灯具零火线对应接线，即火线接火线，零线接零线。请勿反接。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：如果使用环境温度过高，超过标注的适用范围，是否会导致灯具损坏？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：欧普自研电源，增加过温保护功能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(OTP)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，不会导致灯具损坏。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：灯具可定制范围？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39013" y="4728489"/>
            <a:ext cx="363749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色温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44985" y="4728489"/>
            <a:ext cx="3532987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出线长度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96572" y="4728489"/>
            <a:ext cx="3637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200W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功率可定制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24541" y="4769103"/>
            <a:ext cx="3532987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灯罩颜色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8070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建筑的摆设布局&#10;&#10;描述已自动生成">
            <a:extLst>
              <a:ext uri="{FF2B5EF4-FFF2-40B4-BE49-F238E27FC236}">
                <a16:creationId xmlns:a16="http://schemas.microsoft.com/office/drawing/2014/main" id="{1FA05F5E-18BD-8A49-B537-C76C6FE6EB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81" t="17321"/>
          <a:stretch/>
        </p:blipFill>
        <p:spPr>
          <a:xfrm>
            <a:off x="0" y="0"/>
            <a:ext cx="9986839" cy="5527497"/>
          </a:xfrm>
          <a:prstGeom prst="rect">
            <a:avLst/>
          </a:prstGeom>
        </p:spPr>
      </p:pic>
      <p:sp>
        <p:nvSpPr>
          <p:cNvPr id="3" name="平行四边形 3">
            <a:extLst>
              <a:ext uri="{FF2B5EF4-FFF2-40B4-BE49-F238E27FC236}">
                <a16:creationId xmlns:a16="http://schemas.microsoft.com/office/drawing/2014/main" id="{B1A43781-579E-AA4F-BE61-894799F6F06D}"/>
              </a:ext>
            </a:extLst>
          </p:cNvPr>
          <p:cNvSpPr/>
          <p:nvPr/>
        </p:nvSpPr>
        <p:spPr>
          <a:xfrm>
            <a:off x="4890051" y="2981739"/>
            <a:ext cx="7354361" cy="3061252"/>
          </a:xfrm>
          <a:custGeom>
            <a:avLst/>
            <a:gdLst>
              <a:gd name="connsiteX0" fmla="*/ 0 w 8083826"/>
              <a:gd name="connsiteY0" fmla="*/ 3061252 h 3061252"/>
              <a:gd name="connsiteX1" fmla="*/ 765313 w 8083826"/>
              <a:gd name="connsiteY1" fmla="*/ 0 h 3061252"/>
              <a:gd name="connsiteX2" fmla="*/ 8083826 w 8083826"/>
              <a:gd name="connsiteY2" fmla="*/ 0 h 3061252"/>
              <a:gd name="connsiteX3" fmla="*/ 7318513 w 8083826"/>
              <a:gd name="connsiteY3" fmla="*/ 3061252 h 3061252"/>
              <a:gd name="connsiteX4" fmla="*/ 0 w 8083826"/>
              <a:gd name="connsiteY4" fmla="*/ 3061252 h 3061252"/>
              <a:gd name="connsiteX0" fmla="*/ 0 w 7354361"/>
              <a:gd name="connsiteY0" fmla="*/ 3061252 h 3061252"/>
              <a:gd name="connsiteX1" fmla="*/ 765313 w 7354361"/>
              <a:gd name="connsiteY1" fmla="*/ 0 h 3061252"/>
              <a:gd name="connsiteX2" fmla="*/ 7354361 w 7354361"/>
              <a:gd name="connsiteY2" fmla="*/ 20549 h 3061252"/>
              <a:gd name="connsiteX3" fmla="*/ 7318513 w 7354361"/>
              <a:gd name="connsiteY3" fmla="*/ 3061252 h 3061252"/>
              <a:gd name="connsiteX4" fmla="*/ 0 w 7354361"/>
              <a:gd name="connsiteY4" fmla="*/ 3061252 h 3061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54361" h="3061252">
                <a:moveTo>
                  <a:pt x="0" y="3061252"/>
                </a:moveTo>
                <a:lnTo>
                  <a:pt x="765313" y="0"/>
                </a:lnTo>
                <a:lnTo>
                  <a:pt x="7354361" y="20549"/>
                </a:lnTo>
                <a:lnTo>
                  <a:pt x="7318513" y="3061252"/>
                </a:lnTo>
                <a:lnTo>
                  <a:pt x="0" y="3061252"/>
                </a:lnTo>
                <a:close/>
              </a:path>
            </a:pathLst>
          </a:custGeom>
          <a:solidFill>
            <a:srgbClr val="0139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324239-267C-ED4D-A90B-BCD056355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221" y="4877323"/>
            <a:ext cx="5811046" cy="42981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7DD858A-3E6E-1C49-9F0F-994A293E0152}"/>
              </a:ext>
            </a:extLst>
          </p:cNvPr>
          <p:cNvSpPr/>
          <p:nvPr/>
        </p:nvSpPr>
        <p:spPr>
          <a:xfrm>
            <a:off x="9199600" y="3521869"/>
            <a:ext cx="30547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" altLang="zh-CN" sz="32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THANK YOU</a:t>
            </a:r>
            <a:endParaRPr lang="zh-CN" altLang="en-US" sz="32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031DFC-B64B-E142-AC19-AE50998EEEBC}"/>
              </a:ext>
            </a:extLst>
          </p:cNvPr>
          <p:cNvSpPr/>
          <p:nvPr/>
        </p:nvSpPr>
        <p:spPr>
          <a:xfrm>
            <a:off x="10125807" y="401493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感谢您的关注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0B9A1307-3190-4B41-9E5F-154F264B30D2}"/>
              </a:ext>
            </a:extLst>
          </p:cNvPr>
          <p:cNvCxnSpPr>
            <a:cxnSpLocks/>
          </p:cNvCxnSpPr>
          <p:nvPr/>
        </p:nvCxnSpPr>
        <p:spPr>
          <a:xfrm>
            <a:off x="5757221" y="4446319"/>
            <a:ext cx="581104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84E3E69A-CE30-4344-B909-9EBF097DF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94" y="370182"/>
            <a:ext cx="1153722" cy="48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85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2722</TotalTime>
  <Words>940</Words>
  <Application>Microsoft Office PowerPoint</Application>
  <PresentationFormat>宽屏</PresentationFormat>
  <Paragraphs>257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FZLanTingHei-EB-GBK</vt:lpstr>
      <vt:lpstr>Microsoft YaHei Light</vt:lpstr>
      <vt:lpstr>等线</vt:lpstr>
      <vt:lpstr>微软雅黑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my7331</dc:creator>
  <cp:lastModifiedBy>guangyu sun(孙光瑀)</cp:lastModifiedBy>
  <cp:revision>149</cp:revision>
  <dcterms:created xsi:type="dcterms:W3CDTF">2021-01-26T06:19:13Z</dcterms:created>
  <dcterms:modified xsi:type="dcterms:W3CDTF">2024-05-30T10:22:36Z</dcterms:modified>
</cp:coreProperties>
</file>