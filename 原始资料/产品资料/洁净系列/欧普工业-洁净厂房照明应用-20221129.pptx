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32941" y="312165"/>
            <a:ext cx="9326117" cy="4679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46A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0" y="669036"/>
            <a:ext cx="12192000" cy="553669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46A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 u="heavy">
                <a:solidFill>
                  <a:srgbClr val="0046A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3965447" y="0"/>
            <a:ext cx="8226551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9528047" y="2609088"/>
            <a:ext cx="2664460" cy="4247515"/>
          </a:xfrm>
          <a:custGeom>
            <a:avLst/>
            <a:gdLst/>
            <a:ahLst/>
            <a:cxnLst/>
            <a:rect l="l" t="t" r="r" b="b"/>
            <a:pathLst>
              <a:path w="2664459" h="4247515">
                <a:moveTo>
                  <a:pt x="2663952" y="0"/>
                </a:moveTo>
                <a:lnTo>
                  <a:pt x="0" y="4247387"/>
                </a:lnTo>
                <a:lnTo>
                  <a:pt x="2663952" y="4247387"/>
                </a:lnTo>
                <a:lnTo>
                  <a:pt x="2663952" y="0"/>
                </a:lnTo>
                <a:close/>
              </a:path>
            </a:pathLst>
          </a:custGeom>
          <a:solidFill>
            <a:srgbClr val="1D3E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4094107" y="0"/>
            <a:ext cx="3995420" cy="6858000"/>
          </a:xfrm>
          <a:custGeom>
            <a:avLst/>
            <a:gdLst/>
            <a:ahLst/>
            <a:cxnLst/>
            <a:rect l="l" t="t" r="r" b="b"/>
            <a:pathLst>
              <a:path w="3995420" h="6858000">
                <a:moveTo>
                  <a:pt x="0" y="6857999"/>
                </a:moveTo>
                <a:lnTo>
                  <a:pt x="3995357" y="0"/>
                </a:lnTo>
              </a:path>
            </a:pathLst>
          </a:custGeom>
          <a:ln w="3200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k object 19"/>
          <p:cNvSpPr/>
          <p:nvPr/>
        </p:nvSpPr>
        <p:spPr>
          <a:xfrm>
            <a:off x="9566909" y="0"/>
            <a:ext cx="2233295" cy="3828415"/>
          </a:xfrm>
          <a:custGeom>
            <a:avLst/>
            <a:gdLst/>
            <a:ahLst/>
            <a:cxnLst/>
            <a:rect l="l" t="t" r="r" b="b"/>
            <a:pathLst>
              <a:path w="2233295" h="3828415">
                <a:moveTo>
                  <a:pt x="0" y="3828288"/>
                </a:moveTo>
                <a:lnTo>
                  <a:pt x="2233231" y="0"/>
                </a:lnTo>
              </a:path>
            </a:pathLst>
          </a:custGeom>
          <a:ln w="3200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k object 20"/>
          <p:cNvSpPr/>
          <p:nvPr/>
        </p:nvSpPr>
        <p:spPr>
          <a:xfrm>
            <a:off x="6746747" y="502284"/>
            <a:ext cx="522605" cy="810895"/>
          </a:xfrm>
          <a:custGeom>
            <a:avLst/>
            <a:gdLst/>
            <a:ahLst/>
            <a:cxnLst/>
            <a:rect l="l" t="t" r="r" b="b"/>
            <a:pathLst>
              <a:path w="522604" h="810894">
                <a:moveTo>
                  <a:pt x="442213" y="0"/>
                </a:moveTo>
                <a:lnTo>
                  <a:pt x="0" y="764413"/>
                </a:lnTo>
                <a:lnTo>
                  <a:pt x="80263" y="810894"/>
                </a:lnTo>
                <a:lnTo>
                  <a:pt x="522477" y="46354"/>
                </a:lnTo>
                <a:lnTo>
                  <a:pt x="442213" y="0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bk object 21"/>
          <p:cNvSpPr/>
          <p:nvPr/>
        </p:nvSpPr>
        <p:spPr>
          <a:xfrm>
            <a:off x="6737857" y="949071"/>
            <a:ext cx="522605" cy="810895"/>
          </a:xfrm>
          <a:custGeom>
            <a:avLst/>
            <a:gdLst/>
            <a:ahLst/>
            <a:cxnLst/>
            <a:rect l="l" t="t" r="r" b="b"/>
            <a:pathLst>
              <a:path w="522604" h="810894">
                <a:moveTo>
                  <a:pt x="442214" y="0"/>
                </a:moveTo>
                <a:lnTo>
                  <a:pt x="0" y="764413"/>
                </a:lnTo>
                <a:lnTo>
                  <a:pt x="80264" y="810894"/>
                </a:lnTo>
                <a:lnTo>
                  <a:pt x="522477" y="46354"/>
                </a:lnTo>
                <a:lnTo>
                  <a:pt x="442214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k object 22"/>
          <p:cNvSpPr/>
          <p:nvPr/>
        </p:nvSpPr>
        <p:spPr>
          <a:xfrm>
            <a:off x="7152131" y="675386"/>
            <a:ext cx="522605" cy="810895"/>
          </a:xfrm>
          <a:custGeom>
            <a:avLst/>
            <a:gdLst/>
            <a:ahLst/>
            <a:cxnLst/>
            <a:rect l="l" t="t" r="r" b="b"/>
            <a:pathLst>
              <a:path w="522604" h="810894">
                <a:moveTo>
                  <a:pt x="442214" y="0"/>
                </a:moveTo>
                <a:lnTo>
                  <a:pt x="0" y="764413"/>
                </a:lnTo>
                <a:lnTo>
                  <a:pt x="80264" y="810894"/>
                </a:lnTo>
                <a:lnTo>
                  <a:pt x="522477" y="46481"/>
                </a:lnTo>
                <a:lnTo>
                  <a:pt x="442214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k object 23"/>
          <p:cNvSpPr/>
          <p:nvPr/>
        </p:nvSpPr>
        <p:spPr>
          <a:xfrm>
            <a:off x="0" y="0"/>
            <a:ext cx="2273935" cy="3609340"/>
          </a:xfrm>
          <a:custGeom>
            <a:avLst/>
            <a:gdLst/>
            <a:ahLst/>
            <a:cxnLst/>
            <a:rect l="l" t="t" r="r" b="b"/>
            <a:pathLst>
              <a:path w="2273935" h="3609340">
                <a:moveTo>
                  <a:pt x="2273808" y="0"/>
                </a:moveTo>
                <a:lnTo>
                  <a:pt x="0" y="0"/>
                </a:lnTo>
                <a:lnTo>
                  <a:pt x="0" y="3608831"/>
                </a:lnTo>
                <a:lnTo>
                  <a:pt x="2273808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bk object 24"/>
          <p:cNvSpPr/>
          <p:nvPr/>
        </p:nvSpPr>
        <p:spPr>
          <a:xfrm>
            <a:off x="915924" y="3918203"/>
            <a:ext cx="5840095" cy="1917700"/>
          </a:xfrm>
          <a:custGeom>
            <a:avLst/>
            <a:gdLst/>
            <a:ahLst/>
            <a:cxnLst/>
            <a:rect l="l" t="t" r="r" b="b"/>
            <a:pathLst>
              <a:path w="5840095" h="1917700">
                <a:moveTo>
                  <a:pt x="5839968" y="0"/>
                </a:moveTo>
                <a:lnTo>
                  <a:pt x="479297" y="0"/>
                </a:lnTo>
                <a:lnTo>
                  <a:pt x="0" y="1917192"/>
                </a:lnTo>
                <a:lnTo>
                  <a:pt x="5360670" y="1917192"/>
                </a:lnTo>
                <a:lnTo>
                  <a:pt x="5839968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62482" y="561289"/>
            <a:ext cx="11067034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 u="heavy">
                <a:solidFill>
                  <a:srgbClr val="0046AA"/>
                </a:solidFill>
                <a:latin typeface="微软雅黑"/>
                <a:cs typeface="微软雅黑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25320" y="1726183"/>
            <a:ext cx="9341358" cy="435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237947" y="6502780"/>
            <a:ext cx="12700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jp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jpg"/><Relationship Id="rId5" Type="http://schemas.openxmlformats.org/officeDocument/2006/relationships/image" Target="../media/image26.png"/><Relationship Id="rId6" Type="http://schemas.openxmlformats.org/officeDocument/2006/relationships/image" Target="../media/image27.jp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jpg"/><Relationship Id="rId13" Type="http://schemas.openxmlformats.org/officeDocument/2006/relationships/image" Target="../media/image34.pn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jpg"/><Relationship Id="rId17" Type="http://schemas.openxmlformats.org/officeDocument/2006/relationships/image" Target="../media/image38.jpg"/><Relationship Id="rId18" Type="http://schemas.openxmlformats.org/officeDocument/2006/relationships/image" Target="../media/image39.png"/><Relationship Id="rId19" Type="http://schemas.openxmlformats.org/officeDocument/2006/relationships/image" Target="../media/image40.png"/><Relationship Id="rId20" Type="http://schemas.openxmlformats.org/officeDocument/2006/relationships/image" Target="../media/image41.png"/><Relationship Id="rId21" Type="http://schemas.openxmlformats.org/officeDocument/2006/relationships/image" Target="../media/image4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png"/><Relationship Id="rId4" Type="http://schemas.openxmlformats.org/officeDocument/2006/relationships/image" Target="../media/image45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.jpg"/><Relationship Id="rId3" Type="http://schemas.openxmlformats.org/officeDocument/2006/relationships/image" Target="../media/image47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png"/><Relationship Id="rId4" Type="http://schemas.openxmlformats.org/officeDocument/2006/relationships/image" Target="../media/image50.jpg"/><Relationship Id="rId5" Type="http://schemas.openxmlformats.org/officeDocument/2006/relationships/image" Target="../media/image5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Relationship Id="rId3" Type="http://schemas.openxmlformats.org/officeDocument/2006/relationships/image" Target="../media/image53.png"/><Relationship Id="rId4" Type="http://schemas.openxmlformats.org/officeDocument/2006/relationships/image" Target="../media/image54.jpg"/><Relationship Id="rId5" Type="http://schemas.openxmlformats.org/officeDocument/2006/relationships/image" Target="../media/image55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Relationship Id="rId3" Type="http://schemas.openxmlformats.org/officeDocument/2006/relationships/image" Target="../media/image57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Relationship Id="rId10" Type="http://schemas.openxmlformats.org/officeDocument/2006/relationships/image" Target="../media/image64.png"/><Relationship Id="rId11" Type="http://schemas.openxmlformats.org/officeDocument/2006/relationships/image" Target="../media/image65.png"/><Relationship Id="rId12" Type="http://schemas.openxmlformats.org/officeDocument/2006/relationships/image" Target="../media/image66.png"/><Relationship Id="rId13" Type="http://schemas.openxmlformats.org/officeDocument/2006/relationships/image" Target="../media/image67.png"/><Relationship Id="rId14" Type="http://schemas.openxmlformats.org/officeDocument/2006/relationships/image" Target="../media/image68.png"/><Relationship Id="rId15" Type="http://schemas.openxmlformats.org/officeDocument/2006/relationships/image" Target="../media/image6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jpg"/><Relationship Id="rId4" Type="http://schemas.openxmlformats.org/officeDocument/2006/relationships/image" Target="../media/image72.png"/><Relationship Id="rId5" Type="http://schemas.openxmlformats.org/officeDocument/2006/relationships/image" Target="../media/image7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image" Target="../media/image7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Relationship Id="rId3" Type="http://schemas.openxmlformats.org/officeDocument/2006/relationships/image" Target="../media/image87.png"/><Relationship Id="rId4" Type="http://schemas.openxmlformats.org/officeDocument/2006/relationships/image" Target="../media/image88.png"/><Relationship Id="rId5" Type="http://schemas.openxmlformats.org/officeDocument/2006/relationships/image" Target="../media/image89.png"/><Relationship Id="rId6" Type="http://schemas.openxmlformats.org/officeDocument/2006/relationships/image" Target="../media/image90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png"/><Relationship Id="rId3" Type="http://schemas.openxmlformats.org/officeDocument/2006/relationships/image" Target="../media/image102.png"/><Relationship Id="rId4" Type="http://schemas.openxmlformats.org/officeDocument/2006/relationships/image" Target="../media/image103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4.jpg"/><Relationship Id="rId3" Type="http://schemas.openxmlformats.org/officeDocument/2006/relationships/image" Target="../media/image105.jpg"/><Relationship Id="rId4" Type="http://schemas.openxmlformats.org/officeDocument/2006/relationships/image" Target="../media/image106.jpg"/><Relationship Id="rId5" Type="http://schemas.openxmlformats.org/officeDocument/2006/relationships/image" Target="../media/image107.jpg"/><Relationship Id="rId6" Type="http://schemas.openxmlformats.org/officeDocument/2006/relationships/image" Target="../media/image108.jpg"/><Relationship Id="rId7" Type="http://schemas.openxmlformats.org/officeDocument/2006/relationships/image" Target="../media/image109.jpg"/><Relationship Id="rId8" Type="http://schemas.openxmlformats.org/officeDocument/2006/relationships/image" Target="../media/image110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1.jpg"/><Relationship Id="rId3" Type="http://schemas.openxmlformats.org/officeDocument/2006/relationships/image" Target="../media/image112.png"/><Relationship Id="rId4" Type="http://schemas.openxmlformats.org/officeDocument/2006/relationships/image" Target="../media/image113.png"/><Relationship Id="rId5" Type="http://schemas.openxmlformats.org/officeDocument/2006/relationships/image" Target="../media/image114.png"/><Relationship Id="rId6" Type="http://schemas.openxmlformats.org/officeDocument/2006/relationships/image" Target="../media/image115.png"/><Relationship Id="rId7" Type="http://schemas.openxmlformats.org/officeDocument/2006/relationships/image" Target="../media/image116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Relationship Id="rId3" Type="http://schemas.openxmlformats.org/officeDocument/2006/relationships/image" Target="../media/image118.jpg"/><Relationship Id="rId4" Type="http://schemas.openxmlformats.org/officeDocument/2006/relationships/image" Target="../media/image119.png"/><Relationship Id="rId5" Type="http://schemas.openxmlformats.org/officeDocument/2006/relationships/image" Target="../media/image120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3.png"/><Relationship Id="rId3" Type="http://schemas.openxmlformats.org/officeDocument/2006/relationships/image" Target="../media/image124.jpg"/><Relationship Id="rId4" Type="http://schemas.openxmlformats.org/officeDocument/2006/relationships/image" Target="../media/image125.jpg"/><Relationship Id="rId5" Type="http://schemas.openxmlformats.org/officeDocument/2006/relationships/image" Target="../media/image126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Relationship Id="rId5" Type="http://schemas.openxmlformats.org/officeDocument/2006/relationships/image" Target="../media/image130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1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4.png"/><Relationship Id="rId3" Type="http://schemas.openxmlformats.org/officeDocument/2006/relationships/image" Target="../media/image135.png"/><Relationship Id="rId4" Type="http://schemas.openxmlformats.org/officeDocument/2006/relationships/image" Target="../media/image136.png"/><Relationship Id="rId5" Type="http://schemas.openxmlformats.org/officeDocument/2006/relationships/image" Target="../media/image137.png"/><Relationship Id="rId6" Type="http://schemas.openxmlformats.org/officeDocument/2006/relationships/image" Target="../media/image138.png"/><Relationship Id="rId7" Type="http://schemas.openxmlformats.org/officeDocument/2006/relationships/image" Target="../media/image139.png"/><Relationship Id="rId8" Type="http://schemas.openxmlformats.org/officeDocument/2006/relationships/image" Target="../media/image140.png"/><Relationship Id="rId9" Type="http://schemas.openxmlformats.org/officeDocument/2006/relationships/image" Target="../media/image141.png"/><Relationship Id="rId10" Type="http://schemas.openxmlformats.org/officeDocument/2006/relationships/image" Target="../media/image14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144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3" Type="http://schemas.openxmlformats.org/officeDocument/2006/relationships/image" Target="../media/image146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3" Type="http://schemas.openxmlformats.org/officeDocument/2006/relationships/image" Target="../media/image148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151.png"/><Relationship Id="rId7" Type="http://schemas.openxmlformats.org/officeDocument/2006/relationships/image" Target="../media/image152.png"/><Relationship Id="rId8" Type="http://schemas.openxmlformats.org/officeDocument/2006/relationships/image" Target="../media/image153.png"/><Relationship Id="rId9" Type="http://schemas.openxmlformats.org/officeDocument/2006/relationships/image" Target="../media/image154.png"/><Relationship Id="rId10" Type="http://schemas.openxmlformats.org/officeDocument/2006/relationships/image" Target="../media/image155.png"/><Relationship Id="rId11" Type="http://schemas.openxmlformats.org/officeDocument/2006/relationships/image" Target="../media/image156.png"/><Relationship Id="rId12" Type="http://schemas.openxmlformats.org/officeDocument/2006/relationships/image" Target="../media/image157.png"/><Relationship Id="rId13" Type="http://schemas.openxmlformats.org/officeDocument/2006/relationships/image" Target="../media/image158.png"/><Relationship Id="rId14" Type="http://schemas.openxmlformats.org/officeDocument/2006/relationships/image" Target="../media/image159.png"/><Relationship Id="rId15" Type="http://schemas.openxmlformats.org/officeDocument/2006/relationships/image" Target="../media/image160.png"/><Relationship Id="rId16" Type="http://schemas.openxmlformats.org/officeDocument/2006/relationships/image" Target="../media/image161.png"/><Relationship Id="rId17" Type="http://schemas.openxmlformats.org/officeDocument/2006/relationships/image" Target="../media/image162.png"/><Relationship Id="rId18" Type="http://schemas.openxmlformats.org/officeDocument/2006/relationships/image" Target="../media/image163.png"/><Relationship Id="rId19" Type="http://schemas.openxmlformats.org/officeDocument/2006/relationships/image" Target="../media/image164.png"/><Relationship Id="rId20" Type="http://schemas.openxmlformats.org/officeDocument/2006/relationships/image" Target="../media/image165.png"/><Relationship Id="rId21" Type="http://schemas.openxmlformats.org/officeDocument/2006/relationships/image" Target="../media/image166.png"/><Relationship Id="rId22" Type="http://schemas.openxmlformats.org/officeDocument/2006/relationships/image" Target="../media/image167.png"/><Relationship Id="rId23" Type="http://schemas.openxmlformats.org/officeDocument/2006/relationships/image" Target="../media/image168.png"/><Relationship Id="rId24" Type="http://schemas.openxmlformats.org/officeDocument/2006/relationships/image" Target="../media/image169.png"/><Relationship Id="rId25" Type="http://schemas.openxmlformats.org/officeDocument/2006/relationships/image" Target="../media/image170.png"/><Relationship Id="rId26" Type="http://schemas.openxmlformats.org/officeDocument/2006/relationships/image" Target="../media/image171.png"/><Relationship Id="rId27" Type="http://schemas.openxmlformats.org/officeDocument/2006/relationships/image" Target="../media/image172.png"/><Relationship Id="rId28" Type="http://schemas.openxmlformats.org/officeDocument/2006/relationships/image" Target="../media/image173.png"/><Relationship Id="rId29" Type="http://schemas.openxmlformats.org/officeDocument/2006/relationships/image" Target="../media/image174.png"/><Relationship Id="rId30" Type="http://schemas.openxmlformats.org/officeDocument/2006/relationships/image" Target="../media/image175.png"/><Relationship Id="rId31" Type="http://schemas.openxmlformats.org/officeDocument/2006/relationships/image" Target="../media/image176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7.png"/><Relationship Id="rId3" Type="http://schemas.openxmlformats.org/officeDocument/2006/relationships/image" Target="../media/image178.png"/><Relationship Id="rId4" Type="http://schemas.openxmlformats.org/officeDocument/2006/relationships/image" Target="../media/image179.png"/><Relationship Id="rId5" Type="http://schemas.openxmlformats.org/officeDocument/2006/relationships/image" Target="../media/image180.jpg"/><Relationship Id="rId6" Type="http://schemas.openxmlformats.org/officeDocument/2006/relationships/image" Target="../media/image181.jpg"/><Relationship Id="rId7" Type="http://schemas.openxmlformats.org/officeDocument/2006/relationships/image" Target="../media/image182.jpg"/><Relationship Id="rId8" Type="http://schemas.openxmlformats.org/officeDocument/2006/relationships/image" Target="../media/image183.png"/><Relationship Id="rId9" Type="http://schemas.openxmlformats.org/officeDocument/2006/relationships/image" Target="../media/image184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5.png"/><Relationship Id="rId3" Type="http://schemas.openxmlformats.org/officeDocument/2006/relationships/image" Target="../media/image186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7.jpg"/><Relationship Id="rId3" Type="http://schemas.openxmlformats.org/officeDocument/2006/relationships/image" Target="../media/image188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9.jpg"/><Relationship Id="rId3" Type="http://schemas.openxmlformats.org/officeDocument/2006/relationships/image" Target="../media/image190.png"/><Relationship Id="rId4" Type="http://schemas.openxmlformats.org/officeDocument/2006/relationships/image" Target="../media/image191.png"/><Relationship Id="rId5" Type="http://schemas.openxmlformats.org/officeDocument/2006/relationships/image" Target="../media/image192.png"/><Relationship Id="rId6" Type="http://schemas.openxmlformats.org/officeDocument/2006/relationships/image" Target="../media/image193.png"/><Relationship Id="rId7" Type="http://schemas.openxmlformats.org/officeDocument/2006/relationships/image" Target="../media/image194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5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6.png"/><Relationship Id="rId3" Type="http://schemas.openxmlformats.org/officeDocument/2006/relationships/image" Target="../media/image197.png"/><Relationship Id="rId4" Type="http://schemas.openxmlformats.org/officeDocument/2006/relationships/image" Target="../media/image198.png"/><Relationship Id="rId5" Type="http://schemas.openxmlformats.org/officeDocument/2006/relationships/image" Target="../media/image199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0.png"/><Relationship Id="rId3" Type="http://schemas.openxmlformats.org/officeDocument/2006/relationships/image" Target="../media/image201.png"/><Relationship Id="rId4" Type="http://schemas.openxmlformats.org/officeDocument/2006/relationships/image" Target="../media/image202.png"/><Relationship Id="rId5" Type="http://schemas.openxmlformats.org/officeDocument/2006/relationships/image" Target="../media/image203.png"/><Relationship Id="rId6" Type="http://schemas.openxmlformats.org/officeDocument/2006/relationships/image" Target="../media/image204.png"/><Relationship Id="rId7" Type="http://schemas.openxmlformats.org/officeDocument/2006/relationships/image" Target="../media/image205.png"/><Relationship Id="rId8" Type="http://schemas.openxmlformats.org/officeDocument/2006/relationships/image" Target="../media/image206.jpg"/><Relationship Id="rId9" Type="http://schemas.openxmlformats.org/officeDocument/2006/relationships/image" Target="../media/image207.jpg"/><Relationship Id="rId10" Type="http://schemas.openxmlformats.org/officeDocument/2006/relationships/image" Target="../media/image208.png"/><Relationship Id="rId11" Type="http://schemas.openxmlformats.org/officeDocument/2006/relationships/image" Target="../media/image209.jpg"/><Relationship Id="rId12" Type="http://schemas.openxmlformats.org/officeDocument/2006/relationships/image" Target="../media/image210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1.png"/><Relationship Id="rId3" Type="http://schemas.openxmlformats.org/officeDocument/2006/relationships/image" Target="../media/image212.png"/><Relationship Id="rId4" Type="http://schemas.openxmlformats.org/officeDocument/2006/relationships/image" Target="../media/image213.png"/><Relationship Id="rId5" Type="http://schemas.openxmlformats.org/officeDocument/2006/relationships/image" Target="../media/image214.png"/><Relationship Id="rId6" Type="http://schemas.openxmlformats.org/officeDocument/2006/relationships/image" Target="../media/image215.jpg"/><Relationship Id="rId7" Type="http://schemas.openxmlformats.org/officeDocument/2006/relationships/image" Target="../media/image216.jpg"/><Relationship Id="rId8" Type="http://schemas.openxmlformats.org/officeDocument/2006/relationships/image" Target="../media/image217.png"/><Relationship Id="rId9" Type="http://schemas.openxmlformats.org/officeDocument/2006/relationships/image" Target="../media/image218.png"/><Relationship Id="rId10" Type="http://schemas.openxmlformats.org/officeDocument/2006/relationships/image" Target="../media/image219.png"/><Relationship Id="rId11" Type="http://schemas.openxmlformats.org/officeDocument/2006/relationships/image" Target="../media/image220.png"/><Relationship Id="rId12" Type="http://schemas.openxmlformats.org/officeDocument/2006/relationships/image" Target="../media/image221.png"/><Relationship Id="rId13" Type="http://schemas.openxmlformats.org/officeDocument/2006/relationships/image" Target="../media/image222.png"/><Relationship Id="rId14" Type="http://schemas.openxmlformats.org/officeDocument/2006/relationships/image" Target="../media/image223.png"/><Relationship Id="rId15" Type="http://schemas.openxmlformats.org/officeDocument/2006/relationships/image" Target="../media/image224.png"/><Relationship Id="rId16" Type="http://schemas.openxmlformats.org/officeDocument/2006/relationships/image" Target="../media/image225.png"/><Relationship Id="rId17" Type="http://schemas.openxmlformats.org/officeDocument/2006/relationships/image" Target="../media/image226.png"/><Relationship Id="rId18" Type="http://schemas.openxmlformats.org/officeDocument/2006/relationships/image" Target="../media/image227.png"/><Relationship Id="rId19" Type="http://schemas.openxmlformats.org/officeDocument/2006/relationships/image" Target="../media/image228.png"/><Relationship Id="rId20" Type="http://schemas.openxmlformats.org/officeDocument/2006/relationships/image" Target="../media/image229.jp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0.jpg"/><Relationship Id="rId3" Type="http://schemas.openxmlformats.org/officeDocument/2006/relationships/image" Target="../media/image231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2.jpg"/><Relationship Id="rId3" Type="http://schemas.openxmlformats.org/officeDocument/2006/relationships/image" Target="../media/image233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intersales@opple.com" TargetMode="External"/><Relationship Id="rId3" Type="http://schemas.openxmlformats.org/officeDocument/2006/relationships/hyperlink" Target="mailto:public@opple.com" TargetMode="External"/><Relationship Id="rId4" Type="http://schemas.openxmlformats.org/officeDocument/2006/relationships/image" Target="../media/image234.png"/><Relationship Id="rId5" Type="http://schemas.openxmlformats.org/officeDocument/2006/relationships/image" Target="../media/image235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932031" y="6594008"/>
            <a:ext cx="74295" cy="1670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1000" spc="-5">
                <a:latin typeface="微软雅黑"/>
                <a:cs typeface="微软雅黑"/>
              </a:rPr>
              <a:t>1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0"/>
            <a:ext cx="12191999" cy="68579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932031" y="6594008"/>
            <a:ext cx="74295" cy="16700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1000" spc="-5">
                <a:latin typeface="微软雅黑"/>
                <a:cs typeface="微软雅黑"/>
              </a:rPr>
              <a:t>1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0" y="0"/>
            <a:ext cx="12191999" cy="68579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76783" y="5407558"/>
            <a:ext cx="225552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7E7E7E"/>
                </a:solidFill>
                <a:latin typeface="微软雅黑"/>
                <a:cs typeface="微软雅黑"/>
              </a:rPr>
              <a:t>打造全球化领先照明品牌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2236" y="4221607"/>
            <a:ext cx="7134859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b="1">
                <a:latin typeface="微软雅黑"/>
                <a:cs typeface="微软雅黑"/>
              </a:rPr>
              <a:t>欧普工业-洁净厂房照明应用</a:t>
            </a:r>
            <a:endParaRPr sz="45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93191" y="330708"/>
            <a:ext cx="952500" cy="2087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74548" y="3575303"/>
            <a:ext cx="771525" cy="256540"/>
          </a:xfrm>
          <a:custGeom>
            <a:avLst/>
            <a:gdLst/>
            <a:ahLst/>
            <a:cxnLst/>
            <a:rect l="l" t="t" r="r" b="b"/>
            <a:pathLst>
              <a:path w="771525" h="256539">
                <a:moveTo>
                  <a:pt x="0" y="256032"/>
                </a:moveTo>
                <a:lnTo>
                  <a:pt x="771144" y="256032"/>
                </a:lnTo>
                <a:lnTo>
                  <a:pt x="771144" y="0"/>
                </a:lnTo>
                <a:lnTo>
                  <a:pt x="0" y="0"/>
                </a:lnTo>
                <a:lnTo>
                  <a:pt x="0" y="25603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752076" y="5719571"/>
            <a:ext cx="2004060" cy="4587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53940" y="10667"/>
            <a:ext cx="7338059" cy="3657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10134092" y="6204610"/>
            <a:ext cx="15849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2022年11月29日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3172" y="0"/>
            <a:ext cx="1082040" cy="1059180"/>
          </a:xfrm>
          <a:custGeom>
            <a:avLst/>
            <a:gdLst/>
            <a:ahLst/>
            <a:cxnLst/>
            <a:rect l="l" t="t" r="r" b="b"/>
            <a:pathLst>
              <a:path w="1082040" h="1059180">
                <a:moveTo>
                  <a:pt x="1082040" y="0"/>
                </a:moveTo>
                <a:lnTo>
                  <a:pt x="476275" y="0"/>
                </a:lnTo>
                <a:lnTo>
                  <a:pt x="0" y="1059179"/>
                </a:lnTo>
                <a:lnTo>
                  <a:pt x="605764" y="1059179"/>
                </a:lnTo>
                <a:lnTo>
                  <a:pt x="1082040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63167" y="0"/>
            <a:ext cx="512445" cy="594360"/>
          </a:xfrm>
          <a:custGeom>
            <a:avLst/>
            <a:gdLst/>
            <a:ahLst/>
            <a:cxnLst/>
            <a:rect l="l" t="t" r="r" b="b"/>
            <a:pathLst>
              <a:path w="512444" h="594360">
                <a:moveTo>
                  <a:pt x="512063" y="0"/>
                </a:moveTo>
                <a:lnTo>
                  <a:pt x="266623" y="0"/>
                </a:lnTo>
                <a:lnTo>
                  <a:pt x="0" y="594360"/>
                </a:lnTo>
                <a:lnTo>
                  <a:pt x="245440" y="594360"/>
                </a:lnTo>
                <a:lnTo>
                  <a:pt x="512063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0311" y="0"/>
            <a:ext cx="419100" cy="777240"/>
          </a:xfrm>
          <a:custGeom>
            <a:avLst/>
            <a:gdLst/>
            <a:ahLst/>
            <a:cxnLst/>
            <a:rect l="l" t="t" r="r" b="b"/>
            <a:pathLst>
              <a:path w="419100" h="777240">
                <a:moveTo>
                  <a:pt x="419100" y="0"/>
                </a:moveTo>
                <a:lnTo>
                  <a:pt x="348703" y="0"/>
                </a:lnTo>
                <a:lnTo>
                  <a:pt x="0" y="777239"/>
                </a:lnTo>
                <a:lnTo>
                  <a:pt x="70396" y="777239"/>
                </a:lnTo>
                <a:lnTo>
                  <a:pt x="419100" y="0"/>
                </a:lnTo>
                <a:close/>
              </a:path>
            </a:pathLst>
          </a:custGeom>
          <a:solidFill>
            <a:srgbClr val="5B9B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541525" y="226263"/>
            <a:ext cx="1653539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>
                <a:solidFill>
                  <a:srgbClr val="0446A0"/>
                </a:solidFill>
              </a:rPr>
              <a:t>个人简介</a:t>
            </a:r>
          </a:p>
        </p:txBody>
      </p:sp>
      <p:sp>
        <p:nvSpPr>
          <p:cNvPr id="6" name="object 6"/>
          <p:cNvSpPr/>
          <p:nvPr/>
        </p:nvSpPr>
        <p:spPr>
          <a:xfrm>
            <a:off x="2583179" y="6195096"/>
            <a:ext cx="9608820" cy="375920"/>
          </a:xfrm>
          <a:custGeom>
            <a:avLst/>
            <a:gdLst/>
            <a:ahLst/>
            <a:cxnLst/>
            <a:rect l="l" t="t" r="r" b="b"/>
            <a:pathLst>
              <a:path w="9608820" h="375920">
                <a:moveTo>
                  <a:pt x="9608820" y="0"/>
                </a:moveTo>
                <a:lnTo>
                  <a:pt x="0" y="22773"/>
                </a:lnTo>
                <a:lnTo>
                  <a:pt x="9608819" y="375831"/>
                </a:lnTo>
                <a:lnTo>
                  <a:pt x="9608820" y="0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80" y="6216396"/>
            <a:ext cx="12161520" cy="637540"/>
          </a:xfrm>
          <a:custGeom>
            <a:avLst/>
            <a:gdLst/>
            <a:ahLst/>
            <a:cxnLst/>
            <a:rect l="l" t="t" r="r" b="b"/>
            <a:pathLst>
              <a:path w="12161520" h="637540">
                <a:moveTo>
                  <a:pt x="2455545" y="0"/>
                </a:moveTo>
                <a:lnTo>
                  <a:pt x="0" y="637031"/>
                </a:lnTo>
                <a:lnTo>
                  <a:pt x="12161519" y="637031"/>
                </a:lnTo>
                <a:lnTo>
                  <a:pt x="12161520" y="634143"/>
                </a:lnTo>
                <a:lnTo>
                  <a:pt x="2455545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99360" y="6198108"/>
            <a:ext cx="9692640" cy="660400"/>
          </a:xfrm>
          <a:custGeom>
            <a:avLst/>
            <a:gdLst/>
            <a:ahLst/>
            <a:cxnLst/>
            <a:rect l="l" t="t" r="r" b="b"/>
            <a:pathLst>
              <a:path w="9692640" h="660400">
                <a:moveTo>
                  <a:pt x="1954530" y="0"/>
                </a:moveTo>
                <a:lnTo>
                  <a:pt x="137159" y="22859"/>
                </a:lnTo>
                <a:lnTo>
                  <a:pt x="0" y="22859"/>
                </a:lnTo>
                <a:lnTo>
                  <a:pt x="9646463" y="659890"/>
                </a:lnTo>
                <a:lnTo>
                  <a:pt x="9692640" y="659890"/>
                </a:lnTo>
                <a:lnTo>
                  <a:pt x="9692640" y="354329"/>
                </a:lnTo>
                <a:lnTo>
                  <a:pt x="1954530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97280" y="1091183"/>
            <a:ext cx="3211068" cy="4814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260085" y="1205610"/>
            <a:ext cx="5283200" cy="3043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何国明，毕业于安徽工程大学电子信息专业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 spc="-5">
                <a:solidFill>
                  <a:srgbClr val="171717"/>
                </a:solidFill>
                <a:latin typeface="微软雅黑"/>
                <a:cs typeface="微软雅黑"/>
              </a:rPr>
              <a:t>15</a:t>
            </a: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年专业行业经验，先后从事电</a:t>
            </a:r>
            <a:r>
              <a:rPr dirty="0" sz="1800" spc="-30">
                <a:solidFill>
                  <a:srgbClr val="171717"/>
                </a:solidFill>
                <a:latin typeface="微软雅黑"/>
                <a:cs typeface="微软雅黑"/>
              </a:rPr>
              <a:t>池</a:t>
            </a:r>
            <a:r>
              <a:rPr dirty="0" sz="1800" spc="-5">
                <a:solidFill>
                  <a:srgbClr val="171717"/>
                </a:solidFill>
                <a:latin typeface="微软雅黑"/>
                <a:cs typeface="微软雅黑"/>
              </a:rPr>
              <a:t>BMS开发</a:t>
            </a: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，</a:t>
            </a:r>
            <a:endParaRPr sz="1800">
              <a:latin typeface="微软雅黑"/>
              <a:cs typeface="微软雅黑"/>
            </a:endParaRPr>
          </a:p>
          <a:p>
            <a:pPr marL="12700" marR="233045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照明电源开发，制程工程，项目管理，产品管</a:t>
            </a:r>
            <a:r>
              <a:rPr dirty="0" sz="1800" spc="-40">
                <a:solidFill>
                  <a:srgbClr val="171717"/>
                </a:solidFill>
                <a:latin typeface="微软雅黑"/>
                <a:cs typeface="微软雅黑"/>
              </a:rPr>
              <a:t>理</a:t>
            </a: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， 解决方案，行</a:t>
            </a:r>
            <a:r>
              <a:rPr dirty="0" sz="1800" spc="-10">
                <a:solidFill>
                  <a:srgbClr val="171717"/>
                </a:solidFill>
                <a:latin typeface="微软雅黑"/>
                <a:cs typeface="微软雅黑"/>
              </a:rPr>
              <a:t>业</a:t>
            </a: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应用等工作</a:t>
            </a:r>
            <a:endParaRPr sz="1800">
              <a:latin typeface="微软雅黑"/>
              <a:cs typeface="微软雅黑"/>
            </a:endParaRPr>
          </a:p>
          <a:p>
            <a:pPr algn="just" marL="12700" marR="5080">
              <a:lnSpc>
                <a:spcPct val="100000"/>
              </a:lnSpc>
              <a:spcBef>
                <a:spcPts val="2160"/>
              </a:spcBef>
            </a:pP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对照明行业发展趋势，用户需求，整体解决方案具有 </a:t>
            </a:r>
            <a:r>
              <a:rPr dirty="0" sz="1800" spc="-5">
                <a:solidFill>
                  <a:srgbClr val="171717"/>
                </a:solidFill>
                <a:latin typeface="微软雅黑"/>
                <a:cs typeface="微软雅黑"/>
              </a:rPr>
              <a:t>较深的研究，并成功运作多个大型项目管理与运营，  </a:t>
            </a: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先后获得了较好的成果</a:t>
            </a:r>
            <a:endParaRPr sz="18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Times New Roman"/>
              <a:cs typeface="Times New Roman"/>
            </a:endParaRPr>
          </a:p>
          <a:p>
            <a:pPr algn="just" marL="12700">
              <a:lnSpc>
                <a:spcPct val="100000"/>
              </a:lnSpc>
            </a:pPr>
            <a:r>
              <a:rPr dirty="0" sz="1800">
                <a:solidFill>
                  <a:srgbClr val="171717"/>
                </a:solidFill>
                <a:latin typeface="微软雅黑"/>
                <a:cs typeface="微软雅黑"/>
              </a:rPr>
              <a:t>现任欧普照明 工业行业应用负责人</a:t>
            </a:r>
            <a:endParaRPr sz="18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75981" y="3016757"/>
            <a:ext cx="1873250" cy="1813560"/>
          </a:xfrm>
          <a:custGeom>
            <a:avLst/>
            <a:gdLst/>
            <a:ahLst/>
            <a:cxnLst/>
            <a:rect l="l" t="t" r="r" b="b"/>
            <a:pathLst>
              <a:path w="1873250" h="1813560">
                <a:moveTo>
                  <a:pt x="0" y="906779"/>
                </a:moveTo>
                <a:lnTo>
                  <a:pt x="1218" y="860120"/>
                </a:lnTo>
                <a:lnTo>
                  <a:pt x="4834" y="814073"/>
                </a:lnTo>
                <a:lnTo>
                  <a:pt x="10789" y="768695"/>
                </a:lnTo>
                <a:lnTo>
                  <a:pt x="19023" y="724043"/>
                </a:lnTo>
                <a:lnTo>
                  <a:pt x="29479" y="680174"/>
                </a:lnTo>
                <a:lnTo>
                  <a:pt x="42098" y="637146"/>
                </a:lnTo>
                <a:lnTo>
                  <a:pt x="56820" y="595014"/>
                </a:lnTo>
                <a:lnTo>
                  <a:pt x="73586" y="553837"/>
                </a:lnTo>
                <a:lnTo>
                  <a:pt x="92339" y="513670"/>
                </a:lnTo>
                <a:lnTo>
                  <a:pt x="113018" y="474572"/>
                </a:lnTo>
                <a:lnTo>
                  <a:pt x="135566" y="436599"/>
                </a:lnTo>
                <a:lnTo>
                  <a:pt x="159924" y="399808"/>
                </a:lnTo>
                <a:lnTo>
                  <a:pt x="186032" y="364256"/>
                </a:lnTo>
                <a:lnTo>
                  <a:pt x="213832" y="330000"/>
                </a:lnTo>
                <a:lnTo>
                  <a:pt x="243265" y="297097"/>
                </a:lnTo>
                <a:lnTo>
                  <a:pt x="274272" y="265604"/>
                </a:lnTo>
                <a:lnTo>
                  <a:pt x="306795" y="235578"/>
                </a:lnTo>
                <a:lnTo>
                  <a:pt x="340774" y="207077"/>
                </a:lnTo>
                <a:lnTo>
                  <a:pt x="376151" y="180156"/>
                </a:lnTo>
                <a:lnTo>
                  <a:pt x="412867" y="154874"/>
                </a:lnTo>
                <a:lnTo>
                  <a:pt x="450864" y="131286"/>
                </a:lnTo>
                <a:lnTo>
                  <a:pt x="490081" y="109451"/>
                </a:lnTo>
                <a:lnTo>
                  <a:pt x="530462" y="89425"/>
                </a:lnTo>
                <a:lnTo>
                  <a:pt x="571946" y="71264"/>
                </a:lnTo>
                <a:lnTo>
                  <a:pt x="614475" y="55027"/>
                </a:lnTo>
                <a:lnTo>
                  <a:pt x="657990" y="40770"/>
                </a:lnTo>
                <a:lnTo>
                  <a:pt x="702433" y="28550"/>
                </a:lnTo>
                <a:lnTo>
                  <a:pt x="747744" y="18424"/>
                </a:lnTo>
                <a:lnTo>
                  <a:pt x="793865" y="10449"/>
                </a:lnTo>
                <a:lnTo>
                  <a:pt x="840737" y="4682"/>
                </a:lnTo>
                <a:lnTo>
                  <a:pt x="888300" y="1180"/>
                </a:lnTo>
                <a:lnTo>
                  <a:pt x="936498" y="0"/>
                </a:lnTo>
                <a:lnTo>
                  <a:pt x="984695" y="1180"/>
                </a:lnTo>
                <a:lnTo>
                  <a:pt x="1032258" y="4682"/>
                </a:lnTo>
                <a:lnTo>
                  <a:pt x="1079130" y="10449"/>
                </a:lnTo>
                <a:lnTo>
                  <a:pt x="1125251" y="18424"/>
                </a:lnTo>
                <a:lnTo>
                  <a:pt x="1170562" y="28550"/>
                </a:lnTo>
                <a:lnTo>
                  <a:pt x="1215005" y="40770"/>
                </a:lnTo>
                <a:lnTo>
                  <a:pt x="1258520" y="55027"/>
                </a:lnTo>
                <a:lnTo>
                  <a:pt x="1301049" y="71264"/>
                </a:lnTo>
                <a:lnTo>
                  <a:pt x="1342533" y="89425"/>
                </a:lnTo>
                <a:lnTo>
                  <a:pt x="1382914" y="109451"/>
                </a:lnTo>
                <a:lnTo>
                  <a:pt x="1422131" y="131286"/>
                </a:lnTo>
                <a:lnTo>
                  <a:pt x="1460128" y="154874"/>
                </a:lnTo>
                <a:lnTo>
                  <a:pt x="1496844" y="180156"/>
                </a:lnTo>
                <a:lnTo>
                  <a:pt x="1532221" y="207077"/>
                </a:lnTo>
                <a:lnTo>
                  <a:pt x="1566200" y="235578"/>
                </a:lnTo>
                <a:lnTo>
                  <a:pt x="1598723" y="265604"/>
                </a:lnTo>
                <a:lnTo>
                  <a:pt x="1629730" y="297097"/>
                </a:lnTo>
                <a:lnTo>
                  <a:pt x="1659163" y="330000"/>
                </a:lnTo>
                <a:lnTo>
                  <a:pt x="1686963" y="364256"/>
                </a:lnTo>
                <a:lnTo>
                  <a:pt x="1713071" y="399808"/>
                </a:lnTo>
                <a:lnTo>
                  <a:pt x="1737429" y="436599"/>
                </a:lnTo>
                <a:lnTo>
                  <a:pt x="1759977" y="474572"/>
                </a:lnTo>
                <a:lnTo>
                  <a:pt x="1780656" y="513670"/>
                </a:lnTo>
                <a:lnTo>
                  <a:pt x="1799409" y="553837"/>
                </a:lnTo>
                <a:lnTo>
                  <a:pt x="1816175" y="595014"/>
                </a:lnTo>
                <a:lnTo>
                  <a:pt x="1830897" y="637146"/>
                </a:lnTo>
                <a:lnTo>
                  <a:pt x="1843516" y="680174"/>
                </a:lnTo>
                <a:lnTo>
                  <a:pt x="1853972" y="724043"/>
                </a:lnTo>
                <a:lnTo>
                  <a:pt x="1862206" y="768695"/>
                </a:lnTo>
                <a:lnTo>
                  <a:pt x="1868161" y="814073"/>
                </a:lnTo>
                <a:lnTo>
                  <a:pt x="1871777" y="860120"/>
                </a:lnTo>
                <a:lnTo>
                  <a:pt x="1872996" y="906779"/>
                </a:lnTo>
                <a:lnTo>
                  <a:pt x="1871777" y="953439"/>
                </a:lnTo>
                <a:lnTo>
                  <a:pt x="1868161" y="999486"/>
                </a:lnTo>
                <a:lnTo>
                  <a:pt x="1862206" y="1044864"/>
                </a:lnTo>
                <a:lnTo>
                  <a:pt x="1853972" y="1089516"/>
                </a:lnTo>
                <a:lnTo>
                  <a:pt x="1843516" y="1133385"/>
                </a:lnTo>
                <a:lnTo>
                  <a:pt x="1830897" y="1176413"/>
                </a:lnTo>
                <a:lnTo>
                  <a:pt x="1816175" y="1218545"/>
                </a:lnTo>
                <a:lnTo>
                  <a:pt x="1799409" y="1259722"/>
                </a:lnTo>
                <a:lnTo>
                  <a:pt x="1780656" y="1299889"/>
                </a:lnTo>
                <a:lnTo>
                  <a:pt x="1759977" y="1338987"/>
                </a:lnTo>
                <a:lnTo>
                  <a:pt x="1737429" y="1376960"/>
                </a:lnTo>
                <a:lnTo>
                  <a:pt x="1713071" y="1413751"/>
                </a:lnTo>
                <a:lnTo>
                  <a:pt x="1686963" y="1449303"/>
                </a:lnTo>
                <a:lnTo>
                  <a:pt x="1659163" y="1483559"/>
                </a:lnTo>
                <a:lnTo>
                  <a:pt x="1629730" y="1516462"/>
                </a:lnTo>
                <a:lnTo>
                  <a:pt x="1598723" y="1547955"/>
                </a:lnTo>
                <a:lnTo>
                  <a:pt x="1566200" y="1577981"/>
                </a:lnTo>
                <a:lnTo>
                  <a:pt x="1532221" y="1606482"/>
                </a:lnTo>
                <a:lnTo>
                  <a:pt x="1496844" y="1633403"/>
                </a:lnTo>
                <a:lnTo>
                  <a:pt x="1460128" y="1658685"/>
                </a:lnTo>
                <a:lnTo>
                  <a:pt x="1422131" y="1682273"/>
                </a:lnTo>
                <a:lnTo>
                  <a:pt x="1382914" y="1704108"/>
                </a:lnTo>
                <a:lnTo>
                  <a:pt x="1342533" y="1724134"/>
                </a:lnTo>
                <a:lnTo>
                  <a:pt x="1301049" y="1742295"/>
                </a:lnTo>
                <a:lnTo>
                  <a:pt x="1258520" y="1758532"/>
                </a:lnTo>
                <a:lnTo>
                  <a:pt x="1215005" y="1772789"/>
                </a:lnTo>
                <a:lnTo>
                  <a:pt x="1170562" y="1785009"/>
                </a:lnTo>
                <a:lnTo>
                  <a:pt x="1125251" y="1795135"/>
                </a:lnTo>
                <a:lnTo>
                  <a:pt x="1079130" y="1803110"/>
                </a:lnTo>
                <a:lnTo>
                  <a:pt x="1032258" y="1808877"/>
                </a:lnTo>
                <a:lnTo>
                  <a:pt x="984695" y="1812379"/>
                </a:lnTo>
                <a:lnTo>
                  <a:pt x="936498" y="1813559"/>
                </a:lnTo>
                <a:lnTo>
                  <a:pt x="888300" y="1812379"/>
                </a:lnTo>
                <a:lnTo>
                  <a:pt x="840737" y="1808877"/>
                </a:lnTo>
                <a:lnTo>
                  <a:pt x="793865" y="1803110"/>
                </a:lnTo>
                <a:lnTo>
                  <a:pt x="747744" y="1795135"/>
                </a:lnTo>
                <a:lnTo>
                  <a:pt x="702433" y="1785009"/>
                </a:lnTo>
                <a:lnTo>
                  <a:pt x="657990" y="1772789"/>
                </a:lnTo>
                <a:lnTo>
                  <a:pt x="614475" y="1758532"/>
                </a:lnTo>
                <a:lnTo>
                  <a:pt x="571946" y="1742295"/>
                </a:lnTo>
                <a:lnTo>
                  <a:pt x="530462" y="1724134"/>
                </a:lnTo>
                <a:lnTo>
                  <a:pt x="490081" y="1704108"/>
                </a:lnTo>
                <a:lnTo>
                  <a:pt x="450864" y="1682273"/>
                </a:lnTo>
                <a:lnTo>
                  <a:pt x="412867" y="1658685"/>
                </a:lnTo>
                <a:lnTo>
                  <a:pt x="376151" y="1633403"/>
                </a:lnTo>
                <a:lnTo>
                  <a:pt x="340774" y="1606482"/>
                </a:lnTo>
                <a:lnTo>
                  <a:pt x="306795" y="1577981"/>
                </a:lnTo>
                <a:lnTo>
                  <a:pt x="274272" y="1547955"/>
                </a:lnTo>
                <a:lnTo>
                  <a:pt x="243265" y="1516462"/>
                </a:lnTo>
                <a:lnTo>
                  <a:pt x="213832" y="1483559"/>
                </a:lnTo>
                <a:lnTo>
                  <a:pt x="186032" y="1449303"/>
                </a:lnTo>
                <a:lnTo>
                  <a:pt x="159924" y="1413751"/>
                </a:lnTo>
                <a:lnTo>
                  <a:pt x="135566" y="1376960"/>
                </a:lnTo>
                <a:lnTo>
                  <a:pt x="113018" y="1338987"/>
                </a:lnTo>
                <a:lnTo>
                  <a:pt x="92339" y="1299889"/>
                </a:lnTo>
                <a:lnTo>
                  <a:pt x="73586" y="1259722"/>
                </a:lnTo>
                <a:lnTo>
                  <a:pt x="56820" y="1218545"/>
                </a:lnTo>
                <a:lnTo>
                  <a:pt x="42098" y="1176413"/>
                </a:lnTo>
                <a:lnTo>
                  <a:pt x="29479" y="1133385"/>
                </a:lnTo>
                <a:lnTo>
                  <a:pt x="19023" y="1089516"/>
                </a:lnTo>
                <a:lnTo>
                  <a:pt x="10789" y="1044864"/>
                </a:lnTo>
                <a:lnTo>
                  <a:pt x="4834" y="999486"/>
                </a:lnTo>
                <a:lnTo>
                  <a:pt x="1218" y="953439"/>
                </a:lnTo>
                <a:lnTo>
                  <a:pt x="0" y="906779"/>
                </a:lnTo>
                <a:close/>
              </a:path>
            </a:pathLst>
          </a:custGeom>
          <a:ln w="25908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882890" y="3618738"/>
            <a:ext cx="104076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0046AA"/>
                </a:solidFill>
                <a:latin typeface="微软雅黑"/>
                <a:cs typeface="微软雅黑"/>
              </a:rPr>
              <a:t>节能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405116" y="2955035"/>
            <a:ext cx="1995170" cy="1932939"/>
          </a:xfrm>
          <a:custGeom>
            <a:avLst/>
            <a:gdLst/>
            <a:ahLst/>
            <a:cxnLst/>
            <a:rect l="l" t="t" r="r" b="b"/>
            <a:pathLst>
              <a:path w="1995170" h="1932939">
                <a:moveTo>
                  <a:pt x="0" y="966215"/>
                </a:moveTo>
                <a:lnTo>
                  <a:pt x="1150" y="919399"/>
                </a:lnTo>
                <a:lnTo>
                  <a:pt x="4565" y="873158"/>
                </a:lnTo>
                <a:lnTo>
                  <a:pt x="10194" y="827543"/>
                </a:lnTo>
                <a:lnTo>
                  <a:pt x="17984" y="782604"/>
                </a:lnTo>
                <a:lnTo>
                  <a:pt x="27882" y="738393"/>
                </a:lnTo>
                <a:lnTo>
                  <a:pt x="39837" y="694959"/>
                </a:lnTo>
                <a:lnTo>
                  <a:pt x="53796" y="652353"/>
                </a:lnTo>
                <a:lnTo>
                  <a:pt x="69707" y="610627"/>
                </a:lnTo>
                <a:lnTo>
                  <a:pt x="87518" y="569830"/>
                </a:lnTo>
                <a:lnTo>
                  <a:pt x="107177" y="530013"/>
                </a:lnTo>
                <a:lnTo>
                  <a:pt x="128630" y="491226"/>
                </a:lnTo>
                <a:lnTo>
                  <a:pt x="151827" y="453521"/>
                </a:lnTo>
                <a:lnTo>
                  <a:pt x="176715" y="416948"/>
                </a:lnTo>
                <a:lnTo>
                  <a:pt x="203242" y="381558"/>
                </a:lnTo>
                <a:lnTo>
                  <a:pt x="231355" y="347400"/>
                </a:lnTo>
                <a:lnTo>
                  <a:pt x="261002" y="314527"/>
                </a:lnTo>
                <a:lnTo>
                  <a:pt x="292131" y="282987"/>
                </a:lnTo>
                <a:lnTo>
                  <a:pt x="324690" y="252833"/>
                </a:lnTo>
                <a:lnTo>
                  <a:pt x="358627" y="224114"/>
                </a:lnTo>
                <a:lnTo>
                  <a:pt x="393888" y="196881"/>
                </a:lnTo>
                <a:lnTo>
                  <a:pt x="430423" y="171185"/>
                </a:lnTo>
                <a:lnTo>
                  <a:pt x="468178" y="147076"/>
                </a:lnTo>
                <a:lnTo>
                  <a:pt x="507103" y="124605"/>
                </a:lnTo>
                <a:lnTo>
                  <a:pt x="547143" y="103823"/>
                </a:lnTo>
                <a:lnTo>
                  <a:pt x="588248" y="84779"/>
                </a:lnTo>
                <a:lnTo>
                  <a:pt x="630364" y="67526"/>
                </a:lnTo>
                <a:lnTo>
                  <a:pt x="673440" y="52113"/>
                </a:lnTo>
                <a:lnTo>
                  <a:pt x="717424" y="38590"/>
                </a:lnTo>
                <a:lnTo>
                  <a:pt x="762263" y="27009"/>
                </a:lnTo>
                <a:lnTo>
                  <a:pt x="807905" y="17421"/>
                </a:lnTo>
                <a:lnTo>
                  <a:pt x="854297" y="9875"/>
                </a:lnTo>
                <a:lnTo>
                  <a:pt x="901389" y="4422"/>
                </a:lnTo>
                <a:lnTo>
                  <a:pt x="949126" y="1114"/>
                </a:lnTo>
                <a:lnTo>
                  <a:pt x="997457" y="0"/>
                </a:lnTo>
                <a:lnTo>
                  <a:pt x="1045789" y="1114"/>
                </a:lnTo>
                <a:lnTo>
                  <a:pt x="1093526" y="4422"/>
                </a:lnTo>
                <a:lnTo>
                  <a:pt x="1140618" y="9875"/>
                </a:lnTo>
                <a:lnTo>
                  <a:pt x="1187010" y="17421"/>
                </a:lnTo>
                <a:lnTo>
                  <a:pt x="1232652" y="27009"/>
                </a:lnTo>
                <a:lnTo>
                  <a:pt x="1277491" y="38590"/>
                </a:lnTo>
                <a:lnTo>
                  <a:pt x="1321475" y="52113"/>
                </a:lnTo>
                <a:lnTo>
                  <a:pt x="1364551" y="67526"/>
                </a:lnTo>
                <a:lnTo>
                  <a:pt x="1406667" y="84779"/>
                </a:lnTo>
                <a:lnTo>
                  <a:pt x="1447772" y="103823"/>
                </a:lnTo>
                <a:lnTo>
                  <a:pt x="1487812" y="124605"/>
                </a:lnTo>
                <a:lnTo>
                  <a:pt x="1526737" y="147076"/>
                </a:lnTo>
                <a:lnTo>
                  <a:pt x="1564492" y="171185"/>
                </a:lnTo>
                <a:lnTo>
                  <a:pt x="1601027" y="196881"/>
                </a:lnTo>
                <a:lnTo>
                  <a:pt x="1636288" y="224114"/>
                </a:lnTo>
                <a:lnTo>
                  <a:pt x="1670225" y="252833"/>
                </a:lnTo>
                <a:lnTo>
                  <a:pt x="1702784" y="282987"/>
                </a:lnTo>
                <a:lnTo>
                  <a:pt x="1733913" y="314527"/>
                </a:lnTo>
                <a:lnTo>
                  <a:pt x="1763560" y="347400"/>
                </a:lnTo>
                <a:lnTo>
                  <a:pt x="1791673" y="381558"/>
                </a:lnTo>
                <a:lnTo>
                  <a:pt x="1818200" y="416948"/>
                </a:lnTo>
                <a:lnTo>
                  <a:pt x="1843088" y="453521"/>
                </a:lnTo>
                <a:lnTo>
                  <a:pt x="1866285" y="491226"/>
                </a:lnTo>
                <a:lnTo>
                  <a:pt x="1887738" y="530013"/>
                </a:lnTo>
                <a:lnTo>
                  <a:pt x="1907397" y="569830"/>
                </a:lnTo>
                <a:lnTo>
                  <a:pt x="1925208" y="610627"/>
                </a:lnTo>
                <a:lnTo>
                  <a:pt x="1941119" y="652353"/>
                </a:lnTo>
                <a:lnTo>
                  <a:pt x="1955078" y="694959"/>
                </a:lnTo>
                <a:lnTo>
                  <a:pt x="1967033" y="738393"/>
                </a:lnTo>
                <a:lnTo>
                  <a:pt x="1976931" y="782604"/>
                </a:lnTo>
                <a:lnTo>
                  <a:pt x="1984721" y="827543"/>
                </a:lnTo>
                <a:lnTo>
                  <a:pt x="1990350" y="873158"/>
                </a:lnTo>
                <a:lnTo>
                  <a:pt x="1993765" y="919399"/>
                </a:lnTo>
                <a:lnTo>
                  <a:pt x="1994915" y="966215"/>
                </a:lnTo>
                <a:lnTo>
                  <a:pt x="1993765" y="1013032"/>
                </a:lnTo>
                <a:lnTo>
                  <a:pt x="1990350" y="1059273"/>
                </a:lnTo>
                <a:lnTo>
                  <a:pt x="1984721" y="1104888"/>
                </a:lnTo>
                <a:lnTo>
                  <a:pt x="1976931" y="1149827"/>
                </a:lnTo>
                <a:lnTo>
                  <a:pt x="1967033" y="1194038"/>
                </a:lnTo>
                <a:lnTo>
                  <a:pt x="1955078" y="1237472"/>
                </a:lnTo>
                <a:lnTo>
                  <a:pt x="1941119" y="1280078"/>
                </a:lnTo>
                <a:lnTo>
                  <a:pt x="1925208" y="1321804"/>
                </a:lnTo>
                <a:lnTo>
                  <a:pt x="1907397" y="1362601"/>
                </a:lnTo>
                <a:lnTo>
                  <a:pt x="1887738" y="1402418"/>
                </a:lnTo>
                <a:lnTo>
                  <a:pt x="1866285" y="1441205"/>
                </a:lnTo>
                <a:lnTo>
                  <a:pt x="1843088" y="1478910"/>
                </a:lnTo>
                <a:lnTo>
                  <a:pt x="1818200" y="1515483"/>
                </a:lnTo>
                <a:lnTo>
                  <a:pt x="1791673" y="1550873"/>
                </a:lnTo>
                <a:lnTo>
                  <a:pt x="1763560" y="1585031"/>
                </a:lnTo>
                <a:lnTo>
                  <a:pt x="1733913" y="1617904"/>
                </a:lnTo>
                <a:lnTo>
                  <a:pt x="1702784" y="1649444"/>
                </a:lnTo>
                <a:lnTo>
                  <a:pt x="1670225" y="1679598"/>
                </a:lnTo>
                <a:lnTo>
                  <a:pt x="1636288" y="1708317"/>
                </a:lnTo>
                <a:lnTo>
                  <a:pt x="1601027" y="1735550"/>
                </a:lnTo>
                <a:lnTo>
                  <a:pt x="1564492" y="1761246"/>
                </a:lnTo>
                <a:lnTo>
                  <a:pt x="1526737" y="1785355"/>
                </a:lnTo>
                <a:lnTo>
                  <a:pt x="1487812" y="1807826"/>
                </a:lnTo>
                <a:lnTo>
                  <a:pt x="1447772" y="1828608"/>
                </a:lnTo>
                <a:lnTo>
                  <a:pt x="1406667" y="1847652"/>
                </a:lnTo>
                <a:lnTo>
                  <a:pt x="1364551" y="1864905"/>
                </a:lnTo>
                <a:lnTo>
                  <a:pt x="1321475" y="1880318"/>
                </a:lnTo>
                <a:lnTo>
                  <a:pt x="1277491" y="1893841"/>
                </a:lnTo>
                <a:lnTo>
                  <a:pt x="1232652" y="1905422"/>
                </a:lnTo>
                <a:lnTo>
                  <a:pt x="1187010" y="1915010"/>
                </a:lnTo>
                <a:lnTo>
                  <a:pt x="1140618" y="1922556"/>
                </a:lnTo>
                <a:lnTo>
                  <a:pt x="1093526" y="1928009"/>
                </a:lnTo>
                <a:lnTo>
                  <a:pt x="1045789" y="1931317"/>
                </a:lnTo>
                <a:lnTo>
                  <a:pt x="997457" y="1932432"/>
                </a:lnTo>
                <a:lnTo>
                  <a:pt x="949126" y="1931317"/>
                </a:lnTo>
                <a:lnTo>
                  <a:pt x="901389" y="1928009"/>
                </a:lnTo>
                <a:lnTo>
                  <a:pt x="854297" y="1922556"/>
                </a:lnTo>
                <a:lnTo>
                  <a:pt x="807905" y="1915010"/>
                </a:lnTo>
                <a:lnTo>
                  <a:pt x="762263" y="1905422"/>
                </a:lnTo>
                <a:lnTo>
                  <a:pt x="717424" y="1893841"/>
                </a:lnTo>
                <a:lnTo>
                  <a:pt x="673440" y="1880318"/>
                </a:lnTo>
                <a:lnTo>
                  <a:pt x="630364" y="1864905"/>
                </a:lnTo>
                <a:lnTo>
                  <a:pt x="588248" y="1847652"/>
                </a:lnTo>
                <a:lnTo>
                  <a:pt x="547143" y="1828608"/>
                </a:lnTo>
                <a:lnTo>
                  <a:pt x="507103" y="1807826"/>
                </a:lnTo>
                <a:lnTo>
                  <a:pt x="468178" y="1785355"/>
                </a:lnTo>
                <a:lnTo>
                  <a:pt x="430423" y="1761246"/>
                </a:lnTo>
                <a:lnTo>
                  <a:pt x="393888" y="1735550"/>
                </a:lnTo>
                <a:lnTo>
                  <a:pt x="358627" y="1708317"/>
                </a:lnTo>
                <a:lnTo>
                  <a:pt x="324690" y="1679598"/>
                </a:lnTo>
                <a:lnTo>
                  <a:pt x="292131" y="1649444"/>
                </a:lnTo>
                <a:lnTo>
                  <a:pt x="261002" y="1617904"/>
                </a:lnTo>
                <a:lnTo>
                  <a:pt x="231355" y="1585031"/>
                </a:lnTo>
                <a:lnTo>
                  <a:pt x="203242" y="1550873"/>
                </a:lnTo>
                <a:lnTo>
                  <a:pt x="176715" y="1515483"/>
                </a:lnTo>
                <a:lnTo>
                  <a:pt x="151827" y="1478910"/>
                </a:lnTo>
                <a:lnTo>
                  <a:pt x="128630" y="1441205"/>
                </a:lnTo>
                <a:lnTo>
                  <a:pt x="107177" y="1402418"/>
                </a:lnTo>
                <a:lnTo>
                  <a:pt x="87518" y="1362601"/>
                </a:lnTo>
                <a:lnTo>
                  <a:pt x="69707" y="1321804"/>
                </a:lnTo>
                <a:lnTo>
                  <a:pt x="53796" y="1280078"/>
                </a:lnTo>
                <a:lnTo>
                  <a:pt x="39837" y="1237472"/>
                </a:lnTo>
                <a:lnTo>
                  <a:pt x="27882" y="1194038"/>
                </a:lnTo>
                <a:lnTo>
                  <a:pt x="17984" y="1149827"/>
                </a:lnTo>
                <a:lnTo>
                  <a:pt x="10194" y="1104888"/>
                </a:lnTo>
                <a:lnTo>
                  <a:pt x="4565" y="1059273"/>
                </a:lnTo>
                <a:lnTo>
                  <a:pt x="1150" y="1013032"/>
                </a:lnTo>
                <a:lnTo>
                  <a:pt x="0" y="966215"/>
                </a:lnTo>
                <a:close/>
              </a:path>
            </a:pathLst>
          </a:custGeom>
          <a:ln w="3175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237226" y="2987801"/>
            <a:ext cx="1871980" cy="1813560"/>
          </a:xfrm>
          <a:custGeom>
            <a:avLst/>
            <a:gdLst/>
            <a:ahLst/>
            <a:cxnLst/>
            <a:rect l="l" t="t" r="r" b="b"/>
            <a:pathLst>
              <a:path w="1871979" h="1813560">
                <a:moveTo>
                  <a:pt x="0" y="906780"/>
                </a:moveTo>
                <a:lnTo>
                  <a:pt x="1217" y="860120"/>
                </a:lnTo>
                <a:lnTo>
                  <a:pt x="4831" y="814073"/>
                </a:lnTo>
                <a:lnTo>
                  <a:pt x="10782" y="768695"/>
                </a:lnTo>
                <a:lnTo>
                  <a:pt x="19012" y="724043"/>
                </a:lnTo>
                <a:lnTo>
                  <a:pt x="29461" y="680174"/>
                </a:lnTo>
                <a:lnTo>
                  <a:pt x="42071" y="637146"/>
                </a:lnTo>
                <a:lnTo>
                  <a:pt x="56783" y="595014"/>
                </a:lnTo>
                <a:lnTo>
                  <a:pt x="73538" y="553837"/>
                </a:lnTo>
                <a:lnTo>
                  <a:pt x="92278" y="513670"/>
                </a:lnTo>
                <a:lnTo>
                  <a:pt x="112944" y="474572"/>
                </a:lnTo>
                <a:lnTo>
                  <a:pt x="135476" y="436599"/>
                </a:lnTo>
                <a:lnTo>
                  <a:pt x="159816" y="399808"/>
                </a:lnTo>
                <a:lnTo>
                  <a:pt x="185906" y="364256"/>
                </a:lnTo>
                <a:lnTo>
                  <a:pt x="213686" y="330000"/>
                </a:lnTo>
                <a:lnTo>
                  <a:pt x="243097" y="297097"/>
                </a:lnTo>
                <a:lnTo>
                  <a:pt x="274081" y="265604"/>
                </a:lnTo>
                <a:lnTo>
                  <a:pt x="306580" y="235578"/>
                </a:lnTo>
                <a:lnTo>
                  <a:pt x="340533" y="207077"/>
                </a:lnTo>
                <a:lnTo>
                  <a:pt x="375882" y="180156"/>
                </a:lnTo>
                <a:lnTo>
                  <a:pt x="412570" y="154874"/>
                </a:lnTo>
                <a:lnTo>
                  <a:pt x="450536" y="131286"/>
                </a:lnTo>
                <a:lnTo>
                  <a:pt x="489721" y="109451"/>
                </a:lnTo>
                <a:lnTo>
                  <a:pt x="530068" y="89425"/>
                </a:lnTo>
                <a:lnTo>
                  <a:pt x="571517" y="71264"/>
                </a:lnTo>
                <a:lnTo>
                  <a:pt x="614010" y="55027"/>
                </a:lnTo>
                <a:lnTo>
                  <a:pt x="657487" y="40770"/>
                </a:lnTo>
                <a:lnTo>
                  <a:pt x="701890" y="28550"/>
                </a:lnTo>
                <a:lnTo>
                  <a:pt x="747161" y="18424"/>
                </a:lnTo>
                <a:lnTo>
                  <a:pt x="793239" y="10449"/>
                </a:lnTo>
                <a:lnTo>
                  <a:pt x="840067" y="4682"/>
                </a:lnTo>
                <a:lnTo>
                  <a:pt x="887585" y="1180"/>
                </a:lnTo>
                <a:lnTo>
                  <a:pt x="935736" y="0"/>
                </a:lnTo>
                <a:lnTo>
                  <a:pt x="983886" y="1180"/>
                </a:lnTo>
                <a:lnTo>
                  <a:pt x="1031404" y="4682"/>
                </a:lnTo>
                <a:lnTo>
                  <a:pt x="1078232" y="10449"/>
                </a:lnTo>
                <a:lnTo>
                  <a:pt x="1124310" y="18424"/>
                </a:lnTo>
                <a:lnTo>
                  <a:pt x="1169581" y="28550"/>
                </a:lnTo>
                <a:lnTo>
                  <a:pt x="1213984" y="40770"/>
                </a:lnTo>
                <a:lnTo>
                  <a:pt x="1257461" y="55027"/>
                </a:lnTo>
                <a:lnTo>
                  <a:pt x="1299954" y="71264"/>
                </a:lnTo>
                <a:lnTo>
                  <a:pt x="1341403" y="89425"/>
                </a:lnTo>
                <a:lnTo>
                  <a:pt x="1381750" y="109451"/>
                </a:lnTo>
                <a:lnTo>
                  <a:pt x="1420935" y="131286"/>
                </a:lnTo>
                <a:lnTo>
                  <a:pt x="1458901" y="154874"/>
                </a:lnTo>
                <a:lnTo>
                  <a:pt x="1495589" y="180156"/>
                </a:lnTo>
                <a:lnTo>
                  <a:pt x="1530938" y="207077"/>
                </a:lnTo>
                <a:lnTo>
                  <a:pt x="1564891" y="235578"/>
                </a:lnTo>
                <a:lnTo>
                  <a:pt x="1597390" y="265604"/>
                </a:lnTo>
                <a:lnTo>
                  <a:pt x="1628374" y="297097"/>
                </a:lnTo>
                <a:lnTo>
                  <a:pt x="1657785" y="330000"/>
                </a:lnTo>
                <a:lnTo>
                  <a:pt x="1685565" y="364256"/>
                </a:lnTo>
                <a:lnTo>
                  <a:pt x="1711655" y="399808"/>
                </a:lnTo>
                <a:lnTo>
                  <a:pt x="1735995" y="436599"/>
                </a:lnTo>
                <a:lnTo>
                  <a:pt x="1758527" y="474572"/>
                </a:lnTo>
                <a:lnTo>
                  <a:pt x="1779193" y="513670"/>
                </a:lnTo>
                <a:lnTo>
                  <a:pt x="1797933" y="553837"/>
                </a:lnTo>
                <a:lnTo>
                  <a:pt x="1814688" y="595014"/>
                </a:lnTo>
                <a:lnTo>
                  <a:pt x="1829400" y="637146"/>
                </a:lnTo>
                <a:lnTo>
                  <a:pt x="1842010" y="680174"/>
                </a:lnTo>
                <a:lnTo>
                  <a:pt x="1852459" y="724043"/>
                </a:lnTo>
                <a:lnTo>
                  <a:pt x="1860689" y="768695"/>
                </a:lnTo>
                <a:lnTo>
                  <a:pt x="1866640" y="814073"/>
                </a:lnTo>
                <a:lnTo>
                  <a:pt x="1870254" y="860120"/>
                </a:lnTo>
                <a:lnTo>
                  <a:pt x="1871472" y="906780"/>
                </a:lnTo>
                <a:lnTo>
                  <a:pt x="1870254" y="953439"/>
                </a:lnTo>
                <a:lnTo>
                  <a:pt x="1866640" y="999486"/>
                </a:lnTo>
                <a:lnTo>
                  <a:pt x="1860689" y="1044864"/>
                </a:lnTo>
                <a:lnTo>
                  <a:pt x="1852459" y="1089516"/>
                </a:lnTo>
                <a:lnTo>
                  <a:pt x="1842010" y="1133385"/>
                </a:lnTo>
                <a:lnTo>
                  <a:pt x="1829400" y="1176413"/>
                </a:lnTo>
                <a:lnTo>
                  <a:pt x="1814688" y="1218545"/>
                </a:lnTo>
                <a:lnTo>
                  <a:pt x="1797933" y="1259722"/>
                </a:lnTo>
                <a:lnTo>
                  <a:pt x="1779193" y="1299889"/>
                </a:lnTo>
                <a:lnTo>
                  <a:pt x="1758527" y="1338987"/>
                </a:lnTo>
                <a:lnTo>
                  <a:pt x="1735995" y="1376960"/>
                </a:lnTo>
                <a:lnTo>
                  <a:pt x="1711655" y="1413751"/>
                </a:lnTo>
                <a:lnTo>
                  <a:pt x="1685565" y="1449303"/>
                </a:lnTo>
                <a:lnTo>
                  <a:pt x="1657785" y="1483559"/>
                </a:lnTo>
                <a:lnTo>
                  <a:pt x="1628374" y="1516462"/>
                </a:lnTo>
                <a:lnTo>
                  <a:pt x="1597390" y="1547955"/>
                </a:lnTo>
                <a:lnTo>
                  <a:pt x="1564891" y="1577981"/>
                </a:lnTo>
                <a:lnTo>
                  <a:pt x="1530938" y="1606482"/>
                </a:lnTo>
                <a:lnTo>
                  <a:pt x="1495589" y="1633403"/>
                </a:lnTo>
                <a:lnTo>
                  <a:pt x="1458901" y="1658685"/>
                </a:lnTo>
                <a:lnTo>
                  <a:pt x="1420935" y="1682273"/>
                </a:lnTo>
                <a:lnTo>
                  <a:pt x="1381750" y="1704108"/>
                </a:lnTo>
                <a:lnTo>
                  <a:pt x="1341403" y="1724134"/>
                </a:lnTo>
                <a:lnTo>
                  <a:pt x="1299954" y="1742295"/>
                </a:lnTo>
                <a:lnTo>
                  <a:pt x="1257461" y="1758532"/>
                </a:lnTo>
                <a:lnTo>
                  <a:pt x="1213984" y="1772789"/>
                </a:lnTo>
                <a:lnTo>
                  <a:pt x="1169581" y="1785009"/>
                </a:lnTo>
                <a:lnTo>
                  <a:pt x="1124310" y="1795135"/>
                </a:lnTo>
                <a:lnTo>
                  <a:pt x="1078232" y="1803110"/>
                </a:lnTo>
                <a:lnTo>
                  <a:pt x="1031404" y="1808877"/>
                </a:lnTo>
                <a:lnTo>
                  <a:pt x="983886" y="1812379"/>
                </a:lnTo>
                <a:lnTo>
                  <a:pt x="935736" y="1813560"/>
                </a:lnTo>
                <a:lnTo>
                  <a:pt x="887585" y="1812379"/>
                </a:lnTo>
                <a:lnTo>
                  <a:pt x="840067" y="1808877"/>
                </a:lnTo>
                <a:lnTo>
                  <a:pt x="793239" y="1803110"/>
                </a:lnTo>
                <a:lnTo>
                  <a:pt x="747161" y="1795135"/>
                </a:lnTo>
                <a:lnTo>
                  <a:pt x="701890" y="1785009"/>
                </a:lnTo>
                <a:lnTo>
                  <a:pt x="657487" y="1772789"/>
                </a:lnTo>
                <a:lnTo>
                  <a:pt x="614010" y="1758532"/>
                </a:lnTo>
                <a:lnTo>
                  <a:pt x="571517" y="1742295"/>
                </a:lnTo>
                <a:lnTo>
                  <a:pt x="530068" y="1724134"/>
                </a:lnTo>
                <a:lnTo>
                  <a:pt x="489721" y="1704108"/>
                </a:lnTo>
                <a:lnTo>
                  <a:pt x="450536" y="1682273"/>
                </a:lnTo>
                <a:lnTo>
                  <a:pt x="412570" y="1658685"/>
                </a:lnTo>
                <a:lnTo>
                  <a:pt x="375882" y="1633403"/>
                </a:lnTo>
                <a:lnTo>
                  <a:pt x="340533" y="1606482"/>
                </a:lnTo>
                <a:lnTo>
                  <a:pt x="306580" y="1577981"/>
                </a:lnTo>
                <a:lnTo>
                  <a:pt x="274081" y="1547955"/>
                </a:lnTo>
                <a:lnTo>
                  <a:pt x="243097" y="1516462"/>
                </a:lnTo>
                <a:lnTo>
                  <a:pt x="213686" y="1483559"/>
                </a:lnTo>
                <a:lnTo>
                  <a:pt x="185906" y="1449303"/>
                </a:lnTo>
                <a:lnTo>
                  <a:pt x="159816" y="1413751"/>
                </a:lnTo>
                <a:lnTo>
                  <a:pt x="135476" y="1376960"/>
                </a:lnTo>
                <a:lnTo>
                  <a:pt x="112944" y="1338987"/>
                </a:lnTo>
                <a:lnTo>
                  <a:pt x="92278" y="1299889"/>
                </a:lnTo>
                <a:lnTo>
                  <a:pt x="73538" y="1259722"/>
                </a:lnTo>
                <a:lnTo>
                  <a:pt x="56783" y="1218545"/>
                </a:lnTo>
                <a:lnTo>
                  <a:pt x="42071" y="1176413"/>
                </a:lnTo>
                <a:lnTo>
                  <a:pt x="29461" y="1133385"/>
                </a:lnTo>
                <a:lnTo>
                  <a:pt x="19012" y="1089516"/>
                </a:lnTo>
                <a:lnTo>
                  <a:pt x="10782" y="1044864"/>
                </a:lnTo>
                <a:lnTo>
                  <a:pt x="4831" y="999486"/>
                </a:lnTo>
                <a:lnTo>
                  <a:pt x="1217" y="953439"/>
                </a:lnTo>
                <a:lnTo>
                  <a:pt x="0" y="906780"/>
                </a:lnTo>
                <a:close/>
              </a:path>
            </a:pathLst>
          </a:custGeom>
          <a:ln w="25908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175503" y="2926079"/>
            <a:ext cx="1995170" cy="1932939"/>
          </a:xfrm>
          <a:custGeom>
            <a:avLst/>
            <a:gdLst/>
            <a:ahLst/>
            <a:cxnLst/>
            <a:rect l="l" t="t" r="r" b="b"/>
            <a:pathLst>
              <a:path w="1995170" h="1932939">
                <a:moveTo>
                  <a:pt x="0" y="966216"/>
                </a:moveTo>
                <a:lnTo>
                  <a:pt x="1150" y="919399"/>
                </a:lnTo>
                <a:lnTo>
                  <a:pt x="4565" y="873158"/>
                </a:lnTo>
                <a:lnTo>
                  <a:pt x="10194" y="827543"/>
                </a:lnTo>
                <a:lnTo>
                  <a:pt x="17984" y="782604"/>
                </a:lnTo>
                <a:lnTo>
                  <a:pt x="27882" y="738393"/>
                </a:lnTo>
                <a:lnTo>
                  <a:pt x="39837" y="694959"/>
                </a:lnTo>
                <a:lnTo>
                  <a:pt x="53796" y="652353"/>
                </a:lnTo>
                <a:lnTo>
                  <a:pt x="69707" y="610627"/>
                </a:lnTo>
                <a:lnTo>
                  <a:pt x="87518" y="569830"/>
                </a:lnTo>
                <a:lnTo>
                  <a:pt x="107177" y="530013"/>
                </a:lnTo>
                <a:lnTo>
                  <a:pt x="128630" y="491226"/>
                </a:lnTo>
                <a:lnTo>
                  <a:pt x="151827" y="453521"/>
                </a:lnTo>
                <a:lnTo>
                  <a:pt x="176715" y="416948"/>
                </a:lnTo>
                <a:lnTo>
                  <a:pt x="203242" y="381558"/>
                </a:lnTo>
                <a:lnTo>
                  <a:pt x="231355" y="347400"/>
                </a:lnTo>
                <a:lnTo>
                  <a:pt x="261002" y="314527"/>
                </a:lnTo>
                <a:lnTo>
                  <a:pt x="292131" y="282987"/>
                </a:lnTo>
                <a:lnTo>
                  <a:pt x="324690" y="252833"/>
                </a:lnTo>
                <a:lnTo>
                  <a:pt x="358627" y="224114"/>
                </a:lnTo>
                <a:lnTo>
                  <a:pt x="393888" y="196881"/>
                </a:lnTo>
                <a:lnTo>
                  <a:pt x="430423" y="171185"/>
                </a:lnTo>
                <a:lnTo>
                  <a:pt x="468178" y="147076"/>
                </a:lnTo>
                <a:lnTo>
                  <a:pt x="507103" y="124605"/>
                </a:lnTo>
                <a:lnTo>
                  <a:pt x="547143" y="103823"/>
                </a:lnTo>
                <a:lnTo>
                  <a:pt x="588248" y="84779"/>
                </a:lnTo>
                <a:lnTo>
                  <a:pt x="630364" y="67526"/>
                </a:lnTo>
                <a:lnTo>
                  <a:pt x="673440" y="52113"/>
                </a:lnTo>
                <a:lnTo>
                  <a:pt x="717424" y="38590"/>
                </a:lnTo>
                <a:lnTo>
                  <a:pt x="762263" y="27009"/>
                </a:lnTo>
                <a:lnTo>
                  <a:pt x="807905" y="17421"/>
                </a:lnTo>
                <a:lnTo>
                  <a:pt x="854297" y="9875"/>
                </a:lnTo>
                <a:lnTo>
                  <a:pt x="901389" y="4422"/>
                </a:lnTo>
                <a:lnTo>
                  <a:pt x="949126" y="1114"/>
                </a:lnTo>
                <a:lnTo>
                  <a:pt x="997458" y="0"/>
                </a:lnTo>
                <a:lnTo>
                  <a:pt x="1045789" y="1114"/>
                </a:lnTo>
                <a:lnTo>
                  <a:pt x="1093526" y="4422"/>
                </a:lnTo>
                <a:lnTo>
                  <a:pt x="1140618" y="9875"/>
                </a:lnTo>
                <a:lnTo>
                  <a:pt x="1187010" y="17421"/>
                </a:lnTo>
                <a:lnTo>
                  <a:pt x="1232652" y="27009"/>
                </a:lnTo>
                <a:lnTo>
                  <a:pt x="1277491" y="38590"/>
                </a:lnTo>
                <a:lnTo>
                  <a:pt x="1321475" y="52113"/>
                </a:lnTo>
                <a:lnTo>
                  <a:pt x="1364551" y="67526"/>
                </a:lnTo>
                <a:lnTo>
                  <a:pt x="1406667" y="84779"/>
                </a:lnTo>
                <a:lnTo>
                  <a:pt x="1447772" y="103823"/>
                </a:lnTo>
                <a:lnTo>
                  <a:pt x="1487812" y="124605"/>
                </a:lnTo>
                <a:lnTo>
                  <a:pt x="1526737" y="147076"/>
                </a:lnTo>
                <a:lnTo>
                  <a:pt x="1564492" y="171185"/>
                </a:lnTo>
                <a:lnTo>
                  <a:pt x="1601027" y="196881"/>
                </a:lnTo>
                <a:lnTo>
                  <a:pt x="1636288" y="224114"/>
                </a:lnTo>
                <a:lnTo>
                  <a:pt x="1670225" y="252833"/>
                </a:lnTo>
                <a:lnTo>
                  <a:pt x="1702784" y="282987"/>
                </a:lnTo>
                <a:lnTo>
                  <a:pt x="1733913" y="314527"/>
                </a:lnTo>
                <a:lnTo>
                  <a:pt x="1763560" y="347400"/>
                </a:lnTo>
                <a:lnTo>
                  <a:pt x="1791673" y="381558"/>
                </a:lnTo>
                <a:lnTo>
                  <a:pt x="1818200" y="416948"/>
                </a:lnTo>
                <a:lnTo>
                  <a:pt x="1843088" y="453521"/>
                </a:lnTo>
                <a:lnTo>
                  <a:pt x="1866285" y="491226"/>
                </a:lnTo>
                <a:lnTo>
                  <a:pt x="1887738" y="530013"/>
                </a:lnTo>
                <a:lnTo>
                  <a:pt x="1907397" y="569830"/>
                </a:lnTo>
                <a:lnTo>
                  <a:pt x="1925208" y="610627"/>
                </a:lnTo>
                <a:lnTo>
                  <a:pt x="1941119" y="652353"/>
                </a:lnTo>
                <a:lnTo>
                  <a:pt x="1955078" y="694959"/>
                </a:lnTo>
                <a:lnTo>
                  <a:pt x="1967033" y="738393"/>
                </a:lnTo>
                <a:lnTo>
                  <a:pt x="1976931" y="782604"/>
                </a:lnTo>
                <a:lnTo>
                  <a:pt x="1984721" y="827543"/>
                </a:lnTo>
                <a:lnTo>
                  <a:pt x="1990350" y="873158"/>
                </a:lnTo>
                <a:lnTo>
                  <a:pt x="1993765" y="919399"/>
                </a:lnTo>
                <a:lnTo>
                  <a:pt x="1994916" y="966216"/>
                </a:lnTo>
                <a:lnTo>
                  <a:pt x="1993765" y="1013032"/>
                </a:lnTo>
                <a:lnTo>
                  <a:pt x="1990350" y="1059273"/>
                </a:lnTo>
                <a:lnTo>
                  <a:pt x="1984721" y="1104888"/>
                </a:lnTo>
                <a:lnTo>
                  <a:pt x="1976931" y="1149827"/>
                </a:lnTo>
                <a:lnTo>
                  <a:pt x="1967033" y="1194038"/>
                </a:lnTo>
                <a:lnTo>
                  <a:pt x="1955078" y="1237472"/>
                </a:lnTo>
                <a:lnTo>
                  <a:pt x="1941119" y="1280078"/>
                </a:lnTo>
                <a:lnTo>
                  <a:pt x="1925208" y="1321804"/>
                </a:lnTo>
                <a:lnTo>
                  <a:pt x="1907397" y="1362601"/>
                </a:lnTo>
                <a:lnTo>
                  <a:pt x="1887738" y="1402418"/>
                </a:lnTo>
                <a:lnTo>
                  <a:pt x="1866285" y="1441205"/>
                </a:lnTo>
                <a:lnTo>
                  <a:pt x="1843088" y="1478910"/>
                </a:lnTo>
                <a:lnTo>
                  <a:pt x="1818200" y="1515483"/>
                </a:lnTo>
                <a:lnTo>
                  <a:pt x="1791673" y="1550873"/>
                </a:lnTo>
                <a:lnTo>
                  <a:pt x="1763560" y="1585031"/>
                </a:lnTo>
                <a:lnTo>
                  <a:pt x="1733913" y="1617904"/>
                </a:lnTo>
                <a:lnTo>
                  <a:pt x="1702784" y="1649444"/>
                </a:lnTo>
                <a:lnTo>
                  <a:pt x="1670225" y="1679598"/>
                </a:lnTo>
                <a:lnTo>
                  <a:pt x="1636288" y="1708317"/>
                </a:lnTo>
                <a:lnTo>
                  <a:pt x="1601027" y="1735550"/>
                </a:lnTo>
                <a:lnTo>
                  <a:pt x="1564492" y="1761246"/>
                </a:lnTo>
                <a:lnTo>
                  <a:pt x="1526737" y="1785355"/>
                </a:lnTo>
                <a:lnTo>
                  <a:pt x="1487812" y="1807826"/>
                </a:lnTo>
                <a:lnTo>
                  <a:pt x="1447772" y="1828608"/>
                </a:lnTo>
                <a:lnTo>
                  <a:pt x="1406667" y="1847652"/>
                </a:lnTo>
                <a:lnTo>
                  <a:pt x="1364551" y="1864905"/>
                </a:lnTo>
                <a:lnTo>
                  <a:pt x="1321475" y="1880318"/>
                </a:lnTo>
                <a:lnTo>
                  <a:pt x="1277491" y="1893841"/>
                </a:lnTo>
                <a:lnTo>
                  <a:pt x="1232652" y="1905422"/>
                </a:lnTo>
                <a:lnTo>
                  <a:pt x="1187010" y="1915010"/>
                </a:lnTo>
                <a:lnTo>
                  <a:pt x="1140618" y="1922556"/>
                </a:lnTo>
                <a:lnTo>
                  <a:pt x="1093526" y="1928009"/>
                </a:lnTo>
                <a:lnTo>
                  <a:pt x="1045789" y="1931317"/>
                </a:lnTo>
                <a:lnTo>
                  <a:pt x="997458" y="1932432"/>
                </a:lnTo>
                <a:lnTo>
                  <a:pt x="949126" y="1931317"/>
                </a:lnTo>
                <a:lnTo>
                  <a:pt x="901389" y="1928009"/>
                </a:lnTo>
                <a:lnTo>
                  <a:pt x="854297" y="1922556"/>
                </a:lnTo>
                <a:lnTo>
                  <a:pt x="807905" y="1915010"/>
                </a:lnTo>
                <a:lnTo>
                  <a:pt x="762263" y="1905422"/>
                </a:lnTo>
                <a:lnTo>
                  <a:pt x="717424" y="1893841"/>
                </a:lnTo>
                <a:lnTo>
                  <a:pt x="673440" y="1880318"/>
                </a:lnTo>
                <a:lnTo>
                  <a:pt x="630364" y="1864905"/>
                </a:lnTo>
                <a:lnTo>
                  <a:pt x="588248" y="1847652"/>
                </a:lnTo>
                <a:lnTo>
                  <a:pt x="547143" y="1828608"/>
                </a:lnTo>
                <a:lnTo>
                  <a:pt x="507103" y="1807826"/>
                </a:lnTo>
                <a:lnTo>
                  <a:pt x="468178" y="1785355"/>
                </a:lnTo>
                <a:lnTo>
                  <a:pt x="430423" y="1761246"/>
                </a:lnTo>
                <a:lnTo>
                  <a:pt x="393888" y="1735550"/>
                </a:lnTo>
                <a:lnTo>
                  <a:pt x="358627" y="1708317"/>
                </a:lnTo>
                <a:lnTo>
                  <a:pt x="324690" y="1679598"/>
                </a:lnTo>
                <a:lnTo>
                  <a:pt x="292131" y="1649444"/>
                </a:lnTo>
                <a:lnTo>
                  <a:pt x="261002" y="1617904"/>
                </a:lnTo>
                <a:lnTo>
                  <a:pt x="231355" y="1585031"/>
                </a:lnTo>
                <a:lnTo>
                  <a:pt x="203242" y="1550873"/>
                </a:lnTo>
                <a:lnTo>
                  <a:pt x="176715" y="1515483"/>
                </a:lnTo>
                <a:lnTo>
                  <a:pt x="151827" y="1478910"/>
                </a:lnTo>
                <a:lnTo>
                  <a:pt x="128630" y="1441205"/>
                </a:lnTo>
                <a:lnTo>
                  <a:pt x="107177" y="1402418"/>
                </a:lnTo>
                <a:lnTo>
                  <a:pt x="87518" y="1362601"/>
                </a:lnTo>
                <a:lnTo>
                  <a:pt x="69707" y="1321804"/>
                </a:lnTo>
                <a:lnTo>
                  <a:pt x="53796" y="1280078"/>
                </a:lnTo>
                <a:lnTo>
                  <a:pt x="39837" y="1237472"/>
                </a:lnTo>
                <a:lnTo>
                  <a:pt x="27882" y="1194038"/>
                </a:lnTo>
                <a:lnTo>
                  <a:pt x="17984" y="1149827"/>
                </a:lnTo>
                <a:lnTo>
                  <a:pt x="10194" y="1104888"/>
                </a:lnTo>
                <a:lnTo>
                  <a:pt x="4565" y="1059273"/>
                </a:lnTo>
                <a:lnTo>
                  <a:pt x="1150" y="1013032"/>
                </a:lnTo>
                <a:lnTo>
                  <a:pt x="0" y="966216"/>
                </a:lnTo>
                <a:close/>
              </a:path>
            </a:pathLst>
          </a:custGeom>
          <a:ln w="3175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715761" y="3618738"/>
            <a:ext cx="104076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0046AA"/>
                </a:solidFill>
                <a:latin typeface="微软雅黑"/>
                <a:cs typeface="微软雅黑"/>
              </a:rPr>
              <a:t>耐用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711690" y="2989326"/>
            <a:ext cx="1873250" cy="1813560"/>
          </a:xfrm>
          <a:custGeom>
            <a:avLst/>
            <a:gdLst/>
            <a:ahLst/>
            <a:cxnLst/>
            <a:rect l="l" t="t" r="r" b="b"/>
            <a:pathLst>
              <a:path w="1873250" h="1813560">
                <a:moveTo>
                  <a:pt x="0" y="906780"/>
                </a:moveTo>
                <a:lnTo>
                  <a:pt x="1218" y="860120"/>
                </a:lnTo>
                <a:lnTo>
                  <a:pt x="4834" y="814073"/>
                </a:lnTo>
                <a:lnTo>
                  <a:pt x="10789" y="768695"/>
                </a:lnTo>
                <a:lnTo>
                  <a:pt x="19023" y="724043"/>
                </a:lnTo>
                <a:lnTo>
                  <a:pt x="29479" y="680174"/>
                </a:lnTo>
                <a:lnTo>
                  <a:pt x="42098" y="637146"/>
                </a:lnTo>
                <a:lnTo>
                  <a:pt x="56820" y="595014"/>
                </a:lnTo>
                <a:lnTo>
                  <a:pt x="73586" y="553837"/>
                </a:lnTo>
                <a:lnTo>
                  <a:pt x="92339" y="513670"/>
                </a:lnTo>
                <a:lnTo>
                  <a:pt x="113018" y="474572"/>
                </a:lnTo>
                <a:lnTo>
                  <a:pt x="135566" y="436599"/>
                </a:lnTo>
                <a:lnTo>
                  <a:pt x="159924" y="399808"/>
                </a:lnTo>
                <a:lnTo>
                  <a:pt x="186032" y="364256"/>
                </a:lnTo>
                <a:lnTo>
                  <a:pt x="213832" y="330000"/>
                </a:lnTo>
                <a:lnTo>
                  <a:pt x="243265" y="297097"/>
                </a:lnTo>
                <a:lnTo>
                  <a:pt x="274272" y="265604"/>
                </a:lnTo>
                <a:lnTo>
                  <a:pt x="306795" y="235578"/>
                </a:lnTo>
                <a:lnTo>
                  <a:pt x="340774" y="207077"/>
                </a:lnTo>
                <a:lnTo>
                  <a:pt x="376151" y="180156"/>
                </a:lnTo>
                <a:lnTo>
                  <a:pt x="412867" y="154874"/>
                </a:lnTo>
                <a:lnTo>
                  <a:pt x="450864" y="131286"/>
                </a:lnTo>
                <a:lnTo>
                  <a:pt x="490081" y="109451"/>
                </a:lnTo>
                <a:lnTo>
                  <a:pt x="530462" y="89425"/>
                </a:lnTo>
                <a:lnTo>
                  <a:pt x="571946" y="71264"/>
                </a:lnTo>
                <a:lnTo>
                  <a:pt x="614475" y="55027"/>
                </a:lnTo>
                <a:lnTo>
                  <a:pt x="657990" y="40770"/>
                </a:lnTo>
                <a:lnTo>
                  <a:pt x="702433" y="28550"/>
                </a:lnTo>
                <a:lnTo>
                  <a:pt x="747744" y="18424"/>
                </a:lnTo>
                <a:lnTo>
                  <a:pt x="793865" y="10449"/>
                </a:lnTo>
                <a:lnTo>
                  <a:pt x="840737" y="4682"/>
                </a:lnTo>
                <a:lnTo>
                  <a:pt x="888300" y="1180"/>
                </a:lnTo>
                <a:lnTo>
                  <a:pt x="936498" y="0"/>
                </a:lnTo>
                <a:lnTo>
                  <a:pt x="984695" y="1180"/>
                </a:lnTo>
                <a:lnTo>
                  <a:pt x="1032258" y="4682"/>
                </a:lnTo>
                <a:lnTo>
                  <a:pt x="1079130" y="10449"/>
                </a:lnTo>
                <a:lnTo>
                  <a:pt x="1125251" y="18424"/>
                </a:lnTo>
                <a:lnTo>
                  <a:pt x="1170562" y="28550"/>
                </a:lnTo>
                <a:lnTo>
                  <a:pt x="1215005" y="40770"/>
                </a:lnTo>
                <a:lnTo>
                  <a:pt x="1258520" y="55027"/>
                </a:lnTo>
                <a:lnTo>
                  <a:pt x="1301049" y="71264"/>
                </a:lnTo>
                <a:lnTo>
                  <a:pt x="1342533" y="89425"/>
                </a:lnTo>
                <a:lnTo>
                  <a:pt x="1382914" y="109451"/>
                </a:lnTo>
                <a:lnTo>
                  <a:pt x="1422131" y="131286"/>
                </a:lnTo>
                <a:lnTo>
                  <a:pt x="1460128" y="154874"/>
                </a:lnTo>
                <a:lnTo>
                  <a:pt x="1496844" y="180156"/>
                </a:lnTo>
                <a:lnTo>
                  <a:pt x="1532221" y="207077"/>
                </a:lnTo>
                <a:lnTo>
                  <a:pt x="1566200" y="235578"/>
                </a:lnTo>
                <a:lnTo>
                  <a:pt x="1598723" y="265604"/>
                </a:lnTo>
                <a:lnTo>
                  <a:pt x="1629730" y="297097"/>
                </a:lnTo>
                <a:lnTo>
                  <a:pt x="1659163" y="330000"/>
                </a:lnTo>
                <a:lnTo>
                  <a:pt x="1686963" y="364256"/>
                </a:lnTo>
                <a:lnTo>
                  <a:pt x="1713071" y="399808"/>
                </a:lnTo>
                <a:lnTo>
                  <a:pt x="1737429" y="436599"/>
                </a:lnTo>
                <a:lnTo>
                  <a:pt x="1759977" y="474572"/>
                </a:lnTo>
                <a:lnTo>
                  <a:pt x="1780656" y="513670"/>
                </a:lnTo>
                <a:lnTo>
                  <a:pt x="1799409" y="553837"/>
                </a:lnTo>
                <a:lnTo>
                  <a:pt x="1816175" y="595014"/>
                </a:lnTo>
                <a:lnTo>
                  <a:pt x="1830897" y="637146"/>
                </a:lnTo>
                <a:lnTo>
                  <a:pt x="1843516" y="680174"/>
                </a:lnTo>
                <a:lnTo>
                  <a:pt x="1853972" y="724043"/>
                </a:lnTo>
                <a:lnTo>
                  <a:pt x="1862206" y="768695"/>
                </a:lnTo>
                <a:lnTo>
                  <a:pt x="1868161" y="814073"/>
                </a:lnTo>
                <a:lnTo>
                  <a:pt x="1871777" y="860120"/>
                </a:lnTo>
                <a:lnTo>
                  <a:pt x="1872995" y="906780"/>
                </a:lnTo>
                <a:lnTo>
                  <a:pt x="1871777" y="953439"/>
                </a:lnTo>
                <a:lnTo>
                  <a:pt x="1868161" y="999486"/>
                </a:lnTo>
                <a:lnTo>
                  <a:pt x="1862206" y="1044864"/>
                </a:lnTo>
                <a:lnTo>
                  <a:pt x="1853972" y="1089516"/>
                </a:lnTo>
                <a:lnTo>
                  <a:pt x="1843516" y="1133385"/>
                </a:lnTo>
                <a:lnTo>
                  <a:pt x="1830897" y="1176413"/>
                </a:lnTo>
                <a:lnTo>
                  <a:pt x="1816175" y="1218545"/>
                </a:lnTo>
                <a:lnTo>
                  <a:pt x="1799409" y="1259722"/>
                </a:lnTo>
                <a:lnTo>
                  <a:pt x="1780656" y="1299889"/>
                </a:lnTo>
                <a:lnTo>
                  <a:pt x="1759977" y="1338987"/>
                </a:lnTo>
                <a:lnTo>
                  <a:pt x="1737429" y="1376960"/>
                </a:lnTo>
                <a:lnTo>
                  <a:pt x="1713071" y="1413751"/>
                </a:lnTo>
                <a:lnTo>
                  <a:pt x="1686963" y="1449303"/>
                </a:lnTo>
                <a:lnTo>
                  <a:pt x="1659163" y="1483559"/>
                </a:lnTo>
                <a:lnTo>
                  <a:pt x="1629730" y="1516462"/>
                </a:lnTo>
                <a:lnTo>
                  <a:pt x="1598723" y="1547955"/>
                </a:lnTo>
                <a:lnTo>
                  <a:pt x="1566200" y="1577981"/>
                </a:lnTo>
                <a:lnTo>
                  <a:pt x="1532221" y="1606482"/>
                </a:lnTo>
                <a:lnTo>
                  <a:pt x="1496844" y="1633403"/>
                </a:lnTo>
                <a:lnTo>
                  <a:pt x="1460128" y="1658685"/>
                </a:lnTo>
                <a:lnTo>
                  <a:pt x="1422131" y="1682273"/>
                </a:lnTo>
                <a:lnTo>
                  <a:pt x="1382914" y="1704108"/>
                </a:lnTo>
                <a:lnTo>
                  <a:pt x="1342533" y="1724134"/>
                </a:lnTo>
                <a:lnTo>
                  <a:pt x="1301049" y="1742295"/>
                </a:lnTo>
                <a:lnTo>
                  <a:pt x="1258520" y="1758532"/>
                </a:lnTo>
                <a:lnTo>
                  <a:pt x="1215005" y="1772789"/>
                </a:lnTo>
                <a:lnTo>
                  <a:pt x="1170562" y="1785009"/>
                </a:lnTo>
                <a:lnTo>
                  <a:pt x="1125251" y="1795135"/>
                </a:lnTo>
                <a:lnTo>
                  <a:pt x="1079130" y="1803110"/>
                </a:lnTo>
                <a:lnTo>
                  <a:pt x="1032258" y="1808877"/>
                </a:lnTo>
                <a:lnTo>
                  <a:pt x="984695" y="1812379"/>
                </a:lnTo>
                <a:lnTo>
                  <a:pt x="936498" y="1813560"/>
                </a:lnTo>
                <a:lnTo>
                  <a:pt x="888300" y="1812379"/>
                </a:lnTo>
                <a:lnTo>
                  <a:pt x="840737" y="1808877"/>
                </a:lnTo>
                <a:lnTo>
                  <a:pt x="793865" y="1803110"/>
                </a:lnTo>
                <a:lnTo>
                  <a:pt x="747744" y="1795135"/>
                </a:lnTo>
                <a:lnTo>
                  <a:pt x="702433" y="1785009"/>
                </a:lnTo>
                <a:lnTo>
                  <a:pt x="657990" y="1772789"/>
                </a:lnTo>
                <a:lnTo>
                  <a:pt x="614475" y="1758532"/>
                </a:lnTo>
                <a:lnTo>
                  <a:pt x="571946" y="1742295"/>
                </a:lnTo>
                <a:lnTo>
                  <a:pt x="530462" y="1724134"/>
                </a:lnTo>
                <a:lnTo>
                  <a:pt x="490081" y="1704108"/>
                </a:lnTo>
                <a:lnTo>
                  <a:pt x="450864" y="1682273"/>
                </a:lnTo>
                <a:lnTo>
                  <a:pt x="412867" y="1658685"/>
                </a:lnTo>
                <a:lnTo>
                  <a:pt x="376151" y="1633403"/>
                </a:lnTo>
                <a:lnTo>
                  <a:pt x="340774" y="1606482"/>
                </a:lnTo>
                <a:lnTo>
                  <a:pt x="306795" y="1577981"/>
                </a:lnTo>
                <a:lnTo>
                  <a:pt x="274272" y="1547955"/>
                </a:lnTo>
                <a:lnTo>
                  <a:pt x="243265" y="1516462"/>
                </a:lnTo>
                <a:lnTo>
                  <a:pt x="213832" y="1483559"/>
                </a:lnTo>
                <a:lnTo>
                  <a:pt x="186032" y="1449303"/>
                </a:lnTo>
                <a:lnTo>
                  <a:pt x="159924" y="1413751"/>
                </a:lnTo>
                <a:lnTo>
                  <a:pt x="135566" y="1376960"/>
                </a:lnTo>
                <a:lnTo>
                  <a:pt x="113018" y="1338987"/>
                </a:lnTo>
                <a:lnTo>
                  <a:pt x="92339" y="1299889"/>
                </a:lnTo>
                <a:lnTo>
                  <a:pt x="73586" y="1259722"/>
                </a:lnTo>
                <a:lnTo>
                  <a:pt x="56820" y="1218545"/>
                </a:lnTo>
                <a:lnTo>
                  <a:pt x="42098" y="1176413"/>
                </a:lnTo>
                <a:lnTo>
                  <a:pt x="29479" y="1133385"/>
                </a:lnTo>
                <a:lnTo>
                  <a:pt x="19023" y="1089516"/>
                </a:lnTo>
                <a:lnTo>
                  <a:pt x="10789" y="1044864"/>
                </a:lnTo>
                <a:lnTo>
                  <a:pt x="4834" y="999486"/>
                </a:lnTo>
                <a:lnTo>
                  <a:pt x="1218" y="953439"/>
                </a:lnTo>
                <a:lnTo>
                  <a:pt x="0" y="906780"/>
                </a:lnTo>
                <a:close/>
              </a:path>
            </a:pathLst>
          </a:custGeom>
          <a:ln w="25907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649968" y="2927604"/>
            <a:ext cx="1995170" cy="1932939"/>
          </a:xfrm>
          <a:custGeom>
            <a:avLst/>
            <a:gdLst/>
            <a:ahLst/>
            <a:cxnLst/>
            <a:rect l="l" t="t" r="r" b="b"/>
            <a:pathLst>
              <a:path w="1995170" h="1932939">
                <a:moveTo>
                  <a:pt x="0" y="966216"/>
                </a:moveTo>
                <a:lnTo>
                  <a:pt x="1150" y="919399"/>
                </a:lnTo>
                <a:lnTo>
                  <a:pt x="4565" y="873158"/>
                </a:lnTo>
                <a:lnTo>
                  <a:pt x="10194" y="827543"/>
                </a:lnTo>
                <a:lnTo>
                  <a:pt x="17984" y="782604"/>
                </a:lnTo>
                <a:lnTo>
                  <a:pt x="27882" y="738393"/>
                </a:lnTo>
                <a:lnTo>
                  <a:pt x="39837" y="694959"/>
                </a:lnTo>
                <a:lnTo>
                  <a:pt x="53796" y="652353"/>
                </a:lnTo>
                <a:lnTo>
                  <a:pt x="69707" y="610627"/>
                </a:lnTo>
                <a:lnTo>
                  <a:pt x="87518" y="569830"/>
                </a:lnTo>
                <a:lnTo>
                  <a:pt x="107177" y="530013"/>
                </a:lnTo>
                <a:lnTo>
                  <a:pt x="128630" y="491226"/>
                </a:lnTo>
                <a:lnTo>
                  <a:pt x="151827" y="453521"/>
                </a:lnTo>
                <a:lnTo>
                  <a:pt x="176715" y="416948"/>
                </a:lnTo>
                <a:lnTo>
                  <a:pt x="203242" y="381558"/>
                </a:lnTo>
                <a:lnTo>
                  <a:pt x="231355" y="347400"/>
                </a:lnTo>
                <a:lnTo>
                  <a:pt x="261002" y="314527"/>
                </a:lnTo>
                <a:lnTo>
                  <a:pt x="292131" y="282987"/>
                </a:lnTo>
                <a:lnTo>
                  <a:pt x="324690" y="252833"/>
                </a:lnTo>
                <a:lnTo>
                  <a:pt x="358627" y="224114"/>
                </a:lnTo>
                <a:lnTo>
                  <a:pt x="393888" y="196881"/>
                </a:lnTo>
                <a:lnTo>
                  <a:pt x="430423" y="171185"/>
                </a:lnTo>
                <a:lnTo>
                  <a:pt x="468178" y="147076"/>
                </a:lnTo>
                <a:lnTo>
                  <a:pt x="507103" y="124605"/>
                </a:lnTo>
                <a:lnTo>
                  <a:pt x="547143" y="103823"/>
                </a:lnTo>
                <a:lnTo>
                  <a:pt x="588248" y="84779"/>
                </a:lnTo>
                <a:lnTo>
                  <a:pt x="630364" y="67526"/>
                </a:lnTo>
                <a:lnTo>
                  <a:pt x="673440" y="52113"/>
                </a:lnTo>
                <a:lnTo>
                  <a:pt x="717424" y="38590"/>
                </a:lnTo>
                <a:lnTo>
                  <a:pt x="762263" y="27009"/>
                </a:lnTo>
                <a:lnTo>
                  <a:pt x="807905" y="17421"/>
                </a:lnTo>
                <a:lnTo>
                  <a:pt x="854297" y="9875"/>
                </a:lnTo>
                <a:lnTo>
                  <a:pt x="901389" y="4422"/>
                </a:lnTo>
                <a:lnTo>
                  <a:pt x="949126" y="1114"/>
                </a:lnTo>
                <a:lnTo>
                  <a:pt x="997457" y="0"/>
                </a:lnTo>
                <a:lnTo>
                  <a:pt x="1045789" y="1114"/>
                </a:lnTo>
                <a:lnTo>
                  <a:pt x="1093526" y="4422"/>
                </a:lnTo>
                <a:lnTo>
                  <a:pt x="1140618" y="9875"/>
                </a:lnTo>
                <a:lnTo>
                  <a:pt x="1187010" y="17421"/>
                </a:lnTo>
                <a:lnTo>
                  <a:pt x="1232652" y="27009"/>
                </a:lnTo>
                <a:lnTo>
                  <a:pt x="1277491" y="38590"/>
                </a:lnTo>
                <a:lnTo>
                  <a:pt x="1321475" y="52113"/>
                </a:lnTo>
                <a:lnTo>
                  <a:pt x="1364551" y="67526"/>
                </a:lnTo>
                <a:lnTo>
                  <a:pt x="1406667" y="84779"/>
                </a:lnTo>
                <a:lnTo>
                  <a:pt x="1447772" y="103823"/>
                </a:lnTo>
                <a:lnTo>
                  <a:pt x="1487812" y="124605"/>
                </a:lnTo>
                <a:lnTo>
                  <a:pt x="1526737" y="147076"/>
                </a:lnTo>
                <a:lnTo>
                  <a:pt x="1564492" y="171185"/>
                </a:lnTo>
                <a:lnTo>
                  <a:pt x="1601027" y="196881"/>
                </a:lnTo>
                <a:lnTo>
                  <a:pt x="1636288" y="224114"/>
                </a:lnTo>
                <a:lnTo>
                  <a:pt x="1670225" y="252833"/>
                </a:lnTo>
                <a:lnTo>
                  <a:pt x="1702784" y="282987"/>
                </a:lnTo>
                <a:lnTo>
                  <a:pt x="1733913" y="314527"/>
                </a:lnTo>
                <a:lnTo>
                  <a:pt x="1763560" y="347400"/>
                </a:lnTo>
                <a:lnTo>
                  <a:pt x="1791673" y="381558"/>
                </a:lnTo>
                <a:lnTo>
                  <a:pt x="1818200" y="416948"/>
                </a:lnTo>
                <a:lnTo>
                  <a:pt x="1843088" y="453521"/>
                </a:lnTo>
                <a:lnTo>
                  <a:pt x="1866285" y="491226"/>
                </a:lnTo>
                <a:lnTo>
                  <a:pt x="1887738" y="530013"/>
                </a:lnTo>
                <a:lnTo>
                  <a:pt x="1907397" y="569830"/>
                </a:lnTo>
                <a:lnTo>
                  <a:pt x="1925208" y="610627"/>
                </a:lnTo>
                <a:lnTo>
                  <a:pt x="1941119" y="652353"/>
                </a:lnTo>
                <a:lnTo>
                  <a:pt x="1955078" y="694959"/>
                </a:lnTo>
                <a:lnTo>
                  <a:pt x="1967033" y="738393"/>
                </a:lnTo>
                <a:lnTo>
                  <a:pt x="1976931" y="782604"/>
                </a:lnTo>
                <a:lnTo>
                  <a:pt x="1984721" y="827543"/>
                </a:lnTo>
                <a:lnTo>
                  <a:pt x="1990350" y="873158"/>
                </a:lnTo>
                <a:lnTo>
                  <a:pt x="1993765" y="919399"/>
                </a:lnTo>
                <a:lnTo>
                  <a:pt x="1994915" y="966216"/>
                </a:lnTo>
                <a:lnTo>
                  <a:pt x="1993765" y="1013032"/>
                </a:lnTo>
                <a:lnTo>
                  <a:pt x="1990350" y="1059273"/>
                </a:lnTo>
                <a:lnTo>
                  <a:pt x="1984721" y="1104888"/>
                </a:lnTo>
                <a:lnTo>
                  <a:pt x="1976931" y="1149827"/>
                </a:lnTo>
                <a:lnTo>
                  <a:pt x="1967033" y="1194038"/>
                </a:lnTo>
                <a:lnTo>
                  <a:pt x="1955078" y="1237472"/>
                </a:lnTo>
                <a:lnTo>
                  <a:pt x="1941119" y="1280078"/>
                </a:lnTo>
                <a:lnTo>
                  <a:pt x="1925208" y="1321804"/>
                </a:lnTo>
                <a:lnTo>
                  <a:pt x="1907397" y="1362601"/>
                </a:lnTo>
                <a:lnTo>
                  <a:pt x="1887738" y="1402418"/>
                </a:lnTo>
                <a:lnTo>
                  <a:pt x="1866285" y="1441205"/>
                </a:lnTo>
                <a:lnTo>
                  <a:pt x="1843088" y="1478910"/>
                </a:lnTo>
                <a:lnTo>
                  <a:pt x="1818200" y="1515483"/>
                </a:lnTo>
                <a:lnTo>
                  <a:pt x="1791673" y="1550873"/>
                </a:lnTo>
                <a:lnTo>
                  <a:pt x="1763560" y="1585031"/>
                </a:lnTo>
                <a:lnTo>
                  <a:pt x="1733913" y="1617904"/>
                </a:lnTo>
                <a:lnTo>
                  <a:pt x="1702784" y="1649444"/>
                </a:lnTo>
                <a:lnTo>
                  <a:pt x="1670225" y="1679598"/>
                </a:lnTo>
                <a:lnTo>
                  <a:pt x="1636288" y="1708317"/>
                </a:lnTo>
                <a:lnTo>
                  <a:pt x="1601027" y="1735550"/>
                </a:lnTo>
                <a:lnTo>
                  <a:pt x="1564492" y="1761246"/>
                </a:lnTo>
                <a:lnTo>
                  <a:pt x="1526737" y="1785355"/>
                </a:lnTo>
                <a:lnTo>
                  <a:pt x="1487812" y="1807826"/>
                </a:lnTo>
                <a:lnTo>
                  <a:pt x="1447772" y="1828608"/>
                </a:lnTo>
                <a:lnTo>
                  <a:pt x="1406667" y="1847652"/>
                </a:lnTo>
                <a:lnTo>
                  <a:pt x="1364551" y="1864905"/>
                </a:lnTo>
                <a:lnTo>
                  <a:pt x="1321475" y="1880318"/>
                </a:lnTo>
                <a:lnTo>
                  <a:pt x="1277491" y="1893841"/>
                </a:lnTo>
                <a:lnTo>
                  <a:pt x="1232652" y="1905422"/>
                </a:lnTo>
                <a:lnTo>
                  <a:pt x="1187010" y="1915010"/>
                </a:lnTo>
                <a:lnTo>
                  <a:pt x="1140618" y="1922556"/>
                </a:lnTo>
                <a:lnTo>
                  <a:pt x="1093526" y="1928009"/>
                </a:lnTo>
                <a:lnTo>
                  <a:pt x="1045789" y="1931317"/>
                </a:lnTo>
                <a:lnTo>
                  <a:pt x="997457" y="1932432"/>
                </a:lnTo>
                <a:lnTo>
                  <a:pt x="949126" y="1931317"/>
                </a:lnTo>
                <a:lnTo>
                  <a:pt x="901389" y="1928009"/>
                </a:lnTo>
                <a:lnTo>
                  <a:pt x="854297" y="1922556"/>
                </a:lnTo>
                <a:lnTo>
                  <a:pt x="807905" y="1915010"/>
                </a:lnTo>
                <a:lnTo>
                  <a:pt x="762263" y="1905422"/>
                </a:lnTo>
                <a:lnTo>
                  <a:pt x="717424" y="1893841"/>
                </a:lnTo>
                <a:lnTo>
                  <a:pt x="673440" y="1880318"/>
                </a:lnTo>
                <a:lnTo>
                  <a:pt x="630364" y="1864905"/>
                </a:lnTo>
                <a:lnTo>
                  <a:pt x="588248" y="1847652"/>
                </a:lnTo>
                <a:lnTo>
                  <a:pt x="547143" y="1828608"/>
                </a:lnTo>
                <a:lnTo>
                  <a:pt x="507103" y="1807826"/>
                </a:lnTo>
                <a:lnTo>
                  <a:pt x="468178" y="1785355"/>
                </a:lnTo>
                <a:lnTo>
                  <a:pt x="430423" y="1761246"/>
                </a:lnTo>
                <a:lnTo>
                  <a:pt x="393888" y="1735550"/>
                </a:lnTo>
                <a:lnTo>
                  <a:pt x="358627" y="1708317"/>
                </a:lnTo>
                <a:lnTo>
                  <a:pt x="324690" y="1679598"/>
                </a:lnTo>
                <a:lnTo>
                  <a:pt x="292131" y="1649444"/>
                </a:lnTo>
                <a:lnTo>
                  <a:pt x="261002" y="1617904"/>
                </a:lnTo>
                <a:lnTo>
                  <a:pt x="231355" y="1585031"/>
                </a:lnTo>
                <a:lnTo>
                  <a:pt x="203242" y="1550873"/>
                </a:lnTo>
                <a:lnTo>
                  <a:pt x="176715" y="1515483"/>
                </a:lnTo>
                <a:lnTo>
                  <a:pt x="151827" y="1478910"/>
                </a:lnTo>
                <a:lnTo>
                  <a:pt x="128630" y="1441205"/>
                </a:lnTo>
                <a:lnTo>
                  <a:pt x="107177" y="1402418"/>
                </a:lnTo>
                <a:lnTo>
                  <a:pt x="87518" y="1362601"/>
                </a:lnTo>
                <a:lnTo>
                  <a:pt x="69707" y="1321804"/>
                </a:lnTo>
                <a:lnTo>
                  <a:pt x="53796" y="1280078"/>
                </a:lnTo>
                <a:lnTo>
                  <a:pt x="39837" y="1237472"/>
                </a:lnTo>
                <a:lnTo>
                  <a:pt x="27882" y="1194038"/>
                </a:lnTo>
                <a:lnTo>
                  <a:pt x="17984" y="1149827"/>
                </a:lnTo>
                <a:lnTo>
                  <a:pt x="10194" y="1104888"/>
                </a:lnTo>
                <a:lnTo>
                  <a:pt x="4565" y="1059273"/>
                </a:lnTo>
                <a:lnTo>
                  <a:pt x="1150" y="1013032"/>
                </a:lnTo>
                <a:lnTo>
                  <a:pt x="0" y="966216"/>
                </a:lnTo>
                <a:close/>
              </a:path>
            </a:pathLst>
          </a:custGeom>
          <a:ln w="3175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127742" y="3618738"/>
            <a:ext cx="104076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0046AA"/>
                </a:solidFill>
                <a:latin typeface="微软雅黑"/>
                <a:cs typeface="微软雅黑"/>
              </a:rPr>
              <a:t>管理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4077" y="2989326"/>
            <a:ext cx="1871980" cy="1813560"/>
          </a:xfrm>
          <a:custGeom>
            <a:avLst/>
            <a:gdLst/>
            <a:ahLst/>
            <a:cxnLst/>
            <a:rect l="l" t="t" r="r" b="b"/>
            <a:pathLst>
              <a:path w="1871980" h="1813560">
                <a:moveTo>
                  <a:pt x="0" y="906780"/>
                </a:moveTo>
                <a:lnTo>
                  <a:pt x="1217" y="860120"/>
                </a:lnTo>
                <a:lnTo>
                  <a:pt x="4831" y="814073"/>
                </a:lnTo>
                <a:lnTo>
                  <a:pt x="10781" y="768695"/>
                </a:lnTo>
                <a:lnTo>
                  <a:pt x="19011" y="724043"/>
                </a:lnTo>
                <a:lnTo>
                  <a:pt x="29459" y="680174"/>
                </a:lnTo>
                <a:lnTo>
                  <a:pt x="42069" y="637146"/>
                </a:lnTo>
                <a:lnTo>
                  <a:pt x="56780" y="595014"/>
                </a:lnTo>
                <a:lnTo>
                  <a:pt x="73535" y="553837"/>
                </a:lnTo>
                <a:lnTo>
                  <a:pt x="92274" y="513670"/>
                </a:lnTo>
                <a:lnTo>
                  <a:pt x="112939" y="474572"/>
                </a:lnTo>
                <a:lnTo>
                  <a:pt x="135470" y="436599"/>
                </a:lnTo>
                <a:lnTo>
                  <a:pt x="159810" y="399808"/>
                </a:lnTo>
                <a:lnTo>
                  <a:pt x="185898" y="364256"/>
                </a:lnTo>
                <a:lnTo>
                  <a:pt x="213678" y="330000"/>
                </a:lnTo>
                <a:lnTo>
                  <a:pt x="243088" y="297097"/>
                </a:lnTo>
                <a:lnTo>
                  <a:pt x="274072" y="265604"/>
                </a:lnTo>
                <a:lnTo>
                  <a:pt x="306569" y="235578"/>
                </a:lnTo>
                <a:lnTo>
                  <a:pt x="340522" y="207077"/>
                </a:lnTo>
                <a:lnTo>
                  <a:pt x="375872" y="180156"/>
                </a:lnTo>
                <a:lnTo>
                  <a:pt x="412559" y="154874"/>
                </a:lnTo>
                <a:lnTo>
                  <a:pt x="450524" y="131286"/>
                </a:lnTo>
                <a:lnTo>
                  <a:pt x="489710" y="109451"/>
                </a:lnTo>
                <a:lnTo>
                  <a:pt x="530057" y="89425"/>
                </a:lnTo>
                <a:lnTo>
                  <a:pt x="571507" y="71264"/>
                </a:lnTo>
                <a:lnTo>
                  <a:pt x="614000" y="55027"/>
                </a:lnTo>
                <a:lnTo>
                  <a:pt x="657478" y="40770"/>
                </a:lnTo>
                <a:lnTo>
                  <a:pt x="701882" y="28550"/>
                </a:lnTo>
                <a:lnTo>
                  <a:pt x="747153" y="18424"/>
                </a:lnTo>
                <a:lnTo>
                  <a:pt x="793233" y="10449"/>
                </a:lnTo>
                <a:lnTo>
                  <a:pt x="840063" y="4682"/>
                </a:lnTo>
                <a:lnTo>
                  <a:pt x="887583" y="1180"/>
                </a:lnTo>
                <a:lnTo>
                  <a:pt x="935735" y="0"/>
                </a:lnTo>
                <a:lnTo>
                  <a:pt x="983886" y="1180"/>
                </a:lnTo>
                <a:lnTo>
                  <a:pt x="1031404" y="4682"/>
                </a:lnTo>
                <a:lnTo>
                  <a:pt x="1078232" y="10449"/>
                </a:lnTo>
                <a:lnTo>
                  <a:pt x="1124310" y="18424"/>
                </a:lnTo>
                <a:lnTo>
                  <a:pt x="1169581" y="28550"/>
                </a:lnTo>
                <a:lnTo>
                  <a:pt x="1213984" y="40770"/>
                </a:lnTo>
                <a:lnTo>
                  <a:pt x="1257461" y="55027"/>
                </a:lnTo>
                <a:lnTo>
                  <a:pt x="1299954" y="71264"/>
                </a:lnTo>
                <a:lnTo>
                  <a:pt x="1341403" y="89425"/>
                </a:lnTo>
                <a:lnTo>
                  <a:pt x="1381750" y="109451"/>
                </a:lnTo>
                <a:lnTo>
                  <a:pt x="1420935" y="131286"/>
                </a:lnTo>
                <a:lnTo>
                  <a:pt x="1458901" y="154874"/>
                </a:lnTo>
                <a:lnTo>
                  <a:pt x="1495589" y="180156"/>
                </a:lnTo>
                <a:lnTo>
                  <a:pt x="1530938" y="207077"/>
                </a:lnTo>
                <a:lnTo>
                  <a:pt x="1564891" y="235578"/>
                </a:lnTo>
                <a:lnTo>
                  <a:pt x="1597390" y="265604"/>
                </a:lnTo>
                <a:lnTo>
                  <a:pt x="1628374" y="297097"/>
                </a:lnTo>
                <a:lnTo>
                  <a:pt x="1657785" y="330000"/>
                </a:lnTo>
                <a:lnTo>
                  <a:pt x="1685565" y="364256"/>
                </a:lnTo>
                <a:lnTo>
                  <a:pt x="1711655" y="399808"/>
                </a:lnTo>
                <a:lnTo>
                  <a:pt x="1735995" y="436599"/>
                </a:lnTo>
                <a:lnTo>
                  <a:pt x="1758527" y="474572"/>
                </a:lnTo>
                <a:lnTo>
                  <a:pt x="1779193" y="513670"/>
                </a:lnTo>
                <a:lnTo>
                  <a:pt x="1797933" y="553837"/>
                </a:lnTo>
                <a:lnTo>
                  <a:pt x="1814688" y="595014"/>
                </a:lnTo>
                <a:lnTo>
                  <a:pt x="1829400" y="637146"/>
                </a:lnTo>
                <a:lnTo>
                  <a:pt x="1842010" y="680174"/>
                </a:lnTo>
                <a:lnTo>
                  <a:pt x="1852459" y="724043"/>
                </a:lnTo>
                <a:lnTo>
                  <a:pt x="1860689" y="768695"/>
                </a:lnTo>
                <a:lnTo>
                  <a:pt x="1866640" y="814073"/>
                </a:lnTo>
                <a:lnTo>
                  <a:pt x="1870254" y="860120"/>
                </a:lnTo>
                <a:lnTo>
                  <a:pt x="1871472" y="906780"/>
                </a:lnTo>
                <a:lnTo>
                  <a:pt x="1870254" y="953439"/>
                </a:lnTo>
                <a:lnTo>
                  <a:pt x="1866640" y="999486"/>
                </a:lnTo>
                <a:lnTo>
                  <a:pt x="1860689" y="1044864"/>
                </a:lnTo>
                <a:lnTo>
                  <a:pt x="1852459" y="1089516"/>
                </a:lnTo>
                <a:lnTo>
                  <a:pt x="1842010" y="1133385"/>
                </a:lnTo>
                <a:lnTo>
                  <a:pt x="1829400" y="1176413"/>
                </a:lnTo>
                <a:lnTo>
                  <a:pt x="1814688" y="1218545"/>
                </a:lnTo>
                <a:lnTo>
                  <a:pt x="1797933" y="1259722"/>
                </a:lnTo>
                <a:lnTo>
                  <a:pt x="1779193" y="1299889"/>
                </a:lnTo>
                <a:lnTo>
                  <a:pt x="1758527" y="1338987"/>
                </a:lnTo>
                <a:lnTo>
                  <a:pt x="1735995" y="1376960"/>
                </a:lnTo>
                <a:lnTo>
                  <a:pt x="1711655" y="1413751"/>
                </a:lnTo>
                <a:lnTo>
                  <a:pt x="1685565" y="1449303"/>
                </a:lnTo>
                <a:lnTo>
                  <a:pt x="1657785" y="1483559"/>
                </a:lnTo>
                <a:lnTo>
                  <a:pt x="1628374" y="1516462"/>
                </a:lnTo>
                <a:lnTo>
                  <a:pt x="1597390" y="1547955"/>
                </a:lnTo>
                <a:lnTo>
                  <a:pt x="1564891" y="1577981"/>
                </a:lnTo>
                <a:lnTo>
                  <a:pt x="1530938" y="1606482"/>
                </a:lnTo>
                <a:lnTo>
                  <a:pt x="1495589" y="1633403"/>
                </a:lnTo>
                <a:lnTo>
                  <a:pt x="1458901" y="1658685"/>
                </a:lnTo>
                <a:lnTo>
                  <a:pt x="1420935" y="1682273"/>
                </a:lnTo>
                <a:lnTo>
                  <a:pt x="1381750" y="1704108"/>
                </a:lnTo>
                <a:lnTo>
                  <a:pt x="1341403" y="1724134"/>
                </a:lnTo>
                <a:lnTo>
                  <a:pt x="1299954" y="1742295"/>
                </a:lnTo>
                <a:lnTo>
                  <a:pt x="1257461" y="1758532"/>
                </a:lnTo>
                <a:lnTo>
                  <a:pt x="1213984" y="1772789"/>
                </a:lnTo>
                <a:lnTo>
                  <a:pt x="1169581" y="1785009"/>
                </a:lnTo>
                <a:lnTo>
                  <a:pt x="1124310" y="1795135"/>
                </a:lnTo>
                <a:lnTo>
                  <a:pt x="1078232" y="1803110"/>
                </a:lnTo>
                <a:lnTo>
                  <a:pt x="1031404" y="1808877"/>
                </a:lnTo>
                <a:lnTo>
                  <a:pt x="983886" y="1812379"/>
                </a:lnTo>
                <a:lnTo>
                  <a:pt x="935735" y="1813560"/>
                </a:lnTo>
                <a:lnTo>
                  <a:pt x="887583" y="1812379"/>
                </a:lnTo>
                <a:lnTo>
                  <a:pt x="840063" y="1808877"/>
                </a:lnTo>
                <a:lnTo>
                  <a:pt x="793233" y="1803110"/>
                </a:lnTo>
                <a:lnTo>
                  <a:pt x="747153" y="1795135"/>
                </a:lnTo>
                <a:lnTo>
                  <a:pt x="701882" y="1785009"/>
                </a:lnTo>
                <a:lnTo>
                  <a:pt x="657478" y="1772789"/>
                </a:lnTo>
                <a:lnTo>
                  <a:pt x="614000" y="1758532"/>
                </a:lnTo>
                <a:lnTo>
                  <a:pt x="571507" y="1742295"/>
                </a:lnTo>
                <a:lnTo>
                  <a:pt x="530057" y="1724134"/>
                </a:lnTo>
                <a:lnTo>
                  <a:pt x="489710" y="1704108"/>
                </a:lnTo>
                <a:lnTo>
                  <a:pt x="450524" y="1682273"/>
                </a:lnTo>
                <a:lnTo>
                  <a:pt x="412559" y="1658685"/>
                </a:lnTo>
                <a:lnTo>
                  <a:pt x="375872" y="1633403"/>
                </a:lnTo>
                <a:lnTo>
                  <a:pt x="340522" y="1606482"/>
                </a:lnTo>
                <a:lnTo>
                  <a:pt x="306569" y="1577981"/>
                </a:lnTo>
                <a:lnTo>
                  <a:pt x="274072" y="1547955"/>
                </a:lnTo>
                <a:lnTo>
                  <a:pt x="243088" y="1516462"/>
                </a:lnTo>
                <a:lnTo>
                  <a:pt x="213678" y="1483559"/>
                </a:lnTo>
                <a:lnTo>
                  <a:pt x="185898" y="1449303"/>
                </a:lnTo>
                <a:lnTo>
                  <a:pt x="159810" y="1413751"/>
                </a:lnTo>
                <a:lnTo>
                  <a:pt x="135470" y="1376960"/>
                </a:lnTo>
                <a:lnTo>
                  <a:pt x="112939" y="1338987"/>
                </a:lnTo>
                <a:lnTo>
                  <a:pt x="92274" y="1299889"/>
                </a:lnTo>
                <a:lnTo>
                  <a:pt x="73535" y="1259722"/>
                </a:lnTo>
                <a:lnTo>
                  <a:pt x="56780" y="1218545"/>
                </a:lnTo>
                <a:lnTo>
                  <a:pt x="42069" y="1176413"/>
                </a:lnTo>
                <a:lnTo>
                  <a:pt x="29459" y="1133385"/>
                </a:lnTo>
                <a:lnTo>
                  <a:pt x="19011" y="1089516"/>
                </a:lnTo>
                <a:lnTo>
                  <a:pt x="10781" y="1044864"/>
                </a:lnTo>
                <a:lnTo>
                  <a:pt x="4831" y="999486"/>
                </a:lnTo>
                <a:lnTo>
                  <a:pt x="1217" y="953439"/>
                </a:lnTo>
                <a:lnTo>
                  <a:pt x="0" y="906780"/>
                </a:lnTo>
                <a:close/>
              </a:path>
            </a:pathLst>
          </a:custGeom>
          <a:ln w="25908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2355" y="2927604"/>
            <a:ext cx="1993900" cy="1932939"/>
          </a:xfrm>
          <a:custGeom>
            <a:avLst/>
            <a:gdLst/>
            <a:ahLst/>
            <a:cxnLst/>
            <a:rect l="l" t="t" r="r" b="b"/>
            <a:pathLst>
              <a:path w="1993900" h="1932939">
                <a:moveTo>
                  <a:pt x="0" y="966216"/>
                </a:moveTo>
                <a:lnTo>
                  <a:pt x="1149" y="919399"/>
                </a:lnTo>
                <a:lnTo>
                  <a:pt x="4562" y="873158"/>
                </a:lnTo>
                <a:lnTo>
                  <a:pt x="10187" y="827543"/>
                </a:lnTo>
                <a:lnTo>
                  <a:pt x="17972" y="782604"/>
                </a:lnTo>
                <a:lnTo>
                  <a:pt x="27863" y="738393"/>
                </a:lnTo>
                <a:lnTo>
                  <a:pt x="39810" y="694959"/>
                </a:lnTo>
                <a:lnTo>
                  <a:pt x="53760" y="652353"/>
                </a:lnTo>
                <a:lnTo>
                  <a:pt x="69660" y="610627"/>
                </a:lnTo>
                <a:lnTo>
                  <a:pt x="87459" y="569830"/>
                </a:lnTo>
                <a:lnTo>
                  <a:pt x="107104" y="530013"/>
                </a:lnTo>
                <a:lnTo>
                  <a:pt x="128543" y="491226"/>
                </a:lnTo>
                <a:lnTo>
                  <a:pt x="151723" y="453521"/>
                </a:lnTo>
                <a:lnTo>
                  <a:pt x="176594" y="416948"/>
                </a:lnTo>
                <a:lnTo>
                  <a:pt x="203101" y="381558"/>
                </a:lnTo>
                <a:lnTo>
                  <a:pt x="231194" y="347400"/>
                </a:lnTo>
                <a:lnTo>
                  <a:pt x="260820" y="314527"/>
                </a:lnTo>
                <a:lnTo>
                  <a:pt x="291926" y="282987"/>
                </a:lnTo>
                <a:lnTo>
                  <a:pt x="324461" y="252833"/>
                </a:lnTo>
                <a:lnTo>
                  <a:pt x="358373" y="224114"/>
                </a:lnTo>
                <a:lnTo>
                  <a:pt x="393608" y="196881"/>
                </a:lnTo>
                <a:lnTo>
                  <a:pt x="430116" y="171185"/>
                </a:lnTo>
                <a:lnTo>
                  <a:pt x="467843" y="147076"/>
                </a:lnTo>
                <a:lnTo>
                  <a:pt x="506737" y="124605"/>
                </a:lnTo>
                <a:lnTo>
                  <a:pt x="546747" y="103823"/>
                </a:lnTo>
                <a:lnTo>
                  <a:pt x="587819" y="84779"/>
                </a:lnTo>
                <a:lnTo>
                  <a:pt x="629903" y="67526"/>
                </a:lnTo>
                <a:lnTo>
                  <a:pt x="672945" y="52113"/>
                </a:lnTo>
                <a:lnTo>
                  <a:pt x="716894" y="38590"/>
                </a:lnTo>
                <a:lnTo>
                  <a:pt x="761696" y="27009"/>
                </a:lnTo>
                <a:lnTo>
                  <a:pt x="807301" y="17421"/>
                </a:lnTo>
                <a:lnTo>
                  <a:pt x="853656" y="9875"/>
                </a:lnTo>
                <a:lnTo>
                  <a:pt x="900708" y="4422"/>
                </a:lnTo>
                <a:lnTo>
                  <a:pt x="948405" y="1114"/>
                </a:lnTo>
                <a:lnTo>
                  <a:pt x="996696" y="0"/>
                </a:lnTo>
                <a:lnTo>
                  <a:pt x="1044983" y="1114"/>
                </a:lnTo>
                <a:lnTo>
                  <a:pt x="1092677" y="4422"/>
                </a:lnTo>
                <a:lnTo>
                  <a:pt x="1139727" y="9875"/>
                </a:lnTo>
                <a:lnTo>
                  <a:pt x="1186079" y="17421"/>
                </a:lnTo>
                <a:lnTo>
                  <a:pt x="1231682" y="27009"/>
                </a:lnTo>
                <a:lnTo>
                  <a:pt x="1276484" y="38590"/>
                </a:lnTo>
                <a:lnTo>
                  <a:pt x="1320431" y="52113"/>
                </a:lnTo>
                <a:lnTo>
                  <a:pt x="1363472" y="67526"/>
                </a:lnTo>
                <a:lnTo>
                  <a:pt x="1405555" y="84779"/>
                </a:lnTo>
                <a:lnTo>
                  <a:pt x="1446628" y="103823"/>
                </a:lnTo>
                <a:lnTo>
                  <a:pt x="1486637" y="124605"/>
                </a:lnTo>
                <a:lnTo>
                  <a:pt x="1525532" y="147076"/>
                </a:lnTo>
                <a:lnTo>
                  <a:pt x="1563259" y="171185"/>
                </a:lnTo>
                <a:lnTo>
                  <a:pt x="1599766" y="196881"/>
                </a:lnTo>
                <a:lnTo>
                  <a:pt x="1635002" y="224114"/>
                </a:lnTo>
                <a:lnTo>
                  <a:pt x="1668914" y="252833"/>
                </a:lnTo>
                <a:lnTo>
                  <a:pt x="1701450" y="282987"/>
                </a:lnTo>
                <a:lnTo>
                  <a:pt x="1732558" y="314527"/>
                </a:lnTo>
                <a:lnTo>
                  <a:pt x="1762184" y="347400"/>
                </a:lnTo>
                <a:lnTo>
                  <a:pt x="1790278" y="381558"/>
                </a:lnTo>
                <a:lnTo>
                  <a:pt x="1816787" y="416948"/>
                </a:lnTo>
                <a:lnTo>
                  <a:pt x="1841658" y="453521"/>
                </a:lnTo>
                <a:lnTo>
                  <a:pt x="1864840" y="491226"/>
                </a:lnTo>
                <a:lnTo>
                  <a:pt x="1886280" y="530013"/>
                </a:lnTo>
                <a:lnTo>
                  <a:pt x="1905926" y="569830"/>
                </a:lnTo>
                <a:lnTo>
                  <a:pt x="1923726" y="610627"/>
                </a:lnTo>
                <a:lnTo>
                  <a:pt x="1939627" y="652353"/>
                </a:lnTo>
                <a:lnTo>
                  <a:pt x="1953578" y="694959"/>
                </a:lnTo>
                <a:lnTo>
                  <a:pt x="1965526" y="738393"/>
                </a:lnTo>
                <a:lnTo>
                  <a:pt x="1975418" y="782604"/>
                </a:lnTo>
                <a:lnTo>
                  <a:pt x="1983203" y="827543"/>
                </a:lnTo>
                <a:lnTo>
                  <a:pt x="1988828" y="873158"/>
                </a:lnTo>
                <a:lnTo>
                  <a:pt x="1992242" y="919399"/>
                </a:lnTo>
                <a:lnTo>
                  <a:pt x="1993392" y="966216"/>
                </a:lnTo>
                <a:lnTo>
                  <a:pt x="1992242" y="1013032"/>
                </a:lnTo>
                <a:lnTo>
                  <a:pt x="1988828" y="1059273"/>
                </a:lnTo>
                <a:lnTo>
                  <a:pt x="1983203" y="1104888"/>
                </a:lnTo>
                <a:lnTo>
                  <a:pt x="1975418" y="1149827"/>
                </a:lnTo>
                <a:lnTo>
                  <a:pt x="1965526" y="1194038"/>
                </a:lnTo>
                <a:lnTo>
                  <a:pt x="1953578" y="1237472"/>
                </a:lnTo>
                <a:lnTo>
                  <a:pt x="1939627" y="1280078"/>
                </a:lnTo>
                <a:lnTo>
                  <a:pt x="1923726" y="1321804"/>
                </a:lnTo>
                <a:lnTo>
                  <a:pt x="1905926" y="1362601"/>
                </a:lnTo>
                <a:lnTo>
                  <a:pt x="1886280" y="1402418"/>
                </a:lnTo>
                <a:lnTo>
                  <a:pt x="1864840" y="1441205"/>
                </a:lnTo>
                <a:lnTo>
                  <a:pt x="1841658" y="1478910"/>
                </a:lnTo>
                <a:lnTo>
                  <a:pt x="1816787" y="1515483"/>
                </a:lnTo>
                <a:lnTo>
                  <a:pt x="1790278" y="1550873"/>
                </a:lnTo>
                <a:lnTo>
                  <a:pt x="1762184" y="1585031"/>
                </a:lnTo>
                <a:lnTo>
                  <a:pt x="1732558" y="1617904"/>
                </a:lnTo>
                <a:lnTo>
                  <a:pt x="1701450" y="1649444"/>
                </a:lnTo>
                <a:lnTo>
                  <a:pt x="1668914" y="1679598"/>
                </a:lnTo>
                <a:lnTo>
                  <a:pt x="1635002" y="1708317"/>
                </a:lnTo>
                <a:lnTo>
                  <a:pt x="1599766" y="1735550"/>
                </a:lnTo>
                <a:lnTo>
                  <a:pt x="1563259" y="1761246"/>
                </a:lnTo>
                <a:lnTo>
                  <a:pt x="1525532" y="1785355"/>
                </a:lnTo>
                <a:lnTo>
                  <a:pt x="1486637" y="1807826"/>
                </a:lnTo>
                <a:lnTo>
                  <a:pt x="1446628" y="1828608"/>
                </a:lnTo>
                <a:lnTo>
                  <a:pt x="1405555" y="1847652"/>
                </a:lnTo>
                <a:lnTo>
                  <a:pt x="1363472" y="1864905"/>
                </a:lnTo>
                <a:lnTo>
                  <a:pt x="1320431" y="1880318"/>
                </a:lnTo>
                <a:lnTo>
                  <a:pt x="1276484" y="1893841"/>
                </a:lnTo>
                <a:lnTo>
                  <a:pt x="1231682" y="1905422"/>
                </a:lnTo>
                <a:lnTo>
                  <a:pt x="1186079" y="1915010"/>
                </a:lnTo>
                <a:lnTo>
                  <a:pt x="1139727" y="1922556"/>
                </a:lnTo>
                <a:lnTo>
                  <a:pt x="1092677" y="1928009"/>
                </a:lnTo>
                <a:lnTo>
                  <a:pt x="1044983" y="1931317"/>
                </a:lnTo>
                <a:lnTo>
                  <a:pt x="996696" y="1932432"/>
                </a:lnTo>
                <a:lnTo>
                  <a:pt x="948405" y="1931317"/>
                </a:lnTo>
                <a:lnTo>
                  <a:pt x="900708" y="1928009"/>
                </a:lnTo>
                <a:lnTo>
                  <a:pt x="853656" y="1922556"/>
                </a:lnTo>
                <a:lnTo>
                  <a:pt x="807301" y="1915010"/>
                </a:lnTo>
                <a:lnTo>
                  <a:pt x="761696" y="1905422"/>
                </a:lnTo>
                <a:lnTo>
                  <a:pt x="716894" y="1893841"/>
                </a:lnTo>
                <a:lnTo>
                  <a:pt x="672945" y="1880318"/>
                </a:lnTo>
                <a:lnTo>
                  <a:pt x="629903" y="1864905"/>
                </a:lnTo>
                <a:lnTo>
                  <a:pt x="587819" y="1847652"/>
                </a:lnTo>
                <a:lnTo>
                  <a:pt x="546747" y="1828608"/>
                </a:lnTo>
                <a:lnTo>
                  <a:pt x="506737" y="1807826"/>
                </a:lnTo>
                <a:lnTo>
                  <a:pt x="467843" y="1785355"/>
                </a:lnTo>
                <a:lnTo>
                  <a:pt x="430116" y="1761246"/>
                </a:lnTo>
                <a:lnTo>
                  <a:pt x="393608" y="1735550"/>
                </a:lnTo>
                <a:lnTo>
                  <a:pt x="358373" y="1708317"/>
                </a:lnTo>
                <a:lnTo>
                  <a:pt x="324461" y="1679598"/>
                </a:lnTo>
                <a:lnTo>
                  <a:pt x="291926" y="1649444"/>
                </a:lnTo>
                <a:lnTo>
                  <a:pt x="260820" y="1617904"/>
                </a:lnTo>
                <a:lnTo>
                  <a:pt x="231194" y="1585031"/>
                </a:lnTo>
                <a:lnTo>
                  <a:pt x="203101" y="1550873"/>
                </a:lnTo>
                <a:lnTo>
                  <a:pt x="176594" y="1515483"/>
                </a:lnTo>
                <a:lnTo>
                  <a:pt x="151723" y="1478910"/>
                </a:lnTo>
                <a:lnTo>
                  <a:pt x="128543" y="1441205"/>
                </a:lnTo>
                <a:lnTo>
                  <a:pt x="107104" y="1402418"/>
                </a:lnTo>
                <a:lnTo>
                  <a:pt x="87459" y="1362601"/>
                </a:lnTo>
                <a:lnTo>
                  <a:pt x="69660" y="1321804"/>
                </a:lnTo>
                <a:lnTo>
                  <a:pt x="53760" y="1280078"/>
                </a:lnTo>
                <a:lnTo>
                  <a:pt x="39810" y="1237472"/>
                </a:lnTo>
                <a:lnTo>
                  <a:pt x="27863" y="1194038"/>
                </a:lnTo>
                <a:lnTo>
                  <a:pt x="17972" y="1149827"/>
                </a:lnTo>
                <a:lnTo>
                  <a:pt x="10187" y="1104888"/>
                </a:lnTo>
                <a:lnTo>
                  <a:pt x="4562" y="1059273"/>
                </a:lnTo>
                <a:lnTo>
                  <a:pt x="1149" y="1013032"/>
                </a:lnTo>
                <a:lnTo>
                  <a:pt x="0" y="966216"/>
                </a:lnTo>
                <a:close/>
              </a:path>
            </a:pathLst>
          </a:custGeom>
          <a:ln w="3175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055928" y="3598545"/>
            <a:ext cx="104076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0046AA"/>
                </a:solidFill>
                <a:latin typeface="微软雅黑"/>
                <a:cs typeface="微软雅黑"/>
              </a:rPr>
              <a:t>安全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402838" y="3618738"/>
            <a:ext cx="1040765" cy="6350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>
                <a:solidFill>
                  <a:srgbClr val="0046AA"/>
                </a:solidFill>
                <a:latin typeface="微软雅黑"/>
                <a:cs typeface="微软雅黑"/>
              </a:rPr>
              <a:t>效率</a:t>
            </a:r>
            <a:endParaRPr sz="4000">
              <a:latin typeface="微软雅黑"/>
              <a:cs typeface="微软雅黑"/>
            </a:endParaRPr>
          </a:p>
        </p:txBody>
      </p: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619912" y="5071016"/>
          <a:ext cx="10455275" cy="148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1364"/>
                <a:gridCol w="2176780"/>
                <a:gridCol w="2268220"/>
                <a:gridCol w="2309495"/>
                <a:gridCol w="1667510"/>
              </a:tblGrid>
              <a:tr h="255904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820"/>
                        </a:lnSpc>
                        <a:spcBef>
                          <a:spcPts val="95"/>
                        </a:spcBef>
                        <a:buFont typeface="Arial"/>
                        <a:buChar char="•"/>
                        <a:tabLst>
                          <a:tab pos="318135" algn="l"/>
                          <a:tab pos="318770" algn="l"/>
                        </a:tabLst>
                      </a:pPr>
                      <a:r>
                        <a:rPr dirty="0" sz="1600" spc="-3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CCC</a:t>
                      </a:r>
                      <a:r>
                        <a:rPr dirty="0" sz="1600" spc="-3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600" spc="-10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安全认证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marL="666115" indent="-286385">
                        <a:lnSpc>
                          <a:spcPts val="1830"/>
                        </a:lnSpc>
                        <a:spcBef>
                          <a:spcPts val="85"/>
                        </a:spcBef>
                        <a:buFont typeface="Arial"/>
                        <a:buChar char="•"/>
                        <a:tabLst>
                          <a:tab pos="666115" algn="l"/>
                          <a:tab pos="666750" algn="l"/>
                        </a:tabLst>
                      </a:pPr>
                      <a:r>
                        <a:rPr dirty="0" sz="16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无频闪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83590" indent="-286385">
                        <a:lnSpc>
                          <a:spcPts val="1830"/>
                        </a:lnSpc>
                        <a:spcBef>
                          <a:spcPts val="85"/>
                        </a:spcBef>
                        <a:buFont typeface="Arial"/>
                        <a:buChar char="•"/>
                        <a:tabLst>
                          <a:tab pos="783590" algn="l"/>
                          <a:tab pos="784225" algn="l"/>
                        </a:tabLst>
                      </a:pPr>
                      <a:r>
                        <a:rPr dirty="0" sz="16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寿命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0795"/>
                </a:tc>
                <a:tc>
                  <a:txBody>
                    <a:bodyPr/>
                    <a:lstStyle/>
                    <a:p>
                      <a:pPr marL="758825" indent="-287020">
                        <a:lnSpc>
                          <a:spcPts val="1820"/>
                        </a:lnSpc>
                        <a:spcBef>
                          <a:spcPts val="95"/>
                        </a:spcBef>
                        <a:buFont typeface="Arial"/>
                        <a:buChar char="•"/>
                        <a:tabLst>
                          <a:tab pos="758825" algn="l"/>
                          <a:tab pos="759460" algn="l"/>
                        </a:tabLst>
                      </a:pPr>
                      <a:r>
                        <a:rPr dirty="0" sz="1600" spc="-1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光效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2065"/>
                </a:tc>
                <a:tc>
                  <a:txBody>
                    <a:bodyPr/>
                    <a:lstStyle/>
                    <a:p>
                      <a:pPr marL="622935" indent="-287020">
                        <a:lnSpc>
                          <a:spcPts val="1820"/>
                        </a:lnSpc>
                        <a:spcBef>
                          <a:spcPts val="95"/>
                        </a:spcBef>
                        <a:buFont typeface="Arial"/>
                        <a:buChar char="•"/>
                        <a:tabLst>
                          <a:tab pos="622935" algn="l"/>
                          <a:tab pos="623570" algn="l"/>
                        </a:tabLst>
                      </a:pPr>
                      <a:r>
                        <a:rPr dirty="0" sz="1600" spc="-10" b="1">
                          <a:solidFill>
                            <a:srgbClr val="943735"/>
                          </a:solidFill>
                          <a:latin typeface="微软雅黑"/>
                          <a:cs typeface="微软雅黑"/>
                        </a:rPr>
                        <a:t>维修简</a:t>
                      </a:r>
                      <a:r>
                        <a:rPr dirty="0" sz="1600" spc="-5" b="1">
                          <a:solidFill>
                            <a:srgbClr val="943735"/>
                          </a:solidFill>
                          <a:latin typeface="微软雅黑"/>
                          <a:cs typeface="微软雅黑"/>
                        </a:rPr>
                        <a:t>便</a:t>
                      </a: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性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12065"/>
                </a:tc>
              </a:tr>
              <a:tr h="243840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318135" algn="l"/>
                          <a:tab pos="318770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功率因素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6115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666115" algn="l"/>
                          <a:tab pos="666750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工作面照度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3590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783590" algn="l"/>
                          <a:tab pos="784225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工作电压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8825" indent="-28702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758825" algn="l"/>
                          <a:tab pos="759460" algn="l"/>
                        </a:tabLst>
                      </a:pPr>
                      <a:r>
                        <a:rPr dirty="0" sz="16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功率因素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22935" indent="-28702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622935" algn="l"/>
                          <a:tab pos="623570" algn="l"/>
                        </a:tabLst>
                      </a:pPr>
                      <a:r>
                        <a:rPr dirty="0" sz="1600" spc="-5" b="1">
                          <a:solidFill>
                            <a:srgbClr val="943735"/>
                          </a:solidFill>
                          <a:latin typeface="微软雅黑"/>
                          <a:cs typeface="微软雅黑"/>
                        </a:rPr>
                        <a:t>智能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</a:tr>
              <a:tr h="243840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318135" algn="l"/>
                          <a:tab pos="318770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EMC 电磁兼容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6115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666115" algn="l"/>
                          <a:tab pos="666750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无明显眩光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3590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783590" algn="l"/>
                          <a:tab pos="784225" algn="l"/>
                        </a:tabLst>
                      </a:pPr>
                      <a:r>
                        <a:rPr dirty="0" sz="1600" spc="-5" b="1">
                          <a:solidFill>
                            <a:srgbClr val="943735"/>
                          </a:solidFill>
                          <a:latin typeface="微软雅黑"/>
                          <a:cs typeface="微软雅黑"/>
                        </a:rPr>
                        <a:t>工作温度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8825" indent="-287020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758825" algn="l"/>
                          <a:tab pos="759460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配光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3204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814"/>
                        </a:lnSpc>
                        <a:buFont typeface="Arial"/>
                        <a:buChar char="•"/>
                        <a:tabLst>
                          <a:tab pos="318135" algn="l"/>
                          <a:tab pos="318770" algn="l"/>
                        </a:tabLst>
                      </a:pPr>
                      <a:r>
                        <a:rPr dirty="0" sz="1600" spc="-5" b="1">
                          <a:solidFill>
                            <a:srgbClr val="943735"/>
                          </a:solidFill>
                          <a:latin typeface="微软雅黑"/>
                          <a:cs typeface="微软雅黑"/>
                        </a:rPr>
                        <a:t>结</a:t>
                      </a:r>
                      <a:r>
                        <a:rPr dirty="0" sz="1600" spc="-10" b="1">
                          <a:solidFill>
                            <a:srgbClr val="943735"/>
                          </a:solidFill>
                          <a:latin typeface="微软雅黑"/>
                          <a:cs typeface="微软雅黑"/>
                        </a:rPr>
                        <a:t>构</a:t>
                      </a:r>
                      <a:r>
                        <a:rPr dirty="0" sz="1600" spc="-5" b="1">
                          <a:solidFill>
                            <a:srgbClr val="943735"/>
                          </a:solidFill>
                          <a:latin typeface="微软雅黑"/>
                          <a:cs typeface="微软雅黑"/>
                        </a:rPr>
                        <a:t>强度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666115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666115" algn="l"/>
                          <a:tab pos="666750" algn="l"/>
                        </a:tabLst>
                      </a:pPr>
                      <a:r>
                        <a:rPr dirty="0" sz="16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无蓝光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3590" indent="-286385">
                        <a:lnSpc>
                          <a:spcPts val="1820"/>
                        </a:lnSpc>
                        <a:buFont typeface="Arial"/>
                        <a:buChar char="•"/>
                        <a:tabLst>
                          <a:tab pos="783590" algn="l"/>
                          <a:tab pos="784225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抗雷击</a:t>
                      </a:r>
                      <a:r>
                        <a:rPr dirty="0" sz="16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浪涌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58825" indent="-287020">
                        <a:lnSpc>
                          <a:spcPts val="1814"/>
                        </a:lnSpc>
                        <a:buFont typeface="Arial"/>
                        <a:buChar char="•"/>
                        <a:tabLst>
                          <a:tab pos="758825" algn="l"/>
                          <a:tab pos="759460" algn="l"/>
                        </a:tabLst>
                      </a:pPr>
                      <a:r>
                        <a:rPr dirty="0" sz="1600" spc="-5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光学折射效率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44475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825"/>
                        </a:lnSpc>
                        <a:buFont typeface="Arial"/>
                        <a:buChar char="•"/>
                        <a:tabLst>
                          <a:tab pos="318135" algn="l"/>
                          <a:tab pos="318770" algn="l"/>
                        </a:tabLst>
                      </a:pPr>
                      <a:r>
                        <a:rPr dirty="0" sz="16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防护等级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3590" indent="-286385">
                        <a:lnSpc>
                          <a:spcPts val="1825"/>
                        </a:lnSpc>
                        <a:buFont typeface="Arial"/>
                        <a:buChar char="•"/>
                        <a:tabLst>
                          <a:tab pos="783590" algn="l"/>
                          <a:tab pos="784225" algn="l"/>
                        </a:tabLst>
                      </a:pPr>
                      <a:r>
                        <a:rPr dirty="0" sz="1600" spc="-10" b="1">
                          <a:solidFill>
                            <a:srgbClr val="404040"/>
                          </a:solidFill>
                          <a:latin typeface="微软雅黑"/>
                          <a:cs typeface="微软雅黑"/>
                        </a:rPr>
                        <a:t>耐候性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marL="318135" indent="-286385">
                        <a:lnSpc>
                          <a:spcPts val="1914"/>
                        </a:lnSpc>
                        <a:buFont typeface="Arial"/>
                        <a:buChar char="•"/>
                        <a:tabLst>
                          <a:tab pos="318135" algn="l"/>
                          <a:tab pos="318770" algn="l"/>
                        </a:tabLst>
                      </a:pPr>
                      <a:r>
                        <a:rPr dirty="0" sz="16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VHP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6" name="object 16"/>
          <p:cNvSpPr/>
          <p:nvPr/>
        </p:nvSpPr>
        <p:spPr>
          <a:xfrm>
            <a:off x="0" y="0"/>
            <a:ext cx="12192000" cy="28072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42082" y="2987801"/>
            <a:ext cx="1873250" cy="1813560"/>
          </a:xfrm>
          <a:custGeom>
            <a:avLst/>
            <a:gdLst/>
            <a:ahLst/>
            <a:cxnLst/>
            <a:rect l="l" t="t" r="r" b="b"/>
            <a:pathLst>
              <a:path w="1873250" h="1813560">
                <a:moveTo>
                  <a:pt x="0" y="906780"/>
                </a:moveTo>
                <a:lnTo>
                  <a:pt x="1218" y="860120"/>
                </a:lnTo>
                <a:lnTo>
                  <a:pt x="4834" y="814073"/>
                </a:lnTo>
                <a:lnTo>
                  <a:pt x="10789" y="768695"/>
                </a:lnTo>
                <a:lnTo>
                  <a:pt x="19023" y="724043"/>
                </a:lnTo>
                <a:lnTo>
                  <a:pt x="29479" y="680174"/>
                </a:lnTo>
                <a:lnTo>
                  <a:pt x="42098" y="637146"/>
                </a:lnTo>
                <a:lnTo>
                  <a:pt x="56820" y="595014"/>
                </a:lnTo>
                <a:lnTo>
                  <a:pt x="73586" y="553837"/>
                </a:lnTo>
                <a:lnTo>
                  <a:pt x="92339" y="513670"/>
                </a:lnTo>
                <a:lnTo>
                  <a:pt x="113018" y="474572"/>
                </a:lnTo>
                <a:lnTo>
                  <a:pt x="135566" y="436599"/>
                </a:lnTo>
                <a:lnTo>
                  <a:pt x="159924" y="399808"/>
                </a:lnTo>
                <a:lnTo>
                  <a:pt x="186032" y="364256"/>
                </a:lnTo>
                <a:lnTo>
                  <a:pt x="213832" y="330000"/>
                </a:lnTo>
                <a:lnTo>
                  <a:pt x="243265" y="297097"/>
                </a:lnTo>
                <a:lnTo>
                  <a:pt x="274272" y="265604"/>
                </a:lnTo>
                <a:lnTo>
                  <a:pt x="306795" y="235578"/>
                </a:lnTo>
                <a:lnTo>
                  <a:pt x="340774" y="207077"/>
                </a:lnTo>
                <a:lnTo>
                  <a:pt x="376151" y="180156"/>
                </a:lnTo>
                <a:lnTo>
                  <a:pt x="412867" y="154874"/>
                </a:lnTo>
                <a:lnTo>
                  <a:pt x="450864" y="131286"/>
                </a:lnTo>
                <a:lnTo>
                  <a:pt x="490081" y="109451"/>
                </a:lnTo>
                <a:lnTo>
                  <a:pt x="530462" y="89425"/>
                </a:lnTo>
                <a:lnTo>
                  <a:pt x="571946" y="71264"/>
                </a:lnTo>
                <a:lnTo>
                  <a:pt x="614475" y="55027"/>
                </a:lnTo>
                <a:lnTo>
                  <a:pt x="657990" y="40770"/>
                </a:lnTo>
                <a:lnTo>
                  <a:pt x="702433" y="28550"/>
                </a:lnTo>
                <a:lnTo>
                  <a:pt x="747744" y="18424"/>
                </a:lnTo>
                <a:lnTo>
                  <a:pt x="793865" y="10449"/>
                </a:lnTo>
                <a:lnTo>
                  <a:pt x="840737" y="4682"/>
                </a:lnTo>
                <a:lnTo>
                  <a:pt x="888300" y="1180"/>
                </a:lnTo>
                <a:lnTo>
                  <a:pt x="936497" y="0"/>
                </a:lnTo>
                <a:lnTo>
                  <a:pt x="984695" y="1180"/>
                </a:lnTo>
                <a:lnTo>
                  <a:pt x="1032258" y="4682"/>
                </a:lnTo>
                <a:lnTo>
                  <a:pt x="1079130" y="10449"/>
                </a:lnTo>
                <a:lnTo>
                  <a:pt x="1125251" y="18424"/>
                </a:lnTo>
                <a:lnTo>
                  <a:pt x="1170562" y="28550"/>
                </a:lnTo>
                <a:lnTo>
                  <a:pt x="1215005" y="40770"/>
                </a:lnTo>
                <a:lnTo>
                  <a:pt x="1258520" y="55027"/>
                </a:lnTo>
                <a:lnTo>
                  <a:pt x="1301049" y="71264"/>
                </a:lnTo>
                <a:lnTo>
                  <a:pt x="1342533" y="89425"/>
                </a:lnTo>
                <a:lnTo>
                  <a:pt x="1382914" y="109451"/>
                </a:lnTo>
                <a:lnTo>
                  <a:pt x="1422131" y="131286"/>
                </a:lnTo>
                <a:lnTo>
                  <a:pt x="1460128" y="154874"/>
                </a:lnTo>
                <a:lnTo>
                  <a:pt x="1496844" y="180156"/>
                </a:lnTo>
                <a:lnTo>
                  <a:pt x="1532221" y="207077"/>
                </a:lnTo>
                <a:lnTo>
                  <a:pt x="1566200" y="235578"/>
                </a:lnTo>
                <a:lnTo>
                  <a:pt x="1598723" y="265604"/>
                </a:lnTo>
                <a:lnTo>
                  <a:pt x="1629730" y="297097"/>
                </a:lnTo>
                <a:lnTo>
                  <a:pt x="1659163" y="330000"/>
                </a:lnTo>
                <a:lnTo>
                  <a:pt x="1686963" y="364256"/>
                </a:lnTo>
                <a:lnTo>
                  <a:pt x="1713071" y="399808"/>
                </a:lnTo>
                <a:lnTo>
                  <a:pt x="1737429" y="436599"/>
                </a:lnTo>
                <a:lnTo>
                  <a:pt x="1759977" y="474572"/>
                </a:lnTo>
                <a:lnTo>
                  <a:pt x="1780656" y="513670"/>
                </a:lnTo>
                <a:lnTo>
                  <a:pt x="1799409" y="553837"/>
                </a:lnTo>
                <a:lnTo>
                  <a:pt x="1816175" y="595014"/>
                </a:lnTo>
                <a:lnTo>
                  <a:pt x="1830897" y="637146"/>
                </a:lnTo>
                <a:lnTo>
                  <a:pt x="1843516" y="680174"/>
                </a:lnTo>
                <a:lnTo>
                  <a:pt x="1853972" y="724043"/>
                </a:lnTo>
                <a:lnTo>
                  <a:pt x="1862206" y="768695"/>
                </a:lnTo>
                <a:lnTo>
                  <a:pt x="1868161" y="814073"/>
                </a:lnTo>
                <a:lnTo>
                  <a:pt x="1871777" y="860120"/>
                </a:lnTo>
                <a:lnTo>
                  <a:pt x="1872995" y="906780"/>
                </a:lnTo>
                <a:lnTo>
                  <a:pt x="1871777" y="953439"/>
                </a:lnTo>
                <a:lnTo>
                  <a:pt x="1868161" y="999486"/>
                </a:lnTo>
                <a:lnTo>
                  <a:pt x="1862206" y="1044864"/>
                </a:lnTo>
                <a:lnTo>
                  <a:pt x="1853972" y="1089516"/>
                </a:lnTo>
                <a:lnTo>
                  <a:pt x="1843516" y="1133385"/>
                </a:lnTo>
                <a:lnTo>
                  <a:pt x="1830897" y="1176413"/>
                </a:lnTo>
                <a:lnTo>
                  <a:pt x="1816175" y="1218545"/>
                </a:lnTo>
                <a:lnTo>
                  <a:pt x="1799409" y="1259722"/>
                </a:lnTo>
                <a:lnTo>
                  <a:pt x="1780656" y="1299889"/>
                </a:lnTo>
                <a:lnTo>
                  <a:pt x="1759977" y="1338987"/>
                </a:lnTo>
                <a:lnTo>
                  <a:pt x="1737429" y="1376960"/>
                </a:lnTo>
                <a:lnTo>
                  <a:pt x="1713071" y="1413751"/>
                </a:lnTo>
                <a:lnTo>
                  <a:pt x="1686963" y="1449303"/>
                </a:lnTo>
                <a:lnTo>
                  <a:pt x="1659163" y="1483559"/>
                </a:lnTo>
                <a:lnTo>
                  <a:pt x="1629730" y="1516462"/>
                </a:lnTo>
                <a:lnTo>
                  <a:pt x="1598723" y="1547955"/>
                </a:lnTo>
                <a:lnTo>
                  <a:pt x="1566200" y="1577981"/>
                </a:lnTo>
                <a:lnTo>
                  <a:pt x="1532221" y="1606482"/>
                </a:lnTo>
                <a:lnTo>
                  <a:pt x="1496844" y="1633403"/>
                </a:lnTo>
                <a:lnTo>
                  <a:pt x="1460128" y="1658685"/>
                </a:lnTo>
                <a:lnTo>
                  <a:pt x="1422131" y="1682273"/>
                </a:lnTo>
                <a:lnTo>
                  <a:pt x="1382914" y="1704108"/>
                </a:lnTo>
                <a:lnTo>
                  <a:pt x="1342533" y="1724134"/>
                </a:lnTo>
                <a:lnTo>
                  <a:pt x="1301049" y="1742295"/>
                </a:lnTo>
                <a:lnTo>
                  <a:pt x="1258520" y="1758532"/>
                </a:lnTo>
                <a:lnTo>
                  <a:pt x="1215005" y="1772789"/>
                </a:lnTo>
                <a:lnTo>
                  <a:pt x="1170562" y="1785009"/>
                </a:lnTo>
                <a:lnTo>
                  <a:pt x="1125251" y="1795135"/>
                </a:lnTo>
                <a:lnTo>
                  <a:pt x="1079130" y="1803110"/>
                </a:lnTo>
                <a:lnTo>
                  <a:pt x="1032258" y="1808877"/>
                </a:lnTo>
                <a:lnTo>
                  <a:pt x="984695" y="1812379"/>
                </a:lnTo>
                <a:lnTo>
                  <a:pt x="936497" y="1813560"/>
                </a:lnTo>
                <a:lnTo>
                  <a:pt x="888300" y="1812379"/>
                </a:lnTo>
                <a:lnTo>
                  <a:pt x="840737" y="1808877"/>
                </a:lnTo>
                <a:lnTo>
                  <a:pt x="793865" y="1803110"/>
                </a:lnTo>
                <a:lnTo>
                  <a:pt x="747744" y="1795135"/>
                </a:lnTo>
                <a:lnTo>
                  <a:pt x="702433" y="1785009"/>
                </a:lnTo>
                <a:lnTo>
                  <a:pt x="657990" y="1772789"/>
                </a:lnTo>
                <a:lnTo>
                  <a:pt x="614475" y="1758532"/>
                </a:lnTo>
                <a:lnTo>
                  <a:pt x="571946" y="1742295"/>
                </a:lnTo>
                <a:lnTo>
                  <a:pt x="530462" y="1724134"/>
                </a:lnTo>
                <a:lnTo>
                  <a:pt x="490081" y="1704108"/>
                </a:lnTo>
                <a:lnTo>
                  <a:pt x="450864" y="1682273"/>
                </a:lnTo>
                <a:lnTo>
                  <a:pt x="412867" y="1658685"/>
                </a:lnTo>
                <a:lnTo>
                  <a:pt x="376151" y="1633403"/>
                </a:lnTo>
                <a:lnTo>
                  <a:pt x="340774" y="1606482"/>
                </a:lnTo>
                <a:lnTo>
                  <a:pt x="306795" y="1577981"/>
                </a:lnTo>
                <a:lnTo>
                  <a:pt x="274272" y="1547955"/>
                </a:lnTo>
                <a:lnTo>
                  <a:pt x="243265" y="1516462"/>
                </a:lnTo>
                <a:lnTo>
                  <a:pt x="213832" y="1483559"/>
                </a:lnTo>
                <a:lnTo>
                  <a:pt x="186032" y="1449303"/>
                </a:lnTo>
                <a:lnTo>
                  <a:pt x="159924" y="1413751"/>
                </a:lnTo>
                <a:lnTo>
                  <a:pt x="135566" y="1376960"/>
                </a:lnTo>
                <a:lnTo>
                  <a:pt x="113018" y="1338987"/>
                </a:lnTo>
                <a:lnTo>
                  <a:pt x="92339" y="1299889"/>
                </a:lnTo>
                <a:lnTo>
                  <a:pt x="73586" y="1259722"/>
                </a:lnTo>
                <a:lnTo>
                  <a:pt x="56820" y="1218545"/>
                </a:lnTo>
                <a:lnTo>
                  <a:pt x="42098" y="1176413"/>
                </a:lnTo>
                <a:lnTo>
                  <a:pt x="29479" y="1133385"/>
                </a:lnTo>
                <a:lnTo>
                  <a:pt x="19023" y="1089516"/>
                </a:lnTo>
                <a:lnTo>
                  <a:pt x="10789" y="1044864"/>
                </a:lnTo>
                <a:lnTo>
                  <a:pt x="4834" y="999486"/>
                </a:lnTo>
                <a:lnTo>
                  <a:pt x="1218" y="953439"/>
                </a:lnTo>
                <a:lnTo>
                  <a:pt x="0" y="906780"/>
                </a:lnTo>
                <a:close/>
              </a:path>
            </a:pathLst>
          </a:custGeom>
          <a:ln w="25908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880360" y="2926079"/>
            <a:ext cx="1995170" cy="1932939"/>
          </a:xfrm>
          <a:custGeom>
            <a:avLst/>
            <a:gdLst/>
            <a:ahLst/>
            <a:cxnLst/>
            <a:rect l="l" t="t" r="r" b="b"/>
            <a:pathLst>
              <a:path w="1995170" h="1932939">
                <a:moveTo>
                  <a:pt x="0" y="966216"/>
                </a:moveTo>
                <a:lnTo>
                  <a:pt x="1150" y="919399"/>
                </a:lnTo>
                <a:lnTo>
                  <a:pt x="4565" y="873158"/>
                </a:lnTo>
                <a:lnTo>
                  <a:pt x="10194" y="827543"/>
                </a:lnTo>
                <a:lnTo>
                  <a:pt x="17984" y="782604"/>
                </a:lnTo>
                <a:lnTo>
                  <a:pt x="27882" y="738393"/>
                </a:lnTo>
                <a:lnTo>
                  <a:pt x="39837" y="694959"/>
                </a:lnTo>
                <a:lnTo>
                  <a:pt x="53796" y="652353"/>
                </a:lnTo>
                <a:lnTo>
                  <a:pt x="69707" y="610627"/>
                </a:lnTo>
                <a:lnTo>
                  <a:pt x="87518" y="569830"/>
                </a:lnTo>
                <a:lnTo>
                  <a:pt x="107177" y="530013"/>
                </a:lnTo>
                <a:lnTo>
                  <a:pt x="128630" y="491226"/>
                </a:lnTo>
                <a:lnTo>
                  <a:pt x="151827" y="453521"/>
                </a:lnTo>
                <a:lnTo>
                  <a:pt x="176715" y="416948"/>
                </a:lnTo>
                <a:lnTo>
                  <a:pt x="203242" y="381558"/>
                </a:lnTo>
                <a:lnTo>
                  <a:pt x="231355" y="347400"/>
                </a:lnTo>
                <a:lnTo>
                  <a:pt x="261002" y="314527"/>
                </a:lnTo>
                <a:lnTo>
                  <a:pt x="292131" y="282987"/>
                </a:lnTo>
                <a:lnTo>
                  <a:pt x="324690" y="252833"/>
                </a:lnTo>
                <a:lnTo>
                  <a:pt x="358627" y="224114"/>
                </a:lnTo>
                <a:lnTo>
                  <a:pt x="393888" y="196881"/>
                </a:lnTo>
                <a:lnTo>
                  <a:pt x="430423" y="171185"/>
                </a:lnTo>
                <a:lnTo>
                  <a:pt x="468178" y="147076"/>
                </a:lnTo>
                <a:lnTo>
                  <a:pt x="507103" y="124605"/>
                </a:lnTo>
                <a:lnTo>
                  <a:pt x="547143" y="103823"/>
                </a:lnTo>
                <a:lnTo>
                  <a:pt x="588248" y="84779"/>
                </a:lnTo>
                <a:lnTo>
                  <a:pt x="630364" y="67526"/>
                </a:lnTo>
                <a:lnTo>
                  <a:pt x="673440" y="52113"/>
                </a:lnTo>
                <a:lnTo>
                  <a:pt x="717424" y="38590"/>
                </a:lnTo>
                <a:lnTo>
                  <a:pt x="762263" y="27009"/>
                </a:lnTo>
                <a:lnTo>
                  <a:pt x="807905" y="17421"/>
                </a:lnTo>
                <a:lnTo>
                  <a:pt x="854297" y="9875"/>
                </a:lnTo>
                <a:lnTo>
                  <a:pt x="901389" y="4422"/>
                </a:lnTo>
                <a:lnTo>
                  <a:pt x="949126" y="1114"/>
                </a:lnTo>
                <a:lnTo>
                  <a:pt x="997457" y="0"/>
                </a:lnTo>
                <a:lnTo>
                  <a:pt x="1045789" y="1114"/>
                </a:lnTo>
                <a:lnTo>
                  <a:pt x="1093526" y="4422"/>
                </a:lnTo>
                <a:lnTo>
                  <a:pt x="1140618" y="9875"/>
                </a:lnTo>
                <a:lnTo>
                  <a:pt x="1187010" y="17421"/>
                </a:lnTo>
                <a:lnTo>
                  <a:pt x="1232652" y="27009"/>
                </a:lnTo>
                <a:lnTo>
                  <a:pt x="1277491" y="38590"/>
                </a:lnTo>
                <a:lnTo>
                  <a:pt x="1321475" y="52113"/>
                </a:lnTo>
                <a:lnTo>
                  <a:pt x="1364551" y="67526"/>
                </a:lnTo>
                <a:lnTo>
                  <a:pt x="1406667" y="84779"/>
                </a:lnTo>
                <a:lnTo>
                  <a:pt x="1447772" y="103823"/>
                </a:lnTo>
                <a:lnTo>
                  <a:pt x="1487812" y="124605"/>
                </a:lnTo>
                <a:lnTo>
                  <a:pt x="1526737" y="147076"/>
                </a:lnTo>
                <a:lnTo>
                  <a:pt x="1564492" y="171185"/>
                </a:lnTo>
                <a:lnTo>
                  <a:pt x="1601027" y="196881"/>
                </a:lnTo>
                <a:lnTo>
                  <a:pt x="1636288" y="224114"/>
                </a:lnTo>
                <a:lnTo>
                  <a:pt x="1670225" y="252833"/>
                </a:lnTo>
                <a:lnTo>
                  <a:pt x="1702784" y="282987"/>
                </a:lnTo>
                <a:lnTo>
                  <a:pt x="1733913" y="314527"/>
                </a:lnTo>
                <a:lnTo>
                  <a:pt x="1763560" y="347400"/>
                </a:lnTo>
                <a:lnTo>
                  <a:pt x="1791673" y="381558"/>
                </a:lnTo>
                <a:lnTo>
                  <a:pt x="1818200" y="416948"/>
                </a:lnTo>
                <a:lnTo>
                  <a:pt x="1843088" y="453521"/>
                </a:lnTo>
                <a:lnTo>
                  <a:pt x="1866285" y="491226"/>
                </a:lnTo>
                <a:lnTo>
                  <a:pt x="1887738" y="530013"/>
                </a:lnTo>
                <a:lnTo>
                  <a:pt x="1907397" y="569830"/>
                </a:lnTo>
                <a:lnTo>
                  <a:pt x="1925208" y="610627"/>
                </a:lnTo>
                <a:lnTo>
                  <a:pt x="1941119" y="652353"/>
                </a:lnTo>
                <a:lnTo>
                  <a:pt x="1955078" y="694959"/>
                </a:lnTo>
                <a:lnTo>
                  <a:pt x="1967033" y="738393"/>
                </a:lnTo>
                <a:lnTo>
                  <a:pt x="1976931" y="782604"/>
                </a:lnTo>
                <a:lnTo>
                  <a:pt x="1984721" y="827543"/>
                </a:lnTo>
                <a:lnTo>
                  <a:pt x="1990350" y="873158"/>
                </a:lnTo>
                <a:lnTo>
                  <a:pt x="1993765" y="919399"/>
                </a:lnTo>
                <a:lnTo>
                  <a:pt x="1994915" y="966216"/>
                </a:lnTo>
                <a:lnTo>
                  <a:pt x="1993765" y="1013032"/>
                </a:lnTo>
                <a:lnTo>
                  <a:pt x="1990350" y="1059273"/>
                </a:lnTo>
                <a:lnTo>
                  <a:pt x="1984721" y="1104888"/>
                </a:lnTo>
                <a:lnTo>
                  <a:pt x="1976931" y="1149827"/>
                </a:lnTo>
                <a:lnTo>
                  <a:pt x="1967033" y="1194038"/>
                </a:lnTo>
                <a:lnTo>
                  <a:pt x="1955078" y="1237472"/>
                </a:lnTo>
                <a:lnTo>
                  <a:pt x="1941119" y="1280078"/>
                </a:lnTo>
                <a:lnTo>
                  <a:pt x="1925208" y="1321804"/>
                </a:lnTo>
                <a:lnTo>
                  <a:pt x="1907397" y="1362601"/>
                </a:lnTo>
                <a:lnTo>
                  <a:pt x="1887738" y="1402418"/>
                </a:lnTo>
                <a:lnTo>
                  <a:pt x="1866285" y="1441205"/>
                </a:lnTo>
                <a:lnTo>
                  <a:pt x="1843088" y="1478910"/>
                </a:lnTo>
                <a:lnTo>
                  <a:pt x="1818200" y="1515483"/>
                </a:lnTo>
                <a:lnTo>
                  <a:pt x="1791673" y="1550873"/>
                </a:lnTo>
                <a:lnTo>
                  <a:pt x="1763560" y="1585031"/>
                </a:lnTo>
                <a:lnTo>
                  <a:pt x="1733913" y="1617904"/>
                </a:lnTo>
                <a:lnTo>
                  <a:pt x="1702784" y="1649444"/>
                </a:lnTo>
                <a:lnTo>
                  <a:pt x="1670225" y="1679598"/>
                </a:lnTo>
                <a:lnTo>
                  <a:pt x="1636288" y="1708317"/>
                </a:lnTo>
                <a:lnTo>
                  <a:pt x="1601027" y="1735550"/>
                </a:lnTo>
                <a:lnTo>
                  <a:pt x="1564492" y="1761246"/>
                </a:lnTo>
                <a:lnTo>
                  <a:pt x="1526737" y="1785355"/>
                </a:lnTo>
                <a:lnTo>
                  <a:pt x="1487812" y="1807826"/>
                </a:lnTo>
                <a:lnTo>
                  <a:pt x="1447772" y="1828608"/>
                </a:lnTo>
                <a:lnTo>
                  <a:pt x="1406667" y="1847652"/>
                </a:lnTo>
                <a:lnTo>
                  <a:pt x="1364551" y="1864905"/>
                </a:lnTo>
                <a:lnTo>
                  <a:pt x="1321475" y="1880318"/>
                </a:lnTo>
                <a:lnTo>
                  <a:pt x="1277491" y="1893841"/>
                </a:lnTo>
                <a:lnTo>
                  <a:pt x="1232652" y="1905422"/>
                </a:lnTo>
                <a:lnTo>
                  <a:pt x="1187010" y="1915010"/>
                </a:lnTo>
                <a:lnTo>
                  <a:pt x="1140618" y="1922556"/>
                </a:lnTo>
                <a:lnTo>
                  <a:pt x="1093526" y="1928009"/>
                </a:lnTo>
                <a:lnTo>
                  <a:pt x="1045789" y="1931317"/>
                </a:lnTo>
                <a:lnTo>
                  <a:pt x="997457" y="1932432"/>
                </a:lnTo>
                <a:lnTo>
                  <a:pt x="949126" y="1931317"/>
                </a:lnTo>
                <a:lnTo>
                  <a:pt x="901389" y="1928009"/>
                </a:lnTo>
                <a:lnTo>
                  <a:pt x="854297" y="1922556"/>
                </a:lnTo>
                <a:lnTo>
                  <a:pt x="807905" y="1915010"/>
                </a:lnTo>
                <a:lnTo>
                  <a:pt x="762263" y="1905422"/>
                </a:lnTo>
                <a:lnTo>
                  <a:pt x="717424" y="1893841"/>
                </a:lnTo>
                <a:lnTo>
                  <a:pt x="673440" y="1880318"/>
                </a:lnTo>
                <a:lnTo>
                  <a:pt x="630364" y="1864905"/>
                </a:lnTo>
                <a:lnTo>
                  <a:pt x="588248" y="1847652"/>
                </a:lnTo>
                <a:lnTo>
                  <a:pt x="547143" y="1828608"/>
                </a:lnTo>
                <a:lnTo>
                  <a:pt x="507103" y="1807826"/>
                </a:lnTo>
                <a:lnTo>
                  <a:pt x="468178" y="1785355"/>
                </a:lnTo>
                <a:lnTo>
                  <a:pt x="430423" y="1761246"/>
                </a:lnTo>
                <a:lnTo>
                  <a:pt x="393888" y="1735550"/>
                </a:lnTo>
                <a:lnTo>
                  <a:pt x="358627" y="1708317"/>
                </a:lnTo>
                <a:lnTo>
                  <a:pt x="324690" y="1679598"/>
                </a:lnTo>
                <a:lnTo>
                  <a:pt x="292131" y="1649444"/>
                </a:lnTo>
                <a:lnTo>
                  <a:pt x="261002" y="1617904"/>
                </a:lnTo>
                <a:lnTo>
                  <a:pt x="231355" y="1585031"/>
                </a:lnTo>
                <a:lnTo>
                  <a:pt x="203242" y="1550873"/>
                </a:lnTo>
                <a:lnTo>
                  <a:pt x="176715" y="1515483"/>
                </a:lnTo>
                <a:lnTo>
                  <a:pt x="151827" y="1478910"/>
                </a:lnTo>
                <a:lnTo>
                  <a:pt x="128630" y="1441205"/>
                </a:lnTo>
                <a:lnTo>
                  <a:pt x="107177" y="1402418"/>
                </a:lnTo>
                <a:lnTo>
                  <a:pt x="87518" y="1362601"/>
                </a:lnTo>
                <a:lnTo>
                  <a:pt x="69707" y="1321804"/>
                </a:lnTo>
                <a:lnTo>
                  <a:pt x="53796" y="1280078"/>
                </a:lnTo>
                <a:lnTo>
                  <a:pt x="39837" y="1237472"/>
                </a:lnTo>
                <a:lnTo>
                  <a:pt x="27882" y="1194038"/>
                </a:lnTo>
                <a:lnTo>
                  <a:pt x="17984" y="1149827"/>
                </a:lnTo>
                <a:lnTo>
                  <a:pt x="10194" y="1104888"/>
                </a:lnTo>
                <a:lnTo>
                  <a:pt x="4565" y="1059273"/>
                </a:lnTo>
                <a:lnTo>
                  <a:pt x="1150" y="1013032"/>
                </a:lnTo>
                <a:lnTo>
                  <a:pt x="0" y="966216"/>
                </a:lnTo>
                <a:close/>
              </a:path>
            </a:pathLst>
          </a:custGeom>
          <a:ln w="3175">
            <a:solidFill>
              <a:srgbClr val="0046A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>
            <a:spLocks noGrp="1"/>
          </p:cNvSpPr>
          <p:nvPr>
            <p:ph type="title"/>
          </p:nvPr>
        </p:nvSpPr>
        <p:spPr>
          <a:xfrm>
            <a:off x="2578100" y="448818"/>
            <a:ext cx="6940550" cy="6965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z="4400" spc="600">
                <a:solidFill>
                  <a:srgbClr val="FFFF00"/>
                </a:solidFill>
              </a:rPr>
              <a:t>洁净照明特性及关键参</a:t>
            </a:r>
            <a:r>
              <a:rPr dirty="0" u="none" sz="4400">
                <a:solidFill>
                  <a:srgbClr val="FFFF00"/>
                </a:solidFill>
              </a:rPr>
              <a:t>数</a:t>
            </a:r>
            <a:endParaRPr sz="4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919331" y="6588658"/>
            <a:ext cx="99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微软雅黑"/>
                <a:cs typeface="微软雅黑"/>
              </a:rPr>
              <a:t>4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0647" y="6489903"/>
            <a:ext cx="10160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5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09926" y="1694129"/>
            <a:ext cx="95123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46AA"/>
                </a:solidFill>
                <a:latin typeface="微软雅黑"/>
                <a:cs typeface="微软雅黑"/>
              </a:rPr>
              <a:t>占总造价</a:t>
            </a:r>
            <a:r>
              <a:rPr dirty="0" sz="1200">
                <a:solidFill>
                  <a:srgbClr val="0046AA"/>
                </a:solidFill>
                <a:latin typeface="微软雅黑"/>
                <a:cs typeface="微软雅黑"/>
              </a:rPr>
              <a:t>60%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963657" y="1810639"/>
            <a:ext cx="9518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46AA"/>
                </a:solidFill>
                <a:latin typeface="微软雅黑"/>
                <a:cs typeface="微软雅黑"/>
              </a:rPr>
              <a:t>占总造价25%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432941" y="145120"/>
            <a:ext cx="4776470" cy="1047115"/>
          </a:xfrm>
          <a:prstGeom prst="rect"/>
        </p:spPr>
        <p:txBody>
          <a:bodyPr wrap="square" lIns="0" tIns="178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dirty="0" u="none" b="0">
                <a:solidFill>
                  <a:srgbClr val="4E75A2"/>
                </a:solidFill>
                <a:latin typeface="微软雅黑"/>
                <a:cs typeface="微软雅黑"/>
              </a:rPr>
              <a:t>洁净项目场景分类</a:t>
            </a:r>
          </a:p>
          <a:p>
            <a:pPr marL="2933700">
              <a:lnSpc>
                <a:spcPct val="100000"/>
              </a:lnSpc>
              <a:spcBef>
                <a:spcPts val="735"/>
              </a:spcBef>
            </a:pPr>
            <a:r>
              <a:rPr dirty="0" u="none" sz="1800">
                <a:solidFill>
                  <a:srgbClr val="000104"/>
                </a:solidFill>
              </a:rPr>
              <a:t>洁净工厂场景分类</a:t>
            </a:r>
            <a:endParaRPr sz="1800"/>
          </a:p>
        </p:txBody>
      </p:sp>
      <p:sp>
        <p:nvSpPr>
          <p:cNvPr id="12" name="object 12"/>
          <p:cNvSpPr txBox="1"/>
          <p:nvPr/>
        </p:nvSpPr>
        <p:spPr>
          <a:xfrm>
            <a:off x="1289050" y="1598116"/>
            <a:ext cx="7112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>
                <a:solidFill>
                  <a:srgbClr val="000104"/>
                </a:solidFill>
                <a:latin typeface="微软雅黑"/>
                <a:cs typeface="微软雅黑"/>
              </a:rPr>
              <a:t>生产区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45228" y="1650872"/>
            <a:ext cx="18008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61694" algn="l"/>
              </a:tabLst>
            </a:pPr>
            <a:r>
              <a:rPr dirty="0" baseline="1543" sz="2700" b="1">
                <a:solidFill>
                  <a:srgbClr val="000104"/>
                </a:solidFill>
                <a:latin typeface="微软雅黑"/>
                <a:cs typeface="微软雅黑"/>
              </a:rPr>
              <a:t>仓储区	</a:t>
            </a:r>
            <a:r>
              <a:rPr dirty="0" sz="1200" spc="-5">
                <a:solidFill>
                  <a:srgbClr val="0046AA"/>
                </a:solidFill>
                <a:latin typeface="微软雅黑"/>
                <a:cs typeface="微软雅黑"/>
              </a:rPr>
              <a:t>占总造价</a:t>
            </a:r>
            <a:r>
              <a:rPr dirty="0" sz="1200">
                <a:solidFill>
                  <a:srgbClr val="0046AA"/>
                </a:solidFill>
                <a:latin typeface="微软雅黑"/>
                <a:cs typeface="微软雅黑"/>
              </a:rPr>
              <a:t>15%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2981" y="1693926"/>
            <a:ext cx="4826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0104"/>
                </a:solidFill>
                <a:latin typeface="微软雅黑"/>
                <a:cs typeface="微软雅黑"/>
              </a:rPr>
              <a:t>其他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48967" y="1345691"/>
            <a:ext cx="7967345" cy="323850"/>
          </a:xfrm>
          <a:custGeom>
            <a:avLst/>
            <a:gdLst/>
            <a:ahLst/>
            <a:cxnLst/>
            <a:rect l="l" t="t" r="r" b="b"/>
            <a:pathLst>
              <a:path w="7967345" h="323850">
                <a:moveTo>
                  <a:pt x="0" y="228600"/>
                </a:moveTo>
                <a:lnTo>
                  <a:pt x="0" y="0"/>
                </a:lnTo>
                <a:lnTo>
                  <a:pt x="7967090" y="0"/>
                </a:lnTo>
                <a:lnTo>
                  <a:pt x="7967090" y="323850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020055" y="1464563"/>
            <a:ext cx="0" cy="216535"/>
          </a:xfrm>
          <a:custGeom>
            <a:avLst/>
            <a:gdLst/>
            <a:ahLst/>
            <a:cxnLst/>
            <a:rect l="l" t="t" r="r" b="b"/>
            <a:pathLst>
              <a:path w="0" h="216535">
                <a:moveTo>
                  <a:pt x="0" y="0"/>
                </a:moveTo>
                <a:lnTo>
                  <a:pt x="0" y="216026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020055" y="1237488"/>
            <a:ext cx="0" cy="217804"/>
          </a:xfrm>
          <a:custGeom>
            <a:avLst/>
            <a:gdLst/>
            <a:ahLst/>
            <a:cxnLst/>
            <a:rect l="l" t="t" r="r" b="b"/>
            <a:pathLst>
              <a:path w="0" h="217805">
                <a:moveTo>
                  <a:pt x="0" y="217550"/>
                </a:moveTo>
                <a:lnTo>
                  <a:pt x="0" y="0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7084314" y="2594864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食堂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11439" y="2594864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监控器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423654" y="2594864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办公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493120" y="2594864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大厅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7257288" y="2344420"/>
            <a:ext cx="3408679" cy="228600"/>
          </a:xfrm>
          <a:custGeom>
            <a:avLst/>
            <a:gdLst/>
            <a:ahLst/>
            <a:cxnLst/>
            <a:rect l="l" t="t" r="r" b="b"/>
            <a:pathLst>
              <a:path w="3408679" h="228600">
                <a:moveTo>
                  <a:pt x="0" y="228600"/>
                </a:moveTo>
                <a:lnTo>
                  <a:pt x="0" y="0"/>
                </a:lnTo>
                <a:lnTo>
                  <a:pt x="3408298" y="0"/>
                </a:lnTo>
                <a:lnTo>
                  <a:pt x="3408298" y="215900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461247" y="2344420"/>
            <a:ext cx="1135380" cy="228600"/>
          </a:xfrm>
          <a:custGeom>
            <a:avLst/>
            <a:gdLst/>
            <a:ahLst/>
            <a:cxnLst/>
            <a:rect l="l" t="t" r="r" b="b"/>
            <a:pathLst>
              <a:path w="1135379" h="228600">
                <a:moveTo>
                  <a:pt x="0" y="228600"/>
                </a:moveTo>
                <a:lnTo>
                  <a:pt x="0" y="0"/>
                </a:lnTo>
                <a:lnTo>
                  <a:pt x="1135252" y="0"/>
                </a:lnTo>
                <a:lnTo>
                  <a:pt x="1135252" y="215900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601200" y="2011679"/>
            <a:ext cx="0" cy="289560"/>
          </a:xfrm>
          <a:custGeom>
            <a:avLst/>
            <a:gdLst/>
            <a:ahLst/>
            <a:cxnLst/>
            <a:rect l="l" t="t" r="r" b="b"/>
            <a:pathLst>
              <a:path w="0" h="289560">
                <a:moveTo>
                  <a:pt x="0" y="0"/>
                </a:moveTo>
                <a:lnTo>
                  <a:pt x="0" y="289433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943355" y="2564892"/>
            <a:ext cx="1580515" cy="381000"/>
          </a:xfrm>
          <a:prstGeom prst="rect">
            <a:avLst/>
          </a:prstGeom>
          <a:ln w="12191">
            <a:solidFill>
              <a:srgbClr val="FF0000"/>
            </a:solidFill>
          </a:ln>
        </p:spPr>
        <p:txBody>
          <a:bodyPr wrap="square" lIns="0" tIns="77470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610"/>
              </a:spcBef>
            </a:pPr>
            <a:r>
              <a:rPr dirty="0" sz="1200" b="1">
                <a:solidFill>
                  <a:srgbClr val="000104"/>
                </a:solidFill>
                <a:latin typeface="微软雅黑"/>
                <a:cs typeface="微软雅黑"/>
              </a:rPr>
              <a:t>洁</a:t>
            </a:r>
            <a:r>
              <a:rPr dirty="0" sz="1200" spc="-5" b="1">
                <a:solidFill>
                  <a:srgbClr val="000104"/>
                </a:solidFill>
                <a:latin typeface="微软雅黑"/>
                <a:cs typeface="微软雅黑"/>
              </a:rPr>
              <a:t>净</a:t>
            </a:r>
            <a:r>
              <a:rPr dirty="0" sz="1200" b="1">
                <a:solidFill>
                  <a:srgbClr val="000104"/>
                </a:solidFill>
                <a:latin typeface="微软雅黑"/>
                <a:cs typeface="微软雅黑"/>
              </a:rPr>
              <a:t>灯盘</a:t>
            </a:r>
            <a:r>
              <a:rPr dirty="0" sz="1200" spc="-5" b="1">
                <a:solidFill>
                  <a:srgbClr val="000104"/>
                </a:solidFill>
                <a:latin typeface="微软雅黑"/>
                <a:cs typeface="微软雅黑"/>
              </a:rPr>
              <a:t>/</a:t>
            </a:r>
            <a:r>
              <a:rPr dirty="0" sz="1200" b="1">
                <a:solidFill>
                  <a:srgbClr val="000104"/>
                </a:solidFill>
                <a:latin typeface="微软雅黑"/>
                <a:cs typeface="微软雅黑"/>
              </a:rPr>
              <a:t>洁净支架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134606" y="3582670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灯盘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55991" y="3603497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筒灯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77121" y="3603497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线性灯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889617" y="3603497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路灯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690986" y="3585464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投光灯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47540" y="2629661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天棚灯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19853" y="2626563"/>
            <a:ext cx="482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solidFill>
                  <a:srgbClr val="000104"/>
                </a:solidFill>
                <a:latin typeface="微软雅黑"/>
                <a:cs typeface="微软雅黑"/>
              </a:rPr>
              <a:t>防爆灯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943727" y="2603753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三防灯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154423" y="2231135"/>
            <a:ext cx="1968500" cy="342900"/>
          </a:xfrm>
          <a:custGeom>
            <a:avLst/>
            <a:gdLst/>
            <a:ahLst/>
            <a:cxnLst/>
            <a:rect l="l" t="t" r="r" b="b"/>
            <a:pathLst>
              <a:path w="1968500" h="342900">
                <a:moveTo>
                  <a:pt x="0" y="342900"/>
                </a:moveTo>
                <a:lnTo>
                  <a:pt x="0" y="0"/>
                </a:lnTo>
                <a:lnTo>
                  <a:pt x="1967991" y="0"/>
                </a:lnTo>
                <a:lnTo>
                  <a:pt x="1967991" y="342900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01623" y="2517648"/>
            <a:ext cx="1891030" cy="3175"/>
          </a:xfrm>
          <a:custGeom>
            <a:avLst/>
            <a:gdLst/>
            <a:ahLst/>
            <a:cxnLst/>
            <a:rect l="l" t="t" r="r" b="b"/>
            <a:pathLst>
              <a:path w="1891030" h="3175">
                <a:moveTo>
                  <a:pt x="-3048" y="1587"/>
                </a:moveTo>
                <a:lnTo>
                  <a:pt x="1894077" y="1587"/>
                </a:lnTo>
              </a:path>
            </a:pathLst>
          </a:custGeom>
          <a:ln w="9271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301483" y="3290315"/>
            <a:ext cx="4565650" cy="264795"/>
          </a:xfrm>
          <a:custGeom>
            <a:avLst/>
            <a:gdLst/>
            <a:ahLst/>
            <a:cxnLst/>
            <a:rect l="l" t="t" r="r" b="b"/>
            <a:pathLst>
              <a:path w="4565650" h="264795">
                <a:moveTo>
                  <a:pt x="0" y="264668"/>
                </a:moveTo>
                <a:lnTo>
                  <a:pt x="0" y="0"/>
                </a:lnTo>
                <a:lnTo>
                  <a:pt x="4565396" y="0"/>
                </a:lnTo>
                <a:lnTo>
                  <a:pt x="4565396" y="228600"/>
                </a:lnTo>
              </a:path>
            </a:pathLst>
          </a:custGeom>
          <a:ln w="6095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9608819" y="2945892"/>
            <a:ext cx="6985" cy="329565"/>
          </a:xfrm>
          <a:custGeom>
            <a:avLst/>
            <a:gdLst/>
            <a:ahLst/>
            <a:cxnLst/>
            <a:rect l="l" t="t" r="r" b="b"/>
            <a:pathLst>
              <a:path w="6984" h="329564">
                <a:moveTo>
                  <a:pt x="6857" y="329438"/>
                </a:moveTo>
                <a:lnTo>
                  <a:pt x="0" y="0"/>
                </a:lnTo>
              </a:path>
            </a:pathLst>
          </a:custGeom>
          <a:ln w="6095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646664" y="2342895"/>
            <a:ext cx="1207770" cy="228600"/>
          </a:xfrm>
          <a:custGeom>
            <a:avLst/>
            <a:gdLst/>
            <a:ahLst/>
            <a:cxnLst/>
            <a:rect l="l" t="t" r="r" b="b"/>
            <a:pathLst>
              <a:path w="1207770" h="228600">
                <a:moveTo>
                  <a:pt x="0" y="228600"/>
                </a:moveTo>
                <a:lnTo>
                  <a:pt x="0" y="0"/>
                </a:lnTo>
                <a:lnTo>
                  <a:pt x="1207515" y="0"/>
                </a:lnTo>
                <a:lnTo>
                  <a:pt x="1207515" y="215900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656588" y="1950720"/>
            <a:ext cx="0" cy="289560"/>
          </a:xfrm>
          <a:custGeom>
            <a:avLst/>
            <a:gdLst/>
            <a:ahLst/>
            <a:cxnLst/>
            <a:rect l="l" t="t" r="r" b="b"/>
            <a:pathLst>
              <a:path w="0" h="289560">
                <a:moveTo>
                  <a:pt x="0" y="0"/>
                </a:moveTo>
                <a:lnTo>
                  <a:pt x="0" y="289432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035296" y="1964435"/>
            <a:ext cx="0" cy="289560"/>
          </a:xfrm>
          <a:custGeom>
            <a:avLst/>
            <a:gdLst/>
            <a:ahLst/>
            <a:cxnLst/>
            <a:rect l="l" t="t" r="r" b="b"/>
            <a:pathLst>
              <a:path w="0" h="289560">
                <a:moveTo>
                  <a:pt x="0" y="0"/>
                </a:moveTo>
                <a:lnTo>
                  <a:pt x="0" y="289433"/>
                </a:lnTo>
              </a:path>
            </a:pathLst>
          </a:custGeom>
          <a:ln w="6096">
            <a:solidFill>
              <a:srgbClr val="A4B59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507351" y="5422968"/>
            <a:ext cx="1174750" cy="735330"/>
          </a:xfrm>
          <a:prstGeom prst="rect">
            <a:avLst/>
          </a:prstGeom>
        </p:spPr>
        <p:txBody>
          <a:bodyPr wrap="square" lIns="0" tIns="139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1600" spc="-10" b="1">
                <a:solidFill>
                  <a:srgbClr val="006FC0"/>
                </a:solidFill>
                <a:latin typeface="微软雅黑"/>
                <a:cs typeface="微软雅黑"/>
              </a:rPr>
              <a:t>2025</a:t>
            </a:r>
            <a:r>
              <a:rPr dirty="0" sz="1600" spc="-5" b="1">
                <a:solidFill>
                  <a:srgbClr val="006FC0"/>
                </a:solidFill>
                <a:latin typeface="微软雅黑"/>
                <a:cs typeface="微软雅黑"/>
              </a:rPr>
              <a:t>年预估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30"/>
              </a:spcBef>
            </a:pPr>
            <a:r>
              <a:rPr dirty="0" sz="1450" spc="5">
                <a:latin typeface="微软雅黑"/>
                <a:cs typeface="微软雅黑"/>
              </a:rPr>
              <a:t>洁净市场</a:t>
            </a:r>
            <a:r>
              <a:rPr dirty="0" sz="1450" spc="0">
                <a:latin typeface="微软雅黑"/>
                <a:cs typeface="微软雅黑"/>
              </a:rPr>
              <a:t>27</a:t>
            </a:r>
            <a:r>
              <a:rPr dirty="0" sz="1450" spc="5">
                <a:latin typeface="微软雅黑"/>
                <a:cs typeface="微软雅黑"/>
              </a:rPr>
              <a:t>亿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246120" y="4750308"/>
            <a:ext cx="908685" cy="277495"/>
          </a:xfrm>
          <a:prstGeom prst="rect">
            <a:avLst/>
          </a:prstGeom>
          <a:solidFill>
            <a:srgbClr val="000000"/>
          </a:solidFill>
        </p:spPr>
        <p:txBody>
          <a:bodyPr wrap="square" lIns="0" tIns="4064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20"/>
              </a:spcBef>
            </a:pPr>
            <a:r>
              <a:rPr dirty="0" sz="1200">
                <a:solidFill>
                  <a:srgbClr val="FFFFFF"/>
                </a:solidFill>
                <a:latin typeface="微软雅黑"/>
                <a:cs typeface="微软雅黑"/>
              </a:rPr>
              <a:t>洁净场景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649202" y="2622550"/>
            <a:ext cx="330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户外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585193" y="3585464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0104"/>
                </a:solidFill>
                <a:latin typeface="微软雅黑"/>
                <a:cs typeface="微软雅黑"/>
              </a:rPr>
              <a:t>装饰灯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1138427" y="3366515"/>
            <a:ext cx="1897379" cy="12344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139952" y="5221236"/>
            <a:ext cx="1895855" cy="12450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274820" y="3273552"/>
            <a:ext cx="1896110" cy="1248410"/>
          </a:xfrm>
          <a:custGeom>
            <a:avLst/>
            <a:gdLst/>
            <a:ahLst/>
            <a:cxnLst/>
            <a:rect l="l" t="t" r="r" b="b"/>
            <a:pathLst>
              <a:path w="1896110" h="1248410">
                <a:moveTo>
                  <a:pt x="1788540" y="0"/>
                </a:moveTo>
                <a:lnTo>
                  <a:pt x="107314" y="0"/>
                </a:lnTo>
                <a:lnTo>
                  <a:pt x="65526" y="8427"/>
                </a:lnTo>
                <a:lnTo>
                  <a:pt x="31416" y="31416"/>
                </a:lnTo>
                <a:lnTo>
                  <a:pt x="8427" y="65526"/>
                </a:lnTo>
                <a:lnTo>
                  <a:pt x="0" y="107314"/>
                </a:lnTo>
                <a:lnTo>
                  <a:pt x="0" y="1140841"/>
                </a:lnTo>
                <a:lnTo>
                  <a:pt x="8427" y="1182629"/>
                </a:lnTo>
                <a:lnTo>
                  <a:pt x="31416" y="1216739"/>
                </a:lnTo>
                <a:lnTo>
                  <a:pt x="65526" y="1239728"/>
                </a:lnTo>
                <a:lnTo>
                  <a:pt x="107314" y="1248156"/>
                </a:lnTo>
                <a:lnTo>
                  <a:pt x="1788540" y="1248156"/>
                </a:lnTo>
                <a:lnTo>
                  <a:pt x="1830329" y="1239728"/>
                </a:lnTo>
                <a:lnTo>
                  <a:pt x="1864439" y="1216739"/>
                </a:lnTo>
                <a:lnTo>
                  <a:pt x="1887428" y="1182629"/>
                </a:lnTo>
                <a:lnTo>
                  <a:pt x="1895855" y="1140841"/>
                </a:lnTo>
                <a:lnTo>
                  <a:pt x="1895855" y="107314"/>
                </a:lnTo>
                <a:lnTo>
                  <a:pt x="1887428" y="65526"/>
                </a:lnTo>
                <a:lnTo>
                  <a:pt x="1864439" y="31416"/>
                </a:lnTo>
                <a:lnTo>
                  <a:pt x="1830329" y="8427"/>
                </a:lnTo>
                <a:lnTo>
                  <a:pt x="1788540" y="0"/>
                </a:lnTo>
                <a:close/>
              </a:path>
            </a:pathLst>
          </a:custGeom>
          <a:solidFill>
            <a:srgbClr val="ECECE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274820" y="3273552"/>
            <a:ext cx="1895855" cy="124815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274820" y="5221223"/>
            <a:ext cx="1903476" cy="12603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7452106" y="4304670"/>
            <a:ext cx="3878579" cy="75692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5"/>
              </a:spcBef>
            </a:pPr>
            <a:r>
              <a:rPr dirty="0" sz="1600" spc="-5" b="1">
                <a:solidFill>
                  <a:srgbClr val="006FC0"/>
                </a:solidFill>
                <a:latin typeface="微软雅黑"/>
                <a:cs typeface="微软雅黑"/>
              </a:rPr>
              <a:t>洁净场所包含电子、新能源、光伏</a:t>
            </a:r>
            <a:r>
              <a:rPr dirty="0" sz="1600" spc="0" b="1">
                <a:solidFill>
                  <a:srgbClr val="006FC0"/>
                </a:solidFill>
                <a:latin typeface="微软雅黑"/>
                <a:cs typeface="微软雅黑"/>
              </a:rPr>
              <a:t>、</a:t>
            </a:r>
            <a:r>
              <a:rPr dirty="0" sz="1600" spc="-5" b="1">
                <a:solidFill>
                  <a:srgbClr val="006FC0"/>
                </a:solidFill>
                <a:latin typeface="微软雅黑"/>
                <a:cs typeface="微软雅黑"/>
              </a:rPr>
              <a:t>医药、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600" spc="-10" b="1">
                <a:solidFill>
                  <a:srgbClr val="006FC0"/>
                </a:solidFill>
                <a:latin typeface="微软雅黑"/>
                <a:cs typeface="微软雅黑"/>
              </a:rPr>
              <a:t>食品</a:t>
            </a:r>
            <a:r>
              <a:rPr dirty="0" sz="1600" spc="-5" b="1">
                <a:solidFill>
                  <a:srgbClr val="006FC0"/>
                </a:solidFill>
                <a:latin typeface="微软雅黑"/>
                <a:cs typeface="微软雅黑"/>
              </a:rPr>
              <a:t>、ICU</a:t>
            </a:r>
            <a:r>
              <a:rPr dirty="0" sz="1600" spc="-10" b="1">
                <a:solidFill>
                  <a:srgbClr val="006FC0"/>
                </a:solidFill>
                <a:latin typeface="微软雅黑"/>
                <a:cs typeface="微软雅黑"/>
              </a:rPr>
              <a:t>、手术室等无尘场景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1919331" y="6588658"/>
            <a:ext cx="9969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latin typeface="微软雅黑"/>
                <a:cs typeface="微软雅黑"/>
              </a:rPr>
              <a:t>5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50647" y="6489903"/>
            <a:ext cx="10160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5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105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32941" y="310641"/>
            <a:ext cx="328358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b="0">
                <a:solidFill>
                  <a:srgbClr val="4E75A2"/>
                </a:solidFill>
                <a:latin typeface="微软雅黑"/>
                <a:cs typeface="微软雅黑"/>
              </a:rPr>
              <a:t>工业产品解决方案</a:t>
            </a:r>
          </a:p>
        </p:txBody>
      </p:sp>
      <p:sp>
        <p:nvSpPr>
          <p:cNvPr id="10" name="object 10"/>
          <p:cNvSpPr/>
          <p:nvPr/>
        </p:nvSpPr>
        <p:spPr>
          <a:xfrm>
            <a:off x="10256519" y="4027932"/>
            <a:ext cx="659811" cy="5882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122407" y="4757928"/>
            <a:ext cx="1100327" cy="6598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87540" y="4913376"/>
            <a:ext cx="932688" cy="73304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117237" y="4637278"/>
            <a:ext cx="1457559" cy="117768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33588" y="3653409"/>
            <a:ext cx="1171829" cy="10119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841540" y="3502914"/>
            <a:ext cx="1362240" cy="136224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67841" y="4836921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天棚灯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416301" y="4836921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三防灯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423541" y="5918708"/>
            <a:ext cx="483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投光灯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56259" y="5957722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高挂灯盘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17821" y="4721732"/>
            <a:ext cx="622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洁净灯盘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548248" y="4731766"/>
            <a:ext cx="6940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红</a:t>
            </a:r>
            <a:r>
              <a:rPr dirty="0" sz="1200" spc="-5" b="1">
                <a:latin typeface="微软雅黑"/>
                <a:cs typeface="微软雅黑"/>
              </a:rPr>
              <a:t>/</a:t>
            </a:r>
            <a:r>
              <a:rPr dirty="0" sz="1200" b="1">
                <a:latin typeface="微软雅黑"/>
                <a:cs typeface="微软雅黑"/>
              </a:rPr>
              <a:t>黄光谱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669279" y="5570626"/>
            <a:ext cx="622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洁净支架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64303" y="6332016"/>
            <a:ext cx="622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泪滴支架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07408" y="5633110"/>
            <a:ext cx="6223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洁净空体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40255" y="3671442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工业核心包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956047" y="3650360"/>
            <a:ext cx="4699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洁净包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85786" y="4618685"/>
            <a:ext cx="6350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微软雅黑"/>
                <a:cs typeface="微软雅黑"/>
              </a:rPr>
              <a:t>防爆碟型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492743" y="4560189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防爆空体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45579" y="5581903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防爆投光灯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449436" y="5605068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防爆支架灯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45579" y="6357924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防爆开关等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462518" y="6312509"/>
            <a:ext cx="9398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防爆洁净灯盘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84363" y="3615054"/>
            <a:ext cx="4838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防爆包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448670" y="3648836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应急包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337038" y="4584268"/>
            <a:ext cx="48260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微软雅黑"/>
                <a:cs typeface="微软雅黑"/>
              </a:rPr>
              <a:t>双头灯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405998" y="5312155"/>
            <a:ext cx="4826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标志牌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135616" y="6343599"/>
            <a:ext cx="10922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微软雅黑"/>
                <a:cs typeface="微软雅黑"/>
              </a:rPr>
              <a:t>配电箱电池包等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415398" y="1231138"/>
            <a:ext cx="2122805" cy="1937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0795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06FC0"/>
                </a:solidFill>
                <a:latin typeface="微软雅黑"/>
                <a:cs typeface="微软雅黑"/>
              </a:rPr>
              <a:t>四大产品包</a:t>
            </a:r>
            <a:endParaRPr sz="1800">
              <a:latin typeface="微软雅黑"/>
              <a:cs typeface="微软雅黑"/>
            </a:endParaRPr>
          </a:p>
          <a:p>
            <a:pPr algn="ctr" marR="10160">
              <a:lnSpc>
                <a:spcPct val="100000"/>
              </a:lnSpc>
            </a:pPr>
            <a:r>
              <a:rPr dirty="0" sz="1800" b="1">
                <a:solidFill>
                  <a:srgbClr val="006FC0"/>
                </a:solidFill>
                <a:latin typeface="微软雅黑"/>
                <a:cs typeface="微软雅黑"/>
              </a:rPr>
              <a:t>+</a:t>
            </a:r>
            <a:endParaRPr sz="1800">
              <a:latin typeface="微软雅黑"/>
              <a:cs typeface="微软雅黑"/>
            </a:endParaRPr>
          </a:p>
          <a:p>
            <a:pPr algn="ctr" marR="10795">
              <a:lnSpc>
                <a:spcPct val="100000"/>
              </a:lnSpc>
            </a:pPr>
            <a:r>
              <a:rPr dirty="0" sz="1800" b="1">
                <a:solidFill>
                  <a:srgbClr val="006FC0"/>
                </a:solidFill>
                <a:latin typeface="微软雅黑"/>
                <a:cs typeface="微软雅黑"/>
              </a:rPr>
              <a:t>工业配套</a:t>
            </a:r>
            <a:endParaRPr sz="1800">
              <a:latin typeface="微软雅黑"/>
              <a:cs typeface="微软雅黑"/>
            </a:endParaRPr>
          </a:p>
          <a:p>
            <a:pPr algn="ctr" marR="10160">
              <a:lnSpc>
                <a:spcPct val="100000"/>
              </a:lnSpc>
            </a:pPr>
            <a:r>
              <a:rPr dirty="0" sz="1800" b="1">
                <a:solidFill>
                  <a:srgbClr val="006FC0"/>
                </a:solidFill>
                <a:latin typeface="微软雅黑"/>
                <a:cs typeface="微软雅黑"/>
              </a:rPr>
              <a:t>+</a:t>
            </a:r>
            <a:endParaRPr sz="1800">
              <a:latin typeface="微软雅黑"/>
              <a:cs typeface="微软雅黑"/>
            </a:endParaRPr>
          </a:p>
          <a:p>
            <a:pPr algn="ctr" marR="10795">
              <a:lnSpc>
                <a:spcPct val="100000"/>
              </a:lnSpc>
            </a:pPr>
            <a:r>
              <a:rPr dirty="0" sz="1800" b="1">
                <a:solidFill>
                  <a:srgbClr val="006FC0"/>
                </a:solidFill>
                <a:latin typeface="微软雅黑"/>
                <a:cs typeface="微软雅黑"/>
              </a:rPr>
              <a:t>定制产品</a:t>
            </a:r>
            <a:endParaRPr sz="18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090"/>
              </a:spcBef>
            </a:pPr>
            <a:r>
              <a:rPr dirty="0" sz="1800" b="1">
                <a:solidFill>
                  <a:srgbClr val="006FC0"/>
                </a:solidFill>
                <a:latin typeface="微软雅黑"/>
                <a:cs typeface="微软雅黑"/>
              </a:rPr>
              <a:t>可覆盖</a:t>
            </a:r>
            <a:r>
              <a:rPr dirty="0" sz="1800" spc="0" b="1">
                <a:solidFill>
                  <a:srgbClr val="006FC0"/>
                </a:solidFill>
                <a:latin typeface="微软雅黑"/>
                <a:cs typeface="微软雅黑"/>
              </a:rPr>
              <a:t>90</a:t>
            </a:r>
            <a:r>
              <a:rPr dirty="0" sz="1800" b="1">
                <a:solidFill>
                  <a:srgbClr val="006FC0"/>
                </a:solidFill>
                <a:latin typeface="微软雅黑"/>
                <a:cs typeface="微软雅黑"/>
              </a:rPr>
              <a:t>%工业场景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386778" y="1110869"/>
          <a:ext cx="8598535" cy="2112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25550"/>
                <a:gridCol w="1225550"/>
                <a:gridCol w="1156970"/>
                <a:gridCol w="68579"/>
                <a:gridCol w="1225550"/>
                <a:gridCol w="1225550"/>
                <a:gridCol w="75564"/>
                <a:gridCol w="1149985"/>
                <a:gridCol w="1225550"/>
              </a:tblGrid>
              <a:tr h="4197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机械加工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00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仓储物流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电子制造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医药洁净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461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电力冶金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石油矿工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44170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600" spc="-5">
                          <a:latin typeface="微软雅黑"/>
                          <a:cs typeface="微软雅黑"/>
                        </a:rPr>
                        <a:t>工业核心包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812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49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74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600" spc="-5">
                          <a:latin typeface="微软雅黑"/>
                          <a:cs typeface="微软雅黑"/>
                        </a:rPr>
                        <a:t>洁净包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600" spc="-5">
                          <a:latin typeface="微软雅黑"/>
                          <a:cs typeface="微软雅黑"/>
                        </a:rPr>
                        <a:t>防爆包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√？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19734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600" spc="-5">
                          <a:latin typeface="微软雅黑"/>
                          <a:cs typeface="微软雅黑"/>
                        </a:rPr>
                        <a:t>应急包</a:t>
                      </a:r>
                      <a:endParaRPr sz="1600">
                        <a:latin typeface="微软雅黑"/>
                        <a:cs typeface="微软雅黑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128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FF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R="539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28575">
                      <a:solidFill>
                        <a:srgbClr val="FF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dirty="0" sz="1600">
                          <a:latin typeface="等线"/>
                          <a:cs typeface="等线"/>
                        </a:rPr>
                        <a:t>√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17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0" name="object 40"/>
          <p:cNvSpPr/>
          <p:nvPr/>
        </p:nvSpPr>
        <p:spPr>
          <a:xfrm>
            <a:off x="8027543" y="5614822"/>
            <a:ext cx="1463067" cy="76311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73823" y="5675376"/>
            <a:ext cx="931164" cy="79248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267188" y="5597721"/>
            <a:ext cx="768095" cy="69627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81855" y="3925823"/>
            <a:ext cx="995172" cy="69341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539740" y="5155691"/>
            <a:ext cx="794003" cy="37642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355909" y="3985666"/>
            <a:ext cx="1009558" cy="63370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000500" y="5018532"/>
            <a:ext cx="1199388" cy="65532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66318" y="5934580"/>
            <a:ext cx="844109" cy="43828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93191" y="4011167"/>
            <a:ext cx="1664208" cy="93573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220467" y="4218432"/>
            <a:ext cx="1008888" cy="47701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3023" y="5224271"/>
            <a:ext cx="1304544" cy="8442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267711" y="5268467"/>
            <a:ext cx="749807" cy="57911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52222" y="3574541"/>
            <a:ext cx="3378835" cy="3057525"/>
          </a:xfrm>
          <a:custGeom>
            <a:avLst/>
            <a:gdLst/>
            <a:ahLst/>
            <a:cxnLst/>
            <a:rect l="l" t="t" r="r" b="b"/>
            <a:pathLst>
              <a:path w="3378835" h="3057525">
                <a:moveTo>
                  <a:pt x="0" y="509524"/>
                </a:moveTo>
                <a:lnTo>
                  <a:pt x="2332" y="460448"/>
                </a:lnTo>
                <a:lnTo>
                  <a:pt x="9187" y="412694"/>
                </a:lnTo>
                <a:lnTo>
                  <a:pt x="20352" y="366474"/>
                </a:lnTo>
                <a:lnTo>
                  <a:pt x="35612" y="322001"/>
                </a:lnTo>
                <a:lnTo>
                  <a:pt x="54754" y="279490"/>
                </a:lnTo>
                <a:lnTo>
                  <a:pt x="77565" y="239153"/>
                </a:lnTo>
                <a:lnTo>
                  <a:pt x="103831" y="201204"/>
                </a:lnTo>
                <a:lnTo>
                  <a:pt x="133338" y="165856"/>
                </a:lnTo>
                <a:lnTo>
                  <a:pt x="165873" y="133323"/>
                </a:lnTo>
                <a:lnTo>
                  <a:pt x="201223" y="103818"/>
                </a:lnTo>
                <a:lnTo>
                  <a:pt x="239173" y="77555"/>
                </a:lnTo>
                <a:lnTo>
                  <a:pt x="279511" y="54747"/>
                </a:lnTo>
                <a:lnTo>
                  <a:pt x="322023" y="35607"/>
                </a:lnTo>
                <a:lnTo>
                  <a:pt x="366495" y="20349"/>
                </a:lnTo>
                <a:lnTo>
                  <a:pt x="412713" y="9186"/>
                </a:lnTo>
                <a:lnTo>
                  <a:pt x="460465" y="2332"/>
                </a:lnTo>
                <a:lnTo>
                  <a:pt x="509536" y="0"/>
                </a:lnTo>
                <a:lnTo>
                  <a:pt x="2869184" y="0"/>
                </a:lnTo>
                <a:lnTo>
                  <a:pt x="2918259" y="2332"/>
                </a:lnTo>
                <a:lnTo>
                  <a:pt x="2966013" y="9186"/>
                </a:lnTo>
                <a:lnTo>
                  <a:pt x="3012233" y="20349"/>
                </a:lnTo>
                <a:lnTo>
                  <a:pt x="3056706" y="35607"/>
                </a:lnTo>
                <a:lnTo>
                  <a:pt x="3099217" y="54747"/>
                </a:lnTo>
                <a:lnTo>
                  <a:pt x="3139554" y="77555"/>
                </a:lnTo>
                <a:lnTo>
                  <a:pt x="3177503" y="103818"/>
                </a:lnTo>
                <a:lnTo>
                  <a:pt x="3212851" y="133323"/>
                </a:lnTo>
                <a:lnTo>
                  <a:pt x="3245384" y="165856"/>
                </a:lnTo>
                <a:lnTo>
                  <a:pt x="3274889" y="201204"/>
                </a:lnTo>
                <a:lnTo>
                  <a:pt x="3301152" y="239153"/>
                </a:lnTo>
                <a:lnTo>
                  <a:pt x="3323960" y="279490"/>
                </a:lnTo>
                <a:lnTo>
                  <a:pt x="3343100" y="322001"/>
                </a:lnTo>
                <a:lnTo>
                  <a:pt x="3358358" y="366474"/>
                </a:lnTo>
                <a:lnTo>
                  <a:pt x="3369521" y="412694"/>
                </a:lnTo>
                <a:lnTo>
                  <a:pt x="3376375" y="460448"/>
                </a:lnTo>
                <a:lnTo>
                  <a:pt x="3378707" y="509524"/>
                </a:lnTo>
                <a:lnTo>
                  <a:pt x="3378707" y="2547607"/>
                </a:lnTo>
                <a:lnTo>
                  <a:pt x="3376375" y="2596678"/>
                </a:lnTo>
                <a:lnTo>
                  <a:pt x="3369521" y="2644430"/>
                </a:lnTo>
                <a:lnTo>
                  <a:pt x="3358358" y="2690648"/>
                </a:lnTo>
                <a:lnTo>
                  <a:pt x="3343100" y="2735120"/>
                </a:lnTo>
                <a:lnTo>
                  <a:pt x="3323960" y="2777632"/>
                </a:lnTo>
                <a:lnTo>
                  <a:pt x="3301152" y="2817970"/>
                </a:lnTo>
                <a:lnTo>
                  <a:pt x="3274889" y="2855920"/>
                </a:lnTo>
                <a:lnTo>
                  <a:pt x="3245384" y="2891270"/>
                </a:lnTo>
                <a:lnTo>
                  <a:pt x="3212851" y="2923805"/>
                </a:lnTo>
                <a:lnTo>
                  <a:pt x="3177503" y="2953312"/>
                </a:lnTo>
                <a:lnTo>
                  <a:pt x="3139554" y="2979578"/>
                </a:lnTo>
                <a:lnTo>
                  <a:pt x="3099217" y="3002389"/>
                </a:lnTo>
                <a:lnTo>
                  <a:pt x="3056706" y="3021531"/>
                </a:lnTo>
                <a:lnTo>
                  <a:pt x="3012233" y="3036791"/>
                </a:lnTo>
                <a:lnTo>
                  <a:pt x="2966013" y="3047956"/>
                </a:lnTo>
                <a:lnTo>
                  <a:pt x="2918259" y="3054811"/>
                </a:lnTo>
                <a:lnTo>
                  <a:pt x="2869184" y="3057144"/>
                </a:lnTo>
                <a:lnTo>
                  <a:pt x="509536" y="3057144"/>
                </a:lnTo>
                <a:lnTo>
                  <a:pt x="460465" y="3054811"/>
                </a:lnTo>
                <a:lnTo>
                  <a:pt x="412713" y="3047956"/>
                </a:lnTo>
                <a:lnTo>
                  <a:pt x="366495" y="3036791"/>
                </a:lnTo>
                <a:lnTo>
                  <a:pt x="322023" y="3021531"/>
                </a:lnTo>
                <a:lnTo>
                  <a:pt x="279511" y="3002389"/>
                </a:lnTo>
                <a:lnTo>
                  <a:pt x="239173" y="2979578"/>
                </a:lnTo>
                <a:lnTo>
                  <a:pt x="201223" y="2953312"/>
                </a:lnTo>
                <a:lnTo>
                  <a:pt x="165873" y="2923805"/>
                </a:lnTo>
                <a:lnTo>
                  <a:pt x="133338" y="2891270"/>
                </a:lnTo>
                <a:lnTo>
                  <a:pt x="103831" y="2855920"/>
                </a:lnTo>
                <a:lnTo>
                  <a:pt x="77565" y="2817970"/>
                </a:lnTo>
                <a:lnTo>
                  <a:pt x="54754" y="2777632"/>
                </a:lnTo>
                <a:lnTo>
                  <a:pt x="35612" y="2735120"/>
                </a:lnTo>
                <a:lnTo>
                  <a:pt x="20352" y="2690648"/>
                </a:lnTo>
                <a:lnTo>
                  <a:pt x="9187" y="2644430"/>
                </a:lnTo>
                <a:lnTo>
                  <a:pt x="2332" y="2596678"/>
                </a:lnTo>
                <a:lnTo>
                  <a:pt x="0" y="2547607"/>
                </a:lnTo>
                <a:lnTo>
                  <a:pt x="0" y="509524"/>
                </a:lnTo>
                <a:close/>
              </a:path>
            </a:pathLst>
          </a:custGeom>
          <a:ln w="28956">
            <a:solidFill>
              <a:srgbClr val="A6A6A6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734561" y="3557778"/>
            <a:ext cx="2862580" cy="3057525"/>
          </a:xfrm>
          <a:custGeom>
            <a:avLst/>
            <a:gdLst/>
            <a:ahLst/>
            <a:cxnLst/>
            <a:rect l="l" t="t" r="r" b="b"/>
            <a:pathLst>
              <a:path w="2862579" h="3057525">
                <a:moveTo>
                  <a:pt x="0" y="477012"/>
                </a:moveTo>
                <a:lnTo>
                  <a:pt x="2463" y="428248"/>
                </a:lnTo>
                <a:lnTo>
                  <a:pt x="9693" y="380891"/>
                </a:lnTo>
                <a:lnTo>
                  <a:pt x="21449" y="335181"/>
                </a:lnTo>
                <a:lnTo>
                  <a:pt x="37492" y="291357"/>
                </a:lnTo>
                <a:lnTo>
                  <a:pt x="57582" y="249661"/>
                </a:lnTo>
                <a:lnTo>
                  <a:pt x="81478" y="210331"/>
                </a:lnTo>
                <a:lnTo>
                  <a:pt x="108942" y="173608"/>
                </a:lnTo>
                <a:lnTo>
                  <a:pt x="139731" y="139731"/>
                </a:lnTo>
                <a:lnTo>
                  <a:pt x="173608" y="108942"/>
                </a:lnTo>
                <a:lnTo>
                  <a:pt x="210331" y="81478"/>
                </a:lnTo>
                <a:lnTo>
                  <a:pt x="249661" y="57582"/>
                </a:lnTo>
                <a:lnTo>
                  <a:pt x="291357" y="37492"/>
                </a:lnTo>
                <a:lnTo>
                  <a:pt x="335181" y="21449"/>
                </a:lnTo>
                <a:lnTo>
                  <a:pt x="380891" y="9693"/>
                </a:lnTo>
                <a:lnTo>
                  <a:pt x="428248" y="2463"/>
                </a:lnTo>
                <a:lnTo>
                  <a:pt x="477012" y="0"/>
                </a:lnTo>
                <a:lnTo>
                  <a:pt x="2385060" y="0"/>
                </a:lnTo>
                <a:lnTo>
                  <a:pt x="2433823" y="2463"/>
                </a:lnTo>
                <a:lnTo>
                  <a:pt x="2481180" y="9693"/>
                </a:lnTo>
                <a:lnTo>
                  <a:pt x="2526890" y="21449"/>
                </a:lnTo>
                <a:lnTo>
                  <a:pt x="2570714" y="37492"/>
                </a:lnTo>
                <a:lnTo>
                  <a:pt x="2612410" y="57582"/>
                </a:lnTo>
                <a:lnTo>
                  <a:pt x="2651740" y="81478"/>
                </a:lnTo>
                <a:lnTo>
                  <a:pt x="2688463" y="108942"/>
                </a:lnTo>
                <a:lnTo>
                  <a:pt x="2722340" y="139731"/>
                </a:lnTo>
                <a:lnTo>
                  <a:pt x="2753129" y="173608"/>
                </a:lnTo>
                <a:lnTo>
                  <a:pt x="2780593" y="210331"/>
                </a:lnTo>
                <a:lnTo>
                  <a:pt x="2804489" y="249661"/>
                </a:lnTo>
                <a:lnTo>
                  <a:pt x="2824579" y="291357"/>
                </a:lnTo>
                <a:lnTo>
                  <a:pt x="2840622" y="335181"/>
                </a:lnTo>
                <a:lnTo>
                  <a:pt x="2852378" y="380891"/>
                </a:lnTo>
                <a:lnTo>
                  <a:pt x="2859608" y="428248"/>
                </a:lnTo>
                <a:lnTo>
                  <a:pt x="2862071" y="477012"/>
                </a:lnTo>
                <a:lnTo>
                  <a:pt x="2862071" y="2580119"/>
                </a:lnTo>
                <a:lnTo>
                  <a:pt x="2859608" y="2628891"/>
                </a:lnTo>
                <a:lnTo>
                  <a:pt x="2852378" y="2676255"/>
                </a:lnTo>
                <a:lnTo>
                  <a:pt x="2840622" y="2721970"/>
                </a:lnTo>
                <a:lnTo>
                  <a:pt x="2824579" y="2765796"/>
                </a:lnTo>
                <a:lnTo>
                  <a:pt x="2804489" y="2807495"/>
                </a:lnTo>
                <a:lnTo>
                  <a:pt x="2780593" y="2846826"/>
                </a:lnTo>
                <a:lnTo>
                  <a:pt x="2753129" y="2883549"/>
                </a:lnTo>
                <a:lnTo>
                  <a:pt x="2722340" y="2917424"/>
                </a:lnTo>
                <a:lnTo>
                  <a:pt x="2688463" y="2948213"/>
                </a:lnTo>
                <a:lnTo>
                  <a:pt x="2651740" y="2975674"/>
                </a:lnTo>
                <a:lnTo>
                  <a:pt x="2612410" y="2999568"/>
                </a:lnTo>
                <a:lnTo>
                  <a:pt x="2570714" y="3019656"/>
                </a:lnTo>
                <a:lnTo>
                  <a:pt x="2526890" y="3035697"/>
                </a:lnTo>
                <a:lnTo>
                  <a:pt x="2481180" y="3047452"/>
                </a:lnTo>
                <a:lnTo>
                  <a:pt x="2433823" y="3054681"/>
                </a:lnTo>
                <a:lnTo>
                  <a:pt x="2385060" y="3057144"/>
                </a:lnTo>
                <a:lnTo>
                  <a:pt x="477012" y="3057144"/>
                </a:lnTo>
                <a:lnTo>
                  <a:pt x="428248" y="3054681"/>
                </a:lnTo>
                <a:lnTo>
                  <a:pt x="380891" y="3047452"/>
                </a:lnTo>
                <a:lnTo>
                  <a:pt x="335181" y="3035697"/>
                </a:lnTo>
                <a:lnTo>
                  <a:pt x="291357" y="3019656"/>
                </a:lnTo>
                <a:lnTo>
                  <a:pt x="249661" y="2999568"/>
                </a:lnTo>
                <a:lnTo>
                  <a:pt x="210331" y="2975674"/>
                </a:lnTo>
                <a:lnTo>
                  <a:pt x="173608" y="2948213"/>
                </a:lnTo>
                <a:lnTo>
                  <a:pt x="139731" y="2917424"/>
                </a:lnTo>
                <a:lnTo>
                  <a:pt x="108942" y="2883549"/>
                </a:lnTo>
                <a:lnTo>
                  <a:pt x="81478" y="2846826"/>
                </a:lnTo>
                <a:lnTo>
                  <a:pt x="57582" y="2807495"/>
                </a:lnTo>
                <a:lnTo>
                  <a:pt x="37492" y="2765796"/>
                </a:lnTo>
                <a:lnTo>
                  <a:pt x="21449" y="2721970"/>
                </a:lnTo>
                <a:lnTo>
                  <a:pt x="9693" y="2676255"/>
                </a:lnTo>
                <a:lnTo>
                  <a:pt x="2463" y="2628891"/>
                </a:lnTo>
                <a:lnTo>
                  <a:pt x="0" y="2580119"/>
                </a:lnTo>
                <a:lnTo>
                  <a:pt x="0" y="477012"/>
                </a:lnTo>
                <a:close/>
              </a:path>
            </a:pathLst>
          </a:custGeom>
          <a:ln w="28956">
            <a:solidFill>
              <a:srgbClr val="A6A6A6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771893" y="3542538"/>
            <a:ext cx="2862580" cy="3057525"/>
          </a:xfrm>
          <a:custGeom>
            <a:avLst/>
            <a:gdLst/>
            <a:ahLst/>
            <a:cxnLst/>
            <a:rect l="l" t="t" r="r" b="b"/>
            <a:pathLst>
              <a:path w="2862579" h="3057525">
                <a:moveTo>
                  <a:pt x="0" y="477012"/>
                </a:moveTo>
                <a:lnTo>
                  <a:pt x="2463" y="428248"/>
                </a:lnTo>
                <a:lnTo>
                  <a:pt x="9693" y="380891"/>
                </a:lnTo>
                <a:lnTo>
                  <a:pt x="21449" y="335181"/>
                </a:lnTo>
                <a:lnTo>
                  <a:pt x="37492" y="291357"/>
                </a:lnTo>
                <a:lnTo>
                  <a:pt x="57582" y="249661"/>
                </a:lnTo>
                <a:lnTo>
                  <a:pt x="81478" y="210331"/>
                </a:lnTo>
                <a:lnTo>
                  <a:pt x="108942" y="173608"/>
                </a:lnTo>
                <a:lnTo>
                  <a:pt x="139731" y="139731"/>
                </a:lnTo>
                <a:lnTo>
                  <a:pt x="173608" y="108942"/>
                </a:lnTo>
                <a:lnTo>
                  <a:pt x="210331" y="81478"/>
                </a:lnTo>
                <a:lnTo>
                  <a:pt x="249661" y="57582"/>
                </a:lnTo>
                <a:lnTo>
                  <a:pt x="291357" y="37492"/>
                </a:lnTo>
                <a:lnTo>
                  <a:pt x="335181" y="21449"/>
                </a:lnTo>
                <a:lnTo>
                  <a:pt x="380891" y="9693"/>
                </a:lnTo>
                <a:lnTo>
                  <a:pt x="428248" y="2463"/>
                </a:lnTo>
                <a:lnTo>
                  <a:pt x="477011" y="0"/>
                </a:lnTo>
                <a:lnTo>
                  <a:pt x="2385059" y="0"/>
                </a:lnTo>
                <a:lnTo>
                  <a:pt x="2433823" y="2463"/>
                </a:lnTo>
                <a:lnTo>
                  <a:pt x="2481180" y="9693"/>
                </a:lnTo>
                <a:lnTo>
                  <a:pt x="2526890" y="21449"/>
                </a:lnTo>
                <a:lnTo>
                  <a:pt x="2570714" y="37492"/>
                </a:lnTo>
                <a:lnTo>
                  <a:pt x="2612410" y="57582"/>
                </a:lnTo>
                <a:lnTo>
                  <a:pt x="2651740" y="81478"/>
                </a:lnTo>
                <a:lnTo>
                  <a:pt x="2688463" y="108942"/>
                </a:lnTo>
                <a:lnTo>
                  <a:pt x="2722340" y="139731"/>
                </a:lnTo>
                <a:lnTo>
                  <a:pt x="2753129" y="173608"/>
                </a:lnTo>
                <a:lnTo>
                  <a:pt x="2780593" y="210331"/>
                </a:lnTo>
                <a:lnTo>
                  <a:pt x="2804489" y="249661"/>
                </a:lnTo>
                <a:lnTo>
                  <a:pt x="2824579" y="291357"/>
                </a:lnTo>
                <a:lnTo>
                  <a:pt x="2840622" y="335181"/>
                </a:lnTo>
                <a:lnTo>
                  <a:pt x="2852378" y="380891"/>
                </a:lnTo>
                <a:lnTo>
                  <a:pt x="2859608" y="428248"/>
                </a:lnTo>
                <a:lnTo>
                  <a:pt x="2862072" y="477012"/>
                </a:lnTo>
                <a:lnTo>
                  <a:pt x="2862072" y="2580119"/>
                </a:lnTo>
                <a:lnTo>
                  <a:pt x="2859608" y="2628891"/>
                </a:lnTo>
                <a:lnTo>
                  <a:pt x="2852378" y="2676255"/>
                </a:lnTo>
                <a:lnTo>
                  <a:pt x="2840622" y="2721970"/>
                </a:lnTo>
                <a:lnTo>
                  <a:pt x="2824579" y="2765796"/>
                </a:lnTo>
                <a:lnTo>
                  <a:pt x="2804489" y="2807495"/>
                </a:lnTo>
                <a:lnTo>
                  <a:pt x="2780593" y="2846826"/>
                </a:lnTo>
                <a:lnTo>
                  <a:pt x="2753129" y="2883549"/>
                </a:lnTo>
                <a:lnTo>
                  <a:pt x="2722340" y="2917424"/>
                </a:lnTo>
                <a:lnTo>
                  <a:pt x="2688463" y="2948213"/>
                </a:lnTo>
                <a:lnTo>
                  <a:pt x="2651740" y="2975674"/>
                </a:lnTo>
                <a:lnTo>
                  <a:pt x="2612410" y="2999568"/>
                </a:lnTo>
                <a:lnTo>
                  <a:pt x="2570714" y="3019656"/>
                </a:lnTo>
                <a:lnTo>
                  <a:pt x="2526890" y="3035697"/>
                </a:lnTo>
                <a:lnTo>
                  <a:pt x="2481180" y="3047452"/>
                </a:lnTo>
                <a:lnTo>
                  <a:pt x="2433823" y="3054681"/>
                </a:lnTo>
                <a:lnTo>
                  <a:pt x="2385059" y="3057144"/>
                </a:lnTo>
                <a:lnTo>
                  <a:pt x="477011" y="3057144"/>
                </a:lnTo>
                <a:lnTo>
                  <a:pt x="428248" y="3054681"/>
                </a:lnTo>
                <a:lnTo>
                  <a:pt x="380891" y="3047452"/>
                </a:lnTo>
                <a:lnTo>
                  <a:pt x="335181" y="3035697"/>
                </a:lnTo>
                <a:lnTo>
                  <a:pt x="291357" y="3019656"/>
                </a:lnTo>
                <a:lnTo>
                  <a:pt x="249661" y="2999568"/>
                </a:lnTo>
                <a:lnTo>
                  <a:pt x="210331" y="2975674"/>
                </a:lnTo>
                <a:lnTo>
                  <a:pt x="173608" y="2948213"/>
                </a:lnTo>
                <a:lnTo>
                  <a:pt x="139731" y="2917424"/>
                </a:lnTo>
                <a:lnTo>
                  <a:pt x="108942" y="2883549"/>
                </a:lnTo>
                <a:lnTo>
                  <a:pt x="81478" y="2846826"/>
                </a:lnTo>
                <a:lnTo>
                  <a:pt x="57582" y="2807495"/>
                </a:lnTo>
                <a:lnTo>
                  <a:pt x="37492" y="2765796"/>
                </a:lnTo>
                <a:lnTo>
                  <a:pt x="21449" y="2721970"/>
                </a:lnTo>
                <a:lnTo>
                  <a:pt x="9693" y="2676255"/>
                </a:lnTo>
                <a:lnTo>
                  <a:pt x="2463" y="2628891"/>
                </a:lnTo>
                <a:lnTo>
                  <a:pt x="0" y="2580119"/>
                </a:lnTo>
                <a:lnTo>
                  <a:pt x="0" y="477012"/>
                </a:lnTo>
                <a:close/>
              </a:path>
            </a:pathLst>
          </a:custGeom>
          <a:ln w="28956">
            <a:solidFill>
              <a:srgbClr val="A6A6A6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9781793" y="3588258"/>
            <a:ext cx="1755775" cy="2973705"/>
          </a:xfrm>
          <a:custGeom>
            <a:avLst/>
            <a:gdLst/>
            <a:ahLst/>
            <a:cxnLst/>
            <a:rect l="l" t="t" r="r" b="b"/>
            <a:pathLst>
              <a:path w="1755775" h="2973704">
                <a:moveTo>
                  <a:pt x="0" y="292607"/>
                </a:moveTo>
                <a:lnTo>
                  <a:pt x="3831" y="245159"/>
                </a:lnTo>
                <a:lnTo>
                  <a:pt x="14923" y="200143"/>
                </a:lnTo>
                <a:lnTo>
                  <a:pt x="32671" y="158163"/>
                </a:lnTo>
                <a:lnTo>
                  <a:pt x="56473" y="119822"/>
                </a:lnTo>
                <a:lnTo>
                  <a:pt x="85725" y="85725"/>
                </a:lnTo>
                <a:lnTo>
                  <a:pt x="119822" y="56473"/>
                </a:lnTo>
                <a:lnTo>
                  <a:pt x="158163" y="32671"/>
                </a:lnTo>
                <a:lnTo>
                  <a:pt x="200143" y="14923"/>
                </a:lnTo>
                <a:lnTo>
                  <a:pt x="245159" y="3831"/>
                </a:lnTo>
                <a:lnTo>
                  <a:pt x="292607" y="0"/>
                </a:lnTo>
                <a:lnTo>
                  <a:pt x="1463039" y="0"/>
                </a:lnTo>
                <a:lnTo>
                  <a:pt x="1510488" y="3831"/>
                </a:lnTo>
                <a:lnTo>
                  <a:pt x="1555504" y="14923"/>
                </a:lnTo>
                <a:lnTo>
                  <a:pt x="1597484" y="32671"/>
                </a:lnTo>
                <a:lnTo>
                  <a:pt x="1635825" y="56473"/>
                </a:lnTo>
                <a:lnTo>
                  <a:pt x="1669923" y="85724"/>
                </a:lnTo>
                <a:lnTo>
                  <a:pt x="1699174" y="119822"/>
                </a:lnTo>
                <a:lnTo>
                  <a:pt x="1722976" y="158163"/>
                </a:lnTo>
                <a:lnTo>
                  <a:pt x="1740724" y="200143"/>
                </a:lnTo>
                <a:lnTo>
                  <a:pt x="1751816" y="245159"/>
                </a:lnTo>
                <a:lnTo>
                  <a:pt x="1755648" y="292607"/>
                </a:lnTo>
                <a:lnTo>
                  <a:pt x="1755648" y="2680703"/>
                </a:lnTo>
                <a:lnTo>
                  <a:pt x="1751816" y="2728167"/>
                </a:lnTo>
                <a:lnTo>
                  <a:pt x="1740724" y="2773193"/>
                </a:lnTo>
                <a:lnTo>
                  <a:pt x="1722976" y="2815178"/>
                </a:lnTo>
                <a:lnTo>
                  <a:pt x="1699174" y="2853520"/>
                </a:lnTo>
                <a:lnTo>
                  <a:pt x="1669923" y="2887616"/>
                </a:lnTo>
                <a:lnTo>
                  <a:pt x="1635825" y="2916864"/>
                </a:lnTo>
                <a:lnTo>
                  <a:pt x="1597484" y="2940661"/>
                </a:lnTo>
                <a:lnTo>
                  <a:pt x="1555504" y="2958405"/>
                </a:lnTo>
                <a:lnTo>
                  <a:pt x="1510488" y="2969494"/>
                </a:lnTo>
                <a:lnTo>
                  <a:pt x="1463039" y="2973323"/>
                </a:lnTo>
                <a:lnTo>
                  <a:pt x="292607" y="2973323"/>
                </a:lnTo>
                <a:lnTo>
                  <a:pt x="245159" y="2969494"/>
                </a:lnTo>
                <a:lnTo>
                  <a:pt x="200143" y="2958405"/>
                </a:lnTo>
                <a:lnTo>
                  <a:pt x="158163" y="2940661"/>
                </a:lnTo>
                <a:lnTo>
                  <a:pt x="119822" y="2916864"/>
                </a:lnTo>
                <a:lnTo>
                  <a:pt x="85724" y="2887616"/>
                </a:lnTo>
                <a:lnTo>
                  <a:pt x="56473" y="2853520"/>
                </a:lnTo>
                <a:lnTo>
                  <a:pt x="32671" y="2815178"/>
                </a:lnTo>
                <a:lnTo>
                  <a:pt x="14923" y="2773193"/>
                </a:lnTo>
                <a:lnTo>
                  <a:pt x="3831" y="2728167"/>
                </a:lnTo>
                <a:lnTo>
                  <a:pt x="0" y="2680703"/>
                </a:lnTo>
                <a:lnTo>
                  <a:pt x="0" y="292607"/>
                </a:lnTo>
                <a:close/>
              </a:path>
            </a:pathLst>
          </a:custGeom>
          <a:ln w="28956">
            <a:solidFill>
              <a:srgbClr val="A6A6A6"/>
            </a:solidFill>
            <a:prstDash val="lgDash"/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734561" y="3504438"/>
            <a:ext cx="2889885" cy="3110865"/>
          </a:xfrm>
          <a:custGeom>
            <a:avLst/>
            <a:gdLst/>
            <a:ahLst/>
            <a:cxnLst/>
            <a:rect l="l" t="t" r="r" b="b"/>
            <a:pathLst>
              <a:path w="2889884" h="3110865">
                <a:moveTo>
                  <a:pt x="0" y="3110484"/>
                </a:moveTo>
                <a:lnTo>
                  <a:pt x="2889504" y="3110484"/>
                </a:lnTo>
                <a:lnTo>
                  <a:pt x="2889504" y="0"/>
                </a:lnTo>
                <a:lnTo>
                  <a:pt x="0" y="0"/>
                </a:lnTo>
                <a:lnTo>
                  <a:pt x="0" y="3110484"/>
                </a:lnTo>
                <a:close/>
              </a:path>
            </a:pathLst>
          </a:custGeom>
          <a:ln w="1981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50647" y="6489903"/>
            <a:ext cx="101600" cy="1885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050" spc="5">
                <a:solidFill>
                  <a:srgbClr val="FFFFFF"/>
                </a:solidFill>
                <a:latin typeface="Arial"/>
                <a:cs typeface="Arial"/>
              </a:rPr>
              <a:t>6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32941" y="310641"/>
            <a:ext cx="3281679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b="0">
                <a:solidFill>
                  <a:srgbClr val="4E75A2"/>
                </a:solidFill>
                <a:latin typeface="微软雅黑"/>
                <a:cs typeface="微软雅黑"/>
              </a:rPr>
              <a:t>洁净</a:t>
            </a:r>
            <a:r>
              <a:rPr dirty="0" u="none" spc="-5" b="0">
                <a:solidFill>
                  <a:srgbClr val="4E75A2"/>
                </a:solidFill>
                <a:latin typeface="微软雅黑"/>
                <a:cs typeface="微软雅黑"/>
              </a:rPr>
              <a:t>室</a:t>
            </a:r>
            <a:r>
              <a:rPr dirty="0" u="none" b="0">
                <a:solidFill>
                  <a:srgbClr val="4E75A2"/>
                </a:solidFill>
                <a:latin typeface="微软雅黑"/>
                <a:cs typeface="微软雅黑"/>
              </a:rPr>
              <a:t>要求及特点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85012" y="1109598"/>
            <a:ext cx="73298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600" spc="-5" b="1">
                <a:solidFill>
                  <a:srgbClr val="7E7E7E"/>
                </a:solidFill>
                <a:latin typeface="微软雅黑"/>
                <a:cs typeface="微软雅黑"/>
              </a:rPr>
              <a:t>洁净室等级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：根据每立方米空气中</a:t>
            </a:r>
            <a:r>
              <a:rPr dirty="0" sz="1600">
                <a:solidFill>
                  <a:srgbClr val="7E7E7E"/>
                </a:solidFill>
                <a:latin typeface="微软雅黑"/>
                <a:cs typeface="微软雅黑"/>
              </a:rPr>
              <a:t>悬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浮物</a:t>
            </a:r>
            <a:r>
              <a:rPr dirty="0" sz="1600">
                <a:solidFill>
                  <a:srgbClr val="7E7E7E"/>
                </a:solidFill>
                <a:latin typeface="微软雅黑"/>
                <a:cs typeface="微软雅黑"/>
              </a:rPr>
              <a:t>和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颗粒</a:t>
            </a:r>
            <a:r>
              <a:rPr dirty="0" sz="1600">
                <a:solidFill>
                  <a:srgbClr val="7E7E7E"/>
                </a:solidFill>
                <a:latin typeface="微软雅黑"/>
                <a:cs typeface="微软雅黑"/>
              </a:rPr>
              <a:t>的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数量</a:t>
            </a:r>
            <a:r>
              <a:rPr dirty="0" sz="1600">
                <a:solidFill>
                  <a:srgbClr val="7E7E7E"/>
                </a:solidFill>
                <a:latin typeface="微软雅黑"/>
                <a:cs typeface="微软雅黑"/>
              </a:rPr>
              <a:t>，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分</a:t>
            </a:r>
            <a:r>
              <a:rPr dirty="0" sz="1600" spc="5">
                <a:solidFill>
                  <a:srgbClr val="7E7E7E"/>
                </a:solidFill>
                <a:latin typeface="微软雅黑"/>
                <a:cs typeface="微软雅黑"/>
              </a:rPr>
              <a:t>为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ISO1~ISO9级别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5012" y="4852822"/>
            <a:ext cx="4446905" cy="671830"/>
          </a:xfrm>
          <a:prstGeom prst="rect">
            <a:avLst/>
          </a:prstGeom>
        </p:spPr>
        <p:txBody>
          <a:bodyPr wrap="square" lIns="0" tIns="92075" rIns="0" bIns="0" rtlCol="0" vert="horz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600" spc="-5" b="1">
                <a:solidFill>
                  <a:srgbClr val="7E7E7E"/>
                </a:solidFill>
                <a:latin typeface="微软雅黑"/>
                <a:cs typeface="微软雅黑"/>
              </a:rPr>
              <a:t>环境控制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：温度19°C~25°C，湿度50%~60%</a:t>
            </a:r>
            <a:endParaRPr sz="1600">
              <a:latin typeface="微软雅黑"/>
              <a:cs typeface="微软雅黑"/>
            </a:endParaRPr>
          </a:p>
          <a:p>
            <a:pPr marL="355600" indent="-342900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dirty="0" sz="1600" spc="-5" b="1">
                <a:solidFill>
                  <a:srgbClr val="7E7E7E"/>
                </a:solidFill>
                <a:latin typeface="微软雅黑"/>
                <a:cs typeface="微软雅黑"/>
              </a:rPr>
              <a:t>洁净室空气流动方式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：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2212" y="5645911"/>
            <a:ext cx="123825" cy="605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7E7E7E"/>
                </a:solidFill>
                <a:latin typeface="Symbol"/>
                <a:cs typeface="Symbol"/>
              </a:rPr>
              <a:t></a:t>
            </a:r>
            <a:endParaRPr sz="1400">
              <a:latin typeface="Symbol"/>
              <a:cs typeface="Symbol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sz="1400">
                <a:solidFill>
                  <a:srgbClr val="7E7E7E"/>
                </a:solidFill>
                <a:latin typeface="Symbol"/>
                <a:cs typeface="Symbol"/>
              </a:rPr>
              <a:t></a:t>
            </a:r>
            <a:endParaRPr sz="1400">
              <a:latin typeface="Symbol"/>
              <a:cs typeface="Symbo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95374" y="5498693"/>
            <a:ext cx="1905000" cy="7575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百级洁净室</a:t>
            </a:r>
            <a:r>
              <a:rPr dirty="0" sz="1600" spc="-15">
                <a:solidFill>
                  <a:srgbClr val="7E7E7E"/>
                </a:solidFill>
                <a:latin typeface="微软雅黑"/>
                <a:cs typeface="微软雅黑"/>
              </a:rPr>
              <a:t>（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ISO</a:t>
            </a:r>
            <a:r>
              <a:rPr dirty="0" sz="1600" spc="-10">
                <a:solidFill>
                  <a:srgbClr val="7E7E7E"/>
                </a:solidFill>
                <a:latin typeface="微软雅黑"/>
                <a:cs typeface="微软雅黑"/>
              </a:rPr>
              <a:t>5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） 万级洁净室</a:t>
            </a:r>
            <a:r>
              <a:rPr dirty="0" sz="1600" spc="-15">
                <a:solidFill>
                  <a:srgbClr val="7E7E7E"/>
                </a:solidFill>
                <a:latin typeface="微软雅黑"/>
                <a:cs typeface="微软雅黑"/>
              </a:rPr>
              <a:t>（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ISO</a:t>
            </a:r>
            <a:r>
              <a:rPr dirty="0" sz="1600" spc="-10">
                <a:solidFill>
                  <a:srgbClr val="7E7E7E"/>
                </a:solidFill>
                <a:latin typeface="微软雅黑"/>
                <a:cs typeface="微软雅黑"/>
              </a:rPr>
              <a:t>7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）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2212" y="6353352"/>
            <a:ext cx="245046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Symbol"/>
              <a:buChar char=""/>
              <a:tabLst>
                <a:tab pos="354965" algn="l"/>
                <a:tab pos="355600" algn="l"/>
              </a:tabLst>
            </a:pP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十万级洁净室（ISO</a:t>
            </a:r>
            <a:r>
              <a:rPr dirty="0" sz="1600" spc="-10">
                <a:solidFill>
                  <a:srgbClr val="7E7E7E"/>
                </a:solidFill>
                <a:latin typeface="微软雅黑"/>
                <a:cs typeface="微软雅黑"/>
              </a:rPr>
              <a:t>8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）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43196" y="5498693"/>
            <a:ext cx="2661285" cy="1123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50100"/>
              </a:lnSpc>
              <a:spcBef>
                <a:spcPts val="100"/>
              </a:spcBef>
            </a:pP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单向流动，多见</a:t>
            </a:r>
            <a:r>
              <a:rPr dirty="0" sz="1600" spc="-5" b="1">
                <a:solidFill>
                  <a:srgbClr val="006FC0"/>
                </a:solidFill>
                <a:latin typeface="微软雅黑"/>
                <a:cs typeface="微软雅黑"/>
              </a:rPr>
              <a:t>垂直层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流方式 单向流动，多见</a:t>
            </a:r>
            <a:r>
              <a:rPr dirty="0" sz="1600" spc="-5" b="1">
                <a:solidFill>
                  <a:srgbClr val="006FC0"/>
                </a:solidFill>
                <a:latin typeface="微软雅黑"/>
                <a:cs typeface="微软雅黑"/>
              </a:rPr>
              <a:t>水平层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流方式 </a:t>
            </a:r>
            <a:r>
              <a:rPr dirty="0" sz="1600" spc="-5" b="1">
                <a:solidFill>
                  <a:srgbClr val="006FC0"/>
                </a:solidFill>
                <a:latin typeface="微软雅黑"/>
                <a:cs typeface="微软雅黑"/>
              </a:rPr>
              <a:t>非单向流动</a:t>
            </a:r>
            <a:r>
              <a:rPr dirty="0" sz="1600" spc="-5">
                <a:solidFill>
                  <a:srgbClr val="7E7E7E"/>
                </a:solidFill>
                <a:latin typeface="微软雅黑"/>
                <a:cs typeface="微软雅黑"/>
              </a:rPr>
              <a:t>，无序流动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82980" y="1499616"/>
            <a:ext cx="10389108" cy="3240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1906631" y="6581308"/>
            <a:ext cx="125095" cy="19240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 sz="1000" spc="-5">
                <a:latin typeface="微软雅黑"/>
                <a:cs typeface="微软雅黑"/>
              </a:rPr>
              <a:t>6</a:t>
            </a:fld>
            <a:endParaRPr sz="1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2941" y="312165"/>
            <a:ext cx="3136265" cy="467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00">
                <a:solidFill>
                  <a:srgbClr val="4E75A2"/>
                </a:solidFill>
                <a:latin typeface="微软雅黑"/>
                <a:cs typeface="微软雅黑"/>
              </a:rPr>
              <a:t>洁净室解</a:t>
            </a:r>
            <a:r>
              <a:rPr dirty="0" sz="2900" spc="-10">
                <a:solidFill>
                  <a:srgbClr val="4E75A2"/>
                </a:solidFill>
                <a:latin typeface="微软雅黑"/>
                <a:cs typeface="微软雅黑"/>
              </a:rPr>
              <a:t>读</a:t>
            </a:r>
            <a:r>
              <a:rPr dirty="0" sz="2900">
                <a:solidFill>
                  <a:srgbClr val="4E75A2"/>
                </a:solidFill>
                <a:latin typeface="微软雅黑"/>
                <a:cs typeface="微软雅黑"/>
              </a:rPr>
              <a:t>-垂直流</a:t>
            </a:r>
            <a:endParaRPr sz="29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03148" y="858011"/>
            <a:ext cx="5918200" cy="5816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955535" y="2641092"/>
            <a:ext cx="4610100" cy="3911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283957" y="1090422"/>
            <a:ext cx="3954779" cy="1219200"/>
          </a:xfrm>
          <a:prstGeom prst="rect">
            <a:avLst/>
          </a:prstGeom>
          <a:ln w="25907">
            <a:solidFill>
              <a:srgbClr val="7E7E7E"/>
            </a:solidFill>
          </a:ln>
        </p:spPr>
        <p:txBody>
          <a:bodyPr wrap="square" lIns="0" tIns="229235" rIns="0" bIns="0" rtlCol="0" vert="horz">
            <a:spAutoFit/>
          </a:bodyPr>
          <a:lstStyle/>
          <a:p>
            <a:pPr marL="90805" marR="637540">
              <a:lnSpc>
                <a:spcPct val="100000"/>
              </a:lnSpc>
              <a:spcBef>
                <a:spcPts val="1805"/>
              </a:spcBef>
            </a:pPr>
            <a:r>
              <a:rPr dirty="0" sz="2400">
                <a:latin typeface="宋体"/>
                <a:cs typeface="宋体"/>
              </a:rPr>
              <a:t>垂直流洁净室，</a:t>
            </a:r>
            <a:r>
              <a:rPr dirty="0" sz="2400">
                <a:latin typeface="Calibri"/>
                <a:cs typeface="Calibri"/>
              </a:rPr>
              <a:t>FF</a:t>
            </a:r>
            <a:r>
              <a:rPr dirty="0" sz="2400" spc="-5">
                <a:latin typeface="Calibri"/>
                <a:cs typeface="Calibri"/>
              </a:rPr>
              <a:t>U</a:t>
            </a:r>
            <a:r>
              <a:rPr dirty="0" sz="2400">
                <a:latin typeface="宋体"/>
                <a:cs typeface="宋体"/>
              </a:rPr>
              <a:t>龙骨 电子半导体，光伏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7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11919331" y="6581308"/>
            <a:ext cx="99695" cy="19240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00" spc="-5">
                <a:latin typeface="微软雅黑"/>
                <a:cs typeface="微软雅黑"/>
              </a:rPr>
              <a:t>7</a:t>
            </a:r>
            <a:endParaRPr sz="1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3347" y="6515480"/>
            <a:ext cx="7620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180"/>
              </a:lnSpc>
            </a:pPr>
            <a:r>
              <a:rPr dirty="0" sz="1050" spc="5">
                <a:solidFill>
                  <a:srgbClr val="FFFFFF"/>
                </a:solidFill>
                <a:latin typeface="Arial"/>
                <a:cs typeface="Arial"/>
              </a:rPr>
              <a:t>8</a:t>
            </a:r>
            <a:endParaRPr sz="105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432941" y="312165"/>
            <a:ext cx="3136900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900" b="0">
                <a:solidFill>
                  <a:srgbClr val="4E75A2"/>
                </a:solidFill>
                <a:latin typeface="微软雅黑"/>
                <a:cs typeface="微软雅黑"/>
              </a:rPr>
              <a:t>洁净室解</a:t>
            </a:r>
            <a:r>
              <a:rPr dirty="0" u="none" sz="2900" spc="-10" b="0">
                <a:solidFill>
                  <a:srgbClr val="4E75A2"/>
                </a:solidFill>
                <a:latin typeface="微软雅黑"/>
                <a:cs typeface="微软雅黑"/>
              </a:rPr>
              <a:t>读</a:t>
            </a:r>
            <a:r>
              <a:rPr dirty="0" u="none" sz="2900" b="0">
                <a:solidFill>
                  <a:srgbClr val="4E75A2"/>
                </a:solidFill>
                <a:latin typeface="微软雅黑"/>
                <a:cs typeface="微软雅黑"/>
              </a:rPr>
              <a:t>-水平流</a:t>
            </a:r>
            <a:endParaRPr sz="29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221339" y="1970023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等线"/>
                <a:cs typeface="等线"/>
              </a:rPr>
              <a:t>，</a:t>
            </a:r>
            <a:endParaRPr sz="2400">
              <a:latin typeface="等线"/>
              <a:cs typeface="等线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484364" y="1266444"/>
            <a:ext cx="4032885" cy="1470660"/>
          </a:xfrm>
          <a:prstGeom prst="rect">
            <a:avLst/>
          </a:prstGeom>
          <a:ln w="12192">
            <a:solidFill>
              <a:srgbClr val="7E7E7E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92075">
              <a:lnSpc>
                <a:spcPts val="2760"/>
              </a:lnSpc>
            </a:pPr>
            <a:r>
              <a:rPr dirty="0" sz="2400">
                <a:latin typeface="等线"/>
                <a:cs typeface="等线"/>
              </a:rPr>
              <a:t>水平流洁净室，工字支架/边</a:t>
            </a:r>
            <a:endParaRPr sz="2400">
              <a:latin typeface="等线"/>
              <a:cs typeface="等线"/>
            </a:endParaRPr>
          </a:p>
          <a:p>
            <a:pPr marL="92075">
              <a:lnSpc>
                <a:spcPct val="100000"/>
              </a:lnSpc>
            </a:pPr>
            <a:r>
              <a:rPr dirty="0" sz="2400" spc="-5">
                <a:latin typeface="等线"/>
                <a:cs typeface="等线"/>
              </a:rPr>
              <a:t>框螺孔打螺丝</a:t>
            </a:r>
            <a:endParaRPr sz="2400">
              <a:latin typeface="等线"/>
              <a:cs typeface="等线"/>
            </a:endParaRPr>
          </a:p>
          <a:p>
            <a:pPr marL="92075" marR="274955">
              <a:lnSpc>
                <a:spcPct val="100000"/>
              </a:lnSpc>
            </a:pPr>
            <a:r>
              <a:rPr dirty="0" sz="2400">
                <a:latin typeface="等线"/>
                <a:cs typeface="等线"/>
              </a:rPr>
              <a:t>电池厂，药厂，食品，液晶 手术室/ICU</a:t>
            </a:r>
            <a:endParaRPr sz="2400">
              <a:latin typeface="等线"/>
              <a:cs typeface="等线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89559" y="1193291"/>
            <a:ext cx="7048500" cy="55118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484364" y="2996183"/>
            <a:ext cx="3746500" cy="37084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1906631" y="6581308"/>
            <a:ext cx="125095" cy="19240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50"/>
              </a:spcBef>
            </a:pPr>
            <a:fld id="{81D60167-4931-47E6-BA6A-407CBD079E47}" type="slidenum">
              <a:rPr dirty="0" sz="1000" spc="-5">
                <a:latin typeface="微软雅黑"/>
                <a:cs typeface="微软雅黑"/>
              </a:rPr>
              <a:t>8</a:t>
            </a:fld>
            <a:endParaRPr sz="1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432941" y="312165"/>
            <a:ext cx="3136265" cy="4679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900" b="0">
                <a:solidFill>
                  <a:srgbClr val="4E75A2"/>
                </a:solidFill>
                <a:latin typeface="微软雅黑"/>
                <a:cs typeface="微软雅黑"/>
              </a:rPr>
              <a:t>洁净室解</a:t>
            </a:r>
            <a:r>
              <a:rPr dirty="0" u="none" sz="2900" spc="-10" b="0">
                <a:solidFill>
                  <a:srgbClr val="4E75A2"/>
                </a:solidFill>
                <a:latin typeface="微软雅黑"/>
                <a:cs typeface="微软雅黑"/>
              </a:rPr>
              <a:t>读</a:t>
            </a:r>
            <a:r>
              <a:rPr dirty="0" u="none" sz="2900" b="0">
                <a:solidFill>
                  <a:srgbClr val="4E75A2"/>
                </a:solidFill>
                <a:latin typeface="微软雅黑"/>
                <a:cs typeface="微软雅黑"/>
              </a:rPr>
              <a:t>-无序流</a:t>
            </a:r>
            <a:endParaRPr sz="29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4444" y="1769364"/>
            <a:ext cx="7188200" cy="4851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13547" y="3432047"/>
            <a:ext cx="4089400" cy="31877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13547" y="1769364"/>
            <a:ext cx="4227830" cy="1219200"/>
          </a:xfrm>
          <a:prstGeom prst="rect">
            <a:avLst/>
          </a:prstGeom>
          <a:ln w="12192">
            <a:solidFill>
              <a:srgbClr val="7E7E7E"/>
            </a:solidFill>
          </a:ln>
        </p:spPr>
        <p:txBody>
          <a:bodyPr wrap="square" lIns="0" tIns="22352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1760"/>
              </a:spcBef>
            </a:pPr>
            <a:r>
              <a:rPr dirty="0" sz="2400">
                <a:latin typeface="等线"/>
                <a:cs typeface="等线"/>
              </a:rPr>
              <a:t>无序流洁净室</a:t>
            </a:r>
            <a:endParaRPr sz="2400">
              <a:latin typeface="等线"/>
              <a:cs typeface="等线"/>
            </a:endParaRPr>
          </a:p>
          <a:p>
            <a:pPr marL="92075">
              <a:lnSpc>
                <a:spcPct val="100000"/>
              </a:lnSpc>
              <a:spcBef>
                <a:spcPts val="5"/>
              </a:spcBef>
            </a:pPr>
            <a:r>
              <a:rPr dirty="0" sz="2400" spc="-5">
                <a:latin typeface="等线"/>
                <a:cs typeface="等线"/>
              </a:rPr>
              <a:t>口罩防护服，食品，电子组装</a:t>
            </a:r>
            <a:endParaRPr sz="2400">
              <a:latin typeface="等线"/>
              <a:cs typeface="等线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254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20"/>
              </a:spcBef>
            </a:pPr>
            <a:fld id="{81D60167-4931-47E6-BA6A-407CBD079E47}" type="slidenum">
              <a:rPr dirty="0" spc="5"/>
              <a:t>9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11919331" y="6581308"/>
            <a:ext cx="99695" cy="19240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00" spc="-5">
                <a:latin typeface="微软雅黑"/>
                <a:cs typeface="微软雅黑"/>
              </a:rPr>
              <a:t>9</a:t>
            </a:r>
            <a:endParaRPr sz="1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169875"/>
            <a:ext cx="4514272" cy="16881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0616183" y="252984"/>
            <a:ext cx="952500" cy="2087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20040" y="0"/>
            <a:ext cx="931544" cy="940435"/>
          </a:xfrm>
          <a:custGeom>
            <a:avLst/>
            <a:gdLst/>
            <a:ahLst/>
            <a:cxnLst/>
            <a:rect l="l" t="t" r="r" b="b"/>
            <a:pathLst>
              <a:path w="931544" h="940435">
                <a:moveTo>
                  <a:pt x="931163" y="0"/>
                </a:moveTo>
                <a:lnTo>
                  <a:pt x="409867" y="0"/>
                </a:lnTo>
                <a:lnTo>
                  <a:pt x="0" y="940308"/>
                </a:lnTo>
                <a:lnTo>
                  <a:pt x="521296" y="940308"/>
                </a:lnTo>
                <a:lnTo>
                  <a:pt x="931163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47927" y="0"/>
            <a:ext cx="441959" cy="527685"/>
          </a:xfrm>
          <a:custGeom>
            <a:avLst/>
            <a:gdLst/>
            <a:ahLst/>
            <a:cxnLst/>
            <a:rect l="l" t="t" r="r" b="b"/>
            <a:pathLst>
              <a:path w="441959" h="527685">
                <a:moveTo>
                  <a:pt x="441959" y="0"/>
                </a:moveTo>
                <a:lnTo>
                  <a:pt x="230124" y="0"/>
                </a:lnTo>
                <a:lnTo>
                  <a:pt x="0" y="527303"/>
                </a:lnTo>
                <a:lnTo>
                  <a:pt x="211835" y="527303"/>
                </a:lnTo>
                <a:lnTo>
                  <a:pt x="441959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98704" y="0"/>
            <a:ext cx="361315" cy="690880"/>
          </a:xfrm>
          <a:custGeom>
            <a:avLst/>
            <a:gdLst/>
            <a:ahLst/>
            <a:cxnLst/>
            <a:rect l="l" t="t" r="r" b="b"/>
            <a:pathLst>
              <a:path w="361315" h="690880">
                <a:moveTo>
                  <a:pt x="361188" y="0"/>
                </a:moveTo>
                <a:lnTo>
                  <a:pt x="300520" y="0"/>
                </a:lnTo>
                <a:lnTo>
                  <a:pt x="0" y="690372"/>
                </a:lnTo>
                <a:lnTo>
                  <a:pt x="60667" y="690372"/>
                </a:lnTo>
                <a:lnTo>
                  <a:pt x="361188" y="0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市场定位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1742" y="337185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产品定位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36675" y="4328159"/>
            <a:ext cx="429895" cy="1838325"/>
          </a:xfrm>
          <a:custGeom>
            <a:avLst/>
            <a:gdLst/>
            <a:ahLst/>
            <a:cxnLst/>
            <a:rect l="l" t="t" r="r" b="b"/>
            <a:pathLst>
              <a:path w="429894" h="1838325">
                <a:moveTo>
                  <a:pt x="0" y="1837944"/>
                </a:moveTo>
                <a:lnTo>
                  <a:pt x="429768" y="1837944"/>
                </a:lnTo>
                <a:lnTo>
                  <a:pt x="429768" y="0"/>
                </a:lnTo>
                <a:lnTo>
                  <a:pt x="0" y="0"/>
                </a:lnTo>
                <a:lnTo>
                  <a:pt x="0" y="1837944"/>
                </a:lnTo>
                <a:close/>
              </a:path>
            </a:pathLst>
          </a:custGeom>
          <a:solidFill>
            <a:srgbClr val="C4B6D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32103" y="2654807"/>
            <a:ext cx="431800" cy="1673860"/>
          </a:xfrm>
          <a:custGeom>
            <a:avLst/>
            <a:gdLst/>
            <a:ahLst/>
            <a:cxnLst/>
            <a:rect l="l" t="t" r="r" b="b"/>
            <a:pathLst>
              <a:path w="431800" h="1673860">
                <a:moveTo>
                  <a:pt x="0" y="1673352"/>
                </a:moveTo>
                <a:lnTo>
                  <a:pt x="431291" y="1673352"/>
                </a:lnTo>
                <a:lnTo>
                  <a:pt x="431291" y="0"/>
                </a:lnTo>
                <a:lnTo>
                  <a:pt x="0" y="0"/>
                </a:lnTo>
                <a:lnTo>
                  <a:pt x="0" y="1673352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266444" y="4326635"/>
            <a:ext cx="8703310" cy="635"/>
          </a:xfrm>
          <a:custGeom>
            <a:avLst/>
            <a:gdLst/>
            <a:ahLst/>
            <a:cxnLst/>
            <a:rect l="l" t="t" r="r" b="b"/>
            <a:pathLst>
              <a:path w="8703310" h="635">
                <a:moveTo>
                  <a:pt x="0" y="0"/>
                </a:moveTo>
                <a:lnTo>
                  <a:pt x="8703310" y="381"/>
                </a:lnTo>
              </a:path>
            </a:pathLst>
          </a:custGeom>
          <a:ln w="6096">
            <a:solidFill>
              <a:srgbClr val="A4B592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258811" y="6127470"/>
            <a:ext cx="9052560" cy="76200"/>
          </a:xfrm>
          <a:custGeom>
            <a:avLst/>
            <a:gdLst/>
            <a:ahLst/>
            <a:cxnLst/>
            <a:rect l="l" t="t" r="r" b="b"/>
            <a:pathLst>
              <a:path w="9052560" h="76200">
                <a:moveTo>
                  <a:pt x="8975843" y="44451"/>
                </a:moveTo>
                <a:lnTo>
                  <a:pt x="8975737" y="76199"/>
                </a:lnTo>
                <a:lnTo>
                  <a:pt x="9039629" y="44488"/>
                </a:lnTo>
                <a:lnTo>
                  <a:pt x="8988691" y="44488"/>
                </a:lnTo>
                <a:lnTo>
                  <a:pt x="8975843" y="44451"/>
                </a:lnTo>
                <a:close/>
              </a:path>
              <a:path w="9052560" h="76200">
                <a:moveTo>
                  <a:pt x="8975885" y="31751"/>
                </a:moveTo>
                <a:lnTo>
                  <a:pt x="8975843" y="44451"/>
                </a:lnTo>
                <a:lnTo>
                  <a:pt x="8988691" y="44488"/>
                </a:lnTo>
                <a:lnTo>
                  <a:pt x="8988691" y="31788"/>
                </a:lnTo>
                <a:lnTo>
                  <a:pt x="8975885" y="31751"/>
                </a:lnTo>
                <a:close/>
              </a:path>
              <a:path w="9052560" h="76200">
                <a:moveTo>
                  <a:pt x="8975991" y="0"/>
                </a:moveTo>
                <a:lnTo>
                  <a:pt x="8975885" y="31751"/>
                </a:lnTo>
                <a:lnTo>
                  <a:pt x="8988691" y="31788"/>
                </a:lnTo>
                <a:lnTo>
                  <a:pt x="8988691" y="44488"/>
                </a:lnTo>
                <a:lnTo>
                  <a:pt x="9039629" y="44488"/>
                </a:lnTo>
                <a:lnTo>
                  <a:pt x="9052064" y="38315"/>
                </a:lnTo>
                <a:lnTo>
                  <a:pt x="8975991" y="0"/>
                </a:lnTo>
                <a:close/>
              </a:path>
              <a:path w="9052560" h="76200">
                <a:moveTo>
                  <a:pt x="25" y="6375"/>
                </a:moveTo>
                <a:lnTo>
                  <a:pt x="0" y="19075"/>
                </a:lnTo>
                <a:lnTo>
                  <a:pt x="8975843" y="44451"/>
                </a:lnTo>
                <a:lnTo>
                  <a:pt x="8975885" y="31751"/>
                </a:lnTo>
                <a:lnTo>
                  <a:pt x="25" y="6375"/>
                </a:lnTo>
                <a:close/>
              </a:path>
            </a:pathLst>
          </a:custGeom>
          <a:solidFill>
            <a:srgbClr val="A4B59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36675" y="981455"/>
            <a:ext cx="429895" cy="1673860"/>
          </a:xfrm>
          <a:custGeom>
            <a:avLst/>
            <a:gdLst/>
            <a:ahLst/>
            <a:cxnLst/>
            <a:rect l="l" t="t" r="r" b="b"/>
            <a:pathLst>
              <a:path w="429894" h="1673860">
                <a:moveTo>
                  <a:pt x="0" y="1673352"/>
                </a:moveTo>
                <a:lnTo>
                  <a:pt x="429768" y="1673352"/>
                </a:lnTo>
                <a:lnTo>
                  <a:pt x="429768" y="0"/>
                </a:lnTo>
                <a:lnTo>
                  <a:pt x="0" y="0"/>
                </a:lnTo>
                <a:lnTo>
                  <a:pt x="0" y="167335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58824" y="2612135"/>
            <a:ext cx="8710930" cy="42545"/>
          </a:xfrm>
          <a:custGeom>
            <a:avLst/>
            <a:gdLst/>
            <a:ahLst/>
            <a:cxnLst/>
            <a:rect l="l" t="t" r="r" b="b"/>
            <a:pathLst>
              <a:path w="8710930" h="42544">
                <a:moveTo>
                  <a:pt x="0" y="42163"/>
                </a:moveTo>
                <a:lnTo>
                  <a:pt x="8710422" y="0"/>
                </a:lnTo>
              </a:path>
            </a:pathLst>
          </a:custGeom>
          <a:ln w="6096">
            <a:solidFill>
              <a:srgbClr val="A4B592"/>
            </a:solidFill>
            <a:prstDash val="sysDot"/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84936" y="4804917"/>
            <a:ext cx="330200" cy="10007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>
                <a:solidFill>
                  <a:srgbClr val="FFFFFF"/>
                </a:solidFill>
                <a:latin typeface="等线"/>
                <a:cs typeface="等线"/>
              </a:rPr>
              <a:t>基 础 型</a:t>
            </a:r>
            <a:endParaRPr sz="2400">
              <a:latin typeface="等线"/>
              <a:cs typeface="等线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4936" y="2981325"/>
            <a:ext cx="330200" cy="10007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>
                <a:solidFill>
                  <a:srgbClr val="FFFFFF"/>
                </a:solidFill>
                <a:latin typeface="等线"/>
                <a:cs typeface="等线"/>
              </a:rPr>
              <a:t>品 质 型</a:t>
            </a:r>
            <a:endParaRPr sz="2400">
              <a:latin typeface="等线"/>
              <a:cs typeface="等线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4936" y="1358646"/>
            <a:ext cx="330200" cy="100076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algn="just" marL="12700" marR="5080">
              <a:lnSpc>
                <a:spcPts val="2400"/>
              </a:lnSpc>
              <a:spcBef>
                <a:spcPts val="580"/>
              </a:spcBef>
            </a:pPr>
            <a:r>
              <a:rPr dirty="0" sz="2400">
                <a:solidFill>
                  <a:srgbClr val="FFFFFF"/>
                </a:solidFill>
                <a:latin typeface="等线"/>
                <a:cs typeface="等线"/>
              </a:rPr>
              <a:t>专 业 型</a:t>
            </a:r>
            <a:endParaRPr sz="2400">
              <a:latin typeface="等线"/>
              <a:cs typeface="等线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42107" y="2191892"/>
            <a:ext cx="853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尚</a:t>
            </a:r>
            <a:r>
              <a:rPr dirty="0" sz="1200" spc="-5">
                <a:latin typeface="微软雅黑"/>
                <a:cs typeface="微软雅黑"/>
              </a:rPr>
              <a:t>-</a:t>
            </a:r>
            <a:r>
              <a:rPr dirty="0" sz="1200">
                <a:latin typeface="微软雅黑"/>
                <a:cs typeface="微软雅黑"/>
              </a:rPr>
              <a:t>洁净支架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433827" y="1289303"/>
            <a:ext cx="1053084" cy="7985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21935" y="2487167"/>
            <a:ext cx="3078480" cy="172821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828538" y="4012819"/>
            <a:ext cx="9417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佳</a:t>
            </a:r>
            <a:r>
              <a:rPr dirty="0" sz="1200" spc="-5">
                <a:latin typeface="微软雅黑"/>
                <a:cs typeface="微软雅黑"/>
              </a:rPr>
              <a:t>II-</a:t>
            </a:r>
            <a:r>
              <a:rPr dirty="0" sz="1200">
                <a:latin typeface="微软雅黑"/>
                <a:cs typeface="微软雅黑"/>
              </a:rPr>
              <a:t>洁净灯盘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633331" y="655700"/>
            <a:ext cx="4051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51637D"/>
                </a:solidFill>
                <a:latin typeface="等线"/>
                <a:cs typeface="等线"/>
              </a:rPr>
              <a:t>新系列</a:t>
            </a:r>
            <a:endParaRPr sz="1000">
              <a:latin typeface="等线"/>
              <a:cs typeface="等线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507726" y="673354"/>
            <a:ext cx="278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51637D"/>
                </a:solidFill>
                <a:latin typeface="等线"/>
                <a:cs typeface="等线"/>
              </a:rPr>
              <a:t>升级</a:t>
            </a:r>
            <a:endParaRPr sz="1000">
              <a:latin typeface="等线"/>
              <a:cs typeface="等线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386316" y="684276"/>
            <a:ext cx="147828" cy="1371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1334115" y="663321"/>
            <a:ext cx="27876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51637D"/>
                </a:solidFill>
                <a:latin typeface="等线"/>
                <a:cs typeface="等线"/>
              </a:rPr>
              <a:t>退市</a:t>
            </a:r>
            <a:endParaRPr sz="1000">
              <a:latin typeface="等线"/>
              <a:cs typeface="等线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1090147" y="678180"/>
            <a:ext cx="176783" cy="16611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271759" y="681227"/>
            <a:ext cx="184404" cy="1950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860035" y="876300"/>
            <a:ext cx="3078480" cy="17282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850763" y="2388489"/>
            <a:ext cx="853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尚</a:t>
            </a:r>
            <a:r>
              <a:rPr dirty="0" sz="1200" spc="-5">
                <a:latin typeface="微软雅黑"/>
                <a:cs typeface="微软雅黑"/>
              </a:rPr>
              <a:t>-</a:t>
            </a:r>
            <a:r>
              <a:rPr dirty="0" sz="1200">
                <a:latin typeface="微软雅黑"/>
                <a:cs typeface="微软雅黑"/>
              </a:rPr>
              <a:t>洁净灯盘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640323" y="2438400"/>
            <a:ext cx="147827" cy="13563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651247" y="4136135"/>
            <a:ext cx="3421379" cy="192023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828538" y="5870244"/>
            <a:ext cx="853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昊</a:t>
            </a:r>
            <a:r>
              <a:rPr dirty="0" sz="1200" spc="-5">
                <a:latin typeface="微软雅黑"/>
                <a:cs typeface="微软雅黑"/>
              </a:rPr>
              <a:t>-</a:t>
            </a:r>
            <a:r>
              <a:rPr dirty="0" sz="1200">
                <a:latin typeface="微软雅黑"/>
                <a:cs typeface="微软雅黑"/>
              </a:rPr>
              <a:t>洁净灯盘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629655" y="5876544"/>
            <a:ext cx="147828" cy="1371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2675889" y="4011929"/>
            <a:ext cx="8121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">
                <a:latin typeface="微软雅黑"/>
                <a:cs typeface="微软雅黑"/>
              </a:rPr>
              <a:t>T</a:t>
            </a:r>
            <a:r>
              <a:rPr dirty="0" sz="1200">
                <a:latin typeface="微软雅黑"/>
                <a:cs typeface="微软雅黑"/>
              </a:rPr>
              <a:t>8黄光灯管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394204" y="4034028"/>
            <a:ext cx="149351" cy="13563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614415" y="4020311"/>
            <a:ext cx="184404" cy="19507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171700" y="2881883"/>
            <a:ext cx="1472184" cy="102565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11844655" y="6581308"/>
            <a:ext cx="175260" cy="19240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dirty="0" sz="1000" spc="-5">
                <a:latin typeface="微软雅黑"/>
                <a:cs typeface="微软雅黑"/>
              </a:rPr>
              <a:t>10</a:t>
            </a:r>
            <a:endParaRPr sz="1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000000"/>
                </a:solidFill>
                <a:latin typeface="微软雅黑"/>
                <a:cs typeface="微软雅黑"/>
              </a:rPr>
              <a:t>市场应用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8709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微软雅黑"/>
                <a:cs typeface="微软雅黑"/>
              </a:rPr>
              <a:t>应用空间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7159" y="1482344"/>
            <a:ext cx="3955415" cy="17329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食品加工、精密制造、医疗医药等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00">
                <a:latin typeface="微软雅黑"/>
                <a:cs typeface="微软雅黑"/>
              </a:rPr>
              <a:t>1000~100,000级</a:t>
            </a:r>
            <a:r>
              <a:rPr dirty="0" sz="1400" spc="-15">
                <a:latin typeface="微软雅黑"/>
                <a:cs typeface="微软雅黑"/>
              </a:rPr>
              <a:t>的</a:t>
            </a:r>
            <a:r>
              <a:rPr dirty="0" sz="1400">
                <a:latin typeface="微软雅黑"/>
                <a:cs typeface="微软雅黑"/>
              </a:rPr>
              <a:t>洁净</a:t>
            </a:r>
            <a:r>
              <a:rPr dirty="0" sz="1400" spc="-15">
                <a:latin typeface="微软雅黑"/>
                <a:cs typeface="微软雅黑"/>
              </a:rPr>
              <a:t>空间</a:t>
            </a:r>
            <a:endParaRPr sz="14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100">
              <a:latin typeface="Times New Roman"/>
              <a:cs typeface="Times New Roman"/>
            </a:endParaRPr>
          </a:p>
          <a:p>
            <a:pPr marL="25400" marR="5080">
              <a:lnSpc>
                <a:spcPct val="191700"/>
              </a:lnSpc>
            </a:pPr>
            <a:r>
              <a:rPr dirty="0" sz="1600" spc="-5" b="1">
                <a:solidFill>
                  <a:srgbClr val="00399D"/>
                </a:solidFill>
                <a:latin typeface="微软雅黑"/>
                <a:cs typeface="微软雅黑"/>
              </a:rPr>
              <a:t>洁净灯盘</a:t>
            </a:r>
            <a:r>
              <a:rPr dirty="0" sz="1200">
                <a:latin typeface="微软雅黑"/>
                <a:cs typeface="微软雅黑"/>
              </a:rPr>
              <a:t>，</a:t>
            </a:r>
            <a:r>
              <a:rPr dirty="0" sz="1400">
                <a:latin typeface="微软雅黑"/>
                <a:cs typeface="微软雅黑"/>
              </a:rPr>
              <a:t>可以提供高效、充足而均匀的光</a:t>
            </a:r>
            <a:r>
              <a:rPr dirty="0" sz="1400" spc="-15">
                <a:latin typeface="微软雅黑"/>
                <a:cs typeface="微软雅黑"/>
              </a:rPr>
              <a:t>环</a:t>
            </a:r>
            <a:r>
              <a:rPr dirty="0" sz="1400">
                <a:latin typeface="微软雅黑"/>
                <a:cs typeface="微软雅黑"/>
              </a:rPr>
              <a:t>境 适用于食品加工、精密</a:t>
            </a:r>
            <a:r>
              <a:rPr dirty="0" sz="1400" spc="-15">
                <a:latin typeface="微软雅黑"/>
                <a:cs typeface="微软雅黑"/>
              </a:rPr>
              <a:t>制</a:t>
            </a:r>
            <a:r>
              <a:rPr dirty="0" sz="1400">
                <a:latin typeface="微软雅黑"/>
                <a:cs typeface="微软雅黑"/>
              </a:rPr>
              <a:t>造、</a:t>
            </a:r>
            <a:r>
              <a:rPr dirty="0" sz="1400" spc="-15">
                <a:latin typeface="微软雅黑"/>
                <a:cs typeface="微软雅黑"/>
              </a:rPr>
              <a:t>医</a:t>
            </a:r>
            <a:r>
              <a:rPr dirty="0" sz="1400">
                <a:latin typeface="微软雅黑"/>
                <a:cs typeface="微软雅黑"/>
              </a:rPr>
              <a:t>疗医</a:t>
            </a:r>
            <a:r>
              <a:rPr dirty="0" sz="1400" spc="-15">
                <a:latin typeface="微软雅黑"/>
                <a:cs typeface="微软雅黑"/>
              </a:rPr>
              <a:t>药</a:t>
            </a:r>
            <a:r>
              <a:rPr dirty="0" sz="1400">
                <a:latin typeface="微软雅黑"/>
                <a:cs typeface="微软雅黑"/>
              </a:rPr>
              <a:t>等洁</a:t>
            </a:r>
            <a:r>
              <a:rPr dirty="0" sz="1400" spc="-15">
                <a:latin typeface="微软雅黑"/>
                <a:cs typeface="微软雅黑"/>
              </a:rPr>
              <a:t>净</a:t>
            </a:r>
            <a:r>
              <a:rPr dirty="0" sz="1400">
                <a:latin typeface="微软雅黑"/>
                <a:cs typeface="微软雅黑"/>
              </a:rPr>
              <a:t>场所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208644" y="3743655"/>
            <a:ext cx="2999740" cy="25400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节能</a:t>
            </a:r>
            <a:endParaRPr sz="2000">
              <a:latin typeface="微软雅黑"/>
              <a:cs typeface="微软雅黑"/>
            </a:endParaRPr>
          </a:p>
          <a:p>
            <a:pPr marL="51435" marR="126364">
              <a:lnSpc>
                <a:spcPct val="150000"/>
              </a:lnSpc>
              <a:spcBef>
                <a:spcPts val="215"/>
              </a:spcBef>
            </a:pPr>
            <a:r>
              <a:rPr dirty="0" sz="1200">
                <a:latin typeface="微软雅黑"/>
                <a:cs typeface="微软雅黑"/>
              </a:rPr>
              <a:t>光效高达</a:t>
            </a:r>
            <a:r>
              <a:rPr dirty="0" sz="1200" b="1">
                <a:solidFill>
                  <a:srgbClr val="00399D"/>
                </a:solidFill>
                <a:latin typeface="微软雅黑"/>
                <a:cs typeface="微软雅黑"/>
              </a:rPr>
              <a:t>110lm</a:t>
            </a:r>
            <a:r>
              <a:rPr dirty="0" sz="1200" spc="-10" b="1">
                <a:solidFill>
                  <a:srgbClr val="00399D"/>
                </a:solidFill>
                <a:latin typeface="微软雅黑"/>
                <a:cs typeface="微软雅黑"/>
              </a:rPr>
              <a:t>/</a:t>
            </a:r>
            <a:r>
              <a:rPr dirty="0" sz="1200" b="1">
                <a:solidFill>
                  <a:srgbClr val="00399D"/>
                </a:solidFill>
                <a:latin typeface="微软雅黑"/>
                <a:cs typeface="微软雅黑"/>
              </a:rPr>
              <a:t>w</a:t>
            </a:r>
            <a:r>
              <a:rPr dirty="0" sz="1200">
                <a:latin typeface="微软雅黑"/>
                <a:cs typeface="微软雅黑"/>
              </a:rPr>
              <a:t>，提供均匀充足的光环 境同时，降低能耗。</a:t>
            </a:r>
            <a:endParaRPr sz="1200">
              <a:latin typeface="微软雅黑"/>
              <a:cs typeface="微软雅黑"/>
            </a:endParaRPr>
          </a:p>
          <a:p>
            <a:pPr marL="51435">
              <a:lnSpc>
                <a:spcPct val="100000"/>
              </a:lnSpc>
              <a:spcBef>
                <a:spcPts val="685"/>
              </a:spcBef>
            </a:pPr>
            <a:r>
              <a:rPr dirty="0" sz="2000">
                <a:latin typeface="微软雅黑"/>
                <a:cs typeface="微软雅黑"/>
              </a:rPr>
              <a:t>安全</a:t>
            </a:r>
            <a:endParaRPr sz="20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  <a:spcBef>
                <a:spcPts val="860"/>
              </a:spcBef>
            </a:pPr>
            <a:r>
              <a:rPr dirty="0" sz="1200" b="1">
                <a:solidFill>
                  <a:srgbClr val="00399D"/>
                </a:solidFill>
                <a:latin typeface="微软雅黑"/>
                <a:cs typeface="微软雅黑"/>
              </a:rPr>
              <a:t>IP54</a:t>
            </a:r>
            <a:r>
              <a:rPr dirty="0" sz="1200" spc="-5" b="1">
                <a:solidFill>
                  <a:srgbClr val="00399D"/>
                </a:solidFill>
                <a:latin typeface="微软雅黑"/>
                <a:cs typeface="微软雅黑"/>
              </a:rPr>
              <a:t>防护等级</a:t>
            </a:r>
            <a:r>
              <a:rPr dirty="0" sz="1200" spc="-5">
                <a:latin typeface="微软雅黑"/>
                <a:cs typeface="微软雅黑"/>
              </a:rPr>
              <a:t>，满足洁净室使用标准。</a:t>
            </a:r>
            <a:endParaRPr sz="12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  <a:spcBef>
                <a:spcPts val="944"/>
              </a:spcBef>
            </a:pPr>
            <a:r>
              <a:rPr dirty="0" sz="2000">
                <a:latin typeface="微软雅黑"/>
                <a:cs typeface="微软雅黑"/>
              </a:rPr>
              <a:t>洁净</a:t>
            </a:r>
            <a:endParaRPr sz="2000">
              <a:latin typeface="微软雅黑"/>
              <a:cs typeface="微软雅黑"/>
            </a:endParaRPr>
          </a:p>
          <a:p>
            <a:pPr marL="90805" marR="5080">
              <a:lnSpc>
                <a:spcPts val="2160"/>
              </a:lnSpc>
            </a:pPr>
            <a:r>
              <a:rPr dirty="0" sz="1200" b="1">
                <a:solidFill>
                  <a:srgbClr val="00399D"/>
                </a:solidFill>
                <a:latin typeface="微软雅黑"/>
                <a:cs typeface="微软雅黑"/>
              </a:rPr>
              <a:t>超薄平滑流线型设计</a:t>
            </a:r>
            <a:r>
              <a:rPr dirty="0" sz="1200">
                <a:latin typeface="微软雅黑"/>
                <a:cs typeface="微软雅黑"/>
              </a:rPr>
              <a:t>，适合平流层洁净室， 可有效防止灰尘堆积。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93235" y="3988333"/>
            <a:ext cx="3119627" cy="2055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45591" y="3991355"/>
            <a:ext cx="3177539" cy="2068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724900" y="1374775"/>
            <a:ext cx="3124200" cy="20497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47359" y="1342644"/>
            <a:ext cx="3125724" cy="20803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11493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26028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10" b="0">
                <a:solidFill>
                  <a:srgbClr val="2C2C2C"/>
                </a:solidFill>
                <a:latin typeface="微软雅黑"/>
                <a:cs typeface="微软雅黑"/>
              </a:rPr>
              <a:t>L</a:t>
            </a:r>
            <a:r>
              <a:rPr dirty="0" u="none" sz="2800" b="0">
                <a:solidFill>
                  <a:srgbClr val="2C2C2C"/>
                </a:solidFill>
                <a:latin typeface="微软雅黑"/>
                <a:cs typeface="微软雅黑"/>
              </a:rPr>
              <a:t>E</a:t>
            </a:r>
            <a:r>
              <a:rPr dirty="0" u="none" sz="2800" spc="-10" b="0">
                <a:solidFill>
                  <a:srgbClr val="2C2C2C"/>
                </a:solidFill>
                <a:latin typeface="微软雅黑"/>
                <a:cs typeface="微软雅黑"/>
              </a:rPr>
              <a:t>D</a:t>
            </a: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洁净灯盘-昊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5175" y="1074419"/>
          <a:ext cx="10843260" cy="542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175"/>
                <a:gridCol w="1955164"/>
                <a:gridCol w="2489835"/>
                <a:gridCol w="2489834"/>
                <a:gridCol w="2489834"/>
              </a:tblGrid>
              <a:tr h="364490">
                <a:tc gridSpan="5">
                  <a:txBody>
                    <a:bodyPr/>
                    <a:lstStyle/>
                    <a:p>
                      <a:pPr algn="ctr" marR="65024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LED洁净灯盘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–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昊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-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产品参数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57785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399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91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概述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型号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LDP0202001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793115" marR="774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0203601 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0203602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793115" marR="774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0205001 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0205002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功率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24W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36W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50W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光通量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2,640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4,000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5,500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光学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色温</a:t>
                      </a:r>
                      <a:r>
                        <a:rPr dirty="0" sz="1200" spc="-10">
                          <a:latin typeface="微软雅黑"/>
                          <a:cs typeface="微软雅黑"/>
                        </a:rPr>
                        <a:t>（CCT）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4000K/5700</a:t>
                      </a:r>
                      <a:r>
                        <a:rPr dirty="0" sz="1200" spc="-5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K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显色指数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（Ra）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Ra＞80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防蓝光等级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latin typeface="微软雅黑"/>
                          <a:cs typeface="微软雅黑"/>
                        </a:rPr>
                        <a:t>RG0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电子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工作电压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latin typeface="微软雅黑"/>
                          <a:cs typeface="微软雅黑"/>
                        </a:rPr>
                        <a:t>220Vac±20%；50Hz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PF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&gt;0.9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频闪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无频闪，频闪比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&lt;1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防触电等级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Class</a:t>
                      </a:r>
                      <a:r>
                        <a:rPr dirty="0" sz="1200" spc="-2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I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结构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防护等级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IP54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91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规格尺寸（长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×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宽×高）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300×600×23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61658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600×600×23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57213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300×1200×23</a:t>
                      </a:r>
                      <a:r>
                        <a:rPr dirty="0" sz="1200" spc="-5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600×600×23mm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300×1200×23</a:t>
                      </a:r>
                      <a:r>
                        <a:rPr dirty="0" sz="1200" spc="-5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安装方式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吸顶（螺钉固定配胶塞）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质量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500"/>
                        </a:lnSpc>
                        <a:spcBef>
                          <a:spcPts val="5"/>
                        </a:spcBef>
                      </a:pPr>
                      <a:r>
                        <a:rPr dirty="0" sz="850" spc="-5" b="0">
                          <a:solidFill>
                            <a:srgbClr val="404040"/>
                          </a:solidFill>
                          <a:latin typeface="Microsoft YaHei UI Light"/>
                          <a:cs typeface="Microsoft YaHei UI Light"/>
                        </a:rPr>
                        <a:t>PPLE.COM</a:t>
                      </a:r>
                      <a:endParaRPr sz="850">
                        <a:latin typeface="Microsoft YaHei UI Light"/>
                        <a:cs typeface="Microsoft YaHei UI Ligh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灯具寿命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30000hrs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（@LN70/B50）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工作环境</a:t>
                      </a:r>
                      <a:r>
                        <a:rPr dirty="0" sz="1200" spc="-40">
                          <a:latin typeface="微软雅黑"/>
                          <a:cs typeface="微软雅黑"/>
                        </a:rPr>
                        <a:t>（Ta）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-20~40℃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安全认证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35">
                          <a:latin typeface="微软雅黑"/>
                          <a:cs typeface="微软雅黑"/>
                        </a:rPr>
                        <a:t>CCC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2459" y="4573783"/>
            <a:ext cx="5032375" cy="148844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超薄流线型设计防积灰，适用于水</a:t>
            </a:r>
            <a:r>
              <a:rPr dirty="0" sz="1600">
                <a:latin typeface="微软雅黑"/>
                <a:cs typeface="微软雅黑"/>
              </a:rPr>
              <a:t>平</a:t>
            </a:r>
            <a:r>
              <a:rPr dirty="0" sz="1600" spc="-5">
                <a:latin typeface="微软雅黑"/>
                <a:cs typeface="微软雅黑"/>
              </a:rPr>
              <a:t>单向</a:t>
            </a:r>
            <a:r>
              <a:rPr dirty="0" sz="1600">
                <a:latin typeface="微软雅黑"/>
                <a:cs typeface="微软雅黑"/>
              </a:rPr>
              <a:t>流</a:t>
            </a:r>
            <a:r>
              <a:rPr dirty="0" sz="1600" spc="-5">
                <a:latin typeface="微软雅黑"/>
                <a:cs typeface="微软雅黑"/>
              </a:rPr>
              <a:t>洁净室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10">
                <a:latin typeface="微软雅黑"/>
                <a:cs typeface="微软雅黑"/>
              </a:rPr>
              <a:t>灯盘</a:t>
            </a:r>
            <a:r>
              <a:rPr dirty="0" sz="1600" spc="-10" b="1">
                <a:latin typeface="微软雅黑"/>
                <a:cs typeface="微软雅黑"/>
              </a:rPr>
              <a:t>IP54级</a:t>
            </a:r>
            <a:r>
              <a:rPr dirty="0" sz="1600" spc="-10">
                <a:latin typeface="微软雅黑"/>
                <a:cs typeface="微软雅黑"/>
              </a:rPr>
              <a:t>防水防尘，适用更多</a:t>
            </a:r>
            <a:r>
              <a:rPr dirty="0" sz="1600" spc="-5">
                <a:latin typeface="微软雅黑"/>
                <a:cs typeface="微软雅黑"/>
              </a:rPr>
              <a:t>洁</a:t>
            </a:r>
            <a:r>
              <a:rPr dirty="0" sz="1600" spc="-10">
                <a:latin typeface="微软雅黑"/>
                <a:cs typeface="微软雅黑"/>
              </a:rPr>
              <a:t>净空间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螺钉式吸顶，与天花缝隙&lt;1mm，配合点</a:t>
            </a:r>
            <a:r>
              <a:rPr dirty="0" sz="1600">
                <a:latin typeface="微软雅黑"/>
                <a:cs typeface="微软雅黑"/>
              </a:rPr>
              <a:t>胶</a:t>
            </a:r>
            <a:r>
              <a:rPr dirty="0" sz="1600" spc="-5">
                <a:latin typeface="微软雅黑"/>
                <a:cs typeface="微软雅黑"/>
              </a:rPr>
              <a:t>更密封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采用优质</a:t>
            </a:r>
            <a:r>
              <a:rPr dirty="0" sz="1600" spc="-10">
                <a:latin typeface="微软雅黑"/>
                <a:cs typeface="微软雅黑"/>
              </a:rPr>
              <a:t>LED</a:t>
            </a:r>
            <a:r>
              <a:rPr dirty="0" sz="1600" spc="-5">
                <a:latin typeface="微软雅黑"/>
                <a:cs typeface="微软雅黑"/>
              </a:rPr>
              <a:t>灯珠，高透射</a:t>
            </a:r>
            <a:r>
              <a:rPr dirty="0" sz="1600">
                <a:latin typeface="微软雅黑"/>
                <a:cs typeface="微软雅黑"/>
              </a:rPr>
              <a:t>率</a:t>
            </a:r>
            <a:r>
              <a:rPr dirty="0" sz="1600" spc="-5" b="1">
                <a:latin typeface="微软雅黑"/>
                <a:cs typeface="微软雅黑"/>
              </a:rPr>
              <a:t>扩散</a:t>
            </a:r>
            <a:r>
              <a:rPr dirty="0" sz="1600" b="1">
                <a:latin typeface="微软雅黑"/>
                <a:cs typeface="微软雅黑"/>
              </a:rPr>
              <a:t>板</a:t>
            </a:r>
            <a:r>
              <a:rPr dirty="0" sz="1600" spc="-5">
                <a:latin typeface="微软雅黑"/>
                <a:cs typeface="微软雅黑"/>
              </a:rPr>
              <a:t>，明</a:t>
            </a:r>
            <a:r>
              <a:rPr dirty="0" sz="1600">
                <a:latin typeface="微软雅黑"/>
                <a:cs typeface="微软雅黑"/>
              </a:rPr>
              <a:t>亮</a:t>
            </a:r>
            <a:r>
              <a:rPr dirty="0" sz="1600" spc="-5">
                <a:latin typeface="微软雅黑"/>
                <a:cs typeface="微软雅黑"/>
              </a:rPr>
              <a:t>均匀</a:t>
            </a:r>
            <a:r>
              <a:rPr dirty="0" sz="1600">
                <a:latin typeface="微软雅黑"/>
                <a:cs typeface="微软雅黑"/>
              </a:rPr>
              <a:t>耐</a:t>
            </a:r>
            <a:r>
              <a:rPr dirty="0" sz="1600" spc="-5">
                <a:latin typeface="微软雅黑"/>
                <a:cs typeface="微软雅黑"/>
              </a:rPr>
              <a:t>黄化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4655" y="4559960"/>
            <a:ext cx="4589780" cy="14890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光效高达</a:t>
            </a:r>
            <a:r>
              <a:rPr dirty="0" sz="1600" spc="-5" b="1">
                <a:latin typeface="微软雅黑"/>
                <a:cs typeface="微软雅黑"/>
              </a:rPr>
              <a:t>110lm/w</a:t>
            </a:r>
            <a:r>
              <a:rPr dirty="0" sz="1600" spc="-5">
                <a:latin typeface="微软雅黑"/>
                <a:cs typeface="微软雅黑"/>
              </a:rPr>
              <a:t>，节能</a:t>
            </a:r>
            <a:r>
              <a:rPr dirty="0" sz="1600">
                <a:latin typeface="微软雅黑"/>
                <a:cs typeface="微软雅黑"/>
              </a:rPr>
              <a:t>更</a:t>
            </a:r>
            <a:r>
              <a:rPr dirty="0" sz="1600" spc="-5">
                <a:latin typeface="微软雅黑"/>
                <a:cs typeface="微软雅黑"/>
              </a:rPr>
              <a:t>省电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高达</a:t>
            </a:r>
            <a:r>
              <a:rPr dirty="0" sz="1600" spc="-5" b="1">
                <a:latin typeface="微软雅黑"/>
                <a:cs typeface="微软雅黑"/>
              </a:rPr>
              <a:t>30000hrs</a:t>
            </a:r>
            <a:r>
              <a:rPr dirty="0" sz="1600" spc="-5">
                <a:latin typeface="微软雅黑"/>
                <a:cs typeface="微软雅黑"/>
              </a:rPr>
              <a:t>使用寿命，扎实耐</a:t>
            </a:r>
            <a:r>
              <a:rPr dirty="0" sz="1600">
                <a:latin typeface="微软雅黑"/>
                <a:cs typeface="微软雅黑"/>
              </a:rPr>
              <a:t>用</a:t>
            </a:r>
            <a:r>
              <a:rPr dirty="0" sz="1600" spc="-5">
                <a:latin typeface="微软雅黑"/>
                <a:cs typeface="微软雅黑"/>
              </a:rPr>
              <a:t>降低</a:t>
            </a:r>
            <a:r>
              <a:rPr dirty="0" sz="1600">
                <a:latin typeface="微软雅黑"/>
                <a:cs typeface="微软雅黑"/>
              </a:rPr>
              <a:t>运</a:t>
            </a:r>
            <a:r>
              <a:rPr dirty="0" sz="1600" spc="-5">
                <a:latin typeface="微软雅黑"/>
                <a:cs typeface="微软雅黑"/>
              </a:rPr>
              <a:t>维成本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一体式灯盘，内置驱动，方便安装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功率25W-60W可覆盖大部分洁净场景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3608" y="4456176"/>
            <a:ext cx="10985500" cy="1816735"/>
          </a:xfrm>
          <a:custGeom>
            <a:avLst/>
            <a:gdLst/>
            <a:ahLst/>
            <a:cxnLst/>
            <a:rect l="l" t="t" r="r" b="b"/>
            <a:pathLst>
              <a:path w="10985500" h="1816735">
                <a:moveTo>
                  <a:pt x="0" y="302768"/>
                </a:moveTo>
                <a:lnTo>
                  <a:pt x="3962" y="253646"/>
                </a:lnTo>
                <a:lnTo>
                  <a:pt x="15435" y="207052"/>
                </a:lnTo>
                <a:lnTo>
                  <a:pt x="33795" y="163608"/>
                </a:lnTo>
                <a:lnTo>
                  <a:pt x="58418" y="123937"/>
                </a:lnTo>
                <a:lnTo>
                  <a:pt x="88680" y="88661"/>
                </a:lnTo>
                <a:lnTo>
                  <a:pt x="123959" y="58403"/>
                </a:lnTo>
                <a:lnTo>
                  <a:pt x="163631" y="33785"/>
                </a:lnTo>
                <a:lnTo>
                  <a:pt x="207072" y="15431"/>
                </a:lnTo>
                <a:lnTo>
                  <a:pt x="253658" y="3961"/>
                </a:lnTo>
                <a:lnTo>
                  <a:pt x="302767" y="0"/>
                </a:lnTo>
                <a:lnTo>
                  <a:pt x="10682224" y="0"/>
                </a:lnTo>
                <a:lnTo>
                  <a:pt x="10731345" y="3961"/>
                </a:lnTo>
                <a:lnTo>
                  <a:pt x="10777939" y="15431"/>
                </a:lnTo>
                <a:lnTo>
                  <a:pt x="10821383" y="33785"/>
                </a:lnTo>
                <a:lnTo>
                  <a:pt x="10861054" y="58403"/>
                </a:lnTo>
                <a:lnTo>
                  <a:pt x="10896330" y="88661"/>
                </a:lnTo>
                <a:lnTo>
                  <a:pt x="10926588" y="123937"/>
                </a:lnTo>
                <a:lnTo>
                  <a:pt x="10951206" y="163608"/>
                </a:lnTo>
                <a:lnTo>
                  <a:pt x="10969560" y="207052"/>
                </a:lnTo>
                <a:lnTo>
                  <a:pt x="10981030" y="253646"/>
                </a:lnTo>
                <a:lnTo>
                  <a:pt x="10984992" y="302768"/>
                </a:lnTo>
                <a:lnTo>
                  <a:pt x="10984992" y="1513827"/>
                </a:lnTo>
                <a:lnTo>
                  <a:pt x="10981030" y="1562939"/>
                </a:lnTo>
                <a:lnTo>
                  <a:pt x="10969560" y="1609529"/>
                </a:lnTo>
                <a:lnTo>
                  <a:pt x="10951206" y="1652972"/>
                </a:lnTo>
                <a:lnTo>
                  <a:pt x="10926588" y="1692645"/>
                </a:lnTo>
                <a:lnTo>
                  <a:pt x="10896330" y="1727925"/>
                </a:lnTo>
                <a:lnTo>
                  <a:pt x="10861054" y="1758188"/>
                </a:lnTo>
                <a:lnTo>
                  <a:pt x="10821383" y="1782812"/>
                </a:lnTo>
                <a:lnTo>
                  <a:pt x="10777939" y="1801172"/>
                </a:lnTo>
                <a:lnTo>
                  <a:pt x="10731345" y="1812645"/>
                </a:lnTo>
                <a:lnTo>
                  <a:pt x="10682224" y="1816608"/>
                </a:lnTo>
                <a:lnTo>
                  <a:pt x="302767" y="1816608"/>
                </a:lnTo>
                <a:lnTo>
                  <a:pt x="253658" y="1812645"/>
                </a:lnTo>
                <a:lnTo>
                  <a:pt x="207072" y="1801172"/>
                </a:lnTo>
                <a:lnTo>
                  <a:pt x="163631" y="1782812"/>
                </a:lnTo>
                <a:lnTo>
                  <a:pt x="123959" y="1758188"/>
                </a:lnTo>
                <a:lnTo>
                  <a:pt x="88680" y="1727925"/>
                </a:lnTo>
                <a:lnTo>
                  <a:pt x="58418" y="1692645"/>
                </a:lnTo>
                <a:lnTo>
                  <a:pt x="33795" y="1652972"/>
                </a:lnTo>
                <a:lnTo>
                  <a:pt x="15435" y="1609529"/>
                </a:lnTo>
                <a:lnTo>
                  <a:pt x="3962" y="1562939"/>
                </a:lnTo>
                <a:lnTo>
                  <a:pt x="0" y="1513827"/>
                </a:lnTo>
                <a:lnTo>
                  <a:pt x="0" y="30276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1742" y="337185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产品介绍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37561" y="3639439"/>
            <a:ext cx="760730" cy="5740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00">
                <a:latin typeface="微软雅黑"/>
                <a:cs typeface="微软雅黑"/>
              </a:rPr>
              <a:t>6060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微软雅黑"/>
                <a:cs typeface="微软雅黑"/>
              </a:rPr>
              <a:t>40W</a:t>
            </a:r>
            <a:r>
              <a:rPr dirty="0" sz="1200" spc="0">
                <a:latin typeface="微软雅黑"/>
                <a:cs typeface="微软雅黑"/>
              </a:rPr>
              <a:t>/</a:t>
            </a:r>
            <a:r>
              <a:rPr dirty="0" sz="1200">
                <a:latin typeface="微软雅黑"/>
                <a:cs typeface="微软雅黑"/>
              </a:rPr>
              <a:t>60W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7378" y="3632961"/>
            <a:ext cx="762000" cy="57404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微软雅黑"/>
                <a:cs typeface="微软雅黑"/>
              </a:rPr>
              <a:t>3012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微软雅黑"/>
                <a:cs typeface="微软雅黑"/>
              </a:rPr>
              <a:t>40W/60W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08542" y="3605911"/>
            <a:ext cx="385445" cy="5740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200">
                <a:latin typeface="微软雅黑"/>
                <a:cs typeface="微软雅黑"/>
              </a:rPr>
              <a:t>3060</a:t>
            </a:r>
            <a:endParaRPr sz="1200">
              <a:latin typeface="微软雅黑"/>
              <a:cs typeface="微软雅黑"/>
            </a:endParaRPr>
          </a:p>
          <a:p>
            <a:pPr marL="24765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微软雅黑"/>
                <a:cs typeface="微软雅黑"/>
              </a:rPr>
              <a:t>25W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06995" y="1528572"/>
            <a:ext cx="3787140" cy="2125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63340" y="1520952"/>
            <a:ext cx="3785616" cy="2124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3608" y="1511808"/>
            <a:ext cx="3785616" cy="2125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1446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洁净专设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25109" y="1332102"/>
            <a:ext cx="111125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外观设计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5109" y="1725904"/>
            <a:ext cx="268986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22mm超薄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+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斜边边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框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流线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型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设计 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可有效防止积灰，易于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清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51397" y="1748789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5008" y="1549908"/>
            <a:ext cx="4652772" cy="3784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33388" y="4788408"/>
            <a:ext cx="2081783" cy="1879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615171" y="4788408"/>
            <a:ext cx="1752600" cy="167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05143" y="6361887"/>
            <a:ext cx="137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普通灯盘&amp;直角边框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43670" y="6383223"/>
            <a:ext cx="1617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佳</a:t>
            </a:r>
            <a:r>
              <a:rPr dirty="0" sz="1200" spc="-5">
                <a:latin typeface="微软雅黑"/>
                <a:cs typeface="微软雅黑"/>
              </a:rPr>
              <a:t>II</a:t>
            </a:r>
            <a:r>
              <a:rPr dirty="0" sz="1200">
                <a:latin typeface="微软雅黑"/>
                <a:cs typeface="微软雅黑"/>
              </a:rPr>
              <a:t>洁净灯盘</a:t>
            </a:r>
            <a:r>
              <a:rPr dirty="0" sz="1200" spc="-5">
                <a:latin typeface="微软雅黑"/>
                <a:cs typeface="微软雅黑"/>
              </a:rPr>
              <a:t>&amp;</a:t>
            </a:r>
            <a:r>
              <a:rPr dirty="0" sz="1200">
                <a:latin typeface="微软雅黑"/>
                <a:cs typeface="微软雅黑"/>
              </a:rPr>
              <a:t>斜角边框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40677" y="3071875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安装设计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40677" y="3465677"/>
            <a:ext cx="3470275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螺钉式吸顶安装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+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专利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板设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计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，安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装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便捷 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灯具与天花缝隙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&lt;1m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m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，密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封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防尘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效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果更佳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66966" y="3487673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18103" y="1550669"/>
            <a:ext cx="2004695" cy="1021715"/>
          </a:xfrm>
          <a:custGeom>
            <a:avLst/>
            <a:gdLst/>
            <a:ahLst/>
            <a:cxnLst/>
            <a:rect l="l" t="t" r="r" b="b"/>
            <a:pathLst>
              <a:path w="2004695" h="1021714">
                <a:moveTo>
                  <a:pt x="2159" y="1021714"/>
                </a:moveTo>
                <a:lnTo>
                  <a:pt x="0" y="1021714"/>
                </a:lnTo>
                <a:lnTo>
                  <a:pt x="0" y="0"/>
                </a:lnTo>
                <a:lnTo>
                  <a:pt x="2004568" y="0"/>
                </a:lnTo>
              </a:path>
            </a:pathLst>
          </a:custGeom>
          <a:ln w="1981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09771" y="2502407"/>
            <a:ext cx="219455" cy="2209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73929" y="2763773"/>
            <a:ext cx="2002789" cy="556260"/>
          </a:xfrm>
          <a:custGeom>
            <a:avLst/>
            <a:gdLst/>
            <a:ahLst/>
            <a:cxnLst/>
            <a:rect l="l" t="t" r="r" b="b"/>
            <a:pathLst>
              <a:path w="2002790" h="556260">
                <a:moveTo>
                  <a:pt x="0" y="0"/>
                </a:moveTo>
                <a:lnTo>
                  <a:pt x="8382" y="0"/>
                </a:lnTo>
                <a:lnTo>
                  <a:pt x="8382" y="556260"/>
                </a:lnTo>
                <a:lnTo>
                  <a:pt x="2002409" y="556260"/>
                </a:lnTo>
              </a:path>
            </a:pathLst>
          </a:custGeom>
          <a:ln w="19811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87823" y="2660904"/>
            <a:ext cx="219455" cy="2209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1446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明亮高效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92902" y="1464944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均匀明亮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2902" y="1959816"/>
            <a:ext cx="2860675" cy="66548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优质LED灯珠结合高</a:t>
            </a:r>
            <a:r>
              <a:rPr dirty="0" sz="1400" spc="-15" b="1">
                <a:solidFill>
                  <a:srgbClr val="7E7E7E"/>
                </a:solidFill>
                <a:latin typeface="微软雅黑"/>
                <a:cs typeface="微软雅黑"/>
              </a:rPr>
              <a:t>透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射率</a:t>
            </a:r>
            <a:r>
              <a:rPr dirty="0" sz="1400" spc="-15" b="1">
                <a:solidFill>
                  <a:srgbClr val="7E7E7E"/>
                </a:solidFill>
                <a:latin typeface="微软雅黑"/>
                <a:cs typeface="微软雅黑"/>
              </a:rPr>
              <a:t>扩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散板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，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出光均匀明亮，耐老化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黄</a:t>
            </a:r>
            <a:r>
              <a:rPr dirty="0" sz="1400" spc="0" b="1">
                <a:solidFill>
                  <a:srgbClr val="00399D"/>
                </a:solidFill>
                <a:latin typeface="微软雅黑"/>
                <a:cs typeface="微软雅黑"/>
              </a:rPr>
              <a:t>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05094" y="1905761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9891" y="1690116"/>
            <a:ext cx="4953000" cy="3834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71386" y="3186430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扎实耐用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1386" y="3538702"/>
            <a:ext cx="2026920" cy="66675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整灯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IP54</a:t>
            </a:r>
            <a:r>
              <a:rPr dirty="0" sz="1400" spc="-5">
                <a:solidFill>
                  <a:srgbClr val="414141"/>
                </a:solidFill>
                <a:latin typeface="微软雅黑"/>
                <a:cs typeface="微软雅黑"/>
              </a:rPr>
              <a:t>，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防尘防水更优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30000H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寿命，可靠耐用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2773" y="3608070"/>
            <a:ext cx="3757929" cy="0"/>
          </a:xfrm>
          <a:custGeom>
            <a:avLst/>
            <a:gdLst/>
            <a:ahLst/>
            <a:cxnLst/>
            <a:rect l="l" t="t" r="r" b="b"/>
            <a:pathLst>
              <a:path w="3757929" h="0">
                <a:moveTo>
                  <a:pt x="0" y="0"/>
                </a:moveTo>
                <a:lnTo>
                  <a:pt x="3757929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065391" y="4662627"/>
            <a:ext cx="111061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25" b="1">
                <a:solidFill>
                  <a:srgbClr val="7E7E7E"/>
                </a:solidFill>
                <a:latin typeface="微软雅黑"/>
                <a:cs typeface="微软雅黑"/>
              </a:rPr>
              <a:t>低碳健康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5391" y="5015788"/>
            <a:ext cx="359981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欧普自研驱动，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无频闪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结合</a:t>
            </a:r>
            <a:r>
              <a:rPr dirty="0" sz="1400" spc="-10" b="1">
                <a:solidFill>
                  <a:srgbClr val="00399D"/>
                </a:solidFill>
                <a:latin typeface="微软雅黑"/>
                <a:cs typeface="微软雅黑"/>
              </a:rPr>
              <a:t>RG0，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护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眼健康 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整灯光效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110lm/W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更节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能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省电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86778" y="5084826"/>
            <a:ext cx="3757929" cy="0"/>
          </a:xfrm>
          <a:custGeom>
            <a:avLst/>
            <a:gdLst/>
            <a:ahLst/>
            <a:cxnLst/>
            <a:rect l="l" t="t" r="r" b="b"/>
            <a:pathLst>
              <a:path w="3757929" h="0">
                <a:moveTo>
                  <a:pt x="0" y="0"/>
                </a:moveTo>
                <a:lnTo>
                  <a:pt x="3757929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11493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281051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10" b="0">
                <a:solidFill>
                  <a:srgbClr val="2C2C2C"/>
                </a:solidFill>
                <a:latin typeface="微软雅黑"/>
                <a:cs typeface="微软雅黑"/>
              </a:rPr>
              <a:t>LED</a:t>
            </a: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洁净灯盘-佳</a:t>
            </a:r>
            <a:r>
              <a:rPr dirty="0" u="none" sz="2800" spc="-15" b="0">
                <a:solidFill>
                  <a:srgbClr val="2C2C2C"/>
                </a:solidFill>
                <a:latin typeface="微软雅黑"/>
                <a:cs typeface="微软雅黑"/>
              </a:rPr>
              <a:t>II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5175" y="1074419"/>
          <a:ext cx="10843260" cy="542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175"/>
                <a:gridCol w="1955164"/>
                <a:gridCol w="2489835"/>
                <a:gridCol w="2489834"/>
                <a:gridCol w="2489834"/>
              </a:tblGrid>
              <a:tr h="364490">
                <a:tc gridSpan="5">
                  <a:txBody>
                    <a:bodyPr/>
                    <a:lstStyle/>
                    <a:p>
                      <a:pPr algn="ctr" marR="52895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LED洁净灯盘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–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佳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II</a:t>
                      </a:r>
                      <a:r>
                        <a:rPr dirty="0" sz="14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-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产品参数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57785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399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91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概述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型号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LDP0202502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793115" marR="774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0204003 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0204004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793115" marR="774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0206003 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0206004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功率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25W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40W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60W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光通量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2,500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4,000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6000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光学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色温</a:t>
                      </a:r>
                      <a:r>
                        <a:rPr dirty="0" sz="1200" spc="-10">
                          <a:latin typeface="微软雅黑"/>
                          <a:cs typeface="微软雅黑"/>
                        </a:rPr>
                        <a:t>（CCT）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4000K/5700</a:t>
                      </a:r>
                      <a:r>
                        <a:rPr dirty="0" sz="1200" spc="-5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K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显色指数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（Ra）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Ra＞80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防蓝光等级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latin typeface="微软雅黑"/>
                          <a:cs typeface="微软雅黑"/>
                        </a:rPr>
                        <a:t>RG0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电子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工作电压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latin typeface="微软雅黑"/>
                          <a:cs typeface="微软雅黑"/>
                        </a:rPr>
                        <a:t>220Vac±20%；50Hz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PF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&gt;0.9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频闪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无频闪，频闪比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&lt;1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防触电等级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灯盘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：ClassⅢ；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电子件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：ClassⅡ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结构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防护等级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IP54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91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规格尺寸（长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×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宽×高）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300×600×13.5</a:t>
                      </a:r>
                      <a:r>
                        <a:rPr dirty="0" sz="1200" spc="-5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600×600×13.5</a:t>
                      </a:r>
                      <a:r>
                        <a:rPr dirty="0" sz="1200" spc="-6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50990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300×1200×13.5</a:t>
                      </a:r>
                      <a:r>
                        <a:rPr dirty="0" sz="1200" spc="-6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600×600×13.5</a:t>
                      </a:r>
                      <a:r>
                        <a:rPr dirty="0" sz="1200" spc="-6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50990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300×1200×13.5</a:t>
                      </a:r>
                      <a:r>
                        <a:rPr dirty="0" sz="1200" spc="-6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安装方式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吸顶（螺钉固定配胶塞）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质量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500"/>
                        </a:lnSpc>
                        <a:spcBef>
                          <a:spcPts val="5"/>
                        </a:spcBef>
                      </a:pPr>
                      <a:r>
                        <a:rPr dirty="0" sz="850" spc="-5" b="0">
                          <a:solidFill>
                            <a:srgbClr val="404040"/>
                          </a:solidFill>
                          <a:latin typeface="Microsoft YaHei UI Light"/>
                          <a:cs typeface="Microsoft YaHei UI Light"/>
                        </a:rPr>
                        <a:t>PPLE.COM</a:t>
                      </a:r>
                      <a:endParaRPr sz="850">
                        <a:latin typeface="Microsoft YaHei UI Light"/>
                        <a:cs typeface="Microsoft YaHei UI Ligh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灯具寿命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30000hrs</a:t>
                      </a:r>
                      <a:r>
                        <a:rPr dirty="0" sz="1200" spc="-5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（@LN70/B50）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工作环境</a:t>
                      </a:r>
                      <a:r>
                        <a:rPr dirty="0" sz="1200" spc="-40">
                          <a:latin typeface="微软雅黑"/>
                          <a:cs typeface="微软雅黑"/>
                        </a:rPr>
                        <a:t>（Ta）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-20~40℃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安全认证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35">
                          <a:latin typeface="微软雅黑"/>
                          <a:cs typeface="微软雅黑"/>
                        </a:rPr>
                        <a:t>CCC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2459" y="4573783"/>
            <a:ext cx="4924425" cy="148844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超薄流线型设计防积灰，适用于水</a:t>
            </a:r>
            <a:r>
              <a:rPr dirty="0" sz="1600">
                <a:latin typeface="微软雅黑"/>
                <a:cs typeface="微软雅黑"/>
              </a:rPr>
              <a:t>平</a:t>
            </a:r>
            <a:r>
              <a:rPr dirty="0" sz="1600" spc="-5">
                <a:latin typeface="微软雅黑"/>
                <a:cs typeface="微软雅黑"/>
              </a:rPr>
              <a:t>单向</a:t>
            </a:r>
            <a:r>
              <a:rPr dirty="0" sz="1600">
                <a:latin typeface="微软雅黑"/>
                <a:cs typeface="微软雅黑"/>
              </a:rPr>
              <a:t>流</a:t>
            </a:r>
            <a:r>
              <a:rPr dirty="0" sz="1600" spc="-5">
                <a:latin typeface="微软雅黑"/>
                <a:cs typeface="微软雅黑"/>
              </a:rPr>
              <a:t>洁净室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10">
                <a:latin typeface="微软雅黑"/>
                <a:cs typeface="微软雅黑"/>
              </a:rPr>
              <a:t>灯盘</a:t>
            </a:r>
            <a:r>
              <a:rPr dirty="0" sz="1600" spc="-10" b="1">
                <a:latin typeface="微软雅黑"/>
                <a:cs typeface="微软雅黑"/>
              </a:rPr>
              <a:t>IP54级</a:t>
            </a:r>
            <a:r>
              <a:rPr dirty="0" sz="1600" spc="-10">
                <a:latin typeface="微软雅黑"/>
                <a:cs typeface="微软雅黑"/>
              </a:rPr>
              <a:t>防水防尘，适用更多</a:t>
            </a:r>
            <a:r>
              <a:rPr dirty="0" sz="1600" spc="-5">
                <a:latin typeface="微软雅黑"/>
                <a:cs typeface="微软雅黑"/>
              </a:rPr>
              <a:t>洁</a:t>
            </a:r>
            <a:r>
              <a:rPr dirty="0" sz="1600" spc="-10">
                <a:latin typeface="微软雅黑"/>
                <a:cs typeface="微软雅黑"/>
              </a:rPr>
              <a:t>净空间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螺钉式吸顶，与天花缝隙&lt;1mm，配合点</a:t>
            </a:r>
            <a:r>
              <a:rPr dirty="0" sz="1600">
                <a:latin typeface="微软雅黑"/>
                <a:cs typeface="微软雅黑"/>
              </a:rPr>
              <a:t>胶</a:t>
            </a:r>
            <a:r>
              <a:rPr dirty="0" sz="1600" spc="-5">
                <a:latin typeface="微软雅黑"/>
                <a:cs typeface="微软雅黑"/>
              </a:rPr>
              <a:t>更密封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采用优质</a:t>
            </a:r>
            <a:r>
              <a:rPr dirty="0" sz="1600" spc="-10">
                <a:latin typeface="微软雅黑"/>
                <a:cs typeface="微软雅黑"/>
              </a:rPr>
              <a:t>LED</a:t>
            </a:r>
            <a:r>
              <a:rPr dirty="0" sz="1600" spc="-5">
                <a:latin typeface="微软雅黑"/>
                <a:cs typeface="微软雅黑"/>
              </a:rPr>
              <a:t>灯珠</a:t>
            </a:r>
            <a:r>
              <a:rPr dirty="0" sz="1600" spc="-10">
                <a:latin typeface="微软雅黑"/>
                <a:cs typeface="微软雅黑"/>
              </a:rPr>
              <a:t>，</a:t>
            </a:r>
            <a:r>
              <a:rPr dirty="0" sz="1600" spc="-10" b="1">
                <a:latin typeface="微软雅黑"/>
                <a:cs typeface="微软雅黑"/>
              </a:rPr>
              <a:t>PMMA</a:t>
            </a:r>
            <a:r>
              <a:rPr dirty="0" sz="1600" spc="-5" b="1">
                <a:latin typeface="微软雅黑"/>
                <a:cs typeface="微软雅黑"/>
              </a:rPr>
              <a:t>导</a:t>
            </a:r>
            <a:r>
              <a:rPr dirty="0" sz="1600" b="1">
                <a:latin typeface="微软雅黑"/>
                <a:cs typeface="微软雅黑"/>
              </a:rPr>
              <a:t>光</a:t>
            </a:r>
            <a:r>
              <a:rPr dirty="0" sz="1600" spc="-5" b="1">
                <a:latin typeface="微软雅黑"/>
                <a:cs typeface="微软雅黑"/>
              </a:rPr>
              <a:t>板</a:t>
            </a:r>
            <a:r>
              <a:rPr dirty="0" sz="1600" spc="-5">
                <a:latin typeface="微软雅黑"/>
                <a:cs typeface="微软雅黑"/>
              </a:rPr>
              <a:t>，</a:t>
            </a:r>
            <a:r>
              <a:rPr dirty="0" sz="1600">
                <a:latin typeface="微软雅黑"/>
                <a:cs typeface="微软雅黑"/>
              </a:rPr>
              <a:t>明</a:t>
            </a:r>
            <a:r>
              <a:rPr dirty="0" sz="1600" spc="-5">
                <a:latin typeface="微软雅黑"/>
                <a:cs typeface="微软雅黑"/>
              </a:rPr>
              <a:t>亮均</a:t>
            </a:r>
            <a:r>
              <a:rPr dirty="0" sz="1600">
                <a:latin typeface="微软雅黑"/>
                <a:cs typeface="微软雅黑"/>
              </a:rPr>
              <a:t>匀</a:t>
            </a:r>
            <a:r>
              <a:rPr dirty="0" sz="1600" spc="-5">
                <a:latin typeface="微软雅黑"/>
                <a:cs typeface="微软雅黑"/>
              </a:rPr>
              <a:t>耐黄化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4655" y="4559960"/>
            <a:ext cx="4589780" cy="14890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光效高达</a:t>
            </a:r>
            <a:r>
              <a:rPr dirty="0" sz="1600" spc="-5" b="1">
                <a:latin typeface="微软雅黑"/>
                <a:cs typeface="微软雅黑"/>
              </a:rPr>
              <a:t>100lm/w</a:t>
            </a:r>
            <a:r>
              <a:rPr dirty="0" sz="1600" spc="-5">
                <a:latin typeface="微软雅黑"/>
                <a:cs typeface="微软雅黑"/>
              </a:rPr>
              <a:t>，节能</a:t>
            </a:r>
            <a:r>
              <a:rPr dirty="0" sz="1600">
                <a:latin typeface="微软雅黑"/>
                <a:cs typeface="微软雅黑"/>
              </a:rPr>
              <a:t>更</a:t>
            </a:r>
            <a:r>
              <a:rPr dirty="0" sz="1600" spc="-5">
                <a:latin typeface="微软雅黑"/>
                <a:cs typeface="微软雅黑"/>
              </a:rPr>
              <a:t>省电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高达</a:t>
            </a:r>
            <a:r>
              <a:rPr dirty="0" sz="1600" spc="-5" b="1">
                <a:latin typeface="微软雅黑"/>
                <a:cs typeface="微软雅黑"/>
              </a:rPr>
              <a:t>30000hrs</a:t>
            </a:r>
            <a:r>
              <a:rPr dirty="0" sz="1600" spc="-5">
                <a:latin typeface="微软雅黑"/>
                <a:cs typeface="微软雅黑"/>
              </a:rPr>
              <a:t>使用寿命，扎实耐</a:t>
            </a:r>
            <a:r>
              <a:rPr dirty="0" sz="1600">
                <a:latin typeface="微软雅黑"/>
                <a:cs typeface="微软雅黑"/>
              </a:rPr>
              <a:t>用</a:t>
            </a:r>
            <a:r>
              <a:rPr dirty="0" sz="1600" spc="-5">
                <a:latin typeface="微软雅黑"/>
                <a:cs typeface="微软雅黑"/>
              </a:rPr>
              <a:t>降低</a:t>
            </a:r>
            <a:r>
              <a:rPr dirty="0" sz="1600">
                <a:latin typeface="微软雅黑"/>
                <a:cs typeface="微软雅黑"/>
              </a:rPr>
              <a:t>运</a:t>
            </a:r>
            <a:r>
              <a:rPr dirty="0" sz="1600" spc="-5">
                <a:latin typeface="微软雅黑"/>
                <a:cs typeface="微软雅黑"/>
              </a:rPr>
              <a:t>维成本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灯盘与驱动快接对插，方便驱动安</a:t>
            </a:r>
            <a:r>
              <a:rPr dirty="0" sz="1600">
                <a:latin typeface="微软雅黑"/>
                <a:cs typeface="微软雅黑"/>
              </a:rPr>
              <a:t>装</a:t>
            </a:r>
            <a:r>
              <a:rPr dirty="0" sz="1600" spc="-5">
                <a:latin typeface="微软雅黑"/>
                <a:cs typeface="微软雅黑"/>
              </a:rPr>
              <a:t>更换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功率25W-60W可覆盖大部分洁净场景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3608" y="4456176"/>
            <a:ext cx="10985500" cy="1816735"/>
          </a:xfrm>
          <a:custGeom>
            <a:avLst/>
            <a:gdLst/>
            <a:ahLst/>
            <a:cxnLst/>
            <a:rect l="l" t="t" r="r" b="b"/>
            <a:pathLst>
              <a:path w="10985500" h="1816735">
                <a:moveTo>
                  <a:pt x="0" y="302768"/>
                </a:moveTo>
                <a:lnTo>
                  <a:pt x="3962" y="253646"/>
                </a:lnTo>
                <a:lnTo>
                  <a:pt x="15435" y="207052"/>
                </a:lnTo>
                <a:lnTo>
                  <a:pt x="33795" y="163608"/>
                </a:lnTo>
                <a:lnTo>
                  <a:pt x="58418" y="123937"/>
                </a:lnTo>
                <a:lnTo>
                  <a:pt x="88680" y="88661"/>
                </a:lnTo>
                <a:lnTo>
                  <a:pt x="123959" y="58403"/>
                </a:lnTo>
                <a:lnTo>
                  <a:pt x="163631" y="33785"/>
                </a:lnTo>
                <a:lnTo>
                  <a:pt x="207072" y="15431"/>
                </a:lnTo>
                <a:lnTo>
                  <a:pt x="253658" y="3961"/>
                </a:lnTo>
                <a:lnTo>
                  <a:pt x="302767" y="0"/>
                </a:lnTo>
                <a:lnTo>
                  <a:pt x="10682224" y="0"/>
                </a:lnTo>
                <a:lnTo>
                  <a:pt x="10731345" y="3961"/>
                </a:lnTo>
                <a:lnTo>
                  <a:pt x="10777939" y="15431"/>
                </a:lnTo>
                <a:lnTo>
                  <a:pt x="10821383" y="33785"/>
                </a:lnTo>
                <a:lnTo>
                  <a:pt x="10861054" y="58403"/>
                </a:lnTo>
                <a:lnTo>
                  <a:pt x="10896330" y="88661"/>
                </a:lnTo>
                <a:lnTo>
                  <a:pt x="10926588" y="123937"/>
                </a:lnTo>
                <a:lnTo>
                  <a:pt x="10951206" y="163608"/>
                </a:lnTo>
                <a:lnTo>
                  <a:pt x="10969560" y="207052"/>
                </a:lnTo>
                <a:lnTo>
                  <a:pt x="10981030" y="253646"/>
                </a:lnTo>
                <a:lnTo>
                  <a:pt x="10984992" y="302768"/>
                </a:lnTo>
                <a:lnTo>
                  <a:pt x="10984992" y="1513827"/>
                </a:lnTo>
                <a:lnTo>
                  <a:pt x="10981030" y="1562939"/>
                </a:lnTo>
                <a:lnTo>
                  <a:pt x="10969560" y="1609529"/>
                </a:lnTo>
                <a:lnTo>
                  <a:pt x="10951206" y="1652972"/>
                </a:lnTo>
                <a:lnTo>
                  <a:pt x="10926588" y="1692645"/>
                </a:lnTo>
                <a:lnTo>
                  <a:pt x="10896330" y="1727925"/>
                </a:lnTo>
                <a:lnTo>
                  <a:pt x="10861054" y="1758188"/>
                </a:lnTo>
                <a:lnTo>
                  <a:pt x="10821383" y="1782812"/>
                </a:lnTo>
                <a:lnTo>
                  <a:pt x="10777939" y="1801172"/>
                </a:lnTo>
                <a:lnTo>
                  <a:pt x="10731345" y="1812645"/>
                </a:lnTo>
                <a:lnTo>
                  <a:pt x="10682224" y="1816608"/>
                </a:lnTo>
                <a:lnTo>
                  <a:pt x="302767" y="1816608"/>
                </a:lnTo>
                <a:lnTo>
                  <a:pt x="253658" y="1812645"/>
                </a:lnTo>
                <a:lnTo>
                  <a:pt x="207072" y="1801172"/>
                </a:lnTo>
                <a:lnTo>
                  <a:pt x="163631" y="1782812"/>
                </a:lnTo>
                <a:lnTo>
                  <a:pt x="123959" y="1758188"/>
                </a:lnTo>
                <a:lnTo>
                  <a:pt x="88680" y="1727925"/>
                </a:lnTo>
                <a:lnTo>
                  <a:pt x="58418" y="1692645"/>
                </a:lnTo>
                <a:lnTo>
                  <a:pt x="33795" y="1652972"/>
                </a:lnTo>
                <a:lnTo>
                  <a:pt x="15435" y="1609529"/>
                </a:lnTo>
                <a:lnTo>
                  <a:pt x="3962" y="1562939"/>
                </a:lnTo>
                <a:lnTo>
                  <a:pt x="0" y="1513827"/>
                </a:lnTo>
                <a:lnTo>
                  <a:pt x="0" y="30276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1742" y="337185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产品介绍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37561" y="3639439"/>
            <a:ext cx="760730" cy="5740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00">
                <a:latin typeface="微软雅黑"/>
                <a:cs typeface="微软雅黑"/>
              </a:rPr>
              <a:t>6060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微软雅黑"/>
                <a:cs typeface="微软雅黑"/>
              </a:rPr>
              <a:t>40W</a:t>
            </a:r>
            <a:r>
              <a:rPr dirty="0" sz="1200" spc="0">
                <a:latin typeface="微软雅黑"/>
                <a:cs typeface="微软雅黑"/>
              </a:rPr>
              <a:t>/</a:t>
            </a:r>
            <a:r>
              <a:rPr dirty="0" sz="1200">
                <a:latin typeface="微软雅黑"/>
                <a:cs typeface="微软雅黑"/>
              </a:rPr>
              <a:t>60W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7378" y="3632961"/>
            <a:ext cx="762000" cy="57404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微软雅黑"/>
                <a:cs typeface="微软雅黑"/>
              </a:rPr>
              <a:t>3012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微软雅黑"/>
                <a:cs typeface="微软雅黑"/>
              </a:rPr>
              <a:t>40W/60W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08542" y="3605911"/>
            <a:ext cx="385445" cy="5740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200">
                <a:latin typeface="微软雅黑"/>
                <a:cs typeface="微软雅黑"/>
              </a:rPr>
              <a:t>3060</a:t>
            </a:r>
            <a:endParaRPr sz="1200">
              <a:latin typeface="微软雅黑"/>
              <a:cs typeface="微软雅黑"/>
            </a:endParaRPr>
          </a:p>
          <a:p>
            <a:pPr marL="24765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微软雅黑"/>
                <a:cs typeface="微软雅黑"/>
              </a:rPr>
              <a:t>25W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06995" y="1528572"/>
            <a:ext cx="3787140" cy="2125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63340" y="1520952"/>
            <a:ext cx="3785616" cy="2124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3608" y="1511808"/>
            <a:ext cx="3785616" cy="2125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1446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洁净专设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25109" y="1332102"/>
            <a:ext cx="111125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外观设计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5109" y="1725904"/>
            <a:ext cx="268986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13mm超薄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+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斜边边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框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流线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型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设计 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可有效防止积灰，易于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清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51397" y="1748789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5008" y="1549908"/>
            <a:ext cx="4652772" cy="3784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33388" y="4788408"/>
            <a:ext cx="2081783" cy="1879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615171" y="4788408"/>
            <a:ext cx="1752600" cy="167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05143" y="6361887"/>
            <a:ext cx="137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普通灯盘&amp;直角边框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43670" y="6383223"/>
            <a:ext cx="1617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佳</a:t>
            </a:r>
            <a:r>
              <a:rPr dirty="0" sz="1200" spc="-5">
                <a:latin typeface="微软雅黑"/>
                <a:cs typeface="微软雅黑"/>
              </a:rPr>
              <a:t>II</a:t>
            </a:r>
            <a:r>
              <a:rPr dirty="0" sz="1200">
                <a:latin typeface="微软雅黑"/>
                <a:cs typeface="微软雅黑"/>
              </a:rPr>
              <a:t>洁净灯盘</a:t>
            </a:r>
            <a:r>
              <a:rPr dirty="0" sz="1200" spc="-5">
                <a:latin typeface="微软雅黑"/>
                <a:cs typeface="微软雅黑"/>
              </a:rPr>
              <a:t>&amp;</a:t>
            </a:r>
            <a:r>
              <a:rPr dirty="0" sz="1200">
                <a:latin typeface="微软雅黑"/>
                <a:cs typeface="微软雅黑"/>
              </a:rPr>
              <a:t>斜角边框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40677" y="3071875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安装设计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40677" y="3465677"/>
            <a:ext cx="3470275" cy="6654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螺钉式吸顶安装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+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背板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设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计，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安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装便捷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灯具与天花缝隙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&lt;1mm，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密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封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防尘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效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果更佳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66966" y="3487673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18103" y="1550669"/>
            <a:ext cx="2004695" cy="1021715"/>
          </a:xfrm>
          <a:custGeom>
            <a:avLst/>
            <a:gdLst/>
            <a:ahLst/>
            <a:cxnLst/>
            <a:rect l="l" t="t" r="r" b="b"/>
            <a:pathLst>
              <a:path w="2004695" h="1021714">
                <a:moveTo>
                  <a:pt x="2159" y="1021714"/>
                </a:moveTo>
                <a:lnTo>
                  <a:pt x="0" y="1021714"/>
                </a:lnTo>
                <a:lnTo>
                  <a:pt x="0" y="0"/>
                </a:lnTo>
                <a:lnTo>
                  <a:pt x="2004568" y="0"/>
                </a:lnTo>
              </a:path>
            </a:pathLst>
          </a:custGeom>
          <a:ln w="1981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09771" y="2502407"/>
            <a:ext cx="219455" cy="2209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73929" y="2763773"/>
            <a:ext cx="2002789" cy="556260"/>
          </a:xfrm>
          <a:custGeom>
            <a:avLst/>
            <a:gdLst/>
            <a:ahLst/>
            <a:cxnLst/>
            <a:rect l="l" t="t" r="r" b="b"/>
            <a:pathLst>
              <a:path w="2002790" h="556260">
                <a:moveTo>
                  <a:pt x="0" y="0"/>
                </a:moveTo>
                <a:lnTo>
                  <a:pt x="8382" y="0"/>
                </a:lnTo>
                <a:lnTo>
                  <a:pt x="8382" y="556260"/>
                </a:lnTo>
                <a:lnTo>
                  <a:pt x="2002409" y="556260"/>
                </a:lnTo>
              </a:path>
            </a:pathLst>
          </a:custGeom>
          <a:ln w="19811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87823" y="2660904"/>
            <a:ext cx="219455" cy="2209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1446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明亮高效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92902" y="1464944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均匀明亮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2902" y="1959816"/>
            <a:ext cx="2764790" cy="66548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优质LED灯珠结合</a:t>
            </a:r>
            <a:r>
              <a:rPr dirty="0" sz="1400" spc="-10" b="1">
                <a:solidFill>
                  <a:srgbClr val="7E7E7E"/>
                </a:solidFill>
                <a:latin typeface="微软雅黑"/>
                <a:cs typeface="微软雅黑"/>
              </a:rPr>
              <a:t>PMMA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导</a:t>
            </a:r>
            <a:r>
              <a:rPr dirty="0" sz="1400" spc="-15" b="1">
                <a:solidFill>
                  <a:srgbClr val="7E7E7E"/>
                </a:solidFill>
                <a:latin typeface="微软雅黑"/>
                <a:cs typeface="微软雅黑"/>
              </a:rPr>
              <a:t>光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板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，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出光均匀明亮，耐黄化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05094" y="1905761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9891" y="1690116"/>
            <a:ext cx="4953000" cy="3834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71386" y="3186430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扎实耐用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1386" y="3538702"/>
            <a:ext cx="2026920" cy="66675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整灯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IP54</a:t>
            </a:r>
            <a:r>
              <a:rPr dirty="0" sz="1400" spc="-5">
                <a:solidFill>
                  <a:srgbClr val="414141"/>
                </a:solidFill>
                <a:latin typeface="微软雅黑"/>
                <a:cs typeface="微软雅黑"/>
              </a:rPr>
              <a:t>，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防尘防水更优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30000H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寿命，可靠耐用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2773" y="3608070"/>
            <a:ext cx="3757929" cy="0"/>
          </a:xfrm>
          <a:custGeom>
            <a:avLst/>
            <a:gdLst/>
            <a:ahLst/>
            <a:cxnLst/>
            <a:rect l="l" t="t" r="r" b="b"/>
            <a:pathLst>
              <a:path w="3757929" h="0">
                <a:moveTo>
                  <a:pt x="0" y="0"/>
                </a:moveTo>
                <a:lnTo>
                  <a:pt x="3757929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065391" y="4662627"/>
            <a:ext cx="111061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25" b="1">
                <a:solidFill>
                  <a:srgbClr val="7E7E7E"/>
                </a:solidFill>
                <a:latin typeface="微软雅黑"/>
                <a:cs typeface="微软雅黑"/>
              </a:rPr>
              <a:t>低碳健康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5391" y="5015788"/>
            <a:ext cx="359981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欧普自研驱动，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无频闪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结合</a:t>
            </a:r>
            <a:r>
              <a:rPr dirty="0" sz="1400" spc="-10" b="1">
                <a:solidFill>
                  <a:srgbClr val="00399D"/>
                </a:solidFill>
                <a:latin typeface="微软雅黑"/>
                <a:cs typeface="微软雅黑"/>
              </a:rPr>
              <a:t>RG0，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护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眼健康 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整灯光效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100lm/W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更节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能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省电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86778" y="5084826"/>
            <a:ext cx="3757929" cy="0"/>
          </a:xfrm>
          <a:custGeom>
            <a:avLst/>
            <a:gdLst/>
            <a:ahLst/>
            <a:cxnLst/>
            <a:rect l="l" t="t" r="r" b="b"/>
            <a:pathLst>
              <a:path w="3757929" h="0">
                <a:moveTo>
                  <a:pt x="0" y="0"/>
                </a:moveTo>
                <a:lnTo>
                  <a:pt x="3757929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11493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26028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10" b="0">
                <a:solidFill>
                  <a:srgbClr val="2C2C2C"/>
                </a:solidFill>
                <a:latin typeface="微软雅黑"/>
                <a:cs typeface="微软雅黑"/>
              </a:rPr>
              <a:t>L</a:t>
            </a:r>
            <a:r>
              <a:rPr dirty="0" u="none" sz="2800" b="0">
                <a:solidFill>
                  <a:srgbClr val="2C2C2C"/>
                </a:solidFill>
                <a:latin typeface="微软雅黑"/>
                <a:cs typeface="微软雅黑"/>
              </a:rPr>
              <a:t>E</a:t>
            </a:r>
            <a:r>
              <a:rPr dirty="0" u="none" sz="2800" spc="-10" b="0">
                <a:solidFill>
                  <a:srgbClr val="2C2C2C"/>
                </a:solidFill>
                <a:latin typeface="微软雅黑"/>
                <a:cs typeface="微软雅黑"/>
              </a:rPr>
              <a:t>D</a:t>
            </a: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洁净灯盘-尚</a:t>
            </a:r>
            <a:endParaRPr sz="2800">
              <a:latin typeface="微软雅黑"/>
              <a:cs typeface="微软雅黑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15175" y="1074419"/>
          <a:ext cx="10843260" cy="54209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175"/>
                <a:gridCol w="1955164"/>
                <a:gridCol w="2489835"/>
                <a:gridCol w="2489834"/>
                <a:gridCol w="2489834"/>
              </a:tblGrid>
              <a:tr h="364490">
                <a:tc gridSpan="5">
                  <a:txBody>
                    <a:bodyPr/>
                    <a:lstStyle/>
                    <a:p>
                      <a:pPr algn="ctr" marR="650240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LED洁净灯盘</a:t>
                      </a:r>
                      <a:r>
                        <a:rPr dirty="0" sz="1400" spc="-4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–</a:t>
                      </a: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尚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-</a:t>
                      </a:r>
                      <a:r>
                        <a:rPr dirty="0" sz="1400" spc="-3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产品参数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57785"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399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910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概述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型号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LDP0202501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2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793115" marR="774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0204001 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0204002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793115" marR="7740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0206001 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D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P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0206002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功率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25W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40W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60W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光通量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3,000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4,800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7,200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光学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色温</a:t>
                      </a:r>
                      <a:r>
                        <a:rPr dirty="0" sz="1200" spc="-10">
                          <a:latin typeface="微软雅黑"/>
                          <a:cs typeface="微软雅黑"/>
                        </a:rPr>
                        <a:t>（CCT）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4000K/5700</a:t>
                      </a:r>
                      <a:r>
                        <a:rPr dirty="0" sz="1200" spc="-5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K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显色指数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（Ra）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Ra＞80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90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防蓝光等级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latin typeface="微软雅黑"/>
                          <a:cs typeface="微软雅黑"/>
                        </a:rPr>
                        <a:t>RG0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电子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工作电压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latin typeface="微软雅黑"/>
                          <a:cs typeface="微软雅黑"/>
                        </a:rPr>
                        <a:t>220Vac±20%；50Hz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PF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&gt;0.9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频闪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无频闪，频闪比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&lt;1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防触电等级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灯盘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：ClassⅢ；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电子件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：ClassⅡ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结构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防护等级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灯盘：IP65</a:t>
                      </a:r>
                      <a:r>
                        <a:rPr dirty="0" sz="1200" spc="-2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电源：IP20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5910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规格尺寸（长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×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宽×高）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300×600×13.5</a:t>
                      </a:r>
                      <a:r>
                        <a:rPr dirty="0" sz="1200" spc="-5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13335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600×600×13.5</a:t>
                      </a:r>
                      <a:r>
                        <a:rPr dirty="0" sz="1200" spc="-6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50990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300×1200×13.5</a:t>
                      </a:r>
                      <a:r>
                        <a:rPr dirty="0" sz="1200" spc="-6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600×600×13.5</a:t>
                      </a:r>
                      <a:r>
                        <a:rPr dirty="0" sz="1200" spc="-6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 marL="509905">
                        <a:lnSpc>
                          <a:spcPct val="100000"/>
                        </a:lnSpc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300×1200×13.5</a:t>
                      </a:r>
                      <a:r>
                        <a:rPr dirty="0" sz="1200" spc="-6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安装方式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吸顶（螺钉固定配胶塞）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206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质量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ts val="500"/>
                        </a:lnSpc>
                        <a:spcBef>
                          <a:spcPts val="5"/>
                        </a:spcBef>
                      </a:pPr>
                      <a:r>
                        <a:rPr dirty="0" sz="850" spc="-5" b="0">
                          <a:solidFill>
                            <a:srgbClr val="404040"/>
                          </a:solidFill>
                          <a:latin typeface="Microsoft YaHei UI Light"/>
                          <a:cs typeface="Microsoft YaHei UI Light"/>
                        </a:rPr>
                        <a:t>PPLE.COM</a:t>
                      </a:r>
                      <a:endParaRPr sz="850">
                        <a:latin typeface="Microsoft YaHei UI Light"/>
                        <a:cs typeface="Microsoft YaHei UI Light"/>
                      </a:endParaRPr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灯具寿命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50000hrs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（@LN70/B50）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工作环境</a:t>
                      </a:r>
                      <a:r>
                        <a:rPr dirty="0" sz="1200" spc="-40">
                          <a:latin typeface="微软雅黑"/>
                          <a:cs typeface="微软雅黑"/>
                        </a:rPr>
                        <a:t>（Ta）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-20~40℃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1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安全认证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dirty="0" sz="1200" spc="-35">
                          <a:latin typeface="微软雅黑"/>
                          <a:cs typeface="微软雅黑"/>
                        </a:rPr>
                        <a:t>CCC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143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32459" y="4573783"/>
            <a:ext cx="4924425" cy="1488440"/>
          </a:xfrm>
          <a:prstGeom prst="rect">
            <a:avLst/>
          </a:prstGeom>
        </p:spPr>
        <p:txBody>
          <a:bodyPr wrap="square" lIns="0" tIns="133985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5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超薄流线型设计防积灰，适用于水</a:t>
            </a:r>
            <a:r>
              <a:rPr dirty="0" sz="1600">
                <a:latin typeface="微软雅黑"/>
                <a:cs typeface="微软雅黑"/>
              </a:rPr>
              <a:t>平</a:t>
            </a:r>
            <a:r>
              <a:rPr dirty="0" sz="1600" spc="-5">
                <a:latin typeface="微软雅黑"/>
                <a:cs typeface="微软雅黑"/>
              </a:rPr>
              <a:t>单向</a:t>
            </a:r>
            <a:r>
              <a:rPr dirty="0" sz="1600">
                <a:latin typeface="微软雅黑"/>
                <a:cs typeface="微软雅黑"/>
              </a:rPr>
              <a:t>流</a:t>
            </a:r>
            <a:r>
              <a:rPr dirty="0" sz="1600" spc="-5">
                <a:latin typeface="微软雅黑"/>
                <a:cs typeface="微软雅黑"/>
              </a:rPr>
              <a:t>洁净室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10">
                <a:latin typeface="微软雅黑"/>
                <a:cs typeface="微软雅黑"/>
              </a:rPr>
              <a:t>灯盘</a:t>
            </a:r>
            <a:r>
              <a:rPr dirty="0" sz="1600" spc="-10" b="1">
                <a:latin typeface="微软雅黑"/>
                <a:cs typeface="微软雅黑"/>
              </a:rPr>
              <a:t>IP65级</a:t>
            </a:r>
            <a:r>
              <a:rPr dirty="0" sz="1600" spc="-10">
                <a:latin typeface="微软雅黑"/>
                <a:cs typeface="微软雅黑"/>
              </a:rPr>
              <a:t>防水防尘，适用更多</a:t>
            </a:r>
            <a:r>
              <a:rPr dirty="0" sz="1600" spc="-5">
                <a:latin typeface="微软雅黑"/>
                <a:cs typeface="微软雅黑"/>
              </a:rPr>
              <a:t>洁</a:t>
            </a:r>
            <a:r>
              <a:rPr dirty="0" sz="1600" spc="-10">
                <a:latin typeface="微软雅黑"/>
                <a:cs typeface="微软雅黑"/>
              </a:rPr>
              <a:t>净空间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螺钉式吸顶，与天花缝隙&lt;1mm，配合点</a:t>
            </a:r>
            <a:r>
              <a:rPr dirty="0" sz="1600">
                <a:latin typeface="微软雅黑"/>
                <a:cs typeface="微软雅黑"/>
              </a:rPr>
              <a:t>胶</a:t>
            </a:r>
            <a:r>
              <a:rPr dirty="0" sz="1600" spc="-5">
                <a:latin typeface="微软雅黑"/>
                <a:cs typeface="微软雅黑"/>
              </a:rPr>
              <a:t>更密封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采用优质</a:t>
            </a:r>
            <a:r>
              <a:rPr dirty="0" sz="1600" spc="-10">
                <a:latin typeface="微软雅黑"/>
                <a:cs typeface="微软雅黑"/>
              </a:rPr>
              <a:t>LED</a:t>
            </a:r>
            <a:r>
              <a:rPr dirty="0" sz="1600" spc="-5">
                <a:latin typeface="微软雅黑"/>
                <a:cs typeface="微软雅黑"/>
              </a:rPr>
              <a:t>灯珠</a:t>
            </a:r>
            <a:r>
              <a:rPr dirty="0" sz="1600" spc="-10">
                <a:latin typeface="微软雅黑"/>
                <a:cs typeface="微软雅黑"/>
              </a:rPr>
              <a:t>，</a:t>
            </a:r>
            <a:r>
              <a:rPr dirty="0" sz="1600" spc="-10" b="1">
                <a:latin typeface="微软雅黑"/>
                <a:cs typeface="微软雅黑"/>
              </a:rPr>
              <a:t>PMMA</a:t>
            </a:r>
            <a:r>
              <a:rPr dirty="0" sz="1600" spc="-5" b="1">
                <a:latin typeface="微软雅黑"/>
                <a:cs typeface="微软雅黑"/>
              </a:rPr>
              <a:t>导</a:t>
            </a:r>
            <a:r>
              <a:rPr dirty="0" sz="1600" b="1">
                <a:latin typeface="微软雅黑"/>
                <a:cs typeface="微软雅黑"/>
              </a:rPr>
              <a:t>光</a:t>
            </a:r>
            <a:r>
              <a:rPr dirty="0" sz="1600" spc="-5" b="1">
                <a:latin typeface="微软雅黑"/>
                <a:cs typeface="微软雅黑"/>
              </a:rPr>
              <a:t>板</a:t>
            </a:r>
            <a:r>
              <a:rPr dirty="0" sz="1600" spc="-5">
                <a:latin typeface="微软雅黑"/>
                <a:cs typeface="微软雅黑"/>
              </a:rPr>
              <a:t>，</a:t>
            </a:r>
            <a:r>
              <a:rPr dirty="0" sz="1600">
                <a:latin typeface="微软雅黑"/>
                <a:cs typeface="微软雅黑"/>
              </a:rPr>
              <a:t>明</a:t>
            </a:r>
            <a:r>
              <a:rPr dirty="0" sz="1600" spc="-5">
                <a:latin typeface="微软雅黑"/>
                <a:cs typeface="微软雅黑"/>
              </a:rPr>
              <a:t>亮均</a:t>
            </a:r>
            <a:r>
              <a:rPr dirty="0" sz="1600">
                <a:latin typeface="微软雅黑"/>
                <a:cs typeface="微软雅黑"/>
              </a:rPr>
              <a:t>匀</a:t>
            </a:r>
            <a:r>
              <a:rPr dirty="0" sz="1600" spc="-5">
                <a:latin typeface="微软雅黑"/>
                <a:cs typeface="微软雅黑"/>
              </a:rPr>
              <a:t>耐黄化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64655" y="4559960"/>
            <a:ext cx="4589780" cy="148907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84785" indent="-172085">
              <a:lnSpc>
                <a:spcPct val="100000"/>
              </a:lnSpc>
              <a:spcBef>
                <a:spcPts val="10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光效高达</a:t>
            </a:r>
            <a:r>
              <a:rPr dirty="0" sz="1600" spc="-5" b="1">
                <a:latin typeface="微软雅黑"/>
                <a:cs typeface="微软雅黑"/>
              </a:rPr>
              <a:t>120lm/w</a:t>
            </a:r>
            <a:r>
              <a:rPr dirty="0" sz="1600" spc="-5">
                <a:latin typeface="微软雅黑"/>
                <a:cs typeface="微软雅黑"/>
              </a:rPr>
              <a:t>，节能</a:t>
            </a:r>
            <a:r>
              <a:rPr dirty="0" sz="1600">
                <a:latin typeface="微软雅黑"/>
                <a:cs typeface="微软雅黑"/>
              </a:rPr>
              <a:t>更</a:t>
            </a:r>
            <a:r>
              <a:rPr dirty="0" sz="1600" spc="-5">
                <a:latin typeface="微软雅黑"/>
                <a:cs typeface="微软雅黑"/>
              </a:rPr>
              <a:t>省电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高达</a:t>
            </a:r>
            <a:r>
              <a:rPr dirty="0" sz="1600" spc="-5" b="1">
                <a:latin typeface="微软雅黑"/>
                <a:cs typeface="微软雅黑"/>
              </a:rPr>
              <a:t>50000hrs</a:t>
            </a:r>
            <a:r>
              <a:rPr dirty="0" sz="1600" spc="-5">
                <a:latin typeface="微软雅黑"/>
                <a:cs typeface="微软雅黑"/>
              </a:rPr>
              <a:t>使用寿命，扎实耐</a:t>
            </a:r>
            <a:r>
              <a:rPr dirty="0" sz="1600">
                <a:latin typeface="微软雅黑"/>
                <a:cs typeface="微软雅黑"/>
              </a:rPr>
              <a:t>用</a:t>
            </a:r>
            <a:r>
              <a:rPr dirty="0" sz="1600" spc="-5">
                <a:latin typeface="微软雅黑"/>
                <a:cs typeface="微软雅黑"/>
              </a:rPr>
              <a:t>降低</a:t>
            </a:r>
            <a:r>
              <a:rPr dirty="0" sz="1600">
                <a:latin typeface="微软雅黑"/>
                <a:cs typeface="微软雅黑"/>
              </a:rPr>
              <a:t>运</a:t>
            </a:r>
            <a:r>
              <a:rPr dirty="0" sz="1600" spc="-5">
                <a:latin typeface="微软雅黑"/>
                <a:cs typeface="微软雅黑"/>
              </a:rPr>
              <a:t>维成本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灯盘与驱动快接对插，方便驱动安</a:t>
            </a:r>
            <a:r>
              <a:rPr dirty="0" sz="1600">
                <a:latin typeface="微软雅黑"/>
                <a:cs typeface="微软雅黑"/>
              </a:rPr>
              <a:t>装</a:t>
            </a:r>
            <a:r>
              <a:rPr dirty="0" sz="1600" spc="-5">
                <a:latin typeface="微软雅黑"/>
                <a:cs typeface="微软雅黑"/>
              </a:rPr>
              <a:t>更换</a:t>
            </a:r>
            <a:endParaRPr sz="1600">
              <a:latin typeface="微软雅黑"/>
              <a:cs typeface="微软雅黑"/>
            </a:endParaRPr>
          </a:p>
          <a:p>
            <a:pPr marL="184785" indent="-172085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185420" algn="l"/>
              </a:tabLst>
            </a:pPr>
            <a:r>
              <a:rPr dirty="0" sz="1600" spc="-5">
                <a:latin typeface="微软雅黑"/>
                <a:cs typeface="微软雅黑"/>
              </a:rPr>
              <a:t>功率25W-60W可覆盖大部分洁净场景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73608" y="4456176"/>
            <a:ext cx="10985500" cy="1816735"/>
          </a:xfrm>
          <a:custGeom>
            <a:avLst/>
            <a:gdLst/>
            <a:ahLst/>
            <a:cxnLst/>
            <a:rect l="l" t="t" r="r" b="b"/>
            <a:pathLst>
              <a:path w="10985500" h="1816735">
                <a:moveTo>
                  <a:pt x="0" y="302768"/>
                </a:moveTo>
                <a:lnTo>
                  <a:pt x="3962" y="253646"/>
                </a:lnTo>
                <a:lnTo>
                  <a:pt x="15435" y="207052"/>
                </a:lnTo>
                <a:lnTo>
                  <a:pt x="33795" y="163608"/>
                </a:lnTo>
                <a:lnTo>
                  <a:pt x="58418" y="123937"/>
                </a:lnTo>
                <a:lnTo>
                  <a:pt x="88680" y="88661"/>
                </a:lnTo>
                <a:lnTo>
                  <a:pt x="123959" y="58403"/>
                </a:lnTo>
                <a:lnTo>
                  <a:pt x="163631" y="33785"/>
                </a:lnTo>
                <a:lnTo>
                  <a:pt x="207072" y="15431"/>
                </a:lnTo>
                <a:lnTo>
                  <a:pt x="253658" y="3961"/>
                </a:lnTo>
                <a:lnTo>
                  <a:pt x="302767" y="0"/>
                </a:lnTo>
                <a:lnTo>
                  <a:pt x="10682224" y="0"/>
                </a:lnTo>
                <a:lnTo>
                  <a:pt x="10731345" y="3961"/>
                </a:lnTo>
                <a:lnTo>
                  <a:pt x="10777939" y="15431"/>
                </a:lnTo>
                <a:lnTo>
                  <a:pt x="10821383" y="33785"/>
                </a:lnTo>
                <a:lnTo>
                  <a:pt x="10861054" y="58403"/>
                </a:lnTo>
                <a:lnTo>
                  <a:pt x="10896330" y="88661"/>
                </a:lnTo>
                <a:lnTo>
                  <a:pt x="10926588" y="123937"/>
                </a:lnTo>
                <a:lnTo>
                  <a:pt x="10951206" y="163608"/>
                </a:lnTo>
                <a:lnTo>
                  <a:pt x="10969560" y="207052"/>
                </a:lnTo>
                <a:lnTo>
                  <a:pt x="10981030" y="253646"/>
                </a:lnTo>
                <a:lnTo>
                  <a:pt x="10984992" y="302768"/>
                </a:lnTo>
                <a:lnTo>
                  <a:pt x="10984992" y="1513827"/>
                </a:lnTo>
                <a:lnTo>
                  <a:pt x="10981030" y="1562939"/>
                </a:lnTo>
                <a:lnTo>
                  <a:pt x="10969560" y="1609529"/>
                </a:lnTo>
                <a:lnTo>
                  <a:pt x="10951206" y="1652972"/>
                </a:lnTo>
                <a:lnTo>
                  <a:pt x="10926588" y="1692645"/>
                </a:lnTo>
                <a:lnTo>
                  <a:pt x="10896330" y="1727925"/>
                </a:lnTo>
                <a:lnTo>
                  <a:pt x="10861054" y="1758188"/>
                </a:lnTo>
                <a:lnTo>
                  <a:pt x="10821383" y="1782812"/>
                </a:lnTo>
                <a:lnTo>
                  <a:pt x="10777939" y="1801172"/>
                </a:lnTo>
                <a:lnTo>
                  <a:pt x="10731345" y="1812645"/>
                </a:lnTo>
                <a:lnTo>
                  <a:pt x="10682224" y="1816608"/>
                </a:lnTo>
                <a:lnTo>
                  <a:pt x="302767" y="1816608"/>
                </a:lnTo>
                <a:lnTo>
                  <a:pt x="253658" y="1812645"/>
                </a:lnTo>
                <a:lnTo>
                  <a:pt x="207072" y="1801172"/>
                </a:lnTo>
                <a:lnTo>
                  <a:pt x="163631" y="1782812"/>
                </a:lnTo>
                <a:lnTo>
                  <a:pt x="123959" y="1758188"/>
                </a:lnTo>
                <a:lnTo>
                  <a:pt x="88680" y="1727925"/>
                </a:lnTo>
                <a:lnTo>
                  <a:pt x="58418" y="1692645"/>
                </a:lnTo>
                <a:lnTo>
                  <a:pt x="33795" y="1652972"/>
                </a:lnTo>
                <a:lnTo>
                  <a:pt x="15435" y="1609529"/>
                </a:lnTo>
                <a:lnTo>
                  <a:pt x="3962" y="1562939"/>
                </a:lnTo>
                <a:lnTo>
                  <a:pt x="0" y="1513827"/>
                </a:lnTo>
                <a:lnTo>
                  <a:pt x="0" y="302768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61742" y="337185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产品介绍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337561" y="3639439"/>
            <a:ext cx="760730" cy="5740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20"/>
              </a:spcBef>
            </a:pPr>
            <a:r>
              <a:rPr dirty="0" sz="1200">
                <a:latin typeface="微软雅黑"/>
                <a:cs typeface="微软雅黑"/>
              </a:rPr>
              <a:t>6060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微软雅黑"/>
                <a:cs typeface="微软雅黑"/>
              </a:rPr>
              <a:t>40W</a:t>
            </a:r>
            <a:r>
              <a:rPr dirty="0" sz="1200" spc="0">
                <a:latin typeface="微软雅黑"/>
                <a:cs typeface="微软雅黑"/>
              </a:rPr>
              <a:t>/</a:t>
            </a:r>
            <a:r>
              <a:rPr dirty="0" sz="1200">
                <a:latin typeface="微软雅黑"/>
                <a:cs typeface="微软雅黑"/>
              </a:rPr>
              <a:t>60W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37378" y="3632961"/>
            <a:ext cx="762000" cy="574040"/>
          </a:xfrm>
          <a:prstGeom prst="rect">
            <a:avLst/>
          </a:prstGeom>
        </p:spPr>
        <p:txBody>
          <a:bodyPr wrap="square" lIns="0" tIns="104139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19"/>
              </a:spcBef>
            </a:pPr>
            <a:r>
              <a:rPr dirty="0" sz="1200">
                <a:latin typeface="微软雅黑"/>
                <a:cs typeface="微软雅黑"/>
              </a:rPr>
              <a:t>3012</a:t>
            </a:r>
            <a:endParaRPr sz="12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latin typeface="微软雅黑"/>
                <a:cs typeface="微软雅黑"/>
              </a:rPr>
              <a:t>40W/60W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908542" y="3605911"/>
            <a:ext cx="385445" cy="574040"/>
          </a:xfrm>
          <a:prstGeom prst="rect">
            <a:avLst/>
          </a:prstGeom>
        </p:spPr>
        <p:txBody>
          <a:bodyPr wrap="square" lIns="0" tIns="1041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200">
                <a:latin typeface="微软雅黑"/>
                <a:cs typeface="微软雅黑"/>
              </a:rPr>
              <a:t>3060</a:t>
            </a:r>
            <a:endParaRPr sz="1200">
              <a:latin typeface="微软雅黑"/>
              <a:cs typeface="微软雅黑"/>
            </a:endParaRPr>
          </a:p>
          <a:p>
            <a:pPr marL="24765">
              <a:lnSpc>
                <a:spcPct val="100000"/>
              </a:lnSpc>
              <a:spcBef>
                <a:spcPts val="720"/>
              </a:spcBef>
            </a:pPr>
            <a:r>
              <a:rPr dirty="0" sz="1200">
                <a:latin typeface="微软雅黑"/>
                <a:cs typeface="微软雅黑"/>
              </a:rPr>
              <a:t>25W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206995" y="1528572"/>
            <a:ext cx="3787140" cy="2125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863340" y="1520952"/>
            <a:ext cx="3785616" cy="21244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3608" y="1511808"/>
            <a:ext cx="3785616" cy="21259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1446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洁净专设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825109" y="1332102"/>
            <a:ext cx="1111250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外观设计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25109" y="1725904"/>
            <a:ext cx="2689860" cy="665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13mm超薄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+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斜边边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框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流线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型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设计 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可有效防止积灰，易于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清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洁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851397" y="1748789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45008" y="1549908"/>
            <a:ext cx="4652772" cy="378409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533388" y="4788408"/>
            <a:ext cx="2081783" cy="18790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615171" y="4788408"/>
            <a:ext cx="1752600" cy="16764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605143" y="6361887"/>
            <a:ext cx="13779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普通灯盘&amp;直角边框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543670" y="6383223"/>
            <a:ext cx="161798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佳</a:t>
            </a:r>
            <a:r>
              <a:rPr dirty="0" sz="1200" spc="-5">
                <a:latin typeface="微软雅黑"/>
                <a:cs typeface="微软雅黑"/>
              </a:rPr>
              <a:t>II</a:t>
            </a:r>
            <a:r>
              <a:rPr dirty="0" sz="1200">
                <a:latin typeface="微软雅黑"/>
                <a:cs typeface="微软雅黑"/>
              </a:rPr>
              <a:t>洁净灯盘</a:t>
            </a:r>
            <a:r>
              <a:rPr dirty="0" sz="1200" spc="-5">
                <a:latin typeface="微软雅黑"/>
                <a:cs typeface="微软雅黑"/>
              </a:rPr>
              <a:t>&amp;</a:t>
            </a:r>
            <a:r>
              <a:rPr dirty="0" sz="1200">
                <a:latin typeface="微软雅黑"/>
                <a:cs typeface="微软雅黑"/>
              </a:rPr>
              <a:t>斜角边框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940677" y="3071875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安装设计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940677" y="3465677"/>
            <a:ext cx="3470275" cy="66548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螺钉式吸顶安装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+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背板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设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计，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安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装便捷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灯具与天花缝隙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&lt;1mm，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密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封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防尘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效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果更佳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966966" y="3487673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18103" y="1550669"/>
            <a:ext cx="2004695" cy="1021715"/>
          </a:xfrm>
          <a:custGeom>
            <a:avLst/>
            <a:gdLst/>
            <a:ahLst/>
            <a:cxnLst/>
            <a:rect l="l" t="t" r="r" b="b"/>
            <a:pathLst>
              <a:path w="2004695" h="1021714">
                <a:moveTo>
                  <a:pt x="2159" y="1021714"/>
                </a:moveTo>
                <a:lnTo>
                  <a:pt x="0" y="1021714"/>
                </a:lnTo>
                <a:lnTo>
                  <a:pt x="0" y="0"/>
                </a:lnTo>
                <a:lnTo>
                  <a:pt x="2004568" y="0"/>
                </a:lnTo>
              </a:path>
            </a:pathLst>
          </a:custGeom>
          <a:ln w="1981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509771" y="2502407"/>
            <a:ext cx="219455" cy="22097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73929" y="2763773"/>
            <a:ext cx="2002789" cy="556260"/>
          </a:xfrm>
          <a:custGeom>
            <a:avLst/>
            <a:gdLst/>
            <a:ahLst/>
            <a:cxnLst/>
            <a:rect l="l" t="t" r="r" b="b"/>
            <a:pathLst>
              <a:path w="2002790" h="556260">
                <a:moveTo>
                  <a:pt x="0" y="0"/>
                </a:moveTo>
                <a:lnTo>
                  <a:pt x="8382" y="0"/>
                </a:lnTo>
                <a:lnTo>
                  <a:pt x="8382" y="556260"/>
                </a:lnTo>
                <a:lnTo>
                  <a:pt x="2002409" y="556260"/>
                </a:lnTo>
              </a:path>
            </a:pathLst>
          </a:custGeom>
          <a:ln w="19811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687823" y="2660904"/>
            <a:ext cx="219455" cy="22098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14465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明亮高效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692902" y="1464944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均匀明亮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92902" y="1959816"/>
            <a:ext cx="2764790" cy="66548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优质LED灯珠结合</a:t>
            </a:r>
            <a:r>
              <a:rPr dirty="0" sz="1400" spc="-10" b="1">
                <a:solidFill>
                  <a:srgbClr val="7E7E7E"/>
                </a:solidFill>
                <a:latin typeface="微软雅黑"/>
                <a:cs typeface="微软雅黑"/>
              </a:rPr>
              <a:t>PMMA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导</a:t>
            </a:r>
            <a:r>
              <a:rPr dirty="0" sz="1400" spc="-15" b="1">
                <a:solidFill>
                  <a:srgbClr val="7E7E7E"/>
                </a:solidFill>
                <a:latin typeface="微软雅黑"/>
                <a:cs typeface="微软雅黑"/>
              </a:rPr>
              <a:t>光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板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，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出光均匀明亮，耐黄化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05094" y="1905761"/>
            <a:ext cx="3213735" cy="0"/>
          </a:xfrm>
          <a:custGeom>
            <a:avLst/>
            <a:gdLst/>
            <a:ahLst/>
            <a:cxnLst/>
            <a:rect l="l" t="t" r="r" b="b"/>
            <a:pathLst>
              <a:path w="3213734" h="0">
                <a:moveTo>
                  <a:pt x="0" y="0"/>
                </a:moveTo>
                <a:lnTo>
                  <a:pt x="3213480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59891" y="1690116"/>
            <a:ext cx="4953000" cy="38343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71386" y="3186430"/>
            <a:ext cx="1110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扎实耐用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71386" y="3538702"/>
            <a:ext cx="2026920" cy="66675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整灯</a:t>
            </a: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IP65</a:t>
            </a:r>
            <a:r>
              <a:rPr dirty="0" sz="1400" spc="-5">
                <a:solidFill>
                  <a:srgbClr val="414141"/>
                </a:solidFill>
                <a:latin typeface="微软雅黑"/>
                <a:cs typeface="微软雅黑"/>
              </a:rPr>
              <a:t>，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防尘防水更优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1400" spc="-5" b="1">
                <a:solidFill>
                  <a:srgbClr val="00399D"/>
                </a:solidFill>
                <a:latin typeface="微软雅黑"/>
                <a:cs typeface="微软雅黑"/>
              </a:rPr>
              <a:t>50000H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寿命，可靠耐用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192773" y="3608070"/>
            <a:ext cx="3757929" cy="0"/>
          </a:xfrm>
          <a:custGeom>
            <a:avLst/>
            <a:gdLst/>
            <a:ahLst/>
            <a:cxnLst/>
            <a:rect l="l" t="t" r="r" b="b"/>
            <a:pathLst>
              <a:path w="3757929" h="0">
                <a:moveTo>
                  <a:pt x="0" y="0"/>
                </a:moveTo>
                <a:lnTo>
                  <a:pt x="3757929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065391" y="4662627"/>
            <a:ext cx="111061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25" b="1">
                <a:solidFill>
                  <a:srgbClr val="7E7E7E"/>
                </a:solidFill>
                <a:latin typeface="微软雅黑"/>
                <a:cs typeface="微软雅黑"/>
              </a:rPr>
              <a:t>低碳健康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5391" y="5015788"/>
            <a:ext cx="3599815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欧普自研驱动，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无频闪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结合</a:t>
            </a:r>
            <a:r>
              <a:rPr dirty="0" sz="1400" spc="-10" b="1">
                <a:solidFill>
                  <a:srgbClr val="00399D"/>
                </a:solidFill>
                <a:latin typeface="微软雅黑"/>
                <a:cs typeface="微软雅黑"/>
              </a:rPr>
              <a:t>RG0，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护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眼健康 </a:t>
            </a:r>
            <a:r>
              <a:rPr dirty="0" sz="1400" b="1">
                <a:solidFill>
                  <a:srgbClr val="7E7E7E"/>
                </a:solidFill>
                <a:latin typeface="微软雅黑"/>
                <a:cs typeface="微软雅黑"/>
              </a:rPr>
              <a:t>整灯光效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120lm/W</a:t>
            </a:r>
            <a:r>
              <a:rPr dirty="0" sz="1400">
                <a:solidFill>
                  <a:srgbClr val="414141"/>
                </a:solidFill>
                <a:latin typeface="微软雅黑"/>
                <a:cs typeface="微软雅黑"/>
              </a:rPr>
              <a:t>，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更节</a:t>
            </a:r>
            <a:r>
              <a:rPr dirty="0" sz="1400" spc="-15" b="1">
                <a:solidFill>
                  <a:srgbClr val="00399D"/>
                </a:solidFill>
                <a:latin typeface="微软雅黑"/>
                <a:cs typeface="微软雅黑"/>
              </a:rPr>
              <a:t>能</a:t>
            </a:r>
            <a:r>
              <a:rPr dirty="0" sz="1400" b="1">
                <a:solidFill>
                  <a:srgbClr val="00399D"/>
                </a:solidFill>
                <a:latin typeface="微软雅黑"/>
                <a:cs typeface="微软雅黑"/>
              </a:rPr>
              <a:t>省电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986778" y="5084826"/>
            <a:ext cx="3757929" cy="0"/>
          </a:xfrm>
          <a:custGeom>
            <a:avLst/>
            <a:gdLst/>
            <a:ahLst/>
            <a:cxnLst/>
            <a:rect l="l" t="t" r="r" b="b"/>
            <a:pathLst>
              <a:path w="3757929" h="0">
                <a:moveTo>
                  <a:pt x="0" y="0"/>
                </a:moveTo>
                <a:lnTo>
                  <a:pt x="3757929" y="0"/>
                </a:lnTo>
              </a:path>
            </a:pathLst>
          </a:custGeom>
          <a:ln w="28956">
            <a:solidFill>
              <a:srgbClr val="ABABAB"/>
            </a:solidFill>
          </a:ln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8591" y="172593"/>
            <a:ext cx="329501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>
                <a:solidFill>
                  <a:srgbClr val="000000"/>
                </a:solidFill>
              </a:rPr>
              <a:t>LED洁净支架</a:t>
            </a:r>
            <a:r>
              <a:rPr dirty="0" u="none" spc="-6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–</a:t>
            </a:r>
            <a:r>
              <a:rPr dirty="0" u="none" spc="-45">
                <a:solidFill>
                  <a:srgbClr val="000000"/>
                </a:solidFill>
              </a:rPr>
              <a:t> </a:t>
            </a:r>
            <a:r>
              <a:rPr dirty="0" u="none">
                <a:solidFill>
                  <a:srgbClr val="000000"/>
                </a:solidFill>
              </a:rPr>
              <a:t>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6568" y="5510077"/>
            <a:ext cx="1121410" cy="10350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1850" spc="15">
                <a:solidFill>
                  <a:srgbClr val="0046AA"/>
                </a:solidFill>
                <a:latin typeface="微软雅黑"/>
                <a:cs typeface="微软雅黑"/>
              </a:rPr>
              <a:t>核心卖点</a:t>
            </a:r>
            <a:endParaRPr sz="18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1850" spc="15">
                <a:solidFill>
                  <a:srgbClr val="0046AA"/>
                </a:solidFill>
                <a:latin typeface="微软雅黑"/>
                <a:cs typeface="微软雅黑"/>
              </a:rPr>
              <a:t>价值主张</a:t>
            </a:r>
            <a:endParaRPr sz="1850">
              <a:latin typeface="微软雅黑"/>
              <a:cs typeface="微软雅黑"/>
            </a:endParaRPr>
          </a:p>
          <a:p>
            <a:pPr marL="281940">
              <a:lnSpc>
                <a:spcPct val="100000"/>
              </a:lnSpc>
              <a:spcBef>
                <a:spcPts val="944"/>
              </a:spcBef>
            </a:pPr>
            <a:r>
              <a:rPr dirty="0" baseline="-6535" sz="1275" spc="-367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</a:t>
            </a:r>
            <a:r>
              <a:rPr dirty="0" sz="1000" spc="-245" b="1">
                <a:solidFill>
                  <a:srgbClr val="C6DFFA"/>
                </a:solidFill>
                <a:latin typeface="Arial"/>
                <a:cs typeface="Arial"/>
              </a:rPr>
              <a:t>O</a:t>
            </a:r>
            <a:r>
              <a:rPr dirty="0" baseline="-6535" sz="1275" spc="-367" b="0">
                <a:solidFill>
                  <a:srgbClr val="404040"/>
                </a:solidFill>
                <a:latin typeface="Microsoft YaHei UI Light"/>
                <a:cs typeface="Microsoft YaHei UI Light"/>
              </a:rPr>
              <a:t>PP</a:t>
            </a:r>
            <a:r>
              <a:rPr dirty="0" sz="1000" spc="-245" b="1">
                <a:solidFill>
                  <a:srgbClr val="C6DFFA"/>
                </a:solidFill>
                <a:latin typeface="Arial"/>
                <a:cs typeface="Arial"/>
              </a:rPr>
              <a:t>P</a:t>
            </a:r>
            <a:r>
              <a:rPr dirty="0" baseline="-6535" sz="1275" spc="-367" b="0">
                <a:solidFill>
                  <a:srgbClr val="404040"/>
                </a:solidFill>
                <a:latin typeface="Microsoft YaHei UI Light"/>
                <a:cs typeface="Microsoft YaHei UI Light"/>
              </a:rPr>
              <a:t>L</a:t>
            </a:r>
            <a:r>
              <a:rPr dirty="0" sz="1000" spc="-245" b="1">
                <a:solidFill>
                  <a:srgbClr val="C6DFFA"/>
                </a:solidFill>
                <a:latin typeface="Arial"/>
                <a:cs typeface="Arial"/>
              </a:rPr>
              <a:t>P</a:t>
            </a:r>
            <a:r>
              <a:rPr dirty="0" baseline="-6535" sz="1275" spc="-367" b="0">
                <a:solidFill>
                  <a:srgbClr val="404040"/>
                </a:solidFill>
                <a:latin typeface="Microsoft YaHei UI Light"/>
                <a:cs typeface="Microsoft YaHei UI Light"/>
              </a:rPr>
              <a:t>E.</a:t>
            </a:r>
            <a:r>
              <a:rPr dirty="0" sz="1000" spc="-245" b="1">
                <a:solidFill>
                  <a:srgbClr val="C6DFFA"/>
                </a:solidFill>
                <a:latin typeface="Arial"/>
                <a:cs typeface="Arial"/>
              </a:rPr>
              <a:t>L</a:t>
            </a:r>
            <a:r>
              <a:rPr dirty="0" baseline="-6535" sz="1275" spc="-367" b="0">
                <a:solidFill>
                  <a:srgbClr val="404040"/>
                </a:solidFill>
                <a:latin typeface="Microsoft YaHei UI Light"/>
                <a:cs typeface="Microsoft YaHei UI Light"/>
              </a:rPr>
              <a:t>C</a:t>
            </a:r>
            <a:r>
              <a:rPr dirty="0" sz="1000" spc="-245" b="1">
                <a:solidFill>
                  <a:srgbClr val="C6DFFA"/>
                </a:solidFill>
                <a:latin typeface="Arial"/>
                <a:cs typeface="Arial"/>
              </a:rPr>
              <a:t>E</a:t>
            </a:r>
            <a:r>
              <a:rPr dirty="0" baseline="-6535" sz="1275" spc="-367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</a:t>
            </a:r>
            <a:r>
              <a:rPr dirty="0" sz="1000" spc="-245" b="1">
                <a:solidFill>
                  <a:srgbClr val="C6DFFA"/>
                </a:solidFill>
                <a:latin typeface="Arial"/>
                <a:cs typeface="Arial"/>
              </a:rPr>
              <a:t>.</a:t>
            </a:r>
            <a:r>
              <a:rPr dirty="0" baseline="-6535" sz="1275" spc="-367" b="0">
                <a:solidFill>
                  <a:srgbClr val="404040"/>
                </a:solidFill>
                <a:latin typeface="Microsoft YaHei UI Light"/>
                <a:cs typeface="Microsoft YaHei UI Light"/>
              </a:rPr>
              <a:t>M</a:t>
            </a:r>
            <a:r>
              <a:rPr dirty="0" sz="1000" spc="-245" b="1">
                <a:solidFill>
                  <a:srgbClr val="C6DFFA"/>
                </a:solidFill>
                <a:latin typeface="Arial"/>
                <a:cs typeface="Arial"/>
              </a:rPr>
              <a:t>COM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377176" y="1522857"/>
          <a:ext cx="4255770" cy="4917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8235"/>
                <a:gridCol w="3118485"/>
              </a:tblGrid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项目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0915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5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参数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0C0915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功率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14/27/40/22W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功率因素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34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0.95（</a:t>
                      </a:r>
                      <a:r>
                        <a:rPr dirty="0" sz="1300" spc="-5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无频闪）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光通量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2/4/6/2.2K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光效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150lm/W/110lm/W（黄光）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色温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5700K</a:t>
                      </a:r>
                      <a:r>
                        <a:rPr dirty="0" sz="1300" spc="-5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、</a:t>
                      </a: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4000K</a:t>
                      </a:r>
                      <a:r>
                        <a:rPr dirty="0" sz="1300" spc="-5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、黄光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显色指数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5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Ra80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00" spc="-5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寿命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dirty="0" sz="1300" spc="-5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50000hrs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6985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光束角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150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防护等级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1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IP40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材质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5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双色共挤</a:t>
                      </a: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PC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尺寸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6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1200/1500*</a:t>
                      </a:r>
                      <a:r>
                        <a:rPr dirty="0" sz="1300" spc="-1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48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*72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683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500" spc="-5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安装方式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5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FUU</a:t>
                      </a:r>
                      <a:r>
                        <a:rPr dirty="0" sz="1300" spc="-1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龙骨吸顶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E9F0"/>
                    </a:solidFill>
                  </a:tcPr>
                </a:tc>
              </a:tr>
              <a:tr h="349885"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dirty="0" sz="1500" b="1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功能类型</a:t>
                      </a:r>
                      <a:endParaRPr sz="1500">
                        <a:latin typeface="微软雅黑"/>
                        <a:cs typeface="微软雅黑"/>
                      </a:endParaRPr>
                    </a:p>
                  </a:txBody>
                  <a:tcPr marL="0" marR="0" marB="0" marT="5461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1300" spc="-5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常规、消防，可定制调光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7048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ACFE1"/>
                    </a:solidFill>
                  </a:tcPr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1679448" y="5661659"/>
            <a:ext cx="2208530" cy="1031875"/>
          </a:xfrm>
          <a:custGeom>
            <a:avLst/>
            <a:gdLst/>
            <a:ahLst/>
            <a:cxnLst/>
            <a:rect l="l" t="t" r="r" b="b"/>
            <a:pathLst>
              <a:path w="2208529" h="1031875">
                <a:moveTo>
                  <a:pt x="0" y="61023"/>
                </a:moveTo>
                <a:lnTo>
                  <a:pt x="4792" y="37268"/>
                </a:lnTo>
                <a:lnTo>
                  <a:pt x="17859" y="17872"/>
                </a:lnTo>
                <a:lnTo>
                  <a:pt x="37236" y="4795"/>
                </a:lnTo>
                <a:lnTo>
                  <a:pt x="60959" y="0"/>
                </a:lnTo>
                <a:lnTo>
                  <a:pt x="2147316" y="0"/>
                </a:lnTo>
                <a:lnTo>
                  <a:pt x="2171039" y="4795"/>
                </a:lnTo>
                <a:lnTo>
                  <a:pt x="2190416" y="17872"/>
                </a:lnTo>
                <a:lnTo>
                  <a:pt x="2203483" y="37268"/>
                </a:lnTo>
                <a:lnTo>
                  <a:pt x="2208276" y="61023"/>
                </a:lnTo>
                <a:lnTo>
                  <a:pt x="2208276" y="970724"/>
                </a:lnTo>
                <a:lnTo>
                  <a:pt x="2203483" y="994479"/>
                </a:lnTo>
                <a:lnTo>
                  <a:pt x="2190416" y="1013875"/>
                </a:lnTo>
                <a:lnTo>
                  <a:pt x="2171039" y="1026952"/>
                </a:lnTo>
                <a:lnTo>
                  <a:pt x="2147316" y="1031747"/>
                </a:lnTo>
                <a:lnTo>
                  <a:pt x="60959" y="1031747"/>
                </a:lnTo>
                <a:lnTo>
                  <a:pt x="37236" y="1026952"/>
                </a:lnTo>
                <a:lnTo>
                  <a:pt x="17859" y="1013875"/>
                </a:lnTo>
                <a:lnTo>
                  <a:pt x="4792" y="994479"/>
                </a:lnTo>
                <a:lnTo>
                  <a:pt x="0" y="970724"/>
                </a:lnTo>
                <a:lnTo>
                  <a:pt x="0" y="61023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840738" y="5704128"/>
            <a:ext cx="1886585" cy="9226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66725">
              <a:lnSpc>
                <a:spcPct val="100000"/>
              </a:lnSpc>
              <a:spcBef>
                <a:spcPts val="120"/>
              </a:spcBef>
            </a:pPr>
            <a:r>
              <a:rPr dirty="0" sz="1850" spc="15" b="1">
                <a:solidFill>
                  <a:srgbClr val="7E7E7E"/>
                </a:solidFill>
                <a:latin typeface="微软雅黑"/>
                <a:cs typeface="微软雅黑"/>
              </a:rPr>
              <a:t>舒适应用</a:t>
            </a:r>
            <a:endParaRPr sz="1850">
              <a:latin typeface="微软雅黑"/>
              <a:cs typeface="微软雅黑"/>
            </a:endParaRPr>
          </a:p>
          <a:p>
            <a:pPr algn="ctr" marL="12700" marR="5080">
              <a:lnSpc>
                <a:spcPct val="102299"/>
              </a:lnSpc>
              <a:spcBef>
                <a:spcPts val="1620"/>
              </a:spcBef>
            </a:pPr>
            <a:r>
              <a:rPr dirty="0" sz="1300" spc="25">
                <a:solidFill>
                  <a:srgbClr val="FF0000"/>
                </a:solidFill>
                <a:latin typeface="微软雅黑"/>
                <a:cs typeface="微软雅黑"/>
              </a:rPr>
              <a:t>无频闪设计</a:t>
            </a:r>
            <a:r>
              <a:rPr dirty="0" sz="1300" spc="25" b="1">
                <a:solidFill>
                  <a:srgbClr val="FF0000"/>
                </a:solidFill>
                <a:latin typeface="微软雅黑"/>
                <a:cs typeface="微软雅黑"/>
              </a:rPr>
              <a:t>，</a:t>
            </a:r>
            <a:r>
              <a:rPr dirty="0" sz="1300" spc="25">
                <a:solidFill>
                  <a:srgbClr val="7E7E7E"/>
                </a:solidFill>
                <a:latin typeface="微软雅黑"/>
                <a:cs typeface="微软雅黑"/>
              </a:rPr>
              <a:t>用眼舒适， </a:t>
            </a:r>
            <a:r>
              <a:rPr dirty="0" sz="1300" spc="25">
                <a:solidFill>
                  <a:srgbClr val="7E7E7E"/>
                </a:solidFill>
                <a:latin typeface="微软雅黑"/>
                <a:cs typeface="微软雅黑"/>
              </a:rPr>
              <a:t>提升效率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679448" y="4389120"/>
            <a:ext cx="2208530" cy="1115695"/>
          </a:xfrm>
          <a:custGeom>
            <a:avLst/>
            <a:gdLst/>
            <a:ahLst/>
            <a:cxnLst/>
            <a:rect l="l" t="t" r="r" b="b"/>
            <a:pathLst>
              <a:path w="2208529" h="1115695">
                <a:moveTo>
                  <a:pt x="0" y="65912"/>
                </a:moveTo>
                <a:lnTo>
                  <a:pt x="5191" y="40290"/>
                </a:lnTo>
                <a:lnTo>
                  <a:pt x="19335" y="19335"/>
                </a:lnTo>
                <a:lnTo>
                  <a:pt x="40290" y="5191"/>
                </a:lnTo>
                <a:lnTo>
                  <a:pt x="65912" y="0"/>
                </a:lnTo>
                <a:lnTo>
                  <a:pt x="2142363" y="0"/>
                </a:lnTo>
                <a:lnTo>
                  <a:pt x="2167985" y="5191"/>
                </a:lnTo>
                <a:lnTo>
                  <a:pt x="2188940" y="19335"/>
                </a:lnTo>
                <a:lnTo>
                  <a:pt x="2203084" y="40290"/>
                </a:lnTo>
                <a:lnTo>
                  <a:pt x="2208276" y="65912"/>
                </a:lnTo>
                <a:lnTo>
                  <a:pt x="2208276" y="1049654"/>
                </a:lnTo>
                <a:lnTo>
                  <a:pt x="2203084" y="1075277"/>
                </a:lnTo>
                <a:lnTo>
                  <a:pt x="2188940" y="1096232"/>
                </a:lnTo>
                <a:lnTo>
                  <a:pt x="2167985" y="1110376"/>
                </a:lnTo>
                <a:lnTo>
                  <a:pt x="2142363" y="1115567"/>
                </a:lnTo>
                <a:lnTo>
                  <a:pt x="65912" y="1115567"/>
                </a:lnTo>
                <a:lnTo>
                  <a:pt x="40290" y="1110376"/>
                </a:lnTo>
                <a:lnTo>
                  <a:pt x="19335" y="1096232"/>
                </a:lnTo>
                <a:lnTo>
                  <a:pt x="5191" y="1075277"/>
                </a:lnTo>
                <a:lnTo>
                  <a:pt x="0" y="1049654"/>
                </a:lnTo>
                <a:lnTo>
                  <a:pt x="0" y="65912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144014" y="4433442"/>
            <a:ext cx="1278255" cy="92201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63195">
              <a:lnSpc>
                <a:spcPct val="100000"/>
              </a:lnSpc>
              <a:spcBef>
                <a:spcPts val="120"/>
              </a:spcBef>
            </a:pPr>
            <a:r>
              <a:rPr dirty="0" sz="1850" spc="15" b="1">
                <a:solidFill>
                  <a:srgbClr val="7E7E7E"/>
                </a:solidFill>
                <a:latin typeface="微软雅黑"/>
                <a:cs typeface="微软雅黑"/>
              </a:rPr>
              <a:t>高效节能</a:t>
            </a:r>
            <a:endParaRPr sz="1850">
              <a:latin typeface="微软雅黑"/>
              <a:cs typeface="微软雅黑"/>
            </a:endParaRPr>
          </a:p>
          <a:p>
            <a:pPr algn="ctr" marL="12700" marR="5080">
              <a:lnSpc>
                <a:spcPct val="102299"/>
              </a:lnSpc>
              <a:spcBef>
                <a:spcPts val="1620"/>
              </a:spcBef>
            </a:pPr>
            <a:r>
              <a:rPr dirty="0" sz="1300" spc="25">
                <a:solidFill>
                  <a:srgbClr val="7E7E7E"/>
                </a:solidFill>
                <a:latin typeface="微软雅黑"/>
                <a:cs typeface="微软雅黑"/>
              </a:rPr>
              <a:t>高光效</a:t>
            </a:r>
            <a:r>
              <a:rPr dirty="0" sz="1300" spc="5">
                <a:solidFill>
                  <a:srgbClr val="FF0000"/>
                </a:solidFill>
                <a:latin typeface="微软雅黑"/>
                <a:cs typeface="微软雅黑"/>
              </a:rPr>
              <a:t>150</a:t>
            </a:r>
            <a:r>
              <a:rPr dirty="0" sz="1300" spc="0">
                <a:solidFill>
                  <a:srgbClr val="7E7E7E"/>
                </a:solidFill>
                <a:latin typeface="微软雅黑"/>
                <a:cs typeface="微软雅黑"/>
              </a:rPr>
              <a:t>l</a:t>
            </a:r>
            <a:r>
              <a:rPr dirty="0" sz="1300" spc="20">
                <a:solidFill>
                  <a:srgbClr val="7E7E7E"/>
                </a:solidFill>
                <a:latin typeface="微软雅黑"/>
                <a:cs typeface="微软雅黑"/>
              </a:rPr>
              <a:t>m</a:t>
            </a:r>
            <a:r>
              <a:rPr dirty="0" sz="1300">
                <a:solidFill>
                  <a:srgbClr val="7E7E7E"/>
                </a:solidFill>
                <a:latin typeface="微软雅黑"/>
                <a:cs typeface="微软雅黑"/>
              </a:rPr>
              <a:t>/</a:t>
            </a:r>
            <a:r>
              <a:rPr dirty="0" sz="1300" spc="15">
                <a:solidFill>
                  <a:srgbClr val="7E7E7E"/>
                </a:solidFill>
                <a:latin typeface="微软雅黑"/>
                <a:cs typeface="微软雅黑"/>
              </a:rPr>
              <a:t>W </a:t>
            </a:r>
            <a:r>
              <a:rPr dirty="0" sz="1300" spc="25">
                <a:solidFill>
                  <a:srgbClr val="7E7E7E"/>
                </a:solidFill>
                <a:latin typeface="微软雅黑"/>
                <a:cs typeface="微软雅黑"/>
              </a:rPr>
              <a:t>更节能省电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67784" y="4389120"/>
            <a:ext cx="2208530" cy="1125220"/>
          </a:xfrm>
          <a:custGeom>
            <a:avLst/>
            <a:gdLst/>
            <a:ahLst/>
            <a:cxnLst/>
            <a:rect l="l" t="t" r="r" b="b"/>
            <a:pathLst>
              <a:path w="2208529" h="1125220">
                <a:moveTo>
                  <a:pt x="0" y="66547"/>
                </a:moveTo>
                <a:lnTo>
                  <a:pt x="5218" y="40612"/>
                </a:lnTo>
                <a:lnTo>
                  <a:pt x="19462" y="19462"/>
                </a:lnTo>
                <a:lnTo>
                  <a:pt x="40612" y="5218"/>
                </a:lnTo>
                <a:lnTo>
                  <a:pt x="66548" y="0"/>
                </a:lnTo>
                <a:lnTo>
                  <a:pt x="2141727" y="0"/>
                </a:lnTo>
                <a:lnTo>
                  <a:pt x="2167663" y="5218"/>
                </a:lnTo>
                <a:lnTo>
                  <a:pt x="2188813" y="19462"/>
                </a:lnTo>
                <a:lnTo>
                  <a:pt x="2203057" y="40612"/>
                </a:lnTo>
                <a:lnTo>
                  <a:pt x="2208275" y="66547"/>
                </a:lnTo>
                <a:lnTo>
                  <a:pt x="2208275" y="1058163"/>
                </a:lnTo>
                <a:lnTo>
                  <a:pt x="2203057" y="1084099"/>
                </a:lnTo>
                <a:lnTo>
                  <a:pt x="2188813" y="1105249"/>
                </a:lnTo>
                <a:lnTo>
                  <a:pt x="2167663" y="1119493"/>
                </a:lnTo>
                <a:lnTo>
                  <a:pt x="2141727" y="1124711"/>
                </a:lnTo>
                <a:lnTo>
                  <a:pt x="66548" y="1124711"/>
                </a:lnTo>
                <a:lnTo>
                  <a:pt x="40612" y="1119493"/>
                </a:lnTo>
                <a:lnTo>
                  <a:pt x="19462" y="1105249"/>
                </a:lnTo>
                <a:lnTo>
                  <a:pt x="5218" y="1084099"/>
                </a:lnTo>
                <a:lnTo>
                  <a:pt x="0" y="1058163"/>
                </a:lnTo>
                <a:lnTo>
                  <a:pt x="0" y="66547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4466590" y="4433138"/>
            <a:ext cx="1717039" cy="9226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28955">
              <a:lnSpc>
                <a:spcPct val="100000"/>
              </a:lnSpc>
              <a:spcBef>
                <a:spcPts val="125"/>
              </a:spcBef>
            </a:pPr>
            <a:r>
              <a:rPr dirty="0" sz="1850" spc="10" b="1">
                <a:solidFill>
                  <a:srgbClr val="7E7E7E"/>
                </a:solidFill>
                <a:latin typeface="微软雅黑"/>
                <a:cs typeface="微软雅黑"/>
              </a:rPr>
              <a:t>长久耐用</a:t>
            </a:r>
            <a:endParaRPr sz="18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655"/>
              </a:spcBef>
            </a:pPr>
            <a:r>
              <a:rPr dirty="0" sz="1300" spc="25">
                <a:solidFill>
                  <a:srgbClr val="7E7E7E"/>
                </a:solidFill>
                <a:latin typeface="微软雅黑"/>
                <a:cs typeface="微软雅黑"/>
              </a:rPr>
              <a:t>专业化散热设计，满足</a:t>
            </a:r>
            <a:endParaRPr sz="13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dirty="0" sz="1300" spc="5">
                <a:solidFill>
                  <a:srgbClr val="FF0000"/>
                </a:solidFill>
                <a:latin typeface="微软雅黑"/>
                <a:cs typeface="微软雅黑"/>
              </a:rPr>
              <a:t>50000</a:t>
            </a:r>
            <a:r>
              <a:rPr dirty="0" sz="1300" spc="5">
                <a:solidFill>
                  <a:srgbClr val="7E7E7E"/>
                </a:solidFill>
                <a:latin typeface="微软雅黑"/>
                <a:cs typeface="微软雅黑"/>
              </a:rPr>
              <a:t>hrs</a:t>
            </a:r>
            <a:r>
              <a:rPr dirty="0" sz="1300" spc="25">
                <a:solidFill>
                  <a:srgbClr val="7E7E7E"/>
                </a:solidFill>
                <a:latin typeface="微软雅黑"/>
                <a:cs typeface="微软雅黑"/>
              </a:rPr>
              <a:t>应用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39268" y="1673351"/>
            <a:ext cx="4492752" cy="25283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08603" y="2973323"/>
            <a:ext cx="1635252" cy="12374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04915" y="1152144"/>
            <a:ext cx="1443228" cy="4953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367784" y="5661659"/>
            <a:ext cx="2208530" cy="1031875"/>
          </a:xfrm>
          <a:custGeom>
            <a:avLst/>
            <a:gdLst/>
            <a:ahLst/>
            <a:cxnLst/>
            <a:rect l="l" t="t" r="r" b="b"/>
            <a:pathLst>
              <a:path w="2208529" h="1031875">
                <a:moveTo>
                  <a:pt x="0" y="61023"/>
                </a:moveTo>
                <a:lnTo>
                  <a:pt x="4792" y="37268"/>
                </a:lnTo>
                <a:lnTo>
                  <a:pt x="17859" y="17872"/>
                </a:lnTo>
                <a:lnTo>
                  <a:pt x="37236" y="4795"/>
                </a:lnTo>
                <a:lnTo>
                  <a:pt x="60960" y="0"/>
                </a:lnTo>
                <a:lnTo>
                  <a:pt x="2147316" y="0"/>
                </a:lnTo>
                <a:lnTo>
                  <a:pt x="2171039" y="4795"/>
                </a:lnTo>
                <a:lnTo>
                  <a:pt x="2190416" y="17872"/>
                </a:lnTo>
                <a:lnTo>
                  <a:pt x="2203483" y="37268"/>
                </a:lnTo>
                <a:lnTo>
                  <a:pt x="2208275" y="61023"/>
                </a:lnTo>
                <a:lnTo>
                  <a:pt x="2208275" y="970724"/>
                </a:lnTo>
                <a:lnTo>
                  <a:pt x="2203483" y="994479"/>
                </a:lnTo>
                <a:lnTo>
                  <a:pt x="2190416" y="1013875"/>
                </a:lnTo>
                <a:lnTo>
                  <a:pt x="2171039" y="1026952"/>
                </a:lnTo>
                <a:lnTo>
                  <a:pt x="2147316" y="1031747"/>
                </a:lnTo>
                <a:lnTo>
                  <a:pt x="60960" y="1031747"/>
                </a:lnTo>
                <a:lnTo>
                  <a:pt x="37236" y="1026952"/>
                </a:lnTo>
                <a:lnTo>
                  <a:pt x="17859" y="1013875"/>
                </a:lnTo>
                <a:lnTo>
                  <a:pt x="4792" y="994479"/>
                </a:lnTo>
                <a:lnTo>
                  <a:pt x="0" y="970724"/>
                </a:lnTo>
                <a:lnTo>
                  <a:pt x="0" y="61023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82795" y="5704128"/>
            <a:ext cx="1828800" cy="9226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413384">
              <a:lnSpc>
                <a:spcPct val="100000"/>
              </a:lnSpc>
              <a:spcBef>
                <a:spcPts val="120"/>
              </a:spcBef>
            </a:pPr>
            <a:r>
              <a:rPr dirty="0" sz="1850" spc="15" b="1">
                <a:solidFill>
                  <a:srgbClr val="7E7E7E"/>
                </a:solidFill>
                <a:latin typeface="微软雅黑"/>
                <a:cs typeface="微软雅黑"/>
              </a:rPr>
              <a:t>有效防尘</a:t>
            </a:r>
            <a:endParaRPr sz="1850">
              <a:latin typeface="微软雅黑"/>
              <a:cs typeface="微软雅黑"/>
            </a:endParaRPr>
          </a:p>
          <a:p>
            <a:pPr algn="ctr" marL="12065" marR="5080">
              <a:lnSpc>
                <a:spcPct val="102299"/>
              </a:lnSpc>
              <a:spcBef>
                <a:spcPts val="1620"/>
              </a:spcBef>
            </a:pPr>
            <a:r>
              <a:rPr dirty="0" sz="1300" spc="25">
                <a:solidFill>
                  <a:srgbClr val="FF0000"/>
                </a:solidFill>
                <a:latin typeface="微软雅黑"/>
                <a:cs typeface="微软雅黑"/>
              </a:rPr>
              <a:t>泪滴型灯体</a:t>
            </a:r>
            <a:r>
              <a:rPr dirty="0" sz="1300" spc="10">
                <a:solidFill>
                  <a:srgbClr val="FF0000"/>
                </a:solidFill>
                <a:latin typeface="微软雅黑"/>
                <a:cs typeface="微软雅黑"/>
              </a:rPr>
              <a:t>，IP40,</a:t>
            </a:r>
            <a:r>
              <a:rPr dirty="0" sz="1300" spc="-10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1300" spc="25">
                <a:solidFill>
                  <a:srgbClr val="414141"/>
                </a:solidFill>
                <a:latin typeface="微软雅黑"/>
                <a:cs typeface="微软雅黑"/>
              </a:rPr>
              <a:t>防尘 防积灰适应于洁净应用</a:t>
            </a:r>
            <a:endParaRPr sz="13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42950"/>
            <a:ext cx="12192000" cy="0"/>
          </a:xfrm>
          <a:custGeom>
            <a:avLst/>
            <a:gdLst/>
            <a:ahLst/>
            <a:cxnLst/>
            <a:rect l="l" t="t" r="r" b="b"/>
            <a:pathLst>
              <a:path w="12192000" h="0">
                <a:moveTo>
                  <a:pt x="0" y="0"/>
                </a:moveTo>
                <a:lnTo>
                  <a:pt x="12192000" y="0"/>
                </a:lnTo>
              </a:path>
            </a:pathLst>
          </a:custGeom>
          <a:ln w="19812">
            <a:solidFill>
              <a:srgbClr val="006FC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8008" y="52273"/>
            <a:ext cx="2468880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pc="0">
                <a:solidFill>
                  <a:srgbClr val="255A99"/>
                </a:solidFill>
              </a:rPr>
              <a:t>产品应用场景</a:t>
            </a:r>
          </a:p>
        </p:txBody>
      </p:sp>
      <p:sp>
        <p:nvSpPr>
          <p:cNvPr id="4" name="object 4"/>
          <p:cNvSpPr/>
          <p:nvPr/>
        </p:nvSpPr>
        <p:spPr>
          <a:xfrm>
            <a:off x="615695" y="934211"/>
            <a:ext cx="3142488" cy="2157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922776" y="934211"/>
            <a:ext cx="3236976" cy="21579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321295" y="952500"/>
            <a:ext cx="3468623" cy="2133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71143" y="3084067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46AA"/>
                </a:solidFill>
                <a:latin typeface="宋体"/>
                <a:cs typeface="宋体"/>
              </a:rPr>
              <a:t>晶圆制造洁净车间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99609" y="3117596"/>
            <a:ext cx="2082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46AA"/>
                </a:solidFill>
                <a:latin typeface="宋体"/>
                <a:cs typeface="宋体"/>
              </a:rPr>
              <a:t>半导体封装洁净车间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138541" y="3117596"/>
            <a:ext cx="1854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46AA"/>
                </a:solidFill>
                <a:latin typeface="宋体"/>
                <a:cs typeface="宋体"/>
              </a:rPr>
              <a:t>显示面板洁净车间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18819" y="5638901"/>
            <a:ext cx="1014857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4546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46AA"/>
                </a:solidFill>
                <a:latin typeface="微软雅黑"/>
                <a:cs typeface="微软雅黑"/>
              </a:rPr>
              <a:t>主要应用于</a:t>
            </a:r>
            <a:r>
              <a:rPr dirty="0" sz="1800" spc="-5">
                <a:solidFill>
                  <a:srgbClr val="0046AA"/>
                </a:solidFill>
                <a:latin typeface="微软雅黑"/>
                <a:cs typeface="微软雅黑"/>
              </a:rPr>
              <a:t>10~100</a:t>
            </a:r>
            <a:r>
              <a:rPr dirty="0" sz="1800" spc="0">
                <a:solidFill>
                  <a:srgbClr val="0046AA"/>
                </a:solidFill>
                <a:latin typeface="微软雅黑"/>
                <a:cs typeface="微软雅黑"/>
              </a:rPr>
              <a:t>0</a:t>
            </a:r>
            <a:r>
              <a:rPr dirty="0" sz="1800">
                <a:solidFill>
                  <a:srgbClr val="0046AA"/>
                </a:solidFill>
                <a:latin typeface="微软雅黑"/>
                <a:cs typeface="微软雅黑"/>
              </a:rPr>
              <a:t>级的电子车间。此类车间主要采用FFU进行空气净化。灯具需要安装</a:t>
            </a:r>
            <a:r>
              <a:rPr dirty="0" sz="1800" spc="0">
                <a:solidFill>
                  <a:srgbClr val="0046AA"/>
                </a:solidFill>
                <a:latin typeface="微软雅黑"/>
                <a:cs typeface="微软雅黑"/>
              </a:rPr>
              <a:t>在</a:t>
            </a:r>
            <a:r>
              <a:rPr dirty="0" sz="1800">
                <a:solidFill>
                  <a:srgbClr val="0046AA"/>
                </a:solidFill>
                <a:latin typeface="微软雅黑"/>
                <a:cs typeface="微软雅黑"/>
              </a:rPr>
              <a:t>FFU 龙骨上，同时避免气流影响。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839467" y="3575303"/>
            <a:ext cx="1728216" cy="12893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04820" y="4842205"/>
            <a:ext cx="124079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2705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46AA"/>
                </a:solidFill>
                <a:latin typeface="Calibri"/>
                <a:cs typeface="Calibri"/>
              </a:rPr>
              <a:t>FFU</a:t>
            </a:r>
            <a:r>
              <a:rPr dirty="0" sz="1800" spc="-5">
                <a:solidFill>
                  <a:srgbClr val="0046AA"/>
                </a:solidFill>
                <a:latin typeface="宋体"/>
                <a:cs typeface="宋体"/>
              </a:rPr>
              <a:t>龙骨</a:t>
            </a:r>
            <a:endParaRPr sz="1800">
              <a:latin typeface="宋体"/>
              <a:cs typeface="宋体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46AA"/>
                </a:solidFill>
                <a:latin typeface="宋体"/>
                <a:cs typeface="宋体"/>
              </a:rPr>
              <a:t>（</a:t>
            </a:r>
            <a:r>
              <a:rPr dirty="0" sz="1800">
                <a:solidFill>
                  <a:srgbClr val="0046AA"/>
                </a:solidFill>
                <a:latin typeface="Calibri"/>
                <a:cs typeface="Calibri"/>
              </a:rPr>
              <a:t>50/55mm)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077203" y="4981194"/>
            <a:ext cx="71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46AA"/>
                </a:solidFill>
                <a:latin typeface="宋体"/>
                <a:cs typeface="宋体"/>
              </a:rPr>
              <a:t>泪滴灯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628644" y="3579876"/>
            <a:ext cx="1303020" cy="12847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085358" y="3677411"/>
            <a:ext cx="934033" cy="11658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33131" y="3250692"/>
            <a:ext cx="2938272" cy="20193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472296" y="5231129"/>
            <a:ext cx="71247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46AA"/>
                </a:solidFill>
                <a:latin typeface="宋体"/>
                <a:cs typeface="宋体"/>
              </a:rPr>
              <a:t>黄光灯</a:t>
            </a:r>
            <a:endParaRPr sz="1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7072" y="2461082"/>
            <a:ext cx="3049636" cy="2305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  <a:tabLst>
                <a:tab pos="11053445" algn="l"/>
              </a:tabLst>
            </a:pPr>
            <a:r>
              <a:rPr dirty="0"/>
              <a:t>产品特点</a:t>
            </a:r>
            <a:r>
              <a:rPr dirty="0"/>
              <a:t>:</a:t>
            </a:r>
            <a:r>
              <a:rPr dirty="0"/>
              <a:t>	</a:t>
            </a:r>
          </a:p>
        </p:txBody>
      </p:sp>
      <p:sp>
        <p:nvSpPr>
          <p:cNvPr id="4" name="object 4"/>
          <p:cNvSpPr/>
          <p:nvPr/>
        </p:nvSpPr>
        <p:spPr>
          <a:xfrm>
            <a:off x="5328665" y="4293870"/>
            <a:ext cx="0" cy="993140"/>
          </a:xfrm>
          <a:custGeom>
            <a:avLst/>
            <a:gdLst/>
            <a:ahLst/>
            <a:cxnLst/>
            <a:rect l="l" t="t" r="r" b="b"/>
            <a:pathLst>
              <a:path w="0" h="993139">
                <a:moveTo>
                  <a:pt x="0" y="993012"/>
                </a:moveTo>
                <a:lnTo>
                  <a:pt x="0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915411" y="2461260"/>
            <a:ext cx="217931" cy="2179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24377" y="1872233"/>
            <a:ext cx="6985" cy="601980"/>
          </a:xfrm>
          <a:custGeom>
            <a:avLst/>
            <a:gdLst/>
            <a:ahLst/>
            <a:cxnLst/>
            <a:rect l="l" t="t" r="r" b="b"/>
            <a:pathLst>
              <a:path w="6985" h="601980">
                <a:moveTo>
                  <a:pt x="0" y="601471"/>
                </a:moveTo>
                <a:lnTo>
                  <a:pt x="6858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24377" y="1881377"/>
            <a:ext cx="3121025" cy="0"/>
          </a:xfrm>
          <a:custGeom>
            <a:avLst/>
            <a:gdLst/>
            <a:ahLst/>
            <a:cxnLst/>
            <a:rect l="l" t="t" r="r" b="b"/>
            <a:pathLst>
              <a:path w="3121025" h="0">
                <a:moveTo>
                  <a:pt x="0" y="0"/>
                </a:moveTo>
                <a:lnTo>
                  <a:pt x="3120644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45529" y="1509522"/>
            <a:ext cx="0" cy="734695"/>
          </a:xfrm>
          <a:custGeom>
            <a:avLst/>
            <a:gdLst/>
            <a:ahLst/>
            <a:cxnLst/>
            <a:rect l="l" t="t" r="r" b="b"/>
            <a:pathLst>
              <a:path w="0" h="734694">
                <a:moveTo>
                  <a:pt x="0" y="734187"/>
                </a:moveTo>
                <a:lnTo>
                  <a:pt x="0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713981" y="2483357"/>
            <a:ext cx="0" cy="671195"/>
          </a:xfrm>
          <a:custGeom>
            <a:avLst/>
            <a:gdLst/>
            <a:ahLst/>
            <a:cxnLst/>
            <a:rect l="l" t="t" r="r" b="b"/>
            <a:pathLst>
              <a:path w="0" h="671194">
                <a:moveTo>
                  <a:pt x="0" y="671194"/>
                </a:moveTo>
                <a:lnTo>
                  <a:pt x="0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12870" y="2826257"/>
            <a:ext cx="2801620" cy="4445"/>
          </a:xfrm>
          <a:custGeom>
            <a:avLst/>
            <a:gdLst/>
            <a:ahLst/>
            <a:cxnLst/>
            <a:rect l="l" t="t" r="r" b="b"/>
            <a:pathLst>
              <a:path w="2801620" h="4444">
                <a:moveTo>
                  <a:pt x="0" y="0"/>
                </a:moveTo>
                <a:lnTo>
                  <a:pt x="2801493" y="419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07891" y="2717292"/>
            <a:ext cx="217931" cy="21793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375916" y="4280915"/>
            <a:ext cx="217932" cy="2179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840229" y="5926073"/>
            <a:ext cx="4304665" cy="20955"/>
          </a:xfrm>
          <a:custGeom>
            <a:avLst/>
            <a:gdLst/>
            <a:ahLst/>
            <a:cxnLst/>
            <a:rect l="l" t="t" r="r" b="b"/>
            <a:pathLst>
              <a:path w="4304665" h="20954">
                <a:moveTo>
                  <a:pt x="0" y="20421"/>
                </a:moveTo>
                <a:lnTo>
                  <a:pt x="4304157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45529" y="5599938"/>
            <a:ext cx="0" cy="848360"/>
          </a:xfrm>
          <a:custGeom>
            <a:avLst/>
            <a:gdLst/>
            <a:ahLst/>
            <a:cxnLst/>
            <a:rect l="l" t="t" r="r" b="b"/>
            <a:pathLst>
              <a:path w="0" h="848360">
                <a:moveTo>
                  <a:pt x="0" y="848017"/>
                </a:moveTo>
                <a:lnTo>
                  <a:pt x="0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731264" y="4495800"/>
            <a:ext cx="217932" cy="2179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40229" y="4735829"/>
            <a:ext cx="11430" cy="1190625"/>
          </a:xfrm>
          <a:custGeom>
            <a:avLst/>
            <a:gdLst/>
            <a:ahLst/>
            <a:cxnLst/>
            <a:rect l="l" t="t" r="r" b="b"/>
            <a:pathLst>
              <a:path w="11430" h="1190625">
                <a:moveTo>
                  <a:pt x="0" y="1190218"/>
                </a:moveTo>
                <a:lnTo>
                  <a:pt x="11302" y="0"/>
                </a:lnTo>
              </a:path>
            </a:pathLst>
          </a:custGeom>
          <a:ln w="19811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539745" y="4389882"/>
            <a:ext cx="0" cy="371475"/>
          </a:xfrm>
          <a:custGeom>
            <a:avLst/>
            <a:gdLst/>
            <a:ahLst/>
            <a:cxnLst/>
            <a:rect l="l" t="t" r="r" b="b"/>
            <a:pathLst>
              <a:path w="0" h="371475">
                <a:moveTo>
                  <a:pt x="0" y="371475"/>
                </a:moveTo>
                <a:lnTo>
                  <a:pt x="0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44317" y="4769358"/>
            <a:ext cx="2801620" cy="4445"/>
          </a:xfrm>
          <a:custGeom>
            <a:avLst/>
            <a:gdLst/>
            <a:ahLst/>
            <a:cxnLst/>
            <a:rect l="l" t="t" r="r" b="b"/>
            <a:pathLst>
              <a:path w="2801620" h="4445">
                <a:moveTo>
                  <a:pt x="0" y="0"/>
                </a:moveTo>
                <a:lnTo>
                  <a:pt x="2801493" y="4191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878573" y="3438905"/>
            <a:ext cx="0" cy="671195"/>
          </a:xfrm>
          <a:custGeom>
            <a:avLst/>
            <a:gdLst/>
            <a:ahLst/>
            <a:cxnLst/>
            <a:rect l="l" t="t" r="r" b="b"/>
            <a:pathLst>
              <a:path w="0" h="671195">
                <a:moveTo>
                  <a:pt x="0" y="671195"/>
                </a:moveTo>
                <a:lnTo>
                  <a:pt x="0" y="0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544317" y="3772661"/>
            <a:ext cx="4330065" cy="5715"/>
          </a:xfrm>
          <a:custGeom>
            <a:avLst/>
            <a:gdLst/>
            <a:ahLst/>
            <a:cxnLst/>
            <a:rect l="l" t="t" r="r" b="b"/>
            <a:pathLst>
              <a:path w="4330065" h="5714">
                <a:moveTo>
                  <a:pt x="0" y="0"/>
                </a:moveTo>
                <a:lnTo>
                  <a:pt x="4329937" y="5206"/>
                </a:lnTo>
              </a:path>
            </a:pathLst>
          </a:custGeom>
          <a:ln w="19812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339339" y="3663696"/>
            <a:ext cx="217932" cy="2179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422519" y="1507617"/>
            <a:ext cx="5349875" cy="48641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767080">
              <a:lnSpc>
                <a:spcPct val="100000"/>
              </a:lnSpc>
              <a:spcBef>
                <a:spcPts val="135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灵活安装</a:t>
            </a:r>
            <a:endParaRPr sz="2100">
              <a:latin typeface="微软雅黑"/>
              <a:cs typeface="微软雅黑"/>
            </a:endParaRPr>
          </a:p>
          <a:p>
            <a:pPr marL="767080">
              <a:lnSpc>
                <a:spcPct val="100000"/>
              </a:lnSpc>
              <a:spcBef>
                <a:spcPts val="50"/>
              </a:spcBef>
            </a:pP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适配</a:t>
            </a:r>
            <a:r>
              <a:rPr dirty="0" sz="1450" spc="0" b="1">
                <a:solidFill>
                  <a:srgbClr val="FF0000"/>
                </a:solidFill>
                <a:latin typeface="微软雅黑"/>
                <a:cs typeface="微软雅黑"/>
              </a:rPr>
              <a:t>FFU</a:t>
            </a: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龙骨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安装，背部出线，整灯</a:t>
            </a:r>
            <a:r>
              <a:rPr dirty="0" sz="1450" b="1">
                <a:solidFill>
                  <a:srgbClr val="FF0000"/>
                </a:solidFill>
                <a:latin typeface="微软雅黑"/>
                <a:cs typeface="微软雅黑"/>
              </a:rPr>
              <a:t>IP40</a:t>
            </a:r>
            <a:endParaRPr sz="14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300">
              <a:latin typeface="Times New Roman"/>
              <a:cs typeface="Times New Roman"/>
            </a:endParaRPr>
          </a:p>
          <a:p>
            <a:pPr marL="1543050">
              <a:lnSpc>
                <a:spcPct val="100000"/>
              </a:lnSpc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可拆卸端盖</a:t>
            </a:r>
            <a:endParaRPr sz="2100">
              <a:latin typeface="微软雅黑"/>
              <a:cs typeface="微软雅黑"/>
            </a:endParaRPr>
          </a:p>
          <a:p>
            <a:pPr marL="1543050">
              <a:lnSpc>
                <a:spcPct val="100000"/>
              </a:lnSpc>
              <a:spcBef>
                <a:spcPts val="855"/>
              </a:spcBef>
            </a:pP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采用</a:t>
            </a: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卡扣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式设计，方便安装且外观精致</a:t>
            </a:r>
            <a:endParaRPr sz="14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450">
              <a:latin typeface="Times New Roman"/>
              <a:cs typeface="Times New Roman"/>
            </a:endParaRPr>
          </a:p>
          <a:p>
            <a:pPr marL="1557655">
              <a:lnSpc>
                <a:spcPct val="100000"/>
              </a:lnSpc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特殊光谱</a:t>
            </a:r>
            <a:endParaRPr sz="2100">
              <a:latin typeface="微软雅黑"/>
              <a:cs typeface="微软雅黑"/>
            </a:endParaRPr>
          </a:p>
          <a:p>
            <a:pPr marL="1557655">
              <a:lnSpc>
                <a:spcPct val="100000"/>
              </a:lnSpc>
              <a:spcBef>
                <a:spcPts val="855"/>
              </a:spcBef>
            </a:pP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黄光光谱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，革</a:t>
            </a:r>
            <a:r>
              <a:rPr dirty="0" sz="1450" spc="10">
                <a:solidFill>
                  <a:srgbClr val="414141"/>
                </a:solidFill>
                <a:latin typeface="微软雅黑"/>
                <a:cs typeface="微软雅黑"/>
              </a:rPr>
              <a:t>除</a:t>
            </a:r>
            <a:r>
              <a:rPr dirty="0" sz="1450" spc="0">
                <a:solidFill>
                  <a:srgbClr val="414141"/>
                </a:solidFill>
                <a:latin typeface="微软雅黑"/>
                <a:cs typeface="微软雅黑"/>
              </a:rPr>
              <a:t>500nm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以下蓝光，应用更专业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专业洁净</a:t>
            </a:r>
            <a:endParaRPr sz="2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整灯</a:t>
            </a:r>
            <a:r>
              <a:rPr dirty="0" sz="1450" spc="0" b="1">
                <a:solidFill>
                  <a:srgbClr val="FF0000"/>
                </a:solidFill>
                <a:latin typeface="微软雅黑"/>
                <a:cs typeface="微软雅黑"/>
              </a:rPr>
              <a:t>150lm/W</a:t>
            </a:r>
            <a:r>
              <a:rPr dirty="0" sz="1450" spc="0">
                <a:solidFill>
                  <a:srgbClr val="414141"/>
                </a:solidFill>
                <a:latin typeface="微软雅黑"/>
                <a:cs typeface="微软雅黑"/>
              </a:rPr>
              <a:t>，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更加节能高效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泪滴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型设计，适用于</a:t>
            </a:r>
            <a:r>
              <a:rPr dirty="0" sz="1450" spc="0" b="1">
                <a:solidFill>
                  <a:srgbClr val="FF0000"/>
                </a:solidFill>
                <a:latin typeface="微软雅黑"/>
                <a:cs typeface="微软雅黑"/>
              </a:rPr>
              <a:t>10</a:t>
            </a:r>
            <a:r>
              <a:rPr dirty="0" sz="1450" spc="-25" b="1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~</a:t>
            </a:r>
            <a:r>
              <a:rPr dirty="0" sz="1450" spc="0" b="1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1450" b="1">
                <a:solidFill>
                  <a:srgbClr val="FF0000"/>
                </a:solidFill>
                <a:latin typeface="微软雅黑"/>
                <a:cs typeface="微软雅黑"/>
              </a:rPr>
              <a:t>1,000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级洁净室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针对光刻车间的</a:t>
            </a: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黄光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方案</a:t>
            </a:r>
            <a:endParaRPr sz="14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00">
              <a:latin typeface="Times New Roman"/>
              <a:cs typeface="Times New Roman"/>
            </a:endParaRPr>
          </a:p>
          <a:p>
            <a:pPr marL="885825">
              <a:lnSpc>
                <a:spcPct val="100000"/>
              </a:lnSpc>
            </a:pPr>
            <a:r>
              <a:rPr dirty="0" sz="2100" spc="30" b="1">
                <a:solidFill>
                  <a:srgbClr val="7E7E7E"/>
                </a:solidFill>
                <a:latin typeface="微软雅黑"/>
                <a:cs typeface="微软雅黑"/>
              </a:rPr>
              <a:t>舒适照明</a:t>
            </a:r>
            <a:endParaRPr sz="2100">
              <a:latin typeface="微软雅黑"/>
              <a:cs typeface="微软雅黑"/>
            </a:endParaRPr>
          </a:p>
          <a:p>
            <a:pPr marL="885825">
              <a:lnSpc>
                <a:spcPct val="100000"/>
              </a:lnSpc>
              <a:spcBef>
                <a:spcPts val="530"/>
              </a:spcBef>
            </a:pP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整灯</a:t>
            </a: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无频闪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，产品</a:t>
            </a:r>
            <a:r>
              <a:rPr dirty="0" sz="1450" spc="5" b="1">
                <a:solidFill>
                  <a:srgbClr val="FF0000"/>
                </a:solidFill>
                <a:latin typeface="微软雅黑"/>
                <a:cs typeface="微软雅黑"/>
              </a:rPr>
              <a:t>出光罩拉丝</a:t>
            </a:r>
            <a:r>
              <a:rPr dirty="0" sz="1450" spc="5">
                <a:solidFill>
                  <a:srgbClr val="414141"/>
                </a:solidFill>
                <a:latin typeface="微软雅黑"/>
                <a:cs typeface="微软雅黑"/>
              </a:rPr>
              <a:t>设计，用眼更舒适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63372" y="6429247"/>
            <a:ext cx="7835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 b="1">
                <a:solidFill>
                  <a:srgbClr val="0046AA"/>
                </a:solidFill>
                <a:latin typeface="Calibri"/>
                <a:cs typeface="Calibri"/>
              </a:rPr>
              <a:t>OPPLE.COM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000000"/>
                </a:solidFill>
                <a:latin typeface="微软雅黑"/>
                <a:cs typeface="微软雅黑"/>
              </a:rPr>
              <a:t>市场应用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1742" y="338709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latin typeface="微软雅黑"/>
                <a:cs typeface="微软雅黑"/>
              </a:rPr>
              <a:t>应用空间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24027" y="2001138"/>
            <a:ext cx="3795395" cy="706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00399D"/>
                </a:solidFill>
                <a:latin typeface="微软雅黑"/>
                <a:cs typeface="微软雅黑"/>
              </a:rPr>
              <a:t>T8</a:t>
            </a:r>
            <a:r>
              <a:rPr dirty="0" sz="1600" spc="-5" b="1">
                <a:solidFill>
                  <a:srgbClr val="00399D"/>
                </a:solidFill>
                <a:latin typeface="微软雅黑"/>
                <a:cs typeface="微软雅黑"/>
              </a:rPr>
              <a:t>黄光灯管</a:t>
            </a:r>
            <a:r>
              <a:rPr dirty="0" sz="1200">
                <a:latin typeface="微软雅黑"/>
                <a:cs typeface="微软雅黑"/>
              </a:rPr>
              <a:t>，</a:t>
            </a:r>
            <a:r>
              <a:rPr dirty="0" sz="1400">
                <a:latin typeface="微软雅黑"/>
                <a:cs typeface="微软雅黑"/>
              </a:rPr>
              <a:t>可以有效滤除500nm以下蓝紫光</a:t>
            </a:r>
            <a:endParaRPr sz="1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1400">
                <a:latin typeface="微软雅黑"/>
                <a:cs typeface="微软雅黑"/>
              </a:rPr>
              <a:t>适用于光刻胶等电子芯</a:t>
            </a:r>
            <a:r>
              <a:rPr dirty="0" sz="1400" spc="-15">
                <a:latin typeface="微软雅黑"/>
                <a:cs typeface="微软雅黑"/>
              </a:rPr>
              <a:t>片</a:t>
            </a:r>
            <a:r>
              <a:rPr dirty="0" sz="1400">
                <a:latin typeface="微软雅黑"/>
                <a:cs typeface="微软雅黑"/>
              </a:rPr>
              <a:t>制造</a:t>
            </a:r>
            <a:r>
              <a:rPr dirty="0" sz="1400" spc="-15">
                <a:latin typeface="微软雅黑"/>
                <a:cs typeface="微软雅黑"/>
              </a:rPr>
              <a:t>洁</a:t>
            </a:r>
            <a:r>
              <a:rPr dirty="0" sz="1400">
                <a:latin typeface="微软雅黑"/>
                <a:cs typeface="微软雅黑"/>
              </a:rPr>
              <a:t>净空间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22157" y="4143832"/>
            <a:ext cx="2878455" cy="1591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latin typeface="微软雅黑"/>
                <a:cs typeface="微软雅黑"/>
              </a:rPr>
              <a:t>节能</a:t>
            </a:r>
            <a:endParaRPr sz="2000">
              <a:latin typeface="微软雅黑"/>
              <a:cs typeface="微软雅黑"/>
            </a:endParaRPr>
          </a:p>
          <a:p>
            <a:pPr marL="51435" marR="5080">
              <a:lnSpc>
                <a:spcPct val="150000"/>
              </a:lnSpc>
              <a:spcBef>
                <a:spcPts val="215"/>
              </a:spcBef>
            </a:pPr>
            <a:r>
              <a:rPr dirty="0" sz="1200">
                <a:latin typeface="微软雅黑"/>
                <a:cs typeface="微软雅黑"/>
              </a:rPr>
              <a:t>光效高</a:t>
            </a:r>
            <a:r>
              <a:rPr dirty="0" sz="1200" spc="-10">
                <a:latin typeface="微软雅黑"/>
                <a:cs typeface="微软雅黑"/>
              </a:rPr>
              <a:t>达</a:t>
            </a:r>
            <a:r>
              <a:rPr dirty="0" sz="1200" b="1">
                <a:solidFill>
                  <a:srgbClr val="00399D"/>
                </a:solidFill>
                <a:latin typeface="微软雅黑"/>
                <a:cs typeface="微软雅黑"/>
              </a:rPr>
              <a:t>100lm</a:t>
            </a:r>
            <a:r>
              <a:rPr dirty="0" sz="1200" spc="-10" b="1">
                <a:solidFill>
                  <a:srgbClr val="00399D"/>
                </a:solidFill>
                <a:latin typeface="微软雅黑"/>
                <a:cs typeface="微软雅黑"/>
              </a:rPr>
              <a:t>/</a:t>
            </a:r>
            <a:r>
              <a:rPr dirty="0" sz="1200" b="1">
                <a:solidFill>
                  <a:srgbClr val="00399D"/>
                </a:solidFill>
                <a:latin typeface="微软雅黑"/>
                <a:cs typeface="微软雅黑"/>
              </a:rPr>
              <a:t>w</a:t>
            </a:r>
            <a:r>
              <a:rPr dirty="0" sz="1200">
                <a:latin typeface="微软雅黑"/>
                <a:cs typeface="微软雅黑"/>
              </a:rPr>
              <a:t>，提供需求的光环境同 时，降低能耗。</a:t>
            </a:r>
            <a:endParaRPr sz="1200">
              <a:latin typeface="微软雅黑"/>
              <a:cs typeface="微软雅黑"/>
            </a:endParaRPr>
          </a:p>
          <a:p>
            <a:pPr marL="51435">
              <a:lnSpc>
                <a:spcPct val="100000"/>
              </a:lnSpc>
              <a:spcBef>
                <a:spcPts val="690"/>
              </a:spcBef>
            </a:pPr>
            <a:r>
              <a:rPr dirty="0" sz="2000">
                <a:latin typeface="微软雅黑"/>
                <a:cs typeface="微软雅黑"/>
              </a:rPr>
              <a:t>安全</a:t>
            </a:r>
            <a:endParaRPr sz="2000">
              <a:latin typeface="微软雅黑"/>
              <a:cs typeface="微软雅黑"/>
            </a:endParaRPr>
          </a:p>
          <a:p>
            <a:pPr marL="90805">
              <a:lnSpc>
                <a:spcPct val="100000"/>
              </a:lnSpc>
              <a:spcBef>
                <a:spcPts val="855"/>
              </a:spcBef>
            </a:pPr>
            <a:r>
              <a:rPr dirty="0" sz="1200" spc="-5" b="1">
                <a:solidFill>
                  <a:srgbClr val="00399D"/>
                </a:solidFill>
                <a:latin typeface="微软雅黑"/>
                <a:cs typeface="微软雅黑"/>
              </a:rPr>
              <a:t>无蓝紫光，可有效避免光刻胶失效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793235" y="3988333"/>
            <a:ext cx="3119627" cy="20557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5591" y="3991355"/>
            <a:ext cx="3177539" cy="20680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724900" y="1374775"/>
            <a:ext cx="3124200" cy="20497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547359" y="1342644"/>
            <a:ext cx="3125724" cy="20803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63372" y="6429247"/>
            <a:ext cx="7835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 b="1">
                <a:solidFill>
                  <a:srgbClr val="0046AA"/>
                </a:solidFill>
                <a:latin typeface="Calibri"/>
                <a:cs typeface="Calibri"/>
              </a:rPr>
              <a:t>OPPLE.COM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31838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0060" algn="l"/>
              </a:tabLst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市场定位</a:t>
            </a: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	</a:t>
            </a:r>
            <a:r>
              <a:rPr dirty="0" u="none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产品参数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1791" y="1226819"/>
            <a:ext cx="10823575" cy="346075"/>
          </a:xfrm>
          <a:prstGeom prst="rect">
            <a:avLst/>
          </a:prstGeom>
          <a:solidFill>
            <a:srgbClr val="00399D"/>
          </a:solidFill>
        </p:spPr>
        <p:txBody>
          <a:bodyPr wrap="square" lIns="0" tIns="57785" rIns="0" bIns="0" rtlCol="0" vert="horz">
            <a:spAutoFit/>
          </a:bodyPr>
          <a:lstStyle/>
          <a:p>
            <a:pPr algn="ctr" marR="608965">
              <a:lnSpc>
                <a:spcPct val="100000"/>
              </a:lnSpc>
              <a:spcBef>
                <a:spcPts val="455"/>
              </a:spcBef>
            </a:pPr>
            <a:r>
              <a:rPr dirty="0" sz="1400" b="1">
                <a:solidFill>
                  <a:srgbClr val="FFFFFF"/>
                </a:solidFill>
                <a:latin typeface="微软雅黑"/>
                <a:cs typeface="微软雅黑"/>
              </a:rPr>
              <a:t>LED</a:t>
            </a:r>
            <a:r>
              <a:rPr dirty="0" sz="1400" spc="390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微软雅黑"/>
                <a:cs typeface="微软雅黑"/>
              </a:rPr>
              <a:t>T8</a:t>
            </a:r>
            <a:r>
              <a:rPr dirty="0" sz="1400" spc="-15" b="1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400" b="1">
                <a:solidFill>
                  <a:srgbClr val="FFFFFF"/>
                </a:solidFill>
                <a:latin typeface="微软雅黑"/>
                <a:cs typeface="微软雅黑"/>
              </a:rPr>
              <a:t>黄光灯管</a:t>
            </a:r>
            <a:r>
              <a:rPr dirty="0" sz="1400">
                <a:solidFill>
                  <a:srgbClr val="FFFFFF"/>
                </a:solidFill>
                <a:latin typeface="微软雅黑"/>
                <a:cs typeface="微软雅黑"/>
              </a:rPr>
              <a:t>-</a:t>
            </a:r>
            <a:r>
              <a:rPr dirty="0" sz="1400" spc="-35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400">
                <a:solidFill>
                  <a:srgbClr val="FFFFFF"/>
                </a:solidFill>
                <a:latin typeface="微软雅黑"/>
                <a:cs typeface="微软雅黑"/>
              </a:rPr>
              <a:t>产品参数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5444871" y="1957323"/>
          <a:ext cx="5864225" cy="3535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0175"/>
                <a:gridCol w="1954529"/>
                <a:gridCol w="2489200"/>
              </a:tblGrid>
              <a:tr h="27622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概述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型号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LED-220-T8-16-10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412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功率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16W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光通量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1600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lm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光学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色温</a:t>
                      </a:r>
                      <a:r>
                        <a:rPr dirty="0" sz="1200" spc="-10">
                          <a:latin typeface="微软雅黑"/>
                          <a:cs typeface="微软雅黑"/>
                        </a:rPr>
                        <a:t>（CCT）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黄光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电子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工作电压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0">
                          <a:latin typeface="微软雅黑"/>
                          <a:cs typeface="微软雅黑"/>
                        </a:rPr>
                        <a:t>220Vac；50Hz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PF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&gt;0.9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浪涌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1.5kv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95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结构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材质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纳米管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+PC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08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规格尺寸（长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×</a:t>
                      </a:r>
                      <a:r>
                        <a:rPr dirty="0" sz="1200">
                          <a:latin typeface="微软雅黑"/>
                          <a:cs typeface="微软雅黑"/>
                        </a:rPr>
                        <a:t>宽×高）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27*1200mm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350">
                        <a:latin typeface="Times New Roman"/>
                        <a:cs typeface="Times New Roman"/>
                      </a:endParaRPr>
                    </a:p>
                    <a:p>
                      <a:pPr algn="ctr" marL="13335">
                        <a:lnSpc>
                          <a:spcPct val="100000"/>
                        </a:lnSpc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质量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灯具寿命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30000hrs</a:t>
                      </a:r>
                      <a:r>
                        <a:rPr dirty="0" sz="1200" spc="-4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200" spc="-5">
                          <a:latin typeface="微软雅黑"/>
                          <a:cs typeface="微软雅黑"/>
                        </a:rPr>
                        <a:t>（@LN70/B50）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>
                          <a:latin typeface="微软雅黑"/>
                          <a:cs typeface="微软雅黑"/>
                        </a:rPr>
                        <a:t>工作环境</a:t>
                      </a:r>
                      <a:r>
                        <a:rPr dirty="0" sz="1200" spc="-40">
                          <a:latin typeface="微软雅黑"/>
                          <a:cs typeface="微软雅黑"/>
                        </a:rPr>
                        <a:t>（Ta）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651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-20~40℃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9464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254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5">
                          <a:latin typeface="微软雅黑"/>
                          <a:cs typeface="微软雅黑"/>
                        </a:rPr>
                        <a:t>安全认证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1200" spc="-15">
                          <a:latin typeface="微软雅黑"/>
                          <a:cs typeface="微软雅黑"/>
                        </a:rPr>
                        <a:t>CQC</a:t>
                      </a:r>
                      <a:endParaRPr sz="1200">
                        <a:latin typeface="微软雅黑"/>
                        <a:cs typeface="微软雅黑"/>
                      </a:endParaRPr>
                    </a:p>
                  </a:txBody>
                  <a:tcPr marL="0" marR="0" marB="0" marT="5080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1431036" y="1732788"/>
            <a:ext cx="2714243" cy="18897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1791" y="3622547"/>
            <a:ext cx="4664964" cy="21640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63372" y="6429247"/>
            <a:ext cx="7835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 b="1">
                <a:solidFill>
                  <a:srgbClr val="0046AA"/>
                </a:solidFill>
                <a:latin typeface="Calibri"/>
                <a:cs typeface="Calibri"/>
              </a:rPr>
              <a:t>OPPLE.COM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563372" y="6429247"/>
            <a:ext cx="783590" cy="177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z="1200" spc="-10" b="1">
                <a:solidFill>
                  <a:srgbClr val="0046AA"/>
                </a:solidFill>
                <a:latin typeface="Calibri"/>
                <a:cs typeface="Calibri"/>
              </a:rPr>
              <a:t>OPPLE.COM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  <a:tabLst>
                <a:tab pos="11053445" algn="l"/>
              </a:tabLst>
            </a:pPr>
            <a:r>
              <a:rPr dirty="0"/>
              <a:t>技术参数表</a:t>
            </a:r>
            <a:r>
              <a:rPr dirty="0" spc="0"/>
              <a:t>：</a:t>
            </a:r>
            <a:r>
              <a:rPr dirty="0"/>
              <a:t>	</a:t>
            </a: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93420" y="1217549"/>
          <a:ext cx="10982325" cy="5138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/>
                <a:gridCol w="1828800"/>
                <a:gridCol w="1828800"/>
                <a:gridCol w="1828800"/>
                <a:gridCol w="1828800"/>
                <a:gridCol w="1828800"/>
              </a:tblGrid>
              <a:tr h="422909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3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概述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型号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1683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LZJ0212001403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1683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LZJ0212002703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1683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LZJ0215004003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1683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919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LZJ0212002003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16839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功率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98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14W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27W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40W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20W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</a:tr>
              <a:tr h="2159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444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光通量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762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2000</a:t>
                      </a:r>
                      <a:r>
                        <a:rPr dirty="0" sz="1300" spc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lm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4000lm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6000</a:t>
                      </a:r>
                      <a:r>
                        <a:rPr dirty="0" sz="1300" spc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lm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2200</a:t>
                      </a:r>
                      <a:r>
                        <a:rPr dirty="0" sz="1300" spc="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lm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5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3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光学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光效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ts val="1495"/>
                        </a:lnSpc>
                        <a:spcBef>
                          <a:spcPts val="105"/>
                        </a:spcBef>
                      </a:pPr>
                      <a:r>
                        <a:rPr dirty="0" sz="1300" spc="-1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150lm/W</a:t>
                      </a:r>
                      <a:r>
                        <a:rPr dirty="0" sz="1300" spc="-5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、</a:t>
                      </a:r>
                      <a:r>
                        <a:rPr dirty="0" sz="1300" spc="-1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110lm/W（</a:t>
                      </a:r>
                      <a:r>
                        <a:rPr dirty="0" sz="130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黄</a:t>
                      </a:r>
                      <a:r>
                        <a:rPr dirty="0" sz="1300" spc="-5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光）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3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43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色温</a:t>
                      </a:r>
                      <a:r>
                        <a:rPr dirty="0" sz="1300" spc="-1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（CCT）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25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4000/5700K/</a:t>
                      </a:r>
                      <a:r>
                        <a:rPr dirty="0" sz="1300" spc="-5">
                          <a:latin typeface="微软雅黑"/>
                          <a:cs typeface="微软雅黑"/>
                        </a:rPr>
                        <a:t>黄光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25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43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显色指数</a:t>
                      </a:r>
                      <a:r>
                        <a:rPr dirty="0" sz="1300" spc="-10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（Ra）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25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Ra＞80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255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5"/>
                        </a:lnSpc>
                        <a:spcBef>
                          <a:spcPts val="11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光束角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6985">
                        <a:lnSpc>
                          <a:spcPts val="1495"/>
                        </a:lnSpc>
                        <a:spcBef>
                          <a:spcPts val="110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190°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3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电子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5"/>
                        </a:lnSpc>
                        <a:spcBef>
                          <a:spcPts val="11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工作电压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8255">
                        <a:lnSpc>
                          <a:spcPts val="1495"/>
                        </a:lnSpc>
                        <a:spcBef>
                          <a:spcPts val="110"/>
                        </a:spcBef>
                      </a:pPr>
                      <a:r>
                        <a:rPr dirty="0" sz="1300" spc="-15">
                          <a:latin typeface="微软雅黑"/>
                          <a:cs typeface="微软雅黑"/>
                        </a:rPr>
                        <a:t>176~264Vac；50Hz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5"/>
                        </a:lnSpc>
                        <a:spcBef>
                          <a:spcPts val="11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浪涌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ts val="1495"/>
                        </a:lnSpc>
                        <a:spcBef>
                          <a:spcPts val="110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2KV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频闪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8255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5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无频闪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43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300" spc="-10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功率因数</a:t>
                      </a: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（PF）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＞0.9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marL="7620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＞0.95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655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＞0.9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318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59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防触电等级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ClassⅠ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4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3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结构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防护等级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6985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5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IP40、IK03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07034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规格尺寸（口径</a:t>
                      </a:r>
                      <a:r>
                        <a:rPr dirty="0" sz="1300" spc="-10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×</a:t>
                      </a: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高度）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7D7D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21983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1200*</a:t>
                      </a:r>
                      <a:r>
                        <a:rPr dirty="0" sz="1300" spc="-1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48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*78mm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 marL="8255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1500*</a:t>
                      </a:r>
                      <a:r>
                        <a:rPr dirty="0" sz="1300" spc="-1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48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*78mm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86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1200*</a:t>
                      </a:r>
                      <a:r>
                        <a:rPr dirty="0" sz="1300" spc="-1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48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*78mm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0985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</a:tr>
              <a:tr h="28765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381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安装方式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FFU</a:t>
                      </a:r>
                      <a:r>
                        <a:rPr dirty="0" sz="1300" spc="-5">
                          <a:latin typeface="微软雅黑"/>
                          <a:cs typeface="微软雅黑"/>
                        </a:rPr>
                        <a:t>龙骨吸顶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5016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50">
                        <a:latin typeface="Times New Roman"/>
                        <a:cs typeface="Times New Roman"/>
                      </a:endParaRPr>
                    </a:p>
                    <a:p>
                      <a:pPr algn="ctr" marL="6985">
                        <a:lnSpc>
                          <a:spcPct val="100000"/>
                        </a:lnSpc>
                      </a:pPr>
                      <a:r>
                        <a:rPr dirty="0" sz="13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质量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灯具寿命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ts val="1490"/>
                        </a:lnSpc>
                        <a:spcBef>
                          <a:spcPts val="110"/>
                        </a:spcBef>
                      </a:pPr>
                      <a:r>
                        <a:rPr dirty="0" sz="1300" spc="-10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50000hrs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543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工作环境</a:t>
                      </a:r>
                      <a:r>
                        <a:rPr dirty="0" sz="1300" spc="-3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（Ta）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698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dirty="0" sz="1300" spc="-10">
                          <a:latin typeface="微软雅黑"/>
                          <a:cs typeface="微软雅黑"/>
                        </a:rPr>
                        <a:t>-20~+40°C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8382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63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 marL="12065">
                        <a:lnSpc>
                          <a:spcPts val="1490"/>
                        </a:lnSpc>
                        <a:spcBef>
                          <a:spcPts val="115"/>
                        </a:spcBef>
                      </a:pPr>
                      <a:r>
                        <a:rPr dirty="0" sz="1300" spc="-5" b="1">
                          <a:solidFill>
                            <a:srgbClr val="0046AA"/>
                          </a:solidFill>
                          <a:latin typeface="微软雅黑"/>
                          <a:cs typeface="微软雅黑"/>
                        </a:rPr>
                        <a:t>安全认证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46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3810">
                        <a:lnSpc>
                          <a:spcPts val="1490"/>
                        </a:lnSpc>
                        <a:spcBef>
                          <a:spcPts val="115"/>
                        </a:spcBef>
                      </a:pPr>
                      <a:r>
                        <a:rPr dirty="0" sz="1300" spc="-45">
                          <a:latin typeface="微软雅黑"/>
                          <a:cs typeface="微软雅黑"/>
                        </a:rPr>
                        <a:t>CCC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4605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15900">
                <a:tc>
                  <a:txBody>
                    <a:bodyPr/>
                    <a:lstStyle/>
                    <a:p>
                      <a:pPr marL="588645">
                        <a:lnSpc>
                          <a:spcPts val="1490"/>
                        </a:lnSpc>
                        <a:spcBef>
                          <a:spcPts val="114"/>
                        </a:spcBef>
                      </a:pPr>
                      <a:r>
                        <a:rPr dirty="0" sz="130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使用场所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0046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marL="6350">
                        <a:lnSpc>
                          <a:spcPts val="1490"/>
                        </a:lnSpc>
                        <a:spcBef>
                          <a:spcPts val="114"/>
                        </a:spcBef>
                      </a:pPr>
                      <a:r>
                        <a:rPr dirty="0" sz="1300" spc="-5">
                          <a:latin typeface="微软雅黑"/>
                          <a:cs typeface="微软雅黑"/>
                        </a:rPr>
                        <a:t>使用于</a:t>
                      </a:r>
                      <a:r>
                        <a:rPr dirty="0" sz="1300" spc="-10">
                          <a:latin typeface="微软雅黑"/>
                          <a:cs typeface="微软雅黑"/>
                        </a:rPr>
                        <a:t>FFU</a:t>
                      </a:r>
                      <a:r>
                        <a:rPr dirty="0" sz="1300" spc="-5">
                          <a:latin typeface="微软雅黑"/>
                          <a:cs typeface="微软雅黑"/>
                        </a:rPr>
                        <a:t>龙骨安装的洁净环境</a:t>
                      </a:r>
                      <a:endParaRPr sz="1300">
                        <a:latin typeface="微软雅黑"/>
                        <a:cs typeface="微软雅黑"/>
                      </a:endParaRPr>
                    </a:p>
                  </a:txBody>
                  <a:tcPr marL="0" marR="0" marB="0" marT="14604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26339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>
                <a:solidFill>
                  <a:srgbClr val="FFFFFF"/>
                </a:solidFill>
              </a:rPr>
              <a:t>LE</a:t>
            </a:r>
            <a:r>
              <a:rPr dirty="0" u="none" sz="2800" spc="-20">
                <a:solidFill>
                  <a:srgbClr val="FFFFFF"/>
                </a:solidFill>
              </a:rPr>
              <a:t>D</a:t>
            </a:r>
            <a:r>
              <a:rPr dirty="0" u="none" sz="2800" spc="-5">
                <a:solidFill>
                  <a:srgbClr val="FFFFFF"/>
                </a:solidFill>
              </a:rPr>
              <a:t>天棚灯-鹏辰</a:t>
            </a:r>
            <a:endParaRPr sz="2800"/>
          </a:p>
        </p:txBody>
      </p:sp>
      <p:sp>
        <p:nvSpPr>
          <p:cNvPr id="5" name="object 5"/>
          <p:cNvSpPr txBox="1"/>
          <p:nvPr/>
        </p:nvSpPr>
        <p:spPr>
          <a:xfrm>
            <a:off x="524052" y="1480820"/>
            <a:ext cx="3836035" cy="10693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厂房空间</a:t>
            </a:r>
            <a:r>
              <a:rPr dirty="0" sz="2000" spc="-10">
                <a:solidFill>
                  <a:srgbClr val="FFFFFF"/>
                </a:solidFill>
                <a:latin typeface="微软雅黑"/>
                <a:cs typeface="微软雅黑"/>
              </a:rPr>
              <a:t>、</a:t>
            </a: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仓储空间、</a:t>
            </a:r>
            <a:r>
              <a:rPr dirty="0" sz="2000" spc="-15">
                <a:solidFill>
                  <a:srgbClr val="FFFFFF"/>
                </a:solidFill>
                <a:latin typeface="微软雅黑"/>
                <a:cs typeface="微软雅黑"/>
              </a:rPr>
              <a:t>公</a:t>
            </a:r>
            <a:r>
              <a:rPr dirty="0" sz="2000">
                <a:solidFill>
                  <a:srgbClr val="FFFFFF"/>
                </a:solidFill>
                <a:latin typeface="微软雅黑"/>
                <a:cs typeface="微软雅黑"/>
              </a:rPr>
              <a:t>共区域</a:t>
            </a:r>
            <a:endParaRPr sz="2000">
              <a:latin typeface="微软雅黑"/>
              <a:cs typeface="微软雅黑"/>
            </a:endParaRPr>
          </a:p>
          <a:p>
            <a:pPr marL="12700" marR="5080">
              <a:lnSpc>
                <a:spcPct val="150000"/>
              </a:lnSpc>
              <a:spcBef>
                <a:spcPts val="1495"/>
              </a:spcBef>
            </a:pPr>
            <a:r>
              <a:rPr dirty="0" sz="1200" b="1">
                <a:solidFill>
                  <a:srgbClr val="FFFFFF"/>
                </a:solidFill>
                <a:latin typeface="微软雅黑"/>
                <a:cs typeface="微软雅黑"/>
              </a:rPr>
              <a:t>鹏辰系列天棚</a:t>
            </a:r>
            <a:r>
              <a:rPr dirty="0" sz="1200" spc="-15" b="1">
                <a:solidFill>
                  <a:srgbClr val="FFFFFF"/>
                </a:solidFill>
                <a:latin typeface="微软雅黑"/>
                <a:cs typeface="微软雅黑"/>
              </a:rPr>
              <a:t>灯</a:t>
            </a:r>
            <a:r>
              <a:rPr dirty="0" sz="1200">
                <a:solidFill>
                  <a:srgbClr val="FFFFFF"/>
                </a:solidFill>
                <a:latin typeface="微软雅黑"/>
                <a:cs typeface="微软雅黑"/>
              </a:rPr>
              <a:t>，可以提供高效、充足而均匀的光环境。 适用于恶劣性工业厂房、车间，仓库等高空间应用。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271771" y="3421379"/>
            <a:ext cx="3995928" cy="30312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92608" y="3421379"/>
            <a:ext cx="4134612" cy="30312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247888" y="56388"/>
            <a:ext cx="3944111" cy="295808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522334" y="3504501"/>
            <a:ext cx="2807970" cy="2941955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空间明亮</a:t>
            </a:r>
            <a:endParaRPr sz="1800">
              <a:latin typeface="微软雅黑"/>
              <a:cs typeface="微软雅黑"/>
            </a:endParaRPr>
          </a:p>
          <a:p>
            <a:pPr marL="51435" marR="5080">
              <a:lnSpc>
                <a:spcPts val="2160"/>
              </a:lnSpc>
              <a:spcBef>
                <a:spcPts val="115"/>
              </a:spcBef>
            </a:pPr>
            <a:r>
              <a:rPr dirty="0" sz="1200">
                <a:solidFill>
                  <a:srgbClr val="FFFFFF"/>
                </a:solidFill>
                <a:latin typeface="微软雅黑"/>
                <a:cs typeface="微软雅黑"/>
              </a:rPr>
              <a:t>良好而充足的空间照明，能够有效提升工 作效率，提高生产效率。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均匀舒适</a:t>
            </a:r>
            <a:endParaRPr sz="1800">
              <a:latin typeface="微软雅黑"/>
              <a:cs typeface="微软雅黑"/>
            </a:endParaRPr>
          </a:p>
          <a:p>
            <a:pPr marL="51435">
              <a:lnSpc>
                <a:spcPct val="100000"/>
              </a:lnSpc>
              <a:spcBef>
                <a:spcPts val="640"/>
              </a:spcBef>
            </a:pPr>
            <a:r>
              <a:rPr dirty="0" sz="1200">
                <a:solidFill>
                  <a:srgbClr val="FFFFFF"/>
                </a:solidFill>
                <a:latin typeface="微软雅黑"/>
                <a:cs typeface="微软雅黑"/>
              </a:rPr>
              <a:t>均匀而柔和的光环境，可以避免产生不舒</a:t>
            </a:r>
            <a:endParaRPr sz="1200">
              <a:latin typeface="微软雅黑"/>
              <a:cs typeface="微软雅黑"/>
            </a:endParaRPr>
          </a:p>
          <a:p>
            <a:pPr marL="51435">
              <a:lnSpc>
                <a:spcPct val="100000"/>
              </a:lnSpc>
              <a:spcBef>
                <a:spcPts val="720"/>
              </a:spcBef>
            </a:pPr>
            <a:r>
              <a:rPr dirty="0" sz="1200" spc="-5">
                <a:solidFill>
                  <a:srgbClr val="FFFFFF"/>
                </a:solidFill>
                <a:latin typeface="微软雅黑"/>
                <a:cs typeface="微软雅黑"/>
              </a:rPr>
              <a:t>适的眩光，同时可以有效消除阴影。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Times New Roman"/>
              <a:cs typeface="Times New Roman"/>
            </a:endParaRPr>
          </a:p>
          <a:p>
            <a:pPr marL="51435">
              <a:lnSpc>
                <a:spcPct val="100000"/>
              </a:lnSpc>
            </a:pPr>
            <a:r>
              <a:rPr dirty="0" sz="1800">
                <a:solidFill>
                  <a:srgbClr val="FFFFFF"/>
                </a:solidFill>
                <a:latin typeface="微软雅黑"/>
                <a:cs typeface="微软雅黑"/>
              </a:rPr>
              <a:t>方便使用</a:t>
            </a:r>
            <a:endParaRPr sz="1800">
              <a:latin typeface="微软雅黑"/>
              <a:cs typeface="微软雅黑"/>
            </a:endParaRPr>
          </a:p>
          <a:p>
            <a:pPr marL="51435" marR="5080">
              <a:lnSpc>
                <a:spcPts val="2160"/>
              </a:lnSpc>
              <a:spcBef>
                <a:spcPts val="170"/>
              </a:spcBef>
            </a:pPr>
            <a:r>
              <a:rPr dirty="0" sz="1200">
                <a:solidFill>
                  <a:srgbClr val="FFFFFF"/>
                </a:solidFill>
                <a:latin typeface="微软雅黑"/>
                <a:cs typeface="微软雅黑"/>
              </a:rPr>
              <a:t>安装的便利性，更长的使用寿命，大大降 低使用周期内的成本。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2165" y="6435242"/>
            <a:ext cx="615315" cy="1498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32026" y="2917946"/>
            <a:ext cx="1497965" cy="6756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850" spc="5" b="1">
                <a:solidFill>
                  <a:srgbClr val="FFC000"/>
                </a:solidFill>
                <a:latin typeface="微软雅黑"/>
                <a:cs typeface="微软雅黑"/>
              </a:rPr>
              <a:t>50/80W</a:t>
            </a:r>
            <a:endParaRPr sz="185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替换</a:t>
            </a:r>
            <a:r>
              <a:rPr dirty="0" sz="1450" spc="0" b="1">
                <a:solidFill>
                  <a:srgbClr val="D9D9D9"/>
                </a:solidFill>
                <a:latin typeface="微软雅黑"/>
                <a:cs typeface="微软雅黑"/>
              </a:rPr>
              <a:t>150W</a:t>
            </a: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金卤灯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6212" y="999235"/>
            <a:ext cx="464312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0000"/>
                </a:solidFill>
                <a:latin typeface="微软雅黑"/>
                <a:cs typeface="微软雅黑"/>
              </a:rPr>
              <a:t>7</a:t>
            </a:r>
            <a:r>
              <a:rPr dirty="0" sz="2400" spc="-90" b="1">
                <a:solidFill>
                  <a:srgbClr val="FF0000"/>
                </a:solidFill>
                <a:latin typeface="微软雅黑"/>
                <a:cs typeface="微软雅黑"/>
              </a:rPr>
              <a:t> </a:t>
            </a:r>
            <a:r>
              <a:rPr dirty="0" sz="2100" spc="30">
                <a:solidFill>
                  <a:srgbClr val="BEBEBE"/>
                </a:solidFill>
                <a:latin typeface="微软雅黑"/>
                <a:cs typeface="微软雅黑"/>
              </a:rPr>
              <a:t>档功率细分，满足不同层高应用场合</a:t>
            </a:r>
            <a:endParaRPr sz="2100">
              <a:latin typeface="微软雅黑"/>
              <a:cs typeface="微软雅黑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975986" y="2332222"/>
            <a:ext cx="1528445" cy="6756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850" spc="5" b="1">
                <a:solidFill>
                  <a:srgbClr val="FFC000"/>
                </a:solidFill>
                <a:latin typeface="微软雅黑"/>
                <a:cs typeface="微软雅黑"/>
              </a:rPr>
              <a:t>100W/120W</a:t>
            </a:r>
            <a:endParaRPr sz="1850">
              <a:latin typeface="微软雅黑"/>
              <a:cs typeface="微软雅黑"/>
            </a:endParaRPr>
          </a:p>
          <a:p>
            <a:pPr marL="27305">
              <a:lnSpc>
                <a:spcPct val="100000"/>
              </a:lnSpc>
              <a:spcBef>
                <a:spcPts val="509"/>
              </a:spcBef>
            </a:pP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替换</a:t>
            </a:r>
            <a:r>
              <a:rPr dirty="0" sz="1450" spc="0" b="1">
                <a:solidFill>
                  <a:srgbClr val="D9D9D9"/>
                </a:solidFill>
                <a:latin typeface="微软雅黑"/>
                <a:cs typeface="微软雅黑"/>
              </a:rPr>
              <a:t>250W</a:t>
            </a: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金卤灯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21497" y="1741799"/>
            <a:ext cx="1497965" cy="6756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45"/>
              </a:spcBef>
            </a:pPr>
            <a:r>
              <a:rPr dirty="0" sz="1850" spc="5" b="1">
                <a:solidFill>
                  <a:srgbClr val="FFC000"/>
                </a:solidFill>
                <a:latin typeface="微软雅黑"/>
                <a:cs typeface="微软雅黑"/>
              </a:rPr>
              <a:t>150W</a:t>
            </a:r>
            <a:endParaRPr sz="185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509"/>
              </a:spcBef>
            </a:pP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替换</a:t>
            </a:r>
            <a:r>
              <a:rPr dirty="0" sz="1450" b="1">
                <a:solidFill>
                  <a:srgbClr val="D9D9D9"/>
                </a:solidFill>
                <a:latin typeface="微软雅黑"/>
                <a:cs typeface="微软雅黑"/>
              </a:rPr>
              <a:t>400W</a:t>
            </a: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金卤灯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94975" y="1461382"/>
            <a:ext cx="1531620" cy="6756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273050">
              <a:lnSpc>
                <a:spcPct val="100000"/>
              </a:lnSpc>
              <a:spcBef>
                <a:spcPts val="745"/>
              </a:spcBef>
            </a:pPr>
            <a:r>
              <a:rPr dirty="0" sz="1850" spc="5" b="1">
                <a:solidFill>
                  <a:srgbClr val="FFC000"/>
                </a:solidFill>
                <a:latin typeface="微软雅黑"/>
                <a:cs typeface="微软雅黑"/>
              </a:rPr>
              <a:t>2</a:t>
            </a:r>
            <a:r>
              <a:rPr dirty="0" sz="1850" b="1">
                <a:solidFill>
                  <a:srgbClr val="FFC000"/>
                </a:solidFill>
                <a:latin typeface="微软雅黑"/>
                <a:cs typeface="微软雅黑"/>
              </a:rPr>
              <a:t>0</a:t>
            </a:r>
            <a:r>
              <a:rPr dirty="0" sz="1850" spc="5" b="1">
                <a:solidFill>
                  <a:srgbClr val="FFC000"/>
                </a:solidFill>
                <a:latin typeface="微软雅黑"/>
                <a:cs typeface="微软雅黑"/>
              </a:rPr>
              <a:t>0/2</a:t>
            </a:r>
            <a:r>
              <a:rPr dirty="0" sz="1850" b="1">
                <a:solidFill>
                  <a:srgbClr val="FFC000"/>
                </a:solidFill>
                <a:latin typeface="微软雅黑"/>
                <a:cs typeface="微软雅黑"/>
              </a:rPr>
              <a:t>4</a:t>
            </a:r>
            <a:r>
              <a:rPr dirty="0" sz="1850" spc="-5" b="1">
                <a:solidFill>
                  <a:srgbClr val="FFC000"/>
                </a:solidFill>
                <a:latin typeface="微软雅黑"/>
                <a:cs typeface="微软雅黑"/>
              </a:rPr>
              <a:t>0</a:t>
            </a:r>
            <a:r>
              <a:rPr dirty="0" sz="1850" spc="15" b="1">
                <a:solidFill>
                  <a:srgbClr val="FFC000"/>
                </a:solidFill>
                <a:latin typeface="微软雅黑"/>
                <a:cs typeface="微软雅黑"/>
              </a:rPr>
              <a:t>W</a:t>
            </a:r>
            <a:endParaRPr sz="18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替换</a:t>
            </a:r>
            <a:r>
              <a:rPr dirty="0" sz="1450" spc="0" b="1">
                <a:solidFill>
                  <a:srgbClr val="D9D9D9"/>
                </a:solidFill>
                <a:latin typeface="微软雅黑"/>
                <a:cs typeface="微软雅黑"/>
              </a:rPr>
              <a:t>600W</a:t>
            </a:r>
            <a:r>
              <a:rPr dirty="0" sz="1450" spc="5">
                <a:solidFill>
                  <a:srgbClr val="D9D9D9"/>
                </a:solidFill>
                <a:latin typeface="微软雅黑"/>
                <a:cs typeface="微软雅黑"/>
              </a:rPr>
              <a:t>金卤灯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5900" y="4430267"/>
            <a:ext cx="944880" cy="335280"/>
          </a:xfrm>
          <a:prstGeom prst="rect">
            <a:avLst/>
          </a:prstGeom>
          <a:solidFill>
            <a:srgbClr val="30302F"/>
          </a:solidFill>
        </p:spPr>
        <p:txBody>
          <a:bodyPr wrap="square" lIns="0" tIns="37465" rIns="0" bIns="0" rtlCol="0" vert="horz">
            <a:spAutoFit/>
          </a:bodyPr>
          <a:lstStyle/>
          <a:p>
            <a:pPr marL="108585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solidFill>
                  <a:srgbClr val="BEBEBE"/>
                </a:solidFill>
                <a:latin typeface="微软雅黑"/>
                <a:cs typeface="微软雅黑"/>
              </a:rPr>
              <a:t>7-10M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43400" y="4088891"/>
            <a:ext cx="1065530" cy="341630"/>
          </a:xfrm>
          <a:prstGeom prst="rect">
            <a:avLst/>
          </a:prstGeom>
          <a:solidFill>
            <a:srgbClr val="3C3C3C"/>
          </a:solidFill>
        </p:spPr>
        <p:txBody>
          <a:bodyPr wrap="square" lIns="0" tIns="3746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solidFill>
                  <a:srgbClr val="BEBEBE"/>
                </a:solidFill>
                <a:latin typeface="微软雅黑"/>
                <a:cs typeface="微软雅黑"/>
              </a:rPr>
              <a:t>10-15M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360919" y="3822191"/>
            <a:ext cx="1065530" cy="341630"/>
          </a:xfrm>
          <a:prstGeom prst="rect">
            <a:avLst/>
          </a:prstGeom>
          <a:solidFill>
            <a:srgbClr val="4E4E4D"/>
          </a:solidFill>
        </p:spPr>
        <p:txBody>
          <a:bodyPr wrap="square" lIns="0" tIns="37465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295"/>
              </a:spcBef>
            </a:pPr>
            <a:r>
              <a:rPr dirty="0" sz="1800">
                <a:solidFill>
                  <a:srgbClr val="BEBEBE"/>
                </a:solidFill>
                <a:latin typeface="微软雅黑"/>
                <a:cs typeface="微软雅黑"/>
              </a:rPr>
              <a:t>15-20M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43616" y="3563111"/>
            <a:ext cx="1065530" cy="341630"/>
          </a:xfrm>
          <a:prstGeom prst="rect">
            <a:avLst/>
          </a:prstGeom>
          <a:solidFill>
            <a:srgbClr val="525252"/>
          </a:solidFill>
        </p:spPr>
        <p:txBody>
          <a:bodyPr wrap="square" lIns="0" tIns="36830" rIns="0" bIns="0" rtlCol="0" vert="horz">
            <a:spAutoFit/>
          </a:bodyPr>
          <a:lstStyle/>
          <a:p>
            <a:pPr marL="201930">
              <a:lnSpc>
                <a:spcPct val="100000"/>
              </a:lnSpc>
              <a:spcBef>
                <a:spcPts val="290"/>
              </a:spcBef>
            </a:pPr>
            <a:r>
              <a:rPr dirty="0" sz="1800" spc="-5">
                <a:solidFill>
                  <a:srgbClr val="BEBEBE"/>
                </a:solidFill>
                <a:latin typeface="微软雅黑"/>
                <a:cs typeface="微软雅黑"/>
              </a:rPr>
              <a:t>20M+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30784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44650" algn="l"/>
              </a:tabLst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市场应用</a:t>
            </a: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应用空间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3880" y="2404872"/>
            <a:ext cx="1844039" cy="10378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419855" y="1886711"/>
            <a:ext cx="1845564" cy="10378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63868" y="1132332"/>
            <a:ext cx="1667255" cy="10378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549383" y="519683"/>
            <a:ext cx="2186939" cy="11018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512165" y="6435242"/>
            <a:ext cx="615315" cy="1498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318389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50060" algn="l"/>
              </a:tabLst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市场定位</a:t>
            </a: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产品参数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30936" y="1025652"/>
            <a:ext cx="10122535" cy="346075"/>
          </a:xfrm>
          <a:prstGeom prst="rect">
            <a:avLst/>
          </a:prstGeom>
          <a:solidFill>
            <a:srgbClr val="525252"/>
          </a:solidFill>
        </p:spPr>
        <p:txBody>
          <a:bodyPr wrap="square" lIns="0" tIns="39370" rIns="0" bIns="0" rtlCol="0" vert="horz">
            <a:spAutoFit/>
          </a:bodyPr>
          <a:lstStyle/>
          <a:p>
            <a:pPr algn="ctr" marR="1134110">
              <a:lnSpc>
                <a:spcPct val="100000"/>
              </a:lnSpc>
              <a:spcBef>
                <a:spcPts val="310"/>
              </a:spcBef>
            </a:pPr>
            <a:r>
              <a:rPr dirty="0" sz="1400" spc="-5">
                <a:solidFill>
                  <a:srgbClr val="FFFFFF"/>
                </a:solidFill>
                <a:latin typeface="微软雅黑"/>
                <a:cs typeface="微软雅黑"/>
              </a:rPr>
              <a:t>LED</a:t>
            </a:r>
            <a:r>
              <a:rPr dirty="0" sz="1400">
                <a:solidFill>
                  <a:srgbClr val="FFFFFF"/>
                </a:solidFill>
                <a:latin typeface="微软雅黑"/>
                <a:cs typeface="微软雅黑"/>
              </a:rPr>
              <a:t>天棚灯-鹏辰</a:t>
            </a:r>
            <a:r>
              <a:rPr dirty="0" sz="1400" spc="-5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400">
                <a:solidFill>
                  <a:srgbClr val="FFFFFF"/>
                </a:solidFill>
                <a:latin typeface="微软雅黑"/>
                <a:cs typeface="微软雅黑"/>
              </a:rPr>
              <a:t>产品参数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31698" y="1719833"/>
            <a:ext cx="2263140" cy="4354195"/>
          </a:xfrm>
          <a:custGeom>
            <a:avLst/>
            <a:gdLst/>
            <a:ahLst/>
            <a:cxnLst/>
            <a:rect l="l" t="t" r="r" b="b"/>
            <a:pathLst>
              <a:path w="2263140" h="4354195">
                <a:moveTo>
                  <a:pt x="0" y="4354068"/>
                </a:moveTo>
                <a:lnTo>
                  <a:pt x="2263140" y="4354068"/>
                </a:lnTo>
                <a:lnTo>
                  <a:pt x="2263140" y="0"/>
                </a:lnTo>
                <a:lnTo>
                  <a:pt x="0" y="0"/>
                </a:lnTo>
                <a:lnTo>
                  <a:pt x="0" y="4354068"/>
                </a:lnTo>
                <a:close/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946654" y="1726183"/>
          <a:ext cx="7820025" cy="4353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6025"/>
                <a:gridCol w="1216025"/>
                <a:gridCol w="767080"/>
                <a:gridCol w="767080"/>
                <a:gridCol w="767079"/>
                <a:gridCol w="767079"/>
                <a:gridCol w="767079"/>
                <a:gridCol w="767080"/>
                <a:gridCol w="767079"/>
              </a:tblGrid>
              <a:tr h="22796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概述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型号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TP0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9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0500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10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TP0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9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0800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10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TP0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9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1000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16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TP0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9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1200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16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TP0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9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1500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16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TP0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9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2000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16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dirty="0" sz="9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TP0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9</a:t>
                      </a:r>
                      <a:r>
                        <a:rPr dirty="0" sz="9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2400</a:t>
                      </a:r>
                      <a:r>
                        <a:rPr dirty="0" sz="9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16</a:t>
                      </a:r>
                      <a:endParaRPr sz="900">
                        <a:latin typeface="微软雅黑"/>
                        <a:cs typeface="微软雅黑"/>
                      </a:endParaRPr>
                    </a:p>
                  </a:txBody>
                  <a:tcPr marL="0" marR="0" marB="0" marT="4889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功率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50W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80W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100W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120W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150W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200W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240W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光通量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6500</a:t>
                      </a:r>
                      <a:r>
                        <a:rPr dirty="0" sz="1050" spc="-6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10400</a:t>
                      </a:r>
                      <a:r>
                        <a:rPr dirty="0" sz="1050" spc="-7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13000</a:t>
                      </a:r>
                      <a:r>
                        <a:rPr dirty="0" sz="1050" spc="-7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15600</a:t>
                      </a:r>
                      <a:r>
                        <a:rPr dirty="0" sz="1050" spc="-7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19500</a:t>
                      </a:r>
                      <a:r>
                        <a:rPr dirty="0" sz="1050" spc="-7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26000</a:t>
                      </a:r>
                      <a:r>
                        <a:rPr dirty="0" sz="1050" spc="-7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31200</a:t>
                      </a:r>
                      <a:r>
                        <a:rPr dirty="0" sz="1050" spc="-6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光效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130lm/w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3937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光学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色温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（CCT）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5700K，4000K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显色指数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（Ra）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Ra≥80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光束角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60°，90°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SDCM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&lt;5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电子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工作电压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176~264Vac；50/60Hz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频闪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无频闪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（IEEE</a:t>
                      </a:r>
                      <a:r>
                        <a:rPr dirty="0" sz="1050" spc="-3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std</a:t>
                      </a:r>
                      <a:r>
                        <a:rPr dirty="0" sz="1050" spc="-2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1789）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功率因数（PF）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＞0.95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浪涌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4KV/4KV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防触电等级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Class</a:t>
                      </a:r>
                      <a:r>
                        <a:rPr dirty="0" sz="1050" spc="-3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Ⅰ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结构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571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防护等级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IP65,IK08,WF2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材质颜色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太空灰</a:t>
                      </a:r>
                      <a:r>
                        <a:rPr dirty="0" sz="105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(</a:t>
                      </a: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压铸铝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)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安装方式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marL="134366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吊钩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(Rp1/2)</a:t>
                      </a:r>
                      <a:r>
                        <a:rPr dirty="0" sz="1050" spc="-4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/ </a:t>
                      </a: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吊杆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(Rp1/2)</a:t>
                      </a:r>
                      <a:r>
                        <a:rPr dirty="0" sz="1050" spc="-3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/</a:t>
                      </a:r>
                      <a:r>
                        <a:rPr dirty="0" sz="1050" spc="-1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壁装，选配灯罩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 algn="ctr" marL="11430">
                        <a:lnSpc>
                          <a:spcPct val="100000"/>
                        </a:lnSpc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质量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571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灯具寿命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50000hrs</a:t>
                      </a:r>
                      <a:r>
                        <a:rPr dirty="0" sz="1050" spc="-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（L70/B50）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工作环境（Ta）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-5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-30°~50°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安全认证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gridSpan="7"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CCC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12700">
                      <a:solidFill>
                        <a:srgbClr val="A4A4A4"/>
                      </a:solidFill>
                      <a:prstDash val="solid"/>
                    </a:lnL>
                    <a:lnR w="12700">
                      <a:solidFill>
                        <a:srgbClr val="A4A4A4"/>
                      </a:solidFill>
                      <a:prstDash val="solid"/>
                    </a:lnR>
                    <a:lnT w="12700">
                      <a:solidFill>
                        <a:srgbClr val="A4A4A4"/>
                      </a:solidFill>
                      <a:prstDash val="solid"/>
                    </a:lnT>
                    <a:lnB w="12700">
                      <a:solidFill>
                        <a:srgbClr val="A4A4A4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798576" y="3881628"/>
            <a:ext cx="1920239" cy="10805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65632" y="2066544"/>
            <a:ext cx="1920239" cy="10805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12165" y="6435242"/>
            <a:ext cx="615315" cy="1498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2132564" y="4832603"/>
            <a:ext cx="41275" cy="546100"/>
          </a:xfrm>
          <a:custGeom>
            <a:avLst/>
            <a:gdLst/>
            <a:ahLst/>
            <a:cxnLst/>
            <a:rect l="l" t="t" r="r" b="b"/>
            <a:pathLst>
              <a:path w="41275" h="546100">
                <a:moveTo>
                  <a:pt x="0" y="545592"/>
                </a:moveTo>
                <a:lnTo>
                  <a:pt x="41147" y="545592"/>
                </a:lnTo>
                <a:lnTo>
                  <a:pt x="41147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078468" y="4832603"/>
            <a:ext cx="151130" cy="546100"/>
          </a:xfrm>
          <a:custGeom>
            <a:avLst/>
            <a:gdLst/>
            <a:ahLst/>
            <a:cxnLst/>
            <a:rect l="l" t="t" r="r" b="b"/>
            <a:pathLst>
              <a:path w="151129" h="546100">
                <a:moveTo>
                  <a:pt x="0" y="545592"/>
                </a:moveTo>
                <a:lnTo>
                  <a:pt x="150875" y="545592"/>
                </a:lnTo>
                <a:lnTo>
                  <a:pt x="150875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083808" y="4832603"/>
            <a:ext cx="90170" cy="546100"/>
          </a:xfrm>
          <a:custGeom>
            <a:avLst/>
            <a:gdLst/>
            <a:ahLst/>
            <a:cxnLst/>
            <a:rect l="l" t="t" r="r" b="b"/>
            <a:pathLst>
              <a:path w="90170" h="546100">
                <a:moveTo>
                  <a:pt x="0" y="545592"/>
                </a:moveTo>
                <a:lnTo>
                  <a:pt x="89916" y="545592"/>
                </a:lnTo>
                <a:lnTo>
                  <a:pt x="89916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02864" y="4832603"/>
            <a:ext cx="79375" cy="546100"/>
          </a:xfrm>
          <a:custGeom>
            <a:avLst/>
            <a:gdLst/>
            <a:ahLst/>
            <a:cxnLst/>
            <a:rect l="l" t="t" r="r" b="b"/>
            <a:pathLst>
              <a:path w="79375" h="546100">
                <a:moveTo>
                  <a:pt x="0" y="545592"/>
                </a:moveTo>
                <a:lnTo>
                  <a:pt x="79248" y="545592"/>
                </a:lnTo>
                <a:lnTo>
                  <a:pt x="79248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4832603"/>
            <a:ext cx="201295" cy="546100"/>
          </a:xfrm>
          <a:custGeom>
            <a:avLst/>
            <a:gdLst/>
            <a:ahLst/>
            <a:cxnLst/>
            <a:rect l="l" t="t" r="r" b="b"/>
            <a:pathLst>
              <a:path w="201295" h="546100">
                <a:moveTo>
                  <a:pt x="0" y="545592"/>
                </a:moveTo>
                <a:lnTo>
                  <a:pt x="201168" y="545592"/>
                </a:lnTo>
                <a:lnTo>
                  <a:pt x="201168" y="0"/>
                </a:lnTo>
                <a:lnTo>
                  <a:pt x="0" y="0"/>
                </a:lnTo>
                <a:lnTo>
                  <a:pt x="0" y="545592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5260" y="1766316"/>
            <a:ext cx="3008376" cy="42321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1168" y="1847088"/>
            <a:ext cx="2901950" cy="4125595"/>
          </a:xfrm>
          <a:custGeom>
            <a:avLst/>
            <a:gdLst/>
            <a:ahLst/>
            <a:cxnLst/>
            <a:rect l="l" t="t" r="r" b="b"/>
            <a:pathLst>
              <a:path w="2901950" h="4125595">
                <a:moveTo>
                  <a:pt x="0" y="4125467"/>
                </a:moveTo>
                <a:lnTo>
                  <a:pt x="2901696" y="4125467"/>
                </a:lnTo>
                <a:lnTo>
                  <a:pt x="2901696" y="0"/>
                </a:lnTo>
                <a:lnTo>
                  <a:pt x="0" y="0"/>
                </a:lnTo>
                <a:lnTo>
                  <a:pt x="0" y="4125467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22731" y="4567428"/>
            <a:ext cx="147955" cy="1036319"/>
          </a:xfrm>
          <a:custGeom>
            <a:avLst/>
            <a:gdLst/>
            <a:ahLst/>
            <a:cxnLst/>
            <a:rect l="l" t="t" r="r" b="b"/>
            <a:pathLst>
              <a:path w="147954" h="1036320">
                <a:moveTo>
                  <a:pt x="73914" y="0"/>
                </a:moveTo>
                <a:lnTo>
                  <a:pt x="45144" y="5816"/>
                </a:lnTo>
                <a:lnTo>
                  <a:pt x="21650" y="21669"/>
                </a:lnTo>
                <a:lnTo>
                  <a:pt x="5809" y="45166"/>
                </a:lnTo>
                <a:lnTo>
                  <a:pt x="0" y="73914"/>
                </a:lnTo>
                <a:lnTo>
                  <a:pt x="0" y="962406"/>
                </a:lnTo>
                <a:lnTo>
                  <a:pt x="5809" y="991153"/>
                </a:lnTo>
                <a:lnTo>
                  <a:pt x="21650" y="1014650"/>
                </a:lnTo>
                <a:lnTo>
                  <a:pt x="45144" y="1030503"/>
                </a:lnTo>
                <a:lnTo>
                  <a:pt x="73914" y="1036320"/>
                </a:lnTo>
                <a:lnTo>
                  <a:pt x="102683" y="1030503"/>
                </a:lnTo>
                <a:lnTo>
                  <a:pt x="126177" y="1014650"/>
                </a:lnTo>
                <a:lnTo>
                  <a:pt x="142018" y="991153"/>
                </a:lnTo>
                <a:lnTo>
                  <a:pt x="147828" y="962406"/>
                </a:lnTo>
                <a:lnTo>
                  <a:pt x="147828" y="73914"/>
                </a:lnTo>
                <a:lnTo>
                  <a:pt x="142018" y="45166"/>
                </a:lnTo>
                <a:lnTo>
                  <a:pt x="126177" y="21669"/>
                </a:lnTo>
                <a:lnTo>
                  <a:pt x="102683" y="5816"/>
                </a:lnTo>
                <a:lnTo>
                  <a:pt x="73914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625851" y="4567428"/>
            <a:ext cx="147955" cy="1036319"/>
          </a:xfrm>
          <a:custGeom>
            <a:avLst/>
            <a:gdLst/>
            <a:ahLst/>
            <a:cxnLst/>
            <a:rect l="l" t="t" r="r" b="b"/>
            <a:pathLst>
              <a:path w="147955" h="1036320">
                <a:moveTo>
                  <a:pt x="73914" y="0"/>
                </a:moveTo>
                <a:lnTo>
                  <a:pt x="45166" y="5816"/>
                </a:lnTo>
                <a:lnTo>
                  <a:pt x="21669" y="21669"/>
                </a:lnTo>
                <a:lnTo>
                  <a:pt x="5816" y="45166"/>
                </a:lnTo>
                <a:lnTo>
                  <a:pt x="0" y="73914"/>
                </a:lnTo>
                <a:lnTo>
                  <a:pt x="0" y="962406"/>
                </a:lnTo>
                <a:lnTo>
                  <a:pt x="5816" y="991153"/>
                </a:lnTo>
                <a:lnTo>
                  <a:pt x="21669" y="1014650"/>
                </a:lnTo>
                <a:lnTo>
                  <a:pt x="45166" y="1030503"/>
                </a:lnTo>
                <a:lnTo>
                  <a:pt x="73914" y="1036320"/>
                </a:lnTo>
                <a:lnTo>
                  <a:pt x="102661" y="1030503"/>
                </a:lnTo>
                <a:lnTo>
                  <a:pt x="126158" y="1014650"/>
                </a:lnTo>
                <a:lnTo>
                  <a:pt x="142011" y="991153"/>
                </a:lnTo>
                <a:lnTo>
                  <a:pt x="147828" y="962406"/>
                </a:lnTo>
                <a:lnTo>
                  <a:pt x="147828" y="73914"/>
                </a:lnTo>
                <a:lnTo>
                  <a:pt x="142011" y="45166"/>
                </a:lnTo>
                <a:lnTo>
                  <a:pt x="126158" y="21669"/>
                </a:lnTo>
                <a:lnTo>
                  <a:pt x="102661" y="5816"/>
                </a:lnTo>
                <a:lnTo>
                  <a:pt x="73914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5404" y="4664964"/>
            <a:ext cx="2176780" cy="864235"/>
          </a:xfrm>
          <a:custGeom>
            <a:avLst/>
            <a:gdLst/>
            <a:ahLst/>
            <a:cxnLst/>
            <a:rect l="l" t="t" r="r" b="b"/>
            <a:pathLst>
              <a:path w="2176780" h="864235">
                <a:moveTo>
                  <a:pt x="0" y="864108"/>
                </a:moveTo>
                <a:lnTo>
                  <a:pt x="2176272" y="864108"/>
                </a:lnTo>
                <a:lnTo>
                  <a:pt x="2176272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60703" y="4860035"/>
            <a:ext cx="1236345" cy="528955"/>
          </a:xfrm>
          <a:custGeom>
            <a:avLst/>
            <a:gdLst/>
            <a:ahLst/>
            <a:cxnLst/>
            <a:rect l="l" t="t" r="r" b="b"/>
            <a:pathLst>
              <a:path w="1236345" h="528954">
                <a:moveTo>
                  <a:pt x="0" y="528827"/>
                </a:moveTo>
                <a:lnTo>
                  <a:pt x="1235963" y="528827"/>
                </a:lnTo>
                <a:lnTo>
                  <a:pt x="1235963" y="0"/>
                </a:lnTo>
                <a:lnTo>
                  <a:pt x="0" y="0"/>
                </a:lnTo>
                <a:lnTo>
                  <a:pt x="0" y="528827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156204" y="1766316"/>
            <a:ext cx="3008375" cy="423214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182111" y="1847088"/>
            <a:ext cx="2901950" cy="4125595"/>
          </a:xfrm>
          <a:custGeom>
            <a:avLst/>
            <a:gdLst/>
            <a:ahLst/>
            <a:cxnLst/>
            <a:rect l="l" t="t" r="r" b="b"/>
            <a:pathLst>
              <a:path w="2901950" h="4125595">
                <a:moveTo>
                  <a:pt x="0" y="4125467"/>
                </a:moveTo>
                <a:lnTo>
                  <a:pt x="2901695" y="4125467"/>
                </a:lnTo>
                <a:lnTo>
                  <a:pt x="2901695" y="0"/>
                </a:lnTo>
                <a:lnTo>
                  <a:pt x="0" y="0"/>
                </a:lnTo>
                <a:lnTo>
                  <a:pt x="0" y="4125467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00628" y="4567428"/>
            <a:ext cx="151130" cy="1036319"/>
          </a:xfrm>
          <a:custGeom>
            <a:avLst/>
            <a:gdLst/>
            <a:ahLst/>
            <a:cxnLst/>
            <a:rect l="l" t="t" r="r" b="b"/>
            <a:pathLst>
              <a:path w="151129" h="1036320">
                <a:moveTo>
                  <a:pt x="75437" y="0"/>
                </a:moveTo>
                <a:lnTo>
                  <a:pt x="46077" y="5929"/>
                </a:lnTo>
                <a:lnTo>
                  <a:pt x="22098" y="22098"/>
                </a:lnTo>
                <a:lnTo>
                  <a:pt x="5929" y="46077"/>
                </a:lnTo>
                <a:lnTo>
                  <a:pt x="0" y="75438"/>
                </a:lnTo>
                <a:lnTo>
                  <a:pt x="0" y="960882"/>
                </a:lnTo>
                <a:lnTo>
                  <a:pt x="5929" y="990242"/>
                </a:lnTo>
                <a:lnTo>
                  <a:pt x="22098" y="1014222"/>
                </a:lnTo>
                <a:lnTo>
                  <a:pt x="46077" y="1030390"/>
                </a:lnTo>
                <a:lnTo>
                  <a:pt x="75437" y="1036320"/>
                </a:lnTo>
                <a:lnTo>
                  <a:pt x="104798" y="1030390"/>
                </a:lnTo>
                <a:lnTo>
                  <a:pt x="128777" y="1014222"/>
                </a:lnTo>
                <a:lnTo>
                  <a:pt x="144946" y="990242"/>
                </a:lnTo>
                <a:lnTo>
                  <a:pt x="150875" y="960882"/>
                </a:lnTo>
                <a:lnTo>
                  <a:pt x="150875" y="75438"/>
                </a:lnTo>
                <a:lnTo>
                  <a:pt x="144946" y="46077"/>
                </a:lnTo>
                <a:lnTo>
                  <a:pt x="128777" y="22098"/>
                </a:lnTo>
                <a:lnTo>
                  <a:pt x="104798" y="5929"/>
                </a:lnTo>
                <a:lnTo>
                  <a:pt x="75437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603747" y="4567428"/>
            <a:ext cx="149860" cy="1036319"/>
          </a:xfrm>
          <a:custGeom>
            <a:avLst/>
            <a:gdLst/>
            <a:ahLst/>
            <a:cxnLst/>
            <a:rect l="l" t="t" r="r" b="b"/>
            <a:pathLst>
              <a:path w="149860" h="1036320">
                <a:moveTo>
                  <a:pt x="74675" y="0"/>
                </a:moveTo>
                <a:lnTo>
                  <a:pt x="45594" y="5863"/>
                </a:lnTo>
                <a:lnTo>
                  <a:pt x="21859" y="21859"/>
                </a:lnTo>
                <a:lnTo>
                  <a:pt x="5863" y="45594"/>
                </a:lnTo>
                <a:lnTo>
                  <a:pt x="0" y="74676"/>
                </a:lnTo>
                <a:lnTo>
                  <a:pt x="0" y="961644"/>
                </a:lnTo>
                <a:lnTo>
                  <a:pt x="5863" y="990725"/>
                </a:lnTo>
                <a:lnTo>
                  <a:pt x="21859" y="1014460"/>
                </a:lnTo>
                <a:lnTo>
                  <a:pt x="45594" y="1030456"/>
                </a:lnTo>
                <a:lnTo>
                  <a:pt x="74675" y="1036320"/>
                </a:lnTo>
                <a:lnTo>
                  <a:pt x="103757" y="1030456"/>
                </a:lnTo>
                <a:lnTo>
                  <a:pt x="127492" y="1014460"/>
                </a:lnTo>
                <a:lnTo>
                  <a:pt x="143488" y="990725"/>
                </a:lnTo>
                <a:lnTo>
                  <a:pt x="149351" y="961644"/>
                </a:lnTo>
                <a:lnTo>
                  <a:pt x="149351" y="74676"/>
                </a:lnTo>
                <a:lnTo>
                  <a:pt x="143488" y="45594"/>
                </a:lnTo>
                <a:lnTo>
                  <a:pt x="127492" y="21859"/>
                </a:lnTo>
                <a:lnTo>
                  <a:pt x="103757" y="5863"/>
                </a:lnTo>
                <a:lnTo>
                  <a:pt x="74675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46347" y="4664964"/>
            <a:ext cx="2176780" cy="864235"/>
          </a:xfrm>
          <a:custGeom>
            <a:avLst/>
            <a:gdLst/>
            <a:ahLst/>
            <a:cxnLst/>
            <a:rect l="l" t="t" r="r" b="b"/>
            <a:pathLst>
              <a:path w="2176779" h="864235">
                <a:moveTo>
                  <a:pt x="0" y="864108"/>
                </a:moveTo>
                <a:lnTo>
                  <a:pt x="2176272" y="864108"/>
                </a:lnTo>
                <a:lnTo>
                  <a:pt x="2176272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029455" y="4843271"/>
            <a:ext cx="1237615" cy="527685"/>
          </a:xfrm>
          <a:custGeom>
            <a:avLst/>
            <a:gdLst/>
            <a:ahLst/>
            <a:cxnLst/>
            <a:rect l="l" t="t" r="r" b="b"/>
            <a:pathLst>
              <a:path w="1237614" h="527685">
                <a:moveTo>
                  <a:pt x="0" y="527303"/>
                </a:moveTo>
                <a:lnTo>
                  <a:pt x="1237488" y="527303"/>
                </a:lnTo>
                <a:lnTo>
                  <a:pt x="1237488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47815" y="1766316"/>
            <a:ext cx="3011424" cy="42321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73723" y="1847088"/>
            <a:ext cx="2905125" cy="4125595"/>
          </a:xfrm>
          <a:custGeom>
            <a:avLst/>
            <a:gdLst/>
            <a:ahLst/>
            <a:cxnLst/>
            <a:rect l="l" t="t" r="r" b="b"/>
            <a:pathLst>
              <a:path w="2905125" h="4125595">
                <a:moveTo>
                  <a:pt x="0" y="4125467"/>
                </a:moveTo>
                <a:lnTo>
                  <a:pt x="2904744" y="4125467"/>
                </a:lnTo>
                <a:lnTo>
                  <a:pt x="2904744" y="0"/>
                </a:lnTo>
                <a:lnTo>
                  <a:pt x="0" y="0"/>
                </a:lnTo>
                <a:lnTo>
                  <a:pt x="0" y="4125467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93764" y="4567428"/>
            <a:ext cx="147955" cy="1036319"/>
          </a:xfrm>
          <a:custGeom>
            <a:avLst/>
            <a:gdLst/>
            <a:ahLst/>
            <a:cxnLst/>
            <a:rect l="l" t="t" r="r" b="b"/>
            <a:pathLst>
              <a:path w="147954" h="1036320">
                <a:moveTo>
                  <a:pt x="73913" y="0"/>
                </a:moveTo>
                <a:lnTo>
                  <a:pt x="45166" y="5816"/>
                </a:lnTo>
                <a:lnTo>
                  <a:pt x="21669" y="21669"/>
                </a:lnTo>
                <a:lnTo>
                  <a:pt x="5816" y="45166"/>
                </a:lnTo>
                <a:lnTo>
                  <a:pt x="0" y="73914"/>
                </a:lnTo>
                <a:lnTo>
                  <a:pt x="0" y="962406"/>
                </a:lnTo>
                <a:lnTo>
                  <a:pt x="5816" y="991153"/>
                </a:lnTo>
                <a:lnTo>
                  <a:pt x="21669" y="1014650"/>
                </a:lnTo>
                <a:lnTo>
                  <a:pt x="45166" y="1030503"/>
                </a:lnTo>
                <a:lnTo>
                  <a:pt x="73913" y="1036320"/>
                </a:lnTo>
                <a:lnTo>
                  <a:pt x="102661" y="1030503"/>
                </a:lnTo>
                <a:lnTo>
                  <a:pt x="126158" y="1014650"/>
                </a:lnTo>
                <a:lnTo>
                  <a:pt x="142011" y="991153"/>
                </a:lnTo>
                <a:lnTo>
                  <a:pt x="147828" y="962406"/>
                </a:lnTo>
                <a:lnTo>
                  <a:pt x="147828" y="73914"/>
                </a:lnTo>
                <a:lnTo>
                  <a:pt x="142011" y="45166"/>
                </a:lnTo>
                <a:lnTo>
                  <a:pt x="126158" y="21669"/>
                </a:lnTo>
                <a:lnTo>
                  <a:pt x="102661" y="5816"/>
                </a:lnTo>
                <a:lnTo>
                  <a:pt x="73913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598407" y="4567428"/>
            <a:ext cx="147955" cy="1036319"/>
          </a:xfrm>
          <a:custGeom>
            <a:avLst/>
            <a:gdLst/>
            <a:ahLst/>
            <a:cxnLst/>
            <a:rect l="l" t="t" r="r" b="b"/>
            <a:pathLst>
              <a:path w="147954" h="1036320">
                <a:moveTo>
                  <a:pt x="73914" y="0"/>
                </a:moveTo>
                <a:lnTo>
                  <a:pt x="45166" y="5816"/>
                </a:lnTo>
                <a:lnTo>
                  <a:pt x="21669" y="21669"/>
                </a:lnTo>
                <a:lnTo>
                  <a:pt x="5816" y="45166"/>
                </a:lnTo>
                <a:lnTo>
                  <a:pt x="0" y="73914"/>
                </a:lnTo>
                <a:lnTo>
                  <a:pt x="0" y="962406"/>
                </a:lnTo>
                <a:lnTo>
                  <a:pt x="5816" y="991153"/>
                </a:lnTo>
                <a:lnTo>
                  <a:pt x="21669" y="1014650"/>
                </a:lnTo>
                <a:lnTo>
                  <a:pt x="45166" y="1030503"/>
                </a:lnTo>
                <a:lnTo>
                  <a:pt x="73914" y="1036320"/>
                </a:lnTo>
                <a:lnTo>
                  <a:pt x="102661" y="1030503"/>
                </a:lnTo>
                <a:lnTo>
                  <a:pt x="126158" y="1014650"/>
                </a:lnTo>
                <a:lnTo>
                  <a:pt x="142011" y="991153"/>
                </a:lnTo>
                <a:lnTo>
                  <a:pt x="147827" y="962406"/>
                </a:lnTo>
                <a:lnTo>
                  <a:pt x="147827" y="73914"/>
                </a:lnTo>
                <a:lnTo>
                  <a:pt x="142011" y="45166"/>
                </a:lnTo>
                <a:lnTo>
                  <a:pt x="126158" y="21669"/>
                </a:lnTo>
                <a:lnTo>
                  <a:pt x="102661" y="5816"/>
                </a:lnTo>
                <a:lnTo>
                  <a:pt x="73914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37959" y="4664964"/>
            <a:ext cx="2176780" cy="864235"/>
          </a:xfrm>
          <a:custGeom>
            <a:avLst/>
            <a:gdLst/>
            <a:ahLst/>
            <a:cxnLst/>
            <a:rect l="l" t="t" r="r" b="b"/>
            <a:pathLst>
              <a:path w="2176779" h="864235">
                <a:moveTo>
                  <a:pt x="0" y="864108"/>
                </a:moveTo>
                <a:lnTo>
                  <a:pt x="2176272" y="864108"/>
                </a:lnTo>
                <a:lnTo>
                  <a:pt x="2176272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984492" y="4843271"/>
            <a:ext cx="1237615" cy="527685"/>
          </a:xfrm>
          <a:custGeom>
            <a:avLst/>
            <a:gdLst/>
            <a:ahLst/>
            <a:cxnLst/>
            <a:rect l="l" t="t" r="r" b="b"/>
            <a:pathLst>
              <a:path w="1237615" h="527685">
                <a:moveTo>
                  <a:pt x="0" y="527303"/>
                </a:moveTo>
                <a:lnTo>
                  <a:pt x="1237488" y="527303"/>
                </a:lnTo>
                <a:lnTo>
                  <a:pt x="1237488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039672" y="1908810"/>
            <a:ext cx="11836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300">
                <a:solidFill>
                  <a:srgbClr val="F1F1F1"/>
                </a:solidFill>
                <a:latin typeface="微软雅黑"/>
                <a:cs typeface="微软雅黑"/>
              </a:rPr>
              <a:t>安全可靠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76707" y="2565272"/>
            <a:ext cx="2473325" cy="13976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R="5080">
              <a:lnSpc>
                <a:spcPct val="150100"/>
              </a:lnSpc>
              <a:spcBef>
                <a:spcPts val="95"/>
              </a:spcBef>
            </a:pPr>
            <a:r>
              <a:rPr dirty="0" sz="1200" spc="10">
                <a:solidFill>
                  <a:srgbClr val="D9D9D9"/>
                </a:solidFill>
                <a:latin typeface="微软雅黑"/>
                <a:cs typeface="微软雅黑"/>
              </a:rPr>
              <a:t>鹏辰</a:t>
            </a:r>
            <a:r>
              <a:rPr dirty="0" sz="1200" spc="25">
                <a:solidFill>
                  <a:srgbClr val="D9D9D9"/>
                </a:solidFill>
                <a:latin typeface="微软雅黑"/>
                <a:cs typeface="微软雅黑"/>
              </a:rPr>
              <a:t>系列</a:t>
            </a:r>
            <a:r>
              <a:rPr dirty="0" sz="1200" spc="10">
                <a:solidFill>
                  <a:srgbClr val="D9D9D9"/>
                </a:solidFill>
                <a:latin typeface="微软雅黑"/>
                <a:cs typeface="微软雅黑"/>
              </a:rPr>
              <a:t>是</a:t>
            </a:r>
            <a:r>
              <a:rPr dirty="0" sz="1200" spc="25">
                <a:solidFill>
                  <a:srgbClr val="D9D9D9"/>
                </a:solidFill>
                <a:latin typeface="微软雅黑"/>
                <a:cs typeface="微软雅黑"/>
              </a:rPr>
              <a:t>一</a:t>
            </a:r>
            <a:r>
              <a:rPr dirty="0" sz="1200" spc="10">
                <a:solidFill>
                  <a:srgbClr val="D9D9D9"/>
                </a:solidFill>
                <a:latin typeface="微软雅黑"/>
                <a:cs typeface="微软雅黑"/>
              </a:rPr>
              <a:t>款</a:t>
            </a:r>
            <a:r>
              <a:rPr dirty="0" sz="1200" spc="25">
                <a:solidFill>
                  <a:srgbClr val="D9D9D9"/>
                </a:solidFill>
                <a:latin typeface="微软雅黑"/>
                <a:cs typeface="微软雅黑"/>
              </a:rPr>
              <a:t>高</a:t>
            </a:r>
            <a:r>
              <a:rPr dirty="0" sz="1200" spc="30">
                <a:solidFill>
                  <a:srgbClr val="D9D9D9"/>
                </a:solidFill>
                <a:latin typeface="微软雅黑"/>
                <a:cs typeface="微软雅黑"/>
              </a:rPr>
              <a:t>效</a:t>
            </a:r>
            <a:r>
              <a:rPr dirty="0" sz="1200" spc="10">
                <a:solidFill>
                  <a:srgbClr val="D9D9D9"/>
                </a:solidFill>
                <a:latin typeface="微软雅黑"/>
                <a:cs typeface="微软雅黑"/>
              </a:rPr>
              <a:t>可靠的</a:t>
            </a: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LED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高 </a:t>
            </a:r>
            <a:r>
              <a:rPr dirty="0" sz="1200" spc="35">
                <a:solidFill>
                  <a:srgbClr val="D9D9D9"/>
                </a:solidFill>
                <a:latin typeface="微软雅黑"/>
                <a:cs typeface="微软雅黑"/>
              </a:rPr>
              <a:t>天棚灯，它具</a:t>
            </a:r>
            <a:r>
              <a:rPr dirty="0" sz="1200" spc="50">
                <a:solidFill>
                  <a:srgbClr val="D9D9D9"/>
                </a:solidFill>
                <a:latin typeface="微软雅黑"/>
                <a:cs typeface="微软雅黑"/>
              </a:rPr>
              <a:t>有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50000H</a:t>
            </a:r>
            <a:r>
              <a:rPr dirty="0" sz="1200" spc="35">
                <a:solidFill>
                  <a:srgbClr val="D9D9D9"/>
                </a:solidFill>
                <a:latin typeface="微软雅黑"/>
                <a:cs typeface="微软雅黑"/>
              </a:rPr>
              <a:t>寿命，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防 水等</a:t>
            </a: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级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达</a:t>
            </a: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到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IP65，</a:t>
            </a: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防冲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击水</a:t>
            </a: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平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达到 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I</a:t>
            </a:r>
            <a:r>
              <a:rPr dirty="0" sz="1200" spc="-10">
                <a:solidFill>
                  <a:srgbClr val="D9D9D9"/>
                </a:solidFill>
                <a:latin typeface="微软雅黑"/>
                <a:cs typeface="微软雅黑"/>
              </a:rPr>
              <a:t>K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0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8</a:t>
            </a:r>
            <a:r>
              <a:rPr dirty="0" sz="1200" spc="65">
                <a:solidFill>
                  <a:srgbClr val="D9D9D9"/>
                </a:solidFill>
                <a:latin typeface="微软雅黑"/>
                <a:cs typeface="微软雅黑"/>
              </a:rPr>
              <a:t>。同时</a:t>
            </a:r>
            <a:r>
              <a:rPr dirty="0" sz="1200" spc="50">
                <a:solidFill>
                  <a:srgbClr val="D9D9D9"/>
                </a:solidFill>
                <a:latin typeface="微软雅黑"/>
                <a:cs typeface="微软雅黑"/>
              </a:rPr>
              <a:t>整</a:t>
            </a:r>
            <a:r>
              <a:rPr dirty="0" sz="1200" spc="65">
                <a:solidFill>
                  <a:srgbClr val="D9D9D9"/>
                </a:solidFill>
                <a:latin typeface="微软雅黑"/>
                <a:cs typeface="微软雅黑"/>
              </a:rPr>
              <a:t>灯标</a:t>
            </a:r>
            <a:r>
              <a:rPr dirty="0" sz="1200" spc="60">
                <a:solidFill>
                  <a:srgbClr val="D9D9D9"/>
                </a:solidFill>
                <a:latin typeface="微软雅黑"/>
                <a:cs typeface="微软雅黑"/>
              </a:rPr>
              <a:t>配</a:t>
            </a:r>
            <a:r>
              <a:rPr dirty="0" sz="1200" spc="-10">
                <a:solidFill>
                  <a:srgbClr val="D9D9D9"/>
                </a:solidFill>
                <a:latin typeface="微软雅黑"/>
                <a:cs typeface="微软雅黑"/>
              </a:rPr>
              <a:t>1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.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2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m</a:t>
            </a:r>
            <a:r>
              <a:rPr dirty="0" sz="1200" spc="50">
                <a:solidFill>
                  <a:srgbClr val="D9D9D9"/>
                </a:solidFill>
                <a:latin typeface="微软雅黑"/>
                <a:cs typeface="微软雅黑"/>
              </a:rPr>
              <a:t>安</a:t>
            </a:r>
            <a:r>
              <a:rPr dirty="0" sz="1200" spc="65">
                <a:solidFill>
                  <a:srgbClr val="D9D9D9"/>
                </a:solidFill>
                <a:latin typeface="微软雅黑"/>
                <a:cs typeface="微软雅黑"/>
              </a:rPr>
              <a:t>全绳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， 使用更放心。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82111" y="1908810"/>
            <a:ext cx="2901950" cy="1504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835660">
              <a:lnSpc>
                <a:spcPct val="100000"/>
              </a:lnSpc>
              <a:spcBef>
                <a:spcPts val="105"/>
              </a:spcBef>
            </a:pPr>
            <a:r>
              <a:rPr dirty="0" sz="2000" spc="300">
                <a:solidFill>
                  <a:srgbClr val="F1F1F1"/>
                </a:solidFill>
                <a:latin typeface="微软雅黑"/>
                <a:cs typeface="微软雅黑"/>
              </a:rPr>
              <a:t>高效节能</a:t>
            </a:r>
            <a:endParaRPr sz="2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2400">
              <a:latin typeface="Times New Roman"/>
              <a:cs typeface="Times New Roman"/>
            </a:endParaRPr>
          </a:p>
          <a:p>
            <a:pPr marL="272415" marR="314325">
              <a:lnSpc>
                <a:spcPct val="150000"/>
              </a:lnSpc>
              <a:spcBef>
                <a:spcPts val="5"/>
              </a:spcBef>
            </a:pPr>
            <a:r>
              <a:rPr dirty="0" sz="1200" spc="110">
                <a:solidFill>
                  <a:srgbClr val="D9D9D9"/>
                </a:solidFill>
                <a:latin typeface="微软雅黑"/>
                <a:cs typeface="微软雅黑"/>
              </a:rPr>
              <a:t>鹏辰</a:t>
            </a:r>
            <a:r>
              <a:rPr dirty="0" sz="1200" spc="100">
                <a:solidFill>
                  <a:srgbClr val="D9D9D9"/>
                </a:solidFill>
                <a:latin typeface="微软雅黑"/>
                <a:cs typeface="微软雅黑"/>
              </a:rPr>
              <a:t>整</a:t>
            </a:r>
            <a:r>
              <a:rPr dirty="0" sz="1200" spc="105">
                <a:solidFill>
                  <a:srgbClr val="D9D9D9"/>
                </a:solidFill>
                <a:latin typeface="微软雅黑"/>
                <a:cs typeface="微软雅黑"/>
              </a:rPr>
              <a:t>灯</a:t>
            </a:r>
            <a:r>
              <a:rPr dirty="0" sz="1200" spc="100">
                <a:solidFill>
                  <a:srgbClr val="D9D9D9"/>
                </a:solidFill>
                <a:latin typeface="微软雅黑"/>
                <a:cs typeface="微软雅黑"/>
              </a:rPr>
              <a:t>光</a:t>
            </a:r>
            <a:r>
              <a:rPr dirty="0" sz="1200" spc="105">
                <a:solidFill>
                  <a:srgbClr val="D9D9D9"/>
                </a:solidFill>
                <a:latin typeface="微软雅黑"/>
                <a:cs typeface="微软雅黑"/>
              </a:rPr>
              <a:t>效达</a:t>
            </a:r>
            <a:r>
              <a:rPr dirty="0" sz="1200" spc="100">
                <a:solidFill>
                  <a:srgbClr val="D9D9D9"/>
                </a:solidFill>
                <a:latin typeface="微软雅黑"/>
                <a:cs typeface="微软雅黑"/>
              </a:rPr>
              <a:t>到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130lm/w</a:t>
            </a:r>
            <a:r>
              <a:rPr dirty="0" sz="1200" spc="-265">
                <a:solidFill>
                  <a:srgbClr val="D9D9D9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，</a:t>
            </a:r>
            <a:r>
              <a:rPr dirty="0" sz="1200" spc="-265">
                <a:solidFill>
                  <a:srgbClr val="D9D9D9"/>
                </a:solidFill>
                <a:latin typeface="微软雅黑"/>
                <a:cs typeface="微软雅黑"/>
              </a:rPr>
              <a:t> 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整 灯 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PF≥0.95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。长期使用更节能省电。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006081" y="1908810"/>
            <a:ext cx="11836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300">
                <a:solidFill>
                  <a:srgbClr val="F1F1F1"/>
                </a:solidFill>
                <a:latin typeface="微软雅黑"/>
                <a:cs typeface="微软雅黑"/>
              </a:rPr>
              <a:t>专业光学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443217" y="2565272"/>
            <a:ext cx="2474595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鹏辰</a:t>
            </a:r>
            <a:r>
              <a:rPr dirty="0" sz="1200" spc="60">
                <a:solidFill>
                  <a:srgbClr val="D9D9D9"/>
                </a:solidFill>
                <a:latin typeface="微软雅黑"/>
                <a:cs typeface="微软雅黑"/>
              </a:rPr>
              <a:t>采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用</a:t>
            </a:r>
            <a:r>
              <a:rPr dirty="0" sz="1200" spc="60">
                <a:solidFill>
                  <a:srgbClr val="D9D9D9"/>
                </a:solidFill>
                <a:latin typeface="微软雅黑"/>
                <a:cs typeface="微软雅黑"/>
              </a:rPr>
              <a:t>优</a:t>
            </a:r>
            <a:r>
              <a:rPr dirty="0" sz="1200" spc="80">
                <a:solidFill>
                  <a:srgbClr val="D9D9D9"/>
                </a:solidFill>
                <a:latin typeface="微软雅黑"/>
                <a:cs typeface="微软雅黑"/>
              </a:rPr>
              <a:t>质</a:t>
            </a:r>
            <a:r>
              <a:rPr dirty="0" sz="1200" spc="30">
                <a:solidFill>
                  <a:srgbClr val="D9D9D9"/>
                </a:solidFill>
                <a:latin typeface="微软雅黑"/>
                <a:cs typeface="微软雅黑"/>
              </a:rPr>
              <a:t>PC</a:t>
            </a:r>
            <a:r>
              <a:rPr dirty="0" sz="1200" spc="60">
                <a:solidFill>
                  <a:srgbClr val="D9D9D9"/>
                </a:solidFill>
                <a:latin typeface="微软雅黑"/>
                <a:cs typeface="微软雅黑"/>
              </a:rPr>
              <a:t>材质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透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镜</a:t>
            </a:r>
            <a:r>
              <a:rPr dirty="0" sz="1200" spc="60">
                <a:solidFill>
                  <a:srgbClr val="D9D9D9"/>
                </a:solidFill>
                <a:latin typeface="微软雅黑"/>
                <a:cs typeface="微软雅黑"/>
              </a:rPr>
              <a:t>，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基于 </a:t>
            </a:r>
            <a:r>
              <a:rPr dirty="0" sz="1200" spc="80">
                <a:solidFill>
                  <a:srgbClr val="D9D9D9"/>
                </a:solidFill>
                <a:latin typeface="微软雅黑"/>
                <a:cs typeface="微软雅黑"/>
              </a:rPr>
              <a:t>欧普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专</a:t>
            </a:r>
            <a:r>
              <a:rPr dirty="0" sz="1200" spc="85">
                <a:solidFill>
                  <a:srgbClr val="D9D9D9"/>
                </a:solidFill>
                <a:latin typeface="微软雅黑"/>
                <a:cs typeface="微软雅黑"/>
              </a:rPr>
              <a:t>利透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镜</a:t>
            </a:r>
            <a:r>
              <a:rPr dirty="0" sz="1200" spc="80">
                <a:solidFill>
                  <a:srgbClr val="D9D9D9"/>
                </a:solidFill>
                <a:latin typeface="微软雅黑"/>
                <a:cs typeface="微软雅黑"/>
              </a:rPr>
              <a:t>方案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实</a:t>
            </a:r>
            <a:r>
              <a:rPr dirty="0" sz="1200" spc="85">
                <a:solidFill>
                  <a:srgbClr val="D9D9D9"/>
                </a:solidFill>
                <a:latin typeface="微软雅黑"/>
                <a:cs typeface="微软雅黑"/>
              </a:rPr>
              <a:t>现</a:t>
            </a:r>
            <a:r>
              <a:rPr dirty="0" sz="1200" spc="25">
                <a:solidFill>
                  <a:srgbClr val="D9D9D9"/>
                </a:solidFill>
                <a:latin typeface="微软雅黑"/>
                <a:cs typeface="微软雅黑"/>
              </a:rPr>
              <a:t>60°</a:t>
            </a:r>
            <a:r>
              <a:rPr dirty="0" sz="1200" spc="75">
                <a:solidFill>
                  <a:srgbClr val="D9D9D9"/>
                </a:solidFill>
                <a:latin typeface="微软雅黑"/>
                <a:cs typeface="微软雅黑"/>
              </a:rPr>
              <a:t>和</a:t>
            </a:r>
            <a:r>
              <a:rPr dirty="0" sz="1200" spc="25">
                <a:solidFill>
                  <a:srgbClr val="D9D9D9"/>
                </a:solidFill>
                <a:latin typeface="微软雅黑"/>
                <a:cs typeface="微软雅黑"/>
              </a:rPr>
              <a:t>90°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。 </a:t>
            </a: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自主独立设计的驱动效率高，无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频 闪。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9203435" y="1766316"/>
            <a:ext cx="2988564" cy="42321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229343" y="1847088"/>
            <a:ext cx="2903220" cy="4125595"/>
          </a:xfrm>
          <a:custGeom>
            <a:avLst/>
            <a:gdLst/>
            <a:ahLst/>
            <a:cxnLst/>
            <a:rect l="l" t="t" r="r" b="b"/>
            <a:pathLst>
              <a:path w="2903220" h="4125595">
                <a:moveTo>
                  <a:pt x="0" y="4125467"/>
                </a:moveTo>
                <a:lnTo>
                  <a:pt x="2903220" y="4125467"/>
                </a:lnTo>
                <a:lnTo>
                  <a:pt x="2903220" y="0"/>
                </a:lnTo>
                <a:lnTo>
                  <a:pt x="0" y="0"/>
                </a:lnTo>
                <a:lnTo>
                  <a:pt x="0" y="4125467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549383" y="4567428"/>
            <a:ext cx="147955" cy="1036319"/>
          </a:xfrm>
          <a:custGeom>
            <a:avLst/>
            <a:gdLst/>
            <a:ahLst/>
            <a:cxnLst/>
            <a:rect l="l" t="t" r="r" b="b"/>
            <a:pathLst>
              <a:path w="147954" h="1036320">
                <a:moveTo>
                  <a:pt x="73914" y="0"/>
                </a:moveTo>
                <a:lnTo>
                  <a:pt x="45166" y="5816"/>
                </a:lnTo>
                <a:lnTo>
                  <a:pt x="21669" y="21669"/>
                </a:lnTo>
                <a:lnTo>
                  <a:pt x="5816" y="45166"/>
                </a:lnTo>
                <a:lnTo>
                  <a:pt x="0" y="73914"/>
                </a:lnTo>
                <a:lnTo>
                  <a:pt x="0" y="962406"/>
                </a:lnTo>
                <a:lnTo>
                  <a:pt x="5816" y="991153"/>
                </a:lnTo>
                <a:lnTo>
                  <a:pt x="21669" y="1014650"/>
                </a:lnTo>
                <a:lnTo>
                  <a:pt x="45166" y="1030503"/>
                </a:lnTo>
                <a:lnTo>
                  <a:pt x="73914" y="1036320"/>
                </a:lnTo>
                <a:lnTo>
                  <a:pt x="102661" y="1030503"/>
                </a:lnTo>
                <a:lnTo>
                  <a:pt x="126158" y="1014650"/>
                </a:lnTo>
                <a:lnTo>
                  <a:pt x="142011" y="991153"/>
                </a:lnTo>
                <a:lnTo>
                  <a:pt x="147827" y="962406"/>
                </a:lnTo>
                <a:lnTo>
                  <a:pt x="147827" y="73914"/>
                </a:lnTo>
                <a:lnTo>
                  <a:pt x="142011" y="45166"/>
                </a:lnTo>
                <a:lnTo>
                  <a:pt x="126158" y="21669"/>
                </a:lnTo>
                <a:lnTo>
                  <a:pt x="102661" y="5816"/>
                </a:lnTo>
                <a:lnTo>
                  <a:pt x="73914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652504" y="4567428"/>
            <a:ext cx="147955" cy="1036319"/>
          </a:xfrm>
          <a:custGeom>
            <a:avLst/>
            <a:gdLst/>
            <a:ahLst/>
            <a:cxnLst/>
            <a:rect l="l" t="t" r="r" b="b"/>
            <a:pathLst>
              <a:path w="147954" h="1036320">
                <a:moveTo>
                  <a:pt x="73914" y="0"/>
                </a:moveTo>
                <a:lnTo>
                  <a:pt x="45166" y="5816"/>
                </a:lnTo>
                <a:lnTo>
                  <a:pt x="21669" y="21669"/>
                </a:lnTo>
                <a:lnTo>
                  <a:pt x="5816" y="45166"/>
                </a:lnTo>
                <a:lnTo>
                  <a:pt x="0" y="73914"/>
                </a:lnTo>
                <a:lnTo>
                  <a:pt x="0" y="962406"/>
                </a:lnTo>
                <a:lnTo>
                  <a:pt x="5816" y="991153"/>
                </a:lnTo>
                <a:lnTo>
                  <a:pt x="21669" y="1014650"/>
                </a:lnTo>
                <a:lnTo>
                  <a:pt x="45166" y="1030503"/>
                </a:lnTo>
                <a:lnTo>
                  <a:pt x="73914" y="1036320"/>
                </a:lnTo>
                <a:lnTo>
                  <a:pt x="102661" y="1030503"/>
                </a:lnTo>
                <a:lnTo>
                  <a:pt x="126158" y="1014650"/>
                </a:lnTo>
                <a:lnTo>
                  <a:pt x="142011" y="991153"/>
                </a:lnTo>
                <a:lnTo>
                  <a:pt x="147827" y="962406"/>
                </a:lnTo>
                <a:lnTo>
                  <a:pt x="147827" y="73914"/>
                </a:lnTo>
                <a:lnTo>
                  <a:pt x="142011" y="45166"/>
                </a:lnTo>
                <a:lnTo>
                  <a:pt x="126158" y="21669"/>
                </a:lnTo>
                <a:lnTo>
                  <a:pt x="102661" y="5816"/>
                </a:lnTo>
                <a:lnTo>
                  <a:pt x="73914" y="0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592056" y="4664964"/>
            <a:ext cx="2178050" cy="864235"/>
          </a:xfrm>
          <a:custGeom>
            <a:avLst/>
            <a:gdLst/>
            <a:ahLst/>
            <a:cxnLst/>
            <a:rect l="l" t="t" r="r" b="b"/>
            <a:pathLst>
              <a:path w="2178050" h="864235">
                <a:moveTo>
                  <a:pt x="0" y="864108"/>
                </a:moveTo>
                <a:lnTo>
                  <a:pt x="2177796" y="864108"/>
                </a:lnTo>
                <a:lnTo>
                  <a:pt x="2177796" y="0"/>
                </a:lnTo>
                <a:lnTo>
                  <a:pt x="0" y="0"/>
                </a:lnTo>
                <a:lnTo>
                  <a:pt x="0" y="864108"/>
                </a:lnTo>
                <a:close/>
              </a:path>
            </a:pathLst>
          </a:custGeom>
          <a:solidFill>
            <a:srgbClr val="4E4E4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0040111" y="4843271"/>
            <a:ext cx="1236345" cy="527685"/>
          </a:xfrm>
          <a:custGeom>
            <a:avLst/>
            <a:gdLst/>
            <a:ahLst/>
            <a:cxnLst/>
            <a:rect l="l" t="t" r="r" b="b"/>
            <a:pathLst>
              <a:path w="1236345" h="527685">
                <a:moveTo>
                  <a:pt x="0" y="527303"/>
                </a:moveTo>
                <a:lnTo>
                  <a:pt x="1235963" y="527303"/>
                </a:lnTo>
                <a:lnTo>
                  <a:pt x="1235963" y="0"/>
                </a:lnTo>
                <a:lnTo>
                  <a:pt x="0" y="0"/>
                </a:lnTo>
                <a:lnTo>
                  <a:pt x="0" y="527303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0061702" y="1908810"/>
            <a:ext cx="118364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2000" spc="300">
                <a:solidFill>
                  <a:srgbClr val="F1F1F1"/>
                </a:solidFill>
                <a:latin typeface="微软雅黑"/>
                <a:cs typeface="微软雅黑"/>
              </a:rPr>
              <a:t>安装便利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498838" y="2565272"/>
            <a:ext cx="2322195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鹏辰系列提供多种安装方式，包括 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吊装，吊装，壁装。可选配件丰富</a:t>
            </a:r>
            <a:endParaRPr sz="1200">
              <a:latin typeface="微软雅黑"/>
              <a:cs typeface="微软雅黑"/>
            </a:endParaRPr>
          </a:p>
          <a:p>
            <a:pPr marL="172085" indent="-172085">
              <a:lnSpc>
                <a:spcPct val="100000"/>
              </a:lnSpc>
              <a:spcBef>
                <a:spcPts val="720"/>
              </a:spcBef>
              <a:buFont typeface="Wingdings"/>
              <a:buChar char=""/>
              <a:tabLst>
                <a:tab pos="172720" algn="l"/>
              </a:tabLst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吊钩</a:t>
            </a:r>
            <a:endParaRPr sz="1200">
              <a:latin typeface="微软雅黑"/>
              <a:cs typeface="微软雅黑"/>
            </a:endParaRPr>
          </a:p>
          <a:p>
            <a:pPr marL="172085" indent="-172085">
              <a:lnSpc>
                <a:spcPct val="100000"/>
              </a:lnSpc>
              <a:spcBef>
                <a:spcPts val="720"/>
              </a:spcBef>
              <a:buFont typeface="Wingdings"/>
              <a:buChar char=""/>
              <a:tabLst>
                <a:tab pos="172720" algn="l"/>
              </a:tabLst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吊杆</a:t>
            </a:r>
            <a:endParaRPr sz="1200">
              <a:latin typeface="微软雅黑"/>
              <a:cs typeface="微软雅黑"/>
            </a:endParaRPr>
          </a:p>
          <a:p>
            <a:pPr marL="172085" indent="-172085">
              <a:lnSpc>
                <a:spcPct val="100000"/>
              </a:lnSpc>
              <a:spcBef>
                <a:spcPts val="720"/>
              </a:spcBef>
              <a:buFont typeface="Wingdings"/>
              <a:buChar char=""/>
              <a:tabLst>
                <a:tab pos="172720" algn="l"/>
              </a:tabLst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支架</a:t>
            </a:r>
            <a:endParaRPr sz="1200">
              <a:latin typeface="微软雅黑"/>
              <a:cs typeface="微软雅黑"/>
            </a:endParaRPr>
          </a:p>
          <a:p>
            <a:pPr marL="172085" indent="-172085">
              <a:lnSpc>
                <a:spcPct val="100000"/>
              </a:lnSpc>
              <a:spcBef>
                <a:spcPts val="720"/>
              </a:spcBef>
              <a:buFont typeface="Wingdings"/>
              <a:buChar char=""/>
              <a:tabLst>
                <a:tab pos="172720" algn="l"/>
              </a:tabLst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灯罩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373124" y="4878323"/>
            <a:ext cx="434339" cy="4343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383011" y="4818888"/>
            <a:ext cx="606551" cy="6065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217664" y="4745735"/>
            <a:ext cx="679703" cy="67970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367784" y="4870703"/>
            <a:ext cx="478536" cy="4785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307848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44650" algn="l"/>
              </a:tabLst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产品介绍</a:t>
            </a: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512165" y="6435242"/>
            <a:ext cx="615315" cy="1498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8709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微软雅黑"/>
                <a:cs typeface="微软雅黑"/>
              </a:rPr>
              <a:t>安全可靠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" y="2433827"/>
            <a:ext cx="6224270" cy="3479800"/>
          </a:xfrm>
          <a:custGeom>
            <a:avLst/>
            <a:gdLst/>
            <a:ahLst/>
            <a:cxnLst/>
            <a:rect l="l" t="t" r="r" b="b"/>
            <a:pathLst>
              <a:path w="6224270" h="3479800">
                <a:moveTo>
                  <a:pt x="0" y="3479292"/>
                </a:moveTo>
                <a:lnTo>
                  <a:pt x="6224016" y="3479292"/>
                </a:lnTo>
                <a:lnTo>
                  <a:pt x="6224016" y="0"/>
                </a:lnTo>
                <a:lnTo>
                  <a:pt x="0" y="0"/>
                </a:lnTo>
                <a:lnTo>
                  <a:pt x="0" y="3479292"/>
                </a:lnTo>
                <a:close/>
              </a:path>
            </a:pathLst>
          </a:custGeom>
          <a:solidFill>
            <a:srgbClr val="25252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170682" y="1654886"/>
            <a:ext cx="63512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1F1F1"/>
                </a:solidFill>
                <a:latin typeface="微软雅黑"/>
                <a:cs typeface="微软雅黑"/>
              </a:rPr>
              <a:t>一体化压铸成型设</a:t>
            </a:r>
            <a:r>
              <a:rPr dirty="0" sz="2400">
                <a:solidFill>
                  <a:srgbClr val="F1F1F1"/>
                </a:solidFill>
                <a:latin typeface="微软雅黑"/>
                <a:cs typeface="微软雅黑"/>
              </a:rPr>
              <a:t>计</a:t>
            </a:r>
            <a:r>
              <a:rPr dirty="0" sz="2400" spc="-35">
                <a:solidFill>
                  <a:srgbClr val="F1F1F1"/>
                </a:solidFill>
                <a:latin typeface="微软雅黑"/>
                <a:cs typeface="微软雅黑"/>
              </a:rPr>
              <a:t> </a:t>
            </a:r>
            <a:r>
              <a:rPr dirty="0" sz="2400">
                <a:solidFill>
                  <a:srgbClr val="F1F1F1"/>
                </a:solidFill>
                <a:latin typeface="微软雅黑"/>
                <a:cs typeface="微软雅黑"/>
              </a:rPr>
              <a:t>——</a:t>
            </a:r>
            <a:r>
              <a:rPr dirty="0" sz="2400" spc="-35">
                <a:solidFill>
                  <a:srgbClr val="F1F1F1"/>
                </a:solidFill>
                <a:latin typeface="微软雅黑"/>
                <a:cs typeface="微软雅黑"/>
              </a:rPr>
              <a:t> </a:t>
            </a:r>
            <a:r>
              <a:rPr dirty="0" sz="2400" spc="-5">
                <a:solidFill>
                  <a:srgbClr val="F1F1F1"/>
                </a:solidFill>
                <a:latin typeface="微软雅黑"/>
                <a:cs typeface="微软雅黑"/>
              </a:rPr>
              <a:t>精湛的喷粉工</a:t>
            </a:r>
            <a:r>
              <a:rPr dirty="0" sz="2400">
                <a:solidFill>
                  <a:srgbClr val="F1F1F1"/>
                </a:solidFill>
                <a:latin typeface="微软雅黑"/>
                <a:cs typeface="微软雅黑"/>
              </a:rPr>
              <a:t>艺</a:t>
            </a:r>
            <a:r>
              <a:rPr dirty="0" sz="2400" spc="-5">
                <a:solidFill>
                  <a:srgbClr val="F1F1F1"/>
                </a:solidFill>
                <a:latin typeface="微软雅黑"/>
                <a:cs typeface="微软雅黑"/>
              </a:rPr>
              <a:t>处理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06855" y="2702433"/>
            <a:ext cx="2148205" cy="48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压铸铝外壳和高透PC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整灯实现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IP65/IK08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防护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855" y="3685997"/>
            <a:ext cx="2616200" cy="1470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C6A152"/>
                </a:solidFill>
                <a:latin typeface="微软雅黑"/>
                <a:cs typeface="微软雅黑"/>
              </a:rPr>
              <a:t>一体卡扣设计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正面无螺丝，防水可靠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镂空散热设计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镂空式对流散热设计，灯具寿命更持久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249923" y="2433827"/>
            <a:ext cx="5564124" cy="34792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2165" y="6435242"/>
            <a:ext cx="615315" cy="1498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8709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微软雅黑"/>
                <a:cs typeface="微软雅黑"/>
              </a:rPr>
              <a:t>安全可靠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16" y="2415539"/>
            <a:ext cx="6224270" cy="3677920"/>
          </a:xfrm>
          <a:custGeom>
            <a:avLst/>
            <a:gdLst/>
            <a:ahLst/>
            <a:cxnLst/>
            <a:rect l="l" t="t" r="r" b="b"/>
            <a:pathLst>
              <a:path w="6224270" h="3677920">
                <a:moveTo>
                  <a:pt x="0" y="3677412"/>
                </a:moveTo>
                <a:lnTo>
                  <a:pt x="6224016" y="3677412"/>
                </a:lnTo>
                <a:lnTo>
                  <a:pt x="6224016" y="0"/>
                </a:lnTo>
                <a:lnTo>
                  <a:pt x="0" y="0"/>
                </a:lnTo>
                <a:lnTo>
                  <a:pt x="0" y="3677412"/>
                </a:lnTo>
                <a:close/>
              </a:path>
            </a:pathLst>
          </a:custGeom>
          <a:solidFill>
            <a:srgbClr val="2C2C2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293490" y="1654886"/>
            <a:ext cx="60458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solidFill>
                  <a:srgbClr val="F1F1F1"/>
                </a:solidFill>
                <a:latin typeface="微软雅黑"/>
                <a:cs typeface="微软雅黑"/>
              </a:rPr>
              <a:t>自主设计独立电</a:t>
            </a:r>
            <a:r>
              <a:rPr dirty="0" sz="2400">
                <a:solidFill>
                  <a:srgbClr val="F1F1F1"/>
                </a:solidFill>
                <a:latin typeface="微软雅黑"/>
                <a:cs typeface="微软雅黑"/>
              </a:rPr>
              <a:t>源</a:t>
            </a:r>
            <a:r>
              <a:rPr dirty="0" sz="2400" spc="-35">
                <a:solidFill>
                  <a:srgbClr val="F1F1F1"/>
                </a:solidFill>
                <a:latin typeface="微软雅黑"/>
                <a:cs typeface="微软雅黑"/>
              </a:rPr>
              <a:t> </a:t>
            </a:r>
            <a:r>
              <a:rPr dirty="0" sz="2400">
                <a:solidFill>
                  <a:srgbClr val="F1F1F1"/>
                </a:solidFill>
                <a:latin typeface="微软雅黑"/>
                <a:cs typeface="微软雅黑"/>
              </a:rPr>
              <a:t>——</a:t>
            </a:r>
            <a:r>
              <a:rPr dirty="0" sz="2400" spc="-35">
                <a:solidFill>
                  <a:srgbClr val="F1F1F1"/>
                </a:solidFill>
                <a:latin typeface="微软雅黑"/>
                <a:cs typeface="微软雅黑"/>
              </a:rPr>
              <a:t> </a:t>
            </a:r>
            <a:r>
              <a:rPr dirty="0" sz="2400" spc="-5">
                <a:solidFill>
                  <a:srgbClr val="F1F1F1"/>
                </a:solidFill>
                <a:latin typeface="微软雅黑"/>
                <a:cs typeface="微软雅黑"/>
              </a:rPr>
              <a:t>安全可靠，持久耐用</a:t>
            </a:r>
            <a:endParaRPr sz="24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006855" y="2702433"/>
            <a:ext cx="2510155" cy="14700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无频闪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两极非隔离电源，符合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IEEE1789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要求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5">
                <a:solidFill>
                  <a:srgbClr val="C6A152"/>
                </a:solidFill>
                <a:latin typeface="微软雅黑"/>
                <a:cs typeface="微软雅黑"/>
              </a:rPr>
              <a:t>浪涌4/4KV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更高强度抵抗浪涌电压/电流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06855" y="4670552"/>
            <a:ext cx="1507490" cy="485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高品质元器件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保证整灯50000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H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寿命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52131" y="2415539"/>
            <a:ext cx="3550920" cy="36774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2165" y="6435242"/>
            <a:ext cx="615315" cy="1498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8709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微软雅黑"/>
                <a:cs typeface="微软雅黑"/>
              </a:rPr>
              <a:t>高效节能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0" y="960119"/>
            <a:ext cx="2973324" cy="17205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1764" y="1525015"/>
            <a:ext cx="2311400" cy="66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光效</a:t>
            </a:r>
            <a:r>
              <a:rPr dirty="0" sz="1800" spc="-5">
                <a:solidFill>
                  <a:srgbClr val="C6A152"/>
                </a:solidFill>
                <a:latin typeface="微软雅黑"/>
                <a:cs typeface="微软雅黑"/>
              </a:rPr>
              <a:t>130lm/w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选用高品质灯珠，整灯各功率实现  130lm/w光效，更节能省电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83919" y="2298192"/>
            <a:ext cx="3945635" cy="41407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481696" y="1642617"/>
            <a:ext cx="3558540" cy="66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投资回报对比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假设100</a:t>
            </a:r>
            <a:r>
              <a:rPr dirty="0" sz="1200" spc="0">
                <a:solidFill>
                  <a:srgbClr val="D9D9D9"/>
                </a:solidFill>
                <a:latin typeface="微软雅黑"/>
                <a:cs typeface="微软雅黑"/>
              </a:rPr>
              <a:t>0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套传统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HID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灯具的替换，约一年就能达到投 资回报平衡，5年期可节省费用约280万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672071" y="5236464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72071" y="4802123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72071" y="4367784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72071" y="3934967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72071" y="3500628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72071" y="3066288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672071" y="2631948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06283" y="2631948"/>
            <a:ext cx="0" cy="3039110"/>
          </a:xfrm>
          <a:custGeom>
            <a:avLst/>
            <a:gdLst/>
            <a:ahLst/>
            <a:cxnLst/>
            <a:rect l="l" t="t" r="r" b="b"/>
            <a:pathLst>
              <a:path w="0" h="3039110">
                <a:moveTo>
                  <a:pt x="0" y="0"/>
                </a:moveTo>
                <a:lnTo>
                  <a:pt x="0" y="3038855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538971" y="2631948"/>
            <a:ext cx="0" cy="3039110"/>
          </a:xfrm>
          <a:custGeom>
            <a:avLst/>
            <a:gdLst/>
            <a:ahLst/>
            <a:cxnLst/>
            <a:rect l="l" t="t" r="r" b="b"/>
            <a:pathLst>
              <a:path w="0" h="3039110">
                <a:moveTo>
                  <a:pt x="0" y="0"/>
                </a:moveTo>
                <a:lnTo>
                  <a:pt x="0" y="3038855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473183" y="2631948"/>
            <a:ext cx="0" cy="3039110"/>
          </a:xfrm>
          <a:custGeom>
            <a:avLst/>
            <a:gdLst/>
            <a:ahLst/>
            <a:cxnLst/>
            <a:rect l="l" t="t" r="r" b="b"/>
            <a:pathLst>
              <a:path w="0" h="3039110">
                <a:moveTo>
                  <a:pt x="0" y="0"/>
                </a:moveTo>
                <a:lnTo>
                  <a:pt x="0" y="3038855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407395" y="2631948"/>
            <a:ext cx="0" cy="3039110"/>
          </a:xfrm>
          <a:custGeom>
            <a:avLst/>
            <a:gdLst/>
            <a:ahLst/>
            <a:cxnLst/>
            <a:rect l="l" t="t" r="r" b="b"/>
            <a:pathLst>
              <a:path w="0" h="3039110">
                <a:moveTo>
                  <a:pt x="0" y="0"/>
                </a:moveTo>
                <a:lnTo>
                  <a:pt x="0" y="3038855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1341607" y="2631948"/>
            <a:ext cx="0" cy="3039110"/>
          </a:xfrm>
          <a:custGeom>
            <a:avLst/>
            <a:gdLst/>
            <a:ahLst/>
            <a:cxnLst/>
            <a:rect l="l" t="t" r="r" b="b"/>
            <a:pathLst>
              <a:path w="0" h="3039110">
                <a:moveTo>
                  <a:pt x="0" y="0"/>
                </a:moveTo>
                <a:lnTo>
                  <a:pt x="0" y="3038855"/>
                </a:lnTo>
              </a:path>
            </a:pathLst>
          </a:custGeom>
          <a:ln w="9144">
            <a:solidFill>
              <a:srgbClr val="F1F1F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72071" y="2631948"/>
            <a:ext cx="0" cy="3039110"/>
          </a:xfrm>
          <a:custGeom>
            <a:avLst/>
            <a:gdLst/>
            <a:ahLst/>
            <a:cxnLst/>
            <a:rect l="l" t="t" r="r" b="b"/>
            <a:pathLst>
              <a:path w="0" h="3039110">
                <a:moveTo>
                  <a:pt x="0" y="3038855"/>
                </a:moveTo>
                <a:lnTo>
                  <a:pt x="0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72071" y="5670803"/>
            <a:ext cx="4669790" cy="0"/>
          </a:xfrm>
          <a:custGeom>
            <a:avLst/>
            <a:gdLst/>
            <a:ahLst/>
            <a:cxnLst/>
            <a:rect l="l" t="t" r="r" b="b"/>
            <a:pathLst>
              <a:path w="4669790" h="0">
                <a:moveTo>
                  <a:pt x="0" y="0"/>
                </a:moveTo>
                <a:lnTo>
                  <a:pt x="4669535" y="0"/>
                </a:lnTo>
              </a:path>
            </a:pathLst>
          </a:custGeom>
          <a:ln w="9144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670547" y="2874264"/>
            <a:ext cx="4680204" cy="26609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670547" y="4091940"/>
            <a:ext cx="4680204" cy="113995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571488" y="5370576"/>
            <a:ext cx="201168" cy="2026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438388" y="4357115"/>
            <a:ext cx="201168" cy="20269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372600" y="3849623"/>
            <a:ext cx="201168" cy="2026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0306811" y="3343655"/>
            <a:ext cx="201168" cy="20269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241023" y="2836164"/>
            <a:ext cx="201168" cy="2026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571488" y="5067300"/>
            <a:ext cx="201168" cy="20269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505700" y="4864608"/>
            <a:ext cx="201168" cy="20269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438388" y="4661915"/>
            <a:ext cx="201168" cy="20269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9372600" y="4459223"/>
            <a:ext cx="201168" cy="202692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306811" y="4256532"/>
            <a:ext cx="201168" cy="20269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241023" y="4053840"/>
            <a:ext cx="201168" cy="20269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72071" y="2918460"/>
            <a:ext cx="4669790" cy="2534920"/>
          </a:xfrm>
          <a:custGeom>
            <a:avLst/>
            <a:gdLst/>
            <a:ahLst/>
            <a:cxnLst/>
            <a:rect l="l" t="t" r="r" b="b"/>
            <a:pathLst>
              <a:path w="4669790" h="2534920">
                <a:moveTo>
                  <a:pt x="0" y="2534412"/>
                </a:moveTo>
                <a:lnTo>
                  <a:pt x="44468" y="2510281"/>
                </a:lnTo>
                <a:lnTo>
                  <a:pt x="88936" y="2486148"/>
                </a:lnTo>
                <a:lnTo>
                  <a:pt x="133404" y="2462014"/>
                </a:lnTo>
                <a:lnTo>
                  <a:pt x="177873" y="2437879"/>
                </a:lnTo>
                <a:lnTo>
                  <a:pt x="222342" y="2413743"/>
                </a:lnTo>
                <a:lnTo>
                  <a:pt x="266811" y="2389606"/>
                </a:lnTo>
                <a:lnTo>
                  <a:pt x="311281" y="2365469"/>
                </a:lnTo>
                <a:lnTo>
                  <a:pt x="355752" y="2341330"/>
                </a:lnTo>
                <a:lnTo>
                  <a:pt x="400223" y="2317192"/>
                </a:lnTo>
                <a:lnTo>
                  <a:pt x="444695" y="2293053"/>
                </a:lnTo>
                <a:lnTo>
                  <a:pt x="489167" y="2268913"/>
                </a:lnTo>
                <a:lnTo>
                  <a:pt x="533641" y="2244774"/>
                </a:lnTo>
                <a:lnTo>
                  <a:pt x="578115" y="2220636"/>
                </a:lnTo>
                <a:lnTo>
                  <a:pt x="622591" y="2196497"/>
                </a:lnTo>
                <a:lnTo>
                  <a:pt x="667068" y="2172360"/>
                </a:lnTo>
                <a:lnTo>
                  <a:pt x="711546" y="2148223"/>
                </a:lnTo>
                <a:lnTo>
                  <a:pt x="756025" y="2124087"/>
                </a:lnTo>
                <a:lnTo>
                  <a:pt x="800506" y="2099952"/>
                </a:lnTo>
                <a:lnTo>
                  <a:pt x="844988" y="2075818"/>
                </a:lnTo>
                <a:lnTo>
                  <a:pt x="889472" y="2051685"/>
                </a:lnTo>
                <a:lnTo>
                  <a:pt x="933957" y="2027554"/>
                </a:lnTo>
                <a:lnTo>
                  <a:pt x="978426" y="2003407"/>
                </a:lnTo>
                <a:lnTo>
                  <a:pt x="1022894" y="1979262"/>
                </a:lnTo>
                <a:lnTo>
                  <a:pt x="1067362" y="1955117"/>
                </a:lnTo>
                <a:lnTo>
                  <a:pt x="1111830" y="1930975"/>
                </a:lnTo>
                <a:lnTo>
                  <a:pt x="1156298" y="1906834"/>
                </a:lnTo>
                <a:lnTo>
                  <a:pt x="1200766" y="1882694"/>
                </a:lnTo>
                <a:lnTo>
                  <a:pt x="1245235" y="1858555"/>
                </a:lnTo>
                <a:lnTo>
                  <a:pt x="1289703" y="1834418"/>
                </a:lnTo>
                <a:lnTo>
                  <a:pt x="1334171" y="1810281"/>
                </a:lnTo>
                <a:lnTo>
                  <a:pt x="1378639" y="1786146"/>
                </a:lnTo>
                <a:lnTo>
                  <a:pt x="1423107" y="1762011"/>
                </a:lnTo>
                <a:lnTo>
                  <a:pt x="1467575" y="1737877"/>
                </a:lnTo>
                <a:lnTo>
                  <a:pt x="1512043" y="1713745"/>
                </a:lnTo>
                <a:lnTo>
                  <a:pt x="1556512" y="1689612"/>
                </a:lnTo>
                <a:lnTo>
                  <a:pt x="1600980" y="1665480"/>
                </a:lnTo>
                <a:lnTo>
                  <a:pt x="1645448" y="1641349"/>
                </a:lnTo>
                <a:lnTo>
                  <a:pt x="1689916" y="1617218"/>
                </a:lnTo>
                <a:lnTo>
                  <a:pt x="1734384" y="1593088"/>
                </a:lnTo>
                <a:lnTo>
                  <a:pt x="1778852" y="1568958"/>
                </a:lnTo>
                <a:lnTo>
                  <a:pt x="1823320" y="1544828"/>
                </a:lnTo>
                <a:lnTo>
                  <a:pt x="1867788" y="1520697"/>
                </a:lnTo>
                <a:lnTo>
                  <a:pt x="1912257" y="1496550"/>
                </a:lnTo>
                <a:lnTo>
                  <a:pt x="1956728" y="1472404"/>
                </a:lnTo>
                <a:lnTo>
                  <a:pt x="2001200" y="1448260"/>
                </a:lnTo>
                <a:lnTo>
                  <a:pt x="2045673" y="1424117"/>
                </a:lnTo>
                <a:lnTo>
                  <a:pt x="2090147" y="1399975"/>
                </a:lnTo>
                <a:lnTo>
                  <a:pt x="2134623" y="1375834"/>
                </a:lnTo>
                <a:lnTo>
                  <a:pt x="2179098" y="1351693"/>
                </a:lnTo>
                <a:lnTo>
                  <a:pt x="2223575" y="1327554"/>
                </a:lnTo>
                <a:lnTo>
                  <a:pt x="2268052" y="1303414"/>
                </a:lnTo>
                <a:lnTo>
                  <a:pt x="2312529" y="1279275"/>
                </a:lnTo>
                <a:lnTo>
                  <a:pt x="2357006" y="1255136"/>
                </a:lnTo>
                <a:lnTo>
                  <a:pt x="2401483" y="1230997"/>
                </a:lnTo>
                <a:lnTo>
                  <a:pt x="2445960" y="1206857"/>
                </a:lnTo>
                <a:lnTo>
                  <a:pt x="2490437" y="1182718"/>
                </a:lnTo>
                <a:lnTo>
                  <a:pt x="2534912" y="1158577"/>
                </a:lnTo>
                <a:lnTo>
                  <a:pt x="2579388" y="1134436"/>
                </a:lnTo>
                <a:lnTo>
                  <a:pt x="2623862" y="1110294"/>
                </a:lnTo>
                <a:lnTo>
                  <a:pt x="2668335" y="1086151"/>
                </a:lnTo>
                <a:lnTo>
                  <a:pt x="2712807" y="1062007"/>
                </a:lnTo>
                <a:lnTo>
                  <a:pt x="2757278" y="1037861"/>
                </a:lnTo>
                <a:lnTo>
                  <a:pt x="2801747" y="1013713"/>
                </a:lnTo>
                <a:lnTo>
                  <a:pt x="2846215" y="989583"/>
                </a:lnTo>
                <a:lnTo>
                  <a:pt x="2890683" y="965453"/>
                </a:lnTo>
                <a:lnTo>
                  <a:pt x="2935151" y="941323"/>
                </a:lnTo>
                <a:lnTo>
                  <a:pt x="2979619" y="917193"/>
                </a:lnTo>
                <a:lnTo>
                  <a:pt x="3024087" y="893062"/>
                </a:lnTo>
                <a:lnTo>
                  <a:pt x="3068555" y="868931"/>
                </a:lnTo>
                <a:lnTo>
                  <a:pt x="3113024" y="844799"/>
                </a:lnTo>
                <a:lnTo>
                  <a:pt x="3157492" y="820666"/>
                </a:lnTo>
                <a:lnTo>
                  <a:pt x="3201960" y="796534"/>
                </a:lnTo>
                <a:lnTo>
                  <a:pt x="3246428" y="772400"/>
                </a:lnTo>
                <a:lnTo>
                  <a:pt x="3290896" y="748265"/>
                </a:lnTo>
                <a:lnTo>
                  <a:pt x="3335364" y="724130"/>
                </a:lnTo>
                <a:lnTo>
                  <a:pt x="3379832" y="699993"/>
                </a:lnTo>
                <a:lnTo>
                  <a:pt x="3424301" y="675856"/>
                </a:lnTo>
                <a:lnTo>
                  <a:pt x="3468769" y="651717"/>
                </a:lnTo>
                <a:lnTo>
                  <a:pt x="3513237" y="627577"/>
                </a:lnTo>
                <a:lnTo>
                  <a:pt x="3557705" y="603436"/>
                </a:lnTo>
                <a:lnTo>
                  <a:pt x="3602173" y="579294"/>
                </a:lnTo>
                <a:lnTo>
                  <a:pt x="3646641" y="555149"/>
                </a:lnTo>
                <a:lnTo>
                  <a:pt x="3691109" y="531004"/>
                </a:lnTo>
                <a:lnTo>
                  <a:pt x="3735578" y="506856"/>
                </a:lnTo>
                <a:lnTo>
                  <a:pt x="3780063" y="482726"/>
                </a:lnTo>
                <a:lnTo>
                  <a:pt x="3824547" y="458593"/>
                </a:lnTo>
                <a:lnTo>
                  <a:pt x="3869029" y="434459"/>
                </a:lnTo>
                <a:lnTo>
                  <a:pt x="3913510" y="410324"/>
                </a:lnTo>
                <a:lnTo>
                  <a:pt x="3957989" y="386188"/>
                </a:lnTo>
                <a:lnTo>
                  <a:pt x="4002467" y="362051"/>
                </a:lnTo>
                <a:lnTo>
                  <a:pt x="4046944" y="337914"/>
                </a:lnTo>
                <a:lnTo>
                  <a:pt x="4091420" y="313775"/>
                </a:lnTo>
                <a:lnTo>
                  <a:pt x="4135894" y="289637"/>
                </a:lnTo>
                <a:lnTo>
                  <a:pt x="4180368" y="265498"/>
                </a:lnTo>
                <a:lnTo>
                  <a:pt x="4224840" y="241358"/>
                </a:lnTo>
                <a:lnTo>
                  <a:pt x="4269312" y="217219"/>
                </a:lnTo>
                <a:lnTo>
                  <a:pt x="4313783" y="193081"/>
                </a:lnTo>
                <a:lnTo>
                  <a:pt x="4358254" y="168942"/>
                </a:lnTo>
                <a:lnTo>
                  <a:pt x="4402724" y="144805"/>
                </a:lnTo>
                <a:lnTo>
                  <a:pt x="4447193" y="120668"/>
                </a:lnTo>
                <a:lnTo>
                  <a:pt x="4491662" y="96532"/>
                </a:lnTo>
                <a:lnTo>
                  <a:pt x="4536131" y="72397"/>
                </a:lnTo>
                <a:lnTo>
                  <a:pt x="4580599" y="48263"/>
                </a:lnTo>
                <a:lnTo>
                  <a:pt x="4625067" y="24130"/>
                </a:lnTo>
                <a:lnTo>
                  <a:pt x="4669535" y="0"/>
                </a:lnTo>
              </a:path>
            </a:pathLst>
          </a:custGeom>
          <a:ln w="9144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27876" y="5408676"/>
            <a:ext cx="88392" cy="88391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562088" y="4902708"/>
            <a:ext cx="88392" cy="8839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494776" y="4395215"/>
            <a:ext cx="88392" cy="8839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428988" y="3887723"/>
            <a:ext cx="88392" cy="8839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363200" y="3381755"/>
            <a:ext cx="88392" cy="88391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1297411" y="2874264"/>
            <a:ext cx="88392" cy="8839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672071" y="4136135"/>
            <a:ext cx="4669790" cy="1013460"/>
          </a:xfrm>
          <a:custGeom>
            <a:avLst/>
            <a:gdLst/>
            <a:ahLst/>
            <a:cxnLst/>
            <a:rect l="l" t="t" r="r" b="b"/>
            <a:pathLst>
              <a:path w="4669790" h="1013460">
                <a:moveTo>
                  <a:pt x="0" y="1013459"/>
                </a:moveTo>
                <a:lnTo>
                  <a:pt x="49149" y="1002791"/>
                </a:lnTo>
                <a:lnTo>
                  <a:pt x="98298" y="992123"/>
                </a:lnTo>
                <a:lnTo>
                  <a:pt x="147447" y="981455"/>
                </a:lnTo>
                <a:lnTo>
                  <a:pt x="196597" y="970787"/>
                </a:lnTo>
                <a:lnTo>
                  <a:pt x="245747" y="960119"/>
                </a:lnTo>
                <a:lnTo>
                  <a:pt x="294897" y="949451"/>
                </a:lnTo>
                <a:lnTo>
                  <a:pt x="344049" y="938783"/>
                </a:lnTo>
                <a:lnTo>
                  <a:pt x="393201" y="928115"/>
                </a:lnTo>
                <a:lnTo>
                  <a:pt x="442354" y="917447"/>
                </a:lnTo>
                <a:lnTo>
                  <a:pt x="491508" y="906779"/>
                </a:lnTo>
                <a:lnTo>
                  <a:pt x="540663" y="896111"/>
                </a:lnTo>
                <a:lnTo>
                  <a:pt x="589819" y="885443"/>
                </a:lnTo>
                <a:lnTo>
                  <a:pt x="638977" y="874775"/>
                </a:lnTo>
                <a:lnTo>
                  <a:pt x="688136" y="864107"/>
                </a:lnTo>
                <a:lnTo>
                  <a:pt x="737297" y="853439"/>
                </a:lnTo>
                <a:lnTo>
                  <a:pt x="786459" y="842771"/>
                </a:lnTo>
                <a:lnTo>
                  <a:pt x="835623" y="832103"/>
                </a:lnTo>
                <a:lnTo>
                  <a:pt x="884789" y="821435"/>
                </a:lnTo>
                <a:lnTo>
                  <a:pt x="933957" y="810768"/>
                </a:lnTo>
                <a:lnTo>
                  <a:pt x="983106" y="800100"/>
                </a:lnTo>
                <a:lnTo>
                  <a:pt x="1818640" y="618743"/>
                </a:lnTo>
                <a:lnTo>
                  <a:pt x="1867788" y="608076"/>
                </a:lnTo>
                <a:lnTo>
                  <a:pt x="1916939" y="597407"/>
                </a:lnTo>
                <a:lnTo>
                  <a:pt x="1966090" y="586739"/>
                </a:lnTo>
                <a:lnTo>
                  <a:pt x="2015244" y="576071"/>
                </a:lnTo>
                <a:lnTo>
                  <a:pt x="2064399" y="565403"/>
                </a:lnTo>
                <a:lnTo>
                  <a:pt x="2113555" y="554735"/>
                </a:lnTo>
                <a:lnTo>
                  <a:pt x="2162712" y="544067"/>
                </a:lnTo>
                <a:lnTo>
                  <a:pt x="2211871" y="533399"/>
                </a:lnTo>
                <a:lnTo>
                  <a:pt x="2261029" y="522731"/>
                </a:lnTo>
                <a:lnTo>
                  <a:pt x="2310188" y="512063"/>
                </a:lnTo>
                <a:lnTo>
                  <a:pt x="2359347" y="501395"/>
                </a:lnTo>
                <a:lnTo>
                  <a:pt x="2408506" y="490727"/>
                </a:lnTo>
                <a:lnTo>
                  <a:pt x="2457664" y="480059"/>
                </a:lnTo>
                <a:lnTo>
                  <a:pt x="2506823" y="469391"/>
                </a:lnTo>
                <a:lnTo>
                  <a:pt x="2555980" y="458723"/>
                </a:lnTo>
                <a:lnTo>
                  <a:pt x="2605136" y="448055"/>
                </a:lnTo>
                <a:lnTo>
                  <a:pt x="2654291" y="437387"/>
                </a:lnTo>
                <a:lnTo>
                  <a:pt x="2703445" y="426719"/>
                </a:lnTo>
                <a:lnTo>
                  <a:pt x="2752596" y="416051"/>
                </a:lnTo>
                <a:lnTo>
                  <a:pt x="2801747" y="405383"/>
                </a:lnTo>
                <a:lnTo>
                  <a:pt x="2850896" y="394715"/>
                </a:lnTo>
                <a:lnTo>
                  <a:pt x="2900045" y="384047"/>
                </a:lnTo>
                <a:lnTo>
                  <a:pt x="3686429" y="213359"/>
                </a:lnTo>
                <a:lnTo>
                  <a:pt x="3735578" y="202691"/>
                </a:lnTo>
                <a:lnTo>
                  <a:pt x="3784746" y="192023"/>
                </a:lnTo>
                <a:lnTo>
                  <a:pt x="3833912" y="181355"/>
                </a:lnTo>
                <a:lnTo>
                  <a:pt x="3883076" y="170687"/>
                </a:lnTo>
                <a:lnTo>
                  <a:pt x="3932238" y="160019"/>
                </a:lnTo>
                <a:lnTo>
                  <a:pt x="3981399" y="149351"/>
                </a:lnTo>
                <a:lnTo>
                  <a:pt x="4030558" y="138683"/>
                </a:lnTo>
                <a:lnTo>
                  <a:pt x="4079716" y="128015"/>
                </a:lnTo>
                <a:lnTo>
                  <a:pt x="4128872" y="117347"/>
                </a:lnTo>
                <a:lnTo>
                  <a:pt x="4178027" y="106679"/>
                </a:lnTo>
                <a:lnTo>
                  <a:pt x="4227181" y="96011"/>
                </a:lnTo>
                <a:lnTo>
                  <a:pt x="4276334" y="85343"/>
                </a:lnTo>
                <a:lnTo>
                  <a:pt x="4325486" y="74675"/>
                </a:lnTo>
                <a:lnTo>
                  <a:pt x="4374638" y="64007"/>
                </a:lnTo>
                <a:lnTo>
                  <a:pt x="4423788" y="53339"/>
                </a:lnTo>
                <a:lnTo>
                  <a:pt x="4472938" y="42671"/>
                </a:lnTo>
                <a:lnTo>
                  <a:pt x="4522088" y="32003"/>
                </a:lnTo>
                <a:lnTo>
                  <a:pt x="4571237" y="21335"/>
                </a:lnTo>
                <a:lnTo>
                  <a:pt x="4620386" y="10667"/>
                </a:lnTo>
                <a:lnTo>
                  <a:pt x="4669535" y="0"/>
                </a:lnTo>
              </a:path>
            </a:pathLst>
          </a:custGeom>
          <a:ln w="9143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627876" y="5105400"/>
            <a:ext cx="88392" cy="8839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562088" y="4902708"/>
            <a:ext cx="88392" cy="88392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494776" y="4700015"/>
            <a:ext cx="88392" cy="8839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428988" y="4497323"/>
            <a:ext cx="88392" cy="8839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10363200" y="4294632"/>
            <a:ext cx="88392" cy="88392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1297411" y="4091940"/>
            <a:ext cx="88392" cy="8839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6417690" y="5548985"/>
            <a:ext cx="10604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endParaRPr sz="1200">
              <a:latin typeface="等线"/>
              <a:cs typeface="等线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870575" y="2510154"/>
            <a:ext cx="652780" cy="2813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7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6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5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4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3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2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7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1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,</a:t>
            </a: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00</a:t>
            </a:r>
            <a:endParaRPr sz="1200">
              <a:latin typeface="等线"/>
              <a:cs typeface="等线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619747" y="5712358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0</a:t>
            </a:r>
            <a:endParaRPr sz="1200">
              <a:latin typeface="等线"/>
              <a:cs typeface="等线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0356595" y="5712358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4</a:t>
            </a:r>
            <a:endParaRPr sz="1200">
              <a:latin typeface="等线"/>
              <a:cs typeface="等线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290807" y="5712358"/>
            <a:ext cx="10604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5</a:t>
            </a:r>
            <a:endParaRPr sz="1200">
              <a:latin typeface="等线"/>
              <a:cs typeface="等线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7350252" y="610971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40" y="0"/>
                </a:lnTo>
              </a:path>
            </a:pathLst>
          </a:custGeom>
          <a:ln w="9144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434071" y="6071615"/>
            <a:ext cx="76200" cy="7620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434071" y="607161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73211" y="52931"/>
                </a:lnTo>
                <a:lnTo>
                  <a:pt x="65055" y="65041"/>
                </a:lnTo>
                <a:lnTo>
                  <a:pt x="52947" y="73206"/>
                </a:lnTo>
                <a:lnTo>
                  <a:pt x="38100" y="76200"/>
                </a:lnTo>
                <a:lnTo>
                  <a:pt x="23252" y="73206"/>
                </a:lnTo>
                <a:lnTo>
                  <a:pt x="11144" y="65041"/>
                </a:lnTo>
                <a:lnTo>
                  <a:pt x="2988" y="52931"/>
                </a:lnTo>
                <a:lnTo>
                  <a:pt x="0" y="38100"/>
                </a:lnTo>
                <a:lnTo>
                  <a:pt x="2988" y="23268"/>
                </a:lnTo>
                <a:lnTo>
                  <a:pt x="11144" y="11158"/>
                </a:lnTo>
                <a:lnTo>
                  <a:pt x="23252" y="2993"/>
                </a:lnTo>
                <a:lnTo>
                  <a:pt x="38100" y="0"/>
                </a:lnTo>
                <a:lnTo>
                  <a:pt x="52947" y="2993"/>
                </a:lnTo>
                <a:lnTo>
                  <a:pt x="65055" y="11158"/>
                </a:lnTo>
                <a:lnTo>
                  <a:pt x="73211" y="23268"/>
                </a:lnTo>
                <a:lnTo>
                  <a:pt x="76200" y="38100"/>
                </a:lnTo>
                <a:close/>
              </a:path>
            </a:pathLst>
          </a:custGeom>
          <a:ln w="9144">
            <a:solidFill>
              <a:srgbClr val="4471C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7553959" y="5619394"/>
            <a:ext cx="1071880" cy="57721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0"/>
              </a:spcBef>
              <a:tabLst>
                <a:tab pos="946785" algn="l"/>
              </a:tabLst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1	2</a:t>
            </a:r>
            <a:endParaRPr sz="1200">
              <a:latin typeface="等线"/>
              <a:cs typeface="等线"/>
            </a:endParaRPr>
          </a:p>
          <a:p>
            <a:pPr marL="67310">
              <a:lnSpc>
                <a:spcPct val="100000"/>
              </a:lnSpc>
              <a:spcBef>
                <a:spcPts val="735"/>
              </a:spcBef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传统灯具250W</a:t>
            </a:r>
            <a:endParaRPr sz="1200">
              <a:latin typeface="等线"/>
              <a:cs typeface="等线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8811768" y="6109715"/>
            <a:ext cx="243840" cy="0"/>
          </a:xfrm>
          <a:custGeom>
            <a:avLst/>
            <a:gdLst/>
            <a:ahLst/>
            <a:cxnLst/>
            <a:rect l="l" t="t" r="r" b="b"/>
            <a:pathLst>
              <a:path w="243840" h="0">
                <a:moveTo>
                  <a:pt x="0" y="0"/>
                </a:moveTo>
                <a:lnTo>
                  <a:pt x="243839" y="0"/>
                </a:lnTo>
              </a:path>
            </a:pathLst>
          </a:custGeom>
          <a:ln w="9144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894064" y="6071615"/>
            <a:ext cx="76200" cy="7620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894064" y="6071615"/>
            <a:ext cx="76200" cy="762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76200" y="38100"/>
                </a:moveTo>
                <a:lnTo>
                  <a:pt x="73211" y="52931"/>
                </a:lnTo>
                <a:lnTo>
                  <a:pt x="65055" y="65041"/>
                </a:lnTo>
                <a:lnTo>
                  <a:pt x="52947" y="73206"/>
                </a:lnTo>
                <a:lnTo>
                  <a:pt x="38100" y="76200"/>
                </a:lnTo>
                <a:lnTo>
                  <a:pt x="23252" y="73206"/>
                </a:lnTo>
                <a:lnTo>
                  <a:pt x="11144" y="65041"/>
                </a:lnTo>
                <a:lnTo>
                  <a:pt x="2988" y="52931"/>
                </a:lnTo>
                <a:lnTo>
                  <a:pt x="0" y="38100"/>
                </a:lnTo>
                <a:lnTo>
                  <a:pt x="2988" y="23268"/>
                </a:lnTo>
                <a:lnTo>
                  <a:pt x="11144" y="11158"/>
                </a:lnTo>
                <a:lnTo>
                  <a:pt x="23252" y="2993"/>
                </a:lnTo>
                <a:lnTo>
                  <a:pt x="38100" y="0"/>
                </a:lnTo>
                <a:lnTo>
                  <a:pt x="52947" y="2993"/>
                </a:lnTo>
                <a:lnTo>
                  <a:pt x="65055" y="11158"/>
                </a:lnTo>
                <a:lnTo>
                  <a:pt x="73211" y="23268"/>
                </a:lnTo>
                <a:lnTo>
                  <a:pt x="76200" y="38100"/>
                </a:lnTo>
                <a:close/>
              </a:path>
            </a:pathLst>
          </a:custGeom>
          <a:ln w="9144">
            <a:solidFill>
              <a:srgbClr val="EC7C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9069451" y="5619394"/>
            <a:ext cx="964565" cy="57721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ctr" marR="144780">
              <a:lnSpc>
                <a:spcPct val="100000"/>
              </a:lnSpc>
              <a:spcBef>
                <a:spcPts val="830"/>
              </a:spcBef>
            </a:pP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3</a:t>
            </a:r>
            <a:endParaRPr sz="1200">
              <a:latin typeface="等线"/>
              <a:cs typeface="等线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200" spc="-10">
                <a:solidFill>
                  <a:srgbClr val="BEBEBE"/>
                </a:solidFill>
                <a:latin typeface="等线"/>
                <a:cs typeface="等线"/>
              </a:rPr>
              <a:t>L</a:t>
            </a:r>
            <a:r>
              <a:rPr dirty="0" sz="1200" spc="-5">
                <a:solidFill>
                  <a:srgbClr val="BEBEBE"/>
                </a:solidFill>
                <a:latin typeface="等线"/>
                <a:cs typeface="等线"/>
              </a:rPr>
              <a:t>E</a:t>
            </a:r>
            <a:r>
              <a:rPr dirty="0" sz="1200" spc="0">
                <a:solidFill>
                  <a:srgbClr val="BEBEBE"/>
                </a:solidFill>
                <a:latin typeface="等线"/>
                <a:cs typeface="等线"/>
              </a:rPr>
              <a:t>D</a:t>
            </a:r>
            <a:r>
              <a:rPr dirty="0" sz="1200">
                <a:solidFill>
                  <a:srgbClr val="BEBEBE"/>
                </a:solidFill>
                <a:latin typeface="等线"/>
                <a:cs typeface="等线"/>
              </a:rPr>
              <a:t>灯具100W</a:t>
            </a:r>
            <a:endParaRPr sz="1200">
              <a:latin typeface="等线"/>
              <a:cs typeface="等线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12165" y="6435242"/>
            <a:ext cx="615315" cy="14986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12165" y="6428638"/>
            <a:ext cx="61531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1742" y="338709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微软雅黑"/>
                <a:cs typeface="微软雅黑"/>
              </a:rPr>
              <a:t>专业光学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0" y="1014983"/>
            <a:ext cx="2973324" cy="17221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822575" y="2337308"/>
            <a:ext cx="2644140" cy="2212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专业配光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20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欧普专利透镜，单个透镜实现60°和90° 两种光学方案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55"/>
              </a:spcBef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高效节能</a:t>
            </a:r>
            <a:endParaRPr sz="1800">
              <a:latin typeface="微软雅黑"/>
              <a:cs typeface="微软雅黑"/>
            </a:endParaRPr>
          </a:p>
          <a:p>
            <a:pPr marL="12700" marR="64135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采用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TIR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透镜方案加上高透</a:t>
            </a:r>
            <a:r>
              <a:rPr dirty="0" sz="1200" spc="-5">
                <a:solidFill>
                  <a:srgbClr val="D9D9D9"/>
                </a:solidFill>
                <a:latin typeface="微软雅黑"/>
                <a:cs typeface="微软雅黑"/>
              </a:rPr>
              <a:t>P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C，光学效 率高</a:t>
            </a:r>
            <a:endParaRPr sz="12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solidFill>
                  <a:srgbClr val="C6A152"/>
                </a:solidFill>
                <a:latin typeface="微软雅黑"/>
                <a:cs typeface="微软雅黑"/>
              </a:rPr>
              <a:t>出光均匀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优良光学效果</a:t>
            </a:r>
            <a:r>
              <a:rPr dirty="0" sz="1200">
                <a:solidFill>
                  <a:srgbClr val="C6A152"/>
                </a:solidFill>
                <a:latin typeface="微软雅黑"/>
                <a:cs typeface="微软雅黑"/>
              </a:rPr>
              <a:t>，</a:t>
            </a:r>
            <a:r>
              <a:rPr dirty="0" sz="1200">
                <a:solidFill>
                  <a:srgbClr val="D9D9D9"/>
                </a:solidFill>
                <a:latin typeface="微软雅黑"/>
                <a:cs typeface="微软雅黑"/>
              </a:rPr>
              <a:t>出光分布均匀，无黄斑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55319" y="4315967"/>
            <a:ext cx="1575816" cy="15803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915911" y="2442972"/>
            <a:ext cx="2296668" cy="135940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15911" y="4009644"/>
            <a:ext cx="2296668" cy="21000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605771" y="2442972"/>
            <a:ext cx="2296668" cy="13594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605771" y="4009644"/>
            <a:ext cx="2296668" cy="213817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915911" y="868680"/>
            <a:ext cx="4997196" cy="135026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981950" y="6292697"/>
            <a:ext cx="353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等线"/>
                <a:cs typeface="等线"/>
              </a:rPr>
              <a:t>60</a:t>
            </a:r>
            <a:r>
              <a:rPr dirty="0" sz="1800">
                <a:solidFill>
                  <a:srgbClr val="FFFFFF"/>
                </a:solidFill>
                <a:latin typeface="等线"/>
                <a:cs typeface="等线"/>
              </a:rPr>
              <a:t>°</a:t>
            </a:r>
            <a:endParaRPr sz="1800">
              <a:latin typeface="等线"/>
              <a:cs typeface="等线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834878" y="6292697"/>
            <a:ext cx="3536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FFFFFF"/>
                </a:solidFill>
                <a:latin typeface="等线"/>
                <a:cs typeface="等线"/>
              </a:rPr>
              <a:t>90</a:t>
            </a:r>
            <a:r>
              <a:rPr dirty="0" sz="1800">
                <a:solidFill>
                  <a:srgbClr val="FFFFFF"/>
                </a:solidFill>
                <a:latin typeface="等线"/>
                <a:cs typeface="等线"/>
              </a:rPr>
              <a:t>°</a:t>
            </a:r>
            <a:endParaRPr sz="1800">
              <a:latin typeface="等线"/>
              <a:cs typeface="等线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12192">
            <a:solidFill>
              <a:srgbClr val="1C1C1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512165" y="6428638"/>
            <a:ext cx="61531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>
                <a:solidFill>
                  <a:srgbClr val="FFFFFF"/>
                </a:solidFill>
                <a:latin typeface="Courier New"/>
                <a:cs typeface="Courier New"/>
              </a:rPr>
              <a:t>OPPLE.COM</a:t>
            </a:r>
            <a:endParaRPr sz="85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14465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FFFFFF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61742" y="338709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>
                <a:solidFill>
                  <a:srgbClr val="FFFFFF"/>
                </a:solidFill>
                <a:latin typeface="微软雅黑"/>
                <a:cs typeface="微软雅黑"/>
              </a:rPr>
              <a:t>安装便利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13788" y="437387"/>
            <a:ext cx="0" cy="288290"/>
          </a:xfrm>
          <a:custGeom>
            <a:avLst/>
            <a:gdLst/>
            <a:ahLst/>
            <a:cxnLst/>
            <a:rect l="l" t="t" r="r" b="b"/>
            <a:pathLst>
              <a:path w="0" h="288290">
                <a:moveTo>
                  <a:pt x="0" y="0"/>
                </a:moveTo>
                <a:lnTo>
                  <a:pt x="0" y="288036"/>
                </a:lnTo>
              </a:path>
            </a:pathLst>
          </a:custGeom>
          <a:ln w="18287">
            <a:solidFill>
              <a:srgbClr val="C6A152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47116" y="1315211"/>
            <a:ext cx="10693908" cy="33086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1594103" y="4590288"/>
            <a:ext cx="901065" cy="504825"/>
          </a:xfrm>
          <a:prstGeom prst="rect">
            <a:avLst/>
          </a:prstGeom>
          <a:solidFill>
            <a:srgbClr val="A4A4A4"/>
          </a:solidFill>
        </p:spPr>
        <p:txBody>
          <a:bodyPr wrap="square" lIns="0" tIns="122555" rIns="0" bIns="0" rtlCol="0" vert="horz">
            <a:spAutoFit/>
          </a:bodyPr>
          <a:lstStyle/>
          <a:p>
            <a:pPr marL="247650">
              <a:lnSpc>
                <a:spcPct val="100000"/>
              </a:lnSpc>
              <a:spcBef>
                <a:spcPts val="965"/>
              </a:spcBef>
            </a:pPr>
            <a:r>
              <a:rPr dirty="0" sz="1600" spc="-5" b="1">
                <a:solidFill>
                  <a:srgbClr val="FFFFFF"/>
                </a:solidFill>
                <a:latin typeface="微软雅黑"/>
                <a:cs typeface="微软雅黑"/>
              </a:rPr>
              <a:t>吊钩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09615" y="4590288"/>
            <a:ext cx="899160" cy="504825"/>
          </a:xfrm>
          <a:prstGeom prst="rect">
            <a:avLst/>
          </a:prstGeom>
          <a:solidFill>
            <a:srgbClr val="A4A4A4"/>
          </a:solidFill>
        </p:spPr>
        <p:txBody>
          <a:bodyPr wrap="square" lIns="0" tIns="122555" rIns="0" bIns="0" rtlCol="0" vert="horz">
            <a:spAutoFit/>
          </a:bodyPr>
          <a:lstStyle/>
          <a:p>
            <a:pPr marL="247650">
              <a:lnSpc>
                <a:spcPct val="100000"/>
              </a:lnSpc>
              <a:spcBef>
                <a:spcPts val="965"/>
              </a:spcBef>
            </a:pPr>
            <a:r>
              <a:rPr dirty="0" sz="1600" spc="-5" b="1">
                <a:solidFill>
                  <a:srgbClr val="FFFFFF"/>
                </a:solidFill>
                <a:latin typeface="微软雅黑"/>
                <a:cs typeface="微软雅黑"/>
              </a:rPr>
              <a:t>吊杆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3604" y="4590288"/>
            <a:ext cx="899160" cy="504825"/>
          </a:xfrm>
          <a:prstGeom prst="rect">
            <a:avLst/>
          </a:prstGeom>
          <a:solidFill>
            <a:srgbClr val="A4A4A4"/>
          </a:solidFill>
        </p:spPr>
        <p:txBody>
          <a:bodyPr wrap="square" lIns="0" tIns="123189" rIns="0" bIns="0" rtlCol="0" vert="horz">
            <a:spAutoFit/>
          </a:bodyPr>
          <a:lstStyle/>
          <a:p>
            <a:pPr marL="248285">
              <a:lnSpc>
                <a:spcPct val="100000"/>
              </a:lnSpc>
              <a:spcBef>
                <a:spcPts val="969"/>
              </a:spcBef>
            </a:pPr>
            <a:r>
              <a:rPr dirty="0" sz="1600" spc="-10" b="1">
                <a:solidFill>
                  <a:srgbClr val="FFFFFF"/>
                </a:solidFill>
                <a:latin typeface="微软雅黑"/>
                <a:cs typeface="微软雅黑"/>
              </a:rPr>
              <a:t>壁装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09016" y="6403823"/>
            <a:ext cx="612775" cy="144145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</a:t>
            </a:r>
            <a:r>
              <a:rPr dirty="0" sz="850" b="0">
                <a:solidFill>
                  <a:srgbClr val="404040"/>
                </a:solidFill>
                <a:latin typeface="Microsoft YaHei UI Light"/>
                <a:cs typeface="Microsoft YaHei UI Light"/>
              </a:rPr>
              <a:t>PPL</a:t>
            </a:r>
            <a:r>
              <a:rPr dirty="0" sz="850" spc="-10" b="0">
                <a:solidFill>
                  <a:srgbClr val="404040"/>
                </a:solidFill>
                <a:latin typeface="Microsoft YaHei UI Light"/>
                <a:cs typeface="Microsoft YaHei UI Light"/>
              </a:rPr>
              <a:t>E</a:t>
            </a:r>
            <a:r>
              <a:rPr dirty="0" sz="850" b="0">
                <a:solidFill>
                  <a:srgbClr val="404040"/>
                </a:solidFill>
                <a:latin typeface="Microsoft YaHei UI Light"/>
                <a:cs typeface="Microsoft YaHei UI Light"/>
              </a:rPr>
              <a:t>.C</a:t>
            </a: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</a:t>
            </a:r>
            <a:r>
              <a:rPr dirty="0" sz="850" b="0">
                <a:solidFill>
                  <a:srgbClr val="404040"/>
                </a:solidFill>
                <a:latin typeface="Microsoft YaHei UI Light"/>
                <a:cs typeface="Microsoft YaHei UI Light"/>
              </a:rPr>
              <a:t>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000000"/>
                </a:solidFill>
                <a:latin typeface="微软雅黑"/>
                <a:cs typeface="微软雅黑"/>
              </a:rPr>
              <a:t>产品应用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latin typeface="Microsoft YaHei UI Light"/>
                <a:cs typeface="Microsoft YaHei UI Light"/>
              </a:rPr>
              <a:t>应用空间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72872" y="1527403"/>
            <a:ext cx="5537200" cy="13061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0100"/>
              </a:lnSpc>
              <a:spcBef>
                <a:spcPts val="95"/>
              </a:spcBef>
            </a:pP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办公场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所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的光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环境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是决定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了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工作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场所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的舒适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度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与效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率的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重要因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素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之一。 因此，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优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秀的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照明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环境和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灯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具在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办公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场所起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着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至关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重要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的作用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。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同时，  考虑到办公用灯时间长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，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长寿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命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、高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节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能的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灯</a:t>
            </a:r>
            <a:r>
              <a:rPr dirty="0" sz="1400" spc="0">
                <a:solidFill>
                  <a:srgbClr val="2C2C2C"/>
                </a:solidFill>
                <a:latin typeface="等线"/>
                <a:cs typeface="等线"/>
              </a:rPr>
              <a:t>具不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仅</a:t>
            </a:r>
            <a:r>
              <a:rPr dirty="0" sz="1400" spc="0">
                <a:solidFill>
                  <a:srgbClr val="2C2C2C"/>
                </a:solidFill>
                <a:latin typeface="等线"/>
                <a:cs typeface="等线"/>
              </a:rPr>
              <a:t>可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以</a:t>
            </a:r>
            <a:r>
              <a:rPr dirty="0" sz="1400" spc="-10">
                <a:solidFill>
                  <a:srgbClr val="2C2C2C"/>
                </a:solidFill>
                <a:latin typeface="等线"/>
                <a:cs typeface="等线"/>
              </a:rPr>
              <a:t>大</a:t>
            </a:r>
            <a:r>
              <a:rPr dirty="0" sz="1400" spc="0">
                <a:solidFill>
                  <a:srgbClr val="2C2C2C"/>
                </a:solidFill>
                <a:latin typeface="等线"/>
                <a:cs typeface="等线"/>
              </a:rPr>
              <a:t>幅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节</a:t>
            </a:r>
            <a:r>
              <a:rPr dirty="0" sz="1400" spc="-10">
                <a:solidFill>
                  <a:srgbClr val="2C2C2C"/>
                </a:solidFill>
                <a:latin typeface="等线"/>
                <a:cs typeface="等线"/>
              </a:rPr>
              <a:t>省</a:t>
            </a:r>
            <a:r>
              <a:rPr dirty="0" sz="1400" spc="0">
                <a:solidFill>
                  <a:srgbClr val="2C2C2C"/>
                </a:solidFill>
                <a:latin typeface="等线"/>
                <a:cs typeface="等线"/>
              </a:rPr>
              <a:t>用 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电量，同时降低了运维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费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用，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因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此受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到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了不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少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用户</a:t>
            </a:r>
            <a:r>
              <a:rPr dirty="0" sz="1400" spc="-15">
                <a:solidFill>
                  <a:srgbClr val="2C2C2C"/>
                </a:solidFill>
                <a:latin typeface="等线"/>
                <a:cs typeface="等线"/>
              </a:rPr>
              <a:t>的</a:t>
            </a:r>
            <a:r>
              <a:rPr dirty="0" sz="1400">
                <a:solidFill>
                  <a:srgbClr val="2C2C2C"/>
                </a:solidFill>
                <a:latin typeface="等线"/>
                <a:cs typeface="等线"/>
              </a:rPr>
              <a:t>偏爱。</a:t>
            </a:r>
            <a:endParaRPr sz="1400">
              <a:latin typeface="等线"/>
              <a:cs typeface="等线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41782" y="1128141"/>
            <a:ext cx="1142365" cy="3606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5" b="1">
                <a:solidFill>
                  <a:srgbClr val="333333"/>
                </a:solidFill>
                <a:latin typeface="微软雅黑"/>
                <a:cs typeface="微软雅黑"/>
              </a:rPr>
              <a:t>办公区域</a:t>
            </a:r>
            <a:endParaRPr sz="22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358128" y="0"/>
            <a:ext cx="5833871" cy="3429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0" y="3428998"/>
            <a:ext cx="6358128" cy="34289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715125" y="3533076"/>
            <a:ext cx="5400040" cy="322135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45"/>
              </a:spcBef>
            </a:pPr>
            <a:r>
              <a:rPr dirty="0" sz="1800">
                <a:latin typeface="微软雅黑"/>
                <a:cs typeface="微软雅黑"/>
              </a:rPr>
              <a:t>均匀明亮</a:t>
            </a:r>
            <a:endParaRPr sz="1800">
              <a:latin typeface="微软雅黑"/>
              <a:cs typeface="微软雅黑"/>
            </a:endParaRPr>
          </a:p>
          <a:p>
            <a:pPr marL="12700" marR="349250">
              <a:lnSpc>
                <a:spcPct val="100000"/>
              </a:lnSpc>
              <a:spcBef>
                <a:spcPts val="760"/>
              </a:spcBef>
            </a:pPr>
            <a:r>
              <a:rPr dirty="0" sz="1200">
                <a:latin typeface="等线"/>
                <a:cs typeface="等线"/>
              </a:rPr>
              <a:t>足够的光通量和照度，不仅可以使工作环境更加舒适，同时可提高工作专注 度。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dirty="0" sz="1800">
                <a:latin typeface="微软雅黑"/>
                <a:cs typeface="微软雅黑"/>
              </a:rPr>
              <a:t>超长寿命</a:t>
            </a:r>
            <a:endParaRPr sz="1800">
              <a:latin typeface="微软雅黑"/>
              <a:cs typeface="微软雅黑"/>
            </a:endParaRPr>
          </a:p>
          <a:p>
            <a:pPr marL="12700" marR="285750">
              <a:lnSpc>
                <a:spcPct val="100000"/>
              </a:lnSpc>
              <a:spcBef>
                <a:spcPts val="605"/>
              </a:spcBef>
            </a:pPr>
            <a:r>
              <a:rPr dirty="0" sz="1200">
                <a:latin typeface="等线"/>
                <a:cs typeface="等线"/>
              </a:rPr>
              <a:t>办公场所开灯时间长、用灯时间久；50000小时寿命&amp;高强度结构，极大程度 降低了后期维护费用与投入。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</a:pP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800">
                <a:latin typeface="微软雅黑"/>
                <a:cs typeface="微软雅黑"/>
              </a:rPr>
              <a:t>节能环保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dirty="0" sz="1200" spc="-5">
                <a:latin typeface="等线"/>
                <a:cs typeface="等线"/>
              </a:rPr>
              <a:t>120lm/W</a:t>
            </a:r>
            <a:r>
              <a:rPr dirty="0" sz="1200">
                <a:latin typeface="等线"/>
                <a:cs typeface="等线"/>
              </a:rPr>
              <a:t>高光效，保证空间明亮，节能环保。</a:t>
            </a:r>
            <a:endParaRPr sz="1200">
              <a:latin typeface="等线"/>
              <a:cs typeface="等线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50">
              <a:latin typeface="Times New Roman"/>
              <a:cs typeface="Times New Roman"/>
            </a:endParaRPr>
          </a:p>
          <a:p>
            <a:pPr marL="1514475">
              <a:lnSpc>
                <a:spcPct val="100000"/>
              </a:lnSpc>
            </a:pPr>
            <a:r>
              <a:rPr dirty="0" sz="1200" b="1">
                <a:latin typeface="微软雅黑"/>
                <a:cs typeface="微软雅黑"/>
              </a:rPr>
              <a:t>※</a:t>
            </a:r>
            <a:r>
              <a:rPr dirty="0" sz="1200" spc="-55" b="1">
                <a:latin typeface="微软雅黑"/>
                <a:cs typeface="微软雅黑"/>
              </a:rPr>
              <a:t> </a:t>
            </a:r>
            <a:r>
              <a:rPr dirty="0" sz="1200" b="1">
                <a:latin typeface="微软雅黑"/>
                <a:cs typeface="微软雅黑"/>
              </a:rPr>
              <a:t>推荐走廊搭配使用</a:t>
            </a:r>
            <a:r>
              <a:rPr dirty="0" sz="1200" spc="-5" b="1">
                <a:latin typeface="微软雅黑"/>
                <a:cs typeface="微软雅黑"/>
              </a:rPr>
              <a:t>OPPLE</a:t>
            </a:r>
            <a:r>
              <a:rPr dirty="0" sz="1200" b="1">
                <a:latin typeface="微软雅黑"/>
                <a:cs typeface="微软雅黑"/>
              </a:rPr>
              <a:t>防眩筒灯，实现功能照明分区</a:t>
            </a:r>
            <a:endParaRPr sz="12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1362455"/>
            <a:ext cx="12191999" cy="33756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4052" y="338709"/>
            <a:ext cx="299021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10">
                <a:solidFill>
                  <a:srgbClr val="2C2C2C"/>
                </a:solidFill>
              </a:rPr>
              <a:t>LED</a:t>
            </a:r>
            <a:r>
              <a:rPr dirty="0" u="none" sz="2800" spc="-5">
                <a:solidFill>
                  <a:srgbClr val="2C2C2C"/>
                </a:solidFill>
              </a:rPr>
              <a:t>直下灯盘-佳</a:t>
            </a:r>
            <a:r>
              <a:rPr dirty="0" u="none" sz="2800" spc="-10">
                <a:solidFill>
                  <a:srgbClr val="2C2C2C"/>
                </a:solidFill>
              </a:rPr>
              <a:t>III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491488" y="5282310"/>
            <a:ext cx="1465580" cy="8248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高光效</a:t>
            </a:r>
            <a:r>
              <a:rPr dirty="0" sz="1800" spc="-8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更节能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000" b="0">
                <a:latin typeface="Microsoft YaHei UI Light"/>
                <a:cs typeface="Microsoft YaHei UI Light"/>
              </a:rPr>
              <a:t>达到一级能</a:t>
            </a:r>
            <a:r>
              <a:rPr dirty="0" sz="1000" spc="-5" b="0">
                <a:latin typeface="Microsoft YaHei UI Light"/>
                <a:cs typeface="Microsoft YaHei UI Light"/>
              </a:rPr>
              <a:t>效标准</a:t>
            </a:r>
            <a:endParaRPr sz="1000">
              <a:latin typeface="Microsoft YaHei UI Light"/>
              <a:cs typeface="Microsoft YaHei UI Ligh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000" spc="-5" b="0">
                <a:latin typeface="Microsoft YaHei UI Light"/>
                <a:cs typeface="Microsoft YaHei UI Light"/>
              </a:rPr>
              <a:t>单灯光效高达</a:t>
            </a:r>
            <a:r>
              <a:rPr dirty="0" sz="1100" b="1">
                <a:solidFill>
                  <a:srgbClr val="03399D"/>
                </a:solidFill>
                <a:latin typeface="微软雅黑"/>
                <a:cs typeface="微软雅黑"/>
              </a:rPr>
              <a:t>120lm/W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48868" y="5372098"/>
            <a:ext cx="527685" cy="527685"/>
          </a:xfrm>
          <a:custGeom>
            <a:avLst/>
            <a:gdLst/>
            <a:ahLst/>
            <a:cxnLst/>
            <a:rect l="l" t="t" r="r" b="b"/>
            <a:pathLst>
              <a:path w="527685" h="527685">
                <a:moveTo>
                  <a:pt x="265958" y="108315"/>
                </a:moveTo>
                <a:lnTo>
                  <a:pt x="200196" y="121129"/>
                </a:lnTo>
                <a:lnTo>
                  <a:pt x="145062" y="158317"/>
                </a:lnTo>
                <a:lnTo>
                  <a:pt x="107862" y="213721"/>
                </a:lnTo>
                <a:lnTo>
                  <a:pt x="95043" y="279130"/>
                </a:lnTo>
                <a:lnTo>
                  <a:pt x="98886" y="315478"/>
                </a:lnTo>
                <a:lnTo>
                  <a:pt x="128457" y="381302"/>
                </a:lnTo>
                <a:lnTo>
                  <a:pt x="156734" y="411609"/>
                </a:lnTo>
                <a:lnTo>
                  <a:pt x="161742" y="413274"/>
                </a:lnTo>
                <a:lnTo>
                  <a:pt x="370174" y="413274"/>
                </a:lnTo>
                <a:lnTo>
                  <a:pt x="374338" y="411609"/>
                </a:lnTo>
                <a:lnTo>
                  <a:pt x="377670" y="408279"/>
                </a:lnTo>
                <a:lnTo>
                  <a:pt x="402746" y="381302"/>
                </a:lnTo>
                <a:lnTo>
                  <a:pt x="406513" y="374949"/>
                </a:lnTo>
                <a:lnTo>
                  <a:pt x="173414" y="374949"/>
                </a:lnTo>
                <a:lnTo>
                  <a:pt x="156128" y="354470"/>
                </a:lnTo>
                <a:lnTo>
                  <a:pt x="143294" y="331102"/>
                </a:lnTo>
                <a:lnTo>
                  <a:pt x="135307" y="305702"/>
                </a:lnTo>
                <a:lnTo>
                  <a:pt x="132557" y="279130"/>
                </a:lnTo>
                <a:lnTo>
                  <a:pt x="139386" y="237111"/>
                </a:lnTo>
                <a:lnTo>
                  <a:pt x="158382" y="200530"/>
                </a:lnTo>
                <a:lnTo>
                  <a:pt x="187303" y="171628"/>
                </a:lnTo>
                <a:lnTo>
                  <a:pt x="223908" y="152645"/>
                </a:lnTo>
                <a:lnTo>
                  <a:pt x="265958" y="145819"/>
                </a:lnTo>
                <a:lnTo>
                  <a:pt x="371586" y="145819"/>
                </a:lnTo>
                <a:lnTo>
                  <a:pt x="360568" y="136794"/>
                </a:lnTo>
                <a:lnTo>
                  <a:pt x="331090" y="121129"/>
                </a:lnTo>
                <a:lnTo>
                  <a:pt x="299267" y="111558"/>
                </a:lnTo>
                <a:lnTo>
                  <a:pt x="265958" y="108315"/>
                </a:lnTo>
                <a:close/>
              </a:path>
              <a:path w="527685" h="527685">
                <a:moveTo>
                  <a:pt x="371586" y="145819"/>
                </a:moveTo>
                <a:lnTo>
                  <a:pt x="265958" y="145819"/>
                </a:lnTo>
                <a:lnTo>
                  <a:pt x="307916" y="152645"/>
                </a:lnTo>
                <a:lnTo>
                  <a:pt x="344311" y="171628"/>
                </a:lnTo>
                <a:lnTo>
                  <a:pt x="372984" y="200530"/>
                </a:lnTo>
                <a:lnTo>
                  <a:pt x="391772" y="237111"/>
                </a:lnTo>
                <a:lnTo>
                  <a:pt x="398515" y="279130"/>
                </a:lnTo>
                <a:lnTo>
                  <a:pt x="395767" y="305702"/>
                </a:lnTo>
                <a:lnTo>
                  <a:pt x="387782" y="331102"/>
                </a:lnTo>
                <a:lnTo>
                  <a:pt x="374949" y="354470"/>
                </a:lnTo>
                <a:lnTo>
                  <a:pt x="357658" y="374949"/>
                </a:lnTo>
                <a:lnTo>
                  <a:pt x="406513" y="374949"/>
                </a:lnTo>
                <a:lnTo>
                  <a:pt x="421335" y="349952"/>
                </a:lnTo>
                <a:lnTo>
                  <a:pt x="432890" y="315478"/>
                </a:lnTo>
                <a:lnTo>
                  <a:pt x="436863" y="279130"/>
                </a:lnTo>
                <a:lnTo>
                  <a:pt x="433503" y="245488"/>
                </a:lnTo>
                <a:lnTo>
                  <a:pt x="423735" y="213721"/>
                </a:lnTo>
                <a:lnTo>
                  <a:pt x="408026" y="184455"/>
                </a:lnTo>
                <a:lnTo>
                  <a:pt x="386843" y="158317"/>
                </a:lnTo>
                <a:lnTo>
                  <a:pt x="371586" y="145819"/>
                </a:lnTo>
                <a:close/>
              </a:path>
              <a:path w="527685" h="527685">
                <a:moveTo>
                  <a:pt x="56692" y="300796"/>
                </a:moveTo>
                <a:lnTo>
                  <a:pt x="18341" y="300796"/>
                </a:lnTo>
                <a:lnTo>
                  <a:pt x="11255" y="302252"/>
                </a:lnTo>
                <a:lnTo>
                  <a:pt x="5419" y="306208"/>
                </a:lnTo>
                <a:lnTo>
                  <a:pt x="1458" y="312038"/>
                </a:lnTo>
                <a:lnTo>
                  <a:pt x="0" y="319120"/>
                </a:lnTo>
                <a:lnTo>
                  <a:pt x="1458" y="326685"/>
                </a:lnTo>
                <a:lnTo>
                  <a:pt x="5419" y="332766"/>
                </a:lnTo>
                <a:lnTo>
                  <a:pt x="11255" y="336817"/>
                </a:lnTo>
                <a:lnTo>
                  <a:pt x="18341" y="338288"/>
                </a:lnTo>
                <a:lnTo>
                  <a:pt x="56692" y="338288"/>
                </a:lnTo>
                <a:lnTo>
                  <a:pt x="64261" y="336817"/>
                </a:lnTo>
                <a:lnTo>
                  <a:pt x="70344" y="332766"/>
                </a:lnTo>
                <a:lnTo>
                  <a:pt x="74396" y="326685"/>
                </a:lnTo>
                <a:lnTo>
                  <a:pt x="75868" y="319120"/>
                </a:lnTo>
                <a:lnTo>
                  <a:pt x="74396" y="312038"/>
                </a:lnTo>
                <a:lnTo>
                  <a:pt x="70344" y="306208"/>
                </a:lnTo>
                <a:lnTo>
                  <a:pt x="64261" y="302252"/>
                </a:lnTo>
                <a:lnTo>
                  <a:pt x="56692" y="300796"/>
                </a:lnTo>
                <a:close/>
              </a:path>
              <a:path w="527685" h="527685">
                <a:moveTo>
                  <a:pt x="512737" y="300796"/>
                </a:moveTo>
                <a:lnTo>
                  <a:pt x="474378" y="300796"/>
                </a:lnTo>
                <a:lnTo>
                  <a:pt x="467166" y="302252"/>
                </a:lnTo>
                <a:lnTo>
                  <a:pt x="461046" y="306208"/>
                </a:lnTo>
                <a:lnTo>
                  <a:pt x="456799" y="312038"/>
                </a:lnTo>
                <a:lnTo>
                  <a:pt x="455210" y="319120"/>
                </a:lnTo>
                <a:lnTo>
                  <a:pt x="456799" y="326685"/>
                </a:lnTo>
                <a:lnTo>
                  <a:pt x="461046" y="332766"/>
                </a:lnTo>
                <a:lnTo>
                  <a:pt x="467166" y="336817"/>
                </a:lnTo>
                <a:lnTo>
                  <a:pt x="474378" y="338288"/>
                </a:lnTo>
                <a:lnTo>
                  <a:pt x="512737" y="338288"/>
                </a:lnTo>
                <a:lnTo>
                  <a:pt x="520305" y="336817"/>
                </a:lnTo>
                <a:lnTo>
                  <a:pt x="526386" y="332766"/>
                </a:lnTo>
                <a:lnTo>
                  <a:pt x="527319" y="331365"/>
                </a:lnTo>
                <a:lnTo>
                  <a:pt x="527319" y="307551"/>
                </a:lnTo>
                <a:lnTo>
                  <a:pt x="526386" y="306208"/>
                </a:lnTo>
                <a:lnTo>
                  <a:pt x="520305" y="302252"/>
                </a:lnTo>
                <a:lnTo>
                  <a:pt x="512737" y="300796"/>
                </a:lnTo>
                <a:close/>
              </a:path>
              <a:path w="527685" h="527685">
                <a:moveTo>
                  <a:pt x="464065" y="81031"/>
                </a:moveTo>
                <a:lnTo>
                  <a:pt x="423525" y="114153"/>
                </a:lnTo>
                <a:lnTo>
                  <a:pt x="417895" y="127167"/>
                </a:lnTo>
                <a:lnTo>
                  <a:pt x="419302" y="134419"/>
                </a:lnTo>
                <a:lnTo>
                  <a:pt x="423525" y="140813"/>
                </a:lnTo>
                <a:lnTo>
                  <a:pt x="429806" y="145034"/>
                </a:lnTo>
                <a:lnTo>
                  <a:pt x="436867" y="146441"/>
                </a:lnTo>
                <a:lnTo>
                  <a:pt x="443926" y="145034"/>
                </a:lnTo>
                <a:lnTo>
                  <a:pt x="450201" y="140813"/>
                </a:lnTo>
                <a:lnTo>
                  <a:pt x="477721" y="113321"/>
                </a:lnTo>
                <a:lnTo>
                  <a:pt x="481938" y="107043"/>
                </a:lnTo>
                <a:lnTo>
                  <a:pt x="483343" y="99985"/>
                </a:lnTo>
                <a:lnTo>
                  <a:pt x="481938" y="92927"/>
                </a:lnTo>
                <a:lnTo>
                  <a:pt x="477721" y="86650"/>
                </a:lnTo>
                <a:lnTo>
                  <a:pt x="471322" y="82436"/>
                </a:lnTo>
                <a:lnTo>
                  <a:pt x="464065" y="81031"/>
                </a:lnTo>
                <a:close/>
              </a:path>
              <a:path w="527685" h="527685">
                <a:moveTo>
                  <a:pt x="64196" y="80199"/>
                </a:moveTo>
                <a:lnTo>
                  <a:pt x="57135" y="81603"/>
                </a:lnTo>
                <a:lnTo>
                  <a:pt x="50856" y="85817"/>
                </a:lnTo>
                <a:lnTo>
                  <a:pt x="46635" y="92095"/>
                </a:lnTo>
                <a:lnTo>
                  <a:pt x="45228" y="99153"/>
                </a:lnTo>
                <a:lnTo>
                  <a:pt x="46635" y="106211"/>
                </a:lnTo>
                <a:lnTo>
                  <a:pt x="50856" y="112489"/>
                </a:lnTo>
                <a:lnTo>
                  <a:pt x="77535" y="139981"/>
                </a:lnTo>
                <a:lnTo>
                  <a:pt x="83944" y="144201"/>
                </a:lnTo>
                <a:lnTo>
                  <a:pt x="91291" y="145608"/>
                </a:lnTo>
                <a:lnTo>
                  <a:pt x="98638" y="144201"/>
                </a:lnTo>
                <a:lnTo>
                  <a:pt x="105048" y="139981"/>
                </a:lnTo>
                <a:lnTo>
                  <a:pt x="109271" y="133704"/>
                </a:lnTo>
                <a:lnTo>
                  <a:pt x="110678" y="126647"/>
                </a:lnTo>
                <a:lnTo>
                  <a:pt x="109271" y="119592"/>
                </a:lnTo>
                <a:lnTo>
                  <a:pt x="105048" y="113321"/>
                </a:lnTo>
                <a:lnTo>
                  <a:pt x="77535" y="85817"/>
                </a:lnTo>
                <a:lnTo>
                  <a:pt x="71256" y="81603"/>
                </a:lnTo>
                <a:lnTo>
                  <a:pt x="64196" y="80199"/>
                </a:lnTo>
                <a:close/>
              </a:path>
              <a:path w="527685" h="527685">
                <a:moveTo>
                  <a:pt x="343487" y="431608"/>
                </a:moveTo>
                <a:lnTo>
                  <a:pt x="187585" y="431608"/>
                </a:lnTo>
                <a:lnTo>
                  <a:pt x="180367" y="433197"/>
                </a:lnTo>
                <a:lnTo>
                  <a:pt x="174243" y="437441"/>
                </a:lnTo>
                <a:lnTo>
                  <a:pt x="169995" y="443560"/>
                </a:lnTo>
                <a:lnTo>
                  <a:pt x="168406" y="450772"/>
                </a:lnTo>
                <a:lnTo>
                  <a:pt x="169995" y="458336"/>
                </a:lnTo>
                <a:lnTo>
                  <a:pt x="174243" y="464417"/>
                </a:lnTo>
                <a:lnTo>
                  <a:pt x="180367" y="468466"/>
                </a:lnTo>
                <a:lnTo>
                  <a:pt x="187585" y="469937"/>
                </a:lnTo>
                <a:lnTo>
                  <a:pt x="343487" y="469937"/>
                </a:lnTo>
                <a:lnTo>
                  <a:pt x="351056" y="468466"/>
                </a:lnTo>
                <a:lnTo>
                  <a:pt x="357141" y="464417"/>
                </a:lnTo>
                <a:lnTo>
                  <a:pt x="361194" y="458336"/>
                </a:lnTo>
                <a:lnTo>
                  <a:pt x="362666" y="450772"/>
                </a:lnTo>
                <a:lnTo>
                  <a:pt x="361194" y="443560"/>
                </a:lnTo>
                <a:lnTo>
                  <a:pt x="357141" y="437441"/>
                </a:lnTo>
                <a:lnTo>
                  <a:pt x="351056" y="433197"/>
                </a:lnTo>
                <a:lnTo>
                  <a:pt x="343487" y="431608"/>
                </a:lnTo>
                <a:close/>
              </a:path>
              <a:path w="527685" h="527685">
                <a:moveTo>
                  <a:pt x="280592" y="0"/>
                </a:moveTo>
                <a:lnTo>
                  <a:pt x="253686" y="0"/>
                </a:lnTo>
                <a:lnTo>
                  <a:pt x="252304" y="833"/>
                </a:lnTo>
                <a:lnTo>
                  <a:pt x="248251" y="6377"/>
                </a:lnTo>
                <a:lnTo>
                  <a:pt x="246778" y="13329"/>
                </a:lnTo>
                <a:lnTo>
                  <a:pt x="246778" y="52498"/>
                </a:lnTo>
                <a:lnTo>
                  <a:pt x="248251" y="59575"/>
                </a:lnTo>
                <a:lnTo>
                  <a:pt x="252304" y="65406"/>
                </a:lnTo>
                <a:lnTo>
                  <a:pt x="258388" y="69364"/>
                </a:lnTo>
                <a:lnTo>
                  <a:pt x="265958" y="70823"/>
                </a:lnTo>
                <a:lnTo>
                  <a:pt x="273044" y="69364"/>
                </a:lnTo>
                <a:lnTo>
                  <a:pt x="278878" y="65406"/>
                </a:lnTo>
                <a:lnTo>
                  <a:pt x="282836" y="59575"/>
                </a:lnTo>
                <a:lnTo>
                  <a:pt x="284293" y="52498"/>
                </a:lnTo>
                <a:lnTo>
                  <a:pt x="284293" y="3329"/>
                </a:lnTo>
                <a:lnTo>
                  <a:pt x="280592" y="0"/>
                </a:lnTo>
                <a:close/>
              </a:path>
              <a:path w="527685" h="527685">
                <a:moveTo>
                  <a:pt x="322652" y="489100"/>
                </a:moveTo>
                <a:lnTo>
                  <a:pt x="208431" y="489100"/>
                </a:lnTo>
                <a:lnTo>
                  <a:pt x="201212" y="490571"/>
                </a:lnTo>
                <a:lnTo>
                  <a:pt x="195089" y="494620"/>
                </a:lnTo>
                <a:lnTo>
                  <a:pt x="190841" y="500700"/>
                </a:lnTo>
                <a:lnTo>
                  <a:pt x="189251" y="508264"/>
                </a:lnTo>
                <a:lnTo>
                  <a:pt x="190841" y="515477"/>
                </a:lnTo>
                <a:lnTo>
                  <a:pt x="195089" y="521596"/>
                </a:lnTo>
                <a:lnTo>
                  <a:pt x="201212" y="525840"/>
                </a:lnTo>
                <a:lnTo>
                  <a:pt x="207872" y="527306"/>
                </a:lnTo>
                <a:lnTo>
                  <a:pt x="323237" y="527306"/>
                </a:lnTo>
                <a:lnTo>
                  <a:pt x="330216" y="525840"/>
                </a:lnTo>
                <a:lnTo>
                  <a:pt x="336297" y="521596"/>
                </a:lnTo>
                <a:lnTo>
                  <a:pt x="340349" y="515477"/>
                </a:lnTo>
                <a:lnTo>
                  <a:pt x="341821" y="508264"/>
                </a:lnTo>
                <a:lnTo>
                  <a:pt x="340349" y="500700"/>
                </a:lnTo>
                <a:lnTo>
                  <a:pt x="336297" y="494620"/>
                </a:lnTo>
                <a:lnTo>
                  <a:pt x="330216" y="490571"/>
                </a:lnTo>
                <a:lnTo>
                  <a:pt x="322652" y="489100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50876" y="1572767"/>
            <a:ext cx="4991100" cy="30662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45947" y="1767839"/>
            <a:ext cx="4402836" cy="24780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00928" y="987552"/>
            <a:ext cx="6291072" cy="38572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96000" y="1182624"/>
            <a:ext cx="5811011" cy="326897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153539" y="4211573"/>
            <a:ext cx="7677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4E4E4D"/>
                </a:solidFill>
                <a:latin typeface="微软雅黑"/>
                <a:cs typeface="微软雅黑"/>
              </a:rPr>
              <a:t>6060型</a:t>
            </a:r>
            <a:r>
              <a:rPr dirty="0" sz="1000" spc="-60">
                <a:solidFill>
                  <a:srgbClr val="4E4E4D"/>
                </a:solidFill>
                <a:latin typeface="微软雅黑"/>
                <a:cs typeface="微软雅黑"/>
              </a:rPr>
              <a:t> </a:t>
            </a:r>
            <a:r>
              <a:rPr dirty="0" sz="1000" spc="-5">
                <a:solidFill>
                  <a:srgbClr val="4E4E4D"/>
                </a:solidFill>
                <a:latin typeface="微软雅黑"/>
                <a:cs typeface="微软雅黑"/>
              </a:rPr>
              <a:t>32W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23326" y="4207509"/>
            <a:ext cx="76771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">
                <a:solidFill>
                  <a:srgbClr val="4E4E4D"/>
                </a:solidFill>
                <a:latin typeface="微软雅黑"/>
                <a:cs typeface="微软雅黑"/>
              </a:rPr>
              <a:t>3012型</a:t>
            </a:r>
            <a:r>
              <a:rPr dirty="0" sz="1000" spc="-60">
                <a:solidFill>
                  <a:srgbClr val="4E4E4D"/>
                </a:solidFill>
                <a:latin typeface="微软雅黑"/>
                <a:cs typeface="微软雅黑"/>
              </a:rPr>
              <a:t> </a:t>
            </a:r>
            <a:r>
              <a:rPr dirty="0" sz="1000" spc="-5">
                <a:solidFill>
                  <a:srgbClr val="4E4E4D"/>
                </a:solidFill>
                <a:latin typeface="微软雅黑"/>
                <a:cs typeface="微软雅黑"/>
              </a:rPr>
              <a:t>32W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447531" y="5439155"/>
            <a:ext cx="441959" cy="399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045702" y="5259451"/>
            <a:ext cx="1933575" cy="828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04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结构强</a:t>
            </a:r>
            <a:r>
              <a:rPr dirty="0" sz="1800" spc="-10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易安装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47600"/>
              </a:lnSpc>
              <a:spcBef>
                <a:spcPts val="385"/>
              </a:spcBef>
            </a:pPr>
            <a:r>
              <a:rPr dirty="0" sz="1100" b="1">
                <a:solidFill>
                  <a:srgbClr val="03399D"/>
                </a:solidFill>
                <a:latin typeface="微软雅黑"/>
                <a:cs typeface="微软雅黑"/>
              </a:rPr>
              <a:t>背板结构升级</a:t>
            </a:r>
            <a:r>
              <a:rPr dirty="0" sz="1000" spc="-5" b="0">
                <a:latin typeface="Microsoft YaHei UI Light"/>
                <a:cs typeface="Microsoft YaHei UI Light"/>
              </a:rPr>
              <a:t>，质量轻、强度高 </a:t>
            </a:r>
            <a:r>
              <a:rPr dirty="0" sz="1000" spc="0" b="0">
                <a:latin typeface="Microsoft YaHei UI Light"/>
                <a:cs typeface="Microsoft YaHei UI Light"/>
              </a:rPr>
              <a:t>多种安装方</a:t>
            </a:r>
            <a:r>
              <a:rPr dirty="0" sz="1000" spc="-5" b="0">
                <a:latin typeface="Microsoft YaHei UI Light"/>
                <a:cs typeface="Microsoft YaHei UI Light"/>
              </a:rPr>
              <a:t>式，适配多种安装场景</a:t>
            </a:r>
            <a:endParaRPr sz="1000">
              <a:latin typeface="Microsoft YaHei UI Light"/>
              <a:cs typeface="Microsoft YaHei U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15882" y="6483502"/>
            <a:ext cx="32810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>
                <a:latin typeface="等线"/>
                <a:cs typeface="等线"/>
              </a:rPr>
              <a:t>※</a:t>
            </a:r>
            <a:r>
              <a:rPr dirty="0" sz="1400" b="1">
                <a:latin typeface="等线"/>
                <a:cs typeface="等线"/>
              </a:rPr>
              <a:t>可搭配欧普蓝牙</a:t>
            </a:r>
            <a:r>
              <a:rPr dirty="0" sz="1400" spc="-5" b="1">
                <a:latin typeface="等线"/>
                <a:cs typeface="等线"/>
              </a:rPr>
              <a:t>/DALI</a:t>
            </a:r>
            <a:r>
              <a:rPr dirty="0" sz="1400" b="1">
                <a:latin typeface="等线"/>
                <a:cs typeface="等线"/>
              </a:rPr>
              <a:t>电源实现</a:t>
            </a:r>
            <a:r>
              <a:rPr dirty="0" sz="1400" spc="-15" b="1">
                <a:latin typeface="等线"/>
                <a:cs typeface="等线"/>
              </a:rPr>
              <a:t>智</a:t>
            </a:r>
            <a:r>
              <a:rPr dirty="0" sz="1400" b="1">
                <a:latin typeface="等线"/>
                <a:cs typeface="等线"/>
              </a:rPr>
              <a:t>能调光</a:t>
            </a:r>
            <a:endParaRPr sz="1400">
              <a:latin typeface="等线"/>
              <a:cs typeface="等线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298440" y="6416446"/>
            <a:ext cx="586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03399D"/>
                </a:solidFill>
                <a:latin typeface="微软雅黑"/>
                <a:cs typeface="微软雅黑"/>
              </a:rPr>
              <a:t>二星绿建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98440" y="5281929"/>
            <a:ext cx="1788795" cy="825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无频闪</a:t>
            </a:r>
            <a:r>
              <a:rPr dirty="0" sz="1800" spc="-15">
                <a:latin typeface="微软雅黑"/>
                <a:cs typeface="微软雅黑"/>
              </a:rPr>
              <a:t> </a:t>
            </a:r>
            <a:r>
              <a:rPr dirty="0" sz="1800">
                <a:latin typeface="微软雅黑"/>
                <a:cs typeface="微软雅黑"/>
              </a:rPr>
              <a:t>长寿命</a:t>
            </a:r>
            <a:endParaRPr sz="1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000" spc="-5" b="0">
                <a:latin typeface="Microsoft YaHei UI Light"/>
                <a:cs typeface="Microsoft YaHei UI Light"/>
              </a:rPr>
              <a:t>功率因数</a:t>
            </a:r>
            <a:r>
              <a:rPr dirty="0" sz="1000" spc="-10" b="0">
                <a:latin typeface="Microsoft YaHei UI Light"/>
                <a:cs typeface="Microsoft YaHei UI Light"/>
              </a:rPr>
              <a:t>0.95，</a:t>
            </a:r>
            <a:r>
              <a:rPr dirty="0" sz="1000" b="0">
                <a:latin typeface="Microsoft YaHei UI Light"/>
                <a:cs typeface="Microsoft YaHei UI Light"/>
              </a:rPr>
              <a:t>无频闪</a:t>
            </a:r>
            <a:r>
              <a:rPr dirty="0" sz="1000" spc="-5" b="0">
                <a:latin typeface="Microsoft YaHei UI Light"/>
                <a:cs typeface="Microsoft YaHei UI Light"/>
              </a:rPr>
              <a:t>电源设计</a:t>
            </a:r>
            <a:endParaRPr sz="1000">
              <a:latin typeface="Microsoft YaHei UI Light"/>
              <a:cs typeface="Microsoft YaHei UI Light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1000" spc="-10" b="0">
                <a:latin typeface="Microsoft YaHei UI Light"/>
                <a:cs typeface="Microsoft YaHei UI Light"/>
              </a:rPr>
              <a:t>使用寿命</a:t>
            </a:r>
            <a:r>
              <a:rPr dirty="0" sz="1000" b="0">
                <a:latin typeface="Microsoft YaHei UI Light"/>
                <a:cs typeface="Microsoft YaHei UI Light"/>
              </a:rPr>
              <a:t>：</a:t>
            </a:r>
            <a:r>
              <a:rPr dirty="0" sz="1100" b="1">
                <a:solidFill>
                  <a:srgbClr val="03399D"/>
                </a:solidFill>
                <a:latin typeface="微软雅黑"/>
                <a:cs typeface="微软雅黑"/>
              </a:rPr>
              <a:t>50000小时寿命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31436" y="5442206"/>
            <a:ext cx="523240" cy="472440"/>
          </a:xfrm>
          <a:custGeom>
            <a:avLst/>
            <a:gdLst/>
            <a:ahLst/>
            <a:cxnLst/>
            <a:rect l="l" t="t" r="r" b="b"/>
            <a:pathLst>
              <a:path w="523239" h="472439">
                <a:moveTo>
                  <a:pt x="137459" y="199202"/>
                </a:moveTo>
                <a:lnTo>
                  <a:pt x="130912" y="199202"/>
                </a:lnTo>
                <a:lnTo>
                  <a:pt x="89369" y="206153"/>
                </a:lnTo>
                <a:lnTo>
                  <a:pt x="53411" y="225524"/>
                </a:lnTo>
                <a:lnTo>
                  <a:pt x="25134" y="255092"/>
                </a:lnTo>
                <a:lnTo>
                  <a:pt x="6632" y="292636"/>
                </a:lnTo>
                <a:lnTo>
                  <a:pt x="0" y="335935"/>
                </a:lnTo>
                <a:lnTo>
                  <a:pt x="6632" y="378865"/>
                </a:lnTo>
                <a:lnTo>
                  <a:pt x="25134" y="416189"/>
                </a:lnTo>
                <a:lnTo>
                  <a:pt x="53411" y="445644"/>
                </a:lnTo>
                <a:lnTo>
                  <a:pt x="89369" y="464974"/>
                </a:lnTo>
                <a:lnTo>
                  <a:pt x="130913" y="471919"/>
                </a:lnTo>
                <a:lnTo>
                  <a:pt x="172529" y="464974"/>
                </a:lnTo>
                <a:lnTo>
                  <a:pt x="208667" y="445644"/>
                </a:lnTo>
                <a:lnTo>
                  <a:pt x="215959" y="438106"/>
                </a:lnTo>
                <a:lnTo>
                  <a:pt x="130913" y="438106"/>
                </a:lnTo>
                <a:lnTo>
                  <a:pt x="92865" y="429997"/>
                </a:lnTo>
                <a:lnTo>
                  <a:pt x="61637" y="407968"/>
                </a:lnTo>
                <a:lnTo>
                  <a:pt x="40500" y="375464"/>
                </a:lnTo>
                <a:lnTo>
                  <a:pt x="32727" y="335932"/>
                </a:lnTo>
                <a:lnTo>
                  <a:pt x="40500" y="295973"/>
                </a:lnTo>
                <a:lnTo>
                  <a:pt x="61637" y="263252"/>
                </a:lnTo>
                <a:lnTo>
                  <a:pt x="92865" y="241144"/>
                </a:lnTo>
                <a:lnTo>
                  <a:pt x="130913" y="233024"/>
                </a:lnTo>
                <a:lnTo>
                  <a:pt x="262552" y="233024"/>
                </a:lnTo>
                <a:lnTo>
                  <a:pt x="224084" y="225018"/>
                </a:lnTo>
                <a:lnTo>
                  <a:pt x="192637" y="203159"/>
                </a:lnTo>
                <a:lnTo>
                  <a:pt x="191018" y="200681"/>
                </a:lnTo>
                <a:lnTo>
                  <a:pt x="150551" y="200681"/>
                </a:lnTo>
                <a:lnTo>
                  <a:pt x="137459" y="199202"/>
                </a:lnTo>
                <a:close/>
              </a:path>
              <a:path w="523239" h="472439">
                <a:moveTo>
                  <a:pt x="322906" y="265367"/>
                </a:moveTo>
                <a:lnTo>
                  <a:pt x="282181" y="265367"/>
                </a:lnTo>
                <a:lnTo>
                  <a:pt x="273595" y="281868"/>
                </a:lnTo>
                <a:lnTo>
                  <a:pt x="267461" y="299268"/>
                </a:lnTo>
                <a:lnTo>
                  <a:pt x="263780" y="317358"/>
                </a:lnTo>
                <a:lnTo>
                  <a:pt x="262553" y="335935"/>
                </a:lnTo>
                <a:lnTo>
                  <a:pt x="269260" y="378865"/>
                </a:lnTo>
                <a:lnTo>
                  <a:pt x="287942" y="416189"/>
                </a:lnTo>
                <a:lnTo>
                  <a:pt x="316434" y="445644"/>
                </a:lnTo>
                <a:lnTo>
                  <a:pt x="352572" y="464974"/>
                </a:lnTo>
                <a:lnTo>
                  <a:pt x="394192" y="471919"/>
                </a:lnTo>
                <a:lnTo>
                  <a:pt x="435732" y="464974"/>
                </a:lnTo>
                <a:lnTo>
                  <a:pt x="471687" y="445644"/>
                </a:lnTo>
                <a:lnTo>
                  <a:pt x="478924" y="438106"/>
                </a:lnTo>
                <a:lnTo>
                  <a:pt x="394192" y="438106"/>
                </a:lnTo>
                <a:lnTo>
                  <a:pt x="355724" y="429997"/>
                </a:lnTo>
                <a:lnTo>
                  <a:pt x="324277" y="407968"/>
                </a:lnTo>
                <a:lnTo>
                  <a:pt x="303059" y="375464"/>
                </a:lnTo>
                <a:lnTo>
                  <a:pt x="295273" y="335932"/>
                </a:lnTo>
                <a:lnTo>
                  <a:pt x="303059" y="295973"/>
                </a:lnTo>
                <a:lnTo>
                  <a:pt x="322906" y="265367"/>
                </a:lnTo>
                <a:close/>
              </a:path>
              <a:path w="523239" h="472439">
                <a:moveTo>
                  <a:pt x="130913" y="233024"/>
                </a:moveTo>
                <a:lnTo>
                  <a:pt x="92865" y="241144"/>
                </a:lnTo>
                <a:lnTo>
                  <a:pt x="61637" y="263252"/>
                </a:lnTo>
                <a:lnTo>
                  <a:pt x="40500" y="295973"/>
                </a:lnTo>
                <a:lnTo>
                  <a:pt x="32728" y="335935"/>
                </a:lnTo>
                <a:lnTo>
                  <a:pt x="40500" y="375464"/>
                </a:lnTo>
                <a:lnTo>
                  <a:pt x="61637" y="407968"/>
                </a:lnTo>
                <a:lnTo>
                  <a:pt x="92865" y="429997"/>
                </a:lnTo>
                <a:lnTo>
                  <a:pt x="130913" y="438106"/>
                </a:lnTo>
                <a:lnTo>
                  <a:pt x="169380" y="429997"/>
                </a:lnTo>
                <a:lnTo>
                  <a:pt x="200823" y="407968"/>
                </a:lnTo>
                <a:lnTo>
                  <a:pt x="222038" y="375464"/>
                </a:lnTo>
                <a:lnTo>
                  <a:pt x="229822" y="335932"/>
                </a:lnTo>
                <a:lnTo>
                  <a:pt x="222038" y="295973"/>
                </a:lnTo>
                <a:lnTo>
                  <a:pt x="200823" y="263252"/>
                </a:lnTo>
                <a:lnTo>
                  <a:pt x="169380" y="241144"/>
                </a:lnTo>
                <a:lnTo>
                  <a:pt x="130913" y="233024"/>
                </a:lnTo>
                <a:close/>
              </a:path>
              <a:path w="523239" h="472439">
                <a:moveTo>
                  <a:pt x="394192" y="233024"/>
                </a:moveTo>
                <a:lnTo>
                  <a:pt x="130913" y="233024"/>
                </a:lnTo>
                <a:lnTo>
                  <a:pt x="169380" y="241144"/>
                </a:lnTo>
                <a:lnTo>
                  <a:pt x="200823" y="263252"/>
                </a:lnTo>
                <a:lnTo>
                  <a:pt x="222038" y="295973"/>
                </a:lnTo>
                <a:lnTo>
                  <a:pt x="229821" y="335935"/>
                </a:lnTo>
                <a:lnTo>
                  <a:pt x="222038" y="375464"/>
                </a:lnTo>
                <a:lnTo>
                  <a:pt x="200823" y="407968"/>
                </a:lnTo>
                <a:lnTo>
                  <a:pt x="169380" y="429997"/>
                </a:lnTo>
                <a:lnTo>
                  <a:pt x="130913" y="438106"/>
                </a:lnTo>
                <a:lnTo>
                  <a:pt x="215959" y="438106"/>
                </a:lnTo>
                <a:lnTo>
                  <a:pt x="237160" y="416189"/>
                </a:lnTo>
                <a:lnTo>
                  <a:pt x="255843" y="378865"/>
                </a:lnTo>
                <a:lnTo>
                  <a:pt x="262552" y="335932"/>
                </a:lnTo>
                <a:lnTo>
                  <a:pt x="261223" y="316635"/>
                </a:lnTo>
                <a:lnTo>
                  <a:pt x="257370" y="298441"/>
                </a:lnTo>
                <a:lnTo>
                  <a:pt x="251199" y="281352"/>
                </a:lnTo>
                <a:lnTo>
                  <a:pt x="242914" y="265367"/>
                </a:lnTo>
                <a:lnTo>
                  <a:pt x="322906" y="265367"/>
                </a:lnTo>
                <a:lnTo>
                  <a:pt x="324277" y="263252"/>
                </a:lnTo>
                <a:lnTo>
                  <a:pt x="355724" y="241144"/>
                </a:lnTo>
                <a:lnTo>
                  <a:pt x="394192" y="233024"/>
                </a:lnTo>
                <a:close/>
              </a:path>
              <a:path w="523239" h="472439">
                <a:moveTo>
                  <a:pt x="394192" y="233024"/>
                </a:moveTo>
                <a:lnTo>
                  <a:pt x="355724" y="241144"/>
                </a:lnTo>
                <a:lnTo>
                  <a:pt x="324277" y="263252"/>
                </a:lnTo>
                <a:lnTo>
                  <a:pt x="303059" y="295973"/>
                </a:lnTo>
                <a:lnTo>
                  <a:pt x="295274" y="335935"/>
                </a:lnTo>
                <a:lnTo>
                  <a:pt x="303059" y="375464"/>
                </a:lnTo>
                <a:lnTo>
                  <a:pt x="324277" y="407968"/>
                </a:lnTo>
                <a:lnTo>
                  <a:pt x="355724" y="429997"/>
                </a:lnTo>
                <a:lnTo>
                  <a:pt x="394192" y="438106"/>
                </a:lnTo>
                <a:lnTo>
                  <a:pt x="432235" y="429997"/>
                </a:lnTo>
                <a:lnTo>
                  <a:pt x="463463" y="407968"/>
                </a:lnTo>
                <a:lnTo>
                  <a:pt x="484601" y="375464"/>
                </a:lnTo>
                <a:lnTo>
                  <a:pt x="492375" y="335932"/>
                </a:lnTo>
                <a:lnTo>
                  <a:pt x="484601" y="295973"/>
                </a:lnTo>
                <a:lnTo>
                  <a:pt x="463463" y="263252"/>
                </a:lnTo>
                <a:lnTo>
                  <a:pt x="432235" y="241144"/>
                </a:lnTo>
                <a:lnTo>
                  <a:pt x="394192" y="233024"/>
                </a:lnTo>
                <a:close/>
              </a:path>
              <a:path w="523239" h="472439">
                <a:moveTo>
                  <a:pt x="353992" y="92507"/>
                </a:moveTo>
                <a:lnTo>
                  <a:pt x="361461" y="130841"/>
                </a:lnTo>
                <a:lnTo>
                  <a:pt x="353676" y="170687"/>
                </a:lnTo>
                <a:lnTo>
                  <a:pt x="332459" y="203159"/>
                </a:lnTo>
                <a:lnTo>
                  <a:pt x="301015" y="225018"/>
                </a:lnTo>
                <a:lnTo>
                  <a:pt x="262552" y="233024"/>
                </a:lnTo>
                <a:lnTo>
                  <a:pt x="394192" y="233024"/>
                </a:lnTo>
                <a:lnTo>
                  <a:pt x="432235" y="241144"/>
                </a:lnTo>
                <a:lnTo>
                  <a:pt x="463463" y="263252"/>
                </a:lnTo>
                <a:lnTo>
                  <a:pt x="484601" y="295973"/>
                </a:lnTo>
                <a:lnTo>
                  <a:pt x="492374" y="335935"/>
                </a:lnTo>
                <a:lnTo>
                  <a:pt x="484601" y="375464"/>
                </a:lnTo>
                <a:lnTo>
                  <a:pt x="463463" y="407968"/>
                </a:lnTo>
                <a:lnTo>
                  <a:pt x="432235" y="429997"/>
                </a:lnTo>
                <a:lnTo>
                  <a:pt x="394192" y="438106"/>
                </a:lnTo>
                <a:lnTo>
                  <a:pt x="478924" y="438106"/>
                </a:lnTo>
                <a:lnTo>
                  <a:pt x="499962" y="416189"/>
                </a:lnTo>
                <a:lnTo>
                  <a:pt x="518463" y="378865"/>
                </a:lnTo>
                <a:lnTo>
                  <a:pt x="522714" y="351349"/>
                </a:lnTo>
                <a:lnTo>
                  <a:pt x="427132" y="204713"/>
                </a:lnTo>
                <a:lnTo>
                  <a:pt x="403034" y="200681"/>
                </a:lnTo>
                <a:lnTo>
                  <a:pt x="374554" y="200681"/>
                </a:lnTo>
                <a:lnTo>
                  <a:pt x="382835" y="184186"/>
                </a:lnTo>
                <a:lnTo>
                  <a:pt x="389006" y="166863"/>
                </a:lnTo>
                <a:lnTo>
                  <a:pt x="392351" y="151355"/>
                </a:lnTo>
                <a:lnTo>
                  <a:pt x="353992" y="92507"/>
                </a:lnTo>
                <a:close/>
              </a:path>
              <a:path w="523239" h="472439">
                <a:moveTo>
                  <a:pt x="522714" y="0"/>
                </a:moveTo>
                <a:lnTo>
                  <a:pt x="293692" y="0"/>
                </a:lnTo>
                <a:lnTo>
                  <a:pt x="304169" y="1730"/>
                </a:lnTo>
                <a:lnTo>
                  <a:pt x="340306" y="20918"/>
                </a:lnTo>
                <a:lnTo>
                  <a:pt x="368799" y="50268"/>
                </a:lnTo>
                <a:lnTo>
                  <a:pt x="387483" y="87627"/>
                </a:lnTo>
                <a:lnTo>
                  <a:pt x="394192" y="130841"/>
                </a:lnTo>
                <a:lnTo>
                  <a:pt x="392861" y="148990"/>
                </a:lnTo>
                <a:lnTo>
                  <a:pt x="392351" y="151355"/>
                </a:lnTo>
                <a:lnTo>
                  <a:pt x="427132" y="204713"/>
                </a:lnTo>
                <a:lnTo>
                  <a:pt x="471687" y="225524"/>
                </a:lnTo>
                <a:lnTo>
                  <a:pt x="499962" y="255092"/>
                </a:lnTo>
                <a:lnTo>
                  <a:pt x="518463" y="292636"/>
                </a:lnTo>
                <a:lnTo>
                  <a:pt x="522714" y="320384"/>
                </a:lnTo>
                <a:lnTo>
                  <a:pt x="522714" y="0"/>
                </a:lnTo>
                <a:close/>
              </a:path>
              <a:path w="523239" h="472439">
                <a:moveTo>
                  <a:pt x="282181" y="265367"/>
                </a:moveTo>
                <a:lnTo>
                  <a:pt x="242914" y="265367"/>
                </a:lnTo>
                <a:lnTo>
                  <a:pt x="249460" y="266102"/>
                </a:lnTo>
                <a:lnTo>
                  <a:pt x="256006" y="267572"/>
                </a:lnTo>
                <a:lnTo>
                  <a:pt x="269098" y="267572"/>
                </a:lnTo>
                <a:lnTo>
                  <a:pt x="275645" y="266102"/>
                </a:lnTo>
                <a:lnTo>
                  <a:pt x="282181" y="265367"/>
                </a:lnTo>
                <a:close/>
              </a:path>
              <a:path w="523239" h="472439">
                <a:moveTo>
                  <a:pt x="262552" y="27933"/>
                </a:moveTo>
                <a:lnTo>
                  <a:pt x="224084" y="36054"/>
                </a:lnTo>
                <a:lnTo>
                  <a:pt x="192637" y="58165"/>
                </a:lnTo>
                <a:lnTo>
                  <a:pt x="171419" y="90887"/>
                </a:lnTo>
                <a:lnTo>
                  <a:pt x="163634" y="130841"/>
                </a:lnTo>
                <a:lnTo>
                  <a:pt x="171419" y="170687"/>
                </a:lnTo>
                <a:lnTo>
                  <a:pt x="192637" y="203159"/>
                </a:lnTo>
                <a:lnTo>
                  <a:pt x="224084" y="225018"/>
                </a:lnTo>
                <a:lnTo>
                  <a:pt x="262552" y="233024"/>
                </a:lnTo>
                <a:lnTo>
                  <a:pt x="301015" y="225018"/>
                </a:lnTo>
                <a:lnTo>
                  <a:pt x="332459" y="203159"/>
                </a:lnTo>
                <a:lnTo>
                  <a:pt x="353676" y="170687"/>
                </a:lnTo>
                <a:lnTo>
                  <a:pt x="361461" y="130841"/>
                </a:lnTo>
                <a:lnTo>
                  <a:pt x="353992" y="92507"/>
                </a:lnTo>
                <a:lnTo>
                  <a:pt x="330885" y="57059"/>
                </a:lnTo>
                <a:lnTo>
                  <a:pt x="301015" y="36054"/>
                </a:lnTo>
                <a:lnTo>
                  <a:pt x="262552" y="27933"/>
                </a:lnTo>
                <a:close/>
              </a:path>
              <a:path w="523239" h="472439">
                <a:moveTo>
                  <a:pt x="423539" y="199202"/>
                </a:moveTo>
                <a:lnTo>
                  <a:pt x="394192" y="199202"/>
                </a:lnTo>
                <a:lnTo>
                  <a:pt x="427132" y="204713"/>
                </a:lnTo>
                <a:lnTo>
                  <a:pt x="423539" y="199202"/>
                </a:lnTo>
                <a:close/>
              </a:path>
              <a:path w="523239" h="472439">
                <a:moveTo>
                  <a:pt x="293692" y="0"/>
                </a:moveTo>
                <a:lnTo>
                  <a:pt x="231409" y="0"/>
                </a:lnTo>
                <a:lnTo>
                  <a:pt x="220932" y="1730"/>
                </a:lnTo>
                <a:lnTo>
                  <a:pt x="184794" y="20918"/>
                </a:lnTo>
                <a:lnTo>
                  <a:pt x="156302" y="50268"/>
                </a:lnTo>
                <a:lnTo>
                  <a:pt x="137620" y="87627"/>
                </a:lnTo>
                <a:lnTo>
                  <a:pt x="130912" y="130841"/>
                </a:lnTo>
                <a:lnTo>
                  <a:pt x="132242" y="149714"/>
                </a:lnTo>
                <a:lnTo>
                  <a:pt x="136094" y="167690"/>
                </a:lnTo>
                <a:lnTo>
                  <a:pt x="142266" y="184702"/>
                </a:lnTo>
                <a:lnTo>
                  <a:pt x="150551" y="200681"/>
                </a:lnTo>
                <a:lnTo>
                  <a:pt x="191018" y="200681"/>
                </a:lnTo>
                <a:lnTo>
                  <a:pt x="171419" y="170687"/>
                </a:lnTo>
                <a:lnTo>
                  <a:pt x="163634" y="130841"/>
                </a:lnTo>
                <a:lnTo>
                  <a:pt x="171419" y="90887"/>
                </a:lnTo>
                <a:lnTo>
                  <a:pt x="192637" y="58165"/>
                </a:lnTo>
                <a:lnTo>
                  <a:pt x="224084" y="36054"/>
                </a:lnTo>
                <a:lnTo>
                  <a:pt x="262552" y="27933"/>
                </a:lnTo>
                <a:lnTo>
                  <a:pt x="311900" y="27933"/>
                </a:lnTo>
                <a:lnTo>
                  <a:pt x="293692" y="0"/>
                </a:lnTo>
                <a:close/>
              </a:path>
              <a:path w="523239" h="472439">
                <a:moveTo>
                  <a:pt x="392351" y="151355"/>
                </a:moveTo>
                <a:lnTo>
                  <a:pt x="389006" y="166863"/>
                </a:lnTo>
                <a:lnTo>
                  <a:pt x="382835" y="184186"/>
                </a:lnTo>
                <a:lnTo>
                  <a:pt x="374554" y="200681"/>
                </a:lnTo>
                <a:lnTo>
                  <a:pt x="387646" y="199202"/>
                </a:lnTo>
                <a:lnTo>
                  <a:pt x="423539" y="199202"/>
                </a:lnTo>
                <a:lnTo>
                  <a:pt x="392351" y="151355"/>
                </a:lnTo>
                <a:close/>
              </a:path>
              <a:path w="523239" h="472439">
                <a:moveTo>
                  <a:pt x="394192" y="199202"/>
                </a:moveTo>
                <a:lnTo>
                  <a:pt x="387646" y="199202"/>
                </a:lnTo>
                <a:lnTo>
                  <a:pt x="374554" y="200681"/>
                </a:lnTo>
                <a:lnTo>
                  <a:pt x="403034" y="200681"/>
                </a:lnTo>
                <a:lnTo>
                  <a:pt x="394192" y="199202"/>
                </a:lnTo>
                <a:close/>
              </a:path>
              <a:path w="523239" h="472439">
                <a:moveTo>
                  <a:pt x="330885" y="57059"/>
                </a:moveTo>
                <a:lnTo>
                  <a:pt x="353992" y="92507"/>
                </a:lnTo>
                <a:lnTo>
                  <a:pt x="353676" y="90887"/>
                </a:lnTo>
                <a:lnTo>
                  <a:pt x="332459" y="58165"/>
                </a:lnTo>
                <a:lnTo>
                  <a:pt x="330885" y="57059"/>
                </a:lnTo>
                <a:close/>
              </a:path>
              <a:path w="523239" h="472439">
                <a:moveTo>
                  <a:pt x="311900" y="27933"/>
                </a:moveTo>
                <a:lnTo>
                  <a:pt x="262552" y="27933"/>
                </a:lnTo>
                <a:lnTo>
                  <a:pt x="301015" y="36054"/>
                </a:lnTo>
                <a:lnTo>
                  <a:pt x="330885" y="57059"/>
                </a:lnTo>
                <a:lnTo>
                  <a:pt x="311900" y="27933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710892" y="5504688"/>
            <a:ext cx="365760" cy="342265"/>
          </a:xfrm>
          <a:custGeom>
            <a:avLst/>
            <a:gdLst/>
            <a:ahLst/>
            <a:cxnLst/>
            <a:rect l="l" t="t" r="r" b="b"/>
            <a:pathLst>
              <a:path w="365760" h="342264">
                <a:moveTo>
                  <a:pt x="284184" y="292556"/>
                </a:moveTo>
                <a:lnTo>
                  <a:pt x="275459" y="292556"/>
                </a:lnTo>
                <a:lnTo>
                  <a:pt x="271092" y="294026"/>
                </a:lnTo>
                <a:lnTo>
                  <a:pt x="268187" y="296975"/>
                </a:lnTo>
                <a:lnTo>
                  <a:pt x="264505" y="302934"/>
                </a:lnTo>
                <a:lnTo>
                  <a:pt x="263277" y="309376"/>
                </a:lnTo>
                <a:lnTo>
                  <a:pt x="264505" y="315681"/>
                </a:lnTo>
                <a:lnTo>
                  <a:pt x="301836" y="340455"/>
                </a:lnTo>
                <a:lnTo>
                  <a:pt x="314736" y="341811"/>
                </a:lnTo>
                <a:lnTo>
                  <a:pt x="327631" y="340455"/>
                </a:lnTo>
                <a:lnTo>
                  <a:pt x="361276" y="321228"/>
                </a:lnTo>
                <a:lnTo>
                  <a:pt x="365641" y="309376"/>
                </a:lnTo>
                <a:lnTo>
                  <a:pt x="365314" y="307447"/>
                </a:lnTo>
                <a:lnTo>
                  <a:pt x="314459" y="307447"/>
                </a:lnTo>
                <a:lnTo>
                  <a:pt x="302106" y="304829"/>
                </a:lnTo>
                <a:lnTo>
                  <a:pt x="291457" y="296975"/>
                </a:lnTo>
                <a:lnTo>
                  <a:pt x="288552" y="294026"/>
                </a:lnTo>
                <a:lnTo>
                  <a:pt x="284184" y="292556"/>
                </a:lnTo>
                <a:close/>
              </a:path>
              <a:path w="365760" h="342264">
                <a:moveTo>
                  <a:pt x="354004" y="292556"/>
                </a:moveTo>
                <a:lnTo>
                  <a:pt x="345279" y="292556"/>
                </a:lnTo>
                <a:lnTo>
                  <a:pt x="340911" y="294026"/>
                </a:lnTo>
                <a:lnTo>
                  <a:pt x="338006" y="296975"/>
                </a:lnTo>
                <a:lnTo>
                  <a:pt x="326948" y="304829"/>
                </a:lnTo>
                <a:lnTo>
                  <a:pt x="314459" y="307447"/>
                </a:lnTo>
                <a:lnTo>
                  <a:pt x="365314" y="307447"/>
                </a:lnTo>
                <a:lnTo>
                  <a:pt x="364550" y="302934"/>
                </a:lnTo>
                <a:lnTo>
                  <a:pt x="361276" y="296975"/>
                </a:lnTo>
                <a:lnTo>
                  <a:pt x="357645" y="294026"/>
                </a:lnTo>
                <a:lnTo>
                  <a:pt x="354004" y="292556"/>
                </a:lnTo>
                <a:close/>
              </a:path>
              <a:path w="365760" h="342264">
                <a:moveTo>
                  <a:pt x="20905" y="292556"/>
                </a:moveTo>
                <a:lnTo>
                  <a:pt x="12181" y="292556"/>
                </a:lnTo>
                <a:lnTo>
                  <a:pt x="8545" y="294026"/>
                </a:lnTo>
                <a:lnTo>
                  <a:pt x="4908" y="296975"/>
                </a:lnTo>
                <a:lnTo>
                  <a:pt x="1227" y="302934"/>
                </a:lnTo>
                <a:lnTo>
                  <a:pt x="0" y="309376"/>
                </a:lnTo>
                <a:lnTo>
                  <a:pt x="1227" y="315681"/>
                </a:lnTo>
                <a:lnTo>
                  <a:pt x="38557" y="340455"/>
                </a:lnTo>
                <a:lnTo>
                  <a:pt x="51457" y="341811"/>
                </a:lnTo>
                <a:lnTo>
                  <a:pt x="64353" y="340455"/>
                </a:lnTo>
                <a:lnTo>
                  <a:pt x="97997" y="321228"/>
                </a:lnTo>
                <a:lnTo>
                  <a:pt x="102906" y="309376"/>
                </a:lnTo>
                <a:lnTo>
                  <a:pt x="102538" y="307447"/>
                </a:lnTo>
                <a:lnTo>
                  <a:pt x="51724" y="307447"/>
                </a:lnTo>
                <a:lnTo>
                  <a:pt x="39235" y="304829"/>
                </a:lnTo>
                <a:lnTo>
                  <a:pt x="28177" y="296975"/>
                </a:lnTo>
                <a:lnTo>
                  <a:pt x="25272" y="294026"/>
                </a:lnTo>
                <a:lnTo>
                  <a:pt x="20905" y="292556"/>
                </a:lnTo>
                <a:close/>
              </a:path>
              <a:path w="365760" h="342264">
                <a:moveTo>
                  <a:pt x="90724" y="292556"/>
                </a:moveTo>
                <a:lnTo>
                  <a:pt x="81999" y="292556"/>
                </a:lnTo>
                <a:lnTo>
                  <a:pt x="77641" y="294026"/>
                </a:lnTo>
                <a:lnTo>
                  <a:pt x="74727" y="296975"/>
                </a:lnTo>
                <a:lnTo>
                  <a:pt x="64077" y="304829"/>
                </a:lnTo>
                <a:lnTo>
                  <a:pt x="51724" y="307447"/>
                </a:lnTo>
                <a:lnTo>
                  <a:pt x="102538" y="307447"/>
                </a:lnTo>
                <a:lnTo>
                  <a:pt x="101679" y="302934"/>
                </a:lnTo>
                <a:lnTo>
                  <a:pt x="97997" y="296975"/>
                </a:lnTo>
                <a:lnTo>
                  <a:pt x="95091" y="294026"/>
                </a:lnTo>
                <a:lnTo>
                  <a:pt x="90724" y="292556"/>
                </a:lnTo>
                <a:close/>
              </a:path>
              <a:path w="365760" h="342264">
                <a:moveTo>
                  <a:pt x="183096" y="0"/>
                </a:moveTo>
                <a:lnTo>
                  <a:pt x="146582" y="11474"/>
                </a:lnTo>
                <a:lnTo>
                  <a:pt x="131637" y="31976"/>
                </a:lnTo>
                <a:lnTo>
                  <a:pt x="132865" y="38455"/>
                </a:lnTo>
                <a:lnTo>
                  <a:pt x="136547" y="44110"/>
                </a:lnTo>
                <a:lnTo>
                  <a:pt x="142024" y="47830"/>
                </a:lnTo>
                <a:lnTo>
                  <a:pt x="148182" y="49070"/>
                </a:lnTo>
                <a:lnTo>
                  <a:pt x="154340" y="47830"/>
                </a:lnTo>
                <a:lnTo>
                  <a:pt x="170772" y="36664"/>
                </a:lnTo>
                <a:lnTo>
                  <a:pt x="183092" y="34182"/>
                </a:lnTo>
                <a:lnTo>
                  <a:pt x="234128" y="34182"/>
                </a:lnTo>
                <a:lnTo>
                  <a:pt x="234546" y="31976"/>
                </a:lnTo>
                <a:lnTo>
                  <a:pt x="195992" y="1343"/>
                </a:lnTo>
                <a:lnTo>
                  <a:pt x="183096" y="0"/>
                </a:lnTo>
                <a:close/>
              </a:path>
              <a:path w="365760" h="342264">
                <a:moveTo>
                  <a:pt x="234128" y="34182"/>
                </a:moveTo>
                <a:lnTo>
                  <a:pt x="183092" y="34182"/>
                </a:lnTo>
                <a:lnTo>
                  <a:pt x="195411" y="36664"/>
                </a:lnTo>
                <a:lnTo>
                  <a:pt x="211843" y="47830"/>
                </a:lnTo>
                <a:lnTo>
                  <a:pt x="218001" y="49070"/>
                </a:lnTo>
                <a:lnTo>
                  <a:pt x="224159" y="47830"/>
                </a:lnTo>
                <a:lnTo>
                  <a:pt x="229636" y="44110"/>
                </a:lnTo>
                <a:lnTo>
                  <a:pt x="233318" y="38455"/>
                </a:lnTo>
                <a:lnTo>
                  <a:pt x="234128" y="34182"/>
                </a:lnTo>
                <a:close/>
              </a:path>
            </a:pathLst>
          </a:custGeom>
          <a:solidFill>
            <a:srgbClr val="444444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24052" y="337185"/>
            <a:ext cx="144716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核心卖点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61742" y="337185"/>
            <a:ext cx="2261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高光效</a:t>
            </a:r>
            <a:r>
              <a:rPr dirty="0" sz="2800" spc="-8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 </a:t>
            </a: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更节能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104644" y="437387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6"/>
                </a:moveTo>
                <a:lnTo>
                  <a:pt x="18287" y="288036"/>
                </a:lnTo>
                <a:lnTo>
                  <a:pt x="18287" y="0"/>
                </a:lnTo>
                <a:lnTo>
                  <a:pt x="0" y="0"/>
                </a:lnTo>
                <a:lnTo>
                  <a:pt x="0" y="288036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98548" y="43129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8"/>
                </a:moveTo>
                <a:lnTo>
                  <a:pt x="30479" y="300228"/>
                </a:lnTo>
                <a:lnTo>
                  <a:pt x="30479" y="0"/>
                </a:lnTo>
                <a:lnTo>
                  <a:pt x="0" y="0"/>
                </a:lnTo>
                <a:lnTo>
                  <a:pt x="0" y="300228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32612" y="1603628"/>
            <a:ext cx="217805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03399D"/>
                </a:solidFill>
                <a:latin typeface="微软雅黑"/>
                <a:cs typeface="微软雅黑"/>
              </a:rPr>
              <a:t>一级</a:t>
            </a:r>
            <a:r>
              <a:rPr dirty="0" sz="2000">
                <a:solidFill>
                  <a:srgbClr val="3A3838"/>
                </a:solidFill>
                <a:latin typeface="微软雅黑"/>
                <a:cs typeface="微软雅黑"/>
              </a:rPr>
              <a:t>能效等级标</a:t>
            </a:r>
            <a:r>
              <a:rPr dirty="0" sz="2000" spc="-10">
                <a:solidFill>
                  <a:srgbClr val="3A3838"/>
                </a:solidFill>
                <a:latin typeface="微软雅黑"/>
                <a:cs typeface="微软雅黑"/>
              </a:rPr>
              <a:t>准</a:t>
            </a:r>
            <a:r>
              <a:rPr dirty="0" sz="2000">
                <a:solidFill>
                  <a:srgbClr val="3A3838"/>
                </a:solidFill>
                <a:latin typeface="微软雅黑"/>
                <a:cs typeface="微软雅黑"/>
              </a:rPr>
              <a:t>*</a:t>
            </a:r>
            <a:endParaRPr sz="2000">
              <a:latin typeface="微软雅黑"/>
              <a:cs typeface="微软雅黑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7321" y="6549034"/>
            <a:ext cx="51682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latin typeface="等线"/>
                <a:cs typeface="等线"/>
              </a:rPr>
              <a:t>*</a:t>
            </a:r>
            <a:r>
              <a:rPr dirty="0" sz="1200" spc="-15" b="1">
                <a:latin typeface="等线"/>
                <a:cs typeface="等线"/>
              </a:rPr>
              <a:t> </a:t>
            </a:r>
            <a:r>
              <a:rPr dirty="0" sz="1200" b="1">
                <a:latin typeface="等线"/>
                <a:cs typeface="等线"/>
              </a:rPr>
              <a:t>数据来自国标</a:t>
            </a:r>
            <a:r>
              <a:rPr dirty="0" sz="1200" spc="-20" b="1">
                <a:latin typeface="等线"/>
                <a:cs typeface="等线"/>
              </a:rPr>
              <a:t> </a:t>
            </a:r>
            <a:r>
              <a:rPr dirty="0" sz="1200" spc="-5" b="1">
                <a:latin typeface="等线"/>
                <a:cs typeface="等线"/>
              </a:rPr>
              <a:t>GB</a:t>
            </a:r>
            <a:r>
              <a:rPr dirty="0" sz="1200" spc="-25" b="1">
                <a:latin typeface="等线"/>
                <a:cs typeface="等线"/>
              </a:rPr>
              <a:t> </a:t>
            </a:r>
            <a:r>
              <a:rPr dirty="0" sz="1200" spc="-5" b="1">
                <a:latin typeface="等线"/>
                <a:cs typeface="等线"/>
              </a:rPr>
              <a:t>38450-201</a:t>
            </a:r>
            <a:r>
              <a:rPr dirty="0" sz="1200" spc="250" b="1">
                <a:latin typeface="等线"/>
                <a:cs typeface="等线"/>
              </a:rPr>
              <a:t> </a:t>
            </a:r>
            <a:r>
              <a:rPr dirty="0" sz="1200" b="1">
                <a:latin typeface="等线"/>
                <a:cs typeface="等线"/>
              </a:rPr>
              <a:t>普通照明用LED平板灯能效限定值及能效等级</a:t>
            </a:r>
            <a:endParaRPr sz="1200">
              <a:latin typeface="等线"/>
              <a:cs typeface="等线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45134" y="5367654"/>
          <a:ext cx="11198225" cy="6832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17039"/>
                <a:gridCol w="2221230"/>
                <a:gridCol w="1979295"/>
                <a:gridCol w="1976754"/>
                <a:gridCol w="3305175"/>
              </a:tblGrid>
              <a:tr h="33464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10" b="1">
                          <a:latin typeface="等线"/>
                          <a:cs typeface="等线"/>
                        </a:rPr>
                        <a:t>能效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62357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10" b="1">
                          <a:latin typeface="等线"/>
                          <a:cs typeface="等线"/>
                        </a:rPr>
                        <a:t>工作温度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5264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10" b="1">
                          <a:latin typeface="等线"/>
                          <a:cs typeface="等线"/>
                        </a:rPr>
                        <a:t>防护等级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10" b="1">
                          <a:latin typeface="等线"/>
                          <a:cs typeface="等线"/>
                        </a:rPr>
                        <a:t>色容差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1600" spc="-10" b="1">
                          <a:latin typeface="等线"/>
                          <a:cs typeface="等线"/>
                        </a:rPr>
                        <a:t>一般显色指数</a:t>
                      </a:r>
                      <a:r>
                        <a:rPr dirty="0" sz="1600" spc="-5" b="1">
                          <a:latin typeface="等线"/>
                          <a:cs typeface="等线"/>
                        </a:rPr>
                        <a:t>Ra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≥120lm/W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3019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2357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-20℃~40℃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3019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52641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10">
                          <a:latin typeface="等线"/>
                          <a:cs typeface="等线"/>
                        </a:rPr>
                        <a:t>≥IP20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3019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4008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≤5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3019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726440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Ra</a:t>
                      </a:r>
                      <a:r>
                        <a:rPr dirty="0" sz="1600" spc="-10">
                          <a:latin typeface="等线"/>
                          <a:cs typeface="等线"/>
                        </a:rPr>
                        <a:t> ≥80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33019"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000000">
                        <a:alpha val="1999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object 11"/>
          <p:cNvSpPr txBox="1"/>
          <p:nvPr/>
        </p:nvSpPr>
        <p:spPr>
          <a:xfrm>
            <a:off x="499059" y="4964048"/>
            <a:ext cx="21824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03399D"/>
                </a:solidFill>
                <a:latin typeface="微软雅黑"/>
                <a:cs typeface="微软雅黑"/>
              </a:rPr>
              <a:t>佳</a:t>
            </a:r>
            <a:r>
              <a:rPr dirty="0" sz="1800" spc="-5" b="1">
                <a:solidFill>
                  <a:srgbClr val="03399D"/>
                </a:solidFill>
                <a:latin typeface="微软雅黑"/>
                <a:cs typeface="微软雅黑"/>
              </a:rPr>
              <a:t>III</a:t>
            </a:r>
            <a:r>
              <a:rPr dirty="0" sz="1800" b="1">
                <a:solidFill>
                  <a:srgbClr val="03399D"/>
                </a:solidFill>
                <a:latin typeface="微软雅黑"/>
                <a:cs typeface="微软雅黑"/>
              </a:rPr>
              <a:t>系列</a:t>
            </a:r>
            <a:r>
              <a:rPr dirty="0" sz="1800" spc="-10" b="1">
                <a:solidFill>
                  <a:srgbClr val="03399D"/>
                </a:solidFill>
                <a:latin typeface="微软雅黑"/>
                <a:cs typeface="微软雅黑"/>
              </a:rPr>
              <a:t>-</a:t>
            </a:r>
            <a:r>
              <a:rPr dirty="0" sz="1800" b="1">
                <a:solidFill>
                  <a:srgbClr val="03399D"/>
                </a:solidFill>
                <a:latin typeface="微软雅黑"/>
                <a:cs typeface="微软雅黑"/>
              </a:rPr>
              <a:t>办公产品：</a:t>
            </a:r>
            <a:endParaRPr sz="1800">
              <a:latin typeface="微软雅黑"/>
              <a:cs typeface="微软雅黑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438962" y="2252217"/>
          <a:ext cx="4648835" cy="23526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04950"/>
                <a:gridCol w="117475"/>
                <a:gridCol w="693419"/>
                <a:gridCol w="2313939"/>
              </a:tblGrid>
              <a:tr h="297815">
                <a:tc gridSpan="4">
                  <a:txBody>
                    <a:bodyPr/>
                    <a:lstStyle/>
                    <a:p>
                      <a:pPr marL="97790">
                        <a:lnSpc>
                          <a:spcPts val="2020"/>
                        </a:lnSpc>
                        <a:spcBef>
                          <a:spcPts val="225"/>
                        </a:spcBef>
                        <a:tabLst>
                          <a:tab pos="2202815" algn="l"/>
                        </a:tabLst>
                      </a:pPr>
                      <a:r>
                        <a:rPr dirty="0" baseline="-15277" sz="3000">
                          <a:latin typeface="等线"/>
                          <a:cs typeface="等线"/>
                        </a:rPr>
                        <a:t>额定相关色	</a:t>
                      </a:r>
                      <a:r>
                        <a:rPr dirty="0" sz="2000">
                          <a:latin typeface="等线"/>
                          <a:cs typeface="等线"/>
                        </a:rPr>
                        <a:t>光效※</a:t>
                      </a:r>
                      <a:r>
                        <a:rPr dirty="0" sz="2000" spc="-10">
                          <a:latin typeface="等线"/>
                          <a:cs typeface="等线"/>
                        </a:rPr>
                        <a:t> </a:t>
                      </a:r>
                      <a:r>
                        <a:rPr dirty="0" sz="2000" spc="-5">
                          <a:latin typeface="等线"/>
                          <a:cs typeface="等线"/>
                        </a:rPr>
                        <a:t>（lm/W）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111760">
                <a:tc rowSpan="2"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温</a:t>
                      </a:r>
                      <a:r>
                        <a:rPr dirty="0" sz="2000" spc="-5">
                          <a:latin typeface="等线"/>
                          <a:cs typeface="等线"/>
                        </a:rPr>
                        <a:t>（CCT/K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C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25"/>
                        </a:spcBef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）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104775">
                    <a:lnL w="38100">
                      <a:solidFill>
                        <a:srgbClr val="FFC000"/>
                      </a:solidFill>
                      <a:prstDash val="solid"/>
                    </a:lnL>
                    <a:lnT w="381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C000"/>
                      </a:solidFill>
                      <a:prstDash val="solid"/>
                    </a:lnR>
                    <a:lnT w="381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53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4775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C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04775">
                    <a:lnL w="38100">
                      <a:solidFill>
                        <a:srgbClr val="FFC000"/>
                      </a:solidFill>
                      <a:prstDash val="solid"/>
                    </a:lnL>
                    <a:lnT w="381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2000" b="1">
                          <a:solidFill>
                            <a:srgbClr val="FF0000"/>
                          </a:solidFill>
                          <a:latin typeface="等线"/>
                          <a:cs typeface="等线"/>
                        </a:rPr>
                        <a:t>1级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R w="381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1518285" algn="l"/>
                        </a:tabLst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2级	3级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381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CCT＜3500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110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38100">
                      <a:solidFill>
                        <a:srgbClr val="FFC000"/>
                      </a:solidFill>
                      <a:prstDash val="solid"/>
                    </a:lnL>
                    <a:lnR w="381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1518285" algn="l"/>
                        </a:tabLst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95	60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381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530">
                <a:tc>
                  <a:txBody>
                    <a:bodyPr/>
                    <a:lstStyle/>
                    <a:p>
                      <a:pPr marL="977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CCT≥3500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127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2000" b="1">
                          <a:solidFill>
                            <a:srgbClr val="FF0000"/>
                          </a:solidFill>
                          <a:latin typeface="等线"/>
                          <a:cs typeface="等线"/>
                        </a:rPr>
                        <a:t>120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38100">
                      <a:solidFill>
                        <a:srgbClr val="FFC000"/>
                      </a:solidFill>
                      <a:prstDash val="solid"/>
                    </a:lnL>
                    <a:lnR w="38100">
                      <a:solidFill>
                        <a:srgbClr val="FFC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FFC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382905">
                        <a:lnSpc>
                          <a:spcPct val="100000"/>
                        </a:lnSpc>
                        <a:spcBef>
                          <a:spcPts val="225"/>
                        </a:spcBef>
                        <a:tabLst>
                          <a:tab pos="1518285" algn="l"/>
                        </a:tabLst>
                      </a:pPr>
                      <a:r>
                        <a:rPr dirty="0" sz="2000">
                          <a:latin typeface="等线"/>
                          <a:cs typeface="等线"/>
                        </a:rPr>
                        <a:t>105	</a:t>
                      </a:r>
                      <a:r>
                        <a:rPr dirty="0" sz="2000" spc="-5">
                          <a:latin typeface="等线"/>
                          <a:cs typeface="等线"/>
                        </a:rPr>
                        <a:t>70</a:t>
                      </a:r>
                      <a:endParaRPr sz="2000">
                        <a:latin typeface="等线"/>
                        <a:cs typeface="等线"/>
                      </a:endParaRPr>
                    </a:p>
                  </a:txBody>
                  <a:tcPr marL="0" marR="0" marB="0" marT="28575">
                    <a:lnL w="38100">
                      <a:solidFill>
                        <a:srgbClr val="FFC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6905">
                <a:tc gridSpan="4">
                  <a:txBody>
                    <a:bodyPr/>
                    <a:lstStyle/>
                    <a:p>
                      <a:pPr marL="97790" marR="2057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600" spc="-5">
                          <a:latin typeface="等线"/>
                          <a:cs typeface="等线"/>
                        </a:rPr>
                        <a:t>※</a:t>
                      </a:r>
                      <a:r>
                        <a:rPr dirty="0" sz="1600" spc="-25">
                          <a:latin typeface="等线"/>
                          <a:cs typeface="等线"/>
                        </a:rPr>
                        <a:t> </a:t>
                      </a:r>
                      <a:r>
                        <a:rPr dirty="0" sz="1600" spc="-5">
                          <a:latin typeface="等线"/>
                          <a:cs typeface="等线"/>
                        </a:rPr>
                        <a:t>对于额定一般显色指数</a:t>
                      </a:r>
                      <a:r>
                        <a:rPr dirty="0" sz="1600" spc="10">
                          <a:latin typeface="等线"/>
                          <a:cs typeface="等线"/>
                        </a:rPr>
                        <a:t> </a:t>
                      </a:r>
                      <a:r>
                        <a:rPr dirty="0" sz="1600" spc="-5">
                          <a:latin typeface="等线"/>
                          <a:cs typeface="等线"/>
                        </a:rPr>
                        <a:t>Ra≥90</a:t>
                      </a:r>
                      <a:r>
                        <a:rPr dirty="0" sz="1600" spc="-30">
                          <a:latin typeface="等线"/>
                          <a:cs typeface="等线"/>
                        </a:rPr>
                        <a:t> </a:t>
                      </a:r>
                      <a:r>
                        <a:rPr dirty="0" sz="1600" spc="-5">
                          <a:latin typeface="等线"/>
                          <a:cs typeface="等线"/>
                        </a:rPr>
                        <a:t>的</a:t>
                      </a:r>
                      <a:r>
                        <a:rPr dirty="0" sz="1600" spc="-10">
                          <a:latin typeface="等线"/>
                          <a:cs typeface="等线"/>
                        </a:rPr>
                        <a:t>LED</a:t>
                      </a:r>
                      <a:r>
                        <a:rPr dirty="0" sz="1600" spc="-5">
                          <a:latin typeface="等线"/>
                          <a:cs typeface="等线"/>
                        </a:rPr>
                        <a:t>平板灯，  其各等级光效规定值相应降低10lm/W</a:t>
                      </a:r>
                      <a:endParaRPr sz="1600">
                        <a:latin typeface="等线"/>
                        <a:cs typeface="等线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C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1790700" y="2194560"/>
            <a:ext cx="311150" cy="287020"/>
          </a:xfrm>
          <a:custGeom>
            <a:avLst/>
            <a:gdLst/>
            <a:ahLst/>
            <a:cxnLst/>
            <a:rect l="l" t="t" r="r" b="b"/>
            <a:pathLst>
              <a:path w="311150" h="287019">
                <a:moveTo>
                  <a:pt x="310895" y="109474"/>
                </a:moveTo>
                <a:lnTo>
                  <a:pt x="0" y="109474"/>
                </a:lnTo>
                <a:lnTo>
                  <a:pt x="96012" y="177037"/>
                </a:lnTo>
                <a:lnTo>
                  <a:pt x="59436" y="286512"/>
                </a:lnTo>
                <a:lnTo>
                  <a:pt x="155448" y="218820"/>
                </a:lnTo>
                <a:lnTo>
                  <a:pt x="228843" y="218820"/>
                </a:lnTo>
                <a:lnTo>
                  <a:pt x="214883" y="177037"/>
                </a:lnTo>
                <a:lnTo>
                  <a:pt x="310895" y="109474"/>
                </a:lnTo>
                <a:close/>
              </a:path>
              <a:path w="311150" h="287019">
                <a:moveTo>
                  <a:pt x="228843" y="218820"/>
                </a:moveTo>
                <a:lnTo>
                  <a:pt x="155448" y="218820"/>
                </a:lnTo>
                <a:lnTo>
                  <a:pt x="251460" y="286512"/>
                </a:lnTo>
                <a:lnTo>
                  <a:pt x="228843" y="218820"/>
                </a:lnTo>
                <a:close/>
              </a:path>
              <a:path w="311150" h="287019">
                <a:moveTo>
                  <a:pt x="155448" y="0"/>
                </a:moveTo>
                <a:lnTo>
                  <a:pt x="118744" y="109474"/>
                </a:lnTo>
                <a:lnTo>
                  <a:pt x="192150" y="109474"/>
                </a:lnTo>
                <a:lnTo>
                  <a:pt x="155448" y="0"/>
                </a:lnTo>
                <a:close/>
              </a:path>
            </a:pathLst>
          </a:custGeom>
          <a:solidFill>
            <a:srgbClr val="FFD9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790700" y="2194560"/>
            <a:ext cx="311150" cy="287020"/>
          </a:xfrm>
          <a:custGeom>
            <a:avLst/>
            <a:gdLst/>
            <a:ahLst/>
            <a:cxnLst/>
            <a:rect l="l" t="t" r="r" b="b"/>
            <a:pathLst>
              <a:path w="311150" h="287019">
                <a:moveTo>
                  <a:pt x="0" y="109474"/>
                </a:moveTo>
                <a:lnTo>
                  <a:pt x="118744" y="109474"/>
                </a:lnTo>
                <a:lnTo>
                  <a:pt x="155448" y="0"/>
                </a:lnTo>
                <a:lnTo>
                  <a:pt x="192150" y="109474"/>
                </a:lnTo>
                <a:lnTo>
                  <a:pt x="310895" y="109474"/>
                </a:lnTo>
                <a:lnTo>
                  <a:pt x="214883" y="177037"/>
                </a:lnTo>
                <a:lnTo>
                  <a:pt x="251460" y="286512"/>
                </a:lnTo>
                <a:lnTo>
                  <a:pt x="155448" y="218820"/>
                </a:lnTo>
                <a:lnTo>
                  <a:pt x="59436" y="286512"/>
                </a:lnTo>
                <a:lnTo>
                  <a:pt x="96012" y="177037"/>
                </a:lnTo>
                <a:lnTo>
                  <a:pt x="0" y="109474"/>
                </a:lnTo>
                <a:close/>
              </a:path>
            </a:pathLst>
          </a:custGeom>
          <a:ln w="1219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81244" y="1164336"/>
            <a:ext cx="6260592" cy="34350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23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496316" y="6399682"/>
            <a:ext cx="638175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" b="0">
                <a:solidFill>
                  <a:srgbClr val="404040"/>
                </a:solidFill>
                <a:latin typeface="Microsoft YaHei UI Light"/>
                <a:cs typeface="Microsoft YaHei UI Light"/>
              </a:rPr>
              <a:t>OPPLE.COM</a:t>
            </a:r>
            <a:endParaRPr sz="850">
              <a:latin typeface="Microsoft YaHei UI Light"/>
              <a:cs typeface="Microsoft YaHei UI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04672" y="1043939"/>
            <a:ext cx="2275840" cy="5080000"/>
          </a:xfrm>
          <a:custGeom>
            <a:avLst/>
            <a:gdLst/>
            <a:ahLst/>
            <a:cxnLst/>
            <a:rect l="l" t="t" r="r" b="b"/>
            <a:pathLst>
              <a:path w="2275840" h="5080000">
                <a:moveTo>
                  <a:pt x="0" y="5079491"/>
                </a:moveTo>
                <a:lnTo>
                  <a:pt x="2275331" y="5079491"/>
                </a:lnTo>
                <a:lnTo>
                  <a:pt x="2275331" y="0"/>
                </a:lnTo>
                <a:lnTo>
                  <a:pt x="0" y="0"/>
                </a:lnTo>
                <a:lnTo>
                  <a:pt x="0" y="50794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04672" y="697991"/>
          <a:ext cx="10829925" cy="54286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2665"/>
                <a:gridCol w="1896744"/>
                <a:gridCol w="1449704"/>
                <a:gridCol w="1683385"/>
                <a:gridCol w="1173479"/>
                <a:gridCol w="1173479"/>
                <a:gridCol w="1173479"/>
              </a:tblGrid>
              <a:tr h="340995">
                <a:tc gridSpan="7">
                  <a:txBody>
                    <a:bodyPr/>
                    <a:lstStyle/>
                    <a:p>
                      <a:pPr algn="ctr" marR="107314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dirty="0" sz="1400" spc="-5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LED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平板</a:t>
                      </a:r>
                      <a:r>
                        <a:rPr dirty="0" sz="140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灯</a:t>
                      </a:r>
                      <a:r>
                        <a:rPr dirty="0" sz="1400" spc="-3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佳</a:t>
                      </a:r>
                      <a:r>
                        <a:rPr dirty="0" sz="1400" spc="-1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III</a:t>
                      </a:r>
                      <a:r>
                        <a:rPr dirty="0" sz="1400" spc="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系列（大尺寸）</a:t>
                      </a:r>
                      <a:r>
                        <a:rPr dirty="0" sz="1400" spc="-4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产品参数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57785">
                    <a:solidFill>
                      <a:srgbClr val="00399D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rowSpan="2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75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微软雅黑"/>
                          <a:cs typeface="微软雅黑"/>
                        </a:rPr>
                        <a:t>概述</a:t>
                      </a:r>
                      <a:endParaRPr sz="1100">
                        <a:latin typeface="微软雅黑"/>
                        <a:cs typeface="微软雅黑"/>
                      </a:endParaRPr>
                    </a:p>
                  </a:txBody>
                  <a:tcPr marL="0" marR="0" marB="0" marT="5715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型号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42354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LDP01032014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LDP01032015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LDP01032016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LDP01032017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功率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07314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>
                          <a:latin typeface="微软雅黑"/>
                          <a:cs typeface="微软雅黑"/>
                        </a:rPr>
                        <a:t>32W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32W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5715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光通量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4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222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000">
                          <a:latin typeface="微软雅黑"/>
                          <a:cs typeface="微软雅黑"/>
                        </a:rPr>
                        <a:t>3840</a:t>
                      </a:r>
                      <a:r>
                        <a:rPr dirty="0" sz="1000" spc="-5">
                          <a:latin typeface="微软雅黑"/>
                          <a:cs typeface="微软雅黑"/>
                        </a:rPr>
                        <a:t>lm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4">
                    <a:lnL w="6350">
                      <a:solidFill>
                        <a:srgbClr val="5B9BD4"/>
                      </a:solidFill>
                      <a:prstDash val="solid"/>
                    </a:lnL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3840lm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4"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669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光效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1050" b="1">
                          <a:solidFill>
                            <a:srgbClr val="03399D"/>
                          </a:solidFill>
                          <a:latin typeface="微软雅黑"/>
                          <a:cs typeface="微软雅黑"/>
                        </a:rPr>
                        <a:t>120lm/W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3937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dirty="0" sz="1100">
                          <a:latin typeface="微软雅黑"/>
                          <a:cs typeface="微软雅黑"/>
                        </a:rPr>
                        <a:t>光学</a:t>
                      </a:r>
                      <a:endParaRPr sz="1100">
                        <a:latin typeface="微软雅黑"/>
                        <a:cs typeface="微软雅黑"/>
                      </a:endParaRPr>
                    </a:p>
                  </a:txBody>
                  <a:tcPr marL="0" marR="0" marB="0" marT="147955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色温（CCT）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4000K/5700K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19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7955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显色指数（Ra）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Ra &gt; 80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000" spc="-10">
                          <a:latin typeface="微软雅黑"/>
                          <a:cs typeface="微软雅黑"/>
                        </a:rPr>
                        <a:t>眩光等级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4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UGR </a:t>
                      </a:r>
                      <a:r>
                        <a:rPr dirty="0" sz="100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10">
                          <a:latin typeface="微软雅黑"/>
                          <a:cs typeface="微软雅黑"/>
                        </a:rPr>
                        <a:t>22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4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工作电压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AC176~264</a:t>
                      </a:r>
                      <a:r>
                        <a:rPr dirty="0" sz="100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10">
                          <a:latin typeface="微软雅黑"/>
                          <a:cs typeface="微软雅黑"/>
                        </a:rPr>
                        <a:t>V；50Hz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蓝光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-10">
                          <a:latin typeface="微软雅黑"/>
                          <a:cs typeface="微软雅黑"/>
                        </a:rPr>
                        <a:t>RG0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100">
                          <a:latin typeface="微软雅黑"/>
                          <a:cs typeface="微软雅黑"/>
                        </a:rPr>
                        <a:t>电子</a:t>
                      </a:r>
                      <a:endParaRPr sz="1100">
                        <a:latin typeface="微软雅黑"/>
                        <a:cs typeface="微软雅黑"/>
                      </a:endParaRPr>
                    </a:p>
                  </a:txBody>
                  <a:tcPr marL="0" marR="0" marB="0" marT="3429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4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频闪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4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>
                          <a:latin typeface="微软雅黑"/>
                          <a:cs typeface="微软雅黑"/>
                        </a:rPr>
                        <a:t>无频闪危害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功率因数（PF）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0.95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965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防触电等级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1270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10">
                          <a:latin typeface="微软雅黑"/>
                          <a:cs typeface="微软雅黑"/>
                        </a:rPr>
                        <a:t>III</a:t>
                      </a:r>
                      <a:r>
                        <a:rPr dirty="0" sz="1000" spc="-5">
                          <a:latin typeface="微软雅黑"/>
                          <a:cs typeface="微软雅黑"/>
                        </a:rPr>
                        <a:t>类灯具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rowSpan="2">
                  <a:txBody>
                    <a:bodyPr/>
                    <a:lstStyle/>
                    <a:p>
                      <a:pPr algn="ctr" marL="5715">
                        <a:lnSpc>
                          <a:spcPct val="100000"/>
                        </a:lnSpc>
                        <a:spcBef>
                          <a:spcPts val="1170"/>
                        </a:spcBef>
                      </a:pPr>
                      <a:r>
                        <a:rPr dirty="0" sz="1100">
                          <a:latin typeface="微软雅黑"/>
                          <a:cs typeface="微软雅黑"/>
                        </a:rPr>
                        <a:t>功能</a:t>
                      </a:r>
                      <a:endParaRPr sz="1100">
                        <a:latin typeface="微软雅黑"/>
                        <a:cs typeface="微软雅黑"/>
                      </a:endParaRPr>
                    </a:p>
                  </a:txBody>
                  <a:tcPr marL="0" marR="0" marB="0" marT="14859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开关方式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90360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BLE</a:t>
                      </a:r>
                      <a:r>
                        <a:rPr dirty="0" sz="100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5">
                          <a:latin typeface="微软雅黑"/>
                          <a:cs typeface="微软雅黑"/>
                        </a:rPr>
                        <a:t>\</a:t>
                      </a:r>
                      <a:r>
                        <a:rPr dirty="0" sz="1000" spc="-1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5">
                          <a:latin typeface="微软雅黑"/>
                          <a:cs typeface="微软雅黑"/>
                        </a:rPr>
                        <a:t>DALI</a:t>
                      </a:r>
                      <a:r>
                        <a:rPr dirty="0" sz="1000" spc="1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5">
                          <a:latin typeface="微软雅黑"/>
                          <a:cs typeface="微软雅黑"/>
                        </a:rPr>
                        <a:t>\</a:t>
                      </a:r>
                      <a:r>
                        <a:rPr dirty="0" sz="1000" spc="-1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5">
                          <a:latin typeface="微软雅黑"/>
                          <a:cs typeface="微软雅黑"/>
                        </a:rPr>
                        <a:t>0-10V（需搭配对应智控驱动，详</a:t>
                      </a:r>
                      <a:r>
                        <a:rPr dirty="0" sz="1000" spc="-35">
                          <a:latin typeface="微软雅黑"/>
                          <a:cs typeface="微软雅黑"/>
                        </a:rPr>
                        <a:t>见</a:t>
                      </a:r>
                      <a:r>
                        <a:rPr dirty="0" sz="1000" spc="-5">
                          <a:latin typeface="微软雅黑"/>
                          <a:cs typeface="微软雅黑"/>
                        </a:rPr>
                        <a:t>SKU清单）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14859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是否含有电源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381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dirty="0" sz="1050" spc="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不含电源，电</a:t>
                      </a:r>
                      <a:r>
                        <a:rPr dirty="0" sz="1050" spc="-1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源</a:t>
                      </a:r>
                      <a:r>
                        <a:rPr dirty="0" sz="1050" spc="0" b="1">
                          <a:solidFill>
                            <a:srgbClr val="FF0000"/>
                          </a:solidFill>
                          <a:latin typeface="微软雅黑"/>
                          <a:cs typeface="微软雅黑"/>
                        </a:rPr>
                        <a:t>外置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00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10">
                          <a:latin typeface="微软雅黑"/>
                          <a:cs typeface="微软雅黑"/>
                        </a:rPr>
                        <a:t>防护等级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IP20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254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29590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</a:pPr>
                      <a:r>
                        <a:rPr dirty="0" sz="1100">
                          <a:latin typeface="微软雅黑"/>
                          <a:cs typeface="微软雅黑"/>
                        </a:rPr>
                        <a:t>结构</a:t>
                      </a:r>
                      <a:endParaRPr sz="1100">
                        <a:latin typeface="微软雅黑"/>
                        <a:cs typeface="微软雅黑"/>
                      </a:endParaRPr>
                    </a:p>
                  </a:txBody>
                  <a:tcPr marL="0" marR="0" marB="0" marT="3175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3335">
                        <a:lnSpc>
                          <a:spcPct val="100000"/>
                        </a:lnSpc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规格尺寸（长×宽×高）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381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595×595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  <a:p>
                      <a:pPr algn="ctr" marL="1270">
                        <a:lnSpc>
                          <a:spcPct val="100000"/>
                        </a:lnSpc>
                      </a:pPr>
                      <a:r>
                        <a:rPr dirty="0" sz="1000" spc="-10">
                          <a:latin typeface="微软雅黑"/>
                          <a:cs typeface="微软雅黑"/>
                        </a:rPr>
                        <a:t>×35mm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11747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31559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600×600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  <a:p>
                      <a:pPr marL="346075">
                        <a:lnSpc>
                          <a:spcPct val="100000"/>
                        </a:lnSpc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×35mm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11747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279400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295×1195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  <a:p>
                      <a:pPr marL="328295">
                        <a:lnSpc>
                          <a:spcPct val="100000"/>
                        </a:lnSpc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×35</a:t>
                      </a:r>
                      <a:r>
                        <a:rPr dirty="0" sz="1000" spc="-2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10">
                          <a:latin typeface="微软雅黑"/>
                          <a:cs typeface="微软雅黑"/>
                        </a:rPr>
                        <a:t>mm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11747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280035">
                        <a:lnSpc>
                          <a:spcPct val="100000"/>
                        </a:lnSpc>
                        <a:spcBef>
                          <a:spcPts val="925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300×1200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  <a:p>
                      <a:pPr marL="328295">
                        <a:lnSpc>
                          <a:spcPct val="100000"/>
                        </a:lnSpc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×35</a:t>
                      </a:r>
                      <a:r>
                        <a:rPr dirty="0" sz="1000" spc="-20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00" spc="-10">
                          <a:latin typeface="微软雅黑"/>
                          <a:cs typeface="微软雅黑"/>
                        </a:rPr>
                        <a:t>mm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117475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安装方式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三合一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6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集成吊顶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三合一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集成吊顶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50">
                        <a:latin typeface="Times New Roman"/>
                        <a:cs typeface="Times New Roman"/>
                      </a:endParaRPr>
                    </a:p>
                    <a:p>
                      <a:pPr algn="ctr" marL="57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100">
                          <a:latin typeface="微软雅黑"/>
                          <a:cs typeface="微软雅黑"/>
                        </a:rPr>
                        <a:t>质量</a:t>
                      </a:r>
                      <a:endParaRPr sz="11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灯具寿命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dirty="0" sz="1050" b="1">
                          <a:solidFill>
                            <a:srgbClr val="03399D"/>
                          </a:solidFill>
                          <a:latin typeface="微软雅黑"/>
                          <a:cs typeface="微软雅黑"/>
                        </a:rPr>
                        <a:t>50000hrs</a:t>
                      </a:r>
                      <a:r>
                        <a:rPr dirty="0" sz="1050" spc="-10" b="1">
                          <a:solidFill>
                            <a:srgbClr val="03399D"/>
                          </a:solidFill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050" b="1">
                          <a:solidFill>
                            <a:srgbClr val="03399D"/>
                          </a:solidFill>
                          <a:latin typeface="微软雅黑"/>
                          <a:cs typeface="微软雅黑"/>
                        </a:rPr>
                        <a:t>（@L70/B50）</a:t>
                      </a:r>
                      <a:endParaRPr sz="1050">
                        <a:latin typeface="微软雅黑"/>
                        <a:cs typeface="微软雅黑"/>
                      </a:endParaRPr>
                    </a:p>
                  </a:txBody>
                  <a:tcPr marL="0" marR="0" marB="0" marT="4064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工作环境（Ta）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190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-20℃~40℃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推荐安装高度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2.5~4.5m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27329"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R w="3175">
                      <a:solidFill>
                        <a:srgbClr val="5B9BD4"/>
                      </a:solidFill>
                      <a:prstDash val="solid"/>
                    </a:lnR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175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安全认证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marL="3175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dirty="0" sz="1000" spc="-5">
                          <a:latin typeface="微软雅黑"/>
                          <a:cs typeface="微软雅黑"/>
                        </a:rPr>
                        <a:t>CCC</a:t>
                      </a:r>
                      <a:endParaRPr sz="1000">
                        <a:latin typeface="微软雅黑"/>
                        <a:cs typeface="微软雅黑"/>
                      </a:endParaRPr>
                    </a:p>
                  </a:txBody>
                  <a:tcPr marL="0" marR="0" marB="0" marT="43180">
                    <a:lnL w="6350">
                      <a:solidFill>
                        <a:srgbClr val="5B9BD4"/>
                      </a:solidFill>
                      <a:prstDash val="solid"/>
                    </a:lnL>
                    <a:lnR w="6350">
                      <a:solidFill>
                        <a:srgbClr val="5B9BD4"/>
                      </a:solidFill>
                      <a:prstDash val="solid"/>
                    </a:lnR>
                    <a:lnT w="6350">
                      <a:solidFill>
                        <a:srgbClr val="5B9BD4"/>
                      </a:solidFill>
                      <a:prstDash val="solid"/>
                    </a:lnT>
                    <a:lnB w="6350">
                      <a:solidFill>
                        <a:srgbClr val="5B9BD4"/>
                      </a:solidFill>
                      <a:prstDash val="solid"/>
                    </a:lnB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39268" y="3994403"/>
            <a:ext cx="3558540" cy="22600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4340" y="4189476"/>
            <a:ext cx="2970276" cy="16718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9891" y="1941576"/>
            <a:ext cx="2627375" cy="17358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54963" y="2136648"/>
            <a:ext cx="2039112" cy="114757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29895" y="193040"/>
            <a:ext cx="144589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none" sz="2800" spc="-5" b="0">
                <a:solidFill>
                  <a:srgbClr val="2C2C2C"/>
                </a:solidFill>
                <a:latin typeface="微软雅黑"/>
                <a:cs typeface="微软雅黑"/>
              </a:rPr>
              <a:t>产品介绍</a:t>
            </a:r>
            <a:endParaRPr sz="2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67560" y="193040"/>
            <a:ext cx="14458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0">
                <a:solidFill>
                  <a:srgbClr val="2C2C2C"/>
                </a:solidFill>
                <a:latin typeface="Microsoft YaHei UI Light"/>
                <a:cs typeface="Microsoft YaHei UI Light"/>
              </a:rPr>
              <a:t>产品参数</a:t>
            </a:r>
            <a:endParaRPr sz="2800">
              <a:latin typeface="Microsoft YaHei UI Light"/>
              <a:cs typeface="Microsoft YaHei UI Light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911095" y="292608"/>
            <a:ext cx="18415" cy="288290"/>
          </a:xfrm>
          <a:custGeom>
            <a:avLst/>
            <a:gdLst/>
            <a:ahLst/>
            <a:cxnLst/>
            <a:rect l="l" t="t" r="r" b="b"/>
            <a:pathLst>
              <a:path w="18414" h="288290">
                <a:moveTo>
                  <a:pt x="0" y="288035"/>
                </a:moveTo>
                <a:lnTo>
                  <a:pt x="18287" y="288035"/>
                </a:lnTo>
                <a:lnTo>
                  <a:pt x="18287" y="0"/>
                </a:lnTo>
                <a:lnTo>
                  <a:pt x="0" y="0"/>
                </a:lnTo>
                <a:lnTo>
                  <a:pt x="0" y="288035"/>
                </a:lnTo>
                <a:close/>
              </a:path>
            </a:pathLst>
          </a:custGeom>
          <a:solidFill>
            <a:srgbClr val="203B8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905000" y="286511"/>
            <a:ext cx="30480" cy="300355"/>
          </a:xfrm>
          <a:custGeom>
            <a:avLst/>
            <a:gdLst/>
            <a:ahLst/>
            <a:cxnLst/>
            <a:rect l="l" t="t" r="r" b="b"/>
            <a:pathLst>
              <a:path w="30480" h="300355">
                <a:moveTo>
                  <a:pt x="0" y="300227"/>
                </a:moveTo>
                <a:lnTo>
                  <a:pt x="30479" y="300227"/>
                </a:lnTo>
                <a:lnTo>
                  <a:pt x="30479" y="0"/>
                </a:lnTo>
                <a:lnTo>
                  <a:pt x="0" y="0"/>
                </a:lnTo>
                <a:lnTo>
                  <a:pt x="0" y="300227"/>
                </a:lnTo>
                <a:close/>
              </a:path>
            </a:pathLst>
          </a:custGeom>
          <a:solidFill>
            <a:srgbClr val="00399D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51687"/>
            <a:ext cx="12192000" cy="6308090"/>
          </a:xfrm>
          <a:custGeom>
            <a:avLst/>
            <a:gdLst/>
            <a:ahLst/>
            <a:cxnLst/>
            <a:rect l="l" t="t" r="r" b="b"/>
            <a:pathLst>
              <a:path w="12192000" h="6308090">
                <a:moveTo>
                  <a:pt x="0" y="6307835"/>
                </a:moveTo>
                <a:lnTo>
                  <a:pt x="12192000" y="6307835"/>
                </a:lnTo>
                <a:lnTo>
                  <a:pt x="12192000" y="0"/>
                </a:lnTo>
                <a:lnTo>
                  <a:pt x="0" y="0"/>
                </a:lnTo>
                <a:lnTo>
                  <a:pt x="0" y="6307835"/>
                </a:lnTo>
                <a:close/>
              </a:path>
            </a:pathLst>
          </a:custGeom>
          <a:solidFill>
            <a:srgbClr val="F6F6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62508" y="3797071"/>
            <a:ext cx="2993390" cy="2698750"/>
          </a:xfrm>
          <a:prstGeom prst="rect">
            <a:avLst/>
          </a:prstGeom>
        </p:spPr>
        <p:txBody>
          <a:bodyPr wrap="square" lIns="0" tIns="134620" rIns="0" bIns="0" rtlCol="0" vert="horz">
            <a:spAutoFit/>
          </a:bodyPr>
          <a:lstStyle/>
          <a:p>
            <a:pPr marL="142240">
              <a:lnSpc>
                <a:spcPct val="100000"/>
              </a:lnSpc>
              <a:spcBef>
                <a:spcPts val="1060"/>
              </a:spcBef>
            </a:pPr>
            <a:r>
              <a:rPr dirty="0" sz="1600" spc="-5" b="1">
                <a:latin typeface="微软雅黑"/>
                <a:cs typeface="微软雅黑"/>
              </a:rPr>
              <a:t>核心卖点：</a:t>
            </a:r>
            <a:endParaRPr sz="1600">
              <a:latin typeface="微软雅黑"/>
              <a:cs typeface="微软雅黑"/>
            </a:endParaRPr>
          </a:p>
          <a:p>
            <a:pPr marL="370840" indent="-228600">
              <a:lnSpc>
                <a:spcPct val="100000"/>
              </a:lnSpc>
              <a:spcBef>
                <a:spcPts val="965"/>
              </a:spcBef>
              <a:buFont typeface="Arial"/>
              <a:buChar char="•"/>
              <a:tabLst>
                <a:tab pos="370840" algn="l"/>
                <a:tab pos="371475" algn="l"/>
              </a:tabLst>
            </a:pPr>
            <a:r>
              <a:rPr dirty="0" sz="1600" spc="-5">
                <a:latin typeface="微软雅黑"/>
                <a:cs typeface="微软雅黑"/>
              </a:rPr>
              <a:t>多种安装方式</a:t>
            </a:r>
            <a:endParaRPr sz="1600">
              <a:latin typeface="微软雅黑"/>
              <a:cs typeface="微软雅黑"/>
            </a:endParaRPr>
          </a:p>
          <a:p>
            <a:pPr marL="370840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70840" algn="l"/>
                <a:tab pos="371475" algn="l"/>
              </a:tabLst>
            </a:pPr>
            <a:r>
              <a:rPr dirty="0" sz="1600" spc="-5">
                <a:latin typeface="微软雅黑"/>
                <a:cs typeface="微软雅黑"/>
              </a:rPr>
              <a:t>无缝连接</a:t>
            </a:r>
            <a:endParaRPr sz="1600">
              <a:latin typeface="微软雅黑"/>
              <a:cs typeface="微软雅黑"/>
            </a:endParaRPr>
          </a:p>
          <a:p>
            <a:pPr marL="370840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70840" algn="l"/>
                <a:tab pos="371475" algn="l"/>
              </a:tabLst>
            </a:pPr>
            <a:r>
              <a:rPr dirty="0" sz="1600" spc="-5">
                <a:latin typeface="微软雅黑"/>
                <a:cs typeface="微软雅黑"/>
              </a:rPr>
              <a:t>超窄边框</a:t>
            </a:r>
            <a:endParaRPr sz="1600">
              <a:latin typeface="微软雅黑"/>
              <a:cs typeface="微软雅黑"/>
            </a:endParaRPr>
          </a:p>
          <a:p>
            <a:pPr marL="370840" indent="-228600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70840" algn="l"/>
                <a:tab pos="371475" algn="l"/>
              </a:tabLst>
            </a:pPr>
            <a:r>
              <a:rPr dirty="0" sz="1600" spc="-10">
                <a:latin typeface="微软雅黑"/>
                <a:cs typeface="微软雅黑"/>
              </a:rPr>
              <a:t>寿命：30000</a:t>
            </a:r>
            <a:r>
              <a:rPr dirty="0" sz="1600" spc="-5">
                <a:latin typeface="微软雅黑"/>
                <a:cs typeface="微软雅黑"/>
              </a:rPr>
              <a:t>小时</a:t>
            </a:r>
            <a:endParaRPr sz="1600">
              <a:latin typeface="微软雅黑"/>
              <a:cs typeface="微软雅黑"/>
            </a:endParaRPr>
          </a:p>
          <a:p>
            <a:pPr marL="142240">
              <a:lnSpc>
                <a:spcPct val="100000"/>
              </a:lnSpc>
              <a:spcBef>
                <a:spcPts val="960"/>
              </a:spcBef>
            </a:pPr>
            <a:r>
              <a:rPr dirty="0" sz="1600" spc="-5" b="1">
                <a:latin typeface="微软雅黑"/>
                <a:cs typeface="微软雅黑"/>
              </a:rPr>
              <a:t>使用场景：</a:t>
            </a:r>
            <a:endParaRPr sz="1600">
              <a:latin typeface="微软雅黑"/>
              <a:cs typeface="微软雅黑"/>
            </a:endParaRPr>
          </a:p>
          <a:p>
            <a:pPr marL="142240">
              <a:lnSpc>
                <a:spcPts val="1639"/>
              </a:lnSpc>
              <a:spcBef>
                <a:spcPts val="960"/>
              </a:spcBef>
            </a:pPr>
            <a:r>
              <a:rPr dirty="0" sz="1600" spc="-5">
                <a:latin typeface="微软雅黑"/>
                <a:cs typeface="微软雅黑"/>
              </a:rPr>
              <a:t>办公空间、零售店铺、超市展厅</a:t>
            </a:r>
            <a:endParaRPr sz="1600">
              <a:latin typeface="微软雅黑"/>
              <a:cs typeface="微软雅黑"/>
            </a:endParaRPr>
          </a:p>
          <a:p>
            <a:pPr marL="12700">
              <a:lnSpc>
                <a:spcPts val="1160"/>
              </a:lnSpc>
            </a:pPr>
            <a:r>
              <a:rPr dirty="0" sz="1200" spc="-275" b="0">
                <a:solidFill>
                  <a:srgbClr val="FFFFFF"/>
                </a:solidFill>
                <a:latin typeface="等线 Light"/>
                <a:cs typeface="等线 Light"/>
              </a:rPr>
              <a:t>OP</a:t>
            </a:r>
            <a:r>
              <a:rPr dirty="0" baseline="-35947" sz="1275" spc="-412">
                <a:solidFill>
                  <a:srgbClr val="404040"/>
                </a:solidFill>
                <a:latin typeface="微软雅黑"/>
                <a:cs typeface="微软雅黑"/>
              </a:rPr>
              <a:t>O</a:t>
            </a:r>
            <a:r>
              <a:rPr dirty="0" sz="1200" spc="-275" b="0">
                <a:solidFill>
                  <a:srgbClr val="FFFFFF"/>
                </a:solidFill>
                <a:latin typeface="等线 Light"/>
                <a:cs typeface="等线 Light"/>
              </a:rPr>
              <a:t>P</a:t>
            </a:r>
            <a:r>
              <a:rPr dirty="0" baseline="-35947" sz="1275" spc="-412">
                <a:solidFill>
                  <a:srgbClr val="404040"/>
                </a:solidFill>
                <a:latin typeface="微软雅黑"/>
                <a:cs typeface="微软雅黑"/>
              </a:rPr>
              <a:t>P</a:t>
            </a:r>
            <a:r>
              <a:rPr dirty="0" sz="1200" spc="-275" b="0">
                <a:solidFill>
                  <a:srgbClr val="FFFFFF"/>
                </a:solidFill>
                <a:latin typeface="等线 Light"/>
                <a:cs typeface="等线 Light"/>
              </a:rPr>
              <a:t>L</a:t>
            </a:r>
            <a:r>
              <a:rPr dirty="0" baseline="-35947" sz="1275" spc="-412">
                <a:solidFill>
                  <a:srgbClr val="404040"/>
                </a:solidFill>
                <a:latin typeface="微软雅黑"/>
                <a:cs typeface="微软雅黑"/>
              </a:rPr>
              <a:t>PL</a:t>
            </a:r>
            <a:r>
              <a:rPr dirty="0" sz="1200" spc="-275" b="0">
                <a:solidFill>
                  <a:srgbClr val="FFFFFF"/>
                </a:solidFill>
                <a:latin typeface="等线 Light"/>
                <a:cs typeface="等线 Light"/>
              </a:rPr>
              <a:t>E</a:t>
            </a:r>
            <a:r>
              <a:rPr dirty="0" baseline="-35947" sz="1275" spc="-412">
                <a:solidFill>
                  <a:srgbClr val="404040"/>
                </a:solidFill>
                <a:latin typeface="微软雅黑"/>
                <a:cs typeface="微软雅黑"/>
              </a:rPr>
              <a:t>E</a:t>
            </a:r>
            <a:r>
              <a:rPr dirty="0" sz="1200" spc="-275" b="0">
                <a:solidFill>
                  <a:srgbClr val="FFFFFF"/>
                </a:solidFill>
                <a:latin typeface="等线 Light"/>
                <a:cs typeface="等线 Light"/>
              </a:rPr>
              <a:t>.C</a:t>
            </a:r>
            <a:r>
              <a:rPr dirty="0" baseline="-35947" sz="1275" spc="-412">
                <a:solidFill>
                  <a:srgbClr val="404040"/>
                </a:solidFill>
                <a:latin typeface="微软雅黑"/>
                <a:cs typeface="微软雅黑"/>
              </a:rPr>
              <a:t>.C</a:t>
            </a:r>
            <a:r>
              <a:rPr dirty="0" sz="1200" spc="-275" b="0">
                <a:solidFill>
                  <a:srgbClr val="FFFFFF"/>
                </a:solidFill>
                <a:latin typeface="等线 Light"/>
                <a:cs typeface="等线 Light"/>
              </a:rPr>
              <a:t>O</a:t>
            </a:r>
            <a:r>
              <a:rPr dirty="0" baseline="-35947" sz="1275" spc="-412">
                <a:solidFill>
                  <a:srgbClr val="404040"/>
                </a:solidFill>
                <a:latin typeface="微软雅黑"/>
                <a:cs typeface="微软雅黑"/>
              </a:rPr>
              <a:t>OM</a:t>
            </a:r>
            <a:r>
              <a:rPr dirty="0" sz="1200" spc="-275" b="0">
                <a:solidFill>
                  <a:srgbClr val="FFFFFF"/>
                </a:solidFill>
                <a:latin typeface="等线 Light"/>
                <a:cs typeface="等线 Light"/>
              </a:rPr>
              <a:t>M</a:t>
            </a:r>
            <a:endParaRPr sz="1200">
              <a:latin typeface="等线 Light"/>
              <a:cs typeface="等线 Light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0"/>
            <a:ext cx="2741676" cy="713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0"/>
            <a:ext cx="12187555" cy="551815"/>
          </a:xfrm>
          <a:custGeom>
            <a:avLst/>
            <a:gdLst/>
            <a:ahLst/>
            <a:cxnLst/>
            <a:rect l="l" t="t" r="r" b="b"/>
            <a:pathLst>
              <a:path w="12187555" h="551815">
                <a:moveTo>
                  <a:pt x="0" y="551688"/>
                </a:moveTo>
                <a:lnTo>
                  <a:pt x="12187428" y="551688"/>
                </a:lnTo>
                <a:lnTo>
                  <a:pt x="12187428" y="0"/>
                </a:lnTo>
                <a:lnTo>
                  <a:pt x="0" y="0"/>
                </a:lnTo>
                <a:lnTo>
                  <a:pt x="0" y="551688"/>
                </a:lnTo>
                <a:close/>
              </a:path>
            </a:pathLst>
          </a:custGeom>
          <a:solidFill>
            <a:srgbClr val="1727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8739" y="60782"/>
            <a:ext cx="246761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400" spc="-10">
                <a:solidFill>
                  <a:srgbClr val="FFFFFF"/>
                </a:solidFill>
              </a:rPr>
              <a:t>LED</a:t>
            </a:r>
            <a:r>
              <a:rPr dirty="0" u="none" sz="2400" spc="-5">
                <a:solidFill>
                  <a:srgbClr val="FFFFFF"/>
                </a:solidFill>
              </a:rPr>
              <a:t>线条灯-朗型II</a:t>
            </a:r>
            <a:endParaRPr sz="240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953757" y="1022350"/>
          <a:ext cx="4915535" cy="55810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2225"/>
                <a:gridCol w="3604260"/>
              </a:tblGrid>
              <a:tr h="347980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spc="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项目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参数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3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</a:tr>
              <a:tr h="14008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L="158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尺寸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  <a:p>
                      <a:pPr algn="ctr" marL="152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400">
                          <a:solidFill>
                            <a:srgbClr val="414141"/>
                          </a:solidFill>
                          <a:latin typeface="微软雅黑"/>
                          <a:cs typeface="微软雅黑"/>
                        </a:rPr>
                        <a:t>0.6/1.2M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34645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功率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15/30W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5397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功率因素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0.</a:t>
                      </a:r>
                      <a:r>
                        <a:rPr dirty="0" sz="1400" spc="-1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>
                          <a:latin typeface="微软雅黑"/>
                          <a:cs typeface="微软雅黑"/>
                        </a:rPr>
                        <a:t>9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光效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06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spc="-5">
                          <a:latin typeface="微软雅黑"/>
                          <a:cs typeface="微软雅黑"/>
                        </a:rPr>
                        <a:t>100lm/W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色温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4000/5700K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显色指数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270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Ra80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寿命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80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30000</a:t>
                      </a:r>
                      <a:r>
                        <a:rPr dirty="0" sz="1400" spc="-15">
                          <a:latin typeface="微软雅黑"/>
                          <a:cs typeface="微软雅黑"/>
                        </a:rPr>
                        <a:t> </a:t>
                      </a:r>
                      <a:r>
                        <a:rPr dirty="0" sz="1400">
                          <a:latin typeface="微软雅黑"/>
                          <a:cs typeface="微软雅黑"/>
                        </a:rPr>
                        <a:t>小时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096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光束角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/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防护等级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IP20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87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材质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335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铝型材（外壳）PC（扩散</a:t>
                      </a:r>
                      <a:r>
                        <a:rPr dirty="0" sz="1400" spc="-15">
                          <a:latin typeface="微软雅黑"/>
                          <a:cs typeface="微软雅黑"/>
                        </a:rPr>
                        <a:t>罩</a:t>
                      </a:r>
                      <a:r>
                        <a:rPr dirty="0" sz="1400">
                          <a:latin typeface="微软雅黑"/>
                          <a:cs typeface="微软雅黑"/>
                        </a:rPr>
                        <a:t>）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安装方式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4604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吊装/嵌入安装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</a:tr>
              <a:tr h="347980">
                <a:tc>
                  <a:txBody>
                    <a:bodyPr/>
                    <a:lstStyle/>
                    <a:p>
                      <a:pPr algn="ctr" marL="1524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 b="1">
                          <a:solidFill>
                            <a:srgbClr val="FFFFFF"/>
                          </a:solidFill>
                          <a:latin typeface="微软雅黑"/>
                          <a:cs typeface="微软雅黑"/>
                        </a:rPr>
                        <a:t>电气类型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13970">
                        <a:lnSpc>
                          <a:spcPct val="100000"/>
                        </a:lnSpc>
                        <a:spcBef>
                          <a:spcPts val="484"/>
                        </a:spcBef>
                      </a:pPr>
                      <a:r>
                        <a:rPr dirty="0" sz="1400">
                          <a:latin typeface="微软雅黑"/>
                          <a:cs typeface="微软雅黑"/>
                        </a:rPr>
                        <a:t>Class I</a:t>
                      </a:r>
                      <a:endParaRPr sz="1400">
                        <a:latin typeface="微软雅黑"/>
                        <a:cs typeface="微软雅黑"/>
                      </a:endParaRPr>
                    </a:p>
                  </a:txBody>
                  <a:tcPr marL="0" marR="0" marB="0" marT="61594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</a:tr>
            </a:tbl>
          </a:graphicData>
        </a:graphic>
      </p:graphicFrame>
      <p:sp>
        <p:nvSpPr>
          <p:cNvPr id="9" name="object 9"/>
          <p:cNvSpPr/>
          <p:nvPr/>
        </p:nvSpPr>
        <p:spPr>
          <a:xfrm>
            <a:off x="541019" y="477012"/>
            <a:ext cx="3169920" cy="23088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36091" y="672083"/>
            <a:ext cx="2581656" cy="17205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14172" y="1132332"/>
            <a:ext cx="3171443" cy="23088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9244" y="1327403"/>
            <a:ext cx="2583180" cy="17205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796028" y="3718534"/>
            <a:ext cx="2089403" cy="287883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796028" y="1028700"/>
            <a:ext cx="2054352" cy="262128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36448" y="3002279"/>
            <a:ext cx="694944" cy="67665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729739" y="2987039"/>
            <a:ext cx="699515" cy="67665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82467" y="2987039"/>
            <a:ext cx="699516" cy="67665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372" y="6391147"/>
            <a:ext cx="783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0046AA"/>
                </a:solidFill>
                <a:latin typeface="Calibri"/>
                <a:cs typeface="Calibri"/>
              </a:rPr>
              <a:t>OPPLE.COM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12192000" cy="6324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0"/>
            <a:ext cx="3176016" cy="713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0"/>
            <a:ext cx="12187555" cy="551815"/>
          </a:xfrm>
          <a:custGeom>
            <a:avLst/>
            <a:gdLst/>
            <a:ahLst/>
            <a:cxnLst/>
            <a:rect l="l" t="t" r="r" b="b"/>
            <a:pathLst>
              <a:path w="12187555" h="551815">
                <a:moveTo>
                  <a:pt x="0" y="551688"/>
                </a:moveTo>
                <a:lnTo>
                  <a:pt x="12187428" y="551688"/>
                </a:lnTo>
                <a:lnTo>
                  <a:pt x="12187428" y="0"/>
                </a:lnTo>
                <a:lnTo>
                  <a:pt x="0" y="0"/>
                </a:lnTo>
                <a:lnTo>
                  <a:pt x="0" y="551688"/>
                </a:lnTo>
                <a:close/>
              </a:path>
            </a:pathLst>
          </a:custGeom>
          <a:solidFill>
            <a:srgbClr val="17278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78739" y="60782"/>
            <a:ext cx="290195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400" spc="-5">
                <a:solidFill>
                  <a:srgbClr val="FFFFFF"/>
                </a:solidFill>
              </a:rPr>
              <a:t>产品介绍-朗型线条灯</a:t>
            </a:r>
            <a:endParaRPr sz="2400"/>
          </a:p>
        </p:txBody>
      </p:sp>
      <p:sp>
        <p:nvSpPr>
          <p:cNvPr id="7" name="object 7"/>
          <p:cNvSpPr txBox="1"/>
          <p:nvPr/>
        </p:nvSpPr>
        <p:spPr>
          <a:xfrm>
            <a:off x="315874" y="915161"/>
            <a:ext cx="457390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600" spc="-5">
                <a:latin typeface="微软雅黑"/>
                <a:cs typeface="微软雅黑"/>
              </a:rPr>
              <a:t>超窄边框端盖</a:t>
            </a:r>
            <a:r>
              <a:rPr dirty="0" sz="1600" spc="-5">
                <a:solidFill>
                  <a:srgbClr val="FF0000"/>
                </a:solidFill>
                <a:latin typeface="微软雅黑"/>
                <a:cs typeface="微软雅黑"/>
              </a:rPr>
              <a:t>隐藏螺丝</a:t>
            </a:r>
            <a:r>
              <a:rPr dirty="0" sz="1600" spc="-5">
                <a:latin typeface="微软雅黑"/>
                <a:cs typeface="微软雅黑"/>
              </a:rPr>
              <a:t>设计，提升</a:t>
            </a:r>
            <a:r>
              <a:rPr dirty="0" sz="1600" spc="0">
                <a:latin typeface="微软雅黑"/>
                <a:cs typeface="微软雅黑"/>
              </a:rPr>
              <a:t>视</a:t>
            </a:r>
            <a:r>
              <a:rPr dirty="0" sz="1600" spc="-5">
                <a:latin typeface="微软雅黑"/>
                <a:cs typeface="微软雅黑"/>
              </a:rPr>
              <a:t>觉外</a:t>
            </a:r>
            <a:r>
              <a:rPr dirty="0" sz="1600">
                <a:latin typeface="微软雅黑"/>
                <a:cs typeface="微软雅黑"/>
              </a:rPr>
              <a:t>观</a:t>
            </a:r>
            <a:r>
              <a:rPr dirty="0" sz="1600" spc="-5">
                <a:latin typeface="微软雅黑"/>
                <a:cs typeface="微软雅黑"/>
              </a:rPr>
              <a:t>质感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47927" y="1156716"/>
            <a:ext cx="2723388" cy="25755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28700" y="1182624"/>
            <a:ext cx="2616707" cy="24688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51838" y="2658617"/>
            <a:ext cx="831850" cy="325755"/>
          </a:xfrm>
          <a:custGeom>
            <a:avLst/>
            <a:gdLst/>
            <a:ahLst/>
            <a:cxnLst/>
            <a:rect l="l" t="t" r="r" b="b"/>
            <a:pathLst>
              <a:path w="831850" h="325755">
                <a:moveTo>
                  <a:pt x="0" y="0"/>
                </a:moveTo>
                <a:lnTo>
                  <a:pt x="831850" y="325247"/>
                </a:lnTo>
              </a:path>
            </a:pathLst>
          </a:custGeom>
          <a:ln w="22860">
            <a:solidFill>
              <a:srgbClr val="0039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751838" y="2690622"/>
            <a:ext cx="831850" cy="325755"/>
          </a:xfrm>
          <a:custGeom>
            <a:avLst/>
            <a:gdLst/>
            <a:ahLst/>
            <a:cxnLst/>
            <a:rect l="l" t="t" r="r" b="b"/>
            <a:pathLst>
              <a:path w="831850" h="325755">
                <a:moveTo>
                  <a:pt x="0" y="0"/>
                </a:moveTo>
                <a:lnTo>
                  <a:pt x="831850" y="325247"/>
                </a:lnTo>
              </a:path>
            </a:pathLst>
          </a:custGeom>
          <a:ln w="22860">
            <a:solidFill>
              <a:srgbClr val="0039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965198" y="2907029"/>
            <a:ext cx="316865" cy="108585"/>
          </a:xfrm>
          <a:custGeom>
            <a:avLst/>
            <a:gdLst/>
            <a:ahLst/>
            <a:cxnLst/>
            <a:rect l="l" t="t" r="r" b="b"/>
            <a:pathLst>
              <a:path w="316864" h="108585">
                <a:moveTo>
                  <a:pt x="316356" y="0"/>
                </a:moveTo>
                <a:lnTo>
                  <a:pt x="0" y="108458"/>
                </a:lnTo>
              </a:path>
            </a:pathLst>
          </a:custGeom>
          <a:ln w="22860">
            <a:solidFill>
              <a:srgbClr val="00399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66750" y="3110230"/>
            <a:ext cx="153606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>
                <a:solidFill>
                  <a:srgbClr val="2F2F2F"/>
                </a:solidFill>
                <a:latin typeface="微软雅黑"/>
                <a:cs typeface="微软雅黑"/>
              </a:rPr>
              <a:t>发光面边框</a:t>
            </a:r>
            <a:r>
              <a:rPr dirty="0" sz="1400" spc="-5">
                <a:solidFill>
                  <a:srgbClr val="2F2F2F"/>
                </a:solidFill>
                <a:latin typeface="微软雅黑"/>
                <a:cs typeface="微软雅黑"/>
              </a:rPr>
              <a:t>仅</a:t>
            </a:r>
            <a:r>
              <a:rPr dirty="0" sz="1400">
                <a:solidFill>
                  <a:srgbClr val="FF0000"/>
                </a:solidFill>
                <a:latin typeface="微软雅黑"/>
                <a:cs typeface="微软雅黑"/>
              </a:rPr>
              <a:t>1mm</a:t>
            </a:r>
            <a:endParaRPr sz="1400">
              <a:latin typeface="微软雅黑"/>
              <a:cs typeface="微软雅黑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078980" y="1285512"/>
            <a:ext cx="1563624" cy="240870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442704" y="1115513"/>
            <a:ext cx="1556003" cy="23745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6678294" y="850137"/>
            <a:ext cx="41656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600" spc="-5">
                <a:latin typeface="微软雅黑"/>
                <a:cs typeface="微软雅黑"/>
              </a:rPr>
              <a:t>灯体预留拼接结构，</a:t>
            </a:r>
            <a:r>
              <a:rPr dirty="0" sz="1600" spc="-5">
                <a:solidFill>
                  <a:srgbClr val="FF0000"/>
                </a:solidFill>
                <a:latin typeface="微软雅黑"/>
                <a:cs typeface="微软雅黑"/>
              </a:rPr>
              <a:t>简单</a:t>
            </a:r>
            <a:r>
              <a:rPr dirty="0" sz="1600" spc="-5">
                <a:latin typeface="微软雅黑"/>
                <a:cs typeface="微软雅黑"/>
              </a:rPr>
              <a:t>配件实</a:t>
            </a:r>
            <a:r>
              <a:rPr dirty="0" sz="1600" spc="-10">
                <a:latin typeface="微软雅黑"/>
                <a:cs typeface="微软雅黑"/>
              </a:rPr>
              <a:t>现</a:t>
            </a:r>
            <a:r>
              <a:rPr dirty="0" sz="1600">
                <a:solidFill>
                  <a:srgbClr val="FF0000"/>
                </a:solidFill>
                <a:latin typeface="微软雅黑"/>
                <a:cs typeface="微软雅黑"/>
              </a:rPr>
              <a:t>快</a:t>
            </a:r>
            <a:r>
              <a:rPr dirty="0" sz="1600" spc="-5">
                <a:solidFill>
                  <a:srgbClr val="FF0000"/>
                </a:solidFill>
                <a:latin typeface="微软雅黑"/>
                <a:cs typeface="微软雅黑"/>
              </a:rPr>
              <a:t>速连接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23641" y="5250307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整体面罩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90156" y="3908297"/>
            <a:ext cx="53009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600" spc="-5">
                <a:latin typeface="微软雅黑"/>
                <a:cs typeface="微软雅黑"/>
              </a:rPr>
              <a:t>2种灯体，多种安装配件，可满足</a:t>
            </a:r>
            <a:r>
              <a:rPr dirty="0" sz="1600" spc="-5">
                <a:solidFill>
                  <a:srgbClr val="FF0000"/>
                </a:solidFill>
                <a:latin typeface="微软雅黑"/>
                <a:cs typeface="微软雅黑"/>
              </a:rPr>
              <a:t>多</a:t>
            </a:r>
            <a:r>
              <a:rPr dirty="0" sz="1600">
                <a:solidFill>
                  <a:srgbClr val="FF0000"/>
                </a:solidFill>
                <a:latin typeface="微软雅黑"/>
                <a:cs typeface="微软雅黑"/>
              </a:rPr>
              <a:t>种</a:t>
            </a:r>
            <a:r>
              <a:rPr dirty="0" sz="1600" spc="-5">
                <a:solidFill>
                  <a:srgbClr val="FF0000"/>
                </a:solidFill>
                <a:latin typeface="微软雅黑"/>
                <a:cs typeface="微软雅黑"/>
              </a:rPr>
              <a:t>应用</a:t>
            </a:r>
            <a:r>
              <a:rPr dirty="0" sz="1600">
                <a:solidFill>
                  <a:srgbClr val="FF0000"/>
                </a:solidFill>
                <a:latin typeface="微软雅黑"/>
                <a:cs typeface="微软雅黑"/>
              </a:rPr>
              <a:t>场</a:t>
            </a:r>
            <a:r>
              <a:rPr dirty="0" sz="1600" spc="-5">
                <a:solidFill>
                  <a:srgbClr val="FF0000"/>
                </a:solidFill>
                <a:latin typeface="微软雅黑"/>
                <a:cs typeface="微软雅黑"/>
              </a:rPr>
              <a:t>景</a:t>
            </a:r>
            <a:r>
              <a:rPr dirty="0" sz="1600" spc="-5">
                <a:latin typeface="微软雅黑"/>
                <a:cs typeface="微软雅黑"/>
              </a:rPr>
              <a:t>安</a:t>
            </a:r>
            <a:r>
              <a:rPr dirty="0" sz="1600">
                <a:latin typeface="微软雅黑"/>
                <a:cs typeface="微软雅黑"/>
              </a:rPr>
              <a:t>装</a:t>
            </a:r>
            <a:r>
              <a:rPr dirty="0" sz="1600" spc="-5">
                <a:latin typeface="微软雅黑"/>
                <a:cs typeface="微软雅黑"/>
              </a:rPr>
              <a:t>需求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40146" y="6348780"/>
            <a:ext cx="1052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吊线</a:t>
            </a:r>
            <a:r>
              <a:rPr dirty="0" sz="1200" spc="-5">
                <a:latin typeface="微软雅黑"/>
                <a:cs typeface="微软雅黑"/>
              </a:rPr>
              <a:t>+</a:t>
            </a:r>
            <a:r>
              <a:rPr dirty="0" sz="1200">
                <a:latin typeface="微软雅黑"/>
                <a:cs typeface="微软雅黑"/>
              </a:rPr>
              <a:t>吸顶安装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66864" y="6348780"/>
            <a:ext cx="10528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吊杆</a:t>
            </a:r>
            <a:r>
              <a:rPr dirty="0" sz="1200" spc="-5">
                <a:latin typeface="微软雅黑"/>
                <a:cs typeface="微软雅黑"/>
              </a:rPr>
              <a:t>+</a:t>
            </a:r>
            <a:r>
              <a:rPr dirty="0" sz="1200">
                <a:latin typeface="微软雅黑"/>
                <a:cs typeface="微软雅黑"/>
              </a:rPr>
              <a:t>吸顶安装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73414" y="6348780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吸顶安装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916414" y="6348780"/>
            <a:ext cx="7874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嵌入式安装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1212194" y="6348780"/>
            <a:ext cx="63500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微软雅黑"/>
                <a:cs typeface="微软雅黑"/>
              </a:rPr>
              <a:t>直线拼接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359652" y="4587240"/>
            <a:ext cx="454151" cy="4800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377940" y="5067300"/>
            <a:ext cx="446532" cy="3078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537704" y="5073396"/>
            <a:ext cx="446531" cy="30937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562088" y="4639055"/>
            <a:ext cx="384048" cy="36728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8691371" y="5061203"/>
            <a:ext cx="446531" cy="3078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722864" y="5314200"/>
            <a:ext cx="737616" cy="81837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849111" y="5451347"/>
            <a:ext cx="1168908" cy="780287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52488" y="5451347"/>
            <a:ext cx="1170431" cy="78028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049768" y="5451347"/>
            <a:ext cx="1168907" cy="78028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9281159" y="5356859"/>
            <a:ext cx="1162811" cy="77571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14300" y="4764023"/>
            <a:ext cx="3390900" cy="0"/>
          </a:xfrm>
          <a:custGeom>
            <a:avLst/>
            <a:gdLst/>
            <a:ahLst/>
            <a:cxnLst/>
            <a:rect l="l" t="t" r="r" b="b"/>
            <a:pathLst>
              <a:path w="3390900" h="0">
                <a:moveTo>
                  <a:pt x="0" y="0"/>
                </a:moveTo>
                <a:lnTo>
                  <a:pt x="3390519" y="0"/>
                </a:lnTo>
              </a:path>
            </a:pathLst>
          </a:custGeom>
          <a:ln w="76200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14300" y="4427220"/>
            <a:ext cx="2324100" cy="336804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458211" y="4427220"/>
            <a:ext cx="1018032" cy="33680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15062" y="4860797"/>
            <a:ext cx="4312285" cy="0"/>
          </a:xfrm>
          <a:custGeom>
            <a:avLst/>
            <a:gdLst/>
            <a:ahLst/>
            <a:cxnLst/>
            <a:rect l="l" t="t" r="r" b="b"/>
            <a:pathLst>
              <a:path w="4312285" h="0">
                <a:moveTo>
                  <a:pt x="0" y="0"/>
                </a:moveTo>
                <a:lnTo>
                  <a:pt x="4311777" y="0"/>
                </a:lnTo>
              </a:path>
            </a:pathLst>
          </a:custGeom>
          <a:ln w="1981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390644" y="4863846"/>
            <a:ext cx="205104" cy="288290"/>
          </a:xfrm>
          <a:custGeom>
            <a:avLst/>
            <a:gdLst/>
            <a:ahLst/>
            <a:cxnLst/>
            <a:rect l="l" t="t" r="r" b="b"/>
            <a:pathLst>
              <a:path w="205104" h="288289">
                <a:moveTo>
                  <a:pt x="0" y="0"/>
                </a:moveTo>
                <a:lnTo>
                  <a:pt x="41296" y="5849"/>
                </a:lnTo>
                <a:lnTo>
                  <a:pt x="79765" y="22627"/>
                </a:lnTo>
                <a:lnTo>
                  <a:pt x="114583" y="49178"/>
                </a:lnTo>
                <a:lnTo>
                  <a:pt x="144922" y="84343"/>
                </a:lnTo>
                <a:lnTo>
                  <a:pt x="169957" y="126968"/>
                </a:lnTo>
                <a:lnTo>
                  <a:pt x="188862" y="175896"/>
                </a:lnTo>
                <a:lnTo>
                  <a:pt x="200811" y="229971"/>
                </a:lnTo>
                <a:lnTo>
                  <a:pt x="204977" y="288035"/>
                </a:lnTo>
              </a:path>
            </a:pathLst>
          </a:custGeom>
          <a:ln w="1981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390644" y="5132070"/>
            <a:ext cx="205104" cy="315595"/>
          </a:xfrm>
          <a:custGeom>
            <a:avLst/>
            <a:gdLst/>
            <a:ahLst/>
            <a:cxnLst/>
            <a:rect l="l" t="t" r="r" b="b"/>
            <a:pathLst>
              <a:path w="205104" h="315595">
                <a:moveTo>
                  <a:pt x="0" y="315467"/>
                </a:moveTo>
                <a:lnTo>
                  <a:pt x="71503" y="295733"/>
                </a:lnTo>
                <a:lnTo>
                  <a:pt x="103434" y="272400"/>
                </a:lnTo>
                <a:lnTo>
                  <a:pt x="132044" y="241279"/>
                </a:lnTo>
                <a:lnTo>
                  <a:pt x="156753" y="203258"/>
                </a:lnTo>
                <a:lnTo>
                  <a:pt x="176981" y="159229"/>
                </a:lnTo>
                <a:lnTo>
                  <a:pt x="192148" y="110083"/>
                </a:lnTo>
                <a:lnTo>
                  <a:pt x="201673" y="56709"/>
                </a:lnTo>
                <a:lnTo>
                  <a:pt x="204977" y="0"/>
                </a:lnTo>
              </a:path>
            </a:pathLst>
          </a:custGeom>
          <a:ln w="1981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185665" y="5172455"/>
            <a:ext cx="218440" cy="280035"/>
          </a:xfrm>
          <a:custGeom>
            <a:avLst/>
            <a:gdLst/>
            <a:ahLst/>
            <a:cxnLst/>
            <a:rect l="l" t="t" r="r" b="b"/>
            <a:pathLst>
              <a:path w="218439" h="280035">
                <a:moveTo>
                  <a:pt x="0" y="0"/>
                </a:moveTo>
                <a:lnTo>
                  <a:pt x="3510" y="50263"/>
                </a:lnTo>
                <a:lnTo>
                  <a:pt x="13630" y="97573"/>
                </a:lnTo>
                <a:lnTo>
                  <a:pt x="29746" y="141139"/>
                </a:lnTo>
                <a:lnTo>
                  <a:pt x="51243" y="180170"/>
                </a:lnTo>
                <a:lnTo>
                  <a:pt x="77506" y="213877"/>
                </a:lnTo>
                <a:lnTo>
                  <a:pt x="107921" y="241469"/>
                </a:lnTo>
                <a:lnTo>
                  <a:pt x="141874" y="262156"/>
                </a:lnTo>
                <a:lnTo>
                  <a:pt x="178749" y="275147"/>
                </a:lnTo>
                <a:lnTo>
                  <a:pt x="217932" y="279654"/>
                </a:lnTo>
              </a:path>
            </a:pathLst>
          </a:custGeom>
          <a:ln w="19812">
            <a:solidFill>
              <a:srgbClr val="7E7E7E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1005027" y="4454144"/>
            <a:ext cx="5416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微软雅黑"/>
                <a:cs typeface="微软雅黑"/>
              </a:rPr>
              <a:t>1.2M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723769" y="4472178"/>
            <a:ext cx="54165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 b="1">
                <a:solidFill>
                  <a:srgbClr val="FFFFFF"/>
                </a:solidFill>
                <a:latin typeface="微软雅黑"/>
                <a:cs typeface="微软雅黑"/>
              </a:rPr>
              <a:t>0.6M</a:t>
            </a:r>
            <a:endParaRPr sz="1600">
              <a:latin typeface="微软雅黑"/>
              <a:cs typeface="微软雅黑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854385" y="4952782"/>
            <a:ext cx="974286" cy="59339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810768" y="4949952"/>
            <a:ext cx="335280" cy="672465"/>
          </a:xfrm>
          <a:custGeom>
            <a:avLst/>
            <a:gdLst/>
            <a:ahLst/>
            <a:cxnLst/>
            <a:rect l="l" t="t" r="r" b="b"/>
            <a:pathLst>
              <a:path w="335280" h="672464">
                <a:moveTo>
                  <a:pt x="167640" y="0"/>
                </a:moveTo>
                <a:lnTo>
                  <a:pt x="335279" y="167640"/>
                </a:lnTo>
                <a:lnTo>
                  <a:pt x="251459" y="167640"/>
                </a:lnTo>
                <a:lnTo>
                  <a:pt x="251459" y="672084"/>
                </a:lnTo>
                <a:lnTo>
                  <a:pt x="83819" y="672084"/>
                </a:lnTo>
                <a:lnTo>
                  <a:pt x="83819" y="167640"/>
                </a:lnTo>
                <a:lnTo>
                  <a:pt x="0" y="167640"/>
                </a:lnTo>
                <a:lnTo>
                  <a:pt x="167640" y="0"/>
                </a:lnTo>
                <a:close/>
              </a:path>
            </a:pathLst>
          </a:custGeom>
          <a:ln w="12192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75310" y="3817111"/>
            <a:ext cx="112268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95"/>
              </a:spcBef>
              <a:buFont typeface="Wingdings"/>
              <a:buChar char=""/>
              <a:tabLst>
                <a:tab pos="299085" algn="l"/>
                <a:tab pos="299720" algn="l"/>
              </a:tabLst>
            </a:pPr>
            <a:r>
              <a:rPr dirty="0" sz="1600" spc="-5">
                <a:latin typeface="微软雅黑"/>
                <a:cs typeface="微软雅黑"/>
              </a:rPr>
              <a:t>无缝拼接</a:t>
            </a:r>
            <a:endParaRPr sz="16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3172" y="0"/>
            <a:ext cx="1082040" cy="1059180"/>
          </a:xfrm>
          <a:custGeom>
            <a:avLst/>
            <a:gdLst/>
            <a:ahLst/>
            <a:cxnLst/>
            <a:rect l="l" t="t" r="r" b="b"/>
            <a:pathLst>
              <a:path w="1082040" h="1059180">
                <a:moveTo>
                  <a:pt x="1082040" y="0"/>
                </a:moveTo>
                <a:lnTo>
                  <a:pt x="476275" y="0"/>
                </a:lnTo>
                <a:lnTo>
                  <a:pt x="0" y="1059179"/>
                </a:lnTo>
                <a:lnTo>
                  <a:pt x="605764" y="1059179"/>
                </a:lnTo>
                <a:lnTo>
                  <a:pt x="1082040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63167" y="0"/>
            <a:ext cx="512445" cy="594360"/>
          </a:xfrm>
          <a:custGeom>
            <a:avLst/>
            <a:gdLst/>
            <a:ahLst/>
            <a:cxnLst/>
            <a:rect l="l" t="t" r="r" b="b"/>
            <a:pathLst>
              <a:path w="512444" h="594360">
                <a:moveTo>
                  <a:pt x="512063" y="0"/>
                </a:moveTo>
                <a:lnTo>
                  <a:pt x="266623" y="0"/>
                </a:lnTo>
                <a:lnTo>
                  <a:pt x="0" y="594360"/>
                </a:lnTo>
                <a:lnTo>
                  <a:pt x="245440" y="594360"/>
                </a:lnTo>
                <a:lnTo>
                  <a:pt x="512063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0311" y="0"/>
            <a:ext cx="419100" cy="777240"/>
          </a:xfrm>
          <a:custGeom>
            <a:avLst/>
            <a:gdLst/>
            <a:ahLst/>
            <a:cxnLst/>
            <a:rect l="l" t="t" r="r" b="b"/>
            <a:pathLst>
              <a:path w="419100" h="777240">
                <a:moveTo>
                  <a:pt x="419100" y="0"/>
                </a:moveTo>
                <a:lnTo>
                  <a:pt x="348703" y="0"/>
                </a:lnTo>
                <a:lnTo>
                  <a:pt x="0" y="777239"/>
                </a:lnTo>
                <a:lnTo>
                  <a:pt x="70396" y="777239"/>
                </a:lnTo>
                <a:lnTo>
                  <a:pt x="419100" y="0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05788" y="226263"/>
            <a:ext cx="328104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u="none" spc="0">
                <a:solidFill>
                  <a:srgbClr val="0446A0"/>
                </a:solidFill>
              </a:rPr>
              <a:t>欧</a:t>
            </a:r>
            <a:r>
              <a:rPr dirty="0" u="none">
                <a:solidFill>
                  <a:srgbClr val="0446A0"/>
                </a:solidFill>
              </a:rPr>
              <a:t>普期待与您合作</a:t>
            </a:r>
          </a:p>
        </p:txBody>
      </p:sp>
      <p:sp>
        <p:nvSpPr>
          <p:cNvPr id="6" name="object 6"/>
          <p:cNvSpPr/>
          <p:nvPr/>
        </p:nvSpPr>
        <p:spPr>
          <a:xfrm>
            <a:off x="2583179" y="6195096"/>
            <a:ext cx="9608820" cy="375920"/>
          </a:xfrm>
          <a:custGeom>
            <a:avLst/>
            <a:gdLst/>
            <a:ahLst/>
            <a:cxnLst/>
            <a:rect l="l" t="t" r="r" b="b"/>
            <a:pathLst>
              <a:path w="9608820" h="375920">
                <a:moveTo>
                  <a:pt x="9608820" y="0"/>
                </a:moveTo>
                <a:lnTo>
                  <a:pt x="0" y="22773"/>
                </a:lnTo>
                <a:lnTo>
                  <a:pt x="9608819" y="375831"/>
                </a:lnTo>
                <a:lnTo>
                  <a:pt x="9608820" y="0"/>
                </a:lnTo>
                <a:close/>
              </a:path>
            </a:pathLst>
          </a:custGeom>
          <a:solidFill>
            <a:srgbClr val="212A3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80" y="6216396"/>
            <a:ext cx="12161520" cy="637540"/>
          </a:xfrm>
          <a:custGeom>
            <a:avLst/>
            <a:gdLst/>
            <a:ahLst/>
            <a:cxnLst/>
            <a:rect l="l" t="t" r="r" b="b"/>
            <a:pathLst>
              <a:path w="12161520" h="637540">
                <a:moveTo>
                  <a:pt x="2455545" y="0"/>
                </a:moveTo>
                <a:lnTo>
                  <a:pt x="0" y="637031"/>
                </a:lnTo>
                <a:lnTo>
                  <a:pt x="12161519" y="637031"/>
                </a:lnTo>
                <a:lnTo>
                  <a:pt x="12161520" y="634143"/>
                </a:lnTo>
                <a:lnTo>
                  <a:pt x="2455545" y="0"/>
                </a:lnTo>
                <a:close/>
              </a:path>
            </a:pathLst>
          </a:custGeom>
          <a:solidFill>
            <a:srgbClr val="16AFF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499360" y="6198108"/>
            <a:ext cx="9692640" cy="660400"/>
          </a:xfrm>
          <a:custGeom>
            <a:avLst/>
            <a:gdLst/>
            <a:ahLst/>
            <a:cxnLst/>
            <a:rect l="l" t="t" r="r" b="b"/>
            <a:pathLst>
              <a:path w="9692640" h="660400">
                <a:moveTo>
                  <a:pt x="1954530" y="0"/>
                </a:moveTo>
                <a:lnTo>
                  <a:pt x="137159" y="22859"/>
                </a:lnTo>
                <a:lnTo>
                  <a:pt x="0" y="22859"/>
                </a:lnTo>
                <a:lnTo>
                  <a:pt x="9646463" y="659890"/>
                </a:lnTo>
                <a:lnTo>
                  <a:pt x="9692640" y="659890"/>
                </a:lnTo>
                <a:lnTo>
                  <a:pt x="9692640" y="354329"/>
                </a:lnTo>
                <a:lnTo>
                  <a:pt x="1954530" y="0"/>
                </a:lnTo>
                <a:close/>
              </a:path>
            </a:pathLst>
          </a:custGeom>
          <a:solidFill>
            <a:srgbClr val="0046A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31550" y="1160232"/>
            <a:ext cx="2955570" cy="294102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32128" y="4473067"/>
            <a:ext cx="2997200" cy="1397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微软雅黑"/>
                <a:cs typeface="微软雅黑"/>
              </a:rPr>
              <a:t>何国明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ts val="4320"/>
              </a:lnSpc>
              <a:spcBef>
                <a:spcPts val="500"/>
              </a:spcBef>
            </a:pPr>
            <a:r>
              <a:rPr dirty="0" sz="1800">
                <a:latin typeface="微软雅黑"/>
                <a:cs typeface="微软雅黑"/>
              </a:rPr>
              <a:t>欧普照明工业行业应用负责人 联系方式</a:t>
            </a:r>
            <a:r>
              <a:rPr dirty="0" sz="1800" spc="-5">
                <a:latin typeface="微软雅黑"/>
                <a:cs typeface="微软雅黑"/>
              </a:rPr>
              <a:t>：19941868876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35110" y="1582292"/>
            <a:ext cx="2995930" cy="244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46AA"/>
                </a:solidFill>
                <a:latin typeface="微软雅黑"/>
                <a:cs typeface="微软雅黑"/>
              </a:rPr>
              <a:t>跨界</a:t>
            </a:r>
            <a:r>
              <a:rPr dirty="0" sz="2400" spc="-25">
                <a:solidFill>
                  <a:srgbClr val="0046AA"/>
                </a:solidFill>
                <a:latin typeface="微软雅黑"/>
                <a:cs typeface="微软雅黑"/>
              </a:rPr>
              <a:t> </a:t>
            </a:r>
            <a:r>
              <a:rPr dirty="0" sz="2400" spc="5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Cross</a:t>
            </a:r>
            <a:r>
              <a:rPr dirty="0" sz="2400" spc="-55" b="0">
                <a:solidFill>
                  <a:srgbClr val="0046AA"/>
                </a:solidFill>
                <a:latin typeface="Microsoft JhengHei Light"/>
                <a:cs typeface="Microsoft JhengHei Light"/>
              </a:rPr>
              <a:t> </a:t>
            </a:r>
            <a:r>
              <a:rPr dirty="0" sz="2400" spc="-2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Boarder</a:t>
            </a:r>
            <a:r>
              <a:rPr dirty="0" sz="2400" spc="-20">
                <a:solidFill>
                  <a:srgbClr val="0046AA"/>
                </a:solidFill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2400">
                <a:solidFill>
                  <a:srgbClr val="0046AA"/>
                </a:solidFill>
                <a:latin typeface="微软雅黑"/>
                <a:cs typeface="微软雅黑"/>
              </a:rPr>
              <a:t>合作</a:t>
            </a:r>
            <a:r>
              <a:rPr dirty="0" sz="2400" spc="-90">
                <a:solidFill>
                  <a:srgbClr val="0046AA"/>
                </a:solidFill>
                <a:latin typeface="微软雅黑"/>
                <a:cs typeface="微软雅黑"/>
              </a:rPr>
              <a:t> </a:t>
            </a:r>
            <a:r>
              <a:rPr dirty="0" sz="2400" spc="-5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Cooperation</a:t>
            </a:r>
            <a:r>
              <a:rPr dirty="0" sz="2400" spc="-50">
                <a:solidFill>
                  <a:srgbClr val="0046AA"/>
                </a:solidFill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0046AA"/>
                </a:solidFill>
                <a:latin typeface="微软雅黑"/>
                <a:cs typeface="微软雅黑"/>
              </a:rPr>
              <a:t>包容</a:t>
            </a:r>
            <a:r>
              <a:rPr dirty="0" sz="2400" spc="-55">
                <a:solidFill>
                  <a:srgbClr val="0046AA"/>
                </a:solidFill>
                <a:latin typeface="微软雅黑"/>
                <a:cs typeface="微软雅黑"/>
              </a:rPr>
              <a:t> </a:t>
            </a:r>
            <a:r>
              <a:rPr dirty="0" sz="2400" spc="10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Be</a:t>
            </a:r>
            <a:r>
              <a:rPr dirty="0" sz="2400" spc="-10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 </a:t>
            </a:r>
            <a:r>
              <a:rPr dirty="0" sz="2400" spc="15" b="0">
                <a:solidFill>
                  <a:srgbClr val="0046AA"/>
                </a:solidFill>
                <a:latin typeface="Microsoft JhengHei Light"/>
                <a:cs typeface="Microsoft JhengHei Light"/>
              </a:rPr>
              <a:t>Inclusive</a:t>
            </a:r>
            <a:r>
              <a:rPr dirty="0" sz="2400" spc="15">
                <a:solidFill>
                  <a:srgbClr val="0046AA"/>
                </a:solidFill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78423" y="1258824"/>
            <a:ext cx="2592324" cy="33421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3370" y="915161"/>
            <a:ext cx="11664950" cy="1905"/>
          </a:xfrm>
          <a:custGeom>
            <a:avLst/>
            <a:gdLst/>
            <a:ahLst/>
            <a:cxnLst/>
            <a:rect l="l" t="t" r="r" b="b"/>
            <a:pathLst>
              <a:path w="11664950" h="1905">
                <a:moveTo>
                  <a:pt x="11664950" y="1650"/>
                </a:moveTo>
                <a:lnTo>
                  <a:pt x="0" y="0"/>
                </a:lnTo>
              </a:path>
            </a:pathLst>
          </a:custGeom>
          <a:ln w="25908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10922634" y="6584695"/>
            <a:ext cx="31877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Arial Narrow"/>
                <a:cs typeface="Arial Narrow"/>
              </a:rPr>
              <a:t>- 46</a:t>
            </a:r>
            <a:r>
              <a:rPr dirty="0" sz="1200" spc="-85">
                <a:latin typeface="Arial Narrow"/>
                <a:cs typeface="Arial Narrow"/>
              </a:rPr>
              <a:t> </a:t>
            </a:r>
            <a:r>
              <a:rPr dirty="0" sz="1200">
                <a:latin typeface="Arial Narrow"/>
                <a:cs typeface="Arial Narrow"/>
              </a:rPr>
              <a:t>-</a:t>
            </a:r>
            <a:endParaRPr sz="1200">
              <a:latin typeface="Arial Narrow"/>
              <a:cs typeface="Arial Narrow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6400038"/>
            <a:ext cx="12192000" cy="1905"/>
          </a:xfrm>
          <a:custGeom>
            <a:avLst/>
            <a:gdLst/>
            <a:ahLst/>
            <a:cxnLst/>
            <a:rect l="l" t="t" r="r" b="b"/>
            <a:pathLst>
              <a:path w="12192000" h="1904">
                <a:moveTo>
                  <a:pt x="12192000" y="1587"/>
                </a:moveTo>
                <a:lnTo>
                  <a:pt x="0" y="0"/>
                </a:lnTo>
              </a:path>
            </a:pathLst>
          </a:custGeom>
          <a:ln w="25908">
            <a:solidFill>
              <a:srgbClr val="B6DC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0"/>
            <a:ext cx="1117092" cy="844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85343" y="6377754"/>
            <a:ext cx="5689600" cy="386080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90"/>
              </a:spcBef>
            </a:pPr>
            <a:r>
              <a:rPr dirty="0" sz="750" b="1">
                <a:solidFill>
                  <a:srgbClr val="BADFE2"/>
                </a:solidFill>
                <a:latin typeface="Arial"/>
                <a:cs typeface="Arial"/>
              </a:rPr>
              <a:t>OPPLE.COM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400" spc="0">
                <a:latin typeface="宋体"/>
                <a:cs typeface="宋体"/>
              </a:rPr>
              <a:t>第九届</a:t>
            </a:r>
            <a:r>
              <a:rPr dirty="0" sz="1400">
                <a:latin typeface="宋体"/>
                <a:cs typeface="宋体"/>
              </a:rPr>
              <a:t>国</a:t>
            </a:r>
            <a:r>
              <a:rPr dirty="0" sz="1400" spc="-10">
                <a:latin typeface="宋体"/>
                <a:cs typeface="宋体"/>
              </a:rPr>
              <a:t>际</a:t>
            </a:r>
            <a:r>
              <a:rPr dirty="0" sz="1400" spc="0">
                <a:latin typeface="宋体"/>
                <a:cs typeface="宋体"/>
              </a:rPr>
              <a:t>卓</a:t>
            </a:r>
            <a:r>
              <a:rPr dirty="0" sz="1400">
                <a:latin typeface="宋体"/>
                <a:cs typeface="宋体"/>
              </a:rPr>
              <a:t>越</a:t>
            </a:r>
            <a:r>
              <a:rPr dirty="0" sz="1400" spc="-10">
                <a:latin typeface="宋体"/>
                <a:cs typeface="宋体"/>
              </a:rPr>
              <a:t>运</a:t>
            </a:r>
            <a:r>
              <a:rPr dirty="0" sz="1400" spc="0">
                <a:latin typeface="宋体"/>
                <a:cs typeface="宋体"/>
              </a:rPr>
              <a:t>营</a:t>
            </a:r>
            <a:r>
              <a:rPr dirty="0" sz="1400">
                <a:latin typeface="宋体"/>
                <a:cs typeface="宋体"/>
              </a:rPr>
              <a:t>大</a:t>
            </a:r>
            <a:r>
              <a:rPr dirty="0" sz="1400" spc="0">
                <a:latin typeface="宋体"/>
                <a:cs typeface="宋体"/>
              </a:rPr>
              <a:t>会</a:t>
            </a:r>
            <a:r>
              <a:rPr dirty="0" sz="1400" spc="-15">
                <a:latin typeface="宋体"/>
                <a:cs typeface="宋体"/>
              </a:rPr>
              <a:t> </a:t>
            </a:r>
            <a:r>
              <a:rPr dirty="0" sz="1200">
                <a:latin typeface="Arial"/>
                <a:cs typeface="Arial"/>
              </a:rPr>
              <a:t>The</a:t>
            </a:r>
            <a:r>
              <a:rPr dirty="0" sz="1200" spc="-1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9</a:t>
            </a:r>
            <a:r>
              <a:rPr dirty="0" baseline="24305" sz="1200">
                <a:latin typeface="Arial"/>
                <a:cs typeface="Arial"/>
              </a:rPr>
              <a:t>th</a:t>
            </a:r>
            <a:r>
              <a:rPr dirty="0" baseline="24305" sz="1200" spc="15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International</a:t>
            </a:r>
            <a:r>
              <a:rPr dirty="0" sz="1200" spc="-30">
                <a:latin typeface="Arial"/>
                <a:cs typeface="Arial"/>
              </a:rPr>
              <a:t> </a:t>
            </a:r>
            <a:r>
              <a:rPr dirty="0" sz="1200">
                <a:latin typeface="Arial"/>
                <a:cs typeface="Arial"/>
              </a:rPr>
              <a:t>Business</a:t>
            </a:r>
            <a:r>
              <a:rPr dirty="0" sz="1200" spc="-15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Excellence</a:t>
            </a:r>
            <a:r>
              <a:rPr dirty="0" sz="1200" spc="-20">
                <a:latin typeface="Arial"/>
                <a:cs typeface="Arial"/>
              </a:rPr>
              <a:t> </a:t>
            </a:r>
            <a:r>
              <a:rPr dirty="0" sz="1200" spc="-5">
                <a:latin typeface="Arial"/>
                <a:cs typeface="Arial"/>
              </a:rPr>
              <a:t>Conference</a:t>
            </a:r>
            <a:endParaRPr sz="12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54554" y="66243"/>
            <a:ext cx="2463800" cy="3917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none" sz="2400" spc="-5"/>
              <a:t>欧普期待与您合作</a:t>
            </a:r>
            <a:endParaRPr sz="2400"/>
          </a:p>
        </p:txBody>
      </p:sp>
      <p:sp>
        <p:nvSpPr>
          <p:cNvPr id="8" name="object 8"/>
          <p:cNvSpPr txBox="1"/>
          <p:nvPr/>
        </p:nvSpPr>
        <p:spPr>
          <a:xfrm>
            <a:off x="6578854" y="2451608"/>
            <a:ext cx="2996565" cy="2444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46AA"/>
                </a:solidFill>
                <a:latin typeface="微软雅黑"/>
                <a:cs typeface="微软雅黑"/>
              </a:rPr>
              <a:t>跨界</a:t>
            </a:r>
            <a:r>
              <a:rPr dirty="0" sz="2400" spc="-50">
                <a:solidFill>
                  <a:srgbClr val="0046AA"/>
                </a:solidFill>
                <a:latin typeface="微软雅黑"/>
                <a:cs typeface="微软雅黑"/>
              </a:rPr>
              <a:t> </a:t>
            </a:r>
            <a:r>
              <a:rPr dirty="0" sz="2400" spc="55" b="0">
                <a:solidFill>
                  <a:srgbClr val="0046AA"/>
                </a:solidFill>
                <a:latin typeface="Microsoft JhengHei Light"/>
                <a:cs typeface="Microsoft JhengHei Light"/>
              </a:rPr>
              <a:t>Cross</a:t>
            </a:r>
            <a:r>
              <a:rPr dirty="0" sz="2400" spc="-65" b="0">
                <a:solidFill>
                  <a:srgbClr val="0046AA"/>
                </a:solidFill>
                <a:latin typeface="Microsoft JhengHei Light"/>
                <a:cs typeface="Microsoft JhengHei Light"/>
              </a:rPr>
              <a:t> </a:t>
            </a:r>
            <a:r>
              <a:rPr dirty="0" sz="2400" spc="-15" b="0">
                <a:solidFill>
                  <a:srgbClr val="0046AA"/>
                </a:solidFill>
                <a:latin typeface="Microsoft JhengHei Light"/>
                <a:cs typeface="Microsoft JhengHei Light"/>
              </a:rPr>
              <a:t>Boarder</a:t>
            </a:r>
            <a:r>
              <a:rPr dirty="0" sz="2400" spc="-15">
                <a:solidFill>
                  <a:srgbClr val="0046AA"/>
                </a:solidFill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89"/>
              </a:spcBef>
            </a:pPr>
            <a:r>
              <a:rPr dirty="0" sz="2400">
                <a:solidFill>
                  <a:srgbClr val="0046AA"/>
                </a:solidFill>
                <a:latin typeface="微软雅黑"/>
                <a:cs typeface="微软雅黑"/>
              </a:rPr>
              <a:t>合作</a:t>
            </a:r>
            <a:r>
              <a:rPr dirty="0" sz="2400" spc="-90">
                <a:solidFill>
                  <a:srgbClr val="0046AA"/>
                </a:solidFill>
                <a:latin typeface="微软雅黑"/>
                <a:cs typeface="微软雅黑"/>
              </a:rPr>
              <a:t> </a:t>
            </a:r>
            <a:r>
              <a:rPr dirty="0" sz="2400" spc="-5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Cooperation</a:t>
            </a:r>
            <a:r>
              <a:rPr dirty="0" sz="2400" spc="-50">
                <a:solidFill>
                  <a:srgbClr val="0046AA"/>
                </a:solidFill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0046AA"/>
                </a:solidFill>
                <a:latin typeface="微软雅黑"/>
                <a:cs typeface="微软雅黑"/>
              </a:rPr>
              <a:t>包容</a:t>
            </a:r>
            <a:r>
              <a:rPr dirty="0" sz="2400" spc="-40">
                <a:solidFill>
                  <a:srgbClr val="0046AA"/>
                </a:solidFill>
                <a:latin typeface="微软雅黑"/>
                <a:cs typeface="微软雅黑"/>
              </a:rPr>
              <a:t> </a:t>
            </a:r>
            <a:r>
              <a:rPr dirty="0" sz="2400" spc="10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Be</a:t>
            </a:r>
            <a:r>
              <a:rPr dirty="0" sz="2400" spc="-8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 </a:t>
            </a:r>
            <a:r>
              <a:rPr dirty="0" sz="2400" spc="10" b="0">
                <a:solidFill>
                  <a:srgbClr val="0046AA"/>
                </a:solidFill>
                <a:latin typeface="Microsoft JhengHei Light"/>
                <a:cs typeface="Microsoft JhengHei Light"/>
              </a:rPr>
              <a:t>Inclusive</a:t>
            </a:r>
            <a:r>
              <a:rPr dirty="0" sz="2400" spc="10">
                <a:solidFill>
                  <a:srgbClr val="0046AA"/>
                </a:solidFill>
                <a:latin typeface="宋体"/>
                <a:cs typeface="宋体"/>
              </a:rPr>
              <a:t>！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84348" y="2147316"/>
            <a:ext cx="2593848" cy="33421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89938" y="4047845"/>
            <a:ext cx="2060575" cy="1456690"/>
          </a:xfrm>
          <a:prstGeom prst="rect">
            <a:avLst/>
          </a:prstGeom>
        </p:spPr>
        <p:txBody>
          <a:bodyPr wrap="square" lIns="0" tIns="96520" rIns="0" bIns="0" rtlCol="0" vert="horz">
            <a:spAutoFit/>
          </a:bodyPr>
          <a:lstStyle/>
          <a:p>
            <a:pPr marL="39370">
              <a:lnSpc>
                <a:spcPct val="100000"/>
              </a:lnSpc>
              <a:spcBef>
                <a:spcPts val="760"/>
              </a:spcBef>
            </a:pPr>
            <a:r>
              <a:rPr dirty="0" sz="1100" spc="-5">
                <a:solidFill>
                  <a:srgbClr val="FFFFFF"/>
                </a:solidFill>
                <a:latin typeface="微软雅黑"/>
                <a:cs typeface="微软雅黑"/>
              </a:rPr>
              <a:t>OPPLE LIGHTING </a:t>
            </a:r>
            <a:r>
              <a:rPr dirty="0" sz="1100">
                <a:solidFill>
                  <a:srgbClr val="FFFFFF"/>
                </a:solidFill>
                <a:latin typeface="微软雅黑"/>
                <a:cs typeface="微软雅黑"/>
              </a:rPr>
              <a:t>CO.,</a:t>
            </a:r>
            <a:r>
              <a:rPr dirty="0" sz="1100" spc="-6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100" spc="-5">
                <a:solidFill>
                  <a:srgbClr val="FFFFFF"/>
                </a:solidFill>
                <a:latin typeface="微软雅黑"/>
                <a:cs typeface="微软雅黑"/>
              </a:rPr>
              <a:t>LTD.</a:t>
            </a:r>
            <a:endParaRPr sz="1100">
              <a:latin typeface="微软雅黑"/>
              <a:cs typeface="微软雅黑"/>
            </a:endParaRPr>
          </a:p>
          <a:p>
            <a:pPr marL="39370">
              <a:lnSpc>
                <a:spcPct val="100000"/>
              </a:lnSpc>
              <a:spcBef>
                <a:spcPts val="660"/>
              </a:spcBef>
            </a:pPr>
            <a:r>
              <a:rPr dirty="0" sz="1100">
                <a:solidFill>
                  <a:srgbClr val="FFFFFF"/>
                </a:solidFill>
                <a:latin typeface="微软雅黑"/>
                <a:cs typeface="微软雅黑"/>
              </a:rPr>
              <a:t>欧普照明股份有限公司</a:t>
            </a:r>
            <a:endParaRPr sz="11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FFFFFF"/>
                </a:solidFill>
                <a:latin typeface="微软雅黑"/>
                <a:cs typeface="微软雅黑"/>
              </a:rPr>
              <a:t>T:  </a:t>
            </a:r>
            <a:r>
              <a:rPr dirty="0" sz="1100" spc="-5">
                <a:solidFill>
                  <a:srgbClr val="FFFFFF"/>
                </a:solidFill>
                <a:latin typeface="微软雅黑"/>
                <a:cs typeface="微软雅黑"/>
              </a:rPr>
              <a:t>+86 21 3855</a:t>
            </a:r>
            <a:r>
              <a:rPr dirty="0" sz="1100" spc="-55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100" spc="-5">
                <a:solidFill>
                  <a:srgbClr val="FFFFFF"/>
                </a:solidFill>
                <a:latin typeface="微软雅黑"/>
                <a:cs typeface="微软雅黑"/>
              </a:rPr>
              <a:t>0000</a:t>
            </a:r>
            <a:endParaRPr sz="1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100">
                <a:solidFill>
                  <a:srgbClr val="FFFFFF"/>
                </a:solidFill>
                <a:latin typeface="微软雅黑"/>
                <a:cs typeface="微软雅黑"/>
              </a:rPr>
              <a:t>E:</a:t>
            </a:r>
            <a:r>
              <a:rPr dirty="0" sz="1100" spc="30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100" spc="-5">
                <a:solidFill>
                  <a:srgbClr val="FFFFFF"/>
                </a:solidFill>
                <a:latin typeface="微软雅黑"/>
                <a:cs typeface="微软雅黑"/>
                <a:hlinkClick r:id="rId2"/>
              </a:rPr>
              <a:t>intersales@opple.com</a:t>
            </a:r>
            <a:endParaRPr sz="11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dirty="0" sz="1100">
                <a:solidFill>
                  <a:srgbClr val="FFFFFF"/>
                </a:solidFill>
                <a:latin typeface="微软雅黑"/>
                <a:cs typeface="微软雅黑"/>
              </a:rPr>
              <a:t>投资人联络:</a:t>
            </a:r>
            <a:r>
              <a:rPr dirty="0" sz="1100" spc="-5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dirty="0" sz="1100" spc="-5">
                <a:solidFill>
                  <a:srgbClr val="FFFFFF"/>
                </a:solidFill>
                <a:latin typeface="微软雅黑"/>
                <a:cs typeface="微软雅黑"/>
                <a:hlinkClick r:id="rId3"/>
              </a:rPr>
              <a:t>public@opple.com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59808" y="4314444"/>
            <a:ext cx="1210055" cy="12115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429255" y="1444752"/>
            <a:ext cx="2921508" cy="19156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龙时富</dc:creator>
  <dc:title>081402</dc:title>
  <dcterms:created xsi:type="dcterms:W3CDTF">2023-07-25T13:17:22Z</dcterms:created>
  <dcterms:modified xsi:type="dcterms:W3CDTF">2023-07-25T13:17:22Z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2023-07-25T00:00:00Z</vt:filetime>
  </property>
</Properties>
</file>