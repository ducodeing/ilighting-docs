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3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9" r:id="rId3"/>
    <p:sldId id="257" r:id="rId4"/>
    <p:sldId id="283" r:id="rId5"/>
    <p:sldId id="289" r:id="rId6"/>
    <p:sldId id="273" r:id="rId7"/>
    <p:sldId id="287" r:id="rId8"/>
    <p:sldId id="288" r:id="rId9"/>
    <p:sldId id="290" r:id="rId10"/>
    <p:sldId id="262" r:id="rId11"/>
    <p:sldId id="269" r:id="rId12"/>
    <p:sldId id="270" r:id="rId13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charset="0"/>
        <a:ea typeface="宋体" charset="0"/>
        <a:cs typeface="Times New Roman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charset="0"/>
        <a:ea typeface="宋体" charset="0"/>
        <a:cs typeface="Times New Roman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charset="0"/>
        <a:ea typeface="宋体" charset="0"/>
        <a:cs typeface="Times New Roman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charset="0"/>
        <a:ea typeface="宋体" charset="0"/>
        <a:cs typeface="Times New Roman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charset="0"/>
        <a:ea typeface="宋体" charset="0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charset="0"/>
        <a:ea typeface="宋体" charset="0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charset="0"/>
        <a:ea typeface="宋体" charset="0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charset="0"/>
        <a:ea typeface="宋体" charset="0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Times New Roman" charset="0"/>
        <a:ea typeface="宋体" charset="0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7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24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ang Chen(陈亮)" initials="LC" lastIdx="0" clrIdx="0">
    <p:extLst>
      <p:ext uri="{19B8F6BF-5375-455C-9EA6-DF929625EA0E}">
        <p15:presenceInfo xmlns:p15="http://schemas.microsoft.com/office/powerpoint/2012/main" userId="S-1-5-21-289409720-3354185938-74613017-671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6A6A6"/>
    <a:srgbClr val="D8D8D8"/>
    <a:srgbClr val="0046AA"/>
    <a:srgbClr val="FF5050"/>
    <a:srgbClr val="028452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195" autoAdjust="0"/>
  </p:normalViewPr>
  <p:slideViewPr>
    <p:cSldViewPr>
      <p:cViewPr varScale="1">
        <p:scale>
          <a:sx n="95" d="100"/>
          <a:sy n="95" d="100"/>
        </p:scale>
        <p:origin x="648" y="84"/>
      </p:cViewPr>
      <p:guideLst>
        <p:guide orient="horz" pos="157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5" d="100"/>
          <a:sy n="125" d="100"/>
        </p:scale>
        <p:origin x="0" y="0"/>
      </p:cViewPr>
      <p:guideLst>
        <p:guide orient="horz" pos="2824"/>
        <p:guide pos="2160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ftr" idx="2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6524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 sz="1200">
                <a:latin typeface="Calibri" charset="0"/>
                <a:ea typeface="宋体" charset="0"/>
                <a:cs typeface="Calibri" charset="0"/>
              </a:rPr>
              <a:t>2023/12/7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9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" name="文本框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3960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eaLnBrk="1" fontAlgn="auto" latinLnBrk="0" hangingPunct="1">
      <a:buNone/>
      <a:defRPr sz="1200" kern="1200">
        <a:solidFill>
          <a:schemeClr val="tx1"/>
        </a:solidFill>
        <a:latin typeface="Calibri" charset="0"/>
        <a:ea typeface="宋体" charset="0"/>
        <a:cs typeface="Calibri" charset="0"/>
      </a:defRPr>
    </a:lvl1pPr>
    <a:lvl2pPr marL="457200" indent="0" algn="l" defTabSz="914400" eaLnBrk="1" fontAlgn="auto" latinLnBrk="0" hangingPunct="1">
      <a:buNone/>
      <a:defRPr sz="1200" kern="1200">
        <a:solidFill>
          <a:schemeClr val="tx1"/>
        </a:solidFill>
        <a:latin typeface="Calibri" charset="0"/>
        <a:ea typeface="宋体" charset="0"/>
        <a:cs typeface="Calibri" charset="0"/>
      </a:defRPr>
    </a:lvl2pPr>
    <a:lvl3pPr marL="914400" indent="0" algn="l" defTabSz="914400" eaLnBrk="1" fontAlgn="auto" latinLnBrk="0" hangingPunct="1">
      <a:buNone/>
      <a:defRPr sz="1200" kern="1200">
        <a:solidFill>
          <a:schemeClr val="tx1"/>
        </a:solidFill>
        <a:latin typeface="Calibri" charset="0"/>
        <a:ea typeface="宋体" charset="0"/>
        <a:cs typeface="Calibri" charset="0"/>
      </a:defRPr>
    </a:lvl3pPr>
    <a:lvl4pPr marL="1371600" indent="0" algn="l" defTabSz="914400" eaLnBrk="1" fontAlgn="auto" latinLnBrk="0" hangingPunct="1">
      <a:buNone/>
      <a:defRPr sz="1200" kern="1200">
        <a:solidFill>
          <a:schemeClr val="tx1"/>
        </a:solidFill>
        <a:latin typeface="Calibri" charset="0"/>
        <a:ea typeface="宋体" charset="0"/>
        <a:cs typeface="Calibri" charset="0"/>
      </a:defRPr>
    </a:lvl4pPr>
    <a:lvl5pPr marL="1828800" indent="0" algn="l" defTabSz="914400" eaLnBrk="1" fontAlgn="auto" latinLnBrk="0" hangingPunct="1">
      <a:buNone/>
      <a:defRPr sz="1200" kern="1200">
        <a:solidFill>
          <a:schemeClr val="tx1"/>
        </a:solidFill>
        <a:latin typeface="Calibri" charset="0"/>
        <a:ea typeface="宋体" charset="0"/>
        <a:cs typeface="Calibri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charset="0"/>
        <a:ea typeface="宋体" charset="0"/>
        <a:cs typeface="Calibri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charset="0"/>
        <a:ea typeface="宋体" charset="0"/>
        <a:cs typeface="Calibri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charset="0"/>
        <a:ea typeface="宋体" charset="0"/>
        <a:cs typeface="Calibri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charset="0"/>
        <a:ea typeface="宋体" charset="0"/>
        <a:cs typeface="Calibri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981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2</a:t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17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118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0792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3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847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4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95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5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3325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6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50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7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611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8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2253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9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9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5081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10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171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11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177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80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1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96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66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532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761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71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469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12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187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623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"/>
          <p:cNvSpPr>
            <a:spLocks noGrp="1"/>
          </p:cNvSpPr>
          <p:nvPr>
            <p:ph type="body"/>
          </p:nvPr>
        </p:nvSpPr>
        <p:spPr>
          <a:xfrm>
            <a:off x="1714480" y="1000114"/>
            <a:ext cx="7020000" cy="185738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en-US" altLang="zh-CN" sz="1600" b="0" i="0" kern="2200" cap="all" spc="0" baseline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Image area: To place an image, drag and drop selected content directly into the image area box, or by accessing the insert drop down menu</a:t>
            </a:r>
            <a:endParaRPr lang="zh-CN" altLang="en-US" sz="1600" b="0" i="0" kern="2200" cap="all" spc="0" baseline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body"/>
          </p:nvPr>
        </p:nvSpPr>
        <p:spPr>
          <a:xfrm>
            <a:off x="1714480" y="2928940"/>
            <a:ext cx="7020000" cy="714380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>
              <a:lnSpc>
                <a:spcPts val="3200"/>
              </a:lnSpc>
            </a:pPr>
            <a:r>
              <a:rPr lang="en-US" altLang="zh-CN" sz="2800" b="0" i="0" kern="1200" cap="all" spc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presentation title</a:t>
            </a:r>
            <a:endParaRPr lang="zh-CN" altLang="en-US" sz="2800" b="0" i="0" kern="1200" cap="all" spc="0" baseline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文本框"/>
          <p:cNvSpPr>
            <a:spLocks noGrp="1"/>
          </p:cNvSpPr>
          <p:nvPr>
            <p:ph type="body" idx="10"/>
          </p:nvPr>
        </p:nvSpPr>
        <p:spPr>
          <a:xfrm>
            <a:off x="1714480" y="3714758"/>
            <a:ext cx="7020000" cy="107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en-US" altLang="zh-CN" sz="1600" b="1" i="0" kern="1200" cap="all" spc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text styles</a:t>
            </a:r>
            <a:endParaRPr lang="zh-CN" altLang="en-US" sz="1600" b="1" i="0" kern="1200" cap="all" spc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7" name="图片" descr="E:\work\2014 OPPLE  VI  Brief（中国区）\新建文件夹 (2)\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7584" y="267494"/>
            <a:ext cx="1214446" cy="54176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8" name="文本框"/>
          <p:cNvSpPr>
            <a:spLocks noGrp="1"/>
          </p:cNvSpPr>
          <p:nvPr>
            <p:ph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800" b="0" i="0" u="none" strike="noStrike" kern="1200" cap="none" spc="0" baseline="0">
                <a:solidFill>
                  <a:srgbClr val="000000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800">
              <a:solidFill>
                <a:srgbClr val="00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>
            <a:off x="827584" y="4762915"/>
            <a:ext cx="731006" cy="2152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chemeClr val="accent1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900" b="1" i="0" u="none" strike="noStrike" kern="1200" cap="none" spc="0" baseline="0">
              <a:solidFill>
                <a:schemeClr val="accent1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438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/>
          </p:nvPr>
        </p:nvSpPr>
        <p:spPr>
          <a:xfrm>
            <a:off x="431999" y="450000"/>
            <a:ext cx="8280000" cy="107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2400" b="1" i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TITLE STYLE</a:t>
            </a:r>
            <a:endParaRPr lang="zh-CN" altLang="en-US" sz="2400" b="1" i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直线"/>
          <p:cNvSpPr>
            <a:spLocks/>
          </p:cNvSpPr>
          <p:nvPr/>
        </p:nvSpPr>
        <p:spPr>
          <a:xfrm>
            <a:off x="431999" y="843558"/>
            <a:ext cx="828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431999" y="1674000"/>
            <a:ext cx="8280000" cy="4752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r>
              <a:rPr lang="en-US" altLang="zh-CN" sz="1600">
                <a:solidFill>
                  <a:srgbClr val="002060"/>
                </a:solidFill>
              </a:rPr>
              <a:t>Header and First Level Content</a:t>
            </a:r>
          </a:p>
          <a:p>
            <a:pPr lvl="1"/>
            <a:r>
              <a:rPr lang="en-US" altLang="zh-CN" sz="1600">
                <a:solidFill>
                  <a:srgbClr val="002060"/>
                </a:solidFill>
              </a:rPr>
              <a:t>Second Level Content</a:t>
            </a:r>
          </a:p>
          <a:p>
            <a:pPr lvl="2"/>
            <a:r>
              <a:rPr lang="en-US" altLang="zh-CN" sz="1600">
                <a:solidFill>
                  <a:srgbClr val="002060"/>
                </a:solidFill>
              </a:rPr>
              <a:t>Third Level Content</a:t>
            </a:r>
          </a:p>
          <a:p>
            <a:pPr lvl="3"/>
            <a:r>
              <a:rPr lang="en-US" altLang="zh-CN" sz="1400">
                <a:solidFill>
                  <a:srgbClr val="002060"/>
                </a:solidFill>
              </a:rPr>
              <a:t>Fourth Level Content</a:t>
            </a:r>
          </a:p>
          <a:p>
            <a:pPr lvl="4"/>
            <a:r>
              <a:rPr lang="en-US" altLang="zh-CN" sz="1400">
                <a:solidFill>
                  <a:srgbClr val="002060"/>
                </a:solidFill>
              </a:rPr>
              <a:t>Fifth Level Content</a:t>
            </a:r>
            <a:endParaRPr lang="zh-CN" altLang="en-US" sz="1400">
              <a:solidFill>
                <a:srgbClr val="002060"/>
              </a:solidFill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800" b="0" i="0" u="none" strike="noStrike" kern="1200" cap="none" spc="0" baseline="0">
                <a:solidFill>
                  <a:srgbClr val="000000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800">
              <a:solidFill>
                <a:srgbClr val="00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>
            <a:off x="431999" y="4762915"/>
            <a:ext cx="639566" cy="2152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chemeClr val="accent1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900" b="1" i="0" u="none" strike="noStrike" kern="1200" cap="none" spc="0" baseline="0">
              <a:solidFill>
                <a:schemeClr val="accent1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688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"/>
          <p:cNvSpPr>
            <a:spLocks noGrp="1"/>
          </p:cNvSpPr>
          <p:nvPr>
            <p:ph type="body" idx="10"/>
          </p:nvPr>
        </p:nvSpPr>
        <p:spPr>
          <a:xfrm>
            <a:off x="431999" y="1674000"/>
            <a:ext cx="2664137" cy="107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>
              <a:lnSpc>
                <a:spcPts val="2000"/>
              </a:lnSpc>
            </a:pPr>
            <a:r>
              <a:rPr lang="en-US" altLang="zh-CN" sz="1600" b="1" i="0" cap="all" spc="-5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text styles</a:t>
            </a:r>
            <a:endParaRPr lang="zh-CN" altLang="en-US" sz="1600" b="1" i="0" cap="all" spc="-5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title"/>
          </p:nvPr>
        </p:nvSpPr>
        <p:spPr>
          <a:xfrm>
            <a:off x="431999" y="450000"/>
            <a:ext cx="8280000" cy="107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2400" b="1" i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CLICK TO EDIT MASTER TITLE STYLE</a:t>
            </a:r>
            <a:endParaRPr lang="zh-CN" altLang="en-US" sz="2400" b="1" i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文本框"/>
          <p:cNvSpPr>
            <a:spLocks noGrp="1"/>
          </p:cNvSpPr>
          <p:nvPr>
            <p:ph type="body" idx="1"/>
          </p:nvPr>
        </p:nvSpPr>
        <p:spPr>
          <a:xfrm>
            <a:off x="3240000" y="1674000"/>
            <a:ext cx="5472000" cy="4752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r>
              <a:rPr lang="en-US" altLang="zh-CN" baseline="0">
                <a:latin typeface="Arial" pitchFamily="34" charset="0"/>
                <a:cs typeface="Arial" pitchFamily="34" charset="0"/>
              </a:rPr>
              <a:t>Header and First Level Content</a:t>
            </a:r>
          </a:p>
          <a:p>
            <a:pPr lvl="1"/>
            <a:r>
              <a:rPr lang="en-US" altLang="zh-CN">
                <a:latin typeface="Arial" pitchFamily="34" charset="0"/>
                <a:cs typeface="Arial" pitchFamily="34" charset="0"/>
              </a:rPr>
              <a:t>Second Level Content</a:t>
            </a:r>
          </a:p>
          <a:p>
            <a:pPr lvl="2"/>
            <a:r>
              <a:rPr lang="en-US" altLang="zh-CN">
                <a:latin typeface="Arial" pitchFamily="34" charset="0"/>
                <a:cs typeface="Arial" pitchFamily="34" charset="0"/>
              </a:rPr>
              <a:t>Third Level Content</a:t>
            </a:r>
          </a:p>
          <a:p>
            <a:pPr lvl="3"/>
            <a:r>
              <a:rPr lang="en-US" altLang="zh-CN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Fourth Level Content</a:t>
            </a:r>
          </a:p>
          <a:p>
            <a:pPr lvl="4"/>
            <a:r>
              <a:rPr lang="en-US" altLang="zh-CN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Fifth Level Content</a:t>
            </a:r>
            <a:endParaRPr lang="zh-CN" altLang="en-US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矩形"/>
          <p:cNvSpPr>
            <a:spLocks/>
          </p:cNvSpPr>
          <p:nvPr/>
        </p:nvSpPr>
        <p:spPr>
          <a:xfrm>
            <a:off x="7308304" y="73663"/>
            <a:ext cx="1502591" cy="20574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1" i="0" u="none" strike="noStrike" kern="1200" cap="none" spc="0" baseline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LED</a:t>
            </a:r>
            <a:r>
              <a:rPr lang="zh-CN" altLang="en-US" sz="800" b="1" i="0" u="none" strike="noStrike" kern="1200" cap="none" spc="0" baseline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天棚灯</a:t>
            </a:r>
            <a:r>
              <a:rPr lang="en-US" altLang="zh-CN" sz="800" b="1" i="0" u="none" strike="noStrike" kern="1200" cap="none" spc="0" baseline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- </a:t>
            </a:r>
            <a:r>
              <a:rPr lang="zh-CN" altLang="en-US" sz="800" b="1" i="0" u="none" strike="noStrike" kern="1200" cap="none" spc="0" baseline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鹏晖</a:t>
            </a:r>
            <a:r>
              <a:rPr lang="en-US" altLang="zh-CN" sz="800" b="1" i="0" u="none" strike="noStrike" kern="1200" cap="none" spc="0" baseline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Ⅱ-</a:t>
            </a:r>
            <a:r>
              <a:rPr lang="zh-CN" altLang="en-US" sz="800" b="1" i="0" u="none" strike="noStrike" kern="1200" cap="none" spc="0" baseline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上市介绍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Calibri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>
            <a:off x="431999" y="4762915"/>
            <a:ext cx="639566" cy="2152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chemeClr val="accent1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900" b="1" i="0" u="none" strike="noStrike" kern="1200" cap="none" spc="0" baseline="0">
              <a:solidFill>
                <a:schemeClr val="accent1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  <p:sp>
        <p:nvSpPr>
          <p:cNvPr id="42" name="直线"/>
          <p:cNvSpPr>
            <a:spLocks/>
          </p:cNvSpPr>
          <p:nvPr/>
        </p:nvSpPr>
        <p:spPr>
          <a:xfrm>
            <a:off x="431999" y="843558"/>
            <a:ext cx="828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213133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"/>
          <p:cNvSpPr>
            <a:spLocks/>
          </p:cNvSpPr>
          <p:nvPr/>
        </p:nvSpPr>
        <p:spPr>
          <a:xfrm>
            <a:off x="884014" y="3100431"/>
            <a:ext cx="7802786" cy="542887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round/>
          </a:ln>
        </p:spPr>
        <p:txBody>
          <a:bodyPr vert="horz" wrap="square" lIns="144000" tIns="72000" rIns="144000" bIns="7200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ld" charset="0"/>
              </a:rPr>
              <a:t>OPPLE LIGHTING CO., LTD.  </a:t>
            </a:r>
            <a:r>
              <a:rPr lang="zh-CN" altLang="en-US" sz="800" b="0" i="0" u="none" strike="noStrike" kern="1200" cap="none" spc="0" baseline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Lantinghei SC Heavy" charset="0"/>
              </a:rPr>
              <a:t>欧普照明股份有限公司</a:t>
            </a:r>
            <a:endParaRPr lang="en-US" altLang="zh-CN" sz="900" b="0" i="0" u="none" strike="noStrike" kern="1200" cap="none" spc="0" baseline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Whitney-Book" charset="0"/>
            </a:endParaRP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ld" charset="0"/>
              </a:rPr>
              <a:t>T</a:t>
            </a:r>
            <a:r>
              <a:rPr lang="en-US" altLang="zh-CN" sz="900" b="0" i="0" u="none" strike="noStrike" kern="1200" cap="none" spc="0" baseline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Semibold" charset="0"/>
              </a:rPr>
              <a:t> </a:t>
            </a:r>
            <a:r>
              <a:rPr lang="en-US" altLang="zh-CN" sz="900" b="0" i="0" u="none" strike="noStrike" kern="1200" cap="none" spc="0" baseline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ok" charset="0"/>
              </a:rPr>
              <a:t>+</a:t>
            </a:r>
            <a:r>
              <a:rPr lang="en-US" altLang="zh-CN" sz="900" b="0" i="0" u="none" strike="noStrike" kern="1200" cap="none" spc="0" baseline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okSC" charset="0"/>
              </a:rPr>
              <a:t>86 21 3855 0000	</a:t>
            </a:r>
            <a:r>
              <a:rPr lang="en-US" altLang="zh-CN" sz="900" b="1" i="0" u="none" strike="noStrike" kern="1200" cap="none" spc="0" baseline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ld" charset="0"/>
              </a:rPr>
              <a:t>E</a:t>
            </a:r>
            <a:r>
              <a:rPr lang="en-US" altLang="zh-CN" sz="900" b="0" i="0" u="none" strike="noStrike" kern="1200" cap="none" spc="0" baseline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Semibold" charset="0"/>
              </a:rPr>
              <a:t> </a:t>
            </a:r>
            <a:r>
              <a:rPr lang="en-US" altLang="zh-CN" sz="900" b="0" i="0" u="none" strike="noStrike" kern="1200" cap="none" spc="0" baseline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  <a:cs typeface="Whitney-Book" charset="0"/>
              </a:rPr>
              <a:t>intersales@opple.com</a:t>
            </a:r>
            <a:endParaRPr lang="zh-CN" altLang="en-US" sz="900" b="0" i="0" u="none" strike="noStrike" kern="1200" cap="none" spc="0" baseline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Whitney-Book" charset="0"/>
            </a:endParaRPr>
          </a:p>
        </p:txBody>
      </p:sp>
      <p:sp>
        <p:nvSpPr>
          <p:cNvPr id="123" name="矩形"/>
          <p:cNvSpPr>
            <a:spLocks/>
          </p:cNvSpPr>
          <p:nvPr/>
        </p:nvSpPr>
        <p:spPr>
          <a:xfrm>
            <a:off x="899592" y="2001379"/>
            <a:ext cx="5415280" cy="166624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0" baseline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THANK YOU</a:t>
            </a:r>
            <a:endParaRPr lang="en-US" altLang="zh-CN" sz="4800" b="0" i="0" u="none" strike="noStrike" kern="1200" cap="none" spc="0" baseline="0">
              <a:solidFill>
                <a:srgbClr val="0046AA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3200" b="0" i="0" u="none" strike="noStrike" kern="1200" cap="none" spc="0" baseline="0">
              <a:solidFill>
                <a:schemeClr val="bg1"/>
              </a:solidFill>
              <a:latin typeface="方正兰亭准黑简体" charset="-122"/>
              <a:ea typeface="方正兰亭准黑简体" charset="-122"/>
              <a:cs typeface="Calibri" charset="0"/>
            </a:endParaRPr>
          </a:p>
          <a:p>
            <a:pPr marL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0" i="0" u="none" strike="noStrike" kern="1200" cap="none" spc="0" baseline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alibri" charset="0"/>
              </a:rPr>
              <a:t>感谢您的关注</a:t>
            </a:r>
          </a:p>
        </p:txBody>
      </p:sp>
      <p:pic>
        <p:nvPicPr>
          <p:cNvPr id="124" name="图片" descr="LOGO-0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9135" y="102235"/>
            <a:ext cx="1471929" cy="84836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25" name="矩形"/>
          <p:cNvSpPr>
            <a:spLocks/>
          </p:cNvSpPr>
          <p:nvPr/>
        </p:nvSpPr>
        <p:spPr>
          <a:xfrm>
            <a:off x="827584" y="4679342"/>
            <a:ext cx="639566" cy="21526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chemeClr val="bg1"/>
                </a:solidFill>
                <a:latin typeface="Calibri" charset="0"/>
                <a:ea typeface="宋体" charset="0"/>
                <a:cs typeface="Whitney-Semibold" charset="0"/>
              </a:rPr>
              <a:t>OPPLE.COM</a:t>
            </a:r>
            <a:endParaRPr lang="zh-CN" altLang="en-US" sz="900" b="1" i="0" u="none" strike="noStrike" kern="1200" cap="none" spc="0" baseline="0">
              <a:solidFill>
                <a:schemeClr val="bg1"/>
              </a:solidFill>
              <a:latin typeface="Calibri" charset="0"/>
              <a:ea typeface="宋体" charset="0"/>
              <a:cs typeface="Whitney-Semibold" charset="0"/>
            </a:endParaRPr>
          </a:p>
        </p:txBody>
      </p:sp>
      <p:sp>
        <p:nvSpPr>
          <p:cNvPr id="126" name="文本框"/>
          <p:cNvSpPr>
            <a:spLocks noGrp="1"/>
          </p:cNvSpPr>
          <p:nvPr>
            <p:ph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800" b="0" i="0" u="none" strike="noStrike" kern="1200" cap="none" spc="0" baseline="0">
                <a:solidFill>
                  <a:srgbClr val="000000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800">
              <a:solidFill>
                <a:srgbClr val="00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003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6"/>
          <p:cNvSpPr/>
          <p:nvPr userDrawn="1"/>
        </p:nvSpPr>
        <p:spPr>
          <a:xfrm>
            <a:off x="899490" y="3195832"/>
            <a:ext cx="7072362" cy="542888"/>
          </a:xfrm>
          <a:prstGeom prst="rect">
            <a:avLst/>
          </a:prstGeom>
          <a:solidFill>
            <a:srgbClr val="0046AA"/>
          </a:solidFill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72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1400"/>
              </a:lnSpc>
            </a:pPr>
            <a:r>
              <a:rPr lang="en-US" sz="900" b="1" i="0" kern="1200" dirty="0">
                <a:solidFill>
                  <a:srgbClr val="FFFFFF"/>
                </a:solidFill>
                <a:latin typeface="+mn-lt"/>
                <a:ea typeface="+mn-ea"/>
                <a:cs typeface="Whitney-Bold"/>
              </a:rPr>
              <a:t>OPPLE LIGHTING CO., LTD.  </a:t>
            </a:r>
            <a:r>
              <a:rPr lang="zh-TW" altLang="en-US" sz="800" b="0" i="0" kern="12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Lantinghei SC Heavy"/>
              </a:rPr>
              <a:t>欧普照明股份有限公司</a:t>
            </a:r>
            <a:endParaRPr lang="en-US" sz="900" b="0" i="0" kern="120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Whitney-Book"/>
            </a:endParaRPr>
          </a:p>
          <a:p>
            <a:pPr>
              <a:lnSpc>
                <a:spcPts val="1400"/>
              </a:lnSpc>
            </a:pPr>
            <a:r>
              <a:rPr lang="nb-NO" sz="900" b="1" i="0" kern="1200" dirty="0">
                <a:solidFill>
                  <a:srgbClr val="FFFFFF"/>
                </a:solidFill>
                <a:latin typeface="+mn-lt"/>
                <a:ea typeface="+mn-ea"/>
                <a:cs typeface="Whitney-Bold"/>
              </a:rPr>
              <a:t>T</a:t>
            </a:r>
            <a:r>
              <a:rPr lang="nb-NO" sz="900" b="0" i="0" kern="1200" dirty="0">
                <a:solidFill>
                  <a:srgbClr val="FFFFFF"/>
                </a:solidFill>
                <a:latin typeface="+mn-lt"/>
                <a:ea typeface="+mn-ea"/>
                <a:cs typeface="Whitney-Semibold"/>
              </a:rPr>
              <a:t> </a:t>
            </a:r>
            <a:r>
              <a:rPr lang="nb-NO" sz="900" b="0" i="0" kern="1200" dirty="0">
                <a:solidFill>
                  <a:srgbClr val="FFFFFF"/>
                </a:solidFill>
                <a:latin typeface="+mn-lt"/>
                <a:ea typeface="+mn-ea"/>
                <a:cs typeface="Whitney-Book"/>
              </a:rPr>
              <a:t>+</a:t>
            </a:r>
            <a:r>
              <a:rPr lang="nb-NO" sz="900" b="0" i="0" kern="1200" dirty="0">
                <a:solidFill>
                  <a:srgbClr val="FFFFFF"/>
                </a:solidFill>
                <a:latin typeface="+mn-lt"/>
                <a:ea typeface="+mn-ea"/>
                <a:cs typeface="Whitney-BookSC"/>
              </a:rPr>
              <a:t>86 21 3855 0000	</a:t>
            </a:r>
            <a:r>
              <a:rPr lang="nb-NO" sz="900" b="1" i="0" kern="1200" dirty="0">
                <a:solidFill>
                  <a:srgbClr val="FFFFFF"/>
                </a:solidFill>
                <a:latin typeface="+mn-lt"/>
                <a:ea typeface="+mn-ea"/>
                <a:cs typeface="Whitney-Bold"/>
              </a:rPr>
              <a:t>E</a:t>
            </a:r>
            <a:r>
              <a:rPr lang="nb-NO" sz="900" b="0" i="0" kern="1200" dirty="0">
                <a:solidFill>
                  <a:srgbClr val="FFFFFF"/>
                </a:solidFill>
                <a:latin typeface="+mn-lt"/>
                <a:ea typeface="+mn-ea"/>
                <a:cs typeface="Whitney-Semibold"/>
              </a:rPr>
              <a:t> </a:t>
            </a:r>
            <a:r>
              <a:rPr lang="nb-NO" sz="900" b="0" i="0" kern="1200" dirty="0">
                <a:solidFill>
                  <a:srgbClr val="FFFFFF"/>
                </a:solidFill>
                <a:latin typeface="+mn-lt"/>
                <a:ea typeface="+mn-ea"/>
                <a:cs typeface="Whitney-Book"/>
              </a:rPr>
              <a:t>intersales@opple.com</a:t>
            </a:r>
          </a:p>
        </p:txBody>
      </p:sp>
      <p:sp>
        <p:nvSpPr>
          <p:cNvPr id="7" name="Rectangle 7"/>
          <p:cNvSpPr/>
          <p:nvPr userDrawn="1"/>
        </p:nvSpPr>
        <p:spPr>
          <a:xfrm>
            <a:off x="899491" y="4569124"/>
            <a:ext cx="78803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/>
            <a:r>
              <a:rPr lang="en-US" altLang="zh-CN" sz="900" b="1" i="0" dirty="0">
                <a:solidFill>
                  <a:schemeClr val="accent1"/>
                </a:solidFill>
                <a:latin typeface="+mj-lt"/>
                <a:cs typeface="Whitney-Semibold"/>
              </a:rPr>
              <a:t>OPPLE.COM</a:t>
            </a:r>
            <a:endParaRPr lang="zh-CN" altLang="en-US" sz="900" b="1" i="0" dirty="0">
              <a:solidFill>
                <a:schemeClr val="accent1"/>
              </a:solidFill>
              <a:latin typeface="+mj-lt"/>
              <a:cs typeface="Whitney-Semibold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99491" y="1786728"/>
            <a:ext cx="5415280" cy="166624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r>
              <a:rPr lang="en-US" altLang="zh-CN" sz="4800" dirty="0">
                <a:solidFill>
                  <a:srgbClr val="0046AA"/>
                </a:solidFill>
                <a:latin typeface="Arial" pitchFamily="34" charset="0"/>
                <a:cs typeface="Arial" pitchFamily="34" charset="0"/>
              </a:rPr>
              <a:t>THANK YOU</a:t>
            </a:r>
          </a:p>
          <a:p>
            <a:pPr>
              <a:lnSpc>
                <a:spcPts val="2200"/>
              </a:lnSpc>
            </a:pPr>
            <a:endParaRPr lang="en-US" altLang="zh-CN" sz="3200" dirty="0">
              <a:solidFill>
                <a:srgbClr val="0046AA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3200" dirty="0">
                <a:solidFill>
                  <a:srgbClr val="0046AA"/>
                </a:solidFill>
                <a:latin typeface="微软雅黑" pitchFamily="34" charset="-122"/>
                <a:ea typeface="微软雅黑" pitchFamily="34" charset="-122"/>
              </a:rPr>
              <a:t>感谢您的关注</a:t>
            </a:r>
          </a:p>
        </p:txBody>
      </p:sp>
      <p:pic>
        <p:nvPicPr>
          <p:cNvPr id="10" name="Picture 2" descr="E:\work\2014 OPPLE  VI  Brief（中国区）\新建文件夹 (2)\3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9491" y="339440"/>
            <a:ext cx="1214446" cy="5417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9511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zh-CN" altLang="en-US" sz="1200">
                <a:solidFill>
                  <a:srgbClr val="8993C4"/>
                </a:solidFill>
                <a:latin typeface="Calibri" charset="0"/>
                <a:ea typeface="宋体" charset="0"/>
                <a:cs typeface="Calibri" charset="0"/>
              </a:rPr>
              <a:t>2023/12/7</a:t>
            </a:fld>
            <a:endParaRPr lang="zh-CN" altLang="en-US" sz="1200">
              <a:solidFill>
                <a:srgbClr val="8993C4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r>
              <a:rPr lang="en-US" altLang="zh-CN" sz="1200">
                <a:solidFill>
                  <a:srgbClr val="0046AA"/>
                </a:solidFill>
                <a:latin typeface="Calibri" charset="0"/>
                <a:ea typeface="宋体" charset="0"/>
                <a:cs typeface="Calibri" charset="0"/>
              </a:rPr>
              <a:t>OPPLE.COM</a:t>
            </a:r>
            <a:endParaRPr lang="zh-CN" altLang="en-US" sz="1200">
              <a:solidFill>
                <a:srgbClr val="0046AA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93C4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93C4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4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4" r:id="rId16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"/>
          <p:cNvSpPr>
            <a:spLocks/>
          </p:cNvSpPr>
          <p:nvPr/>
        </p:nvSpPr>
        <p:spPr>
          <a:xfrm>
            <a:off x="827584" y="4200758"/>
            <a:ext cx="7488831" cy="529581"/>
          </a:xfrm>
          <a:prstGeom prst="rect">
            <a:avLst/>
          </a:prstGeom>
          <a:solidFill>
            <a:srgbClr val="0046AA"/>
          </a:solidFill>
          <a:ln w="9525" cap="flat" cmpd="sng">
            <a:noFill/>
            <a:prstDash val="solid"/>
            <a:miter/>
          </a:ln>
        </p:spPr>
        <p:txBody>
          <a:bodyPr vert="horz" wrap="square" lIns="144000" tIns="72000" rIns="144000" bIns="72000" anchor="t" anchorCtr="0">
            <a:prstTxWarp prst="textNoShape">
              <a:avLst/>
            </a:prstTxWarp>
          </a:bodyPr>
          <a:lstStyle/>
          <a:p>
            <a:pPr marL="0" indent="0" algn="l" defTabSz="457200" eaLnBrk="1" latinLnBrk="0" hangingPunct="1">
              <a:lnSpc>
                <a:spcPts val="32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2400" b="1" cap="all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昆仑</a:t>
            </a:r>
            <a:r>
              <a:rPr lang="en-US" altLang="zh-CN" sz="2400" b="1" cap="all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Ii-</a:t>
            </a:r>
            <a:r>
              <a:rPr lang="zh-CN" altLang="en-US" sz="2400" b="1" cap="all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恒压</a:t>
            </a:r>
            <a:r>
              <a:rPr lang="en-US" altLang="zh-CN" sz="2400" b="1" cap="all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24V</a:t>
            </a:r>
            <a:r>
              <a:rPr lang="zh-CN" altLang="en-US" sz="2400" b="1" cap="all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恒压电源系列</a:t>
            </a:r>
            <a:r>
              <a:rPr lang="en-US" altLang="zh-CN" sz="2400" b="1" i="0" u="none" strike="noStrike" kern="1200" cap="all" spc="0" baseline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-</a:t>
            </a:r>
            <a:r>
              <a:rPr lang="zh-CN" altLang="en-US" sz="2400" b="1" cap="all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产品</a:t>
            </a:r>
            <a:r>
              <a:rPr lang="zh-CN" altLang="en-US" sz="2400" b="1" i="0" u="none" strike="noStrike" kern="1200" cap="all" spc="0" baseline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介绍</a:t>
            </a:r>
            <a:endParaRPr lang="zh-CN" altLang="en-US" sz="1100" b="0" i="0" u="none" strike="noStrike" kern="1200" cap="all" spc="0" baseline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B6025A-B7CE-408B-BF5B-BB12C58AD3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40" y="-677951"/>
            <a:ext cx="514278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08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"/>
          <p:cNvSpPr/>
          <p:nvPr/>
        </p:nvSpPr>
        <p:spPr>
          <a:xfrm>
            <a:off x="431800" y="450215"/>
            <a:ext cx="8302378" cy="36322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适用产品：音响、打印机等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24V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电压输入产品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兰亭准黑简体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48546" y="1347580"/>
            <a:ext cx="2592360" cy="648090"/>
          </a:xfrm>
          <a:prstGeom prst="rect">
            <a:avLst/>
          </a:prstGeom>
          <a:solidFill>
            <a:schemeClr val="bg1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线形灯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050" dirty="0"/>
              <a:t>LINEAR LIGHTS</a:t>
            </a:r>
            <a:endParaRPr lang="zh-CN" altLang="en-US" sz="105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80DD8F-384D-47A5-8191-FF98E59CE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94" y="1203560"/>
            <a:ext cx="4114800" cy="3200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71484FC-B15B-4C66-A5A7-9AC412852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80" y="1279760"/>
            <a:ext cx="300037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60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title"/>
          </p:nvPr>
        </p:nvSpPr>
        <p:spPr>
          <a:xfrm>
            <a:off x="323408" y="309414"/>
            <a:ext cx="8285305" cy="46556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algn="l"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核心卖点：高效稳定、超薄耐用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7B8A5F3-F1B8-4BD8-948F-59EDC198D8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068" y="739078"/>
            <a:ext cx="4227933" cy="4227933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D8C0F931-ECB3-4640-BA90-88E6969E9E43}"/>
              </a:ext>
            </a:extLst>
          </p:cNvPr>
          <p:cNvSpPr txBox="1"/>
          <p:nvPr/>
        </p:nvSpPr>
        <p:spPr>
          <a:xfrm>
            <a:off x="7539397" y="1754984"/>
            <a:ext cx="1224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金属外壳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坚固耐用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2A1D73B-3780-4709-B062-4A8321241DD4}"/>
              </a:ext>
            </a:extLst>
          </p:cNvPr>
          <p:cNvSpPr txBox="1"/>
          <p:nvPr/>
        </p:nvSpPr>
        <p:spPr>
          <a:xfrm>
            <a:off x="5669262" y="3921777"/>
            <a:ext cx="1224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纤薄尺寸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易于隐藏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0F9FAEA-D3AB-4DAB-9CF3-E134178B8649}"/>
              </a:ext>
            </a:extLst>
          </p:cNvPr>
          <p:cNvSpPr txBox="1"/>
          <p:nvPr/>
        </p:nvSpPr>
        <p:spPr>
          <a:xfrm>
            <a:off x="2693029" y="1032328"/>
            <a:ext cx="1224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铝材外壳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高效散热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434D0CA-962D-45A9-BB73-63C5EB55BB9A}"/>
              </a:ext>
            </a:extLst>
          </p:cNvPr>
          <p:cNvSpPr txBox="1"/>
          <p:nvPr/>
        </p:nvSpPr>
        <p:spPr>
          <a:xfrm>
            <a:off x="551964" y="3409110"/>
            <a:ext cx="1351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足功率负载品质保障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A1EF085-9895-48E4-806A-D66CBB344DBD}"/>
              </a:ext>
            </a:extLst>
          </p:cNvPr>
          <p:cNvSpPr txBox="1"/>
          <p:nvPr/>
        </p:nvSpPr>
        <p:spPr>
          <a:xfrm>
            <a:off x="1374891" y="1719855"/>
            <a:ext cx="13513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过载、过压过温、短路多重保护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60C62DF-AA17-4A0F-8C68-D8C7AE6811DA}"/>
              </a:ext>
            </a:extLst>
          </p:cNvPr>
          <p:cNvSpPr txBox="1"/>
          <p:nvPr/>
        </p:nvSpPr>
        <p:spPr>
          <a:xfrm>
            <a:off x="6800091" y="2797908"/>
            <a:ext cx="1351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24V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稳定输出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7AE307A-8503-446B-9CE4-0644BFB7F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645" y="1719855"/>
            <a:ext cx="1531574" cy="646331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70780CE6-BA73-44E0-A0C9-6BD0B1D14A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118" y="2762779"/>
            <a:ext cx="1826284" cy="646331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85DB3ED9-51A6-4BDC-8CA2-468F245133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5575" y="3921777"/>
            <a:ext cx="1826284" cy="64633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4792D2EE-55E2-4CAA-A405-2681C1ABD9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736247" y="1057289"/>
            <a:ext cx="1531574" cy="646331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38DCF8D1-07D4-469C-810D-D7FC75E91B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726283" y="1893122"/>
            <a:ext cx="1531574" cy="646331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B8D041A5-76CA-4C6E-8AE5-BAC680BCB8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701169" y="3481932"/>
            <a:ext cx="1531574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89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"/>
          <p:cNvSpPr>
            <a:spLocks/>
          </p:cNvSpPr>
          <p:nvPr/>
        </p:nvSpPr>
        <p:spPr>
          <a:xfrm>
            <a:off x="431999" y="450001"/>
            <a:ext cx="8244571" cy="3215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产品特点</a:t>
            </a:r>
            <a:r>
              <a:rPr lang="en-US" altLang="zh-CN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:</a:t>
            </a: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高效散热、环保坚固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98F996-B632-466A-9D1F-D0FBD0AC6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99" y="1020989"/>
            <a:ext cx="3672510" cy="36725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F0D366D-A000-4980-A825-3D76AE761903}"/>
              </a:ext>
            </a:extLst>
          </p:cNvPr>
          <p:cNvSpPr txBox="1"/>
          <p:nvPr/>
        </p:nvSpPr>
        <p:spPr>
          <a:xfrm>
            <a:off x="5022409" y="1923660"/>
            <a:ext cx="3672510" cy="222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加厚铝材、环保工艺、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散热强劲、坚固耐用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防腐、防锈、耐磨</a:t>
            </a:r>
            <a:endParaRPr lang="en-US" altLang="zh-CN" dirty="0"/>
          </a:p>
          <a:p>
            <a:pPr>
              <a:lnSpc>
                <a:spcPct val="200000"/>
              </a:lnSpc>
            </a:pP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0645DA-A1C5-4670-870E-5A80851650E1}"/>
              </a:ext>
            </a:extLst>
          </p:cNvPr>
          <p:cNvSpPr txBox="1"/>
          <p:nvPr/>
        </p:nvSpPr>
        <p:spPr>
          <a:xfrm>
            <a:off x="458839" y="4258590"/>
            <a:ext cx="8604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友情提示：为保障产品寿命长久，铝材壳体高效散热导致表面温度高，使用时切勿放在塑料等易燃易爆物体上。</a:t>
            </a:r>
          </a:p>
        </p:txBody>
      </p:sp>
    </p:spTree>
    <p:extLst>
      <p:ext uri="{BB962C8B-B14F-4D97-AF65-F5344CB8AC3E}">
        <p14:creationId xmlns:p14="http://schemas.microsoft.com/office/powerpoint/2010/main" val="1024086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"/>
          <p:cNvSpPr>
            <a:spLocks/>
          </p:cNvSpPr>
          <p:nvPr/>
        </p:nvSpPr>
        <p:spPr>
          <a:xfrm>
            <a:off x="431999" y="450001"/>
            <a:ext cx="8244571" cy="3215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产品特点</a:t>
            </a:r>
            <a:r>
              <a:rPr lang="en-US" altLang="zh-CN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:</a:t>
            </a: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多重保护，稳定输出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0D366D-A000-4980-A825-3D76AE761903}"/>
              </a:ext>
            </a:extLst>
          </p:cNvPr>
          <p:cNvSpPr txBox="1"/>
          <p:nvPr/>
        </p:nvSpPr>
        <p:spPr>
          <a:xfrm>
            <a:off x="4697671" y="1491600"/>
            <a:ext cx="4122919" cy="2777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绝缘性好、抗电强度高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过载过压过温短路保护，保障电路安全</a:t>
            </a:r>
            <a:r>
              <a:rPr lang="en-US" altLang="zh-CN" dirty="0"/>
              <a:t>.</a:t>
            </a:r>
          </a:p>
          <a:p>
            <a:pPr>
              <a:lnSpc>
                <a:spcPct val="200000"/>
              </a:lnSpc>
            </a:pPr>
            <a:r>
              <a:rPr lang="zh-CN" altLang="en-US" dirty="0"/>
              <a:t>软启动电流设计，减缓</a:t>
            </a:r>
            <a:r>
              <a:rPr lang="en-US" altLang="zh-CN" dirty="0"/>
              <a:t>AC</a:t>
            </a:r>
            <a:r>
              <a:rPr lang="zh-CN" altLang="en-US" dirty="0"/>
              <a:t>输入冲击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智能</a:t>
            </a:r>
            <a:r>
              <a:rPr lang="en-US" altLang="zh-CN" dirty="0"/>
              <a:t>IC</a:t>
            </a:r>
            <a:r>
              <a:rPr lang="zh-CN" altLang="en-US" dirty="0"/>
              <a:t>、</a:t>
            </a:r>
            <a:r>
              <a:rPr lang="en-US" altLang="zh-CN" dirty="0"/>
              <a:t>24V</a:t>
            </a:r>
            <a:r>
              <a:rPr lang="zh-CN" altLang="en-US" dirty="0"/>
              <a:t>恒压稳定输出</a:t>
            </a:r>
            <a:endParaRPr lang="en-US" altLang="zh-CN" dirty="0"/>
          </a:p>
          <a:p>
            <a:pPr>
              <a:lnSpc>
                <a:spcPct val="200000"/>
              </a:lnSpc>
            </a:pP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DB13F7C-D845-43A8-BCFC-B81C8BD77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39" y="482899"/>
            <a:ext cx="4315632" cy="431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3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"/>
          <p:cNvSpPr>
            <a:spLocks/>
          </p:cNvSpPr>
          <p:nvPr/>
        </p:nvSpPr>
        <p:spPr>
          <a:xfrm>
            <a:off x="431999" y="450001"/>
            <a:ext cx="8277819" cy="3215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产品特点</a:t>
            </a:r>
            <a:r>
              <a:rPr lang="en-US" altLang="zh-CN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:</a:t>
            </a: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外观小而美，负载足功率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F8AA028-9FA3-4347-8AA2-6D2632A7F603}"/>
              </a:ext>
            </a:extLst>
          </p:cNvPr>
          <p:cNvSpPr txBox="1"/>
          <p:nvPr/>
        </p:nvSpPr>
        <p:spPr>
          <a:xfrm>
            <a:off x="5022409" y="1923660"/>
            <a:ext cx="3672510" cy="222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外观小而美，易于隐藏好安装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负载足功率、高效转换超静音</a:t>
            </a:r>
            <a:endParaRPr lang="en-US" altLang="zh-CN" dirty="0"/>
          </a:p>
          <a:p>
            <a:pPr>
              <a:lnSpc>
                <a:spcPct val="200000"/>
              </a:lnSpc>
            </a:pPr>
            <a:endParaRPr lang="en-US" altLang="zh-CN" dirty="0"/>
          </a:p>
          <a:p>
            <a:pPr>
              <a:lnSpc>
                <a:spcPct val="200000"/>
              </a:lnSpc>
            </a:pP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D8D4151-9FD5-41AB-B0CF-2664E1B59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0" y="843510"/>
            <a:ext cx="3582152" cy="358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2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"/>
          <p:cNvSpPr>
            <a:spLocks/>
          </p:cNvSpPr>
          <p:nvPr/>
        </p:nvSpPr>
        <p:spPr>
          <a:xfrm>
            <a:off x="235321" y="268189"/>
            <a:ext cx="8277819" cy="3215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竞品对比</a:t>
            </a:r>
            <a:r>
              <a:rPr lang="en-US" altLang="zh-CN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:</a:t>
            </a: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关键元器件温升对比，昆仑</a:t>
            </a:r>
            <a:r>
              <a:rPr lang="en-US" altLang="zh-CN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II</a:t>
            </a: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性能更优。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A9762FD-D4E4-42B8-A522-72B4E55FE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963814"/>
              </p:ext>
            </p:extLst>
          </p:nvPr>
        </p:nvGraphicFramePr>
        <p:xfrm>
          <a:off x="539440" y="1275570"/>
          <a:ext cx="7633061" cy="2199589"/>
        </p:xfrm>
        <a:graphic>
          <a:graphicData uri="http://schemas.openxmlformats.org/drawingml/2006/table">
            <a:tbl>
              <a:tblPr/>
              <a:tblGrid>
                <a:gridCol w="1537498">
                  <a:extLst>
                    <a:ext uri="{9D8B030D-6E8A-4147-A177-3AD203B41FA5}">
                      <a16:colId xmlns:a16="http://schemas.microsoft.com/office/drawing/2014/main" val="57480446"/>
                    </a:ext>
                  </a:extLst>
                </a:gridCol>
                <a:gridCol w="2144599">
                  <a:extLst>
                    <a:ext uri="{9D8B030D-6E8A-4147-A177-3AD203B41FA5}">
                      <a16:colId xmlns:a16="http://schemas.microsoft.com/office/drawing/2014/main" val="1774626200"/>
                    </a:ext>
                  </a:extLst>
                </a:gridCol>
                <a:gridCol w="1964464">
                  <a:extLst>
                    <a:ext uri="{9D8B030D-6E8A-4147-A177-3AD203B41FA5}">
                      <a16:colId xmlns:a16="http://schemas.microsoft.com/office/drawing/2014/main" val="2263850110"/>
                    </a:ext>
                  </a:extLst>
                </a:gridCol>
                <a:gridCol w="1986500">
                  <a:extLst>
                    <a:ext uri="{9D8B030D-6E8A-4147-A177-3AD203B41FA5}">
                      <a16:colId xmlns:a16="http://schemas.microsoft.com/office/drawing/2014/main" val="2790580128"/>
                    </a:ext>
                  </a:extLst>
                </a:gridCol>
              </a:tblGrid>
              <a:tr h="26987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雷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恒压电源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150W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元器件温升数据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OP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昆仑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II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代恒压电源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150W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元器件温升数据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920464"/>
                  </a:ext>
                </a:extLst>
              </a:tr>
              <a:tr h="27567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输入电解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108.6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EC2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输入电解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86.5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382224"/>
                  </a:ext>
                </a:extLst>
              </a:tr>
              <a:tr h="27567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MOS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管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120.2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Q2 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主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99.5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532757"/>
                  </a:ext>
                </a:extLst>
              </a:tr>
              <a:tr h="27567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吸收电阻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127.8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次级吸收电阻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88.5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439178"/>
                  </a:ext>
                </a:extLst>
              </a:tr>
              <a:tr h="27567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吸收电阻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163.3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R15 RCD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吸收电阻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90.7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422936"/>
                  </a:ext>
                </a:extLst>
              </a:tr>
              <a:tr h="27567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芯片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102.5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U2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主芯片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77.6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088429"/>
                  </a:ext>
                </a:extLst>
              </a:tr>
              <a:tr h="27567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采样电阻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115.1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R28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采样电阻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84.1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454611"/>
                  </a:ext>
                </a:extLst>
              </a:tr>
              <a:tr h="27567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整流管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116.2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整流管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102.9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069964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982AFB14-103F-42A6-8E43-5B1A10119648}"/>
              </a:ext>
            </a:extLst>
          </p:cNvPr>
          <p:cNvSpPr txBox="1"/>
          <p:nvPr/>
        </p:nvSpPr>
        <p:spPr>
          <a:xfrm>
            <a:off x="539440" y="3795920"/>
            <a:ext cx="76330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相同温度环境同功率负载，</a:t>
            </a:r>
            <a:r>
              <a:rPr lang="en-US" altLang="zh-CN" dirty="0"/>
              <a:t>OP</a:t>
            </a:r>
            <a:r>
              <a:rPr lang="zh-CN" altLang="en-US" dirty="0"/>
              <a:t>昆仑</a:t>
            </a:r>
            <a:r>
              <a:rPr lang="en-US" altLang="zh-CN" dirty="0"/>
              <a:t>II</a:t>
            </a:r>
            <a:r>
              <a:rPr lang="zh-CN" altLang="en-US" dirty="0"/>
              <a:t>代关键元器件温升更优于竞品雷</a:t>
            </a:r>
            <a:r>
              <a:rPr lang="en-US" altLang="zh-CN" dirty="0"/>
              <a:t>X</a:t>
            </a:r>
          </a:p>
          <a:p>
            <a:pPr algn="r"/>
            <a:r>
              <a:rPr lang="zh-CN" altLang="en-US" sz="1100" dirty="0"/>
              <a:t>（温度越高，电源寿命越短；测试数据来源于</a:t>
            </a:r>
            <a:r>
              <a:rPr lang="en-US" altLang="zh-CN" sz="1100" dirty="0"/>
              <a:t>OP</a:t>
            </a:r>
            <a:r>
              <a:rPr lang="zh-CN" altLang="en-US" sz="1100" dirty="0"/>
              <a:t>研发实验室）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1406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"/>
          <p:cNvSpPr>
            <a:spLocks/>
          </p:cNvSpPr>
          <p:nvPr/>
        </p:nvSpPr>
        <p:spPr>
          <a:xfrm>
            <a:off x="431999" y="450001"/>
            <a:ext cx="8277819" cy="3215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产品卖点</a:t>
            </a:r>
            <a:r>
              <a:rPr lang="en-US" altLang="zh-CN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:</a:t>
            </a: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规格齐全（</a:t>
            </a:r>
            <a:r>
              <a:rPr lang="en-US" altLang="zh-CN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80W/150W/300W</a:t>
            </a: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7EB8E4-3607-4330-A36B-1A82AC7EF2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22597">
            <a:off x="4598815" y="421091"/>
            <a:ext cx="5053023" cy="50537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E9EA507-4732-45B3-8159-F1BBEDF64D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10319">
            <a:off x="179390" y="1203560"/>
            <a:ext cx="3363860" cy="33638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C14D81-8C38-425C-BA5C-7F17860293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821" y="759134"/>
            <a:ext cx="4546221" cy="45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35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"/>
          <p:cNvSpPr>
            <a:spLocks/>
          </p:cNvSpPr>
          <p:nvPr/>
        </p:nvSpPr>
        <p:spPr>
          <a:xfrm>
            <a:off x="431999" y="450001"/>
            <a:ext cx="8277819" cy="3215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产品差异点：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7EB8E4-3607-4330-A36B-1A82AC7EF2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22597">
            <a:off x="5017576" y="789490"/>
            <a:ext cx="2539953" cy="25403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F51E9B2-786C-4836-ABF9-7EA4FA97B7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20566">
            <a:off x="661924" y="1181408"/>
            <a:ext cx="3122613" cy="17564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7F0B86F-0D93-4ED5-A9C9-7521B88175AB}"/>
              </a:ext>
            </a:extLst>
          </p:cNvPr>
          <p:cNvSpPr txBox="1"/>
          <p:nvPr/>
        </p:nvSpPr>
        <p:spPr>
          <a:xfrm>
            <a:off x="495300" y="3233930"/>
            <a:ext cx="40756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认证证书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CCC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证书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认证标准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de-DE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GB 17625.1-2012;GB/T 17743-2017;GB 19510.1-2009;GB 19510.14-2009</a:t>
            </a:r>
            <a:endParaRPr lang="de-DE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性能参数：</a:t>
            </a: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PF0.9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功率负载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壳体材质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</a:p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接线方式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：快接端子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0997D5-45A3-4B50-B60F-89D85D34FA7D}"/>
              </a:ext>
            </a:extLst>
          </p:cNvPr>
          <p:cNvSpPr txBox="1"/>
          <p:nvPr/>
        </p:nvSpPr>
        <p:spPr>
          <a:xfrm>
            <a:off x="4788031" y="3233930"/>
            <a:ext cx="40756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认证证书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CQC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证书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认证标准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/>
              <a:t>GB 4943.1-2022</a:t>
            </a:r>
            <a:r>
              <a:rPr lang="zh-CN" altLang="en-US" sz="1400" dirty="0"/>
              <a:t>：适用对象是“音视频、信息技术和通信技术、商务和办公领域内电子设备的安全要求”（常见的音响、电视机、计算机、打印机、手机以及配套的充电器等）</a:t>
            </a:r>
            <a:endParaRPr lang="de-DE" altLang="zh-CN" sz="1400" dirty="0"/>
          </a:p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性能参数：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PF0.5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功率负载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壳体材质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：铝壳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接线方式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：螺丝压线</a:t>
            </a:r>
          </a:p>
        </p:txBody>
      </p:sp>
    </p:spTree>
    <p:extLst>
      <p:ext uri="{BB962C8B-B14F-4D97-AF65-F5344CB8AC3E}">
        <p14:creationId xmlns:p14="http://schemas.microsoft.com/office/powerpoint/2010/main" val="3119911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表格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926613"/>
              </p:ext>
            </p:extLst>
          </p:nvPr>
        </p:nvGraphicFramePr>
        <p:xfrm>
          <a:off x="418556" y="887721"/>
          <a:ext cx="8186003" cy="3603408"/>
        </p:xfrm>
        <a:graphic>
          <a:graphicData uri="http://schemas.openxmlformats.org/drawingml/2006/table">
            <a:tbl>
              <a:tblPr bandRow="1"/>
              <a:tblGrid>
                <a:gridCol w="889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7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5213">
                <a:tc rowSpan="3">
                  <a:txBody>
                    <a:bodyPr/>
                    <a:lstStyle/>
                    <a:p>
                      <a:pPr marL="0" indent="0" algn="ctr" defTabSz="913764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概述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型号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OP-IESVH0800024E1-01</a:t>
                      </a:r>
                      <a:endParaRPr lang="zh-CN" altLang="en-US" sz="7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OP-IESVH1500024E1-01</a:t>
                      </a:r>
                      <a:endParaRPr lang="zh-CN" altLang="en-US" sz="7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OP-IESVH3000024E1-01</a:t>
                      </a:r>
                      <a:endParaRPr lang="zh-CN" altLang="en-US" sz="7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2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额定输出功率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80W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150W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300W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213">
                <a:tc vMerge="1">
                  <a:txBody>
                    <a:bodyPr/>
                    <a:lstStyle/>
                    <a:p>
                      <a:pPr marL="0" indent="0" algn="ctr" defTabSz="913764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1" i="0" u="none" strike="noStrike" kern="1200" cap="none" spc="0" baseline="0" dirty="0">
                        <a:solidFill>
                          <a:schemeClr val="bg1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颜色</a:t>
                      </a:r>
                      <a:r>
                        <a:rPr lang="en-US" altLang="zh-CN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/</a:t>
                      </a: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材质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灰</a:t>
                      </a: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/</a:t>
                      </a:r>
                      <a:r>
                        <a:rPr lang="zh-CN" altLang="en-US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铝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213">
                <a:tc rowSpan="6"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电子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额定电压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AC 220~240V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2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输出电压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DC 24V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2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电源效率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＞</a:t>
                      </a: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90%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＞</a:t>
                      </a: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90%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＞</a:t>
                      </a: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90%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2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功率因数（</a:t>
                      </a:r>
                      <a:r>
                        <a:rPr lang="en-US" altLang="zh-CN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PF</a:t>
                      </a: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）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＞</a:t>
                      </a: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0.5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1" i="0" u="none" strike="noStrike" kern="1200" cap="none" spc="0" baseline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1" i="0" u="none" strike="noStrike" kern="1200" cap="none" spc="0" baseline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2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雷击浪涌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差模</a:t>
                      </a: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2KV</a:t>
                      </a:r>
                      <a:r>
                        <a:rPr lang="zh-CN" altLang="en-US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，共模</a:t>
                      </a: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2KV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2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防触电等级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Class I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213">
                <a:tc rowSpan="3"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结构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防护等级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IP20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规格尺寸（长</a:t>
                      </a:r>
                      <a:r>
                        <a:rPr lang="en-US" altLang="zh-CN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×</a:t>
                      </a: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宽×高）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122*62*30 </a:t>
                      </a:r>
                      <a:r>
                        <a:rPr lang="zh-CN" altLang="en-US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mm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190*62*30 </a:t>
                      </a:r>
                      <a:r>
                        <a:rPr lang="zh-CN" altLang="en-US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mm</a:t>
                      </a:r>
                    </a:p>
                  </a:txBody>
                  <a:tcPr marL="70408" marR="70408" marT="35204" marB="35204" anchor="ctr">
                    <a:lnL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221*62*30</a:t>
                      </a:r>
                      <a:r>
                        <a:rPr lang="zh-CN" altLang="en-US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 mm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安装方式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螺丝固定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5213">
                <a:tc rowSpan="3"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质量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寿命（</a:t>
                      </a:r>
                      <a:r>
                        <a:rPr lang="en-US" altLang="zh-CN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@220Vac</a:t>
                      </a: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）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30,000hrs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52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工作环境（</a:t>
                      </a:r>
                      <a:r>
                        <a:rPr lang="en-US" altLang="zh-CN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Ta</a:t>
                      </a: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）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-20~+45℃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52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安全认证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CQC</a:t>
                      </a: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5213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使用场所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i="0" u="none" strike="noStrike" kern="1200" cap="none" spc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参考使用场所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kern="1200" cap="none" spc="0" baseline="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Calibri" charset="0"/>
                        </a:rPr>
                        <a:t>室内低压</a:t>
                      </a: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方正兰亭细黑_GBK" charset="-122"/>
                      </a:endParaRPr>
                    </a:p>
                  </a:txBody>
                  <a:tcPr marL="70408" marR="70408" marT="35204" marB="35204" anchor="ctr">
                    <a:lnL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900" b="0" i="0" u="none" strike="noStrike" kern="1200" cap="none" spc="0" baseline="0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  <a:cs typeface="Calibri" charset="0"/>
                      </a:endParaRPr>
                    </a:p>
                  </a:txBody>
                  <a:tcPr marL="70408" marR="70408" marT="35204" marB="35204" anchor="ctr"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46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21" name="矩形"/>
          <p:cNvSpPr>
            <a:spLocks/>
          </p:cNvSpPr>
          <p:nvPr/>
        </p:nvSpPr>
        <p:spPr>
          <a:xfrm>
            <a:off x="431999" y="450001"/>
            <a:ext cx="8285305" cy="3935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技术参数表：</a:t>
            </a:r>
          </a:p>
        </p:txBody>
      </p:sp>
    </p:spTree>
    <p:extLst>
      <p:ext uri="{BB962C8B-B14F-4D97-AF65-F5344CB8AC3E}">
        <p14:creationId xmlns:p14="http://schemas.microsoft.com/office/powerpoint/2010/main" val="1606587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28" y="1131590"/>
            <a:ext cx="8712968" cy="47625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21" name="矩形"/>
          <p:cNvSpPr>
            <a:spLocks/>
          </p:cNvSpPr>
          <p:nvPr/>
        </p:nvSpPr>
        <p:spPr>
          <a:xfrm>
            <a:off x="431999" y="450001"/>
            <a:ext cx="8285305" cy="46552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marL="0" indent="0" algn="l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i="0" u="none" strike="noStrike" kern="1200" cap="none" spc="0" baseline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方正兰亭准黑简体" charset="-122"/>
              </a:rPr>
              <a:t>产品信息：</a:t>
            </a:r>
            <a:endParaRPr lang="zh-CN" altLang="en-US" sz="2400" b="1" i="0" u="none" strike="noStrike" kern="1200" cap="none" spc="0" baseline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方正兰亭准黑简体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732936"/>
              </p:ext>
            </p:extLst>
          </p:nvPr>
        </p:nvGraphicFramePr>
        <p:xfrm>
          <a:off x="537361" y="1954968"/>
          <a:ext cx="8285302" cy="12335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7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0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27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5516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物料编码</a:t>
                      </a:r>
                      <a:endParaRPr lang="zh-CN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30" marR="7330" marT="7330" marB="0" anchor="ctr">
                    <a:solidFill>
                      <a:srgbClr val="0E50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物料描述</a:t>
                      </a:r>
                      <a:endParaRPr lang="zh-CN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30" marR="7330" marT="7330" marB="0" anchor="ctr">
                    <a:solidFill>
                      <a:srgbClr val="0E50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输出功率</a:t>
                      </a:r>
                      <a:b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zh-C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W)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30" marR="7330" marT="7330" marB="0" anchor="ctr">
                    <a:solidFill>
                      <a:srgbClr val="0E50A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8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输入额定电压</a:t>
                      </a:r>
                      <a:r>
                        <a:rPr lang="en-US" altLang="zh-CN" sz="8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8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Vac)</a:t>
                      </a:r>
                    </a:p>
                  </a:txBody>
                  <a:tcPr marL="9525" marR="9525" marT="9525" marB="0" anchor="ctr">
                    <a:solidFill>
                      <a:srgbClr val="0E50A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8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输出电压</a:t>
                      </a:r>
                      <a:br>
                        <a:rPr lang="zh-CN" altLang="en-US" sz="8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CN" sz="8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800" b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Vdc</a:t>
                      </a:r>
                      <a:r>
                        <a:rPr lang="en-US" sz="8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solidFill>
                      <a:srgbClr val="0E50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功率因素</a:t>
                      </a:r>
                      <a:b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zh-C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PF)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30" marR="7330" marT="7330" marB="0" anchor="ctr">
                    <a:solidFill>
                      <a:srgbClr val="0E50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外形尺寸</a:t>
                      </a:r>
                      <a:endParaRPr lang="en-US" altLang="zh-CN" sz="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  <a:r>
                        <a:rPr lang="en-US" altLang="zh-CN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×W×</a:t>
                      </a:r>
                      <a:r>
                        <a:rPr 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H(mm)</a:t>
                      </a:r>
                    </a:p>
                  </a:txBody>
                  <a:tcPr marL="7330" marR="7330" marT="7330" marB="0" anchor="ctr">
                    <a:solidFill>
                      <a:srgbClr val="0E50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防护等级</a:t>
                      </a:r>
                      <a:endParaRPr lang="zh-CN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330" marR="7330" marT="7330" marB="0" anchor="ctr">
                    <a:solidFill>
                      <a:srgbClr val="0E50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安装方式</a:t>
                      </a:r>
                    </a:p>
                  </a:txBody>
                  <a:tcPr marL="7330" marR="7330" marT="7330" marB="0" anchor="ctr">
                    <a:solidFill>
                      <a:srgbClr val="0E50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认证</a:t>
                      </a:r>
                    </a:p>
                  </a:txBody>
                  <a:tcPr marL="7330" marR="7330" marT="7330" marB="0" anchor="ctr">
                    <a:solidFill>
                      <a:srgbClr val="0E50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装箱数量</a:t>
                      </a:r>
                    </a:p>
                  </a:txBody>
                  <a:tcPr marL="7330" marR="7330" marT="7330" marB="0" anchor="ctr">
                    <a:solidFill>
                      <a:srgbClr val="0E5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34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820001002200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成品件</a:t>
                      </a:r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昆仑</a:t>
                      </a:r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II</a:t>
                      </a:r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电源</a:t>
                      </a:r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OP-IESVH0800024E1-01-24V80W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220-240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＞</a:t>
                      </a:r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0.5</a:t>
                      </a:r>
                    </a:p>
                  </a:txBody>
                  <a:tcPr marL="7330" marR="7330" marT="73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122*62*30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IP20</a:t>
                      </a:r>
                    </a:p>
                  </a:txBody>
                  <a:tcPr marL="7330" marR="7330" marT="733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螺丝固定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CQC</a:t>
                      </a:r>
                    </a:p>
                  </a:txBody>
                  <a:tcPr marL="7330" marR="7330" marT="733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</a:t>
                      </a:r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34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820001002300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成品件</a:t>
                      </a:r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昆仑</a:t>
                      </a:r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II</a:t>
                      </a:r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电源</a:t>
                      </a:r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OP-IESVH1500024E1-01-24V150W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220-240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＞</a:t>
                      </a:r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0.5</a:t>
                      </a:r>
                    </a:p>
                  </a:txBody>
                  <a:tcPr marL="7330" marR="7330" marT="73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190*62*30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IP20</a:t>
                      </a:r>
                    </a:p>
                  </a:txBody>
                  <a:tcPr marL="7330" marR="7330" marT="733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螺丝固定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CQC</a:t>
                      </a:r>
                    </a:p>
                  </a:txBody>
                  <a:tcPr marL="7330" marR="7330" marT="733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46AA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</a:t>
                      </a:r>
                      <a:r>
                        <a:rPr kumimoji="0" lang="zh-CN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46AA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  <a:endParaRPr kumimoji="0" lang="zh-CN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46AA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34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820001002400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成品件</a:t>
                      </a:r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昆仑</a:t>
                      </a:r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II</a:t>
                      </a:r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电源</a:t>
                      </a:r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OP-IESVH3000024E1-01-24V300W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220-240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＞</a:t>
                      </a:r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0.5</a:t>
                      </a:r>
                    </a:p>
                  </a:txBody>
                  <a:tcPr marL="7330" marR="7330" marT="73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221*62*30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IP20</a:t>
                      </a:r>
                    </a:p>
                  </a:txBody>
                  <a:tcPr marL="7330" marR="7330" marT="733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螺丝固定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CQC</a:t>
                      </a:r>
                    </a:p>
                  </a:txBody>
                  <a:tcPr marL="7330" marR="7330" marT="733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46AA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</a:t>
                      </a:r>
                      <a:r>
                        <a:rPr kumimoji="0" lang="zh-CN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46AA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256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1677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rgbClr val="0046AA"/>
      </a:dk1>
      <a:lt1>
        <a:srgbClr val="FFFFFF"/>
      </a:lt1>
      <a:dk2>
        <a:srgbClr val="1F497D"/>
      </a:dk2>
      <a:lt2>
        <a:srgbClr val="EEECE1"/>
      </a:lt2>
      <a:accent1>
        <a:srgbClr val="0046A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主题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handoutMaster1">
  <a:themeElements>
    <a:clrScheme name="handout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andout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handout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cheme1">
    <a:dk1>
      <a:srgbClr val="0046AA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23896</TotalTime>
  <Words>667</Words>
  <Application>Microsoft Office PowerPoint</Application>
  <PresentationFormat>全屏显示(16:9)</PresentationFormat>
  <Paragraphs>176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Lantinghei SC Heavy</vt:lpstr>
      <vt:lpstr>Whitney-Bold</vt:lpstr>
      <vt:lpstr>Whitney-Book</vt:lpstr>
      <vt:lpstr>Whitney-BookSC</vt:lpstr>
      <vt:lpstr>Whitney-Semibold</vt:lpstr>
      <vt:lpstr>等线</vt:lpstr>
      <vt:lpstr>方正兰亭准黑简体</vt:lpstr>
      <vt:lpstr>宋体</vt:lpstr>
      <vt:lpstr>微软雅黑</vt:lpstr>
      <vt:lpstr>Arial</vt:lpstr>
      <vt:lpstr>Calibri</vt:lpstr>
      <vt:lpstr>Times New Roman</vt:lpstr>
      <vt:lpstr>Office 主题</vt:lpstr>
      <vt:lpstr>PowerPoint 演示文稿</vt:lpstr>
      <vt:lpstr>PowerPoint 演示文稿</vt:lpstr>
      <vt:lpstr>核心卖点：高效稳定、超薄耐用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tclsevers</dc:creator>
  <cp:lastModifiedBy>shibo pi(皮世波)</cp:lastModifiedBy>
  <cp:revision>542</cp:revision>
  <dcterms:created xsi:type="dcterms:W3CDTF">2014-12-22T07:36:00Z</dcterms:created>
  <dcterms:modified xsi:type="dcterms:W3CDTF">2023-12-07T01:29:48Z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2052-10.1.0.7520</vt:lpwstr>
  </property>
</Properties>
</file>