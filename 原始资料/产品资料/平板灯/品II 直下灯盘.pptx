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handoutMasterIdLst>
    <p:handoutMasterId r:id="rId17"/>
  </p:handoutMasterIdLst>
  <p:sldIdLst>
    <p:sldId id="329" r:id="rId3"/>
    <p:sldId id="330" r:id="rId4"/>
    <p:sldId id="327" r:id="rId5"/>
    <p:sldId id="328" r:id="rId6"/>
    <p:sldId id="315" r:id="rId8"/>
    <p:sldId id="341" r:id="rId9"/>
    <p:sldId id="308" r:id="rId10"/>
    <p:sldId id="347" r:id="rId11"/>
    <p:sldId id="348" r:id="rId12"/>
    <p:sldId id="353" r:id="rId13"/>
    <p:sldId id="260" r:id="rId14"/>
    <p:sldId id="342" r:id="rId15"/>
    <p:sldId id="323" r:id="rId16"/>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ang Chen(陈亮)" initials="LC"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1199"/>
    <a:srgbClr val="E1E1E1"/>
    <a:srgbClr val="F2F2F2"/>
    <a:srgbClr val="33119A"/>
    <a:srgbClr val="D8D8D8"/>
    <a:srgbClr val="A69BC5"/>
    <a:srgbClr val="5A34C7"/>
    <a:srgbClr val="3E1AA7"/>
    <a:srgbClr val="441FAF"/>
    <a:srgbClr val="033A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52" autoAdjust="0"/>
    <p:restoredTop sz="94694"/>
  </p:normalViewPr>
  <p:slideViewPr>
    <p:cSldViewPr snapToGrid="0" snapToObjects="1">
      <p:cViewPr varScale="1">
        <p:scale>
          <a:sx n="83" d="100"/>
          <a:sy n="83" d="100"/>
        </p:scale>
        <p:origin x="446" y="67"/>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8.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27.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098F4B-766B-B048-800F-AEB0225C4C39}"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50CF6A-3771-4E41-A23C-8574DEBB2A12}"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文本框"/>
          <p:cNvSpPr>
            <a:spLocks noGrp="1"/>
          </p:cNvSpPr>
          <p:nvPr>
            <p:ph type="sldNum" idx="5"/>
          </p:nvPr>
        </p:nvSpPr>
        <p:spPr>
          <a:xfrm>
            <a:off x="3884613" y="8685213"/>
            <a:ext cx="2971800" cy="457200"/>
          </a:xfrm>
          <a:prstGeom prst="rect">
            <a:avLst/>
          </a:prstGeom>
          <a:noFill/>
          <a:ln w="9525"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宋体" panose="02010600030101010101" pitchFamily="2" charset="-122"/>
                <a:cs typeface="Calibri" panose="020F0502020204030204" charset="0"/>
              </a:rPr>
            </a:fld>
            <a:endParaRPr lang="zh-CN" altLang="en-US" sz="1200">
              <a:latin typeface="Calibri" panose="020F0502020204030204" charset="0"/>
              <a:ea typeface="宋体" panose="02010600030101010101" pitchFamily="2" charset="-122"/>
              <a:cs typeface="Calibri" panose="020F0502020204030204" charset="0"/>
            </a:endParaRPr>
          </a:p>
        </p:txBody>
      </p:sp>
      <p:sp>
        <p:nvSpPr>
          <p:cNvPr id="94" name="对象"/>
          <p:cNvSpPr>
            <a:spLocks noGrp="1" noRot="1" noChangeAspect="1"/>
          </p:cNvSpPr>
          <p:nvPr>
            <p:ph type="sldImg"/>
          </p:nvPr>
        </p:nvSpPr>
        <p:spPr>
          <a:xfrm>
            <a:off x="381000" y="685800"/>
            <a:ext cx="6096000" cy="3429000"/>
          </a:xfrm>
          <a:prstGeom prst="rect">
            <a:avLst/>
          </a:prstGeom>
          <a:noFill/>
          <a:ln w="9525" cap="flat" cmpd="sng">
            <a:noFill/>
            <a:prstDash val="solid"/>
            <a:miter/>
          </a:ln>
        </p:spPr>
      </p:sp>
      <p:sp>
        <p:nvSpPr>
          <p:cNvPr id="95" name="文本框"/>
          <p:cNvSpPr>
            <a:spLocks noGrp="1"/>
          </p:cNvSpPr>
          <p:nvPr>
            <p:ph type="body" idx="1"/>
          </p:nvPr>
        </p:nvSpPr>
        <p:spPr>
          <a:xfrm>
            <a:off x="685800" y="4343400"/>
            <a:ext cx="5486400" cy="4114800"/>
          </a:xfrm>
          <a:prstGeom prst="rect">
            <a:avLst/>
          </a:prstGeom>
          <a:noFill/>
          <a:ln w="9525" cap="flat" cmpd="sng">
            <a:noFill/>
            <a:prstDash val="solid"/>
            <a:miter/>
          </a:ln>
        </p:spPr>
        <p:txBody>
          <a:bodyPr vert="horz" wrap="square" lIns="91440" tIns="45720" rIns="91440" bIns="45720" anchor="t" anchorCtr="0"/>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14" name="文本框"/>
          <p:cNvSpPr>
            <a:spLocks noGrp="1"/>
          </p:cNvSpPr>
          <p:nvPr>
            <p:ph type="body" hasCustomPrompt="1"/>
          </p:nvPr>
        </p:nvSpPr>
        <p:spPr>
          <a:xfrm>
            <a:off x="2285973" y="1333485"/>
            <a:ext cx="9360000" cy="2476516"/>
          </a:xfrm>
          <a:prstGeom prst="rect">
            <a:avLst/>
          </a:prstGeom>
          <a:noFill/>
          <a:ln w="9525" cap="flat" cmpd="sng">
            <a:noFill/>
            <a:prstDash val="solid"/>
            <a:miter/>
          </a:ln>
        </p:spPr>
        <p:txBody>
          <a:bodyPr vert="horz" wrap="square" lIns="91440" tIns="45720" rIns="91440" bIns="45720" anchor="t" anchorCtr="0"/>
          <a:lstStyle/>
          <a:p>
            <a:pPr>
              <a:lnSpc>
                <a:spcPts val="2000"/>
              </a:lnSpc>
            </a:pPr>
            <a:r>
              <a:rPr lang="en-US" altLang="zh-CN" sz="1600" b="0" i="0" kern="2200" cap="all" spc="0" baseline="0">
                <a:solidFill>
                  <a:schemeClr val="accent1"/>
                </a:solidFill>
                <a:latin typeface="Arial" panose="020B0604020202020204" pitchFamily="34" charset="0"/>
                <a:cs typeface="Arial" panose="020B0604020202020204" pitchFamily="34" charset="0"/>
              </a:rPr>
              <a:t>Image area: To place an image, drag and drop selected content directly into the image area box, or by accessing the insert drop down menu</a:t>
            </a:r>
            <a:endParaRPr lang="zh-CN" altLang="en-US" sz="1600" b="0" i="0" kern="2200" cap="all" spc="0" baseline="0">
              <a:solidFill>
                <a:schemeClr val="accent1"/>
              </a:solidFill>
              <a:latin typeface="Arial" panose="020B0604020202020204" pitchFamily="34" charset="0"/>
              <a:cs typeface="Arial" panose="020B0604020202020204" pitchFamily="34" charset="0"/>
            </a:endParaRPr>
          </a:p>
        </p:txBody>
      </p:sp>
      <p:sp>
        <p:nvSpPr>
          <p:cNvPr id="15" name="文本框"/>
          <p:cNvSpPr>
            <a:spLocks noGrp="1"/>
          </p:cNvSpPr>
          <p:nvPr>
            <p:ph type="body" hasCustomPrompt="1"/>
          </p:nvPr>
        </p:nvSpPr>
        <p:spPr>
          <a:xfrm>
            <a:off x="2285973" y="3905253"/>
            <a:ext cx="9360000" cy="952507"/>
          </a:xfrm>
          <a:prstGeom prst="rect">
            <a:avLst/>
          </a:prstGeom>
          <a:solidFill>
            <a:schemeClr val="accent1"/>
          </a:solidFill>
          <a:ln w="9525" cap="flat" cmpd="sng">
            <a:noFill/>
            <a:prstDash val="solid"/>
            <a:miter/>
          </a:ln>
        </p:spPr>
        <p:txBody>
          <a:bodyPr vert="horz" wrap="square" lIns="91440" tIns="45720" rIns="91440" bIns="45720" anchor="t" anchorCtr="0"/>
          <a:lstStyle/>
          <a:p>
            <a:pPr>
              <a:lnSpc>
                <a:spcPts val="3200"/>
              </a:lnSpc>
            </a:pPr>
            <a:r>
              <a:rPr lang="en-US" altLang="zh-CN" sz="2800" b="0" i="0" kern="1200" cap="all" spc="0" baseline="0">
                <a:solidFill>
                  <a:schemeClr val="bg1"/>
                </a:solidFill>
                <a:latin typeface="Arial" panose="020B0604020202020204" pitchFamily="34" charset="0"/>
                <a:cs typeface="Arial" panose="020B0604020202020204" pitchFamily="34" charset="0"/>
              </a:rPr>
              <a:t>presentation title</a:t>
            </a:r>
            <a:endParaRPr lang="zh-CN" altLang="en-US" sz="2800" b="0" i="0" kern="1200" cap="all" spc="0" baseline="0">
              <a:solidFill>
                <a:schemeClr val="bg1"/>
              </a:solidFill>
              <a:latin typeface="Arial" panose="020B0604020202020204" pitchFamily="34" charset="0"/>
              <a:cs typeface="Arial" panose="020B0604020202020204" pitchFamily="34" charset="0"/>
            </a:endParaRPr>
          </a:p>
        </p:txBody>
      </p:sp>
      <p:sp>
        <p:nvSpPr>
          <p:cNvPr id="16" name="文本框"/>
          <p:cNvSpPr>
            <a:spLocks noGrp="1"/>
          </p:cNvSpPr>
          <p:nvPr>
            <p:ph type="body" idx="10"/>
          </p:nvPr>
        </p:nvSpPr>
        <p:spPr>
          <a:xfrm>
            <a:off x="2285973" y="4953011"/>
            <a:ext cx="9360000" cy="1439999"/>
          </a:xfrm>
          <a:prstGeom prst="rect">
            <a:avLst/>
          </a:prstGeom>
          <a:noFill/>
          <a:ln w="9525" cap="flat" cmpd="sng">
            <a:noFill/>
            <a:prstDash val="solid"/>
            <a:miter/>
          </a:ln>
        </p:spPr>
        <p:txBody>
          <a:bodyPr vert="horz" wrap="square" lIns="91440" tIns="45720" rIns="91440" bIns="45720" anchor="t" anchorCtr="0"/>
          <a:lstStyle/>
          <a:p>
            <a:pPr>
              <a:lnSpc>
                <a:spcPts val="2000"/>
              </a:lnSpc>
            </a:pPr>
            <a:r>
              <a:rPr lang="en-US" altLang="zh-CN" sz="1600" b="1" i="0" kern="1200" cap="all" spc="0">
                <a:solidFill>
                  <a:schemeClr val="accent1"/>
                </a:solidFill>
                <a:latin typeface="Arial" panose="020B0604020202020204" pitchFamily="34" charset="0"/>
                <a:cs typeface="Arial" panose="020B0604020202020204" pitchFamily="34" charset="0"/>
              </a:rPr>
              <a:t>Click to edit Master text styles</a:t>
            </a:r>
            <a:endParaRPr lang="zh-CN" altLang="en-US" sz="1600" b="1" i="0" kern="1200" cap="all" spc="0">
              <a:solidFill>
                <a:schemeClr val="accent1"/>
              </a:solidFill>
              <a:latin typeface="Arial" panose="020B0604020202020204" pitchFamily="34" charset="0"/>
              <a:cs typeface="Arial" panose="020B0604020202020204" pitchFamily="34" charset="0"/>
            </a:endParaRPr>
          </a:p>
        </p:txBody>
      </p:sp>
      <p:pic>
        <p:nvPicPr>
          <p:cNvPr id="17" name="图片" descr="E:\work\2014 OPPLE  VI  Brief（中国区）\新建文件夹 (2)\3.jpg"/>
          <p:cNvPicPr>
            <a:picLocks noChangeAspect="1"/>
          </p:cNvPicPr>
          <p:nvPr/>
        </p:nvPicPr>
        <p:blipFill>
          <a:blip r:embed="rId2" cstate="print"/>
          <a:stretch>
            <a:fillRect/>
          </a:stretch>
        </p:blipFill>
        <p:spPr>
          <a:xfrm>
            <a:off x="1103445" y="356659"/>
            <a:ext cx="1619261" cy="722348"/>
          </a:xfrm>
          <a:prstGeom prst="rect">
            <a:avLst/>
          </a:prstGeom>
          <a:noFill/>
          <a:ln w="9525" cap="flat" cmpd="sng">
            <a:noFill/>
            <a:prstDash val="solid"/>
            <a:miter/>
          </a:ln>
        </p:spPr>
      </p:pic>
      <p:sp>
        <p:nvSpPr>
          <p:cNvPr id="18" name="文本框"/>
          <p:cNvSpPr>
            <a:spLocks noGrp="1"/>
          </p:cNvSpPr>
          <p:nvPr>
            <p:ph type="sldNum"/>
          </p:nvPr>
        </p:nvSpPr>
        <p:spPr>
          <a:xfrm>
            <a:off x="8737600" y="6356351"/>
            <a:ext cx="2844800" cy="365125"/>
          </a:xfrm>
          <a:prstGeom prst="rect">
            <a:avLst/>
          </a:prstGeom>
          <a:noFill/>
          <a:ln w="9525" cap="flat" cmpd="sng">
            <a:noFill/>
            <a:prstDash val="solid"/>
            <a:miter/>
          </a:ln>
        </p:spPr>
        <p:txBody>
          <a:bodyPr vert="horz" wrap="square" lIns="91440" tIns="45720" rIns="91440" bIns="45720" anchor="ctr" anchorCtr="0"/>
          <a:lstStyle/>
          <a:p>
            <a:pPr algn="r"/>
            <a:fld id="{CAD2D6BD-DE1B-4B5F-8B41-2702339687B9}" type="slidenum">
              <a:rPr lang="en-US" altLang="zh-CN" sz="800" b="0" i="0" u="none" strike="noStrike" kern="1200" cap="none" spc="0" baseline="0">
                <a:solidFill>
                  <a:srgbClr val="000000"/>
                </a:solidFill>
                <a:latin typeface="Calibri" panose="020F0502020204030204" charset="0"/>
                <a:ea typeface="宋体" panose="02010600030101010101" pitchFamily="2" charset="-122"/>
                <a:cs typeface="Calibri" panose="020F0502020204030204" charset="0"/>
              </a:rPr>
            </a:fld>
            <a:endParaRPr lang="zh-CN" altLang="en-US" sz="800">
              <a:solidFill>
                <a:srgbClr val="000000"/>
              </a:solidFill>
              <a:latin typeface="Calibri" panose="020F0502020204030204" charset="0"/>
              <a:ea typeface="宋体" panose="02010600030101010101" pitchFamily="2" charset="-122"/>
              <a:cs typeface="Calibri" panose="020F0502020204030204" charset="0"/>
            </a:endParaRPr>
          </a:p>
        </p:txBody>
      </p:sp>
      <p:sp>
        <p:nvSpPr>
          <p:cNvPr id="19" name="矩形"/>
          <p:cNvSpPr/>
          <p:nvPr/>
        </p:nvSpPr>
        <p:spPr>
          <a:xfrm>
            <a:off x="1103445" y="6350553"/>
            <a:ext cx="1000760" cy="306070"/>
          </a:xfrm>
          <a:prstGeom prst="rect">
            <a:avLst/>
          </a:prstGeom>
          <a:noFill/>
          <a:ln w="9525" cap="flat" cmpd="sng">
            <a:noFill/>
            <a:prstDash val="solid"/>
            <a:miter/>
          </a:ln>
        </p:spPr>
        <p:txBody>
          <a:bodyPr vert="horz" wrap="none" lIns="121920" tIns="60960" rIns="121920" bIns="60960" anchor="t" anchorCtr="0">
            <a:spAutoFit/>
          </a:bodyPr>
          <a:lstStyle/>
          <a:p>
            <a:pPr marL="0" indent="0" algn="l">
              <a:lnSpc>
                <a:spcPct val="100000"/>
              </a:lnSpc>
              <a:spcBef>
                <a:spcPts val="0"/>
              </a:spcBef>
              <a:spcAft>
                <a:spcPts val="0"/>
              </a:spcAft>
              <a:buNone/>
            </a:pPr>
            <a:r>
              <a:rPr lang="en-US" altLang="zh-CN" sz="1200" b="1" i="0" u="none" strike="noStrike" kern="1200" cap="none" spc="0" baseline="0">
                <a:solidFill>
                  <a:schemeClr val="accent1"/>
                </a:solidFill>
                <a:latin typeface="Calibri" panose="020F0502020204030204" charset="0"/>
                <a:ea typeface="宋体" panose="02010600030101010101" pitchFamily="2" charset="-122"/>
                <a:cs typeface="Whitney-Semibold" charset="0"/>
              </a:rPr>
              <a:t>OPPLE.COM</a:t>
            </a:r>
            <a:endParaRPr lang="zh-CN" altLang="en-US" sz="1200" b="1" i="0" u="none" strike="noStrike" kern="1200" cap="none" spc="0" baseline="0">
              <a:solidFill>
                <a:schemeClr val="accent1"/>
              </a:solidFill>
              <a:latin typeface="Calibri" panose="020F0502020204030204" charset="0"/>
              <a:ea typeface="宋体" panose="02010600030101010101" pitchFamily="2" charset="-122"/>
              <a:cs typeface="Whitney-Semibold"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a:off x="0" y="1530"/>
            <a:ext cx="12192000" cy="6858000"/>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4" name="文本框 3"/>
          <p:cNvSpPr txBox="1"/>
          <p:nvPr userDrawn="1"/>
        </p:nvSpPr>
        <p:spPr>
          <a:xfrm>
            <a:off x="417441" y="6369802"/>
            <a:ext cx="1771639" cy="223138"/>
          </a:xfrm>
          <a:prstGeom prst="rect">
            <a:avLst/>
          </a:prstGeom>
          <a:noFill/>
        </p:spPr>
        <p:txBody>
          <a:bodyPr wrap="square" rtlCol="0">
            <a:spAutoFit/>
          </a:bodyPr>
          <a:lstStyle/>
          <a:p>
            <a:r>
              <a:rPr kumimoji="1" lang="en-US" altLang="zh-CN" sz="850" b="0" i="0" dirty="0">
                <a:solidFill>
                  <a:schemeClr val="tx1">
                    <a:lumMod val="75000"/>
                    <a:lumOff val="25000"/>
                  </a:schemeClr>
                </a:solidFill>
                <a:latin typeface="微软雅黑 Light" panose="020B0502040204020203" pitchFamily="34" charset="-122"/>
                <a:ea typeface="微软雅黑 Light" panose="020B0502040204020203" pitchFamily="34" charset="-122"/>
              </a:rPr>
              <a:t>OPPLE.COM</a:t>
            </a:r>
            <a:endParaRPr kumimoji="1" lang="zh-CN" altLang="en-US" sz="850" b="0" i="0"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2.xml"/><Relationship Id="rId5" Type="http://schemas.openxmlformats.org/officeDocument/2006/relationships/image" Target="../media/image8.emf"/><Relationship Id="rId4" Type="http://schemas.openxmlformats.org/officeDocument/2006/relationships/image" Target="../media/image7.emf"/><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22.png"/><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9.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oleObject" Target="../embeddings/oleObject4.bin"/><Relationship Id="rId7" Type="http://schemas.openxmlformats.org/officeDocument/2006/relationships/image" Target="../media/image25.wmf"/><Relationship Id="rId6" Type="http://schemas.openxmlformats.org/officeDocument/2006/relationships/oleObject" Target="../embeddings/oleObject3.bin"/><Relationship Id="rId5" Type="http://schemas.openxmlformats.org/officeDocument/2006/relationships/image" Target="../media/image24.wmf"/><Relationship Id="rId4" Type="http://schemas.openxmlformats.org/officeDocument/2006/relationships/oleObject" Target="../embeddings/oleObject2.bin"/><Relationship Id="rId3" Type="http://schemas.openxmlformats.org/officeDocument/2006/relationships/image" Target="../media/image23.wmf"/><Relationship Id="rId2" Type="http://schemas.openxmlformats.org/officeDocument/2006/relationships/oleObject" Target="../embeddings/oleObject1.bin"/><Relationship Id="rId13" Type="http://schemas.openxmlformats.org/officeDocument/2006/relationships/vmlDrawing" Target="../drawings/vmlDrawing1.vml"/><Relationship Id="rId12" Type="http://schemas.openxmlformats.org/officeDocument/2006/relationships/slideLayout" Target="../slideLayouts/slideLayout1.xml"/><Relationship Id="rId11" Type="http://schemas.openxmlformats.org/officeDocument/2006/relationships/image" Target="../media/image27.wmf"/><Relationship Id="rId10" Type="http://schemas.openxmlformats.org/officeDocument/2006/relationships/oleObject" Target="../embeddings/oleObject5.bin"/><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33119A"/>
        </a:solidFill>
        <a:effectLst/>
      </p:bgPr>
    </p:bg>
    <p:spTree>
      <p:nvGrpSpPr>
        <p:cNvPr id="1" name=""/>
        <p:cNvGrpSpPr/>
        <p:nvPr/>
      </p:nvGrpSpPr>
      <p:grpSpPr/>
      <p:sp>
        <p:nvSpPr>
          <p:cNvPr id="5" name="菱形 4"/>
          <p:cNvSpPr/>
          <p:nvPr/>
        </p:nvSpPr>
        <p:spPr>
          <a:xfrm rot="18840000">
            <a:off x="1652905" y="1341755"/>
            <a:ext cx="2216785" cy="4174490"/>
          </a:xfrm>
          <a:prstGeom prst="diamond">
            <a:avLst/>
          </a:prstGeom>
          <a:solidFill>
            <a:srgbClr val="441FA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任意多边形 5"/>
          <p:cNvSpPr/>
          <p:nvPr/>
        </p:nvSpPr>
        <p:spPr>
          <a:xfrm>
            <a:off x="0" y="5061585"/>
            <a:ext cx="1905000" cy="1796415"/>
          </a:xfrm>
          <a:custGeom>
            <a:avLst/>
            <a:gdLst>
              <a:gd name="connsiteX0" fmla="*/ 0 w 3000"/>
              <a:gd name="connsiteY0" fmla="*/ 2825 h 2829"/>
              <a:gd name="connsiteX1" fmla="*/ 1500 w 3000"/>
              <a:gd name="connsiteY1" fmla="*/ 0 h 2829"/>
              <a:gd name="connsiteX2" fmla="*/ 3000 w 3000"/>
              <a:gd name="connsiteY2" fmla="*/ 2825 h 2829"/>
              <a:gd name="connsiteX3" fmla="*/ 1523 w 3000"/>
              <a:gd name="connsiteY3" fmla="*/ 2829 h 2829"/>
              <a:gd name="connsiteX4" fmla="*/ 0 w 3000"/>
              <a:gd name="connsiteY4" fmla="*/ 2825 h 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0" h="2829">
                <a:moveTo>
                  <a:pt x="0" y="2825"/>
                </a:moveTo>
                <a:lnTo>
                  <a:pt x="1500" y="0"/>
                </a:lnTo>
                <a:lnTo>
                  <a:pt x="3000" y="2825"/>
                </a:lnTo>
                <a:cubicBezTo>
                  <a:pt x="2508" y="2826"/>
                  <a:pt x="2603" y="2808"/>
                  <a:pt x="1523" y="2829"/>
                </a:cubicBezTo>
                <a:cubicBezTo>
                  <a:pt x="-97" y="2788"/>
                  <a:pt x="508" y="2826"/>
                  <a:pt x="0" y="2825"/>
                </a:cubicBezTo>
                <a:close/>
              </a:path>
            </a:pathLst>
          </a:custGeom>
          <a:solidFill>
            <a:srgbClr val="441FA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菱形 6"/>
          <p:cNvSpPr/>
          <p:nvPr/>
        </p:nvSpPr>
        <p:spPr>
          <a:xfrm rot="1620000">
            <a:off x="6504940" y="87630"/>
            <a:ext cx="932815" cy="2280285"/>
          </a:xfrm>
          <a:prstGeom prst="diamond">
            <a:avLst/>
          </a:prstGeom>
          <a:solidFill>
            <a:srgbClr val="441FA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任意多边形 7"/>
          <p:cNvSpPr/>
          <p:nvPr/>
        </p:nvSpPr>
        <p:spPr>
          <a:xfrm rot="4320000">
            <a:off x="9174833" y="3312145"/>
            <a:ext cx="2499360" cy="3990975"/>
          </a:xfrm>
          <a:custGeom>
            <a:avLst/>
            <a:gdLst>
              <a:gd name="connsiteX0" fmla="*/ 0 w 3936"/>
              <a:gd name="connsiteY0" fmla="*/ 2580 h 6285"/>
              <a:gd name="connsiteX1" fmla="*/ 1344 w 3936"/>
              <a:gd name="connsiteY1" fmla="*/ 0 h 6285"/>
              <a:gd name="connsiteX2" fmla="*/ 2833 w 3936"/>
              <a:gd name="connsiteY2" fmla="*/ 506 h 6285"/>
              <a:gd name="connsiteX3" fmla="*/ 3936 w 3936"/>
              <a:gd name="connsiteY3" fmla="*/ 2580 h 6285"/>
              <a:gd name="connsiteX4" fmla="*/ 1968 w 3936"/>
              <a:gd name="connsiteY4" fmla="*/ 6285 h 6285"/>
              <a:gd name="connsiteX5" fmla="*/ 0 w 3936"/>
              <a:gd name="connsiteY5" fmla="*/ 2580 h 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6" h="6285">
                <a:moveTo>
                  <a:pt x="0" y="2580"/>
                </a:moveTo>
                <a:lnTo>
                  <a:pt x="1344" y="0"/>
                </a:lnTo>
                <a:lnTo>
                  <a:pt x="2833" y="506"/>
                </a:lnTo>
                <a:lnTo>
                  <a:pt x="3936" y="2580"/>
                </a:lnTo>
                <a:lnTo>
                  <a:pt x="1968" y="6285"/>
                </a:lnTo>
                <a:lnTo>
                  <a:pt x="0" y="2580"/>
                </a:lnTo>
                <a:close/>
              </a:path>
            </a:pathLst>
          </a:custGeom>
          <a:solidFill>
            <a:srgbClr val="441FA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椭圆 8"/>
          <p:cNvSpPr/>
          <p:nvPr/>
        </p:nvSpPr>
        <p:spPr>
          <a:xfrm>
            <a:off x="2254885" y="3502660"/>
            <a:ext cx="556895" cy="556895"/>
          </a:xfrm>
          <a:prstGeom prst="ellipse">
            <a:avLst/>
          </a:prstGeom>
          <a:solidFill>
            <a:srgbClr val="5A34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椭圆 10"/>
          <p:cNvSpPr/>
          <p:nvPr/>
        </p:nvSpPr>
        <p:spPr>
          <a:xfrm>
            <a:off x="6038215" y="5737860"/>
            <a:ext cx="862965" cy="862965"/>
          </a:xfrm>
          <a:prstGeom prst="ellipse">
            <a:avLst/>
          </a:prstGeom>
          <a:solidFill>
            <a:srgbClr val="5A34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8833485" y="2082800"/>
            <a:ext cx="556895" cy="556895"/>
          </a:xfrm>
          <a:prstGeom prst="ellipse">
            <a:avLst/>
          </a:prstGeom>
          <a:solidFill>
            <a:srgbClr val="5A34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6144895" y="3528060"/>
            <a:ext cx="4665345" cy="489585"/>
          </a:xfrm>
          <a:prstGeom prst="rect">
            <a:avLst/>
          </a:prstGeom>
          <a:noFill/>
          <a:ln w="635" cmpd="dbl">
            <a:solidFill>
              <a:schemeClr val="bg1">
                <a:lumMod val="85000"/>
              </a:schemeClr>
            </a:solidFill>
          </a:ln>
        </p:spPr>
        <p:txBody>
          <a:bodyPr wrap="square" rtlCol="0" anchor="t">
            <a:noAutofit/>
          </a:bodyPr>
          <a:p>
            <a:pPr marL="0" indent="0" algn="l" defTabSz="457200" eaLnBrk="1" latinLnBrk="0" hangingPunct="1">
              <a:lnSpc>
                <a:spcPts val="3200"/>
              </a:lnSpc>
              <a:spcBef>
                <a:spcPts val="0"/>
              </a:spcBef>
              <a:spcAft>
                <a:spcPts val="400"/>
              </a:spcAft>
              <a:buNone/>
            </a:pPr>
            <a:r>
              <a:rPr lang="zh-CN" altLang="en-US" sz="2800" cap="all" dirty="0">
                <a:solidFill>
                  <a:schemeClr val="bg1"/>
                </a:solidFill>
                <a:latin typeface="+mj-ea"/>
                <a:ea typeface="+mj-ea"/>
                <a:cs typeface="+mj-ea"/>
                <a:sym typeface="+mn-ea"/>
              </a:rPr>
              <a:t>直下灯盘</a:t>
            </a:r>
            <a:r>
              <a:rPr lang="en-US" altLang="zh-CN" sz="2800" cap="all" dirty="0">
                <a:solidFill>
                  <a:schemeClr val="bg1"/>
                </a:solidFill>
                <a:latin typeface="+mj-ea"/>
                <a:ea typeface="+mj-ea"/>
                <a:cs typeface="+mj-ea"/>
                <a:sym typeface="+mn-ea"/>
              </a:rPr>
              <a:t>-</a:t>
            </a:r>
            <a:r>
              <a:rPr lang="zh-CN" altLang="en-US" sz="2800" cap="all" dirty="0">
                <a:solidFill>
                  <a:schemeClr val="bg1"/>
                </a:solidFill>
                <a:latin typeface="+mj-ea"/>
                <a:ea typeface="+mj-ea"/>
                <a:cs typeface="+mj-ea"/>
                <a:sym typeface="+mn-ea"/>
              </a:rPr>
              <a:t>品</a:t>
            </a:r>
            <a:r>
              <a:rPr lang="en-US" altLang="zh-CN" sz="2800" cap="all" dirty="0">
                <a:solidFill>
                  <a:schemeClr val="bg1"/>
                </a:solidFill>
                <a:latin typeface="+mj-ea"/>
                <a:ea typeface="+mj-ea"/>
                <a:cs typeface="+mj-ea"/>
                <a:sym typeface="+mn-ea"/>
              </a:rPr>
              <a:t>II</a:t>
            </a:r>
            <a:r>
              <a:rPr lang="zh-CN" altLang="en-US" sz="2800" cap="all" dirty="0">
                <a:solidFill>
                  <a:schemeClr val="bg1"/>
                </a:solidFill>
                <a:latin typeface="+mj-ea"/>
                <a:ea typeface="+mj-ea"/>
                <a:cs typeface="+mj-ea"/>
                <a:sym typeface="+mn-ea"/>
              </a:rPr>
              <a:t>直下办公灯盘</a:t>
            </a:r>
            <a:endParaRPr lang="zh-CN" altLang="en-US" sz="2800" cap="all" dirty="0">
              <a:solidFill>
                <a:schemeClr val="bg1"/>
              </a:solidFill>
              <a:latin typeface="+mj-ea"/>
              <a:ea typeface="+mj-ea"/>
              <a:cs typeface="+mj-ea"/>
              <a:sym typeface="+mn-ea"/>
            </a:endParaRPr>
          </a:p>
          <a:p>
            <a:pPr marL="0" indent="0" algn="l" defTabSz="457200" eaLnBrk="1" latinLnBrk="0" hangingPunct="1">
              <a:lnSpc>
                <a:spcPts val="3200"/>
              </a:lnSpc>
              <a:spcBef>
                <a:spcPts val="0"/>
              </a:spcBef>
              <a:spcAft>
                <a:spcPts val="400"/>
              </a:spcAft>
              <a:buNone/>
            </a:pPr>
            <a:endParaRPr lang="zh-CN" altLang="en-US" sz="2800" cap="all" dirty="0">
              <a:solidFill>
                <a:schemeClr val="bg1"/>
              </a:solidFill>
              <a:latin typeface="+mj-ea"/>
              <a:ea typeface="+mj-ea"/>
              <a:cs typeface="+mj-ea"/>
              <a:sym typeface="+mn-ea"/>
            </a:endParaRPr>
          </a:p>
        </p:txBody>
      </p:sp>
      <p:sp>
        <p:nvSpPr>
          <p:cNvPr id="16" name="文本框 15"/>
          <p:cNvSpPr txBox="1"/>
          <p:nvPr/>
        </p:nvSpPr>
        <p:spPr>
          <a:xfrm>
            <a:off x="6038215" y="2668905"/>
            <a:ext cx="5742940" cy="829945"/>
          </a:xfrm>
          <a:prstGeom prst="rect">
            <a:avLst/>
          </a:prstGeom>
          <a:noFill/>
        </p:spPr>
        <p:txBody>
          <a:bodyPr wrap="square" rtlCol="0">
            <a:spAutoFit/>
          </a:bodyPr>
          <a:p>
            <a:pPr lvl="0" algn="dist"/>
            <a:r>
              <a:rPr lang="zh-CN" altLang="en-US" sz="4800">
                <a:solidFill>
                  <a:schemeClr val="bg1"/>
                </a:solidFill>
              </a:rPr>
              <a:t>无主灯新品上市介绍</a:t>
            </a:r>
            <a:endParaRPr lang="zh-CN" altLang="en-US" sz="4800">
              <a:solidFill>
                <a:schemeClr val="bg1"/>
              </a:solidFill>
            </a:endParaRPr>
          </a:p>
        </p:txBody>
      </p:sp>
      <p:pic>
        <p:nvPicPr>
          <p:cNvPr id="17" name="图片 16" descr="6060正面"/>
          <p:cNvPicPr>
            <a:picLocks noChangeAspect="1"/>
          </p:cNvPicPr>
          <p:nvPr/>
        </p:nvPicPr>
        <p:blipFill>
          <a:blip r:embed="rId1"/>
          <a:srcRect l="29099" t="7261" r="25750" b="12752"/>
          <a:stretch>
            <a:fillRect/>
          </a:stretch>
        </p:blipFill>
        <p:spPr>
          <a:xfrm>
            <a:off x="1118235" y="1440815"/>
            <a:ext cx="3990975" cy="3976370"/>
          </a:xfrm>
          <a:prstGeom prst="rect">
            <a:avLst/>
          </a:prstGeom>
          <a:effectLst>
            <a:reflection blurRad="6350" stA="52000" endA="300" endPos="350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 name="矩形 4"/>
          <p:cNvSpPr/>
          <p:nvPr/>
        </p:nvSpPr>
        <p:spPr>
          <a:xfrm>
            <a:off x="819150" y="508000"/>
            <a:ext cx="10541000" cy="5524500"/>
          </a:xfrm>
          <a:prstGeom prst="rect">
            <a:avLst/>
          </a:prstGeom>
          <a:solidFill>
            <a:srgbClr val="331199"/>
          </a:solidFill>
          <a:ln>
            <a:solidFill>
              <a:srgbClr val="331199"/>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菱形 6"/>
          <p:cNvSpPr/>
          <p:nvPr/>
        </p:nvSpPr>
        <p:spPr>
          <a:xfrm rot="1620000">
            <a:off x="6504940" y="87630"/>
            <a:ext cx="932815" cy="2280285"/>
          </a:xfrm>
          <a:prstGeom prst="diamond">
            <a:avLst/>
          </a:prstGeom>
          <a:solidFill>
            <a:srgbClr val="441FA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任意多边形 5"/>
          <p:cNvSpPr/>
          <p:nvPr/>
        </p:nvSpPr>
        <p:spPr>
          <a:xfrm>
            <a:off x="0" y="5061585"/>
            <a:ext cx="1905000" cy="1826895"/>
          </a:xfrm>
          <a:custGeom>
            <a:avLst/>
            <a:gdLst>
              <a:gd name="connsiteX0" fmla="*/ 0 w 3000"/>
              <a:gd name="connsiteY0" fmla="*/ 2825 h 2829"/>
              <a:gd name="connsiteX1" fmla="*/ 1500 w 3000"/>
              <a:gd name="connsiteY1" fmla="*/ 0 h 2829"/>
              <a:gd name="connsiteX2" fmla="*/ 3000 w 3000"/>
              <a:gd name="connsiteY2" fmla="*/ 2825 h 2829"/>
              <a:gd name="connsiteX3" fmla="*/ 1552 w 3000"/>
              <a:gd name="connsiteY3" fmla="*/ 2829 h 2829"/>
              <a:gd name="connsiteX4" fmla="*/ 0 w 3000"/>
              <a:gd name="connsiteY4" fmla="*/ 2825 h 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0" h="2829">
                <a:moveTo>
                  <a:pt x="0" y="2825"/>
                </a:moveTo>
                <a:lnTo>
                  <a:pt x="1500" y="0"/>
                </a:lnTo>
                <a:lnTo>
                  <a:pt x="3000" y="2825"/>
                </a:lnTo>
                <a:cubicBezTo>
                  <a:pt x="2508" y="2826"/>
                  <a:pt x="2632" y="2808"/>
                  <a:pt x="1552" y="2829"/>
                </a:cubicBezTo>
                <a:cubicBezTo>
                  <a:pt x="-68" y="2788"/>
                  <a:pt x="508" y="2826"/>
                  <a:pt x="0" y="2825"/>
                </a:cubicBezTo>
                <a:close/>
              </a:path>
            </a:pathLst>
          </a:custGeom>
          <a:solidFill>
            <a:srgbClr val="441FA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任意多边形 7"/>
          <p:cNvSpPr/>
          <p:nvPr/>
        </p:nvSpPr>
        <p:spPr>
          <a:xfrm rot="4320000">
            <a:off x="9174833" y="3312145"/>
            <a:ext cx="2499360" cy="3990975"/>
          </a:xfrm>
          <a:custGeom>
            <a:avLst/>
            <a:gdLst>
              <a:gd name="connsiteX0" fmla="*/ 0 w 3936"/>
              <a:gd name="connsiteY0" fmla="*/ 2580 h 6285"/>
              <a:gd name="connsiteX1" fmla="*/ 1344 w 3936"/>
              <a:gd name="connsiteY1" fmla="*/ 0 h 6285"/>
              <a:gd name="connsiteX2" fmla="*/ 2833 w 3936"/>
              <a:gd name="connsiteY2" fmla="*/ 506 h 6285"/>
              <a:gd name="connsiteX3" fmla="*/ 3936 w 3936"/>
              <a:gd name="connsiteY3" fmla="*/ 2580 h 6285"/>
              <a:gd name="connsiteX4" fmla="*/ 1968 w 3936"/>
              <a:gd name="connsiteY4" fmla="*/ 6285 h 6285"/>
              <a:gd name="connsiteX5" fmla="*/ 0 w 3936"/>
              <a:gd name="connsiteY5" fmla="*/ 2580 h 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6" h="6285">
                <a:moveTo>
                  <a:pt x="0" y="2580"/>
                </a:moveTo>
                <a:lnTo>
                  <a:pt x="1344" y="0"/>
                </a:lnTo>
                <a:lnTo>
                  <a:pt x="2833" y="506"/>
                </a:lnTo>
                <a:lnTo>
                  <a:pt x="3936" y="2580"/>
                </a:lnTo>
                <a:lnTo>
                  <a:pt x="1968" y="6285"/>
                </a:lnTo>
                <a:lnTo>
                  <a:pt x="0" y="2580"/>
                </a:lnTo>
                <a:close/>
              </a:path>
            </a:pathLst>
          </a:custGeom>
          <a:solidFill>
            <a:srgbClr val="441FA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椭圆 10"/>
          <p:cNvSpPr/>
          <p:nvPr/>
        </p:nvSpPr>
        <p:spPr>
          <a:xfrm>
            <a:off x="6038215" y="5737860"/>
            <a:ext cx="862965" cy="862965"/>
          </a:xfrm>
          <a:prstGeom prst="ellipse">
            <a:avLst/>
          </a:prstGeom>
          <a:solidFill>
            <a:srgbClr val="5A34C7">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菱形 8"/>
          <p:cNvSpPr/>
          <p:nvPr/>
        </p:nvSpPr>
        <p:spPr>
          <a:xfrm rot="18840000">
            <a:off x="779780" y="990600"/>
            <a:ext cx="2216785" cy="4174490"/>
          </a:xfrm>
          <a:prstGeom prst="diamond">
            <a:avLst/>
          </a:prstGeom>
          <a:solidFill>
            <a:srgbClr val="441FAF">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4702810" y="1181735"/>
            <a:ext cx="4064000" cy="1322070"/>
          </a:xfrm>
          <a:prstGeom prst="rect">
            <a:avLst/>
          </a:prstGeom>
          <a:noFill/>
        </p:spPr>
        <p:txBody>
          <a:bodyPr wrap="square" rtlCol="0">
            <a:spAutoFit/>
          </a:bodyPr>
          <a:p>
            <a:r>
              <a:rPr lang="zh-CN" altLang="en-US" sz="4000">
                <a:solidFill>
                  <a:schemeClr val="bg1"/>
                </a:solidFill>
              </a:rPr>
              <a:t>目录</a:t>
            </a:r>
            <a:endParaRPr lang="zh-CN" altLang="en-US" sz="4000">
              <a:solidFill>
                <a:schemeClr val="bg1"/>
              </a:solidFill>
            </a:endParaRPr>
          </a:p>
          <a:p>
            <a:r>
              <a:rPr lang="en-US" altLang="zh-CN" sz="4000">
                <a:solidFill>
                  <a:schemeClr val="bg1"/>
                </a:solidFill>
              </a:rPr>
              <a:t>CONTENTS</a:t>
            </a:r>
            <a:endParaRPr lang="en-US" altLang="zh-CN" sz="4000">
              <a:solidFill>
                <a:schemeClr val="bg1"/>
              </a:solidFill>
            </a:endParaRPr>
          </a:p>
        </p:txBody>
      </p:sp>
      <p:cxnSp>
        <p:nvCxnSpPr>
          <p:cNvPr id="14" name="直接连接符 13"/>
          <p:cNvCxnSpPr/>
          <p:nvPr/>
        </p:nvCxnSpPr>
        <p:spPr>
          <a:xfrm>
            <a:off x="4728210" y="2455545"/>
            <a:ext cx="6642100" cy="0"/>
          </a:xfrm>
          <a:prstGeom prst="line">
            <a:avLst/>
          </a:prstGeom>
          <a:ln w="12700" cmpd="sng">
            <a:solidFill>
              <a:schemeClr val="accent1">
                <a:lumMod val="75000"/>
                <a:alpha val="83000"/>
              </a:schemeClr>
            </a:solidFill>
            <a:prstDash val="solid"/>
          </a:ln>
        </p:spPr>
        <p:style>
          <a:lnRef idx="2">
            <a:schemeClr val="accent1"/>
          </a:lnRef>
          <a:fillRef idx="0">
            <a:srgbClr val="FFFFFF"/>
          </a:fillRef>
          <a:effectRef idx="0">
            <a:srgbClr val="FFFFFF"/>
          </a:effectRef>
          <a:fontRef idx="minor">
            <a:schemeClr val="tx1"/>
          </a:fontRef>
        </p:style>
      </p:cxnSp>
      <p:sp>
        <p:nvSpPr>
          <p:cNvPr id="16" name="椭圆 15"/>
          <p:cNvSpPr/>
          <p:nvPr/>
        </p:nvSpPr>
        <p:spPr>
          <a:xfrm>
            <a:off x="1522095" y="3288665"/>
            <a:ext cx="546735" cy="546735"/>
          </a:xfrm>
          <a:prstGeom prst="ellipse">
            <a:avLst/>
          </a:prstGeom>
          <a:solidFill>
            <a:srgbClr val="5A34C7">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椭圆 16"/>
          <p:cNvSpPr/>
          <p:nvPr/>
        </p:nvSpPr>
        <p:spPr>
          <a:xfrm>
            <a:off x="8140700" y="1569720"/>
            <a:ext cx="546735" cy="546735"/>
          </a:xfrm>
          <a:prstGeom prst="ellipse">
            <a:avLst/>
          </a:prstGeom>
          <a:solidFill>
            <a:srgbClr val="5A34C7">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4702810" y="3835400"/>
            <a:ext cx="2454275" cy="398780"/>
          </a:xfrm>
          <a:prstGeom prst="rect">
            <a:avLst/>
          </a:prstGeom>
          <a:noFill/>
        </p:spPr>
        <p:txBody>
          <a:bodyPr wrap="square" rtlCol="0">
            <a:spAutoFit/>
          </a:bodyPr>
          <a:p>
            <a:r>
              <a:rPr lang="en-US" altLang="zh-CN" sz="2000">
                <a:solidFill>
                  <a:schemeClr val="bg1"/>
                </a:solidFill>
              </a:rPr>
              <a:t>1/ </a:t>
            </a:r>
            <a:r>
              <a:rPr lang="zh-CN" altLang="en-US" sz="2000">
                <a:solidFill>
                  <a:schemeClr val="bg1"/>
                </a:solidFill>
              </a:rPr>
              <a:t>应用场景</a:t>
            </a:r>
            <a:endParaRPr lang="zh-CN" altLang="en-US" sz="2000">
              <a:solidFill>
                <a:schemeClr val="bg1"/>
              </a:solidFill>
            </a:endParaRPr>
          </a:p>
        </p:txBody>
      </p:sp>
      <p:sp>
        <p:nvSpPr>
          <p:cNvPr id="19" name="文本框 18"/>
          <p:cNvSpPr txBox="1"/>
          <p:nvPr/>
        </p:nvSpPr>
        <p:spPr>
          <a:xfrm>
            <a:off x="7750810" y="3835400"/>
            <a:ext cx="1943100" cy="398780"/>
          </a:xfrm>
          <a:prstGeom prst="rect">
            <a:avLst/>
          </a:prstGeom>
          <a:noFill/>
        </p:spPr>
        <p:txBody>
          <a:bodyPr wrap="square" rtlCol="0">
            <a:spAutoFit/>
          </a:bodyPr>
          <a:p>
            <a:pPr lvl="0" algn="l">
              <a:buClrTx/>
              <a:buSzTx/>
              <a:buFontTx/>
            </a:pPr>
            <a:r>
              <a:rPr lang="en-US" altLang="zh-CN" sz="2000">
                <a:solidFill>
                  <a:schemeClr val="bg1"/>
                </a:solidFill>
                <a:sym typeface="+mn-ea"/>
              </a:rPr>
              <a:t>2/</a:t>
            </a:r>
            <a:r>
              <a:rPr lang="en-US" altLang="zh-CN" sz="2000">
                <a:solidFill>
                  <a:schemeClr val="bg1"/>
                </a:solidFill>
                <a:sym typeface="+mn-ea"/>
              </a:rPr>
              <a:t> </a:t>
            </a:r>
            <a:r>
              <a:rPr lang="en-US" altLang="zh-CN" sz="2000">
                <a:solidFill>
                  <a:schemeClr val="bg1"/>
                </a:solidFill>
                <a:sym typeface="+mn-ea"/>
              </a:rPr>
              <a:t>价值</a:t>
            </a:r>
            <a:r>
              <a:rPr lang="en-US" altLang="zh-CN" sz="2000">
                <a:solidFill>
                  <a:schemeClr val="bg1"/>
                </a:solidFill>
                <a:sym typeface="+mn-ea"/>
              </a:rPr>
              <a:t>主张</a:t>
            </a:r>
            <a:endParaRPr lang="en-US" altLang="zh-CN" sz="2000">
              <a:solidFill>
                <a:schemeClr val="bg1"/>
              </a:solidFill>
              <a:sym typeface="+mn-ea"/>
            </a:endParaRPr>
          </a:p>
        </p:txBody>
      </p:sp>
      <p:sp>
        <p:nvSpPr>
          <p:cNvPr id="20" name="文本框 19"/>
          <p:cNvSpPr txBox="1"/>
          <p:nvPr/>
        </p:nvSpPr>
        <p:spPr>
          <a:xfrm>
            <a:off x="4728210" y="4422775"/>
            <a:ext cx="2454275" cy="398780"/>
          </a:xfrm>
          <a:prstGeom prst="rect">
            <a:avLst/>
          </a:prstGeom>
          <a:noFill/>
        </p:spPr>
        <p:txBody>
          <a:bodyPr wrap="square" rtlCol="0">
            <a:spAutoFit/>
          </a:bodyPr>
          <a:p>
            <a:r>
              <a:rPr lang="en-US" altLang="zh-CN" sz="2000">
                <a:solidFill>
                  <a:schemeClr val="bg1"/>
                </a:solidFill>
              </a:rPr>
              <a:t>3/ </a:t>
            </a:r>
            <a:r>
              <a:rPr lang="zh-CN" altLang="en-US" sz="2000">
                <a:solidFill>
                  <a:schemeClr val="bg1"/>
                </a:solidFill>
              </a:rPr>
              <a:t>核心卖点</a:t>
            </a:r>
            <a:endParaRPr lang="zh-CN" altLang="en-US" sz="2000">
              <a:solidFill>
                <a:schemeClr val="bg1"/>
              </a:solidFill>
            </a:endParaRPr>
          </a:p>
        </p:txBody>
      </p:sp>
      <p:sp>
        <p:nvSpPr>
          <p:cNvPr id="21" name="文本框 20"/>
          <p:cNvSpPr txBox="1"/>
          <p:nvPr/>
        </p:nvSpPr>
        <p:spPr>
          <a:xfrm>
            <a:off x="7750810" y="4422775"/>
            <a:ext cx="2454275" cy="398780"/>
          </a:xfrm>
          <a:prstGeom prst="rect">
            <a:avLst/>
          </a:prstGeom>
          <a:noFill/>
        </p:spPr>
        <p:txBody>
          <a:bodyPr wrap="square" rtlCol="0">
            <a:spAutoFit/>
          </a:bodyPr>
          <a:p>
            <a:r>
              <a:rPr lang="en-US" altLang="zh-CN" sz="2000">
                <a:solidFill>
                  <a:schemeClr val="bg1"/>
                </a:solidFill>
              </a:rPr>
              <a:t>4/ </a:t>
            </a:r>
            <a:r>
              <a:rPr lang="zh-CN" altLang="en-US" sz="2000">
                <a:solidFill>
                  <a:schemeClr val="bg1"/>
                </a:solidFill>
              </a:rPr>
              <a:t>产品参数</a:t>
            </a:r>
            <a:endParaRPr lang="zh-CN" altLang="en-US" sz="2000">
              <a:solidFill>
                <a:schemeClr val="bg1"/>
              </a:solidFill>
            </a:endParaRPr>
          </a:p>
        </p:txBody>
      </p:sp>
      <p:sp>
        <p:nvSpPr>
          <p:cNvPr id="22" name="文本框 21"/>
          <p:cNvSpPr txBox="1"/>
          <p:nvPr/>
        </p:nvSpPr>
        <p:spPr>
          <a:xfrm>
            <a:off x="4728210" y="5080000"/>
            <a:ext cx="2454275" cy="398780"/>
          </a:xfrm>
          <a:prstGeom prst="rect">
            <a:avLst/>
          </a:prstGeom>
          <a:noFill/>
        </p:spPr>
        <p:txBody>
          <a:bodyPr wrap="square" rtlCol="0">
            <a:spAutoFit/>
          </a:bodyPr>
          <a:p>
            <a:r>
              <a:rPr lang="en-US" altLang="zh-CN" sz="2000">
                <a:solidFill>
                  <a:schemeClr val="bg1"/>
                </a:solidFill>
              </a:rPr>
              <a:t>5/ </a:t>
            </a:r>
            <a:r>
              <a:rPr lang="zh-CN" altLang="en-US" sz="2000">
                <a:solidFill>
                  <a:schemeClr val="bg1"/>
                </a:solidFill>
              </a:rPr>
              <a:t>迭代差异</a:t>
            </a:r>
            <a:endParaRPr lang="zh-CN" altLang="en-US" sz="2000">
              <a:solidFill>
                <a:schemeClr val="bg1"/>
              </a:solidFill>
            </a:endParaRPr>
          </a:p>
        </p:txBody>
      </p:sp>
      <p:sp>
        <p:nvSpPr>
          <p:cNvPr id="2" name="文本框 1"/>
          <p:cNvSpPr txBox="1"/>
          <p:nvPr/>
        </p:nvSpPr>
        <p:spPr>
          <a:xfrm>
            <a:off x="7751445" y="5080000"/>
            <a:ext cx="2454275" cy="398780"/>
          </a:xfrm>
          <a:prstGeom prst="rect">
            <a:avLst/>
          </a:prstGeom>
          <a:noFill/>
        </p:spPr>
        <p:txBody>
          <a:bodyPr wrap="square" rtlCol="0">
            <a:spAutoFit/>
          </a:bodyPr>
          <a:p>
            <a:r>
              <a:rPr lang="en-US" altLang="zh-CN" sz="2000">
                <a:solidFill>
                  <a:schemeClr val="bg1"/>
                </a:solidFill>
              </a:rPr>
              <a:t>5/ </a:t>
            </a:r>
            <a:r>
              <a:rPr lang="zh-CN" altLang="en-US" sz="2000">
                <a:solidFill>
                  <a:schemeClr val="bg1"/>
                </a:solidFill>
              </a:rPr>
              <a:t>迭代</a:t>
            </a:r>
            <a:r>
              <a:rPr lang="zh-CN" altLang="en-US" sz="2000">
                <a:solidFill>
                  <a:schemeClr val="bg1"/>
                </a:solidFill>
              </a:rPr>
              <a:t>清单</a:t>
            </a:r>
            <a:endParaRPr lang="zh-CN" altLang="en-US" sz="200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 name="菱形 6"/>
          <p:cNvSpPr/>
          <p:nvPr/>
        </p:nvSpPr>
        <p:spPr>
          <a:xfrm rot="1620000">
            <a:off x="6504940" y="87630"/>
            <a:ext cx="932815" cy="2280285"/>
          </a:xfrm>
          <a:prstGeom prst="diamond">
            <a:avLst/>
          </a:prstGeom>
          <a:solidFill>
            <a:srgbClr val="E1E1E1">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任意多边形 5"/>
          <p:cNvSpPr/>
          <p:nvPr/>
        </p:nvSpPr>
        <p:spPr>
          <a:xfrm>
            <a:off x="0" y="5061585"/>
            <a:ext cx="1905000" cy="1826895"/>
          </a:xfrm>
          <a:custGeom>
            <a:avLst/>
            <a:gdLst>
              <a:gd name="connsiteX0" fmla="*/ 0 w 3000"/>
              <a:gd name="connsiteY0" fmla="*/ 2825 h 2829"/>
              <a:gd name="connsiteX1" fmla="*/ 1500 w 3000"/>
              <a:gd name="connsiteY1" fmla="*/ 0 h 2829"/>
              <a:gd name="connsiteX2" fmla="*/ 3000 w 3000"/>
              <a:gd name="connsiteY2" fmla="*/ 2825 h 2829"/>
              <a:gd name="connsiteX3" fmla="*/ 1552 w 3000"/>
              <a:gd name="connsiteY3" fmla="*/ 2829 h 2829"/>
              <a:gd name="connsiteX4" fmla="*/ 0 w 3000"/>
              <a:gd name="connsiteY4" fmla="*/ 2825 h 2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0" h="2829">
                <a:moveTo>
                  <a:pt x="0" y="2825"/>
                </a:moveTo>
                <a:lnTo>
                  <a:pt x="1500" y="0"/>
                </a:lnTo>
                <a:lnTo>
                  <a:pt x="3000" y="2825"/>
                </a:lnTo>
                <a:cubicBezTo>
                  <a:pt x="2508" y="2826"/>
                  <a:pt x="2632" y="2808"/>
                  <a:pt x="1552" y="2829"/>
                </a:cubicBezTo>
                <a:cubicBezTo>
                  <a:pt x="-68" y="2788"/>
                  <a:pt x="508" y="2826"/>
                  <a:pt x="0" y="2825"/>
                </a:cubicBezTo>
                <a:close/>
              </a:path>
            </a:pathLst>
          </a:custGeom>
          <a:solidFill>
            <a:srgbClr val="E1E1E1">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任意多边形 7"/>
          <p:cNvSpPr/>
          <p:nvPr/>
        </p:nvSpPr>
        <p:spPr>
          <a:xfrm rot="4320000">
            <a:off x="9174833" y="3312145"/>
            <a:ext cx="2499360" cy="3990975"/>
          </a:xfrm>
          <a:custGeom>
            <a:avLst/>
            <a:gdLst>
              <a:gd name="connsiteX0" fmla="*/ 0 w 3936"/>
              <a:gd name="connsiteY0" fmla="*/ 2580 h 6285"/>
              <a:gd name="connsiteX1" fmla="*/ 1344 w 3936"/>
              <a:gd name="connsiteY1" fmla="*/ 0 h 6285"/>
              <a:gd name="connsiteX2" fmla="*/ 2833 w 3936"/>
              <a:gd name="connsiteY2" fmla="*/ 506 h 6285"/>
              <a:gd name="connsiteX3" fmla="*/ 3936 w 3936"/>
              <a:gd name="connsiteY3" fmla="*/ 2580 h 6285"/>
              <a:gd name="connsiteX4" fmla="*/ 1968 w 3936"/>
              <a:gd name="connsiteY4" fmla="*/ 6285 h 6285"/>
              <a:gd name="connsiteX5" fmla="*/ 0 w 3936"/>
              <a:gd name="connsiteY5" fmla="*/ 2580 h 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6" h="6285">
                <a:moveTo>
                  <a:pt x="0" y="2580"/>
                </a:moveTo>
                <a:lnTo>
                  <a:pt x="1344" y="0"/>
                </a:lnTo>
                <a:lnTo>
                  <a:pt x="2833" y="506"/>
                </a:lnTo>
                <a:lnTo>
                  <a:pt x="3936" y="2580"/>
                </a:lnTo>
                <a:lnTo>
                  <a:pt x="1968" y="6285"/>
                </a:lnTo>
                <a:lnTo>
                  <a:pt x="0" y="2580"/>
                </a:lnTo>
                <a:close/>
              </a:path>
            </a:pathLst>
          </a:custGeom>
          <a:solidFill>
            <a:srgbClr val="E1E1E1">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椭圆 1"/>
          <p:cNvSpPr/>
          <p:nvPr/>
        </p:nvSpPr>
        <p:spPr>
          <a:xfrm>
            <a:off x="6038215" y="5737860"/>
            <a:ext cx="862965" cy="862965"/>
          </a:xfrm>
          <a:prstGeom prst="ellipse">
            <a:avLst/>
          </a:prstGeom>
          <a:solidFill>
            <a:srgbClr val="E1E1E1">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菱形 2"/>
          <p:cNvSpPr/>
          <p:nvPr/>
        </p:nvSpPr>
        <p:spPr>
          <a:xfrm rot="18840000">
            <a:off x="779780" y="990600"/>
            <a:ext cx="2216785" cy="4174490"/>
          </a:xfrm>
          <a:prstGeom prst="diamond">
            <a:avLst/>
          </a:prstGeom>
          <a:solidFill>
            <a:srgbClr val="E1E1E1">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1522095" y="3288665"/>
            <a:ext cx="546735" cy="546735"/>
          </a:xfrm>
          <a:prstGeom prst="ellipse">
            <a:avLst/>
          </a:prstGeom>
          <a:solidFill>
            <a:srgbClr val="E1E1E1">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椭圆 16"/>
          <p:cNvSpPr/>
          <p:nvPr/>
        </p:nvSpPr>
        <p:spPr>
          <a:xfrm>
            <a:off x="8140700" y="1569720"/>
            <a:ext cx="546735" cy="546735"/>
          </a:xfrm>
          <a:prstGeom prst="ellipse">
            <a:avLst/>
          </a:prstGeom>
          <a:solidFill>
            <a:srgbClr val="E1E1E1">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矩形 27"/>
          <p:cNvSpPr/>
          <p:nvPr/>
        </p:nvSpPr>
        <p:spPr>
          <a:xfrm>
            <a:off x="635" y="381635"/>
            <a:ext cx="11011535" cy="541655"/>
          </a:xfrm>
          <a:prstGeom prst="rect">
            <a:avLst/>
          </a:prstGeom>
          <a:solidFill>
            <a:srgbClr val="331199"/>
          </a:solidFill>
          <a:ln>
            <a:solidFill>
              <a:srgbClr val="331199"/>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0" name="图片 9"/>
          <p:cNvPicPr>
            <a:picLocks noChangeAspect="1"/>
          </p:cNvPicPr>
          <p:nvPr/>
        </p:nvPicPr>
        <p:blipFill>
          <a:blip r:embed="rId1"/>
          <a:stretch>
            <a:fillRect/>
          </a:stretch>
        </p:blipFill>
        <p:spPr bwMode="auto">
          <a:xfrm>
            <a:off x="864235" y="2625090"/>
            <a:ext cx="4895215" cy="288099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图片 10"/>
          <p:cNvPicPr>
            <a:picLocks noChangeAspect="1"/>
          </p:cNvPicPr>
          <p:nvPr/>
        </p:nvPicPr>
        <p:blipFill>
          <a:blip r:embed="rId2"/>
          <a:stretch>
            <a:fillRect/>
          </a:stretch>
        </p:blipFill>
        <p:spPr bwMode="auto">
          <a:xfrm>
            <a:off x="6096000" y="2625090"/>
            <a:ext cx="4915535" cy="28892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文本框 11"/>
          <p:cNvSpPr txBox="1"/>
          <p:nvPr/>
        </p:nvSpPr>
        <p:spPr>
          <a:xfrm>
            <a:off x="864235" y="1254125"/>
            <a:ext cx="10147935" cy="1060450"/>
          </a:xfrm>
          <a:prstGeom prst="rect">
            <a:avLst/>
          </a:prstGeom>
          <a:noFill/>
        </p:spPr>
        <p:txBody>
          <a:bodyPr wrap="square" rtlCol="0" anchor="t">
            <a:spAutoFit/>
          </a:bodyPr>
          <a:p>
            <a:pPr indent="457200">
              <a:lnSpc>
                <a:spcPct val="150000"/>
              </a:lnSpc>
            </a:pPr>
            <a:r>
              <a:rPr lang="zh-CN" altLang="en-US" sz="14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sym typeface="+mn-ea"/>
              </a:rPr>
              <a:t>办公场所的光环境是决定了工作场所的舒适度与效率的重要因素之一。因此，优秀的照明环境和灯具在办公场所起着至关重要的作用。同时，考虑到办公用户一天工作时长将在</a:t>
            </a:r>
            <a:r>
              <a:rPr lang="en-US" altLang="zh-CN" sz="14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14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sym typeface="+mn-ea"/>
              </a:rPr>
              <a:t>小时以上；一款无可视频闪、足够的光通量的灯具，</a:t>
            </a:r>
            <a:r>
              <a:rPr lang="zh-CN" altLang="en-US" sz="14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sym typeface="+mn-ea"/>
              </a:rPr>
              <a:t>可以守护每一位的</a:t>
            </a:r>
            <a:r>
              <a:rPr lang="zh-CN" altLang="en-US" sz="14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sym typeface="+mn-ea"/>
              </a:rPr>
              <a:t>用眼健康。</a:t>
            </a:r>
            <a:endParaRPr lang="zh-CN" altLang="en-US" sz="1400" dirty="0">
              <a:solidFill>
                <a:srgbClr val="2C2C2C"/>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30" name="组合 29"/>
          <p:cNvGrpSpPr/>
          <p:nvPr/>
        </p:nvGrpSpPr>
        <p:grpSpPr>
          <a:xfrm>
            <a:off x="514350" y="419735"/>
            <a:ext cx="6291580" cy="475615"/>
            <a:chOff x="810" y="481"/>
            <a:chExt cx="9908" cy="749"/>
          </a:xfrm>
        </p:grpSpPr>
        <p:sp>
          <p:nvSpPr>
            <p:cNvPr id="9" name="矩形 8"/>
            <p:cNvSpPr/>
            <p:nvPr/>
          </p:nvSpPr>
          <p:spPr>
            <a:xfrm flipH="1">
              <a:off x="810" y="481"/>
              <a:ext cx="174" cy="7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3" name="文本框 12"/>
            <p:cNvSpPr txBox="1"/>
            <p:nvPr/>
          </p:nvSpPr>
          <p:spPr>
            <a:xfrm>
              <a:off x="1118" y="481"/>
              <a:ext cx="9600" cy="749"/>
            </a:xfrm>
            <a:prstGeom prst="rect">
              <a:avLst/>
            </a:prstGeom>
            <a:noFill/>
          </p:spPr>
          <p:txBody>
            <a:bodyPr wrap="square" rtlCol="0" anchor="t">
              <a:spAutoFit/>
            </a:bodyPr>
            <a:p>
              <a:pPr algn="l">
                <a:lnSpc>
                  <a:spcPts val="3000"/>
                </a:lnSpc>
              </a:pPr>
              <a:r>
                <a:rPr lang="zh-CN" altLang="en-US" sz="2800" b="1" dirty="0">
                  <a:solidFill>
                    <a:schemeClr val="bg1"/>
                  </a:solidFill>
                  <a:latin typeface="微软雅黑" panose="020B0503020204020204" pitchFamily="34" charset="-122"/>
                  <a:ea typeface="微软雅黑" panose="020B0503020204020204" pitchFamily="34" charset="-122"/>
                  <a:cs typeface="方正兰亭准黑简体" charset="-122"/>
                  <a:sym typeface="+mn-ea"/>
                </a:rPr>
                <a:t>应用</a:t>
              </a:r>
              <a:r>
                <a:rPr lang="zh-CN" altLang="en-US" sz="2800" b="1" dirty="0">
                  <a:solidFill>
                    <a:schemeClr val="bg1"/>
                  </a:solidFill>
                  <a:latin typeface="微软雅黑" panose="020B0503020204020204" pitchFamily="34" charset="-122"/>
                  <a:ea typeface="微软雅黑" panose="020B0503020204020204" pitchFamily="34" charset="-122"/>
                  <a:cs typeface="方正兰亭准黑简体" charset="-122"/>
                  <a:sym typeface="+mn-ea"/>
                </a:rPr>
                <a:t>场景：办公场所</a:t>
              </a:r>
              <a:endParaRPr lang="zh-CN" altLang="en-US" sz="2800" b="1" dirty="0">
                <a:solidFill>
                  <a:schemeClr val="bg1"/>
                </a:solidFill>
                <a:latin typeface="微软雅黑" panose="020B0503020204020204" pitchFamily="34" charset="-122"/>
                <a:ea typeface="微软雅黑" panose="020B0503020204020204" pitchFamily="34" charset="-122"/>
                <a:cs typeface="方正兰亭准黑简体" charset="-122"/>
                <a:sym typeface="+mn-ea"/>
              </a:endParaRPr>
            </a:p>
          </p:txBody>
        </p:sp>
      </p:grpSp>
      <p:sp>
        <p:nvSpPr>
          <p:cNvPr id="31" name="矩形 30"/>
          <p:cNvSpPr/>
          <p:nvPr/>
        </p:nvSpPr>
        <p:spPr>
          <a:xfrm>
            <a:off x="11165840" y="381635"/>
            <a:ext cx="117475" cy="541655"/>
          </a:xfrm>
          <a:prstGeom prst="rect">
            <a:avLst/>
          </a:prstGeom>
          <a:solidFill>
            <a:srgbClr val="331199"/>
          </a:solidFill>
          <a:ln>
            <a:solidFill>
              <a:srgbClr val="331199"/>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任意多边形 18"/>
          <p:cNvSpPr/>
          <p:nvPr/>
        </p:nvSpPr>
        <p:spPr>
          <a:xfrm rot="4080000">
            <a:off x="9243695" y="1527810"/>
            <a:ext cx="3291840" cy="3554730"/>
          </a:xfrm>
          <a:custGeom>
            <a:avLst/>
            <a:gdLst>
              <a:gd name="connsiteX0" fmla="*/ 0 w 6501"/>
              <a:gd name="connsiteY0" fmla="*/ 2496 h 5598"/>
              <a:gd name="connsiteX1" fmla="*/ 1702 w 6501"/>
              <a:gd name="connsiteY1" fmla="*/ 0 h 5598"/>
              <a:gd name="connsiteX2" fmla="*/ 5655 w 6501"/>
              <a:gd name="connsiteY2" fmla="*/ 1266 h 5598"/>
              <a:gd name="connsiteX3" fmla="*/ 6501 w 6501"/>
              <a:gd name="connsiteY3" fmla="*/ 2496 h 5598"/>
              <a:gd name="connsiteX4" fmla="*/ 4369 w 6501"/>
              <a:gd name="connsiteY4" fmla="*/ 5598 h 5598"/>
              <a:gd name="connsiteX5" fmla="*/ 2069 w 6501"/>
              <a:gd name="connsiteY5" fmla="*/ 5519 h 5598"/>
              <a:gd name="connsiteX6" fmla="*/ 0 w 6501"/>
              <a:gd name="connsiteY6" fmla="*/ 2496 h 5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01" h="5598">
                <a:moveTo>
                  <a:pt x="0" y="2496"/>
                </a:moveTo>
                <a:lnTo>
                  <a:pt x="1702" y="0"/>
                </a:lnTo>
                <a:lnTo>
                  <a:pt x="5655" y="1266"/>
                </a:lnTo>
                <a:lnTo>
                  <a:pt x="6501" y="2496"/>
                </a:lnTo>
                <a:lnTo>
                  <a:pt x="4369" y="5598"/>
                </a:lnTo>
                <a:lnTo>
                  <a:pt x="2069" y="5519"/>
                </a:lnTo>
                <a:lnTo>
                  <a:pt x="0" y="2496"/>
                </a:lnTo>
                <a:close/>
              </a:path>
            </a:pathLst>
          </a:custGeom>
          <a:solidFill>
            <a:schemeClr val="bg1">
              <a:lumMod val="85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任意多边形 17"/>
          <p:cNvSpPr/>
          <p:nvPr/>
        </p:nvSpPr>
        <p:spPr>
          <a:xfrm rot="18840000">
            <a:off x="-473276" y="3772428"/>
            <a:ext cx="3126105" cy="4023995"/>
          </a:xfrm>
          <a:custGeom>
            <a:avLst/>
            <a:gdLst>
              <a:gd name="connsiteX0" fmla="*/ 0 w 4923"/>
              <a:gd name="connsiteY0" fmla="*/ 3167 h 6337"/>
              <a:gd name="connsiteX1" fmla="*/ 1700 w 4923"/>
              <a:gd name="connsiteY1" fmla="*/ 1521 h 6337"/>
              <a:gd name="connsiteX2" fmla="*/ 3233 w 4923"/>
              <a:gd name="connsiteY2" fmla="*/ 0 h 6337"/>
              <a:gd name="connsiteX3" fmla="*/ 4923 w 4923"/>
              <a:gd name="connsiteY3" fmla="*/ 3197 h 6337"/>
              <a:gd name="connsiteX4" fmla="*/ 3169 w 4923"/>
              <a:gd name="connsiteY4" fmla="*/ 6337 h 6337"/>
              <a:gd name="connsiteX5" fmla="*/ 1492 w 4923"/>
              <a:gd name="connsiteY5" fmla="*/ 4650 h 6337"/>
              <a:gd name="connsiteX6" fmla="*/ 0 w 4923"/>
              <a:gd name="connsiteY6" fmla="*/ 3167 h 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23" h="6337">
                <a:moveTo>
                  <a:pt x="0" y="3167"/>
                </a:moveTo>
                <a:lnTo>
                  <a:pt x="1700" y="1521"/>
                </a:lnTo>
                <a:lnTo>
                  <a:pt x="3233" y="0"/>
                </a:lnTo>
                <a:lnTo>
                  <a:pt x="4923" y="3197"/>
                </a:lnTo>
                <a:lnTo>
                  <a:pt x="3169" y="6337"/>
                </a:lnTo>
                <a:lnTo>
                  <a:pt x="1492" y="4650"/>
                </a:lnTo>
                <a:lnTo>
                  <a:pt x="0" y="3167"/>
                </a:lnTo>
                <a:close/>
              </a:path>
            </a:pathLst>
          </a:custGeom>
          <a:solidFill>
            <a:srgbClr val="331199">
              <a:alpha val="9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6" name="图片 15" descr="6060正面"/>
          <p:cNvPicPr>
            <a:picLocks noChangeAspect="1"/>
          </p:cNvPicPr>
          <p:nvPr/>
        </p:nvPicPr>
        <p:blipFill>
          <a:blip r:embed="rId1"/>
          <a:srcRect l="29099" t="7261" r="25750" b="12752"/>
          <a:stretch>
            <a:fillRect/>
          </a:stretch>
        </p:blipFill>
        <p:spPr>
          <a:xfrm>
            <a:off x="1461770" y="1958975"/>
            <a:ext cx="3703955" cy="3690620"/>
          </a:xfrm>
          <a:prstGeom prst="rect">
            <a:avLst/>
          </a:prstGeom>
          <a:effectLst>
            <a:outerShdw blurRad="50800" dist="38100" dir="5400000" algn="t" rotWithShape="0">
              <a:prstClr val="black">
                <a:alpha val="40000"/>
              </a:prstClr>
            </a:outerShdw>
            <a:reflection blurRad="6350" stA="52000" endA="300" endPos="35000" dir="5400000" sy="-100000" algn="bl" rotWithShape="0"/>
          </a:effectLst>
        </p:spPr>
      </p:pic>
      <p:sp>
        <p:nvSpPr>
          <p:cNvPr id="28" name="矩形 27"/>
          <p:cNvSpPr/>
          <p:nvPr/>
        </p:nvSpPr>
        <p:spPr>
          <a:xfrm>
            <a:off x="635" y="381635"/>
            <a:ext cx="11011535" cy="541655"/>
          </a:xfrm>
          <a:prstGeom prst="rect">
            <a:avLst/>
          </a:prstGeom>
          <a:solidFill>
            <a:srgbClr val="331199"/>
          </a:solidFill>
          <a:ln>
            <a:solidFill>
              <a:srgbClr val="331199"/>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30" name="组合 29"/>
          <p:cNvGrpSpPr/>
          <p:nvPr/>
        </p:nvGrpSpPr>
        <p:grpSpPr>
          <a:xfrm>
            <a:off x="514350" y="419735"/>
            <a:ext cx="6291580" cy="475615"/>
            <a:chOff x="810" y="481"/>
            <a:chExt cx="9908" cy="749"/>
          </a:xfrm>
        </p:grpSpPr>
        <p:sp>
          <p:nvSpPr>
            <p:cNvPr id="27" name="矩形 26"/>
            <p:cNvSpPr/>
            <p:nvPr/>
          </p:nvSpPr>
          <p:spPr>
            <a:xfrm flipH="1">
              <a:off x="810" y="481"/>
              <a:ext cx="174" cy="7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29" name="文本框 28"/>
            <p:cNvSpPr txBox="1"/>
            <p:nvPr/>
          </p:nvSpPr>
          <p:spPr>
            <a:xfrm>
              <a:off x="1118" y="481"/>
              <a:ext cx="9600" cy="749"/>
            </a:xfrm>
            <a:prstGeom prst="rect">
              <a:avLst/>
            </a:prstGeom>
            <a:noFill/>
          </p:spPr>
          <p:txBody>
            <a:bodyPr wrap="square" rtlCol="0" anchor="t">
              <a:spAutoFit/>
            </a:bodyPr>
            <a:p>
              <a:pPr algn="l">
                <a:lnSpc>
                  <a:spcPts val="3000"/>
                </a:lnSpc>
              </a:pPr>
              <a:r>
                <a:rPr lang="zh-CN" altLang="en-US" sz="2800" b="1" dirty="0">
                  <a:solidFill>
                    <a:schemeClr val="bg1"/>
                  </a:solidFill>
                  <a:latin typeface="微软雅黑" panose="020B0503020204020204" pitchFamily="34" charset="-122"/>
                  <a:ea typeface="微软雅黑" panose="020B0503020204020204" pitchFamily="34" charset="-122"/>
                  <a:cs typeface="方正兰亭准黑简体" charset="-122"/>
                  <a:sym typeface="+mn-ea"/>
                </a:rPr>
                <a:t>价值</a:t>
              </a:r>
              <a:r>
                <a:rPr lang="zh-CN" altLang="en-US" sz="2800" b="1" dirty="0">
                  <a:solidFill>
                    <a:schemeClr val="bg1"/>
                  </a:solidFill>
                  <a:latin typeface="微软雅黑" panose="020B0503020204020204" pitchFamily="34" charset="-122"/>
                  <a:ea typeface="微软雅黑" panose="020B0503020204020204" pitchFamily="34" charset="-122"/>
                  <a:cs typeface="方正兰亭准黑简体" charset="-122"/>
                  <a:sym typeface="+mn-ea"/>
                </a:rPr>
                <a:t>主张</a:t>
              </a:r>
              <a:endParaRPr lang="zh-CN" altLang="en-US" sz="2800" b="1" dirty="0">
                <a:solidFill>
                  <a:schemeClr val="bg1"/>
                </a:solidFill>
                <a:latin typeface="微软雅黑" panose="020B0503020204020204" pitchFamily="34" charset="-122"/>
                <a:ea typeface="微软雅黑" panose="020B0503020204020204" pitchFamily="34" charset="-122"/>
                <a:cs typeface="方正兰亭准黑简体" charset="-122"/>
                <a:sym typeface="+mn-ea"/>
              </a:endParaRPr>
            </a:p>
          </p:txBody>
        </p:sp>
      </p:grpSp>
      <p:sp>
        <p:nvSpPr>
          <p:cNvPr id="32" name="矩形 31"/>
          <p:cNvSpPr/>
          <p:nvPr/>
        </p:nvSpPr>
        <p:spPr>
          <a:xfrm>
            <a:off x="11165840" y="381635"/>
            <a:ext cx="117475" cy="541655"/>
          </a:xfrm>
          <a:prstGeom prst="rect">
            <a:avLst/>
          </a:prstGeom>
          <a:solidFill>
            <a:srgbClr val="331199"/>
          </a:solidFill>
          <a:ln>
            <a:solidFill>
              <a:srgbClr val="331199"/>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40" name="组合 39"/>
          <p:cNvGrpSpPr/>
          <p:nvPr/>
        </p:nvGrpSpPr>
        <p:grpSpPr>
          <a:xfrm>
            <a:off x="6211815" y="1547375"/>
            <a:ext cx="4621920" cy="4339075"/>
            <a:chOff x="9782" y="2684"/>
            <a:chExt cx="7279" cy="6833"/>
          </a:xfrm>
        </p:grpSpPr>
        <p:grpSp>
          <p:nvGrpSpPr>
            <p:cNvPr id="17" name="组合 16"/>
            <p:cNvGrpSpPr/>
            <p:nvPr/>
          </p:nvGrpSpPr>
          <p:grpSpPr>
            <a:xfrm>
              <a:off x="9782" y="2684"/>
              <a:ext cx="6625" cy="5059"/>
              <a:chOff x="10357" y="2119"/>
              <a:chExt cx="6625" cy="5059"/>
            </a:xfrm>
          </p:grpSpPr>
          <p:grpSp>
            <p:nvGrpSpPr>
              <p:cNvPr id="7" name="组合 6"/>
              <p:cNvGrpSpPr/>
              <p:nvPr/>
            </p:nvGrpSpPr>
            <p:grpSpPr>
              <a:xfrm>
                <a:off x="10358" y="2119"/>
                <a:ext cx="5979" cy="1511"/>
                <a:chOff x="691663" y="5252600"/>
                <a:chExt cx="3796665" cy="959422"/>
              </a:xfrm>
            </p:grpSpPr>
            <p:sp>
              <p:nvSpPr>
                <p:cNvPr id="8" name="矩形 7"/>
                <p:cNvSpPr/>
                <p:nvPr/>
              </p:nvSpPr>
              <p:spPr>
                <a:xfrm>
                  <a:off x="1369208" y="5382077"/>
                  <a:ext cx="3119120" cy="829945"/>
                </a:xfrm>
                <a:prstGeom prst="rect">
                  <a:avLst/>
                </a:prstGeom>
              </p:spPr>
              <p:txBody>
                <a:bodyPr wrap="square">
                  <a:spAutoFit/>
                </a:bodyPr>
                <a:p>
                  <a:pPr>
                    <a:lnSpc>
                      <a:spcPct val="150000"/>
                    </a:lnSpc>
                  </a:pPr>
                  <a:r>
                    <a:rPr lang="zh-CN" altLang="en-US" sz="1600" b="1" dirty="0">
                      <a:latin typeface="微软雅黑 Light" panose="020B0502040204020203" pitchFamily="34" charset="-122"/>
                      <a:ea typeface="微软雅黑 Light" panose="020B0502040204020203" pitchFamily="34" charset="-122"/>
                    </a:rPr>
                    <a:t>三级能效标准</a:t>
                  </a:r>
                  <a:r>
                    <a:rPr lang="en-US" altLang="zh-CN" sz="1600" b="1" dirty="0">
                      <a:latin typeface="微软雅黑 Light" panose="020B0502040204020203" pitchFamily="34" charset="-122"/>
                      <a:ea typeface="微软雅黑 Light" panose="020B0502040204020203" pitchFamily="34" charset="-122"/>
                    </a:rPr>
                    <a:t> </a:t>
                  </a:r>
                  <a:endParaRPr lang="en-US" altLang="zh-CN" sz="1600" b="1" dirty="0">
                    <a:latin typeface="微软雅黑 Light" panose="020B0502040204020203" pitchFamily="34" charset="-122"/>
                    <a:ea typeface="微软雅黑 Light" panose="020B0502040204020203" pitchFamily="34" charset="-122"/>
                  </a:endParaRPr>
                </a:p>
                <a:p>
                  <a:pPr>
                    <a:lnSpc>
                      <a:spcPct val="150000"/>
                    </a:lnSpc>
                  </a:pPr>
                  <a:r>
                    <a:rPr lang="zh-CN" altLang="en-US" sz="1600" dirty="0">
                      <a:latin typeface="微软雅黑 Light" panose="020B0502040204020203" pitchFamily="34" charset="-122"/>
                      <a:ea typeface="微软雅黑 Light" panose="020B0502040204020203" pitchFamily="34" charset="-122"/>
                    </a:rPr>
                    <a:t>单灯光效80lm/W</a:t>
                  </a:r>
                  <a:r>
                    <a:rPr lang="en-US" altLang="zh-CN" sz="1600" dirty="0">
                      <a:latin typeface="微软雅黑 Light" panose="020B0502040204020203" pitchFamily="34" charset="-122"/>
                      <a:ea typeface="微软雅黑 Light" panose="020B0502040204020203" pitchFamily="34" charset="-122"/>
                    </a:rPr>
                    <a:t> </a:t>
                  </a:r>
                  <a:r>
                    <a:rPr lang="zh-CN" altLang="en-US" sz="1600" dirty="0">
                      <a:latin typeface="微软雅黑 Light" panose="020B0502040204020203" pitchFamily="34" charset="-122"/>
                      <a:ea typeface="微软雅黑 Light" panose="020B0502040204020203" pitchFamily="34" charset="-122"/>
                    </a:rPr>
                    <a:t>显指</a:t>
                  </a:r>
                  <a:r>
                    <a:rPr lang="en-US" altLang="zh-CN" sz="1600" dirty="0">
                      <a:latin typeface="微软雅黑 Light" panose="020B0502040204020203" pitchFamily="34" charset="-122"/>
                      <a:ea typeface="微软雅黑 Light" panose="020B0502040204020203" pitchFamily="34" charset="-122"/>
                    </a:rPr>
                    <a:t> R</a:t>
                  </a:r>
                  <a:r>
                    <a:rPr lang="en-US" altLang="zh-CN" sz="1600" dirty="0">
                      <a:latin typeface="微软雅黑 Light" panose="020B0502040204020203" pitchFamily="34" charset="-122"/>
                      <a:ea typeface="微软雅黑 Light" panose="020B0502040204020203" pitchFamily="34" charset="-122"/>
                    </a:rPr>
                    <a:t>a80</a:t>
                  </a:r>
                  <a:endParaRPr lang="en-US" altLang="zh-CN" sz="1600" dirty="0">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1255016" y="5252600"/>
                  <a:ext cx="309880" cy="368300"/>
                </a:xfrm>
                <a:prstGeom prst="rect">
                  <a:avLst/>
                </a:prstGeom>
                <a:noFill/>
              </p:spPr>
              <p:txBody>
                <a:bodyPr wrap="none" rtlCol="0">
                  <a:spAutoFit/>
                </a:bodyPr>
                <a:p>
                  <a:endParaRPr kumimoji="1" lang="zh-CN" altLang="en-US"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691663" y="5519701"/>
                  <a:ext cx="527599" cy="527599"/>
                </a:xfrm>
                <a:prstGeom prst="rect">
                  <a:avLst/>
                </a:prstGeom>
              </p:spPr>
            </p:pic>
          </p:grpSp>
          <p:grpSp>
            <p:nvGrpSpPr>
              <p:cNvPr id="12" name="组合 11"/>
              <p:cNvGrpSpPr/>
              <p:nvPr/>
            </p:nvGrpSpPr>
            <p:grpSpPr>
              <a:xfrm>
                <a:off x="10520" y="5871"/>
                <a:ext cx="6462" cy="1307"/>
                <a:chOff x="6522682" y="5232217"/>
                <a:chExt cx="4103370" cy="829945"/>
              </a:xfrm>
            </p:grpSpPr>
            <p:sp>
              <p:nvSpPr>
                <p:cNvPr id="31" name="矩形 30"/>
                <p:cNvSpPr/>
                <p:nvPr/>
              </p:nvSpPr>
              <p:spPr>
                <a:xfrm>
                  <a:off x="7097357" y="5232217"/>
                  <a:ext cx="3528695" cy="829945"/>
                </a:xfrm>
                <a:prstGeom prst="rect">
                  <a:avLst/>
                </a:prstGeom>
              </p:spPr>
              <p:txBody>
                <a:bodyPr wrap="square">
                  <a:spAutoFit/>
                </a:bodyPr>
                <a:p>
                  <a:pPr>
                    <a:lnSpc>
                      <a:spcPct val="150000"/>
                    </a:lnSpc>
                  </a:pPr>
                  <a:r>
                    <a:rPr lang="zh-CN" altLang="en-US" sz="1600" dirty="0">
                      <a:latin typeface="微软雅黑 Light" panose="020B0502040204020203" pitchFamily="34" charset="-122"/>
                      <a:ea typeface="微软雅黑 Light" panose="020B0502040204020203" pitchFamily="34" charset="-122"/>
                    </a:rPr>
                    <a:t>金属边框、强度更高</a:t>
                  </a:r>
                  <a:endParaRPr lang="en-US" altLang="zh-CN" sz="1600" dirty="0">
                    <a:latin typeface="微软雅黑 Light" panose="020B0502040204020203" pitchFamily="34" charset="-122"/>
                    <a:ea typeface="微软雅黑 Light" panose="020B0502040204020203" pitchFamily="34" charset="-122"/>
                  </a:endParaRPr>
                </a:p>
                <a:p>
                  <a:pPr>
                    <a:lnSpc>
                      <a:spcPct val="150000"/>
                    </a:lnSpc>
                  </a:pPr>
                  <a:r>
                    <a:rPr lang="zh-CN" altLang="en-US" sz="1600" dirty="0">
                      <a:latin typeface="微软雅黑 Light" panose="020B0502040204020203" pitchFamily="34" charset="-122"/>
                      <a:ea typeface="微软雅黑 Light" panose="020B0502040204020203" pitchFamily="34" charset="-122"/>
                    </a:rPr>
                    <a:t>多种</a:t>
                  </a:r>
                  <a:r>
                    <a:rPr lang="zh-CN" altLang="en-US" sz="1600" dirty="0">
                      <a:latin typeface="微软雅黑 Light" panose="020B0502040204020203" pitchFamily="34" charset="-122"/>
                      <a:ea typeface="微软雅黑 Light" panose="020B0502040204020203" pitchFamily="34" charset="-122"/>
                    </a:rPr>
                    <a:t>尺寸，适配多种安装场景</a:t>
                  </a:r>
                  <a:endParaRPr lang="zh-CN" altLang="en-US" sz="1600" dirty="0">
                    <a:latin typeface="微软雅黑 Light" panose="020B0502040204020203" pitchFamily="34" charset="-122"/>
                    <a:ea typeface="微软雅黑 Light" panose="020B0502040204020203" pitchFamily="34" charset="-122"/>
                  </a:endParaRPr>
                </a:p>
              </p:txBody>
            </p:sp>
            <p:pic>
              <p:nvPicPr>
                <p:cNvPr id="33" name="图片 32"/>
                <p:cNvPicPr>
                  <a:picLocks noChangeAspect="1"/>
                </p:cNvPicPr>
                <p:nvPr/>
              </p:nvPicPr>
              <p:blipFill>
                <a:blip r:embed="rId3"/>
                <a:stretch>
                  <a:fillRect/>
                </a:stretch>
              </p:blipFill>
              <p:spPr>
                <a:xfrm>
                  <a:off x="6522682" y="5427208"/>
                  <a:ext cx="441764" cy="399760"/>
                </a:xfrm>
                <a:prstGeom prst="rect">
                  <a:avLst/>
                </a:prstGeom>
              </p:spPr>
            </p:pic>
          </p:grpSp>
          <p:grpSp>
            <p:nvGrpSpPr>
              <p:cNvPr id="14" name="组合 13"/>
              <p:cNvGrpSpPr/>
              <p:nvPr/>
            </p:nvGrpSpPr>
            <p:grpSpPr>
              <a:xfrm>
                <a:off x="10357" y="4011"/>
                <a:ext cx="6171" cy="1393"/>
                <a:chOff x="3443850" y="5241615"/>
                <a:chExt cx="3918585" cy="884532"/>
              </a:xfrm>
            </p:grpSpPr>
            <p:sp>
              <p:nvSpPr>
                <p:cNvPr id="20" name="矩形 19"/>
                <p:cNvSpPr/>
                <p:nvPr/>
              </p:nvSpPr>
              <p:spPr>
                <a:xfrm>
                  <a:off x="4121395" y="5296225"/>
                  <a:ext cx="3241040" cy="829922"/>
                </a:xfrm>
                <a:prstGeom prst="rect">
                  <a:avLst/>
                </a:prstGeom>
              </p:spPr>
              <p:txBody>
                <a:bodyPr wrap="square">
                  <a:spAutoFit/>
                </a:bodyPr>
                <a:p>
                  <a:pPr>
                    <a:lnSpc>
                      <a:spcPct val="150000"/>
                    </a:lnSpc>
                  </a:pPr>
                  <a:r>
                    <a:rPr lang="zh-CN" altLang="en-US" sz="1600" dirty="0">
                      <a:latin typeface="微软雅黑 Light" panose="020B0502040204020203" pitchFamily="34" charset="-122"/>
                      <a:ea typeface="微软雅黑 Light" panose="020B0502040204020203" pitchFamily="34" charset="-122"/>
                    </a:rPr>
                    <a:t>功率因数</a:t>
                  </a:r>
                  <a:r>
                    <a:rPr lang="en-US" altLang="zh-CN" sz="1600" dirty="0">
                      <a:latin typeface="微软雅黑 Light" panose="020B0502040204020203" pitchFamily="34" charset="-122"/>
                      <a:ea typeface="微软雅黑 Light" panose="020B0502040204020203" pitchFamily="34" charset="-122"/>
                    </a:rPr>
                    <a:t>0.95</a:t>
                  </a:r>
                  <a:r>
                    <a:rPr lang="zh-CN" altLang="en-US" sz="1600" dirty="0">
                      <a:latin typeface="微软雅黑 Light" panose="020B0502040204020203" pitchFamily="34" charset="-122"/>
                      <a:ea typeface="微软雅黑 Light" panose="020B0502040204020203" pitchFamily="34" charset="-122"/>
                    </a:rPr>
                    <a:t>，无频闪</a:t>
                  </a:r>
                  <a:r>
                    <a:rPr lang="en-US" altLang="zh-CN" sz="1600" b="1" dirty="0">
                      <a:latin typeface="微软雅黑 Light" panose="020B0502040204020203" pitchFamily="34" charset="-122"/>
                      <a:ea typeface="微软雅黑 Light" panose="020B0502040204020203" pitchFamily="34" charset="-122"/>
                    </a:rPr>
                    <a:t>* </a:t>
                  </a:r>
                  <a:r>
                    <a:rPr lang="zh-CN" altLang="en-US" sz="1600" dirty="0">
                      <a:latin typeface="微软雅黑 Light" panose="020B0502040204020203" pitchFamily="34" charset="-122"/>
                      <a:ea typeface="微软雅黑 Light" panose="020B0502040204020203" pitchFamily="34" charset="-122"/>
                    </a:rPr>
                    <a:t>电源设计</a:t>
                  </a:r>
                  <a:endParaRPr lang="en-US" altLang="zh-CN" sz="1600" dirty="0">
                    <a:latin typeface="微软雅黑 Light" panose="020B0502040204020203" pitchFamily="34" charset="-122"/>
                    <a:ea typeface="微软雅黑 Light" panose="020B0502040204020203" pitchFamily="34" charset="-122"/>
                  </a:endParaRPr>
                </a:p>
                <a:p>
                  <a:pPr>
                    <a:lnSpc>
                      <a:spcPct val="150000"/>
                    </a:lnSpc>
                  </a:pPr>
                  <a:r>
                    <a:rPr lang="zh-CN" altLang="en-US" sz="1600" dirty="0">
                      <a:latin typeface="微软雅黑 Light" panose="020B0502040204020203" pitchFamily="34" charset="-122"/>
                      <a:ea typeface="微软雅黑 Light" panose="020B0502040204020203" pitchFamily="34" charset="-122"/>
                    </a:rPr>
                    <a:t>使用寿命：30000小时寿命</a:t>
                  </a:r>
                  <a:endParaRPr lang="zh-CN" altLang="en-US" sz="1600" dirty="0">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4030730" y="5241615"/>
                  <a:ext cx="309880" cy="368300"/>
                </a:xfrm>
                <a:prstGeom prst="rect">
                  <a:avLst/>
                </a:prstGeom>
                <a:noFill/>
              </p:spPr>
              <p:txBody>
                <a:bodyPr wrap="none" rtlCol="0">
                  <a:spAutoFit/>
                </a:bodyPr>
                <a:p>
                  <a:endParaRPr kumimoji="1" lang="zh-CN" altLang="en-US" dirty="0">
                    <a:latin typeface="微软雅黑" panose="020B0503020204020204" pitchFamily="34" charset="-122"/>
                    <a:ea typeface="微软雅黑" panose="020B0503020204020204" pitchFamily="34" charset="-122"/>
                  </a:endParaRPr>
                </a:p>
              </p:txBody>
            </p:sp>
            <p:pic>
              <p:nvPicPr>
                <p:cNvPr id="22" name="图片 21"/>
                <p:cNvPicPr>
                  <a:picLocks noChangeAspect="1"/>
                </p:cNvPicPr>
                <p:nvPr/>
              </p:nvPicPr>
              <p:blipFill>
                <a:blip r:embed="rId4"/>
                <a:stretch>
                  <a:fillRect/>
                </a:stretch>
              </p:blipFill>
              <p:spPr>
                <a:xfrm>
                  <a:off x="3443850" y="5542409"/>
                  <a:ext cx="522036" cy="473699"/>
                </a:xfrm>
                <a:prstGeom prst="rect">
                  <a:avLst/>
                </a:prstGeom>
              </p:spPr>
            </p:pic>
          </p:grpSp>
        </p:grpSp>
        <p:sp>
          <p:nvSpPr>
            <p:cNvPr id="37" name="矩形 36"/>
            <p:cNvSpPr/>
            <p:nvPr/>
          </p:nvSpPr>
          <p:spPr>
            <a:xfrm>
              <a:off x="10850" y="8210"/>
              <a:ext cx="6211" cy="1307"/>
            </a:xfrm>
            <a:prstGeom prst="rect">
              <a:avLst/>
            </a:prstGeom>
          </p:spPr>
          <p:txBody>
            <a:bodyPr wrap="square">
              <a:spAutoFit/>
            </a:bodyPr>
            <a:p>
              <a:pPr lvl="0" algn="l">
                <a:lnSpc>
                  <a:spcPct val="150000"/>
                </a:lnSpc>
                <a:buClrTx/>
                <a:buSzTx/>
                <a:buFontTx/>
              </a:pPr>
              <a:r>
                <a:rPr lang="zh-CN" altLang="en-US" sz="1600" dirty="0">
                  <a:latin typeface="微软雅黑 Light" panose="020B0502040204020203" pitchFamily="34" charset="-122"/>
                  <a:ea typeface="微软雅黑 Light" panose="020B0502040204020203" pitchFamily="34" charset="-122"/>
                  <a:sym typeface="+mn-ea"/>
                </a:rPr>
                <a:t>灯珠升级，画面均匀度提升</a:t>
              </a:r>
              <a:endParaRPr lang="zh-CN" altLang="en-US" sz="1600" dirty="0">
                <a:latin typeface="微软雅黑 Light" panose="020B0502040204020203" pitchFamily="34" charset="-122"/>
                <a:ea typeface="微软雅黑 Light" panose="020B0502040204020203" pitchFamily="34" charset="-122"/>
                <a:sym typeface="+mn-ea"/>
              </a:endParaRPr>
            </a:p>
            <a:p>
              <a:pPr lvl="0" algn="l">
                <a:lnSpc>
                  <a:spcPct val="150000"/>
                </a:lnSpc>
                <a:buClrTx/>
                <a:buSzTx/>
                <a:buFontTx/>
              </a:pPr>
              <a:r>
                <a:rPr lang="zh-CN" altLang="en-US" sz="1600" dirty="0">
                  <a:latin typeface="微软雅黑 Light" panose="020B0502040204020203" pitchFamily="34" charset="-122"/>
                  <a:ea typeface="微软雅黑 Light" panose="020B0502040204020203" pitchFamily="34" charset="-122"/>
                  <a:sym typeface="+mn-ea"/>
                </a:rPr>
                <a:t>无频闪电源设计；发光明亮更均匀健康</a:t>
              </a:r>
              <a:endParaRPr lang="zh-CN" altLang="en-US" sz="1600" dirty="0">
                <a:latin typeface="微软雅黑 Light" panose="020B0502040204020203" pitchFamily="34" charset="-122"/>
                <a:ea typeface="微软雅黑 Light" panose="020B0502040204020203" pitchFamily="34" charset="-122"/>
                <a:sym typeface="+mn-ea"/>
              </a:endParaRPr>
            </a:p>
          </p:txBody>
        </p:sp>
        <p:pic>
          <p:nvPicPr>
            <p:cNvPr id="39" name="图片 38"/>
            <p:cNvPicPr>
              <a:picLocks noChangeAspect="1"/>
            </p:cNvPicPr>
            <p:nvPr/>
          </p:nvPicPr>
          <p:blipFill>
            <a:blip r:embed="rId5"/>
            <a:stretch>
              <a:fillRect/>
            </a:stretch>
          </p:blipFill>
          <p:spPr>
            <a:xfrm>
              <a:off x="9831" y="8443"/>
              <a:ext cx="810" cy="587"/>
            </a:xfrm>
            <a:prstGeom prst="rect">
              <a:avLst/>
            </a:prstGeom>
          </p:spPr>
        </p:pic>
      </p:grpSp>
      <p:sp>
        <p:nvSpPr>
          <p:cNvPr id="2" name="文本框 1"/>
          <p:cNvSpPr txBox="1"/>
          <p:nvPr/>
        </p:nvSpPr>
        <p:spPr>
          <a:xfrm>
            <a:off x="10022205" y="6551295"/>
            <a:ext cx="2169795" cy="306705"/>
          </a:xfrm>
          <a:prstGeom prst="rect">
            <a:avLst/>
          </a:prstGeom>
          <a:noFill/>
        </p:spPr>
        <p:txBody>
          <a:bodyPr wrap="square" rtlCol="0">
            <a:spAutoFit/>
          </a:bodyPr>
          <a:p>
            <a:r>
              <a:rPr lang="en-US" altLang="zh-CN" sz="1400"/>
              <a:t>*</a:t>
            </a:r>
            <a:r>
              <a:rPr lang="zh-CN" altLang="en-US" sz="1400"/>
              <a:t>无频闪均指无可视频闪</a:t>
            </a:r>
            <a:endParaRPr lang="zh-CN" alt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 name="组合 11"/>
          <p:cNvGrpSpPr/>
          <p:nvPr/>
        </p:nvGrpSpPr>
        <p:grpSpPr>
          <a:xfrm>
            <a:off x="514350" y="381000"/>
            <a:ext cx="4284980" cy="475615"/>
            <a:chOff x="810" y="481"/>
            <a:chExt cx="9908" cy="749"/>
          </a:xfrm>
        </p:grpSpPr>
        <p:sp>
          <p:nvSpPr>
            <p:cNvPr id="13" name="矩形 12"/>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15" name="文本框 14"/>
            <p:cNvSpPr txBox="1"/>
            <p:nvPr/>
          </p:nvSpPr>
          <p:spPr>
            <a:xfrm>
              <a:off x="1118" y="481"/>
              <a:ext cx="9600"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核心卖点</a:t>
              </a:r>
              <a:r>
                <a:rPr lang="en-US" altLang="zh-CN"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 | </a:t>
              </a:r>
              <a:r>
                <a:rPr lang="zh-CN" altLang="en-US"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rPr>
                <a:t>节能减排</a:t>
              </a:r>
              <a:endParaRPr lang="zh-CN" altLang="en-US"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sp>
        <p:nvSpPr>
          <p:cNvPr id="47" name="矩形"/>
          <p:cNvSpPr/>
          <p:nvPr/>
        </p:nvSpPr>
        <p:spPr>
          <a:xfrm>
            <a:off x="822758" y="5425910"/>
            <a:ext cx="6664594" cy="417579"/>
          </a:xfrm>
          <a:prstGeom prst="rect">
            <a:avLst/>
          </a:prstGeom>
          <a:noFill/>
          <a:ln w="9525" cap="flat" cmpd="sng">
            <a:noFill/>
            <a:prstDash val="solid"/>
            <a:miter/>
          </a:ln>
        </p:spPr>
        <p:txBody>
          <a:bodyPr vert="horz" wrap="square" lIns="0" tIns="0" rIns="0" bIns="0" anchor="t" anchorCtr="0"/>
          <a:p>
            <a:pPr>
              <a:lnSpc>
                <a:spcPts val="3000"/>
              </a:lnSpc>
            </a:pPr>
            <a:r>
              <a:rPr lang="zh-CN" altLang="en-US" sz="2800" dirty="0">
                <a:solidFill>
                  <a:schemeClr val="tx1"/>
                </a:solidFill>
                <a:latin typeface="微软雅黑" panose="020B0503020204020204" pitchFamily="34" charset="-122"/>
                <a:ea typeface="微软雅黑" panose="020B0503020204020204" pitchFamily="34" charset="-122"/>
              </a:rPr>
              <a:t>光效</a:t>
            </a:r>
            <a:r>
              <a:rPr lang="en-US" altLang="zh-CN" sz="2800" dirty="0">
                <a:solidFill>
                  <a:schemeClr val="tx1"/>
                </a:solidFill>
                <a:latin typeface="微软雅黑" panose="020B0503020204020204" pitchFamily="34" charset="-122"/>
                <a:ea typeface="微软雅黑" panose="020B0503020204020204" pitchFamily="34" charset="-122"/>
              </a:rPr>
              <a:t>&gt;80lm/W</a:t>
            </a:r>
            <a:r>
              <a:rPr lang="zh-CN" altLang="en-US" sz="2800" dirty="0">
                <a:solidFill>
                  <a:schemeClr val="tx1"/>
                </a:solidFill>
                <a:latin typeface="微软雅黑" panose="020B0503020204020204" pitchFamily="34" charset="-122"/>
                <a:ea typeface="微软雅黑" panose="020B0503020204020204" pitchFamily="34" charset="-122"/>
              </a:rPr>
              <a:t>，整灯＞</a:t>
            </a:r>
            <a:r>
              <a:rPr lang="en-US" altLang="zh-CN" sz="2800" dirty="0">
                <a:solidFill>
                  <a:schemeClr val="tx1"/>
                </a:solidFill>
                <a:latin typeface="微软雅黑" panose="020B0503020204020204" pitchFamily="34" charset="-122"/>
                <a:ea typeface="微软雅黑" panose="020B0503020204020204" pitchFamily="34" charset="-122"/>
              </a:rPr>
              <a:t>2880lm</a:t>
            </a:r>
            <a:endParaRPr lang="en-US" altLang="zh-CN" sz="280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7884160" y="1466850"/>
            <a:ext cx="4172585" cy="806450"/>
            <a:chOff x="12221" y="2459"/>
            <a:chExt cx="6571" cy="1270"/>
          </a:xfrm>
        </p:grpSpPr>
        <p:sp>
          <p:nvSpPr>
            <p:cNvPr id="46" name="矩形"/>
            <p:cNvSpPr/>
            <p:nvPr/>
          </p:nvSpPr>
          <p:spPr>
            <a:xfrm>
              <a:off x="12221" y="2459"/>
              <a:ext cx="6410" cy="506"/>
            </a:xfrm>
            <a:prstGeom prst="rect">
              <a:avLst/>
            </a:prstGeom>
            <a:noFill/>
            <a:ln w="9525" cap="flat" cmpd="sng">
              <a:noFill/>
              <a:prstDash val="solid"/>
              <a:miter/>
            </a:ln>
          </p:spPr>
          <p:txBody>
            <a:bodyPr vert="horz" wrap="square" lIns="0" tIns="0" rIns="0" bIns="0" anchor="t" anchorCtr="0"/>
            <a:p>
              <a:pPr>
                <a:lnSpc>
                  <a:spcPts val="3000"/>
                </a:lnSpc>
              </a:pPr>
              <a:r>
                <a:rPr lang="zh-CN" altLang="en-US" sz="2800" dirty="0">
                  <a:solidFill>
                    <a:schemeClr val="tx1"/>
                  </a:solidFill>
                  <a:latin typeface="微软雅黑" panose="020B0503020204020204" pitchFamily="34" charset="-122"/>
                  <a:ea typeface="微软雅黑" panose="020B0503020204020204" pitchFamily="34" charset="-122"/>
                  <a:cs typeface="方正兰亭准黑简体" charset="-122"/>
                </a:rPr>
                <a:t>光源新排布，发光</a:t>
              </a:r>
              <a:r>
                <a:rPr lang="zh-CN" altLang="en-US" sz="2800" dirty="0">
                  <a:solidFill>
                    <a:schemeClr val="tx1"/>
                  </a:solidFill>
                  <a:latin typeface="微软雅黑" panose="020B0503020204020204" pitchFamily="34" charset="-122"/>
                  <a:ea typeface="微软雅黑" panose="020B0503020204020204" pitchFamily="34" charset="-122"/>
                  <a:cs typeface="方正兰亭准黑简体" charset="-122"/>
                </a:rPr>
                <a:t>更均匀</a:t>
              </a:r>
              <a:endParaRPr lang="zh-CN" altLang="en-US" sz="2800" dirty="0">
                <a:solidFill>
                  <a:schemeClr val="tx1"/>
                </a:solidFill>
                <a:latin typeface="微软雅黑" panose="020B0503020204020204" pitchFamily="34" charset="-122"/>
                <a:ea typeface="微软雅黑" panose="020B0503020204020204" pitchFamily="34" charset="-122"/>
                <a:cs typeface="方正兰亭准黑简体" charset="-122"/>
              </a:endParaRPr>
            </a:p>
          </p:txBody>
        </p:sp>
        <p:sp>
          <p:nvSpPr>
            <p:cNvPr id="49" name="文本框 48"/>
            <p:cNvSpPr txBox="1"/>
            <p:nvPr/>
          </p:nvSpPr>
          <p:spPr>
            <a:xfrm>
              <a:off x="16150" y="3149"/>
              <a:ext cx="2642" cy="580"/>
            </a:xfrm>
            <a:prstGeom prst="rect">
              <a:avLst/>
            </a:prstGeom>
            <a:noFill/>
          </p:spPr>
          <p:txBody>
            <a:bodyPr wrap="square" rtlCol="0">
              <a:spAutoFit/>
            </a:bodyPr>
            <a:p>
              <a:r>
                <a:rPr lang="zh-CN" altLang="en-US" dirty="0">
                  <a:solidFill>
                    <a:schemeClr val="tx1"/>
                  </a:solidFill>
                </a:rPr>
                <a:t>更优光感体验</a:t>
              </a:r>
              <a:endParaRPr lang="zh-CN" altLang="en-US" dirty="0">
                <a:solidFill>
                  <a:schemeClr val="tx1"/>
                </a:solidFill>
              </a:endParaRPr>
            </a:p>
          </p:txBody>
        </p:sp>
      </p:grpSp>
      <p:sp>
        <p:nvSpPr>
          <p:cNvPr id="50" name="文本框 49"/>
          <p:cNvSpPr txBox="1"/>
          <p:nvPr/>
        </p:nvSpPr>
        <p:spPr>
          <a:xfrm>
            <a:off x="4223371" y="5838970"/>
            <a:ext cx="1906887" cy="369332"/>
          </a:xfrm>
          <a:prstGeom prst="rect">
            <a:avLst/>
          </a:prstGeom>
          <a:noFill/>
        </p:spPr>
        <p:txBody>
          <a:bodyPr wrap="square" rtlCol="0">
            <a:spAutoFit/>
          </a:bodyPr>
          <a:p>
            <a:r>
              <a:rPr lang="zh-CN" altLang="en-US" dirty="0"/>
              <a:t>实测数据更靠谱</a:t>
            </a:r>
            <a:endParaRPr lang="zh-CN" altLang="en-US" dirty="0"/>
          </a:p>
        </p:txBody>
      </p:sp>
      <p:cxnSp>
        <p:nvCxnSpPr>
          <p:cNvPr id="64" name="直接连接符 63"/>
          <p:cNvCxnSpPr/>
          <p:nvPr/>
        </p:nvCxnSpPr>
        <p:spPr>
          <a:xfrm>
            <a:off x="6341745" y="3175"/>
            <a:ext cx="0" cy="6985000"/>
          </a:xfrm>
          <a:prstGeom prst="line">
            <a:avLst/>
          </a:prstGeom>
          <a:ln w="190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grpSp>
        <p:nvGrpSpPr>
          <p:cNvPr id="7" name="组合 6"/>
          <p:cNvGrpSpPr/>
          <p:nvPr/>
        </p:nvGrpSpPr>
        <p:grpSpPr>
          <a:xfrm>
            <a:off x="7625715" y="2363470"/>
            <a:ext cx="4566285" cy="4514850"/>
            <a:chOff x="12009" y="3722"/>
            <a:chExt cx="7191" cy="7110"/>
          </a:xfrm>
        </p:grpSpPr>
        <p:pic>
          <p:nvPicPr>
            <p:cNvPr id="5" name="图片 4" descr="V2.2终版.1339"/>
            <p:cNvPicPr>
              <a:picLocks noChangeAspect="1"/>
            </p:cNvPicPr>
            <p:nvPr/>
          </p:nvPicPr>
          <p:blipFill>
            <a:blip r:embed="rId1"/>
            <a:srcRect l="30120" t="8881" r="27181" b="14521"/>
            <a:stretch>
              <a:fillRect/>
            </a:stretch>
          </p:blipFill>
          <p:spPr>
            <a:xfrm>
              <a:off x="12009" y="3722"/>
              <a:ext cx="7030" cy="7111"/>
            </a:xfrm>
            <a:prstGeom prst="rect">
              <a:avLst/>
            </a:prstGeom>
          </p:spPr>
        </p:pic>
        <p:pic>
          <p:nvPicPr>
            <p:cNvPr id="4" name="图片 3" descr="V2.2终版.1337"/>
            <p:cNvPicPr>
              <a:picLocks noChangeAspect="1"/>
            </p:cNvPicPr>
            <p:nvPr/>
          </p:nvPicPr>
          <p:blipFill>
            <a:blip r:embed="rId2">
              <a:lum contrast="6000"/>
            </a:blip>
            <a:srcRect l="51735" t="9668" r="26912" b="15929"/>
            <a:stretch>
              <a:fillRect/>
            </a:stretch>
          </p:blipFill>
          <p:spPr>
            <a:xfrm>
              <a:off x="15628" y="3764"/>
              <a:ext cx="3572" cy="7001"/>
            </a:xfrm>
            <a:prstGeom prst="rect">
              <a:avLst/>
            </a:prstGeom>
          </p:spPr>
        </p:pic>
      </p:grpSp>
      <p:pic>
        <p:nvPicPr>
          <p:cNvPr id="100" name="图片 99"/>
          <p:cNvPicPr/>
          <p:nvPr/>
        </p:nvPicPr>
        <p:blipFill>
          <a:blip r:embed="rId3"/>
          <a:srcRect l="7090"/>
          <a:stretch>
            <a:fillRect/>
          </a:stretch>
        </p:blipFill>
        <p:spPr>
          <a:xfrm>
            <a:off x="950595" y="939165"/>
            <a:ext cx="4726305" cy="423227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矩形 27"/>
          <p:cNvSpPr/>
          <p:nvPr/>
        </p:nvSpPr>
        <p:spPr>
          <a:xfrm>
            <a:off x="0" y="1249045"/>
            <a:ext cx="12191365" cy="4152900"/>
          </a:xfrm>
          <a:prstGeom prst="rect">
            <a:avLst/>
          </a:prstGeom>
          <a:solidFill>
            <a:srgbClr val="331199"/>
          </a:solidFill>
          <a:ln>
            <a:solidFill>
              <a:srgbClr val="331199"/>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圆角 8"/>
          <p:cNvSpPr/>
          <p:nvPr/>
        </p:nvSpPr>
        <p:spPr>
          <a:xfrm>
            <a:off x="4583590" y="1432930"/>
            <a:ext cx="2986381" cy="3792800"/>
          </a:xfrm>
          <a:prstGeom prst="roundRect">
            <a:avLst/>
          </a:prstGeom>
          <a:solidFill>
            <a:schemeClr val="bg1"/>
          </a:solidFill>
          <a:ln>
            <a:solidFill>
              <a:srgbClr val="331199"/>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kumimoji="1" lang="zh-CN" altLang="en-US">
              <a:solidFill>
                <a:srgbClr val="331199"/>
              </a:solidFill>
              <a:sym typeface="+mn-ea"/>
            </a:endParaRPr>
          </a:p>
        </p:txBody>
      </p:sp>
      <p:sp>
        <p:nvSpPr>
          <p:cNvPr id="20" name="矩形: 圆角 19"/>
          <p:cNvSpPr/>
          <p:nvPr/>
        </p:nvSpPr>
        <p:spPr>
          <a:xfrm>
            <a:off x="791522" y="1432930"/>
            <a:ext cx="2986381" cy="3792800"/>
          </a:xfrm>
          <a:prstGeom prst="roundRect">
            <a:avLst/>
          </a:prstGeom>
          <a:solidFill>
            <a:schemeClr val="bg1"/>
          </a:solidFill>
          <a:ln>
            <a:solidFill>
              <a:srgbClr val="331199"/>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kumimoji="1" lang="zh-CN" altLang="en-US">
              <a:solidFill>
                <a:srgbClr val="331199"/>
              </a:solidFill>
              <a:sym typeface="+mn-ea"/>
            </a:endParaRPr>
          </a:p>
        </p:txBody>
      </p:sp>
      <p:sp>
        <p:nvSpPr>
          <p:cNvPr id="9" name="矩形: 圆角 8"/>
          <p:cNvSpPr/>
          <p:nvPr/>
        </p:nvSpPr>
        <p:spPr>
          <a:xfrm>
            <a:off x="8302150" y="1432930"/>
            <a:ext cx="2986381" cy="3792800"/>
          </a:xfrm>
          <a:prstGeom prst="roundRect">
            <a:avLst/>
          </a:prstGeom>
          <a:solidFill>
            <a:schemeClr val="bg1"/>
          </a:solidFill>
          <a:ln>
            <a:solidFill>
              <a:srgbClr val="3311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solidFill>
                <a:srgbClr val="331199"/>
              </a:solidFill>
            </a:endParaRPr>
          </a:p>
        </p:txBody>
      </p:sp>
      <p:sp>
        <p:nvSpPr>
          <p:cNvPr id="6" name="矩形 5"/>
          <p:cNvSpPr/>
          <p:nvPr/>
        </p:nvSpPr>
        <p:spPr>
          <a:xfrm>
            <a:off x="4850366" y="5537317"/>
            <a:ext cx="1894205" cy="368300"/>
          </a:xfrm>
          <a:prstGeom prst="rect">
            <a:avLst/>
          </a:prstGeom>
          <a:noFill/>
          <a:ln>
            <a:noFill/>
          </a:ln>
        </p:spPr>
        <p:txBody>
          <a:bodyPr wrap="none" rtlCol="0">
            <a:spAutoFit/>
          </a:bodyPr>
          <a:p>
            <a:r>
              <a:rPr kumimoji="1" lang="zh-CN" altLang="en-US" b="1" dirty="0">
                <a:solidFill>
                  <a:srgbClr val="331199"/>
                </a:solidFill>
                <a:latin typeface="微软雅黑" panose="020B0503020204020204" pitchFamily="34" charset="-122"/>
                <a:ea typeface="微软雅黑" panose="020B0503020204020204" pitchFamily="34" charset="-122"/>
              </a:rPr>
              <a:t>无频闪</a:t>
            </a:r>
            <a:r>
              <a:rPr kumimoji="1" lang="en-US" altLang="zh-CN" b="1" dirty="0">
                <a:solidFill>
                  <a:srgbClr val="331199"/>
                </a:solidFill>
                <a:latin typeface="微软雅黑" panose="020B0503020204020204" pitchFamily="34" charset="-122"/>
                <a:ea typeface="微软雅黑" panose="020B0503020204020204" pitchFamily="34" charset="-122"/>
              </a:rPr>
              <a:t>*</a:t>
            </a:r>
            <a:r>
              <a:rPr kumimoji="1" lang="zh-CN" altLang="en-US" b="1" dirty="0">
                <a:solidFill>
                  <a:srgbClr val="331199"/>
                </a:solidFill>
                <a:latin typeface="微软雅黑" panose="020B0503020204020204" pitchFamily="34" charset="-122"/>
                <a:ea typeface="微软雅黑" panose="020B0503020204020204" pitchFamily="34" charset="-122"/>
              </a:rPr>
              <a:t>电源设计</a:t>
            </a:r>
            <a:endParaRPr kumimoji="1" lang="zh-CN" altLang="en-US" b="1" dirty="0">
              <a:solidFill>
                <a:srgbClr val="331199"/>
              </a:solidFill>
              <a:latin typeface="微软雅黑" panose="020B0503020204020204" pitchFamily="34" charset="-122"/>
              <a:ea typeface="微软雅黑" panose="020B0503020204020204" pitchFamily="34" charset="-122"/>
            </a:endParaRPr>
          </a:p>
        </p:txBody>
      </p:sp>
      <p:sp>
        <p:nvSpPr>
          <p:cNvPr id="7" name="矩形 6"/>
          <p:cNvSpPr/>
          <p:nvPr/>
        </p:nvSpPr>
        <p:spPr>
          <a:xfrm>
            <a:off x="4824966" y="5909128"/>
            <a:ext cx="2788672" cy="687689"/>
          </a:xfrm>
          <a:prstGeom prst="rect">
            <a:avLst/>
          </a:prstGeom>
        </p:spPr>
        <p:txBody>
          <a:bodyPr wrap="square">
            <a:spAutoFit/>
          </a:bodyPr>
          <a:p>
            <a:pPr>
              <a:lnSpc>
                <a:spcPts val="2400"/>
              </a:lnSpc>
            </a:pPr>
            <a:r>
              <a:rPr lang="zh-CN" altLang="en-US" sz="1400" dirty="0">
                <a:solidFill>
                  <a:srgbClr val="331199"/>
                </a:solidFill>
                <a:latin typeface="微软雅黑 Light" panose="020B0502040204020203" pitchFamily="34" charset="-122"/>
                <a:ea typeface="微软雅黑 Light" panose="020B0502040204020203" pitchFamily="34" charset="-122"/>
              </a:rPr>
              <a:t>频闪无影响等级  </a:t>
            </a:r>
            <a:endParaRPr lang="en-US" altLang="zh-CN" sz="1400" dirty="0">
              <a:solidFill>
                <a:srgbClr val="331199"/>
              </a:solidFill>
              <a:latin typeface="微软雅黑 Light" panose="020B0502040204020203" pitchFamily="34" charset="-122"/>
              <a:ea typeface="微软雅黑 Light" panose="020B0502040204020203" pitchFamily="34" charset="-122"/>
            </a:endParaRPr>
          </a:p>
          <a:p>
            <a:pPr>
              <a:lnSpc>
                <a:spcPts val="2400"/>
              </a:lnSpc>
            </a:pPr>
            <a:r>
              <a:rPr lang="zh-CN" altLang="en-US" sz="1400" dirty="0">
                <a:solidFill>
                  <a:srgbClr val="331199"/>
                </a:solidFill>
                <a:latin typeface="微软雅黑 Light" panose="020B0502040204020203" pitchFamily="34" charset="-122"/>
                <a:ea typeface="微软雅黑 Light" panose="020B0502040204020203" pitchFamily="34" charset="-122"/>
              </a:rPr>
              <a:t>频闪波动深度</a:t>
            </a:r>
            <a:r>
              <a:rPr lang="en-US" altLang="zh-CN" sz="1400" dirty="0">
                <a:solidFill>
                  <a:srgbClr val="331199"/>
                </a:solidFill>
                <a:latin typeface="微软雅黑 Light" panose="020B0502040204020203" pitchFamily="34" charset="-122"/>
                <a:ea typeface="微软雅黑 Light" panose="020B0502040204020203" pitchFamily="34" charset="-122"/>
              </a:rPr>
              <a:t>&lt;1</a:t>
            </a:r>
            <a:r>
              <a:rPr lang="zh-CN" altLang="en-US" sz="1400" dirty="0">
                <a:solidFill>
                  <a:srgbClr val="331199"/>
                </a:solidFill>
                <a:latin typeface="微软雅黑 Light" panose="020B0502040204020203" pitchFamily="34" charset="-122"/>
                <a:ea typeface="微软雅黑 Light" panose="020B0502040204020203" pitchFamily="34" charset="-122"/>
              </a:rPr>
              <a:t>（</a:t>
            </a:r>
            <a:r>
              <a:rPr lang="en-US" altLang="zh-CN" sz="1400" dirty="0">
                <a:solidFill>
                  <a:srgbClr val="331199"/>
                </a:solidFill>
                <a:latin typeface="微软雅黑 Light" panose="020B0502040204020203" pitchFamily="34" charset="-122"/>
                <a:ea typeface="微软雅黑 Light" panose="020B0502040204020203" pitchFamily="34" charset="-122"/>
              </a:rPr>
              <a:t>100Hz</a:t>
            </a:r>
            <a:r>
              <a:rPr lang="zh-CN" altLang="en-US" sz="1400" dirty="0">
                <a:solidFill>
                  <a:srgbClr val="331199"/>
                </a:solidFill>
                <a:latin typeface="微软雅黑 Light" panose="020B0502040204020203" pitchFamily="34" charset="-122"/>
                <a:ea typeface="微软雅黑 Light" panose="020B0502040204020203" pitchFamily="34" charset="-122"/>
              </a:rPr>
              <a:t>频率下）</a:t>
            </a:r>
            <a:endParaRPr lang="zh-CN" altLang="en-US" sz="1400" dirty="0">
              <a:solidFill>
                <a:srgbClr val="331199"/>
              </a:solidFill>
              <a:latin typeface="微软雅黑 Light" panose="020B0502040204020203" pitchFamily="34" charset="-122"/>
              <a:ea typeface="微软雅黑 Light" panose="020B0502040204020203" pitchFamily="34" charset="-122"/>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0786" y="2452757"/>
            <a:ext cx="2069107" cy="1831668"/>
          </a:xfrm>
          <a:prstGeom prst="rect">
            <a:avLst/>
          </a:prstGeom>
        </p:spPr>
      </p:pic>
      <p:sp>
        <p:nvSpPr>
          <p:cNvPr id="12" name="文本框 11"/>
          <p:cNvSpPr txBox="1"/>
          <p:nvPr/>
        </p:nvSpPr>
        <p:spPr>
          <a:xfrm>
            <a:off x="8407314" y="5927853"/>
            <a:ext cx="3591858" cy="650240"/>
          </a:xfrm>
          <a:prstGeom prst="rect">
            <a:avLst/>
          </a:prstGeom>
          <a:noFill/>
          <a:ln>
            <a:noFill/>
          </a:ln>
        </p:spPr>
        <p:txBody>
          <a:bodyPr wrap="square" rtlCol="0">
            <a:spAutoFit/>
          </a:bodyPr>
          <a:p>
            <a:pPr>
              <a:lnSpc>
                <a:spcPts val="2180"/>
              </a:lnSpc>
            </a:pPr>
            <a:r>
              <a:rPr lang="zh-CN" altLang="en-US" sz="1400" dirty="0">
                <a:solidFill>
                  <a:srgbClr val="331199"/>
                </a:solidFill>
                <a:latin typeface="微软雅黑 Light" panose="020B0502040204020203" pitchFamily="34" charset="-122"/>
                <a:ea typeface="微软雅黑 Light" panose="020B0502040204020203" pitchFamily="34" charset="-122"/>
              </a:rPr>
              <a:t>采用优质</a:t>
            </a:r>
            <a:r>
              <a:rPr lang="en-US" altLang="zh-CN" sz="1400" dirty="0">
                <a:solidFill>
                  <a:srgbClr val="331199"/>
                </a:solidFill>
                <a:latin typeface="微软雅黑 Light" panose="020B0502040204020203" pitchFamily="34" charset="-122"/>
                <a:ea typeface="微软雅黑 Light" panose="020B0502040204020203" pitchFamily="34" charset="-122"/>
              </a:rPr>
              <a:t>LED</a:t>
            </a:r>
            <a:r>
              <a:rPr lang="zh-CN" altLang="en-US" sz="1400" dirty="0">
                <a:solidFill>
                  <a:srgbClr val="331199"/>
                </a:solidFill>
                <a:latin typeface="微软雅黑 Light" panose="020B0502040204020203" pitchFamily="34" charset="-122"/>
                <a:ea typeface="微软雅黑 Light" panose="020B0502040204020203" pitchFamily="34" charset="-122"/>
              </a:rPr>
              <a:t>封装芯片</a:t>
            </a:r>
            <a:endParaRPr lang="en-US" altLang="zh-CN" sz="1400" dirty="0">
              <a:solidFill>
                <a:srgbClr val="331199"/>
              </a:solidFill>
              <a:latin typeface="微软雅黑 Light" panose="020B0502040204020203" pitchFamily="34" charset="-122"/>
              <a:ea typeface="微软雅黑 Light" panose="020B0502040204020203" pitchFamily="34" charset="-122"/>
            </a:endParaRPr>
          </a:p>
          <a:p>
            <a:pPr>
              <a:lnSpc>
                <a:spcPts val="2180"/>
              </a:lnSpc>
            </a:pPr>
            <a:r>
              <a:rPr lang="zh-CN" altLang="en-US" sz="1400" dirty="0">
                <a:solidFill>
                  <a:srgbClr val="331199"/>
                </a:solidFill>
                <a:latin typeface="微软雅黑 Light" panose="020B0502040204020203" pitchFamily="34" charset="-122"/>
                <a:ea typeface="微软雅黑 Light" panose="020B0502040204020203" pitchFamily="34" charset="-122"/>
              </a:rPr>
              <a:t>按每年工作</a:t>
            </a:r>
            <a:r>
              <a:rPr lang="en-US" altLang="zh-CN" sz="1400" dirty="0">
                <a:solidFill>
                  <a:srgbClr val="331199"/>
                </a:solidFill>
                <a:latin typeface="微软雅黑 Light" panose="020B0502040204020203" pitchFamily="34" charset="-122"/>
                <a:ea typeface="微软雅黑 Light" panose="020B0502040204020203" pitchFamily="34" charset="-122"/>
              </a:rPr>
              <a:t>365</a:t>
            </a:r>
            <a:r>
              <a:rPr lang="zh-CN" altLang="en-US" sz="1400" dirty="0">
                <a:solidFill>
                  <a:srgbClr val="331199"/>
                </a:solidFill>
                <a:latin typeface="微软雅黑 Light" panose="020B0502040204020203" pitchFamily="34" charset="-122"/>
                <a:ea typeface="微软雅黑 Light" panose="020B0502040204020203" pitchFamily="34" charset="-122"/>
              </a:rPr>
              <a:t>*</a:t>
            </a:r>
            <a:r>
              <a:rPr lang="en-US" altLang="zh-CN" sz="1400" dirty="0">
                <a:solidFill>
                  <a:srgbClr val="331199"/>
                </a:solidFill>
                <a:latin typeface="微软雅黑 Light" panose="020B0502040204020203" pitchFamily="34" charset="-122"/>
                <a:ea typeface="微软雅黑 Light" panose="020B0502040204020203" pitchFamily="34" charset="-122"/>
              </a:rPr>
              <a:t>8</a:t>
            </a:r>
            <a:r>
              <a:rPr lang="zh-CN" altLang="en-US" sz="1400" dirty="0">
                <a:solidFill>
                  <a:srgbClr val="331199"/>
                </a:solidFill>
                <a:latin typeface="微软雅黑 Light" panose="020B0502040204020203" pitchFamily="34" charset="-122"/>
                <a:ea typeface="微软雅黑 Light" panose="020B0502040204020203" pitchFamily="34" charset="-122"/>
              </a:rPr>
              <a:t>小时，使用寿命约</a:t>
            </a:r>
            <a:r>
              <a:rPr lang="en-US" altLang="zh-CN" sz="1400" dirty="0">
                <a:solidFill>
                  <a:srgbClr val="331199"/>
                </a:solidFill>
                <a:latin typeface="微软雅黑 Light" panose="020B0502040204020203" pitchFamily="34" charset="-122"/>
                <a:ea typeface="微软雅黑 Light" panose="020B0502040204020203" pitchFamily="34" charset="-122"/>
              </a:rPr>
              <a:t>10</a:t>
            </a:r>
            <a:r>
              <a:rPr lang="zh-CN" altLang="en-US" sz="1400" dirty="0">
                <a:solidFill>
                  <a:srgbClr val="331199"/>
                </a:solidFill>
                <a:latin typeface="微软雅黑 Light" panose="020B0502040204020203" pitchFamily="34" charset="-122"/>
                <a:ea typeface="微软雅黑 Light" panose="020B0502040204020203" pitchFamily="34" charset="-122"/>
              </a:rPr>
              <a:t>年</a:t>
            </a:r>
            <a:endParaRPr lang="zh-CN" altLang="en-US" sz="1400" dirty="0">
              <a:solidFill>
                <a:srgbClr val="331199"/>
              </a:solidFill>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8424705" y="5537317"/>
            <a:ext cx="1990090" cy="368300"/>
          </a:xfrm>
          <a:prstGeom prst="rect">
            <a:avLst/>
          </a:prstGeom>
          <a:noFill/>
          <a:ln>
            <a:noFill/>
          </a:ln>
        </p:spPr>
        <p:txBody>
          <a:bodyPr wrap="none" rtlCol="0">
            <a:spAutoFit/>
          </a:bodyPr>
          <a:p>
            <a:r>
              <a:rPr kumimoji="1" lang="zh-CN" altLang="en-US" b="1" dirty="0">
                <a:solidFill>
                  <a:srgbClr val="331199"/>
                </a:solidFill>
                <a:latin typeface="微软雅黑" panose="020B0503020204020204" pitchFamily="34" charset="-122"/>
                <a:ea typeface="微软雅黑" panose="020B0503020204020204" pitchFamily="34" charset="-122"/>
              </a:rPr>
              <a:t>整灯寿命</a:t>
            </a:r>
            <a:r>
              <a:rPr kumimoji="1" lang="en-US" altLang="zh-CN" b="1" dirty="0">
                <a:solidFill>
                  <a:srgbClr val="331199"/>
                </a:solidFill>
                <a:latin typeface="微软雅黑" panose="020B0503020204020204" pitchFamily="34" charset="-122"/>
                <a:ea typeface="微软雅黑" panose="020B0503020204020204" pitchFamily="34" charset="-122"/>
              </a:rPr>
              <a:t>30000H</a:t>
            </a:r>
            <a:endParaRPr kumimoji="1" lang="en-US" altLang="zh-CN" b="1" dirty="0">
              <a:solidFill>
                <a:srgbClr val="331199"/>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rotWithShape="1">
          <a:blip r:embed="rId2">
            <a:duotone>
              <a:prstClr val="black"/>
              <a:srgbClr val="9BBB59">
                <a:tint val="45000"/>
                <a:satMod val="400000"/>
              </a:srgbClr>
            </a:duotone>
          </a:blip>
          <a:srcRect r="3161" b="3921"/>
          <a:stretch>
            <a:fillRect/>
          </a:stretch>
        </p:blipFill>
        <p:spPr>
          <a:xfrm>
            <a:off x="909563" y="2028795"/>
            <a:ext cx="2742123" cy="1134902"/>
          </a:xfrm>
          <a:prstGeom prst="rect">
            <a:avLst/>
          </a:prstGeom>
        </p:spPr>
      </p:pic>
      <p:sp>
        <p:nvSpPr>
          <p:cNvPr id="16" name="文本框 15"/>
          <p:cNvSpPr txBox="1"/>
          <p:nvPr/>
        </p:nvSpPr>
        <p:spPr>
          <a:xfrm>
            <a:off x="888632" y="1654206"/>
            <a:ext cx="1413197" cy="338554"/>
          </a:xfrm>
          <a:prstGeom prst="rect">
            <a:avLst/>
          </a:prstGeom>
          <a:noFill/>
        </p:spPr>
        <p:txBody>
          <a:bodyPr vert="horz" wrap="square" rtlCol="0">
            <a:spAutoFit/>
          </a:bodyPr>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331199"/>
                </a:solidFill>
                <a:effectLst/>
                <a:uLnTx/>
                <a:uFillTx/>
                <a:latin typeface="微软雅黑" panose="020B0503020204020204" pitchFamily="34" charset="-122"/>
                <a:ea typeface="微软雅黑" panose="020B0503020204020204" pitchFamily="34" charset="-122"/>
              </a:rPr>
              <a:t>低 谐波含量</a:t>
            </a:r>
            <a:endParaRPr kumimoji="0" lang="zh-CN" altLang="en-US" sz="1600" b="1" i="0" u="none" strike="noStrike" kern="0" cap="none" spc="0" normalizeH="0" baseline="0" noProof="0" dirty="0">
              <a:ln>
                <a:noFill/>
              </a:ln>
              <a:solidFill>
                <a:srgbClr val="331199"/>
              </a:solidFill>
              <a:effectLst/>
              <a:uLnTx/>
              <a:uFillTx/>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rotWithShape="1">
          <a:blip r:embed="rId3">
            <a:duotone>
              <a:prstClr val="black"/>
              <a:srgbClr val="C0504D">
                <a:tint val="45000"/>
                <a:satMod val="400000"/>
              </a:srgbClr>
            </a:duotone>
          </a:blip>
          <a:srcRect r="5123"/>
          <a:stretch>
            <a:fillRect/>
          </a:stretch>
        </p:blipFill>
        <p:spPr>
          <a:xfrm>
            <a:off x="912385" y="3716974"/>
            <a:ext cx="2742123" cy="1134902"/>
          </a:xfrm>
          <a:prstGeom prst="rect">
            <a:avLst/>
          </a:prstGeom>
        </p:spPr>
      </p:pic>
      <p:sp>
        <p:nvSpPr>
          <p:cNvPr id="19" name="文本框 18"/>
          <p:cNvSpPr txBox="1"/>
          <p:nvPr/>
        </p:nvSpPr>
        <p:spPr>
          <a:xfrm>
            <a:off x="887228" y="3345393"/>
            <a:ext cx="1413197" cy="338554"/>
          </a:xfrm>
          <a:prstGeom prst="rect">
            <a:avLst/>
          </a:prstGeom>
          <a:noFill/>
        </p:spPr>
        <p:txBody>
          <a:bodyPr vert="horz" wrap="square" rtlCol="0">
            <a:spAutoFit/>
          </a:bodyPr>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331199"/>
                </a:solidFill>
                <a:effectLst/>
                <a:uLnTx/>
                <a:uFillTx/>
                <a:latin typeface="微软雅黑" panose="020B0503020204020204" pitchFamily="34" charset="-122"/>
                <a:ea typeface="微软雅黑" panose="020B0503020204020204" pitchFamily="34" charset="-122"/>
              </a:rPr>
              <a:t>高 谐波含量</a:t>
            </a:r>
            <a:endParaRPr kumimoji="0" lang="zh-CN" altLang="en-US" sz="1600" b="1" i="0" u="none" strike="noStrike" kern="0" cap="none" spc="0" normalizeH="0" baseline="0" noProof="0" dirty="0">
              <a:ln>
                <a:noFill/>
              </a:ln>
              <a:solidFill>
                <a:srgbClr val="331199"/>
              </a:solidFill>
              <a:effectLst/>
              <a:uLnTx/>
              <a:uFillTx/>
              <a:latin typeface="微软雅黑" panose="020B0503020204020204" pitchFamily="34" charset="-122"/>
              <a:ea typeface="微软雅黑" panose="020B0503020204020204" pitchFamily="34" charset="-122"/>
            </a:endParaRPr>
          </a:p>
        </p:txBody>
      </p:sp>
      <p:sp>
        <p:nvSpPr>
          <p:cNvPr id="23" name="文本框 22"/>
          <p:cNvSpPr txBox="1"/>
          <p:nvPr/>
        </p:nvSpPr>
        <p:spPr>
          <a:xfrm>
            <a:off x="970081" y="5537317"/>
            <a:ext cx="1585595" cy="368300"/>
          </a:xfrm>
          <a:prstGeom prst="rect">
            <a:avLst/>
          </a:prstGeom>
          <a:noFill/>
          <a:ln>
            <a:noFill/>
          </a:ln>
        </p:spPr>
        <p:txBody>
          <a:bodyPr wrap="none" rtlCol="0">
            <a:spAutoFit/>
          </a:bodyPr>
          <a:p>
            <a:r>
              <a:rPr kumimoji="1" lang="zh-CN" altLang="en-US" b="1" dirty="0">
                <a:solidFill>
                  <a:srgbClr val="331199"/>
                </a:solidFill>
                <a:latin typeface="微软雅黑" panose="020B0503020204020204" pitchFamily="34" charset="-122"/>
                <a:ea typeface="微软雅黑" panose="020B0503020204020204" pitchFamily="34" charset="-122"/>
              </a:rPr>
              <a:t>功率因数</a:t>
            </a:r>
            <a:r>
              <a:rPr kumimoji="1" lang="en-US" altLang="zh-CN" b="1" dirty="0">
                <a:solidFill>
                  <a:srgbClr val="331199"/>
                </a:solidFill>
                <a:latin typeface="微软雅黑" panose="020B0503020204020204" pitchFamily="34" charset="-122"/>
                <a:ea typeface="微软雅黑" panose="020B0503020204020204" pitchFamily="34" charset="-122"/>
              </a:rPr>
              <a:t>0.95</a:t>
            </a:r>
            <a:endParaRPr kumimoji="1" lang="en-US" altLang="zh-CN" b="1" dirty="0">
              <a:solidFill>
                <a:srgbClr val="331199"/>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39657" y="5937854"/>
            <a:ext cx="3010965" cy="630237"/>
          </a:xfrm>
          <a:prstGeom prst="rect">
            <a:avLst/>
          </a:prstGeom>
          <a:noFill/>
          <a:ln>
            <a:noFill/>
          </a:ln>
        </p:spPr>
        <p:txBody>
          <a:bodyPr wrap="square" rtlCol="0">
            <a:spAutoFit/>
          </a:bodyPr>
          <a:p>
            <a:pPr>
              <a:lnSpc>
                <a:spcPts val="2180"/>
              </a:lnSpc>
            </a:pPr>
            <a:r>
              <a:rPr lang="zh-CN" altLang="en-US" sz="1400" dirty="0">
                <a:solidFill>
                  <a:srgbClr val="331199"/>
                </a:solidFill>
                <a:latin typeface="微软雅黑 Light" panose="020B0502040204020203" pitchFamily="34" charset="-122"/>
                <a:ea typeface="微软雅黑 Light" panose="020B0502040204020203" pitchFamily="34" charset="-122"/>
              </a:rPr>
              <a:t>有效减少线路电流负荷，同时有效抑制谐波对其他设备的影响。</a:t>
            </a:r>
            <a:endParaRPr lang="zh-CN" altLang="en-US" sz="1400" dirty="0">
              <a:solidFill>
                <a:srgbClr val="331199"/>
              </a:solidFill>
              <a:latin typeface="微软雅黑 Light" panose="020B0502040204020203" pitchFamily="34" charset="-122"/>
              <a:ea typeface="微软雅黑 Light" panose="020B0502040204020203" pitchFamily="34" charset="-122"/>
            </a:endParaRPr>
          </a:p>
        </p:txBody>
      </p:sp>
      <p:pic>
        <p:nvPicPr>
          <p:cNvPr id="5" name="图片 4"/>
          <p:cNvPicPr>
            <a:picLocks noChangeAspect="1"/>
          </p:cNvPicPr>
          <p:nvPr/>
        </p:nvPicPr>
        <p:blipFill>
          <a:blip r:embed="rId4"/>
          <a:srcRect l="50138"/>
          <a:stretch>
            <a:fillRect/>
          </a:stretch>
        </p:blipFill>
        <p:spPr>
          <a:xfrm>
            <a:off x="4811395" y="3437255"/>
            <a:ext cx="2517775" cy="1405890"/>
          </a:xfrm>
          <a:prstGeom prst="rect">
            <a:avLst/>
          </a:prstGeom>
        </p:spPr>
      </p:pic>
      <p:sp>
        <p:nvSpPr>
          <p:cNvPr id="10" name="十字形 9"/>
          <p:cNvSpPr/>
          <p:nvPr/>
        </p:nvSpPr>
        <p:spPr>
          <a:xfrm rot="2700000">
            <a:off x="5704888" y="4311561"/>
            <a:ext cx="853547" cy="853547"/>
          </a:xfrm>
          <a:prstGeom prst="plus">
            <a:avLst>
              <a:gd name="adj" fmla="val 386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331199"/>
              </a:solidFill>
            </a:endParaRPr>
          </a:p>
        </p:txBody>
      </p:sp>
      <p:pic>
        <p:nvPicPr>
          <p:cNvPr id="17" name="图片 16"/>
          <p:cNvPicPr>
            <a:picLocks noChangeAspect="1"/>
          </p:cNvPicPr>
          <p:nvPr/>
        </p:nvPicPr>
        <p:blipFill>
          <a:blip r:embed="rId4"/>
          <a:srcRect r="49786"/>
          <a:stretch>
            <a:fillRect/>
          </a:stretch>
        </p:blipFill>
        <p:spPr>
          <a:xfrm>
            <a:off x="4864100" y="1748790"/>
            <a:ext cx="2535555" cy="1405890"/>
          </a:xfrm>
          <a:prstGeom prst="rect">
            <a:avLst/>
          </a:prstGeom>
        </p:spPr>
      </p:pic>
      <p:sp>
        <p:nvSpPr>
          <p:cNvPr id="21" name="L 形 20"/>
          <p:cNvSpPr/>
          <p:nvPr/>
        </p:nvSpPr>
        <p:spPr>
          <a:xfrm rot="18900000">
            <a:off x="5740400" y="2681605"/>
            <a:ext cx="857250" cy="446405"/>
          </a:xfrm>
          <a:prstGeom prst="corner">
            <a:avLst>
              <a:gd name="adj1" fmla="val 50000"/>
              <a:gd name="adj2" fmla="val 57845"/>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331199"/>
              </a:solidFill>
            </a:endParaRPr>
          </a:p>
        </p:txBody>
      </p:sp>
      <p:grpSp>
        <p:nvGrpSpPr>
          <p:cNvPr id="14" name="组合 13"/>
          <p:cNvGrpSpPr/>
          <p:nvPr/>
        </p:nvGrpSpPr>
        <p:grpSpPr>
          <a:xfrm>
            <a:off x="514350" y="381000"/>
            <a:ext cx="5013325" cy="475615"/>
            <a:chOff x="810" y="481"/>
            <a:chExt cx="11592" cy="749"/>
          </a:xfrm>
        </p:grpSpPr>
        <p:sp>
          <p:nvSpPr>
            <p:cNvPr id="22" name="矩形 21"/>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331199"/>
                </a:solidFill>
              </a:endParaRPr>
            </a:p>
          </p:txBody>
        </p:sp>
        <p:sp>
          <p:nvSpPr>
            <p:cNvPr id="25" name="文本框 24"/>
            <p:cNvSpPr txBox="1"/>
            <p:nvPr/>
          </p:nvSpPr>
          <p:spPr>
            <a:xfrm>
              <a:off x="1118" y="481"/>
              <a:ext cx="11284"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核心卖点</a:t>
              </a:r>
              <a:r>
                <a:rPr lang="en-US" altLang="zh-CN"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 | </a:t>
              </a:r>
              <a:r>
                <a:rPr lang="zh-CN" altLang="en-US"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rPr>
                <a:t>无频闪</a:t>
              </a:r>
              <a:r>
                <a:rPr lang="en-US" altLang="zh-CN"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rPr>
                <a:t>* </a:t>
              </a:r>
              <a:r>
                <a:rPr lang="zh-CN" altLang="en-US"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rPr>
                <a:t>长寿命</a:t>
              </a:r>
              <a:endParaRPr lang="zh-CN" altLang="en-US"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sp>
        <p:nvSpPr>
          <p:cNvPr id="26" name="文本框 25"/>
          <p:cNvSpPr txBox="1"/>
          <p:nvPr/>
        </p:nvSpPr>
        <p:spPr>
          <a:xfrm>
            <a:off x="10022205" y="6551295"/>
            <a:ext cx="2169795" cy="306705"/>
          </a:xfrm>
          <a:prstGeom prst="rect">
            <a:avLst/>
          </a:prstGeom>
          <a:noFill/>
        </p:spPr>
        <p:txBody>
          <a:bodyPr wrap="square" rtlCol="0">
            <a:spAutoFit/>
          </a:bodyPr>
          <a:p>
            <a:r>
              <a:rPr lang="en-US" altLang="zh-CN" sz="1400"/>
              <a:t>*</a:t>
            </a:r>
            <a:r>
              <a:rPr lang="zh-CN" altLang="en-US" sz="1400"/>
              <a:t>无频闪均指无可视频闪</a:t>
            </a:r>
            <a:endParaRPr lang="zh-CN"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5819775" y="1432560"/>
            <a:ext cx="5955665" cy="4264660"/>
          </a:xfrm>
          <a:prstGeom prst="rect">
            <a:avLst/>
          </a:prstGeom>
          <a:solidFill>
            <a:srgbClr val="E1E1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18" name="文本框 17"/>
          <p:cNvSpPr txBox="1"/>
          <p:nvPr>
            <p:custDataLst>
              <p:tags r:id="rId1"/>
            </p:custDataLst>
          </p:nvPr>
        </p:nvSpPr>
        <p:spPr>
          <a:xfrm>
            <a:off x="6169660" y="1948784"/>
            <a:ext cx="5399935" cy="370840"/>
          </a:xfrm>
          <a:prstGeom prst="rect">
            <a:avLst/>
          </a:prstGeom>
          <a:noFill/>
          <a:ln>
            <a:noFill/>
          </a:ln>
        </p:spPr>
        <p:txBody>
          <a:bodyPr wrap="square" rtlCol="0">
            <a:spAutoFit/>
          </a:bodyPr>
          <a:lstStyle/>
          <a:p>
            <a:pPr>
              <a:lnSpc>
                <a:spcPts val="2180"/>
              </a:lnSpc>
            </a:pPr>
            <a:r>
              <a:rPr lang="zh-CN" altLang="en-US" sz="1400" b="1" dirty="0">
                <a:solidFill>
                  <a:srgbClr val="303030"/>
                </a:solidFill>
                <a:latin typeface="微软雅黑 Light" panose="020B0502040204020203" pitchFamily="34" charset="-122"/>
                <a:ea typeface="微软雅黑 Light" panose="020B0502040204020203" pitchFamily="34" charset="-122"/>
              </a:rPr>
              <a:t>光源排布升级</a:t>
            </a:r>
            <a:r>
              <a:rPr lang="en-US" altLang="zh-CN" sz="1400" b="1" dirty="0">
                <a:solidFill>
                  <a:srgbClr val="303030"/>
                </a:solidFill>
                <a:latin typeface="微软雅黑 Light" panose="020B0502040204020203" pitchFamily="34" charset="-122"/>
                <a:ea typeface="微软雅黑 Light" panose="020B0502040204020203" pitchFamily="34" charset="-122"/>
              </a:rPr>
              <a:t> - </a:t>
            </a:r>
            <a:r>
              <a:rPr sz="1200" dirty="0">
                <a:latin typeface="微软雅黑 Light" panose="020B0502040204020203" pitchFamily="34" charset="-122"/>
                <a:ea typeface="微软雅黑 Light" panose="020B0502040204020203" pitchFamily="34" charset="-122"/>
              </a:rPr>
              <a:t>四周暗影改善</a:t>
            </a:r>
            <a:r>
              <a:rPr lang="zh-CN" sz="1200" dirty="0">
                <a:latin typeface="微软雅黑 Light" panose="020B0502040204020203" pitchFamily="34" charset="-122"/>
                <a:ea typeface="微软雅黑 Light" panose="020B0502040204020203" pitchFamily="34" charset="-122"/>
              </a:rPr>
              <a:t>，</a:t>
            </a:r>
            <a:r>
              <a:rPr sz="1200" dirty="0">
                <a:latin typeface="微软雅黑 Light" panose="020B0502040204020203" pitchFamily="34" charset="-122"/>
                <a:ea typeface="微软雅黑 Light" panose="020B0502040204020203" pitchFamily="34" charset="-122"/>
              </a:rPr>
              <a:t>品II表面亮度均匀性</a:t>
            </a:r>
            <a:r>
              <a:rPr lang="zh-CN" sz="1200" dirty="0">
                <a:latin typeface="微软雅黑 Light" panose="020B0502040204020203" pitchFamily="34" charset="-122"/>
                <a:ea typeface="微软雅黑 Light" panose="020B0502040204020203" pitchFamily="34" charset="-122"/>
              </a:rPr>
              <a:t>提升</a:t>
            </a:r>
            <a:r>
              <a:rPr lang="zh-CN" altLang="en-US" sz="1200" dirty="0">
                <a:solidFill>
                  <a:schemeClr val="tx1">
                    <a:lumMod val="65000"/>
                    <a:lumOff val="35000"/>
                  </a:schemeClr>
                </a:solidFill>
                <a:latin typeface="微软雅黑 Light" panose="020B0502040204020203" pitchFamily="34" charset="-122"/>
                <a:ea typeface="微软雅黑 Light" panose="020B0502040204020203" pitchFamily="34" charset="-122"/>
              </a:rPr>
              <a:t>。</a:t>
            </a:r>
            <a:endParaRPr lang="zh-CN" altLang="en-US" sz="12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sp>
        <p:nvSpPr>
          <p:cNvPr id="20" name="矩形 19"/>
          <p:cNvSpPr/>
          <p:nvPr/>
        </p:nvSpPr>
        <p:spPr>
          <a:xfrm>
            <a:off x="0" y="1432560"/>
            <a:ext cx="6059805" cy="4264660"/>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p:cNvSpPr/>
          <p:nvPr>
            <p:custDataLst>
              <p:tags r:id="rId2"/>
            </p:custDataLst>
          </p:nvPr>
        </p:nvSpPr>
        <p:spPr>
          <a:xfrm>
            <a:off x="6225540" y="1559333"/>
            <a:ext cx="2856658" cy="321500"/>
          </a:xfrm>
          <a:prstGeom prst="rect">
            <a:avLst/>
          </a:prstGeom>
          <a:noFill/>
          <a:ln w="9525" cap="flat" cmpd="sng">
            <a:noFill/>
            <a:prstDash val="solid"/>
            <a:miter/>
          </a:ln>
        </p:spPr>
        <p:txBody>
          <a:bodyPr vert="horz" wrap="square" lIns="0" tIns="0" rIns="0" bIns="0" anchor="t" anchorCtr="0"/>
          <a:lstStyle/>
          <a:p>
            <a:pPr>
              <a:lnSpc>
                <a:spcPts val="3000"/>
              </a:lnSpc>
            </a:pPr>
            <a:r>
              <a:rPr lang="zh-CN" altLang="en-US" sz="2000" dirty="0">
                <a:latin typeface="微软雅黑" panose="020B0503020204020204" pitchFamily="34" charset="-122"/>
                <a:ea typeface="微软雅黑" panose="020B0503020204020204" pitchFamily="34" charset="-122"/>
                <a:cs typeface="方正兰亭准黑简体" charset="-122"/>
              </a:rPr>
              <a:t>画面升级</a:t>
            </a:r>
            <a:endParaRPr lang="zh-CN" altLang="en-US" sz="2000" dirty="0">
              <a:latin typeface="微软雅黑" panose="020B0503020204020204" pitchFamily="34" charset="-122"/>
              <a:ea typeface="微软雅黑" panose="020B0503020204020204" pitchFamily="34" charset="-122"/>
              <a:cs typeface="方正兰亭准黑简体" charset="-122"/>
            </a:endParaRPr>
          </a:p>
        </p:txBody>
      </p:sp>
      <p:sp>
        <p:nvSpPr>
          <p:cNvPr id="5" name="矩形 4"/>
          <p:cNvSpPr/>
          <p:nvPr/>
        </p:nvSpPr>
        <p:spPr>
          <a:xfrm>
            <a:off x="6169660" y="3792192"/>
            <a:ext cx="1723549"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多种安装方式</a:t>
            </a:r>
            <a:endParaRPr lang="zh-CN" altLang="en-US" sz="2000"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6169660" y="4128167"/>
            <a:ext cx="5399935" cy="1768475"/>
          </a:xfrm>
          <a:prstGeom prst="rect">
            <a:avLst/>
          </a:prstGeom>
          <a:noFill/>
          <a:ln>
            <a:noFill/>
          </a:ln>
        </p:spPr>
        <p:txBody>
          <a:bodyPr wrap="square" rtlCol="0">
            <a:spAutoFit/>
          </a:bodyPr>
          <a:lstStyle/>
          <a:p>
            <a:pPr>
              <a:lnSpc>
                <a:spcPts val="2180"/>
              </a:lnSpc>
            </a:pPr>
            <a:r>
              <a:rPr lang="zh-CN" altLang="en-US" sz="1600" b="1" dirty="0">
                <a:solidFill>
                  <a:srgbClr val="303030"/>
                </a:solidFill>
                <a:latin typeface="微软雅黑 Light" panose="020B0502040204020203" pitchFamily="34" charset="-122"/>
                <a:ea typeface="微软雅黑 Light" panose="020B0502040204020203" pitchFamily="34" charset="-122"/>
              </a:rPr>
              <a:t>整灯厚度</a:t>
            </a:r>
            <a:r>
              <a:rPr lang="en-US" altLang="zh-CN" sz="1600" b="1" dirty="0">
                <a:solidFill>
                  <a:srgbClr val="303030"/>
                </a:solidFill>
                <a:latin typeface="微软雅黑 Light" panose="020B0502040204020203" pitchFamily="34" charset="-122"/>
                <a:ea typeface="微软雅黑 Light" panose="020B0502040204020203" pitchFamily="34" charset="-122"/>
              </a:rPr>
              <a:t>36mm </a:t>
            </a:r>
            <a:r>
              <a:rPr lang="en-US" altLang="zh-CN" sz="1400" b="1" dirty="0">
                <a:solidFill>
                  <a:srgbClr val="303030"/>
                </a:solidFill>
                <a:latin typeface="微软雅黑 Light" panose="020B0502040204020203" pitchFamily="34" charset="-122"/>
                <a:ea typeface="微软雅黑 Light" panose="020B0502040204020203" pitchFamily="34" charset="-122"/>
              </a:rPr>
              <a:t>&amp;</a:t>
            </a:r>
            <a:r>
              <a:rPr lang="zh-CN" altLang="en-US" sz="1400" b="1" dirty="0">
                <a:solidFill>
                  <a:srgbClr val="303030"/>
                </a:solidFill>
                <a:latin typeface="微软雅黑 Light" panose="020B0502040204020203" pitchFamily="34" charset="-122"/>
                <a:ea typeface="微软雅黑 Light" panose="020B0502040204020203" pitchFamily="34" charset="-122"/>
              </a:rPr>
              <a:t> 两种安装结构</a:t>
            </a:r>
            <a:r>
              <a:rPr lang="zh-CN" altLang="en-US" sz="1400" dirty="0">
                <a:solidFill>
                  <a:srgbClr val="303030"/>
                </a:solidFill>
                <a:latin typeface="微软雅黑 Light" panose="020B0502040204020203" pitchFamily="34" charset="-122"/>
                <a:ea typeface="微软雅黑 Light" panose="020B0502040204020203" pitchFamily="34" charset="-122"/>
              </a:rPr>
              <a:t>：</a:t>
            </a:r>
            <a:endParaRPr lang="en-US" altLang="zh-CN" sz="1400" dirty="0">
              <a:solidFill>
                <a:srgbClr val="303030"/>
              </a:solidFill>
              <a:latin typeface="微软雅黑 Light" panose="020B0502040204020203" pitchFamily="34" charset="-122"/>
              <a:ea typeface="微软雅黑 Light" panose="020B0502040204020203" pitchFamily="34" charset="-122"/>
            </a:endParaRPr>
          </a:p>
          <a:p>
            <a:pPr>
              <a:lnSpc>
                <a:spcPts val="2180"/>
              </a:lnSpc>
            </a:pPr>
            <a:r>
              <a:rPr lang="zh-CN" altLang="en-US" sz="1400" dirty="0">
                <a:solidFill>
                  <a:schemeClr val="tx1"/>
                </a:solidFill>
                <a:latin typeface="微软雅黑 Light" panose="020B0502040204020203" pitchFamily="34" charset="-122"/>
                <a:ea typeface="微软雅黑 Light" panose="020B0502040204020203" pitchFamily="34" charset="-122"/>
              </a:rPr>
              <a:t>三合一：</a:t>
            </a:r>
            <a:r>
              <a:rPr lang="en-US" altLang="zh-CN" sz="1400" dirty="0">
                <a:solidFill>
                  <a:schemeClr val="tx1"/>
                </a:solidFill>
                <a:latin typeface="微软雅黑 Light" panose="020B0502040204020203" pitchFamily="34" charset="-122"/>
                <a:ea typeface="微软雅黑 Light" panose="020B0502040204020203" pitchFamily="34" charset="-122"/>
              </a:rPr>
              <a:t>1. </a:t>
            </a:r>
            <a:r>
              <a:rPr lang="zh-CN" altLang="en-US" sz="1400" dirty="0">
                <a:solidFill>
                  <a:schemeClr val="tx1"/>
                </a:solidFill>
                <a:latin typeface="微软雅黑 Light" panose="020B0502040204020203" pitchFamily="34" charset="-122"/>
                <a:ea typeface="微软雅黑 Light" panose="020B0502040204020203" pitchFamily="34" charset="-122"/>
              </a:rPr>
              <a:t>石膏板嵌入安装</a:t>
            </a:r>
            <a:endParaRPr lang="en-US" altLang="zh-CN" sz="1400" dirty="0">
              <a:solidFill>
                <a:schemeClr val="tx1"/>
              </a:solidFill>
              <a:latin typeface="微软雅黑 Light" panose="020B0502040204020203" pitchFamily="34" charset="-122"/>
              <a:ea typeface="微软雅黑 Light" panose="020B0502040204020203" pitchFamily="34" charset="-122"/>
            </a:endParaRPr>
          </a:p>
          <a:p>
            <a:pPr>
              <a:lnSpc>
                <a:spcPts val="2180"/>
              </a:lnSpc>
            </a:pPr>
            <a:r>
              <a:rPr lang="en-US" altLang="zh-CN" sz="1400" dirty="0">
                <a:solidFill>
                  <a:schemeClr val="tx1"/>
                </a:solidFill>
                <a:latin typeface="微软雅黑 Light" panose="020B0502040204020203" pitchFamily="34" charset="-122"/>
                <a:ea typeface="微软雅黑 Light" panose="020B0502040204020203" pitchFamily="34" charset="-122"/>
              </a:rPr>
              <a:t>              2. </a:t>
            </a:r>
            <a:r>
              <a:rPr lang="zh-CN" altLang="en-US" sz="1400" dirty="0">
                <a:solidFill>
                  <a:schemeClr val="tx1"/>
                </a:solidFill>
                <a:latin typeface="微软雅黑 Light" panose="020B0502040204020203" pitchFamily="34" charset="-122"/>
                <a:ea typeface="微软雅黑 Light" panose="020B0502040204020203" pitchFamily="34" charset="-122"/>
              </a:rPr>
              <a:t>吊线安装</a:t>
            </a:r>
            <a:endParaRPr lang="en-US" altLang="zh-CN" sz="1400" dirty="0">
              <a:solidFill>
                <a:schemeClr val="tx1"/>
              </a:solidFill>
              <a:latin typeface="微软雅黑 Light" panose="020B0502040204020203" pitchFamily="34" charset="-122"/>
              <a:ea typeface="微软雅黑 Light" panose="020B0502040204020203" pitchFamily="34" charset="-122"/>
            </a:endParaRPr>
          </a:p>
          <a:p>
            <a:pPr>
              <a:lnSpc>
                <a:spcPts val="2180"/>
              </a:lnSpc>
            </a:pPr>
            <a:r>
              <a:rPr lang="en-US" altLang="zh-CN" sz="1400" dirty="0">
                <a:solidFill>
                  <a:schemeClr val="tx1"/>
                </a:solidFill>
                <a:latin typeface="微软雅黑 Light" panose="020B0502040204020203" pitchFamily="34" charset="-122"/>
                <a:ea typeface="微软雅黑 Light" panose="020B0502040204020203" pitchFamily="34" charset="-122"/>
              </a:rPr>
              <a:t>              3. T</a:t>
            </a:r>
            <a:r>
              <a:rPr lang="zh-CN" altLang="en-US" sz="1400" dirty="0">
                <a:solidFill>
                  <a:schemeClr val="tx1"/>
                </a:solidFill>
                <a:latin typeface="微软雅黑 Light" panose="020B0502040204020203" pitchFamily="34" charset="-122"/>
                <a:ea typeface="微软雅黑 Light" panose="020B0502040204020203" pitchFamily="34" charset="-122"/>
              </a:rPr>
              <a:t>型龙骨嵌入安装</a:t>
            </a:r>
            <a:endParaRPr lang="zh-CN" altLang="en-US" sz="1400" dirty="0">
              <a:solidFill>
                <a:schemeClr val="tx1"/>
              </a:solidFill>
              <a:effectLst>
                <a:outerShdw blurRad="38100" dist="25400" dir="5400000" algn="ctr" rotWithShape="0">
                  <a:srgbClr val="6E747A">
                    <a:alpha val="43000"/>
                  </a:srgbClr>
                </a:outerShdw>
              </a:effectLst>
              <a:latin typeface="微软雅黑 Light" panose="020B0502040204020203" pitchFamily="34" charset="-122"/>
              <a:ea typeface="微软雅黑 Light" panose="020B0502040204020203" pitchFamily="34" charset="-122"/>
            </a:endParaRPr>
          </a:p>
          <a:p>
            <a:pPr>
              <a:lnSpc>
                <a:spcPts val="2180"/>
              </a:lnSpc>
            </a:pPr>
            <a:r>
              <a:rPr lang="zh-CN" altLang="en-US" sz="1400" dirty="0">
                <a:solidFill>
                  <a:schemeClr val="tx1"/>
                </a:solidFill>
                <a:latin typeface="微软雅黑 Light" panose="020B0502040204020203" pitchFamily="34" charset="-122"/>
                <a:ea typeface="微软雅黑 Light" panose="020B0502040204020203" pitchFamily="34" charset="-122"/>
              </a:rPr>
              <a:t>集吊款：集成吊顶安装方式</a:t>
            </a:r>
            <a:endParaRPr lang="en-US" altLang="zh-CN" sz="1400" dirty="0">
              <a:solidFill>
                <a:schemeClr val="tx1"/>
              </a:solidFill>
              <a:latin typeface="微软雅黑 Light" panose="020B0502040204020203" pitchFamily="34" charset="-122"/>
              <a:ea typeface="微软雅黑 Light" panose="020B0502040204020203" pitchFamily="34" charset="-122"/>
            </a:endParaRPr>
          </a:p>
          <a:p>
            <a:pPr>
              <a:lnSpc>
                <a:spcPts val="2180"/>
              </a:lnSpc>
            </a:pPr>
            <a:endParaRPr lang="en-US" altLang="zh-CN" sz="1400" dirty="0">
              <a:solidFill>
                <a:schemeClr val="tx1"/>
              </a:solidFill>
              <a:latin typeface="微软雅黑 Light" panose="020B0502040204020203" pitchFamily="34" charset="-122"/>
              <a:ea typeface="微软雅黑 Light" panose="020B0502040204020203" pitchFamily="34" charset="-122"/>
            </a:endParaRPr>
          </a:p>
        </p:txBody>
      </p:sp>
      <p:pic>
        <p:nvPicPr>
          <p:cNvPr id="7" name="图片 6" descr="企业微信截图_17205147953486"/>
          <p:cNvPicPr>
            <a:picLocks noChangeAspect="1"/>
          </p:cNvPicPr>
          <p:nvPr/>
        </p:nvPicPr>
        <p:blipFill>
          <a:blip r:embed="rId3"/>
          <a:stretch>
            <a:fillRect/>
          </a:stretch>
        </p:blipFill>
        <p:spPr>
          <a:xfrm>
            <a:off x="3215640" y="2392045"/>
            <a:ext cx="2195195" cy="2172970"/>
          </a:xfrm>
          <a:prstGeom prst="rect">
            <a:avLst/>
          </a:prstGeom>
        </p:spPr>
      </p:pic>
      <p:pic>
        <p:nvPicPr>
          <p:cNvPr id="8" name="图片 7" descr="企业微信截图_17205148121127"/>
          <p:cNvPicPr>
            <a:picLocks noChangeAspect="1"/>
          </p:cNvPicPr>
          <p:nvPr/>
        </p:nvPicPr>
        <p:blipFill>
          <a:blip r:embed="rId4"/>
          <a:stretch>
            <a:fillRect/>
          </a:stretch>
        </p:blipFill>
        <p:spPr>
          <a:xfrm>
            <a:off x="445135" y="2392045"/>
            <a:ext cx="2248535" cy="2168525"/>
          </a:xfrm>
          <a:prstGeom prst="rect">
            <a:avLst/>
          </a:prstGeom>
        </p:spPr>
      </p:pic>
      <p:sp>
        <p:nvSpPr>
          <p:cNvPr id="9" name="文本框 8"/>
          <p:cNvSpPr txBox="1"/>
          <p:nvPr/>
        </p:nvSpPr>
        <p:spPr>
          <a:xfrm>
            <a:off x="0" y="1432560"/>
            <a:ext cx="6096000" cy="368300"/>
          </a:xfrm>
          <a:prstGeom prst="rect">
            <a:avLst/>
          </a:prstGeom>
          <a:noFill/>
        </p:spPr>
        <p:txBody>
          <a:bodyPr wrap="square" rtlCol="0" anchor="t">
            <a:spAutoFit/>
          </a:bodyPr>
          <a:p>
            <a:r>
              <a:rPr lang="zh-CN" altLang="en-US" b="1">
                <a:solidFill>
                  <a:schemeClr val="bg1"/>
                </a:solidFill>
              </a:rPr>
              <a:t>品II表面亮度均匀性实测</a:t>
            </a:r>
            <a:endParaRPr lang="zh-CN" altLang="en-US" b="1">
              <a:solidFill>
                <a:schemeClr val="bg1"/>
              </a:solidFill>
            </a:endParaRPr>
          </a:p>
        </p:txBody>
      </p:sp>
      <p:sp>
        <p:nvSpPr>
          <p:cNvPr id="10" name="矩形"/>
          <p:cNvSpPr/>
          <p:nvPr>
            <p:custDataLst>
              <p:tags r:id="rId5"/>
            </p:custDataLst>
          </p:nvPr>
        </p:nvSpPr>
        <p:spPr>
          <a:xfrm>
            <a:off x="6225540" y="2562633"/>
            <a:ext cx="2856658" cy="321500"/>
          </a:xfrm>
          <a:prstGeom prst="rect">
            <a:avLst/>
          </a:prstGeom>
          <a:noFill/>
          <a:ln w="9525" cap="flat" cmpd="sng">
            <a:noFill/>
            <a:prstDash val="solid"/>
            <a:miter/>
          </a:ln>
        </p:spPr>
        <p:txBody>
          <a:bodyPr vert="horz" wrap="square" lIns="0" tIns="0" rIns="0" bIns="0" anchor="t" anchorCtr="0"/>
          <a:p>
            <a:pPr>
              <a:lnSpc>
                <a:spcPts val="3000"/>
              </a:lnSpc>
            </a:pPr>
            <a:r>
              <a:rPr lang="zh-CN" altLang="en-US" sz="2000" dirty="0">
                <a:latin typeface="微软雅黑" panose="020B0503020204020204" pitchFamily="34" charset="-122"/>
                <a:ea typeface="微软雅黑" panose="020B0503020204020204" pitchFamily="34" charset="-122"/>
                <a:cs typeface="方正兰亭准黑简体" charset="-122"/>
              </a:rPr>
              <a:t>强度</a:t>
            </a:r>
            <a:r>
              <a:rPr lang="zh-CN" altLang="en-US" sz="2000" dirty="0">
                <a:latin typeface="微软雅黑" panose="020B0503020204020204" pitchFamily="34" charset="-122"/>
                <a:ea typeface="微软雅黑" panose="020B0503020204020204" pitchFamily="34" charset="-122"/>
                <a:cs typeface="方正兰亭准黑简体" charset="-122"/>
              </a:rPr>
              <a:t>升级</a:t>
            </a:r>
            <a:endParaRPr lang="zh-CN" altLang="en-US" sz="2000" dirty="0">
              <a:latin typeface="微软雅黑" panose="020B0503020204020204" pitchFamily="34" charset="-122"/>
              <a:ea typeface="微软雅黑" panose="020B0503020204020204" pitchFamily="34" charset="-122"/>
              <a:cs typeface="方正兰亭准黑简体" charset="-122"/>
            </a:endParaRPr>
          </a:p>
        </p:txBody>
      </p:sp>
      <p:sp>
        <p:nvSpPr>
          <p:cNvPr id="12" name="文本框 11"/>
          <p:cNvSpPr txBox="1"/>
          <p:nvPr>
            <p:custDataLst>
              <p:tags r:id="rId6"/>
            </p:custDataLst>
          </p:nvPr>
        </p:nvSpPr>
        <p:spPr>
          <a:xfrm>
            <a:off x="6169660" y="2947670"/>
            <a:ext cx="5842635" cy="650240"/>
          </a:xfrm>
          <a:prstGeom prst="rect">
            <a:avLst/>
          </a:prstGeom>
          <a:noFill/>
        </p:spPr>
        <p:txBody>
          <a:bodyPr wrap="square" rtlCol="0" anchor="t">
            <a:spAutoFit/>
          </a:bodyPr>
          <a:p>
            <a:pPr>
              <a:lnSpc>
                <a:spcPts val="2180"/>
              </a:lnSpc>
            </a:pPr>
            <a:r>
              <a:rPr lang="zh-CN" altLang="en-US" sz="1400" b="1" dirty="0">
                <a:solidFill>
                  <a:srgbClr val="303030"/>
                </a:solidFill>
                <a:latin typeface="微软雅黑 Light" panose="020B0502040204020203" pitchFamily="34" charset="-122"/>
                <a:ea typeface="微软雅黑 Light" panose="020B0502040204020203" pitchFamily="34" charset="-122"/>
                <a:sym typeface="+mn-ea"/>
              </a:rPr>
              <a:t>边框升级</a:t>
            </a:r>
            <a:r>
              <a:rPr lang="en-US" altLang="zh-CN" sz="1400" b="1" dirty="0">
                <a:solidFill>
                  <a:srgbClr val="303030"/>
                </a:solidFill>
                <a:latin typeface="微软雅黑 Light" panose="020B0502040204020203" pitchFamily="34" charset="-122"/>
                <a:ea typeface="微软雅黑 Light" panose="020B0502040204020203" pitchFamily="34" charset="-122"/>
                <a:sym typeface="+mn-ea"/>
              </a:rPr>
              <a:t> - </a:t>
            </a:r>
            <a:r>
              <a:rPr lang="zh-CN" altLang="en-US" sz="1200" dirty="0">
                <a:solidFill>
                  <a:schemeClr val="tx1">
                    <a:lumMod val="65000"/>
                    <a:lumOff val="35000"/>
                  </a:schemeClr>
                </a:solidFill>
                <a:latin typeface="微软雅黑 Light" panose="020B0502040204020203" pitchFamily="34" charset="-122"/>
                <a:ea typeface="微软雅黑 Light" panose="020B0502040204020203" pitchFamily="34" charset="-122"/>
                <a:sym typeface="+mn-ea"/>
              </a:rPr>
              <a:t>由原先铝拼接升级为金属合金，强度更高</a:t>
            </a:r>
            <a:endParaRPr lang="zh-CN" altLang="en-US" sz="1400" b="1" dirty="0">
              <a:solidFill>
                <a:srgbClr val="303030"/>
              </a:solidFill>
              <a:latin typeface="微软雅黑 Light" panose="020B0502040204020203" pitchFamily="34" charset="-122"/>
              <a:ea typeface="微软雅黑 Light" panose="020B0502040204020203" pitchFamily="34" charset="-122"/>
              <a:sym typeface="+mn-ea"/>
            </a:endParaRPr>
          </a:p>
          <a:p>
            <a:pPr>
              <a:lnSpc>
                <a:spcPts val="2180"/>
              </a:lnSpc>
            </a:pPr>
            <a:r>
              <a:rPr lang="zh-CN" altLang="en-US" sz="1400" b="1" dirty="0">
                <a:solidFill>
                  <a:srgbClr val="303030"/>
                </a:solidFill>
                <a:latin typeface="微软雅黑 Light" panose="020B0502040204020203" pitchFamily="34" charset="-122"/>
                <a:ea typeface="微软雅黑 Light" panose="020B0502040204020203" pitchFamily="34" charset="-122"/>
                <a:sym typeface="+mn-ea"/>
              </a:rPr>
              <a:t>一体成型背板</a:t>
            </a:r>
            <a:r>
              <a:rPr lang="en-US" altLang="zh-CN" sz="1200" dirty="0">
                <a:solidFill>
                  <a:srgbClr val="303030"/>
                </a:solidFill>
                <a:latin typeface="微软雅黑 Light" panose="020B0502040204020203" pitchFamily="34" charset="-122"/>
                <a:ea typeface="微软雅黑 Light" panose="020B0502040204020203" pitchFamily="34" charset="-122"/>
                <a:sym typeface="+mn-ea"/>
              </a:rPr>
              <a:t>-</a:t>
            </a:r>
            <a:r>
              <a:rPr lang="zh-CN" altLang="en-US" sz="1200" dirty="0">
                <a:solidFill>
                  <a:schemeClr val="tx1">
                    <a:lumMod val="65000"/>
                    <a:lumOff val="35000"/>
                  </a:schemeClr>
                </a:solidFill>
                <a:latin typeface="微软雅黑 Light" panose="020B0502040204020203" pitchFamily="34" charset="-122"/>
                <a:ea typeface="微软雅黑 Light" panose="020B0502040204020203" pitchFamily="34" charset="-122"/>
                <a:sym typeface="+mn-ea"/>
              </a:rPr>
              <a:t>贯穿式加强筋，简洁平整，有效防止灰尘及飞虫落入</a:t>
            </a:r>
            <a:endParaRPr lang="zh-CN" altLang="en-US" sz="1200" dirty="0">
              <a:solidFill>
                <a:schemeClr val="tx1">
                  <a:lumMod val="65000"/>
                  <a:lumOff val="35000"/>
                </a:schemeClr>
              </a:solidFill>
              <a:latin typeface="微软雅黑 Light" panose="020B0502040204020203" pitchFamily="34" charset="-122"/>
              <a:ea typeface="微软雅黑 Light" panose="020B0502040204020203" pitchFamily="34" charset="-122"/>
              <a:sym typeface="+mn-ea"/>
            </a:endParaRPr>
          </a:p>
        </p:txBody>
      </p:sp>
      <p:sp>
        <p:nvSpPr>
          <p:cNvPr id="13" name="文本框 12"/>
          <p:cNvSpPr txBox="1"/>
          <p:nvPr/>
        </p:nvSpPr>
        <p:spPr>
          <a:xfrm>
            <a:off x="591185" y="4697730"/>
            <a:ext cx="1955800" cy="645160"/>
          </a:xfrm>
          <a:prstGeom prst="rect">
            <a:avLst/>
          </a:prstGeom>
          <a:noFill/>
        </p:spPr>
        <p:txBody>
          <a:bodyPr wrap="square" rtlCol="0">
            <a:spAutoFit/>
          </a:bodyPr>
          <a:p>
            <a:pPr algn="ctr"/>
            <a:r>
              <a:rPr lang="zh-CN" altLang="en-US">
                <a:solidFill>
                  <a:schemeClr val="bg1"/>
                </a:solidFill>
              </a:rPr>
              <a:t>品</a:t>
            </a:r>
            <a:r>
              <a:rPr lang="en-US" altLang="zh-CN">
                <a:solidFill>
                  <a:schemeClr val="bg1"/>
                </a:solidFill>
              </a:rPr>
              <a:t>I 6060-36W</a:t>
            </a:r>
            <a:endParaRPr lang="en-US" altLang="zh-CN">
              <a:solidFill>
                <a:schemeClr val="bg1"/>
              </a:solidFill>
            </a:endParaRPr>
          </a:p>
          <a:p>
            <a:pPr algn="ctr"/>
            <a:r>
              <a:rPr lang="zh-CN" altLang="en-US">
                <a:solidFill>
                  <a:schemeClr val="bg1"/>
                </a:solidFill>
              </a:rPr>
              <a:t>表面亮度分布图</a:t>
            </a:r>
            <a:endParaRPr lang="zh-CN" altLang="en-US">
              <a:solidFill>
                <a:schemeClr val="bg1"/>
              </a:solidFill>
            </a:endParaRPr>
          </a:p>
        </p:txBody>
      </p:sp>
      <p:sp>
        <p:nvSpPr>
          <p:cNvPr id="14" name="文本框 13"/>
          <p:cNvSpPr txBox="1"/>
          <p:nvPr/>
        </p:nvSpPr>
        <p:spPr>
          <a:xfrm>
            <a:off x="3335020" y="4697730"/>
            <a:ext cx="1955800" cy="645160"/>
          </a:xfrm>
          <a:prstGeom prst="rect">
            <a:avLst/>
          </a:prstGeom>
          <a:noFill/>
        </p:spPr>
        <p:txBody>
          <a:bodyPr wrap="square" rtlCol="0">
            <a:spAutoFit/>
          </a:bodyPr>
          <a:p>
            <a:pPr algn="ctr"/>
            <a:r>
              <a:rPr lang="zh-CN" altLang="en-US">
                <a:solidFill>
                  <a:schemeClr val="bg1"/>
                </a:solidFill>
              </a:rPr>
              <a:t>品</a:t>
            </a:r>
            <a:r>
              <a:rPr lang="en-US" altLang="zh-CN">
                <a:solidFill>
                  <a:schemeClr val="bg1"/>
                </a:solidFill>
              </a:rPr>
              <a:t>II 6060-36W</a:t>
            </a:r>
            <a:endParaRPr lang="en-US" altLang="zh-CN">
              <a:solidFill>
                <a:schemeClr val="bg1"/>
              </a:solidFill>
            </a:endParaRPr>
          </a:p>
          <a:p>
            <a:pPr algn="ctr"/>
            <a:r>
              <a:rPr lang="zh-CN" altLang="en-US">
                <a:solidFill>
                  <a:schemeClr val="bg1"/>
                </a:solidFill>
              </a:rPr>
              <a:t>表面亮度分布图</a:t>
            </a:r>
            <a:endParaRPr lang="zh-CN" altLang="en-US">
              <a:solidFill>
                <a:schemeClr val="bg1"/>
              </a:solidFill>
            </a:endParaRPr>
          </a:p>
        </p:txBody>
      </p:sp>
      <p:grpSp>
        <p:nvGrpSpPr>
          <p:cNvPr id="17" name="组合 16"/>
          <p:cNvGrpSpPr/>
          <p:nvPr/>
        </p:nvGrpSpPr>
        <p:grpSpPr>
          <a:xfrm>
            <a:off x="514350" y="381000"/>
            <a:ext cx="6257074" cy="475615"/>
            <a:chOff x="810" y="481"/>
            <a:chExt cx="14468" cy="749"/>
          </a:xfrm>
        </p:grpSpPr>
        <p:sp>
          <p:nvSpPr>
            <p:cNvPr id="19" name="矩形 18"/>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22" name="文本框 21"/>
            <p:cNvSpPr txBox="1"/>
            <p:nvPr/>
          </p:nvSpPr>
          <p:spPr>
            <a:xfrm>
              <a:off x="1118" y="481"/>
              <a:ext cx="14160"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核心卖点</a:t>
              </a:r>
              <a:r>
                <a:rPr lang="en-US" altLang="zh-CN"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 | </a:t>
              </a:r>
              <a:r>
                <a:rPr lang="zh-CN" altLang="en-US"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rPr>
                <a:t>画面均匀</a:t>
              </a:r>
              <a:r>
                <a:rPr lang="en-US" altLang="zh-CN"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rPr>
                <a:t> </a:t>
              </a:r>
              <a:r>
                <a:rPr lang="zh-CN" altLang="en-US"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rPr>
                <a:t>经久耐用</a:t>
              </a:r>
              <a:r>
                <a:rPr lang="en-US" altLang="zh-CN" sz="2800" dirty="0">
                  <a:solidFill>
                    <a:srgbClr val="331199"/>
                  </a:solidFill>
                  <a:latin typeface="微软雅黑" panose="020B0503020204020204" pitchFamily="34" charset="-122"/>
                  <a:ea typeface="微软雅黑" panose="020B0503020204020204" pitchFamily="34" charset="-122"/>
                  <a:cs typeface="方正兰亭准黑简体" charset="-122"/>
                  <a:sym typeface="+mn-ea"/>
                </a:rPr>
                <a:t> </a:t>
              </a:r>
              <a:endParaRPr lang="en-US" altLang="zh-CN"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514350" y="381000"/>
            <a:ext cx="6257074" cy="475615"/>
            <a:chOff x="810" y="481"/>
            <a:chExt cx="14468" cy="749"/>
          </a:xfrm>
        </p:grpSpPr>
        <p:sp>
          <p:nvSpPr>
            <p:cNvPr id="5" name="矩形 4"/>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6" name="文本框 5"/>
            <p:cNvSpPr txBox="1"/>
            <p:nvPr/>
          </p:nvSpPr>
          <p:spPr>
            <a:xfrm>
              <a:off x="1118" y="481"/>
              <a:ext cx="14160"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产品</a:t>
              </a: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形态</a:t>
              </a:r>
              <a:endPar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pic>
        <p:nvPicPr>
          <p:cNvPr id="2" name="图片 1" descr="V2.2终版.1339"/>
          <p:cNvPicPr>
            <a:picLocks noChangeAspect="1"/>
          </p:cNvPicPr>
          <p:nvPr/>
        </p:nvPicPr>
        <p:blipFill>
          <a:blip r:embed="rId1"/>
          <a:srcRect l="30120" t="8881" r="27181" b="14521"/>
          <a:stretch>
            <a:fillRect/>
          </a:stretch>
        </p:blipFill>
        <p:spPr>
          <a:xfrm>
            <a:off x="1086485" y="1191260"/>
            <a:ext cx="4536440" cy="4589145"/>
          </a:xfrm>
          <a:prstGeom prst="rect">
            <a:avLst/>
          </a:prstGeom>
        </p:spPr>
      </p:pic>
      <p:pic>
        <p:nvPicPr>
          <p:cNvPr id="8" name="图片 7" descr="V2.2终版.1337"/>
          <p:cNvPicPr>
            <a:picLocks noChangeAspect="1"/>
          </p:cNvPicPr>
          <p:nvPr/>
        </p:nvPicPr>
        <p:blipFill>
          <a:blip r:embed="rId2">
            <a:lum contrast="6000"/>
          </a:blip>
          <a:srcRect l="30574" t="9814" r="27326" b="16175"/>
          <a:stretch>
            <a:fillRect/>
          </a:stretch>
        </p:blipFill>
        <p:spPr>
          <a:xfrm>
            <a:off x="6061710" y="1191260"/>
            <a:ext cx="4592320" cy="4541520"/>
          </a:xfrm>
          <a:prstGeom prst="rect">
            <a:avLst/>
          </a:prstGeom>
        </p:spPr>
      </p:pic>
      <p:sp>
        <p:nvSpPr>
          <p:cNvPr id="9" name="文本框 8"/>
          <p:cNvSpPr txBox="1"/>
          <p:nvPr/>
        </p:nvSpPr>
        <p:spPr>
          <a:xfrm>
            <a:off x="2207260" y="467360"/>
            <a:ext cx="1342390" cy="398780"/>
          </a:xfrm>
          <a:prstGeom prst="rect">
            <a:avLst/>
          </a:prstGeom>
          <a:noFill/>
        </p:spPr>
        <p:txBody>
          <a:bodyPr wrap="square" rtlCol="0">
            <a:spAutoFit/>
          </a:bodyPr>
          <a:p>
            <a:r>
              <a:rPr lang="en-US" altLang="zh-CN"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rPr>
              <a:t>6060</a:t>
            </a:r>
            <a:r>
              <a:rPr lang="zh-CN" altLang="en-US"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rPr>
              <a:t>尺寸</a:t>
            </a:r>
            <a:endParaRPr lang="zh-CN" altLang="en-US"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514350" y="381000"/>
            <a:ext cx="6257074" cy="475615"/>
            <a:chOff x="810" y="481"/>
            <a:chExt cx="14468" cy="749"/>
          </a:xfrm>
        </p:grpSpPr>
        <p:sp>
          <p:nvSpPr>
            <p:cNvPr id="5" name="矩形 4"/>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6" name="文本框 5"/>
            <p:cNvSpPr txBox="1"/>
            <p:nvPr/>
          </p:nvSpPr>
          <p:spPr>
            <a:xfrm>
              <a:off x="1118" y="481"/>
              <a:ext cx="14160"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产品</a:t>
              </a: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形态</a:t>
              </a:r>
              <a:endPar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sp>
        <p:nvSpPr>
          <p:cNvPr id="9" name="文本框 8"/>
          <p:cNvSpPr txBox="1"/>
          <p:nvPr/>
        </p:nvSpPr>
        <p:spPr>
          <a:xfrm>
            <a:off x="2207260" y="467360"/>
            <a:ext cx="1342390" cy="398780"/>
          </a:xfrm>
          <a:prstGeom prst="rect">
            <a:avLst/>
          </a:prstGeom>
          <a:noFill/>
        </p:spPr>
        <p:txBody>
          <a:bodyPr wrap="square" rtlCol="0">
            <a:spAutoFit/>
          </a:bodyPr>
          <a:p>
            <a:r>
              <a:rPr lang="en-US" altLang="zh-CN"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rPr>
              <a:t>3012</a:t>
            </a:r>
            <a:r>
              <a:rPr lang="zh-CN" altLang="en-US"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rPr>
              <a:t>尺寸</a:t>
            </a:r>
            <a:endParaRPr lang="zh-CN" altLang="en-US"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V2.2终版.1330"/>
          <p:cNvPicPr>
            <a:picLocks noChangeAspect="1"/>
          </p:cNvPicPr>
          <p:nvPr/>
        </p:nvPicPr>
        <p:blipFill>
          <a:blip r:embed="rId1"/>
          <a:srcRect l="9411" t="27746" r="6229" b="33534"/>
          <a:stretch>
            <a:fillRect/>
          </a:stretch>
        </p:blipFill>
        <p:spPr>
          <a:xfrm>
            <a:off x="1510665" y="3723005"/>
            <a:ext cx="9170035" cy="2367280"/>
          </a:xfrm>
          <a:prstGeom prst="rect">
            <a:avLst/>
          </a:prstGeom>
        </p:spPr>
      </p:pic>
      <p:pic>
        <p:nvPicPr>
          <p:cNvPr id="7" name="图片 6" descr="品2 3012.2"/>
          <p:cNvPicPr>
            <a:picLocks noChangeAspect="1"/>
          </p:cNvPicPr>
          <p:nvPr/>
        </p:nvPicPr>
        <p:blipFill>
          <a:blip r:embed="rId2"/>
          <a:srcRect l="4927" t="27829" r="3906" b="29746"/>
          <a:stretch>
            <a:fillRect/>
          </a:stretch>
        </p:blipFill>
        <p:spPr>
          <a:xfrm>
            <a:off x="1423035" y="1191895"/>
            <a:ext cx="9344660" cy="24453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514350" y="381000"/>
            <a:ext cx="6257074" cy="475615"/>
            <a:chOff x="810" y="481"/>
            <a:chExt cx="14468" cy="749"/>
          </a:xfrm>
        </p:grpSpPr>
        <p:sp>
          <p:nvSpPr>
            <p:cNvPr id="5" name="矩形 4"/>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6" name="文本框 5"/>
            <p:cNvSpPr txBox="1"/>
            <p:nvPr/>
          </p:nvSpPr>
          <p:spPr>
            <a:xfrm>
              <a:off x="1118" y="481"/>
              <a:ext cx="14160"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产品</a:t>
              </a: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形态</a:t>
              </a:r>
              <a:endPar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sp>
        <p:nvSpPr>
          <p:cNvPr id="9" name="文本框 8"/>
          <p:cNvSpPr txBox="1"/>
          <p:nvPr/>
        </p:nvSpPr>
        <p:spPr>
          <a:xfrm>
            <a:off x="2207260" y="467360"/>
            <a:ext cx="1342390" cy="398780"/>
          </a:xfrm>
          <a:prstGeom prst="rect">
            <a:avLst/>
          </a:prstGeom>
          <a:noFill/>
        </p:spPr>
        <p:txBody>
          <a:bodyPr wrap="square" rtlCol="0">
            <a:spAutoFit/>
          </a:bodyPr>
          <a:p>
            <a:r>
              <a:rPr lang="en-US" altLang="zh-CN"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rPr>
              <a:t>6012</a:t>
            </a:r>
            <a:r>
              <a:rPr lang="zh-CN" altLang="en-US"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rPr>
              <a:t>尺寸</a:t>
            </a:r>
            <a:endParaRPr lang="zh-CN" altLang="en-US" sz="2000" b="1">
              <a:solidFill>
                <a:srgbClr val="33119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众Ⅱ直下-6012-仰视图"/>
          <p:cNvPicPr>
            <a:picLocks noChangeAspect="1"/>
          </p:cNvPicPr>
          <p:nvPr/>
        </p:nvPicPr>
        <p:blipFill>
          <a:blip r:embed="rId1">
            <a:lum contrast="-6000"/>
          </a:blip>
          <a:srcRect l="10167" t="25611" r="7296" b="27148"/>
          <a:stretch>
            <a:fillRect/>
          </a:stretch>
        </p:blipFill>
        <p:spPr>
          <a:xfrm flipH="1">
            <a:off x="3787140" y="381000"/>
            <a:ext cx="8086725" cy="4628515"/>
          </a:xfrm>
          <a:prstGeom prst="rect">
            <a:avLst/>
          </a:prstGeom>
        </p:spPr>
      </p:pic>
      <p:pic>
        <p:nvPicPr>
          <p:cNvPr id="13" name="图片 12" descr="众Ⅱ直下-6012-俯视图"/>
          <p:cNvPicPr>
            <a:picLocks noChangeAspect="1"/>
          </p:cNvPicPr>
          <p:nvPr/>
        </p:nvPicPr>
        <p:blipFill>
          <a:blip r:embed="rId2"/>
          <a:srcRect l="11111" t="24083" r="6694" b="25324"/>
          <a:stretch>
            <a:fillRect/>
          </a:stretch>
        </p:blipFill>
        <p:spPr>
          <a:xfrm rot="21300000" flipH="1" flipV="1">
            <a:off x="644525" y="2265045"/>
            <a:ext cx="8041640" cy="49504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14350" y="381000"/>
            <a:ext cx="6257074" cy="475615"/>
            <a:chOff x="810" y="481"/>
            <a:chExt cx="14468" cy="749"/>
          </a:xfrm>
        </p:grpSpPr>
        <p:sp>
          <p:nvSpPr>
            <p:cNvPr id="5" name="矩形 4"/>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6" name="文本框 5"/>
            <p:cNvSpPr txBox="1"/>
            <p:nvPr/>
          </p:nvSpPr>
          <p:spPr>
            <a:xfrm>
              <a:off x="1118" y="481"/>
              <a:ext cx="14160"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产品参数</a:t>
              </a:r>
              <a:endParaRPr lang="en-US" altLang="zh-CN"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graphicFrame>
        <p:nvGraphicFramePr>
          <p:cNvPr id="2" name="表格 1"/>
          <p:cNvGraphicFramePr/>
          <p:nvPr>
            <p:custDataLst>
              <p:tags r:id="rId1"/>
            </p:custDataLst>
          </p:nvPr>
        </p:nvGraphicFramePr>
        <p:xfrm>
          <a:off x="647700" y="990600"/>
          <a:ext cx="11156950" cy="5339715"/>
        </p:xfrm>
        <a:graphic>
          <a:graphicData uri="http://schemas.openxmlformats.org/drawingml/2006/table">
            <a:tbl>
              <a:tblPr/>
              <a:tblGrid>
                <a:gridCol w="1122045"/>
                <a:gridCol w="3582670"/>
                <a:gridCol w="454025"/>
                <a:gridCol w="493395"/>
                <a:gridCol w="672465"/>
                <a:gridCol w="672465"/>
                <a:gridCol w="1028065"/>
                <a:gridCol w="893445"/>
                <a:gridCol w="520700"/>
                <a:gridCol w="686435"/>
                <a:gridCol w="510540"/>
                <a:gridCol w="520700"/>
              </a:tblGrid>
              <a:tr h="274320">
                <a:tc>
                  <a:txBody>
                    <a:bodyPr/>
                    <a:p>
                      <a:pPr indent="0" algn="ctr">
                        <a:buNone/>
                      </a:pPr>
                      <a:r>
                        <a:rPr lang="zh-CN" sz="1200" b="0">
                          <a:solidFill>
                            <a:srgbClr val="000000"/>
                          </a:solidFill>
                          <a:latin typeface="Arial" panose="020B0604020202020204" pitchFamily="34" charset="0"/>
                          <a:ea typeface="微软雅黑" panose="020B0503020204020204" pitchFamily="34" charset="-122"/>
                        </a:rPr>
                        <a:t>SAP产品代码</a:t>
                      </a:r>
                      <a:r>
                        <a:rPr lang="en-US" sz="1200" b="0">
                          <a:solidFill>
                            <a:srgbClr val="000000"/>
                          </a:solidFill>
                          <a:latin typeface="微软雅黑" panose="020B0503020204020204" pitchFamily="34" charset="-122"/>
                        </a:rPr>
                        <a:t>   </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1200" b="0">
                          <a:solidFill>
                            <a:srgbClr val="000000"/>
                          </a:solidFill>
                          <a:latin typeface="Arial" panose="020B0604020202020204" pitchFamily="34" charset="0"/>
                          <a:ea typeface="微软雅黑" panose="020B0503020204020204" pitchFamily="34" charset="-122"/>
                        </a:rPr>
                        <a:t>产品描述</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色温(K)</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显色指数Ra</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光效lm/W</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宣称光通量/lm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产品尺寸(mm)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产品开孔尺寸(mm)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嵌入高度</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功率因数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绝缘等级</a:t>
                      </a:r>
                      <a:endParaRPr lang="zh-CN" sz="900" b="0">
                        <a:solidFill>
                          <a:srgbClr val="000000"/>
                        </a:solidFill>
                        <a:latin typeface="Arial" panose="020B0604020202020204" pitchFamily="34" charset="0"/>
                        <a:ea typeface="微软雅黑" panose="020B0503020204020204" pitchFamily="34" charset="-122"/>
                      </a:endParaRPr>
                    </a:p>
                    <a:p>
                      <a:pPr indent="0" algn="ctr">
                        <a:buNone/>
                      </a:pPr>
                      <a:r>
                        <a:rPr lang="en-US" sz="900" b="0">
                          <a:solidFill>
                            <a:srgbClr val="000000"/>
                          </a:solidFill>
                          <a:latin typeface="微软雅黑" panose="020B0503020204020204" pitchFamily="34" charset="-122"/>
                        </a:rPr>
                        <a:t>Ⅰ/Ⅱ/Ⅲ</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c>
                  <a:txBody>
                    <a:bodyPr/>
                    <a:p>
                      <a:pPr indent="0" algn="ctr">
                        <a:buNone/>
                      </a:pPr>
                      <a:r>
                        <a:rPr lang="zh-CN" sz="900" b="0">
                          <a:solidFill>
                            <a:srgbClr val="000000"/>
                          </a:solidFill>
                          <a:latin typeface="Arial" panose="020B0604020202020204" pitchFamily="34" charset="0"/>
                          <a:ea typeface="微软雅黑" panose="020B0503020204020204" pitchFamily="34" charset="-122"/>
                        </a:rPr>
                        <a:t>IP等级</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12700">
                      <a:solidFill>
                        <a:schemeClr val="tx1"/>
                      </a:solidFill>
                      <a:prstDash val="solid"/>
                    </a:lnT>
                    <a:lnB w="6350" cap="flat" cmpd="sng">
                      <a:solidFill>
                        <a:srgbClr val="080000"/>
                      </a:solidFill>
                      <a:prstDash val="solid"/>
                      <a:headEnd type="none" w="med" len="med"/>
                      <a:tailEnd type="none" w="med" len="med"/>
                    </a:lnB>
                    <a:lnTlToBr>
                      <a:noFill/>
                    </a:lnTlToBr>
                    <a:lnBlToTr>
                      <a:noFill/>
                    </a:lnBlToTr>
                    <a:solidFill>
                      <a:srgbClr val="D9E1F2"/>
                    </a:solidFill>
                  </a:tcPr>
                </a:tc>
              </a:tr>
              <a:tr h="316230">
                <a:tc>
                  <a:txBody>
                    <a:bodyPr/>
                    <a:p>
                      <a:pPr indent="0" algn="ctr">
                        <a:buNone/>
                      </a:pPr>
                      <a:r>
                        <a:rPr lang="en-US" sz="1200" b="0">
                          <a:solidFill>
                            <a:srgbClr val="000000"/>
                          </a:solidFill>
                          <a:latin typeface="微软雅黑" panose="020B0503020204020204" pitchFamily="34" charset="-122"/>
                        </a:rPr>
                        <a:t>542014008100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LDP0103613840-品II直下灯盘6060-36W-4000K-白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4000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2880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595×595×35mm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570×570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542014008200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LDP0103613857-品II直下灯盘6060-36W-5700K-白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2880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595×595×35mm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570×570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542014008300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LDP0103614840-品II直下灯盘J6060-36W-4000K-白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4000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2880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600×600×35mm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230">
                <a:tc>
                  <a:txBody>
                    <a:bodyPr/>
                    <a:p>
                      <a:pPr indent="0" algn="ctr">
                        <a:buNone/>
                      </a:pPr>
                      <a:r>
                        <a:rPr lang="en-US" sz="1200" b="0">
                          <a:solidFill>
                            <a:srgbClr val="000000"/>
                          </a:solidFill>
                          <a:latin typeface="微软雅黑" panose="020B0503020204020204" pitchFamily="34" charset="-122"/>
                        </a:rPr>
                        <a:t>542014008400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LDP0103614857-品II直下灯盘J6060-36W-5700K-白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2880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600×600×35mm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542014008500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LDP0103615840-品II直下灯盘3012-36W-4000K-白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4000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2880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295×1195×35mm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270×1170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230">
                <a:tc>
                  <a:txBody>
                    <a:bodyPr/>
                    <a:p>
                      <a:pPr indent="0" algn="ctr">
                        <a:buNone/>
                      </a:pPr>
                      <a:r>
                        <a:rPr lang="en-US" sz="1200" b="0">
                          <a:solidFill>
                            <a:srgbClr val="000000"/>
                          </a:solidFill>
                          <a:latin typeface="微软雅黑" panose="020B0503020204020204" pitchFamily="34" charset="-122"/>
                        </a:rPr>
                        <a:t>542014008600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LDP0103615857-品II直下灯盘3012-36W-5700K-白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2880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295×1195×35mm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270×1170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542014008700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LDP0103616840-品II直下灯盘J3012-36W-4000K-白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4000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2880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300×1200×35mm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542014008800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LDP0103616857-品II直下灯盘J3012-36W-5700K-白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2880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300×1200×35mm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230">
                <a:tc>
                  <a:txBody>
                    <a:bodyPr/>
                    <a:p>
                      <a:pPr indent="0" algn="ctr">
                        <a:buNone/>
                      </a:pPr>
                      <a:r>
                        <a:rPr lang="en-US" sz="1200" b="0">
                          <a:solidFill>
                            <a:srgbClr val="000000"/>
                          </a:solidFill>
                          <a:latin typeface="微软雅黑" panose="020B0503020204020204" pitchFamily="34" charset="-122"/>
                        </a:rPr>
                        <a:t>542014008900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LDP0107203840-品II直下灯盘6012-72W-4000K-白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4000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5760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595×1195×35mm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570×1170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542014009000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LDP0107203857-品II直下灯盘6012-72W-5700K-白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5760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595×1195×35mm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570×1170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230">
                <a:tc>
                  <a:txBody>
                    <a:bodyPr/>
                    <a:p>
                      <a:pPr indent="0" algn="ctr">
                        <a:buNone/>
                      </a:pPr>
                      <a:r>
                        <a:rPr lang="en-US" sz="1200" b="0">
                          <a:solidFill>
                            <a:srgbClr val="000000"/>
                          </a:solidFill>
                          <a:latin typeface="微软雅黑" panose="020B0503020204020204" pitchFamily="34" charset="-122"/>
                        </a:rPr>
                        <a:t>542014009100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LDP0107204840-品II直下灯盘J6012-72W-4000K-白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4000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5760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600×1200×35mm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230">
                <a:tc>
                  <a:txBody>
                    <a:bodyPr/>
                    <a:p>
                      <a:pPr indent="0" algn="ctr">
                        <a:buNone/>
                      </a:pPr>
                      <a:r>
                        <a:rPr lang="en-US" sz="1200" b="0">
                          <a:solidFill>
                            <a:srgbClr val="000000"/>
                          </a:solidFill>
                          <a:latin typeface="微软雅黑" panose="020B0503020204020204" pitchFamily="34" charset="-122"/>
                        </a:rPr>
                        <a:t>542014009200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LDP0107204857-品II直下灯盘J6012-72W-5700K-白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5760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600×1200×35mm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542014009300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LDP0104802857-品II直下灯盘6060-48W-5700K-白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3840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595×595×35mm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570×570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542014009400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LDP0104801857-品II直下灯盘J6060-48W-5700K-白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3840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600×600×35mm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865">
                <a:tc>
                  <a:txBody>
                    <a:bodyPr/>
                    <a:p>
                      <a:pPr indent="0" algn="ctr">
                        <a:buNone/>
                      </a:pPr>
                      <a:r>
                        <a:rPr lang="en-US" sz="1200" b="0">
                          <a:solidFill>
                            <a:srgbClr val="000000"/>
                          </a:solidFill>
                          <a:latin typeface="微软雅黑" panose="020B0503020204020204" pitchFamily="34" charset="-122"/>
                        </a:rPr>
                        <a:t>542014009500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LDP0104804857-品II直下灯盘3012-48W-5700K-白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3840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295×1195×35mm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270×1170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16230">
                <a:tc>
                  <a:txBody>
                    <a:bodyPr/>
                    <a:p>
                      <a:pPr indent="0" algn="ctr">
                        <a:buNone/>
                      </a:pPr>
                      <a:r>
                        <a:rPr lang="en-US" sz="1200" b="0">
                          <a:solidFill>
                            <a:srgbClr val="000000"/>
                          </a:solidFill>
                          <a:latin typeface="微软雅黑" panose="020B0503020204020204" pitchFamily="34" charset="-122"/>
                        </a:rPr>
                        <a:t>542014009600</a:t>
                      </a:r>
                      <a:endParaRPr lang="en-US" altLang="en-US" sz="1200" b="0">
                        <a:solidFill>
                          <a:srgbClr val="000000"/>
                        </a:solidFill>
                        <a:latin typeface="微软雅黑" panose="020B0503020204020204" pitchFamily="34" charset="-122"/>
                      </a:endParaRPr>
                    </a:p>
                  </a:txBody>
                  <a:tcPr marL="0" marR="0" marT="0" marB="0" vert="horz" anchor="ctr" anchorCtr="0">
                    <a:lnL w="12700">
                      <a:solidFill>
                        <a:schemeClr val="tx1"/>
                      </a:solidFill>
                      <a:prstDash val="soli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l">
                        <a:buNone/>
                      </a:pPr>
                      <a:r>
                        <a:rPr lang="zh-CN" sz="1200" b="0">
                          <a:solidFill>
                            <a:srgbClr val="000000"/>
                          </a:solidFill>
                          <a:latin typeface="Arial" panose="020B0604020202020204" pitchFamily="34" charset="0"/>
                          <a:ea typeface="微软雅黑" panose="020B0503020204020204" pitchFamily="34" charset="-122"/>
                        </a:rPr>
                        <a:t>LDP0104803857-品II直下灯盘J3012-48W-5700K-白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5700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80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3840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300×1200×35mm</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35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0.95</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Ⅰ</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c>
                  <a:txBody>
                    <a:bodyPr/>
                    <a:p>
                      <a:pPr indent="0" algn="ctr">
                        <a:buNone/>
                      </a:pPr>
                      <a:r>
                        <a:rPr lang="en-US" sz="900" b="0">
                          <a:solidFill>
                            <a:srgbClr val="000000"/>
                          </a:solidFill>
                          <a:latin typeface="微软雅黑" panose="020B0503020204020204" pitchFamily="34" charset="-122"/>
                        </a:rPr>
                        <a:t>IP20</a:t>
                      </a:r>
                      <a:endParaRPr lang="en-US" altLang="en-US" sz="900" b="0">
                        <a:solidFill>
                          <a:srgbClr val="000000"/>
                        </a:solidFill>
                        <a:latin typeface="微软雅黑" panose="020B0503020204020204" pitchFamily="34" charset="-122"/>
                      </a:endParaRPr>
                    </a:p>
                  </a:txBody>
                  <a:tcPr marL="0" marR="0" marT="0" marB="0" vert="horz" anchor="ctr" anchorCtr="0">
                    <a:lnL w="6350" cap="flat" cmpd="sng">
                      <a:solidFill>
                        <a:srgbClr val="080000"/>
                      </a:solidFill>
                      <a:prstDash val="solid"/>
                      <a:headEnd type="none" w="med" len="med"/>
                      <a:tailEnd type="none" w="med" len="med"/>
                    </a:lnL>
                    <a:lnR w="12700">
                      <a:solidFill>
                        <a:schemeClr val="tx1"/>
                      </a:solidFill>
                      <a:prstDash val="solid"/>
                    </a:lnR>
                    <a:lnT w="6350" cap="flat" cmpd="sng">
                      <a:solidFill>
                        <a:srgbClr val="080000"/>
                      </a:solidFill>
                      <a:prstDash val="solid"/>
                      <a:headEnd type="none" w="med" len="med"/>
                      <a:tailEnd type="none" w="med" len="med"/>
                    </a:lnT>
                    <a:lnB w="12700">
                      <a:solidFill>
                        <a:schemeClr val="tx1"/>
                      </a:solidFill>
                      <a:prstDash val="solid"/>
                    </a:lnB>
                    <a:lnTlToBr>
                      <a:noFill/>
                    </a:lnTlToBr>
                    <a:lnBlToTr>
                      <a:noFill/>
                    </a:lnBlToTr>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514350" y="381000"/>
            <a:ext cx="6257074" cy="475615"/>
            <a:chOff x="810" y="481"/>
            <a:chExt cx="14468" cy="749"/>
          </a:xfrm>
        </p:grpSpPr>
        <p:sp>
          <p:nvSpPr>
            <p:cNvPr id="5" name="矩形 4"/>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6" name="文本框 5"/>
            <p:cNvSpPr txBox="1"/>
            <p:nvPr/>
          </p:nvSpPr>
          <p:spPr>
            <a:xfrm>
              <a:off x="1118" y="481"/>
              <a:ext cx="14160"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产品新老</a:t>
              </a: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对比</a:t>
              </a:r>
              <a:endPar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graphicFrame>
        <p:nvGraphicFramePr>
          <p:cNvPr id="34" name="表格 33"/>
          <p:cNvGraphicFramePr>
            <a:graphicFrameLocks noGrp="1"/>
          </p:cNvGraphicFramePr>
          <p:nvPr>
            <p:custDataLst>
              <p:tags r:id="rId1"/>
            </p:custDataLst>
          </p:nvPr>
        </p:nvGraphicFramePr>
        <p:xfrm>
          <a:off x="967740" y="1024255"/>
          <a:ext cx="10256520" cy="4910455"/>
        </p:xfrm>
        <a:graphic>
          <a:graphicData uri="http://schemas.openxmlformats.org/drawingml/2006/table">
            <a:tbl>
              <a:tblPr firstRow="1" bandRow="1">
                <a:tableStyleId>{5940675A-B579-460E-94D1-54222C63F5DA}</a:tableStyleId>
              </a:tblPr>
              <a:tblGrid>
                <a:gridCol w="1500505"/>
                <a:gridCol w="4187190"/>
                <a:gridCol w="4568825"/>
              </a:tblGrid>
              <a:tr h="401955">
                <a:tc>
                  <a:txBody>
                    <a:bodyPr/>
                    <a:lstStyle/>
                    <a:p>
                      <a:pPr algn="ctr"/>
                      <a:r>
                        <a:rPr lang="zh-CN" altLang="en-US" sz="1600" b="1" dirty="0">
                          <a:solidFill>
                            <a:schemeClr val="bg1"/>
                          </a:solidFill>
                        </a:rPr>
                        <a:t>产品规格</a:t>
                      </a:r>
                      <a:endParaRPr lang="zh-CN" altLang="en-US" sz="1600" b="1" dirty="0">
                        <a:solidFill>
                          <a:schemeClr val="bg1"/>
                        </a:solidFill>
                      </a:endParaRPr>
                    </a:p>
                  </a:txBody>
                  <a:tcPr>
                    <a:solidFill>
                      <a:schemeClr val="tx1"/>
                    </a:solidFill>
                  </a:tcPr>
                </a:tc>
                <a:tc>
                  <a:txBody>
                    <a:bodyPr/>
                    <a:lstStyle/>
                    <a:p>
                      <a:pPr algn="ctr"/>
                      <a:r>
                        <a:rPr lang="zh-CN" altLang="en-US" sz="1600" b="1" dirty="0">
                          <a:solidFill>
                            <a:schemeClr val="bg1"/>
                          </a:solidFill>
                        </a:rPr>
                        <a:t>老品</a:t>
                      </a:r>
                      <a:r>
                        <a:rPr lang="en-US" altLang="zh-CN" sz="1600" b="1" dirty="0">
                          <a:solidFill>
                            <a:schemeClr val="bg1"/>
                          </a:solidFill>
                        </a:rPr>
                        <a:t> </a:t>
                      </a:r>
                      <a:r>
                        <a:rPr lang="zh-CN" altLang="en-US" sz="1600" b="1" dirty="0">
                          <a:solidFill>
                            <a:schemeClr val="bg1"/>
                          </a:solidFill>
                        </a:rPr>
                        <a:t>品</a:t>
                      </a:r>
                      <a:r>
                        <a:rPr lang="en-US" altLang="zh-CN" sz="1600" b="1" dirty="0">
                          <a:solidFill>
                            <a:schemeClr val="bg1"/>
                          </a:solidFill>
                        </a:rPr>
                        <a:t>I</a:t>
                      </a:r>
                      <a:endParaRPr lang="en-US" altLang="zh-CN" sz="1600" b="1" dirty="0">
                        <a:solidFill>
                          <a:schemeClr val="bg1"/>
                        </a:solidFill>
                      </a:endParaRPr>
                    </a:p>
                  </a:txBody>
                  <a:tcPr>
                    <a:solidFill>
                      <a:schemeClr val="tx1"/>
                    </a:solidFill>
                  </a:tcPr>
                </a:tc>
                <a:tc>
                  <a:txBody>
                    <a:bodyPr/>
                    <a:lstStyle/>
                    <a:p>
                      <a:pPr algn="ctr"/>
                      <a:r>
                        <a:rPr lang="zh-CN" altLang="en-US" sz="1600" b="1" dirty="0">
                          <a:solidFill>
                            <a:schemeClr val="bg1"/>
                          </a:solidFill>
                        </a:rPr>
                        <a:t>新品</a:t>
                      </a:r>
                      <a:r>
                        <a:rPr lang="en-US" altLang="zh-CN" sz="1600" b="1" dirty="0">
                          <a:solidFill>
                            <a:schemeClr val="bg1"/>
                          </a:solidFill>
                        </a:rPr>
                        <a:t> </a:t>
                      </a:r>
                      <a:r>
                        <a:rPr lang="zh-CN" altLang="en-US" sz="1600" b="1" dirty="0">
                          <a:solidFill>
                            <a:schemeClr val="bg1"/>
                          </a:solidFill>
                        </a:rPr>
                        <a:t>品</a:t>
                      </a:r>
                      <a:r>
                        <a:rPr lang="en-US" altLang="zh-CN" sz="1600" b="1" dirty="0">
                          <a:solidFill>
                            <a:schemeClr val="bg1"/>
                          </a:solidFill>
                        </a:rPr>
                        <a:t>II</a:t>
                      </a:r>
                      <a:r>
                        <a:rPr lang="zh-CN" altLang="en-US" sz="1600" b="1" baseline="0" dirty="0">
                          <a:solidFill>
                            <a:schemeClr val="bg1"/>
                          </a:solidFill>
                        </a:rPr>
                        <a:t> </a:t>
                      </a:r>
                      <a:endParaRPr lang="zh-CN" altLang="en-US" sz="1600" b="1" baseline="0" dirty="0">
                        <a:solidFill>
                          <a:schemeClr val="bg1"/>
                        </a:solidFill>
                      </a:endParaRPr>
                    </a:p>
                  </a:txBody>
                  <a:tcPr>
                    <a:solidFill>
                      <a:schemeClr val="tx1"/>
                    </a:solidFill>
                  </a:tcPr>
                </a:tc>
              </a:tr>
              <a:tr h="850265">
                <a:tc>
                  <a:txBody>
                    <a:bodyPr/>
                    <a:lstStyle/>
                    <a:p>
                      <a:pPr algn="ctr"/>
                      <a:r>
                        <a:rPr lang="zh-CN" altLang="en-US" sz="1800" dirty="0"/>
                        <a:t>电源</a:t>
                      </a:r>
                      <a:endParaRPr lang="zh-CN" altLang="en-US" sz="1800" dirty="0"/>
                    </a:p>
                  </a:txBody>
                  <a:tcPr anchor="ctr" anchorCtr="0"/>
                </a:tc>
                <a:tc>
                  <a:txBody>
                    <a:bodyPr/>
                    <a:lstStyle/>
                    <a:p>
                      <a:r>
                        <a:rPr lang="zh-CN" altLang="en-US" sz="1600" dirty="0"/>
                        <a:t>外挂</a:t>
                      </a:r>
                      <a:endParaRPr lang="zh-CN" altLang="en-US" sz="1600" dirty="0"/>
                    </a:p>
                  </a:txBody>
                  <a:tcPr/>
                </a:tc>
                <a:tc>
                  <a:txBody>
                    <a:bodyPr/>
                    <a:lstStyle/>
                    <a:p>
                      <a:r>
                        <a:rPr lang="zh-CN" altLang="en-US" sz="1600" b="1" dirty="0">
                          <a:solidFill>
                            <a:srgbClr val="FF0000"/>
                          </a:solidFill>
                        </a:rPr>
                        <a:t>内置</a:t>
                      </a:r>
                      <a:endParaRPr lang="zh-CN" altLang="en-US" sz="1600" b="1" dirty="0">
                        <a:solidFill>
                          <a:srgbClr val="FF0000"/>
                        </a:solidFill>
                      </a:endParaRPr>
                    </a:p>
                  </a:txBody>
                  <a:tcPr/>
                </a:tc>
              </a:tr>
              <a:tr h="1167130">
                <a:tc>
                  <a:txBody>
                    <a:bodyPr/>
                    <a:lstStyle/>
                    <a:p>
                      <a:pPr algn="ctr"/>
                      <a:r>
                        <a:rPr lang="zh-CN" altLang="en-US" sz="1800" dirty="0"/>
                        <a:t>边框</a:t>
                      </a:r>
                      <a:endParaRPr lang="zh-CN" altLang="en-US" sz="1800" dirty="0"/>
                    </a:p>
                  </a:txBody>
                  <a:tcPr anchor="ctr" anchorCtr="0"/>
                </a:tc>
                <a:tc>
                  <a:txBody>
                    <a:bodyPr/>
                    <a:lstStyle/>
                    <a:p>
                      <a:r>
                        <a:rPr lang="zh-CN" altLang="en-US" sz="1600" dirty="0"/>
                        <a:t>铝拼接</a:t>
                      </a:r>
                      <a:endParaRPr lang="zh-CN" altLang="en-US" sz="1600" dirty="0"/>
                    </a:p>
                  </a:txBody>
                  <a:tcPr/>
                </a:tc>
                <a:tc>
                  <a:txBody>
                    <a:bodyPr/>
                    <a:lstStyle/>
                    <a:p>
                      <a:r>
                        <a:rPr lang="zh-CN" altLang="en-US" sz="1600" dirty="0"/>
                        <a:t>金属边框</a:t>
                      </a:r>
                      <a:r>
                        <a:rPr lang="en-US" altLang="zh-CN" sz="1600" dirty="0"/>
                        <a:t>* </a:t>
                      </a:r>
                      <a:endParaRPr lang="en-US" altLang="zh-CN" sz="1600" dirty="0"/>
                    </a:p>
                    <a:p>
                      <a:r>
                        <a:rPr lang="zh-CN" altLang="en-US" sz="1600" b="1" dirty="0">
                          <a:solidFill>
                            <a:srgbClr val="FF0000"/>
                          </a:solidFill>
                        </a:rPr>
                        <a:t>强度更高</a:t>
                      </a:r>
                      <a:endParaRPr lang="zh-CN" altLang="en-US" sz="1600" dirty="0"/>
                    </a:p>
                  </a:txBody>
                  <a:tcPr/>
                </a:tc>
              </a:tr>
              <a:tr h="2491105">
                <a:tc>
                  <a:txBody>
                    <a:bodyPr/>
                    <a:lstStyle/>
                    <a:p>
                      <a:pPr algn="ctr"/>
                      <a:r>
                        <a:rPr lang="zh-CN" altLang="en-US" sz="1800" dirty="0"/>
                        <a:t>画面效果</a:t>
                      </a:r>
                      <a:endParaRPr lang="zh-CN" altLang="en-US" sz="1800" dirty="0"/>
                    </a:p>
                  </a:txBody>
                  <a:tcPr anchor="ctr" anchorCtr="0"/>
                </a:tc>
                <a:tc>
                  <a:txBody>
                    <a:bodyPr/>
                    <a:lstStyle/>
                    <a:p>
                      <a:r>
                        <a:rPr lang="zh-CN" altLang="en-US" sz="1600" dirty="0"/>
                        <a:t>中心强度过高，视觉效果四周发暗</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rgbClr val="FF0000"/>
                          </a:solidFill>
                        </a:rPr>
                        <a:t>目视、亮度计测试均匀性更高</a:t>
                      </a:r>
                      <a:endParaRPr lang="zh-CN" altLang="en-US" sz="1600" b="1" dirty="0">
                        <a:solidFill>
                          <a:srgbClr val="FF0000"/>
                        </a:solidFill>
                      </a:endParaRPr>
                    </a:p>
                  </a:txBody>
                  <a:tcPr/>
                </a:tc>
              </a:tr>
            </a:tbl>
          </a:graphicData>
        </a:graphic>
      </p:graphicFrame>
      <p:sp>
        <p:nvSpPr>
          <p:cNvPr id="2" name="文本框 1"/>
          <p:cNvSpPr txBox="1"/>
          <p:nvPr/>
        </p:nvSpPr>
        <p:spPr>
          <a:xfrm>
            <a:off x="9876790" y="6551295"/>
            <a:ext cx="2560320" cy="306705"/>
          </a:xfrm>
          <a:prstGeom prst="rect">
            <a:avLst/>
          </a:prstGeom>
          <a:noFill/>
        </p:spPr>
        <p:txBody>
          <a:bodyPr wrap="square" rtlCol="0">
            <a:spAutoFit/>
          </a:bodyPr>
          <a:p>
            <a:r>
              <a:rPr lang="en-US" altLang="zh-CN" sz="1400"/>
              <a:t>*</a:t>
            </a:r>
            <a:r>
              <a:rPr lang="zh-CN" altLang="en-US" sz="1400"/>
              <a:t>金属边框</a:t>
            </a:r>
            <a:r>
              <a:rPr lang="zh-CN" altLang="en-US" sz="1400"/>
              <a:t>计划将在</a:t>
            </a:r>
            <a:r>
              <a:rPr lang="en-US" altLang="zh-CN" sz="1400"/>
              <a:t>9</a:t>
            </a:r>
            <a:r>
              <a:rPr lang="zh-CN" altLang="en-US" sz="1400"/>
              <a:t>月上线</a:t>
            </a:r>
            <a:endParaRPr lang="zh-CN" altLang="en-US" sz="1400"/>
          </a:p>
        </p:txBody>
      </p:sp>
      <p:pic>
        <p:nvPicPr>
          <p:cNvPr id="7" name="图片 6" descr="企业微信截图_17205147953486"/>
          <p:cNvPicPr>
            <a:picLocks noChangeAspect="1"/>
          </p:cNvPicPr>
          <p:nvPr/>
        </p:nvPicPr>
        <p:blipFill>
          <a:blip r:embed="rId2"/>
          <a:stretch>
            <a:fillRect/>
          </a:stretch>
        </p:blipFill>
        <p:spPr>
          <a:xfrm>
            <a:off x="7947025" y="3783330"/>
            <a:ext cx="2005330" cy="1985645"/>
          </a:xfrm>
          <a:prstGeom prst="rect">
            <a:avLst/>
          </a:prstGeom>
        </p:spPr>
      </p:pic>
      <p:pic>
        <p:nvPicPr>
          <p:cNvPr id="8" name="图片 7" descr="企业微信截图_17205148121127"/>
          <p:cNvPicPr>
            <a:picLocks noChangeAspect="1"/>
          </p:cNvPicPr>
          <p:nvPr/>
        </p:nvPicPr>
        <p:blipFill>
          <a:blip r:embed="rId3"/>
          <a:stretch>
            <a:fillRect/>
          </a:stretch>
        </p:blipFill>
        <p:spPr>
          <a:xfrm>
            <a:off x="3310890" y="3812540"/>
            <a:ext cx="2028190" cy="1956435"/>
          </a:xfrm>
          <a:prstGeom prst="rect">
            <a:avLst/>
          </a:prstGeom>
        </p:spPr>
      </p:pic>
      <p:pic>
        <p:nvPicPr>
          <p:cNvPr id="3" name="图片 2" descr="V2.2终版.1337"/>
          <p:cNvPicPr>
            <a:picLocks noChangeAspect="1"/>
          </p:cNvPicPr>
          <p:nvPr/>
        </p:nvPicPr>
        <p:blipFill>
          <a:blip r:embed="rId4">
            <a:lum contrast="6000"/>
          </a:blip>
          <a:srcRect l="31888" t="72080" r="40888" b="16928"/>
          <a:stretch>
            <a:fillRect/>
          </a:stretch>
        </p:blipFill>
        <p:spPr>
          <a:xfrm>
            <a:off x="7602220" y="1548765"/>
            <a:ext cx="2776220" cy="630555"/>
          </a:xfrm>
          <a:prstGeom prst="rect">
            <a:avLst/>
          </a:prstGeom>
        </p:spPr>
      </p:pic>
      <p:pic>
        <p:nvPicPr>
          <p:cNvPr id="35" name="图片 34"/>
          <p:cNvPicPr>
            <a:picLocks noChangeAspect="1"/>
          </p:cNvPicPr>
          <p:nvPr/>
        </p:nvPicPr>
        <p:blipFill rotWithShape="1">
          <a:blip r:embed="rId5"/>
          <a:srcRect l="60279" t="26631" r="34765" b="34864"/>
          <a:stretch>
            <a:fillRect/>
          </a:stretch>
        </p:blipFill>
        <p:spPr>
          <a:xfrm rot="5400000">
            <a:off x="4398645" y="331470"/>
            <a:ext cx="630555" cy="3065145"/>
          </a:xfrm>
          <a:prstGeom prst="rect">
            <a:avLst/>
          </a:prstGeom>
        </p:spPr>
      </p:pic>
      <p:pic>
        <p:nvPicPr>
          <p:cNvPr id="9" name="图片 8" descr="V2.2终版.1339"/>
          <p:cNvPicPr>
            <a:picLocks noChangeAspect="1"/>
          </p:cNvPicPr>
          <p:nvPr/>
        </p:nvPicPr>
        <p:blipFill>
          <a:blip r:embed="rId6">
            <a:lum bright="6000"/>
          </a:blip>
          <a:srcRect l="30120" t="8881" r="42590" b="73238"/>
          <a:stretch>
            <a:fillRect/>
          </a:stretch>
        </p:blipFill>
        <p:spPr>
          <a:xfrm>
            <a:off x="7947025" y="2261870"/>
            <a:ext cx="2853055" cy="1054100"/>
          </a:xfrm>
          <a:prstGeom prst="rect">
            <a:avLst/>
          </a:prstGeom>
        </p:spPr>
      </p:pic>
      <p:pic>
        <p:nvPicPr>
          <p:cNvPr id="39" name="图片 38"/>
          <p:cNvPicPr>
            <a:picLocks noChangeAspect="1"/>
          </p:cNvPicPr>
          <p:nvPr/>
        </p:nvPicPr>
        <p:blipFill rotWithShape="1">
          <a:blip r:embed="rId7"/>
          <a:srcRect l="24989" t="18237" r="56545" b="68326"/>
          <a:stretch>
            <a:fillRect/>
          </a:stretch>
        </p:blipFill>
        <p:spPr>
          <a:xfrm>
            <a:off x="3093085" y="2115185"/>
            <a:ext cx="2834005" cy="12007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14350" y="381000"/>
            <a:ext cx="6257074" cy="475615"/>
            <a:chOff x="810" y="481"/>
            <a:chExt cx="14468" cy="749"/>
          </a:xfrm>
        </p:grpSpPr>
        <p:sp>
          <p:nvSpPr>
            <p:cNvPr id="5" name="矩形 4"/>
            <p:cNvSpPr/>
            <p:nvPr/>
          </p:nvSpPr>
          <p:spPr>
            <a:xfrm flipH="1">
              <a:off x="810" y="481"/>
              <a:ext cx="174" cy="732"/>
            </a:xfrm>
            <a:prstGeom prst="rect">
              <a:avLst/>
            </a:prstGeom>
            <a:solidFill>
              <a:srgbClr val="331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endParaRPr>
            </a:p>
          </p:txBody>
        </p:sp>
        <p:sp>
          <p:nvSpPr>
            <p:cNvPr id="6" name="文本框 5"/>
            <p:cNvSpPr txBox="1"/>
            <p:nvPr/>
          </p:nvSpPr>
          <p:spPr>
            <a:xfrm>
              <a:off x="1118" y="481"/>
              <a:ext cx="14160" cy="749"/>
            </a:xfrm>
            <a:prstGeom prst="rect">
              <a:avLst/>
            </a:prstGeom>
            <a:noFill/>
          </p:spPr>
          <p:txBody>
            <a:bodyPr wrap="square" rtlCol="0" anchor="t">
              <a:spAutoFit/>
            </a:bodyPr>
            <a:p>
              <a:pPr algn="l">
                <a:lnSpc>
                  <a:spcPts val="3000"/>
                </a:lnSpc>
              </a:pP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迭代</a:t>
              </a:r>
              <a:r>
                <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rPr>
                <a:t>清单</a:t>
              </a:r>
              <a:endParaRPr lang="zh-CN" altLang="en-US" sz="2800" b="1" dirty="0">
                <a:solidFill>
                  <a:srgbClr val="331199"/>
                </a:solidFill>
                <a:latin typeface="微软雅黑" panose="020B0503020204020204" pitchFamily="34" charset="-122"/>
                <a:ea typeface="微软雅黑" panose="020B0503020204020204" pitchFamily="34" charset="-122"/>
                <a:cs typeface="方正兰亭准黑简体" charset="-122"/>
                <a:sym typeface="+mn-ea"/>
              </a:endParaRPr>
            </a:p>
          </p:txBody>
        </p:sp>
      </p:grpSp>
      <p:graphicFrame>
        <p:nvGraphicFramePr>
          <p:cNvPr id="9" name="表格 8"/>
          <p:cNvGraphicFramePr/>
          <p:nvPr>
            <p:custDataLst>
              <p:tags r:id="rId1"/>
            </p:custDataLst>
          </p:nvPr>
        </p:nvGraphicFramePr>
        <p:xfrm>
          <a:off x="514350" y="1052195"/>
          <a:ext cx="10873740" cy="4805680"/>
        </p:xfrm>
        <a:graphic>
          <a:graphicData uri="http://schemas.openxmlformats.org/drawingml/2006/table">
            <a:tbl>
              <a:tblPr/>
              <a:tblGrid>
                <a:gridCol w="1193800"/>
                <a:gridCol w="3729990"/>
                <a:gridCol w="1454785"/>
                <a:gridCol w="4495165"/>
              </a:tblGrid>
              <a:tr h="358775">
                <a:tc>
                  <a:txBody>
                    <a:bodyPr/>
                    <a:p>
                      <a:pPr indent="0" algn="ctr">
                        <a:buNone/>
                      </a:pPr>
                      <a:r>
                        <a:rPr lang="zh-CN" sz="1400" b="1">
                          <a:solidFill>
                            <a:schemeClr val="bg1"/>
                          </a:solidFill>
                          <a:latin typeface="Arial" panose="020B0604020202020204" pitchFamily="34" charset="0"/>
                          <a:ea typeface="微软雅黑" panose="020B0503020204020204" pitchFamily="34" charset="-122"/>
                        </a:rPr>
                        <a:t>老品SKU</a:t>
                      </a:r>
                      <a:endParaRPr lang="zh-CN" altLang="en-US" sz="1400" b="1">
                        <a:solidFill>
                          <a:schemeClr val="bg1"/>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rgbClr val="331199"/>
                    </a:solidFill>
                  </a:tcPr>
                </a:tc>
                <a:tc>
                  <a:txBody>
                    <a:bodyPr/>
                    <a:p>
                      <a:pPr indent="0" algn="ctr">
                        <a:buNone/>
                      </a:pPr>
                      <a:r>
                        <a:rPr lang="zh-CN" sz="1400" b="1">
                          <a:solidFill>
                            <a:schemeClr val="bg1"/>
                          </a:solidFill>
                          <a:latin typeface="Arial" panose="020B0604020202020204" pitchFamily="34" charset="0"/>
                          <a:ea typeface="微软雅黑" panose="020B0503020204020204" pitchFamily="34" charset="-122"/>
                        </a:rPr>
                        <a:t>老品物料描述</a:t>
                      </a:r>
                      <a:endParaRPr lang="zh-CN" altLang="en-US" sz="1400" b="1">
                        <a:solidFill>
                          <a:schemeClr val="bg1"/>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rgbClr val="331199"/>
                    </a:solidFill>
                  </a:tcPr>
                </a:tc>
                <a:tc>
                  <a:txBody>
                    <a:bodyPr/>
                    <a:p>
                      <a:pPr indent="0" algn="ctr">
                        <a:buNone/>
                      </a:pPr>
                      <a:r>
                        <a:rPr lang="zh-CN" sz="1400" b="1">
                          <a:solidFill>
                            <a:schemeClr val="bg1"/>
                          </a:solidFill>
                          <a:latin typeface="Arial" panose="020B0604020202020204" pitchFamily="34" charset="0"/>
                          <a:ea typeface="微软雅黑" panose="020B0503020204020204" pitchFamily="34" charset="-122"/>
                        </a:rPr>
                        <a:t>新品SKU</a:t>
                      </a:r>
                      <a:endParaRPr lang="zh-CN" altLang="en-US" sz="1400" b="1">
                        <a:solidFill>
                          <a:schemeClr val="bg1"/>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rgbClr val="331199"/>
                    </a:solidFill>
                  </a:tcPr>
                </a:tc>
                <a:tc>
                  <a:txBody>
                    <a:bodyPr/>
                    <a:p>
                      <a:pPr indent="0" algn="ctr">
                        <a:buNone/>
                      </a:pPr>
                      <a:r>
                        <a:rPr lang="zh-CN" sz="1400" b="1">
                          <a:solidFill>
                            <a:schemeClr val="bg1"/>
                          </a:solidFill>
                          <a:latin typeface="Arial" panose="020B0604020202020204" pitchFamily="34" charset="0"/>
                          <a:ea typeface="微软雅黑" panose="020B0503020204020204" pitchFamily="34" charset="-122"/>
                        </a:rPr>
                        <a:t>新品物料描述</a:t>
                      </a:r>
                      <a:endParaRPr lang="zh-CN" altLang="en-US" sz="1400" b="1">
                        <a:solidFill>
                          <a:schemeClr val="bg1"/>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rgbClr val="331199"/>
                    </a:solidFill>
                  </a:tcPr>
                </a:tc>
              </a:tr>
              <a:tr h="277495">
                <a:tc>
                  <a:txBody>
                    <a:bodyPr/>
                    <a:p>
                      <a:pPr indent="0" algn="ctr">
                        <a:buNone/>
                      </a:pPr>
                      <a:r>
                        <a:rPr lang="en-US" sz="1200" b="0">
                          <a:solidFill>
                            <a:srgbClr val="000000"/>
                          </a:solidFill>
                          <a:latin typeface="微软雅黑" panose="020B0503020204020204" pitchFamily="34" charset="-122"/>
                        </a:rPr>
                        <a:t>542003093501</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LDP01036017-品直下灯盘6060-36W-4000K-白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542014008100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LDP0103613840-品II直下灯盘6060-36W-4000K-白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542003093600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LDP01036017-品直下灯盘6060-36W-5700K-白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542014008200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LDP0103613857-品II直下灯盘6060-36W-5700K-白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542003094100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LDP01036019-品直下灯盘J6060-36W-4000K-白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542014008300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LDP0103614840-品II直下灯盘J6060-36W-4000K-白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7495">
                <a:tc>
                  <a:txBody>
                    <a:bodyPr/>
                    <a:p>
                      <a:pPr indent="0" algn="ctr">
                        <a:buNone/>
                      </a:pPr>
                      <a:r>
                        <a:rPr lang="en-US" sz="1200" b="0">
                          <a:solidFill>
                            <a:srgbClr val="000000"/>
                          </a:solidFill>
                          <a:latin typeface="微软雅黑" panose="020B0503020204020204" pitchFamily="34" charset="-122"/>
                        </a:rPr>
                        <a:t>542003094200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LDP01036019-品直下灯盘J6060-36W-5700K-白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542014008400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LDP0103614857-品II直下灯盘J6060-36W-5700K-白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542003093700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LDP01036018-品直下灯盘3012-36W-4000K-白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542014008500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LDP0103615840-品II直下灯盘3012-36W-4000K-白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542003093800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LDP01036018-品直下灯盘3012-36W-5700K-白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542014008600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LDP0103615857-品II直下灯盘3012-36W-5700K-白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542003094300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LDP01036020-品直下灯盘J3012-36W-4000K-白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542014008700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LDP0103616840-品II直下灯盘J3012-36W-4000K-白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7495">
                <a:tc>
                  <a:txBody>
                    <a:bodyPr/>
                    <a:p>
                      <a:pPr indent="0" algn="ctr">
                        <a:buNone/>
                      </a:pPr>
                      <a:r>
                        <a:rPr lang="en-US" sz="1200" b="0">
                          <a:solidFill>
                            <a:srgbClr val="000000"/>
                          </a:solidFill>
                          <a:latin typeface="微软雅黑" panose="020B0503020204020204" pitchFamily="34" charset="-122"/>
                        </a:rPr>
                        <a:t>542003094400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LDP01036020-品直下灯盘J3012-36W-5700K-白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542014008800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LDP0103616857-品II直下灯盘J3012-36W-5700K-白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542003149700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LDP0104803品直下灯盘6060-48W-5700K-白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542014009300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LDP0104802857-品II直下灯盘6060-48W-5700K-白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542003149800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LDP0104804品直下灯盘J6060-48W-5700K-白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542014009400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LDP0104801857-品II直下灯盘J6060-48W-5700K-白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7495">
                <a:tc>
                  <a:txBody>
                    <a:bodyPr/>
                    <a:p>
                      <a:pPr indent="0" algn="ctr">
                        <a:buNone/>
                      </a:pPr>
                      <a:r>
                        <a:rPr lang="en-US" sz="1200" b="0">
                          <a:solidFill>
                            <a:srgbClr val="000000"/>
                          </a:solidFill>
                          <a:latin typeface="微软雅黑" panose="020B0503020204020204" pitchFamily="34" charset="-122"/>
                        </a:rPr>
                        <a:t>542003149500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LDP0104801品直下灯盘3012-48W-5700K-白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542014009500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LDP0104804857-品II直下灯盘3012-48W-5700K-白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542003149600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LDP0104802品直下灯盘J3012-48W-5700K-白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542014009600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LDP0104803857-品II直下灯盘J3012-48W-5700K-白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542003052200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LDP0107201B840-品直下灯盘6012-72W-4000K-白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542014008900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LDP0107203840-品II直下灯盘6012-72W-4000K-白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542003053200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LDP0107201B857-品直下灯盘6012-72W-5700K-白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542014009000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LDP0107203857-品II直下灯盘6012-72W-5700K-白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7495">
                <a:tc>
                  <a:txBody>
                    <a:bodyPr/>
                    <a:p>
                      <a:pPr indent="0" algn="ctr">
                        <a:buNone/>
                      </a:pPr>
                      <a:r>
                        <a:rPr lang="en-US" sz="1200" b="0">
                          <a:solidFill>
                            <a:srgbClr val="000000"/>
                          </a:solidFill>
                          <a:latin typeface="微软雅黑" panose="020B0503020204020204" pitchFamily="34" charset="-122"/>
                        </a:rPr>
                        <a:t>542003053300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LDP0107202B840-品直下灯盘J6012-72W-4000K-白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542014009100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LDP0107204840-品II直下灯盘J6012-72W-4000K-白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8130">
                <a:tc>
                  <a:txBody>
                    <a:bodyPr/>
                    <a:p>
                      <a:pPr indent="0" algn="ctr">
                        <a:buNone/>
                      </a:pPr>
                      <a:r>
                        <a:rPr lang="en-US" sz="1200" b="0">
                          <a:solidFill>
                            <a:srgbClr val="000000"/>
                          </a:solidFill>
                          <a:latin typeface="微软雅黑" panose="020B0503020204020204" pitchFamily="34" charset="-122"/>
                        </a:rPr>
                        <a:t>542003052400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LDP0107202B857-品直下灯盘J6012-72W-5700K-白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solidFill>
                            <a:srgbClr val="000000"/>
                          </a:solidFill>
                          <a:latin typeface="微软雅黑" panose="020B0503020204020204" pitchFamily="34" charset="-122"/>
                        </a:rPr>
                        <a:t>542014009200</a:t>
                      </a:r>
                      <a:endParaRPr lang="en-US" altLang="en-US" sz="1200" b="0">
                        <a:solidFill>
                          <a:srgbClr val="000000"/>
                        </a:solidFill>
                        <a:latin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sz="1200" b="0">
                          <a:solidFill>
                            <a:srgbClr val="000000"/>
                          </a:solidFill>
                          <a:latin typeface="Arial" panose="020B0604020202020204" pitchFamily="34" charset="0"/>
                          <a:ea typeface="微软雅黑" panose="020B0503020204020204" pitchFamily="34" charset="-122"/>
                        </a:rPr>
                        <a:t>LDP0107204857-品II直下灯盘J6012-72W-5700K-白</a:t>
                      </a:r>
                      <a:endParaRPr lang="zh-CN" altLang="en-US" sz="12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2" name="对象 1">
            <a:hlinkClick r:id="" action="ppaction://ole?verb="/>
          </p:cNvPr>
          <p:cNvGraphicFramePr>
            <a:graphicFrameLocks noChangeAspect="1"/>
          </p:cNvGraphicFramePr>
          <p:nvPr/>
        </p:nvGraphicFramePr>
        <p:xfrm>
          <a:off x="4007485" y="5991860"/>
          <a:ext cx="971550" cy="666750"/>
        </p:xfrm>
        <a:graphic>
          <a:graphicData uri="http://schemas.openxmlformats.org/presentationml/2006/ole">
            <mc:AlternateContent xmlns:mc="http://schemas.openxmlformats.org/markup-compatibility/2006">
              <mc:Choice xmlns:v="urn:schemas-microsoft-com:vml" Requires="v">
                <p:oleObj spid="_x0000_s1025" name="" showAsIcon="1" r:id="rId2" imgW="971550" imgH="666750" progId="Acrobat.Document.DC">
                  <p:embed/>
                </p:oleObj>
              </mc:Choice>
              <mc:Fallback>
                <p:oleObj name="" showAsIcon="1" r:id="rId2" imgW="971550" imgH="666750" progId="Acrobat.Document.DC">
                  <p:embed/>
                  <p:pic>
                    <p:nvPicPr>
                      <p:cNvPr id="0" name="图片 1024"/>
                      <p:cNvPicPr/>
                      <p:nvPr/>
                    </p:nvPicPr>
                    <p:blipFill>
                      <a:blip r:embed="rId3"/>
                      <a:stretch>
                        <a:fillRect/>
                      </a:stretch>
                    </p:blipFill>
                    <p:spPr>
                      <a:xfrm>
                        <a:off x="4007485" y="5991860"/>
                        <a:ext cx="971550" cy="66675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1778635" y="6002655"/>
          <a:ext cx="971550" cy="666750"/>
        </p:xfrm>
        <a:graphic>
          <a:graphicData uri="http://schemas.openxmlformats.org/presentationml/2006/ole">
            <mc:AlternateContent xmlns:mc="http://schemas.openxmlformats.org/markup-compatibility/2006">
              <mc:Choice xmlns:v="urn:schemas-microsoft-com:vml" Requires="v">
                <p:oleObj spid="_x0000_s1028" name="" showAsIcon="1" r:id="rId4" imgW="971550" imgH="666750" progId="Acrobat.Document.DC">
                  <p:embed/>
                </p:oleObj>
              </mc:Choice>
              <mc:Fallback>
                <p:oleObj name="" showAsIcon="1" r:id="rId4" imgW="971550" imgH="666750" progId="Acrobat.Document.DC">
                  <p:embed/>
                  <p:pic>
                    <p:nvPicPr>
                      <p:cNvPr id="0" name="图片 1027"/>
                      <p:cNvPicPr/>
                      <p:nvPr/>
                    </p:nvPicPr>
                    <p:blipFill>
                      <a:blip r:embed="rId5"/>
                      <a:stretch>
                        <a:fillRect/>
                      </a:stretch>
                    </p:blipFill>
                    <p:spPr>
                      <a:xfrm>
                        <a:off x="1778635" y="6002655"/>
                        <a:ext cx="971550" cy="666750"/>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2893060" y="5991860"/>
          <a:ext cx="971550" cy="666750"/>
        </p:xfrm>
        <a:graphic>
          <a:graphicData uri="http://schemas.openxmlformats.org/presentationml/2006/ole">
            <mc:AlternateContent xmlns:mc="http://schemas.openxmlformats.org/markup-compatibility/2006">
              <mc:Choice xmlns:v="urn:schemas-microsoft-com:vml" Requires="v">
                <p:oleObj spid="_x0000_s1032" name="" showAsIcon="1" r:id="rId6" imgW="971550" imgH="666750" progId="Package">
                  <p:embed/>
                </p:oleObj>
              </mc:Choice>
              <mc:Fallback>
                <p:oleObj name="" showAsIcon="1" r:id="rId6" imgW="971550" imgH="666750" progId="Package">
                  <p:embed/>
                  <p:pic>
                    <p:nvPicPr>
                      <p:cNvPr id="0" name="图片 1031"/>
                      <p:cNvPicPr/>
                      <p:nvPr/>
                    </p:nvPicPr>
                    <p:blipFill>
                      <a:blip r:embed="rId7"/>
                      <a:stretch>
                        <a:fillRect/>
                      </a:stretch>
                    </p:blipFill>
                    <p:spPr>
                      <a:xfrm>
                        <a:off x="2893060" y="5991860"/>
                        <a:ext cx="971550" cy="666750"/>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6236335" y="5930265"/>
          <a:ext cx="971550" cy="666750"/>
        </p:xfrm>
        <a:graphic>
          <a:graphicData uri="http://schemas.openxmlformats.org/presentationml/2006/ole">
            <mc:AlternateContent xmlns:mc="http://schemas.openxmlformats.org/markup-compatibility/2006">
              <mc:Choice xmlns:v="urn:schemas-microsoft-com:vml" Requires="v">
                <p:oleObj spid="_x0000_s1033" name="" showAsIcon="1" r:id="rId8" imgW="971550" imgH="666750" progId="Package">
                  <p:embed/>
                </p:oleObj>
              </mc:Choice>
              <mc:Fallback>
                <p:oleObj name="" showAsIcon="1" r:id="rId8" imgW="971550" imgH="666750" progId="Package">
                  <p:embed/>
                  <p:pic>
                    <p:nvPicPr>
                      <p:cNvPr id="0" name="图片 1032"/>
                      <p:cNvPicPr/>
                      <p:nvPr/>
                    </p:nvPicPr>
                    <p:blipFill>
                      <a:blip r:embed="rId9"/>
                      <a:stretch>
                        <a:fillRect/>
                      </a:stretch>
                    </p:blipFill>
                    <p:spPr>
                      <a:xfrm>
                        <a:off x="6236335" y="5930265"/>
                        <a:ext cx="971550" cy="66675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5121910" y="5991860"/>
          <a:ext cx="971550" cy="666750"/>
        </p:xfrm>
        <a:graphic>
          <a:graphicData uri="http://schemas.openxmlformats.org/presentationml/2006/ole">
            <mc:AlternateContent xmlns:mc="http://schemas.openxmlformats.org/markup-compatibility/2006">
              <mc:Choice xmlns:v="urn:schemas-microsoft-com:vml" Requires="v">
                <p:oleObj spid="_x0000_s1034" name="" showAsIcon="1" r:id="rId10" imgW="971550" imgH="666750" progId="Package">
                  <p:embed/>
                </p:oleObj>
              </mc:Choice>
              <mc:Fallback>
                <p:oleObj name="" showAsIcon="1" r:id="rId10" imgW="971550" imgH="666750" progId="Package">
                  <p:embed/>
                  <p:pic>
                    <p:nvPicPr>
                      <p:cNvPr id="0" name="图片 1033"/>
                      <p:cNvPicPr/>
                      <p:nvPr/>
                    </p:nvPicPr>
                    <p:blipFill>
                      <a:blip r:embed="rId11"/>
                      <a:stretch>
                        <a:fillRect/>
                      </a:stretch>
                    </p:blipFill>
                    <p:spPr>
                      <a:xfrm>
                        <a:off x="5121910" y="5991860"/>
                        <a:ext cx="971550" cy="666750"/>
                      </a:xfrm>
                      <a:prstGeom prst="rect">
                        <a:avLst/>
                      </a:prstGeom>
                    </p:spPr>
                  </p:pic>
                </p:oleObj>
              </mc:Fallback>
            </mc:AlternateContent>
          </a:graphicData>
        </a:graphic>
      </p:graphicFrame>
      <p:sp>
        <p:nvSpPr>
          <p:cNvPr id="3" name="文本框 2"/>
          <p:cNvSpPr txBox="1"/>
          <p:nvPr/>
        </p:nvSpPr>
        <p:spPr>
          <a:xfrm>
            <a:off x="514350" y="5991860"/>
            <a:ext cx="1264285" cy="368300"/>
          </a:xfrm>
          <a:prstGeom prst="rect">
            <a:avLst/>
          </a:prstGeom>
          <a:noFill/>
        </p:spPr>
        <p:txBody>
          <a:bodyPr wrap="square" rtlCol="0">
            <a:spAutoFit/>
          </a:bodyPr>
          <a:p>
            <a:r>
              <a:rPr lang="zh-CN" altLang="en-US" b="1"/>
              <a:t>产品资料：</a:t>
            </a:r>
            <a:endParaRPr lang="zh-CN" altLang="en-US" b="1"/>
          </a:p>
        </p:txBody>
      </p:sp>
      <p:sp>
        <p:nvSpPr>
          <p:cNvPr id="7" name="文本框 6"/>
          <p:cNvSpPr txBox="1"/>
          <p:nvPr/>
        </p:nvSpPr>
        <p:spPr>
          <a:xfrm>
            <a:off x="9512935" y="6551295"/>
            <a:ext cx="2679065" cy="306705"/>
          </a:xfrm>
          <a:prstGeom prst="rect">
            <a:avLst/>
          </a:prstGeom>
          <a:noFill/>
        </p:spPr>
        <p:txBody>
          <a:bodyPr wrap="square" rtlCol="0">
            <a:spAutoFit/>
          </a:bodyPr>
          <a:p>
            <a:r>
              <a:rPr lang="en-US" altLang="zh-CN" sz="1400"/>
              <a:t>*</a:t>
            </a:r>
            <a:r>
              <a:rPr lang="zh-CN" altLang="en-US" sz="1400"/>
              <a:t>其他资料请登录</a:t>
            </a:r>
            <a:r>
              <a:rPr lang="zh-CN" altLang="en-US" sz="1400"/>
              <a:t>至共享盘下载</a:t>
            </a:r>
            <a:endParaRPr lang="zh-CN" altLang="en-US" sz="1400"/>
          </a:p>
        </p:txBody>
      </p:sp>
    </p:spTree>
  </p:cSld>
  <p:clrMapOvr>
    <a:masterClrMapping/>
  </p:clrMapOvr>
</p:sld>
</file>

<file path=ppt/tags/tag1.xml><?xml version="1.0" encoding="utf-8"?>
<p:tagLst xmlns:p="http://schemas.openxmlformats.org/presentationml/2006/main">
  <p:tag name="KSO_WM_DIAGRAM_VIRTUALLY_FRAME" val="{&quot;height&quot;:161.51787401574805,&quot;left&quot;:484.6,&quot;top&quot;:122.78212598425196,&quot;width&quot;:465.65}"/>
</p:tagLst>
</file>

<file path=ppt/tags/tag2.xml><?xml version="1.0" encoding="utf-8"?>
<p:tagLst xmlns:p="http://schemas.openxmlformats.org/presentationml/2006/main">
  <p:tag name="KSO_WM_DIAGRAM_VIRTUALLY_FRAME" val="{&quot;height&quot;:161.51787401574805,&quot;left&quot;:484.6,&quot;top&quot;:122.78212598425196,&quot;width&quot;:465.65}"/>
</p:tagLst>
</file>

<file path=ppt/tags/tag3.xml><?xml version="1.0" encoding="utf-8"?>
<p:tagLst xmlns:p="http://schemas.openxmlformats.org/presentationml/2006/main">
  <p:tag name="KSO_WM_DIAGRAM_VIRTUALLY_FRAME" val="{&quot;height&quot;:161.51787401574805,&quot;left&quot;:484.6,&quot;top&quot;:122.78212598425196,&quot;width&quot;:465.65}"/>
</p:tagLst>
</file>

<file path=ppt/tags/tag4.xml><?xml version="1.0" encoding="utf-8"?>
<p:tagLst xmlns:p="http://schemas.openxmlformats.org/presentationml/2006/main">
  <p:tag name="KSO_WM_DIAGRAM_VIRTUALLY_FRAME" val="{&quot;height&quot;:161.51787401574805,&quot;left&quot;:484.6,&quot;top&quot;:122.78212598425196,&quot;width&quot;:465.65}"/>
</p:tagLst>
</file>

<file path=ppt/tags/tag5.xml><?xml version="1.0" encoding="utf-8"?>
<p:tagLst xmlns:p="http://schemas.openxmlformats.org/presentationml/2006/main">
  <p:tag name="TABLE_ENDDRAG_ORIGIN_RECT" val="878*419"/>
  <p:tag name="TABLE_ENDDRAG_RECT" val="51*72*878*419"/>
</p:tagLst>
</file>

<file path=ppt/tags/tag6.xml><?xml version="1.0" encoding="utf-8"?>
<p:tagLst xmlns:p="http://schemas.openxmlformats.org/presentationml/2006/main">
  <p:tag name="TABLE_ENDDRAG_ORIGIN_RECT" val="807*386"/>
  <p:tag name="TABLE_ENDDRAG_RECT" val="76*80*807*386"/>
</p:tagLst>
</file>

<file path=ppt/tags/tag7.xml><?xml version="1.0" encoding="utf-8"?>
<p:tagLst xmlns:p="http://schemas.openxmlformats.org/presentationml/2006/main">
  <p:tag name="TABLE_ENDDRAG_ORIGIN_RECT" val="856*370"/>
  <p:tag name="TABLE_ENDDRAG_RECT" val="40*90*856*370"/>
</p:tagLst>
</file>

<file path=ppt/tags/tag8.xml><?xml version="1.0" encoding="utf-8"?>
<p:tagLst xmlns:p="http://schemas.openxmlformats.org/presentationml/2006/main">
  <p:tag name="COMMONDATA" val="eyJoZGlkIjoiYmY1N2I2MDY5YzMzODRkNDZkM2I4M2E1N2Y2Y2U0YzcifQ=="/>
  <p:tag name="KSO_WPP_MARK_KEY" val="a6c5697c-bcb9-4862-8aa9-8b21df9ec55f"/>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3980</Words>
  <Application>WPS 演示</Application>
  <PresentationFormat>宽屏</PresentationFormat>
  <Paragraphs>694</Paragraphs>
  <Slides>13</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13</vt:i4>
      </vt:variant>
    </vt:vector>
  </HeadingPairs>
  <TitlesOfParts>
    <vt:vector size="32" baseType="lpstr">
      <vt:lpstr>Arial</vt:lpstr>
      <vt:lpstr>宋体</vt:lpstr>
      <vt:lpstr>Wingdings</vt:lpstr>
      <vt:lpstr>微软雅黑 Light</vt:lpstr>
      <vt:lpstr>Calibri</vt:lpstr>
      <vt:lpstr>Whitney-Semibold</vt:lpstr>
      <vt:lpstr>Segoe Print</vt:lpstr>
      <vt:lpstr>微软雅黑</vt:lpstr>
      <vt:lpstr>方正兰亭准黑简体</vt:lpstr>
      <vt:lpstr>黑体</vt:lpstr>
      <vt:lpstr>等线</vt:lpstr>
      <vt:lpstr>等线 Light</vt:lpstr>
      <vt:lpstr>Arial Unicode MS</vt:lpstr>
      <vt:lpstr>Office 主题​​</vt:lpstr>
      <vt:lpstr>Acrobat.Document.DC</vt:lpstr>
      <vt:lpstr>Acrobat.Document.DC</vt:lpstr>
      <vt:lpstr>Package</vt:lpstr>
      <vt:lpstr>Package</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my7331</dc:creator>
  <cp:lastModifiedBy>ICe cream</cp:lastModifiedBy>
  <cp:revision>222</cp:revision>
  <dcterms:created xsi:type="dcterms:W3CDTF">2021-01-26T06:19:00Z</dcterms:created>
  <dcterms:modified xsi:type="dcterms:W3CDTF">2024-08-19T10:05:22Z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42AE5068BA5F468EBA5322520E6E68BC_13</vt:lpwstr>
  </property>
  <property fmtid="{D5CDD505-2E9C-101B-9397-08002B2CF9AE}" pid="3" name="KSOProductBuildVer">
    <vt:lpwstr>2052-12.1.0.16929</vt:lpwstr>
  </property>
</Properties>
</file>