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7" r:id="rId2"/>
    <p:sldId id="303" r:id="rId3"/>
    <p:sldId id="265" r:id="rId4"/>
    <p:sldId id="304" r:id="rId5"/>
    <p:sldId id="305" r:id="rId6"/>
    <p:sldId id="306" r:id="rId7"/>
    <p:sldId id="307" r:id="rId8"/>
    <p:sldId id="295" r:id="rId9"/>
  </p:sldIdLst>
  <p:sldSz cx="24384000" cy="13716000"/>
  <p:notesSz cx="6858000" cy="9144000"/>
  <p:embeddedFontLst>
    <p:embeddedFont>
      <p:font typeface="FZLanTingHeiS-DB1-GB" panose="02010600030101010101" charset="-122"/>
      <p:regular r:id="rId11"/>
    </p:embeddedFont>
    <p:embeddedFont>
      <p:font typeface="FZLanTingHeiS-EL-GB" panose="02010600030101010101" charset="-122"/>
      <p:regular r:id="rId12"/>
    </p:embeddedFont>
    <p:embeddedFont>
      <p:font typeface="微软雅黑" panose="020B0503020204020204" pitchFamily="34" charset="-122"/>
      <p:regular r:id="rId13"/>
      <p:bold r:id="rId1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1pPr>
    <a:lvl2pPr marL="0" marR="0" indent="457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2pPr>
    <a:lvl3pPr marL="0" marR="0" indent="914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3pPr>
    <a:lvl4pPr marL="0" marR="0" indent="1371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4pPr>
    <a:lvl5pPr marL="0" marR="0" indent="18288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5pPr>
    <a:lvl6pPr marL="0" marR="0" indent="22860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6pPr>
    <a:lvl7pPr marL="0" marR="0" indent="2743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7pPr>
    <a:lvl8pPr marL="0" marR="0" indent="3200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8pPr>
    <a:lvl9pPr marL="0" marR="0" indent="3657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 panose="020005030000000200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  <a:srgbClr val="033A9D"/>
    <a:srgbClr val="CCECFF"/>
    <a:srgbClr val="58B7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89888" autoAdjust="0"/>
  </p:normalViewPr>
  <p:slideViewPr>
    <p:cSldViewPr snapToGrid="0">
      <p:cViewPr varScale="1">
        <p:scale>
          <a:sx n="54" d="100"/>
          <a:sy n="54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以下内容提供的是低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PF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普遍特性导致的差异可能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仅供参考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实际情况，请根据实际情况判断。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劣势：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一、对电网而言：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(1)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输电线路损耗增加</a:t>
            </a:r>
          </a:p>
          <a:p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低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会导致更大的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无功电流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在电网中流动，而输电线路的发热损耗与电流平方成正比（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损耗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=I2R</a:t>
            </a:r>
            <a:r>
              <a:rPr lang="en-US" altLang="zh-CN" sz="2200" b="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损耗​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=</a:t>
            </a:r>
            <a:r>
              <a:rPr lang="en-US" altLang="zh-CN" sz="2200" b="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I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2</a:t>
            </a:r>
            <a:r>
              <a:rPr lang="en-US" altLang="zh-CN" sz="2200" b="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R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）。</a:t>
            </a:r>
          </a:p>
          <a:p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举例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：假设一台灯具的有功功率是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50W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，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PF=0.5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时，电网需提供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100VA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的视在功率（电流更大）；而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PF=0.95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时，仅需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52.6VA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，电流更小，线路损耗更低。</a:t>
            </a:r>
          </a:p>
          <a:p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(2) 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变压器和发电设备利用率下降</a:t>
            </a:r>
          </a:p>
          <a:p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变压器、发电机等设备的容量是按</a:t>
            </a:r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kVA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（视在功率）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设计的，低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会占用更多容量，导致实际可用的有功功率减少。</a:t>
            </a:r>
          </a:p>
          <a:p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举例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：一台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100kVA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的变压器，如果负载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PF=0.8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，只能带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80kW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的有功功率；如果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PF=0.95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，则可带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95kW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，设备利用率更高。</a:t>
            </a:r>
          </a:p>
          <a:p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(3) 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电网电压波动加剧</a:t>
            </a:r>
          </a:p>
          <a:p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无功电流增大会导致线路压降（</a:t>
            </a:r>
            <a:r>
              <a:rPr lang="en-US" altLang="zh-CN" sz="22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Vdrop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=</a:t>
            </a:r>
            <a:r>
              <a:rPr lang="en-US" altLang="zh-CN" sz="2200" b="0" i="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I×R</a:t>
            </a:r>
            <a:r>
              <a:rPr lang="en-US" altLang="zh-CN" sz="2200" b="0" i="1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Vdrop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​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=</a:t>
            </a:r>
            <a:r>
              <a:rPr lang="en-US" altLang="zh-CN" sz="2200" b="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I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×</a:t>
            </a:r>
            <a:r>
              <a:rPr lang="en-US" altLang="zh-CN" sz="2200" b="0" i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R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），影响远端用户的电压稳定性，可能造成灯光闪烁或敏感设备故障。</a:t>
            </a:r>
          </a:p>
          <a:p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(4) 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发电和输电成本上升</a:t>
            </a:r>
          </a:p>
          <a:p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电网需额外配置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无功补偿装置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（如电容柜）或调压设备来抵消低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的影响，增加建设和运维成本。</a:t>
            </a:r>
            <a:endParaRPr lang="en-US" altLang="zh-CN" sz="22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Helvetica Neue" panose="02000503000000020004"/>
            </a:endParaRPr>
          </a:p>
          <a:p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二、对用户而言</a:t>
            </a:r>
            <a:endParaRPr lang="en-US" altLang="zh-CN" sz="22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Helvetica Neue" panose="02000503000000020004"/>
            </a:endParaRPr>
          </a:p>
          <a:p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(1) 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电费可能增加（工业</a:t>
            </a:r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/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商业用户）</a:t>
            </a:r>
          </a:p>
          <a:p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许多国家电网对工业或大商业用户征收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“功率因数调整电费”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，若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低于标准（如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0.9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），会按比例罚款；反之，高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可能获得电费奖励。</a:t>
            </a:r>
          </a:p>
          <a:p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举例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：某工厂月用电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PF=0.7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，可能被加收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5%~10%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的无功电费。</a:t>
            </a:r>
          </a:p>
          <a:p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(2) 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配电设备需更大容量</a:t>
            </a:r>
          </a:p>
          <a:p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低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设备（如老式荧光灯、未校正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/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无认证的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LED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驱动）会导致配电线路、开关、保险丝等需按更大的电流设计，增加初期投资成本。</a:t>
            </a:r>
          </a:p>
          <a:p>
            <a:r>
              <a:rPr lang="en-US" altLang="zh-CN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(3) </a:t>
            </a:r>
            <a:r>
              <a:rPr lang="zh-CN" altLang="en-US" sz="2200" b="1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可能影响设备寿命</a:t>
            </a:r>
          </a:p>
          <a:p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低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产品伴随的高谐波电流（如劣质</a:t>
            </a:r>
            <a:r>
              <a:rPr lang="en-US" altLang="zh-CN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LED</a:t>
            </a:r>
            <a:r>
              <a:rPr lang="zh-CN" altLang="en-US" sz="22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电源）可能使电线过热、断路器误跳闸，甚至缩短灯具或电器的寿命。</a:t>
            </a:r>
          </a:p>
          <a:p>
            <a:endParaRPr lang="en-US" altLang="zh-CN" sz="2200" b="1" i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Helvetica Neue" panose="02000503000000020004"/>
            </a:endParaRPr>
          </a:p>
          <a:p>
            <a:endParaRPr lang="zh-CN" altLang="en-US" sz="2200" b="0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369836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以下内容提供的是低</a:t>
            </a:r>
            <a:r>
              <a:rPr lang="en-US" altLang="zh-CN" dirty="0"/>
              <a:t>PF</a:t>
            </a:r>
            <a:r>
              <a:rPr lang="zh-CN" altLang="en-US" dirty="0"/>
              <a:t>对比高</a:t>
            </a:r>
            <a:r>
              <a:rPr lang="en-US" altLang="zh-CN" dirty="0"/>
              <a:t>PF</a:t>
            </a:r>
            <a:r>
              <a:rPr lang="zh-CN" altLang="en-US" b="1" dirty="0">
                <a:solidFill>
                  <a:srgbClr val="FF0000"/>
                </a:solidFill>
              </a:rPr>
              <a:t>普遍特性导致的差异可能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仅供参考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实际情况，请根据实际情况判断。</a:t>
            </a:r>
            <a:endParaRPr lang="en-US" altLang="zh-CN" dirty="0"/>
          </a:p>
          <a:p>
            <a:r>
              <a:rPr lang="zh-CN" altLang="en-US" sz="2800" b="1" dirty="0"/>
              <a:t>低</a:t>
            </a:r>
            <a:r>
              <a:rPr lang="en-US" altLang="zh-CN" sz="2800" b="1" dirty="0"/>
              <a:t>PF</a:t>
            </a:r>
            <a:r>
              <a:rPr lang="zh-CN" altLang="en-US" sz="2800" b="1" dirty="0"/>
              <a:t>劣势：</a:t>
            </a:r>
            <a:endParaRPr lang="en-US" altLang="zh-CN" sz="2800" b="1" dirty="0"/>
          </a:p>
          <a:p>
            <a:r>
              <a:rPr lang="zh-CN" altLang="en-US" sz="2800" b="1" dirty="0"/>
              <a:t>一、对电网而言：</a:t>
            </a:r>
            <a:endParaRPr lang="en-US" altLang="zh-CN" sz="2800" b="1" dirty="0"/>
          </a:p>
          <a:p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(1)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输电线路损耗增加</a:t>
            </a:r>
          </a:p>
          <a:p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低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会导致更大的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无功电流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在电网中流动，而输电线路的发热损耗与电流平方成正比（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损耗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=I2R</a:t>
            </a:r>
            <a:r>
              <a:rPr lang="en-US" altLang="zh-CN" sz="2200" b="0" i="1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损耗​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=</a:t>
            </a:r>
            <a:r>
              <a:rPr lang="en-US" altLang="zh-CN" sz="2200" b="0" i="1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I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2</a:t>
            </a:r>
            <a:r>
              <a:rPr lang="en-US" altLang="zh-CN" sz="2200" b="0" i="1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R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）。</a:t>
            </a:r>
          </a:p>
          <a:p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举例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：假设一台灯具的有功功率是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50W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，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PF=0.5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时，电网需提供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100VA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的视在功率（电流更大）；而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PF=0.95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时，仅需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52.6VA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，电流更小，线路损耗更低。</a:t>
            </a:r>
          </a:p>
          <a:p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(2) 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变压器和发电设备利用率下降</a:t>
            </a:r>
          </a:p>
          <a:p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变压器、发电机等设备的容量是按</a:t>
            </a:r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kVA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（视在功率）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设计的，低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会占用更多容量，导致实际可用的有功功率减少。</a:t>
            </a:r>
          </a:p>
          <a:p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举例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：一台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100kVA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的变压器，如果负载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PF=0.8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，只能带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80kW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的有功功率；如果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PF=0.95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，则可带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95kW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，设备利用率更高。</a:t>
            </a:r>
          </a:p>
          <a:p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(3) 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电网电压波动加剧</a:t>
            </a:r>
          </a:p>
          <a:p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无功电流增大会导致线路压降（</a:t>
            </a:r>
            <a:r>
              <a:rPr lang="en-US" altLang="zh-CN" sz="2200" b="0" i="0" dirty="0" err="1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Vdrop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=</a:t>
            </a:r>
            <a:r>
              <a:rPr lang="en-US" altLang="zh-CN" sz="2200" b="0" i="0" dirty="0" err="1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I×R</a:t>
            </a:r>
            <a:r>
              <a:rPr lang="en-US" altLang="zh-CN" sz="2200" b="0" i="1" dirty="0" err="1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Vdrop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​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=</a:t>
            </a:r>
            <a:r>
              <a:rPr lang="en-US" altLang="zh-CN" sz="2200" b="0" i="1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I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×</a:t>
            </a:r>
            <a:r>
              <a:rPr lang="en-US" altLang="zh-CN" sz="2200" b="0" i="1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R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），影响远端用户的电压稳定性，可能造成灯光闪烁或敏感设备故障。</a:t>
            </a:r>
          </a:p>
          <a:p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(4) 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发电和输电成本上升</a:t>
            </a:r>
          </a:p>
          <a:p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电网需额外配置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无功补偿装置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（如电容柜）或调压设备来抵消低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的影响，增加建设和运维成本。</a:t>
            </a:r>
            <a:endParaRPr lang="en-US" altLang="zh-CN" sz="2200" b="0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  <a:p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二、对用户而言</a:t>
            </a:r>
            <a:endParaRPr lang="en-US" altLang="zh-CN" sz="2200" b="1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  <a:p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(1) 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电费可能增加（工业</a:t>
            </a:r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/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商业用户）</a:t>
            </a:r>
          </a:p>
          <a:p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许多国家电网对工业或大商业用户征收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“功率因数调整电费”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，若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低于标准（如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0.9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），会按比例罚款；反之，高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可能获得电费奖励。</a:t>
            </a:r>
          </a:p>
          <a:p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举例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：某工厂月用电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PF=0.7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，可能被加收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5%~10%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的无功电费。</a:t>
            </a:r>
          </a:p>
          <a:p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(2) 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配电设备需更大容量</a:t>
            </a:r>
          </a:p>
          <a:p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低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设备（如老式荧光灯、未校正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/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无认证的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LED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驱动）会导致配电线路、开关、保险丝等需按更大的电流设计，增加初期投资成本。</a:t>
            </a:r>
          </a:p>
          <a:p>
            <a:r>
              <a:rPr lang="en-US" altLang="zh-CN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(3) </a:t>
            </a:r>
            <a:r>
              <a:rPr lang="zh-CN" altLang="en-US" sz="2200" b="1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可能影响设备寿命</a:t>
            </a:r>
          </a:p>
          <a:p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低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PF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产品伴随的高谐波电流（如劣质</a:t>
            </a:r>
            <a:r>
              <a:rPr lang="en-US" altLang="zh-CN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LED</a:t>
            </a:r>
            <a:r>
              <a:rPr lang="zh-CN" altLang="en-US" sz="2200" b="0" i="0" dirty="0">
                <a:effectLst/>
                <a:latin typeface="+mn-lt"/>
                <a:ea typeface="+mn-ea"/>
                <a:cs typeface="+mn-cs"/>
                <a:sym typeface="Helvetica Neue" panose="02000503000000020004"/>
              </a:rPr>
              <a:t>电源）可能使电线过热、断路器误跳闸，甚至缩短灯具或电器的寿命。</a:t>
            </a:r>
          </a:p>
          <a:p>
            <a:endParaRPr lang="en-US" altLang="zh-CN" sz="2200" b="1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  <a:p>
            <a:endParaRPr lang="zh-CN" altLang="en-US" sz="2200" b="0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64588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200" b="0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946372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200" b="0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968733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2200" b="0" i="0" dirty="0">
              <a:effectLst/>
              <a:latin typeface="+mn-lt"/>
              <a:ea typeface="+mn-ea"/>
              <a:cs typeface="+mn-cs"/>
              <a:sym typeface="Helvetica Neue" panose="02000503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464344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420" y="11859895"/>
            <a:ext cx="3201035" cy="636905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2E4160-EF07-4FAC-A11C-A7A661DB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23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幻灯片副标题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61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一碗宽意大利面配有欧芹黄油、烤榛子和帕尔马干酪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节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</a:lstStyle>
          <a:p>
            <a:r>
              <a:t>章节标题</a:t>
            </a:r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议程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89" name="议程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议程副标题</a:t>
            </a:r>
          </a:p>
        </p:txBody>
      </p:sp>
      <p:sp>
        <p:nvSpPr>
          <p:cNvPr id="90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议程主题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5pPr>
          </a:lstStyle>
          <a:p>
            <a:r>
              <a:t>说明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事实信息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事实信息</a:t>
            </a:r>
          </a:p>
        </p:txBody>
      </p:sp>
      <p:sp>
        <p:nvSpPr>
          <p:cNvPr id="1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属性</a:t>
            </a:r>
          </a:p>
        </p:txBody>
      </p:sp>
      <p:sp>
        <p:nvSpPr>
          <p:cNvPr id="116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810" indent="-4699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  <a:lvl2pPr marL="638810" indent="-127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2pPr>
            <a:lvl3pPr marL="638810" indent="4445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3pPr>
            <a:lvl4pPr marL="638810" indent="9017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4pPr>
            <a:lvl5pPr marL="638810" indent="1358900">
              <a:spcBef>
                <a:spcPts val="0"/>
              </a:spcBef>
              <a:buSzTx/>
              <a:buNone/>
              <a:defRPr sz="8500" spc="-17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5pPr>
          </a:lstStyle>
          <a:p>
            <a:r>
              <a:t>“著名引文”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一碗沙拉配有炒饭、水煮蛋和一双筷子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一碗三文鱼饼、沙拉和鹰嘴豆泥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一碗宽意大利面配有欧芹黄油、烤榛子和帕尔马干酪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一碗沙拉配有炒饭、水煮蛋和一双筷子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166" name="健康    /    科技    /   专业    /    时尚"/>
          <p:cNvSpPr txBox="1"/>
          <p:nvPr userDrawn="1">
            <p:custDataLst>
              <p:tags r:id="rId17"/>
            </p:custDataLst>
          </p:nvPr>
        </p:nvSpPr>
        <p:spPr>
          <a:xfrm>
            <a:off x="20014609" y="13084918"/>
            <a:ext cx="3892554" cy="38923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 fontScale="90000"/>
          </a:bodyPr>
          <a:lstStyle>
            <a:lvl1pPr algn="l" defTabSz="1097280">
              <a:lnSpc>
                <a:spcPct val="80000"/>
              </a:lnSpc>
              <a:defRPr sz="2025" spc="-40">
                <a:solidFill>
                  <a:srgbClr val="1A4395"/>
                </a:solidFill>
                <a:latin typeface="FZLanTingHeiS-EL-GB" panose="02000000000000000000" charset="-122"/>
                <a:ea typeface="FZLanTingHeiS-EL-GB" panose="02000000000000000000" charset="-122"/>
                <a:cs typeface="FZLanTingHeiS-EL-GB" panose="02000000000000000000" charset="-122"/>
                <a:sym typeface="FZLanTingHeiS-EL-GB" panose="02000000000000000000" charset="-122"/>
              </a:defRPr>
            </a:lvl1pPr>
          </a:lstStyle>
          <a:p>
            <a:r>
              <a:t>品牌愿景 — 全球第一智能照明品牌</a:t>
            </a:r>
          </a:p>
        </p:txBody>
      </p:sp>
      <p:sp>
        <p:nvSpPr>
          <p:cNvPr id="6" name="健康    /    科技    /   专业    /    时尚"/>
          <p:cNvSpPr txBox="1"/>
          <p:nvPr userDrawn="1">
            <p:custDataLst>
              <p:tags r:id="rId18"/>
            </p:custDataLst>
          </p:nvPr>
        </p:nvSpPr>
        <p:spPr>
          <a:xfrm>
            <a:off x="2750229" y="600818"/>
            <a:ext cx="3892554" cy="38923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/>
          </a:bodyPr>
          <a:lstStyle>
            <a:lvl1pPr algn="l" defTabSz="1097280">
              <a:lnSpc>
                <a:spcPct val="80000"/>
              </a:lnSpc>
              <a:defRPr sz="2025" spc="-40">
                <a:solidFill>
                  <a:srgbClr val="1A4395"/>
                </a:solidFill>
                <a:latin typeface="FZLanTingHeiS-EL-GB" panose="02000000000000000000" charset="-122"/>
                <a:ea typeface="FZLanTingHeiS-EL-GB" panose="02000000000000000000" charset="-122"/>
                <a:cs typeface="FZLanTingHeiS-EL-GB" panose="02000000000000000000" charset="-122"/>
                <a:sym typeface="FZLanTingHeiS-EL-GB" panose="02000000000000000000" charset="-122"/>
              </a:defRPr>
            </a:lvl1pPr>
          </a:lstStyle>
          <a:p>
            <a:r>
              <a:t>健康    /    科技    /   专业    /    时尚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image" Target="../media/image8.emf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image" Target="../media/image7.png"/><Relationship Id="rId17" Type="http://schemas.openxmlformats.org/officeDocument/2006/relationships/image" Target="../media/image12.svg"/><Relationship Id="rId2" Type="http://schemas.openxmlformats.org/officeDocument/2006/relationships/tags" Target="../tags/tag4.xml"/><Relationship Id="rId16" Type="http://schemas.openxmlformats.org/officeDocument/2006/relationships/image" Target="../media/image11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image" Target="../media/image6.png"/><Relationship Id="rId5" Type="http://schemas.openxmlformats.org/officeDocument/2006/relationships/tags" Target="../tags/tag7.xml"/><Relationship Id="rId15" Type="http://schemas.openxmlformats.org/officeDocument/2006/relationships/image" Target="../media/image10.png"/><Relationship Id="rId10" Type="http://schemas.openxmlformats.org/officeDocument/2006/relationships/image" Target="../media/image1.png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6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png"/><Relationship Id="rId17" Type="http://schemas.openxmlformats.org/officeDocument/2006/relationships/image" Target="../media/image18.png"/><Relationship Id="rId2" Type="http://schemas.openxmlformats.org/officeDocument/2006/relationships/tags" Target="../tags/tag12.xml"/><Relationship Id="rId16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16.png"/><Relationship Id="rId5" Type="http://schemas.openxmlformats.org/officeDocument/2006/relationships/tags" Target="../tags/tag15.xml"/><Relationship Id="rId15" Type="http://schemas.openxmlformats.org/officeDocument/2006/relationships/image" Target="../media/image17.png"/><Relationship Id="rId10" Type="http://schemas.openxmlformats.org/officeDocument/2006/relationships/notesSlide" Target="../notesSlides/notesSlide2.xml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jp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Excel_Worksheet.xlsx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项目标题示例"/>
          <p:cNvSpPr txBox="1">
            <a:spLocks noGrp="1"/>
          </p:cNvSpPr>
          <p:nvPr>
            <p:ph type="ctrTitle"/>
          </p:nvPr>
        </p:nvSpPr>
        <p:spPr>
          <a:xfrm>
            <a:off x="12513734" y="5059361"/>
            <a:ext cx="7975600" cy="1798639"/>
          </a:xfrm>
          <a:prstGeom prst="rect">
            <a:avLst/>
          </a:prstGeom>
        </p:spPr>
        <p:txBody>
          <a:bodyPr>
            <a:normAutofit/>
          </a:bodyPr>
          <a:lstStyle>
            <a:lvl1pPr defTabSz="2365375">
              <a:defRPr sz="11250" b="0" spc="-225">
                <a:solidFill>
                  <a:srgbClr val="1A4395"/>
                </a:solidFill>
                <a:latin typeface="FZLanTingHeiS-DB1-GB" panose="02000000000000000000" charset="-122"/>
                <a:ea typeface="FZLanTingHeiS-DB1-GB" panose="02000000000000000000" charset="-122"/>
                <a:cs typeface="FZLanTingHeiS-DB1-GB" panose="02000000000000000000" charset="-122"/>
                <a:sym typeface="FZLanTingHeiS-DB1-GB" panose="02000000000000000000" charset="-122"/>
              </a:defRPr>
            </a:lvl1pPr>
          </a:lstStyle>
          <a:p>
            <a:r>
              <a:rPr lang="zh-CN" altLang="en-US" sz="9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产品上市介绍</a:t>
            </a:r>
            <a:endParaRPr sz="9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7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56" y="620974"/>
            <a:ext cx="1133168" cy="2473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项目标题示例">
            <a:extLst>
              <a:ext uri="{FF2B5EF4-FFF2-40B4-BE49-F238E27FC236}">
                <a16:creationId xmlns:a16="http://schemas.microsoft.com/office/drawing/2014/main" id="{6D2ECBFD-F144-486C-A32A-4803AF9F7614}"/>
              </a:ext>
            </a:extLst>
          </p:cNvPr>
          <p:cNvSpPr txBox="1">
            <a:spLocks/>
          </p:cNvSpPr>
          <p:nvPr/>
        </p:nvSpPr>
        <p:spPr>
          <a:xfrm>
            <a:off x="17825613" y="6976533"/>
            <a:ext cx="6270522" cy="124925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/>
          </a:bodyPr>
          <a:lstStyle>
            <a:lvl1pPr marL="0" marR="0" indent="0" algn="l" defTabSz="2365375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0" b="0" i="0" u="none" strike="noStrike" cap="none" spc="-225" baseline="0">
                <a:solidFill>
                  <a:srgbClr val="1A4395"/>
                </a:solidFill>
                <a:uFillTx/>
                <a:latin typeface="FZLanTingHeiS-DB1-GB" panose="02000000000000000000" charset="-122"/>
                <a:ea typeface="FZLanTingHeiS-DB1-GB" panose="02000000000000000000" charset="-122"/>
                <a:cs typeface="FZLanTingHeiS-DB1-GB" panose="02000000000000000000" charset="-122"/>
                <a:sym typeface="FZLanTingHeiS-DB1-GB" panose="02000000000000000000" charset="-122"/>
              </a:defRPr>
            </a:lvl1pPr>
            <a:lvl2pPr marL="0" marR="0" indent="457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2pPr>
            <a:lvl3pPr marL="0" marR="0" indent="914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3pPr>
            <a:lvl4pPr marL="0" marR="0" indent="1371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4pPr>
            <a:lvl5pPr marL="0" marR="0" indent="18288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5pPr>
            <a:lvl6pPr marL="0" marR="0" indent="22860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6pPr>
            <a:lvl7pPr marL="0" marR="0" indent="2743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7pPr>
            <a:lvl8pPr marL="0" marR="0" indent="3200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8pPr>
            <a:lvl9pPr marL="0" marR="0" indent="3657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9pPr>
          </a:lstStyle>
          <a:p>
            <a:pPr hangingPunct="1"/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悦居</a:t>
            </a:r>
            <a:r>
              <a:rPr lang="en-US" altLang="zh-CN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PF</a:t>
            </a:r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厨卫灯</a:t>
            </a:r>
          </a:p>
        </p:txBody>
      </p:sp>
      <p:sp>
        <p:nvSpPr>
          <p:cNvPr id="13" name="矩形">
            <a:extLst>
              <a:ext uri="{FF2B5EF4-FFF2-40B4-BE49-F238E27FC236}">
                <a16:creationId xmlns:a16="http://schemas.microsoft.com/office/drawing/2014/main" id="{E0AF9ADC-0010-486C-BFB8-ED1CCE67A20B}"/>
              </a:ext>
            </a:extLst>
          </p:cNvPr>
          <p:cNvSpPr/>
          <p:nvPr/>
        </p:nvSpPr>
        <p:spPr>
          <a:xfrm>
            <a:off x="17825613" y="11624733"/>
            <a:ext cx="5955344" cy="167495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243840" tIns="121920" rIns="243840" bIns="121920" anchor="ctr" anchorCtr="0"/>
          <a:lstStyle/>
          <a:p>
            <a:pPr algn="r">
              <a:lnSpc>
                <a:spcPct val="150000"/>
              </a:lnSpc>
            </a:pPr>
            <a:r>
              <a:rPr sz="22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产品与解决方案中心/产品战略规划与设计部</a:t>
            </a:r>
            <a:r>
              <a:rPr lang="en-US" altLang="zh-CN" sz="22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22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lang="en-US" altLang="zh-CN" sz="22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22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24" name="线条">
            <a:extLst>
              <a:ext uri="{FF2B5EF4-FFF2-40B4-BE49-F238E27FC236}">
                <a16:creationId xmlns:a16="http://schemas.microsoft.com/office/drawing/2014/main" id="{05B6F2D0-C7F5-4436-B2AC-C2A72AE0CE5D}"/>
              </a:ext>
            </a:extLst>
          </p:cNvPr>
          <p:cNvSpPr/>
          <p:nvPr/>
        </p:nvSpPr>
        <p:spPr>
          <a:xfrm flipH="1" flipV="1">
            <a:off x="12513733" y="6858000"/>
            <a:ext cx="7315199" cy="0"/>
          </a:xfrm>
          <a:prstGeom prst="line">
            <a:avLst/>
          </a:prstGeom>
          <a:ln w="63500" cap="rnd">
            <a:solidFill>
              <a:srgbClr val="1A4395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2991ED6-7936-4710-851A-CC51C01BDA3A}"/>
              </a:ext>
            </a:extLst>
          </p:cNvPr>
          <p:cNvGrpSpPr/>
          <p:nvPr/>
        </p:nvGrpSpPr>
        <p:grpSpPr>
          <a:xfrm>
            <a:off x="901490" y="1226986"/>
            <a:ext cx="10665884" cy="11052014"/>
            <a:chOff x="1111040" y="1303186"/>
            <a:chExt cx="10665884" cy="11052014"/>
          </a:xfrm>
        </p:grpSpPr>
        <p:pic>
          <p:nvPicPr>
            <p:cNvPr id="160" name="ppt封面3.png" descr="ppt封面3.png"/>
            <p:cNvPicPr>
              <a:picLocks noChangeAspect="1"/>
            </p:cNvPicPr>
            <p:nvPr/>
          </p:nvPicPr>
          <p:blipFill rotWithShape="1">
            <a:blip r:embed="rId3"/>
            <a:srcRect l="51700" t="10929" r="4714" b="11723"/>
            <a:stretch/>
          </p:blipFill>
          <p:spPr>
            <a:xfrm flipH="1">
              <a:off x="1111040" y="1708228"/>
              <a:ext cx="10665884" cy="10646972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EA9956D3-D8A1-4F81-BBD3-A87C2EA696C0}"/>
                </a:ext>
              </a:extLst>
            </p:cNvPr>
            <p:cNvGrpSpPr/>
            <p:nvPr/>
          </p:nvGrpSpPr>
          <p:grpSpPr>
            <a:xfrm>
              <a:off x="1178922" y="1303186"/>
              <a:ext cx="8464984" cy="10996693"/>
              <a:chOff x="1178922" y="1303186"/>
              <a:chExt cx="8464984" cy="10996693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9BFD096B-77B4-487B-A599-CF4A0CE080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272" b="35062"/>
              <a:stretch/>
            </p:blipFill>
            <p:spPr>
              <a:xfrm rot="6817447">
                <a:off x="2404446" y="5060419"/>
                <a:ext cx="10996693" cy="3482227"/>
              </a:xfrm>
              <a:prstGeom prst="rect">
                <a:avLst/>
              </a:prstGeom>
              <a:effectLst>
                <a:outerShdw blurRad="50800" dist="1397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</p:spPr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5AFA8D4B-F4C3-4D46-8F5B-17D8D835A3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8000"/>
                        </a14:imgEffect>
                        <a14:imgEffect>
                          <a14:colorTemperature colorTemp="47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36" t="14934" r="1142" b="16266"/>
              <a:stretch/>
            </p:blipFill>
            <p:spPr>
              <a:xfrm rot="2467813">
                <a:off x="1178922" y="4791173"/>
                <a:ext cx="5900868" cy="4286053"/>
              </a:xfrm>
              <a:prstGeom prst="rect">
                <a:avLst/>
              </a:prstGeom>
              <a:effectLst>
                <a:outerShdw blurRad="50800" dist="139700" dir="8100000" algn="tr" rotWithShape="0">
                  <a:schemeClr val="tx1">
                    <a:lumMod val="60000"/>
                    <a:lumOff val="40000"/>
                    <a:alpha val="39000"/>
                  </a:schemeClr>
                </a:outerShdw>
              </a:effectLst>
            </p:spPr>
          </p:pic>
        </p:grp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CBF721E-6967-4F4D-AAFA-7AED4920F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3687" y="521392"/>
            <a:ext cx="4048095" cy="51820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图像" descr="图像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49319" y="627980"/>
            <a:ext cx="1133168" cy="2473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1" name="主标题示例"/>
          <p:cNvSpPr txBox="1"/>
          <p:nvPr/>
        </p:nvSpPr>
        <p:spPr>
          <a:xfrm>
            <a:off x="1011548" y="700707"/>
            <a:ext cx="4049185" cy="71814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80000"/>
              </a:lnSpc>
              <a:defRPr sz="5000" spc="-100">
                <a:solidFill>
                  <a:srgbClr val="000000"/>
                </a:solidFill>
                <a:latin typeface="FZLanTingHeiS-DB1-GB" panose="02000000000000000000" charset="-122"/>
                <a:ea typeface="FZLanTingHeiS-DB1-GB" panose="02000000000000000000" charset="-122"/>
                <a:cs typeface="FZLanTingHeiS-DB1-GB" panose="02000000000000000000" charset="-122"/>
                <a:sym typeface="FZLanTingHeiS-DB1-GB" panose="02000000000000000000" charset="-122"/>
              </a:defRPr>
            </a:lvl1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产品介绍概览 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2" name="线条"/>
          <p:cNvSpPr/>
          <p:nvPr/>
        </p:nvSpPr>
        <p:spPr>
          <a:xfrm flipH="1" flipV="1">
            <a:off x="1049648" y="1669778"/>
            <a:ext cx="3064033" cy="1"/>
          </a:xfrm>
          <a:prstGeom prst="line">
            <a:avLst/>
          </a:prstGeom>
          <a:ln w="127000">
            <a:solidFill>
              <a:srgbClr val="58B7DD"/>
            </a:solidFill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3" name="图像" descr="图像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456" y="12676307"/>
            <a:ext cx="2816779" cy="3287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4" name="线条"/>
          <p:cNvSpPr/>
          <p:nvPr/>
        </p:nvSpPr>
        <p:spPr>
          <a:xfrm flipH="1" flipV="1">
            <a:off x="3673973" y="12840692"/>
            <a:ext cx="19808514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194BDE1-4DC7-4962-9D0A-290F276A23CA}"/>
              </a:ext>
            </a:extLst>
          </p:cNvPr>
          <p:cNvGrpSpPr/>
          <p:nvPr/>
        </p:nvGrpSpPr>
        <p:grpSpPr>
          <a:xfrm>
            <a:off x="14282875" y="2167921"/>
            <a:ext cx="7493392" cy="1868104"/>
            <a:chOff x="8780603" y="3794540"/>
            <a:chExt cx="3746696" cy="934052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2F5083D-DA02-4F3F-9A60-7282A85FDA77}"/>
                </a:ext>
              </a:extLst>
            </p:cNvPr>
            <p:cNvSpPr/>
            <p:nvPr/>
          </p:nvSpPr>
          <p:spPr>
            <a:xfrm>
              <a:off x="9274144" y="4128427"/>
              <a:ext cx="3253155" cy="600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响应最新建筑照明设计标准：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推荐性国标：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GB/T 50034-2024 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高功率因数，减少电网损耗</a:t>
              </a:r>
            </a:p>
          </p:txBody>
        </p:sp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B639CAD3-20C0-4B39-94DD-9F3D56B32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780603" y="3794540"/>
              <a:ext cx="388708" cy="351749"/>
            </a:xfrm>
            <a:prstGeom prst="rect">
              <a:avLst/>
            </a:prstGeom>
          </p:spPr>
        </p:pic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E7CD52C1-0FC1-460F-BC3F-8821549181D0}"/>
                </a:ext>
              </a:extLst>
            </p:cNvPr>
            <p:cNvSpPr txBox="1"/>
            <p:nvPr/>
          </p:nvSpPr>
          <p:spPr>
            <a:xfrm>
              <a:off x="9274144" y="3794540"/>
              <a:ext cx="2566352" cy="3231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高功率因数</a:t>
              </a:r>
              <a:r>
                <a:rPr kumimoji="1" lang="en-US" altLang="zh-CN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kumimoji="1" lang="en-US" altLang="zh-CN" sz="3600" dirty="0">
                  <a:solidFill>
                    <a:srgbClr val="033A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PF 0.9</a:t>
              </a:r>
              <a:endParaRPr kumimoji="1" lang="zh-CN" altLang="en-US" sz="3600" dirty="0">
                <a:solidFill>
                  <a:srgbClr val="033A9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D9FA6E3-CF1D-43D8-A85A-D6D6D56B532E}"/>
              </a:ext>
            </a:extLst>
          </p:cNvPr>
          <p:cNvGrpSpPr/>
          <p:nvPr/>
        </p:nvGrpSpPr>
        <p:grpSpPr>
          <a:xfrm>
            <a:off x="14241173" y="4591408"/>
            <a:ext cx="7036021" cy="1950462"/>
            <a:chOff x="13638012" y="3030287"/>
            <a:chExt cx="7036021" cy="1950462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2277A050-0C18-41D5-8213-3362D36EAF3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4625094" y="3780420"/>
              <a:ext cx="6048939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极致窄边，拒绝四周暗影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简约设计，适配极简风格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表面哑光设计，增加空间感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095D77E3-7796-4A8E-B11F-F85EBCCF525F}"/>
                </a:ext>
              </a:extLst>
            </p:cNvPr>
            <p:cNvGrpSpPr/>
            <p:nvPr/>
          </p:nvGrpSpPr>
          <p:grpSpPr>
            <a:xfrm>
              <a:off x="13638012" y="3030287"/>
              <a:ext cx="5823211" cy="830999"/>
              <a:chOff x="2842974" y="10384099"/>
              <a:chExt cx="5823211" cy="830999"/>
            </a:xfrm>
          </p:grpSpPr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271217E4-BC0F-47AF-9DB9-39BD659C819A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830408" y="10462546"/>
                <a:ext cx="483577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zh-CN" altLang="en-US" sz="3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大屏设计 </a:t>
                </a:r>
                <a:r>
                  <a:rPr lang="zh-CN" altLang="en-US" sz="3600" dirty="0">
                    <a:solidFill>
                      <a:srgbClr val="033A9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屏占比</a:t>
                </a:r>
                <a:r>
                  <a:rPr lang="en-US" altLang="zh-CN" sz="3600" dirty="0">
                    <a:solidFill>
                      <a:srgbClr val="033A9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98%</a:t>
                </a:r>
              </a:p>
            </p:txBody>
          </p:sp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FF7549A3-20D9-4756-A387-8851B678BB5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13"/>
              <a:stretch>
                <a:fillRect/>
              </a:stretch>
            </p:blipFill>
            <p:spPr>
              <a:xfrm>
                <a:off x="2842974" y="10384099"/>
                <a:ext cx="830999" cy="830999"/>
              </a:xfrm>
              <a:prstGeom prst="rect">
                <a:avLst/>
              </a:prstGeom>
            </p:spPr>
          </p:pic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B405C05-6034-4371-9403-67E3DC786ABC}"/>
              </a:ext>
            </a:extLst>
          </p:cNvPr>
          <p:cNvGrpSpPr/>
          <p:nvPr/>
        </p:nvGrpSpPr>
        <p:grpSpPr>
          <a:xfrm>
            <a:off x="14282875" y="7177775"/>
            <a:ext cx="7009406" cy="1880014"/>
            <a:chOff x="13664627" y="5687094"/>
            <a:chExt cx="7009406" cy="1880014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41B25B2-0103-4E8F-A28A-17594BCF889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4625095" y="6366779"/>
              <a:ext cx="604893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微晶颗粒感高透光面罩，舒适柔和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透光率强，光线均匀明亮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三级能效，明亮环保</a:t>
              </a:r>
              <a:endPara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68654D47-AFE2-4801-936E-8D5DBF02EA26}"/>
                </a:ext>
              </a:extLst>
            </p:cNvPr>
            <p:cNvGrpSpPr/>
            <p:nvPr/>
          </p:nvGrpSpPr>
          <p:grpSpPr>
            <a:xfrm>
              <a:off x="13664627" y="5687094"/>
              <a:ext cx="5033709" cy="718659"/>
              <a:chOff x="9335485" y="10496813"/>
              <a:chExt cx="5033709" cy="718659"/>
            </a:xfrm>
          </p:grpSpPr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A8C0F9E-ABE9-4E9B-BFD6-6C8ED31A32E4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0296304" y="10496813"/>
                <a:ext cx="407289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zh-CN" altLang="en-US" sz="3600" dirty="0">
                    <a:solidFill>
                      <a:srgbClr val="033A9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微晶面罩 </a:t>
                </a:r>
                <a:r>
                  <a:rPr kumimoji="1" lang="zh-CN" altLang="en-US" sz="3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三级能效</a:t>
                </a:r>
              </a:p>
            </p:txBody>
          </p:sp>
          <p:pic>
            <p:nvPicPr>
              <p:cNvPr id="70" name="图片 69">
                <a:extLst>
                  <a:ext uri="{FF2B5EF4-FFF2-40B4-BE49-F238E27FC236}">
                    <a16:creationId xmlns:a16="http://schemas.microsoft.com/office/drawing/2014/main" id="{5A132CC8-A1C3-4BC5-84C2-F3B43E889B3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9335485" y="10509615"/>
                <a:ext cx="777767" cy="705857"/>
              </a:xfrm>
              <a:prstGeom prst="rect">
                <a:avLst/>
              </a:prstGeom>
            </p:spPr>
          </p:pic>
        </p:grpSp>
      </p:grpSp>
      <p:pic>
        <p:nvPicPr>
          <p:cNvPr id="48" name="图片 47">
            <a:extLst>
              <a:ext uri="{FF2B5EF4-FFF2-40B4-BE49-F238E27FC236}">
                <a16:creationId xmlns:a16="http://schemas.microsoft.com/office/drawing/2014/main" id="{2EB8DD0F-DEB8-40F9-A9D2-F8CB05A333AA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1" b="5189"/>
          <a:stretch/>
        </p:blipFill>
        <p:spPr>
          <a:xfrm>
            <a:off x="2441095" y="2458515"/>
            <a:ext cx="9543977" cy="9197044"/>
          </a:xfrm>
          <a:prstGeom prst="rect">
            <a:avLst/>
          </a:prstGeom>
        </p:spPr>
      </p:pic>
      <p:sp>
        <p:nvSpPr>
          <p:cNvPr id="76" name="矩形 75">
            <a:extLst>
              <a:ext uri="{FF2B5EF4-FFF2-40B4-BE49-F238E27FC236}">
                <a16:creationId xmlns:a16="http://schemas.microsoft.com/office/drawing/2014/main" id="{E73C553A-69E4-4FD0-8929-8FBE23B624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228255" y="10641674"/>
            <a:ext cx="67146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双重</a:t>
            </a:r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加强绝缘</a:t>
            </a:r>
            <a:endParaRPr lang="en-US" altLang="zh-CN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防止直接接触电气部件</a:t>
            </a:r>
            <a:endParaRPr lang="en-US" altLang="zh-CN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安全更可靠</a:t>
            </a:r>
            <a:endParaRPr lang="en-US" altLang="zh-CN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47C568F-CC07-4886-9C54-46C5440E3FF3}"/>
              </a:ext>
            </a:extLst>
          </p:cNvPr>
          <p:cNvGrpSpPr/>
          <p:nvPr/>
        </p:nvGrpSpPr>
        <p:grpSpPr>
          <a:xfrm>
            <a:off x="14214734" y="9683650"/>
            <a:ext cx="5101850" cy="1243597"/>
            <a:chOff x="14214383" y="9536522"/>
            <a:chExt cx="5101850" cy="1243597"/>
          </a:xfrm>
        </p:grpSpPr>
        <p:pic>
          <p:nvPicPr>
            <p:cNvPr id="54" name="图形 53" descr="浴缸">
              <a:extLst>
                <a:ext uri="{FF2B5EF4-FFF2-40B4-BE49-F238E27FC236}">
                  <a16:creationId xmlns:a16="http://schemas.microsoft.com/office/drawing/2014/main" id="{BEE7810A-6B84-4BDE-8142-85749D39A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4214383" y="9536522"/>
              <a:ext cx="914400" cy="1243597"/>
            </a:xfrm>
            <a:prstGeom prst="rect">
              <a:avLst/>
            </a:prstGeom>
          </p:spPr>
        </p:pic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70A1C313-6F79-4798-96D1-C9EF1ACDB516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5243343" y="9835154"/>
              <a:ext cx="40728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zh-CN" sz="3600" dirty="0">
                  <a:solidFill>
                    <a:srgbClr val="033A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</a:t>
              </a:r>
              <a:r>
                <a:rPr kumimoji="1" lang="zh-CN" altLang="en-US" sz="3600" dirty="0">
                  <a:solidFill>
                    <a:srgbClr val="033A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类灯具 </a:t>
              </a:r>
              <a:r>
                <a:rPr kumimoji="1"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安全耐用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10289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成组"/>
          <p:cNvGrpSpPr/>
          <p:nvPr/>
        </p:nvGrpSpPr>
        <p:grpSpPr>
          <a:xfrm flipH="1">
            <a:off x="21116321" y="1392405"/>
            <a:ext cx="1270001" cy="1309326"/>
            <a:chOff x="0" y="0"/>
            <a:chExt cx="1270000" cy="1309325"/>
          </a:xfrm>
        </p:grpSpPr>
        <p:sp>
          <p:nvSpPr>
            <p:cNvPr id="308" name="矩形"/>
            <p:cNvSpPr/>
            <p:nvPr/>
          </p:nvSpPr>
          <p:spPr>
            <a:xfrm>
              <a:off x="0" y="0"/>
              <a:ext cx="1270001" cy="156010"/>
            </a:xfrm>
            <a:prstGeom prst="rect">
              <a:avLst/>
            </a:prstGeom>
            <a:solidFill>
              <a:srgbClr val="003B9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矩形"/>
            <p:cNvSpPr/>
            <p:nvPr/>
          </p:nvSpPr>
          <p:spPr>
            <a:xfrm rot="16200000">
              <a:off x="-556996" y="596320"/>
              <a:ext cx="1270001" cy="156011"/>
            </a:xfrm>
            <a:prstGeom prst="rect">
              <a:avLst/>
            </a:prstGeom>
            <a:solidFill>
              <a:srgbClr val="003B9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2" name="文字介绍示例"/>
          <p:cNvSpPr txBox="1"/>
          <p:nvPr/>
        </p:nvSpPr>
        <p:spPr>
          <a:xfrm>
            <a:off x="20356061" y="6612669"/>
            <a:ext cx="102657" cy="59503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80000"/>
              </a:lnSpc>
              <a:defRPr sz="4000" spc="-79">
                <a:solidFill>
                  <a:srgbClr val="FFFFFF"/>
                </a:solidFill>
                <a:latin typeface="FZLanTingHeiS-DB1-GB" panose="02000000000000000000" charset="-122"/>
                <a:ea typeface="FZLanTingHeiS-DB1-GB" panose="02000000000000000000" charset="-122"/>
                <a:cs typeface="FZLanTingHeiS-DB1-GB" panose="02000000000000000000" charset="-122"/>
                <a:sym typeface="FZLanTingHeiS-DB1-GB" panose="02000000000000000000" charset="-122"/>
              </a:defRPr>
            </a:lvl1pPr>
          </a:lstStyle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5" name="成组"/>
          <p:cNvGrpSpPr/>
          <p:nvPr/>
        </p:nvGrpSpPr>
        <p:grpSpPr>
          <a:xfrm rot="16200000">
            <a:off x="14370075" y="10904344"/>
            <a:ext cx="1270001" cy="1309326"/>
            <a:chOff x="0" y="0"/>
            <a:chExt cx="1270000" cy="1309325"/>
          </a:xfrm>
        </p:grpSpPr>
        <p:sp>
          <p:nvSpPr>
            <p:cNvPr id="313" name="矩形"/>
            <p:cNvSpPr/>
            <p:nvPr/>
          </p:nvSpPr>
          <p:spPr>
            <a:xfrm>
              <a:off x="0" y="0"/>
              <a:ext cx="1270001" cy="156010"/>
            </a:xfrm>
            <a:prstGeom prst="rect">
              <a:avLst/>
            </a:prstGeom>
            <a:solidFill>
              <a:srgbClr val="003B9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4" name="矩形"/>
            <p:cNvSpPr/>
            <p:nvPr/>
          </p:nvSpPr>
          <p:spPr>
            <a:xfrm rot="16200000">
              <a:off x="-556996" y="596320"/>
              <a:ext cx="1270001" cy="156011"/>
            </a:xfrm>
            <a:prstGeom prst="rect">
              <a:avLst/>
            </a:prstGeom>
            <a:solidFill>
              <a:srgbClr val="003B9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2D076FC-D347-41D4-BD04-3D4121E1F9CF}"/>
              </a:ext>
            </a:extLst>
          </p:cNvPr>
          <p:cNvGrpSpPr/>
          <p:nvPr/>
        </p:nvGrpSpPr>
        <p:grpSpPr>
          <a:xfrm>
            <a:off x="901513" y="738569"/>
            <a:ext cx="4998163" cy="926852"/>
            <a:chOff x="2307464" y="2175908"/>
            <a:chExt cx="4998163" cy="926852"/>
          </a:xfrm>
        </p:grpSpPr>
        <p:sp>
          <p:nvSpPr>
            <p:cNvPr id="307" name="矩形"/>
            <p:cNvSpPr/>
            <p:nvPr/>
          </p:nvSpPr>
          <p:spPr>
            <a:xfrm>
              <a:off x="2405144" y="2993978"/>
              <a:ext cx="1270001" cy="108782"/>
            </a:xfrm>
            <a:prstGeom prst="rect">
              <a:avLst/>
            </a:prstGeom>
            <a:solidFill>
              <a:srgbClr val="003B9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主标题示例"/>
            <p:cNvSpPr txBox="1"/>
            <p:nvPr/>
          </p:nvSpPr>
          <p:spPr>
            <a:xfrm>
              <a:off x="2307464" y="2175908"/>
              <a:ext cx="4998163" cy="71814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50800" tIns="50800" rIns="50800" bIns="50800" anchor="ctr">
              <a:spAutoFit/>
            </a:bodyPr>
            <a:lstStyle>
              <a:lvl1pPr algn="l">
                <a:lnSpc>
                  <a:spcPct val="80000"/>
                </a:lnSpc>
                <a:defRPr sz="5000" spc="-100">
                  <a:solidFill>
                    <a:srgbClr val="000000"/>
                  </a:solidFill>
                  <a:latin typeface="FZLanTingHeiS-DB1-GB" panose="02000000000000000000" charset="-122"/>
                  <a:ea typeface="FZLanTingHeiS-DB1-GB" panose="02000000000000000000" charset="-122"/>
                  <a:cs typeface="FZLanTingHeiS-DB1-GB" panose="02000000000000000000" charset="-122"/>
                  <a:sym typeface="FZLanTingHeiS-DB1-GB" panose="02000000000000000000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高功率因数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PF0.9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9" name="线条"/>
          <p:cNvSpPr/>
          <p:nvPr/>
        </p:nvSpPr>
        <p:spPr>
          <a:xfrm flipH="1" flipV="1">
            <a:off x="3673973" y="12840692"/>
            <a:ext cx="19808514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像" descr="图像">
            <a:extLst>
              <a:ext uri="{FF2B5EF4-FFF2-40B4-BE49-F238E27FC236}">
                <a16:creationId xmlns:a16="http://schemas.microsoft.com/office/drawing/2014/main" id="{6658591D-3C4C-410A-8031-6854A515B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9319" y="627980"/>
            <a:ext cx="1133168" cy="2473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1D764CFB-30BA-499D-A245-FAA2F1FD2DC3}"/>
              </a:ext>
            </a:extLst>
          </p:cNvPr>
          <p:cNvGrpSpPr/>
          <p:nvPr/>
        </p:nvGrpSpPr>
        <p:grpSpPr>
          <a:xfrm>
            <a:off x="999193" y="1994531"/>
            <a:ext cx="10805239" cy="5338651"/>
            <a:chOff x="2203382" y="3500371"/>
            <a:chExt cx="10805239" cy="5338651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625F8CB-DD4A-407A-AAA4-1B33D27FD47E}"/>
                </a:ext>
              </a:extLst>
            </p:cNvPr>
            <p:cNvSpPr txBox="1"/>
            <p:nvPr/>
          </p:nvSpPr>
          <p:spPr>
            <a:xfrm>
              <a:off x="2203382" y="3500371"/>
              <a:ext cx="7322177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342900" marR="0" indent="-342900" algn="l" defTabSz="2438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kumimoji="0" lang="zh-CN" altLang="en-US" sz="2800" b="1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 panose="02000503000000020004"/>
                </a:rPr>
                <a:t>响应推荐性国标：</a:t>
              </a:r>
              <a:r>
                <a:rPr kumimoji="0" lang="en-US" altLang="zh-CN" sz="2800" b="1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Helvetica Neue" panose="02000503000000020004"/>
                </a:rPr>
                <a:t>GB/T 50034-2024</a:t>
              </a:r>
              <a:endParaRPr kumimoji="0" lang="zh-CN" altLang="en-US" sz="28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8DD0C55-78A1-4456-80B8-8A7054410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3564" y="4358001"/>
              <a:ext cx="7575057" cy="4481021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D584080E-7ADB-4881-985D-53492F5240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7494" y="2156993"/>
            <a:ext cx="6317757" cy="934381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5F55F57F-F128-457A-A306-F0197F39DA25}"/>
              </a:ext>
            </a:extLst>
          </p:cNvPr>
          <p:cNvGrpSpPr/>
          <p:nvPr/>
        </p:nvGrpSpPr>
        <p:grpSpPr>
          <a:xfrm>
            <a:off x="999193" y="6907776"/>
            <a:ext cx="12765484" cy="5365571"/>
            <a:chOff x="999193" y="6907776"/>
            <a:chExt cx="12765484" cy="5365571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6A3B3F4-800F-4098-AD47-8707CEE660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426"/>
            <a:stretch/>
          </p:blipFill>
          <p:spPr>
            <a:xfrm>
              <a:off x="3673973" y="8042181"/>
              <a:ext cx="7032661" cy="1376930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3136A99-C6D8-4D62-A914-278601DDAF59}"/>
                </a:ext>
              </a:extLst>
            </p:cNvPr>
            <p:cNvSpPr txBox="1"/>
            <p:nvPr/>
          </p:nvSpPr>
          <p:spPr>
            <a:xfrm>
              <a:off x="999193" y="6907776"/>
              <a:ext cx="12765484" cy="536557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342900" indent="-3429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减少电网负担</a:t>
              </a:r>
              <a:r>
                <a:rPr lang="en-US" altLang="zh-CN" sz="2800" b="1" baseline="30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 indent="457200" algn="l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功率因数（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PF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）是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有功功率（实际做功）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视在功率（电网提供的总功率）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的比值：</a:t>
              </a:r>
            </a:p>
            <a:p>
              <a:pPr indent="457200" algn="l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​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 algn="l"/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 algn="l"/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 algn="l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因此，低功率因数意味着电网需要提供更多的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视在功率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（包含无功功率），才能满足设备的实际用电需求。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线路损耗更低：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低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PF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会导致更大的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无功电流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在电网中流动，因此采用高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PF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产品，可以使实际电流更小，线路损耗更低。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提升变压器和发电设备利用率</a:t>
              </a:r>
            </a:p>
            <a:p>
              <a:pPr algn="l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变压器、发电机等设备的容量是按</a:t>
              </a:r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kVA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（视在功率）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设计的，高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PF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产品相比于低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PF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产品可以占用更小容量，提升变压器和发电设备利用率。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76E02415-D96F-4F74-B9C4-4601E6DE1635}"/>
              </a:ext>
            </a:extLst>
          </p:cNvPr>
          <p:cNvSpPr txBox="1"/>
          <p:nvPr/>
        </p:nvSpPr>
        <p:spPr>
          <a:xfrm>
            <a:off x="20407389" y="13103431"/>
            <a:ext cx="4146737" cy="41036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1. </a:t>
            </a:r>
            <a:r>
              <a:rPr kumimoji="0" lang="zh-CN" altLang="en-US" sz="20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如需了解更多，可参考备注</a:t>
            </a:r>
          </a:p>
        </p:txBody>
      </p:sp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A6B6410F-8854-47D3-A3AE-BE69DA2596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456" y="12676307"/>
            <a:ext cx="2816779" cy="32877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07A567A-8412-4632-93F9-7CF78EBD6C8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" t="-10" r="23747"/>
          <a:stretch/>
        </p:blipFill>
        <p:spPr>
          <a:xfrm flipH="1">
            <a:off x="11306777" y="8071"/>
            <a:ext cx="13077223" cy="12815923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2D076FC-D347-41D4-BD04-3D4121E1F9CF}"/>
              </a:ext>
            </a:extLst>
          </p:cNvPr>
          <p:cNvGrpSpPr/>
          <p:nvPr/>
        </p:nvGrpSpPr>
        <p:grpSpPr>
          <a:xfrm>
            <a:off x="901513" y="738569"/>
            <a:ext cx="7995779" cy="926852"/>
            <a:chOff x="2307464" y="2175908"/>
            <a:chExt cx="7995779" cy="926852"/>
          </a:xfrm>
        </p:grpSpPr>
        <p:sp>
          <p:nvSpPr>
            <p:cNvPr id="307" name="矩形"/>
            <p:cNvSpPr/>
            <p:nvPr/>
          </p:nvSpPr>
          <p:spPr>
            <a:xfrm>
              <a:off x="2405144" y="2993978"/>
              <a:ext cx="1270001" cy="108782"/>
            </a:xfrm>
            <a:prstGeom prst="rect">
              <a:avLst/>
            </a:prstGeom>
            <a:solidFill>
              <a:srgbClr val="003B9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主标题示例"/>
            <p:cNvSpPr txBox="1"/>
            <p:nvPr/>
          </p:nvSpPr>
          <p:spPr>
            <a:xfrm>
              <a:off x="2307464" y="2175908"/>
              <a:ext cx="7995779" cy="71814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50800" tIns="50800" rIns="50800" bIns="50800" anchor="ctr">
              <a:spAutoFit/>
            </a:bodyPr>
            <a:lstStyle>
              <a:lvl1pPr algn="l">
                <a:lnSpc>
                  <a:spcPct val="80000"/>
                </a:lnSpc>
                <a:defRPr sz="5000" spc="-100">
                  <a:solidFill>
                    <a:srgbClr val="000000"/>
                  </a:solidFill>
                  <a:latin typeface="FZLanTingHeiS-DB1-GB" panose="02000000000000000000" charset="-122"/>
                  <a:ea typeface="FZLanTingHeiS-DB1-GB" panose="02000000000000000000" charset="-122"/>
                  <a:cs typeface="FZLanTingHeiS-DB1-GB" panose="02000000000000000000" charset="-122"/>
                  <a:sym typeface="FZLanTingHeiS-DB1-GB" panose="02000000000000000000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大屏设计 微晶面罩 三级能效</a:t>
              </a:r>
            </a:p>
          </p:txBody>
        </p:sp>
      </p:grpSp>
      <p:sp>
        <p:nvSpPr>
          <p:cNvPr id="319" name="线条"/>
          <p:cNvSpPr/>
          <p:nvPr/>
        </p:nvSpPr>
        <p:spPr>
          <a:xfrm flipH="1" flipV="1">
            <a:off x="3673973" y="12840692"/>
            <a:ext cx="19808514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像" descr="图像">
            <a:extLst>
              <a:ext uri="{FF2B5EF4-FFF2-40B4-BE49-F238E27FC236}">
                <a16:creationId xmlns:a16="http://schemas.microsoft.com/office/drawing/2014/main" id="{6658591D-3C4C-410A-8031-6854A515B0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49319" y="627980"/>
            <a:ext cx="1133168" cy="2473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8" name="图像" descr="图像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856" y="12676306"/>
            <a:ext cx="2816779" cy="3287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64F44DB6-80B2-476F-891C-ACA06136B45A}"/>
              </a:ext>
            </a:extLst>
          </p:cNvPr>
          <p:cNvGrpSpPr/>
          <p:nvPr/>
        </p:nvGrpSpPr>
        <p:grpSpPr>
          <a:xfrm>
            <a:off x="12088635" y="4614884"/>
            <a:ext cx="10188576" cy="4807497"/>
            <a:chOff x="10506902" y="4558420"/>
            <a:chExt cx="10188576" cy="4807497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5736677E-408C-45B3-BAD5-93387DA2568E}"/>
                </a:ext>
              </a:extLst>
            </p:cNvPr>
            <p:cNvGrpSpPr/>
            <p:nvPr/>
          </p:nvGrpSpPr>
          <p:grpSpPr>
            <a:xfrm>
              <a:off x="10506902" y="7485903"/>
              <a:ext cx="7009406" cy="1880014"/>
              <a:chOff x="16690634" y="5181675"/>
              <a:chExt cx="7009406" cy="1880014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F38499F-7564-4335-B1C8-018B0D079936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17651102" y="5861360"/>
                <a:ext cx="604893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微晶颗粒感高透光面罩，舒适柔和</a:t>
                </a:r>
                <a:endParaRPr lang="en-US" altLang="zh-CN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磨砂质感面罩，更显高级感</a:t>
                </a:r>
                <a:endParaRPr lang="en-US" altLang="zh-CN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透光率强，光线均匀明亮</a:t>
                </a:r>
                <a:endParaRPr lang="en-US" altLang="zh-CN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A164C3C4-17FC-4FD3-9D31-2B676FFAB55B}"/>
                  </a:ext>
                </a:extLst>
              </p:cNvPr>
              <p:cNvGrpSpPr/>
              <p:nvPr/>
            </p:nvGrpSpPr>
            <p:grpSpPr>
              <a:xfrm>
                <a:off x="16690634" y="5181675"/>
                <a:ext cx="5033709" cy="718659"/>
                <a:chOff x="12361492" y="9991394"/>
                <a:chExt cx="5033709" cy="718659"/>
              </a:xfrm>
            </p:grpSpPr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78749566-2D82-409C-9A83-FC7D4EF35E5A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3322311" y="9991394"/>
                  <a:ext cx="407289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kumimoji="1" lang="zh-CN" altLang="en-US" sz="3600" dirty="0">
                      <a:solidFill>
                        <a:srgbClr val="033A9D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微晶面罩 </a:t>
                  </a:r>
                  <a:r>
                    <a:rPr kumimoji="1" lang="zh-CN" altLang="en-US" sz="3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光线明亮</a:t>
                  </a:r>
                </a:p>
              </p:txBody>
            </p:sp>
            <p:pic>
              <p:nvPicPr>
                <p:cNvPr id="35" name="图片 34">
                  <a:extLst>
                    <a:ext uri="{FF2B5EF4-FFF2-40B4-BE49-F238E27FC236}">
                      <a16:creationId xmlns:a16="http://schemas.microsoft.com/office/drawing/2014/main" id="{EB60B6C1-92E0-4DF1-8168-439CBE141E4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361492" y="10004196"/>
                  <a:ext cx="777767" cy="705857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35FBA69-D6AA-4B57-ADFE-464337500A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04166" y="6319227"/>
              <a:ext cx="4042203" cy="4950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BCEBFFC-AEF7-44C3-B470-EF6A6C825E24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13504166" y="6352581"/>
              <a:ext cx="0" cy="113332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A1F8A5C7-62B9-404C-9811-58F197DCF3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6" t="34828" r="87077" b="58089"/>
            <a:stretch/>
          </p:blipFill>
          <p:spPr>
            <a:xfrm flipH="1">
              <a:off x="17564439" y="4558420"/>
              <a:ext cx="3131039" cy="3140899"/>
            </a:xfrm>
            <a:prstGeom prst="ellipse">
              <a:avLst/>
            </a:prstGeom>
            <a:ln w="19050" cap="rnd">
              <a:solidFill>
                <a:schemeClr val="bg1">
                  <a:lumMod val="50000"/>
                </a:schemeClr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AA224DF-090E-4A41-B45D-711E9AF28959}"/>
              </a:ext>
            </a:extLst>
          </p:cNvPr>
          <p:cNvGrpSpPr/>
          <p:nvPr/>
        </p:nvGrpSpPr>
        <p:grpSpPr>
          <a:xfrm>
            <a:off x="5243405" y="1016955"/>
            <a:ext cx="9599233" cy="4937770"/>
            <a:chOff x="5282070" y="869125"/>
            <a:chExt cx="9599233" cy="493777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3B45BFC-99A9-4162-BA4D-C168E3405422}"/>
                </a:ext>
              </a:extLst>
            </p:cNvPr>
            <p:cNvGrpSpPr/>
            <p:nvPr/>
          </p:nvGrpSpPr>
          <p:grpSpPr>
            <a:xfrm>
              <a:off x="5282070" y="3856433"/>
              <a:ext cx="7036021" cy="1950462"/>
              <a:chOff x="16040571" y="3125306"/>
              <a:chExt cx="7036021" cy="1950462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070A94A-3E51-45E0-9E7C-25572AE6F5BE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7027653" y="3875439"/>
                <a:ext cx="604893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极致窄边，拒绝四周暗影</a:t>
                </a:r>
                <a:endParaRPr lang="en-US" altLang="zh-CN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简约设计，适配极简风格</a:t>
                </a:r>
                <a:endParaRPr lang="en-US" altLang="zh-CN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r>
                  <a:rPr lang="zh-CN" altLang="en-US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表面哑光设计，增加空间感</a:t>
                </a:r>
                <a:endParaRPr lang="en-US" altLang="zh-CN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A7076149-99AC-42F3-A7E7-38787A891477}"/>
                  </a:ext>
                </a:extLst>
              </p:cNvPr>
              <p:cNvGrpSpPr/>
              <p:nvPr/>
            </p:nvGrpSpPr>
            <p:grpSpPr>
              <a:xfrm>
                <a:off x="16040571" y="3125306"/>
                <a:ext cx="5823211" cy="830999"/>
                <a:chOff x="5245533" y="10479118"/>
                <a:chExt cx="5823211" cy="830999"/>
              </a:xfrm>
            </p:grpSpPr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5D2A6352-055D-4743-83C3-054E19C2DDD3}"/>
                    </a:ext>
                  </a:extLst>
                </p:cNvPr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6232967" y="10557565"/>
                  <a:ext cx="483577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kumimoji="1" lang="zh-CN" altLang="en-US" sz="3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大屏设计 </a:t>
                  </a:r>
                  <a:r>
                    <a:rPr lang="zh-CN" altLang="en-US" sz="3600" dirty="0">
                      <a:solidFill>
                        <a:srgbClr val="033A9D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屏占比</a:t>
                  </a:r>
                  <a:r>
                    <a:rPr lang="en-US" altLang="zh-CN" sz="3600" dirty="0">
                      <a:solidFill>
                        <a:srgbClr val="033A9D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98%</a:t>
                  </a:r>
                </a:p>
              </p:txBody>
            </p:sp>
            <p:pic>
              <p:nvPicPr>
                <p:cNvPr id="29" name="图片 28">
                  <a:extLst>
                    <a:ext uri="{FF2B5EF4-FFF2-40B4-BE49-F238E27FC236}">
                      <a16:creationId xmlns:a16="http://schemas.microsoft.com/office/drawing/2014/main" id="{A574E41B-2A17-403C-A8A8-B153DA16E93B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45533" y="10479118"/>
                  <a:ext cx="830999" cy="830999"/>
                </a:xfrm>
                <a:prstGeom prst="rect">
                  <a:avLst/>
                </a:prstGeom>
              </p:spPr>
            </p:pic>
          </p:grpSp>
        </p:grp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667AD9B4-8CEB-4C46-B4D4-F9EE15CC93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016" t="24087" r="25948" b="65032"/>
            <a:stretch/>
          </p:blipFill>
          <p:spPr>
            <a:xfrm flipH="1">
              <a:off x="11172649" y="869125"/>
              <a:ext cx="3708654" cy="3824351"/>
            </a:xfrm>
            <a:prstGeom prst="ellipse">
              <a:avLst/>
            </a:prstGeom>
            <a:ln w="12700" cap="rnd">
              <a:solidFill>
                <a:schemeClr val="bg1">
                  <a:lumMod val="50000"/>
                </a:schemeClr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BE3DEF3B-ADD4-48C7-9871-0F3A616E4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6746" y="2570382"/>
              <a:ext cx="2797179" cy="1898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A7AEC18E-5206-48C9-A325-BAE308602356}"/>
                </a:ext>
              </a:extLst>
            </p:cNvPr>
            <p:cNvCxnSpPr>
              <a:cxnSpLocks/>
            </p:cNvCxnSpPr>
            <p:nvPr/>
          </p:nvCxnSpPr>
          <p:spPr>
            <a:xfrm>
              <a:off x="8326746" y="2570382"/>
              <a:ext cx="0" cy="113332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B41E423-CB60-425D-8EFB-FAF95B89270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81" y="6066795"/>
            <a:ext cx="4072887" cy="6064075"/>
          </a:xfrm>
          <a:prstGeom prst="rect">
            <a:avLst/>
          </a:prstGeom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DEF61DE-33C1-4817-A325-8B07AF8F9FD7}"/>
              </a:ext>
            </a:extLst>
          </p:cNvPr>
          <p:cNvCxnSpPr>
            <a:cxnSpLocks/>
          </p:cNvCxnSpPr>
          <p:nvPr/>
        </p:nvCxnSpPr>
        <p:spPr>
          <a:xfrm flipH="1">
            <a:off x="5177839" y="9678244"/>
            <a:ext cx="2086736" cy="1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C6AAC37-3D03-454D-9729-C7A51C39DDE3}"/>
              </a:ext>
            </a:extLst>
          </p:cNvPr>
          <p:cNvCxnSpPr>
            <a:cxnSpLocks/>
          </p:cNvCxnSpPr>
          <p:nvPr/>
        </p:nvCxnSpPr>
        <p:spPr>
          <a:xfrm>
            <a:off x="7264575" y="9678244"/>
            <a:ext cx="0" cy="1133322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BF3E4C2-1F03-47F7-8565-32C42B40CAC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7458913" y="10586226"/>
            <a:ext cx="5286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3600" dirty="0">
                <a:solidFill>
                  <a:srgbClr val="033A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三级能效 节能环保</a:t>
            </a:r>
            <a:endParaRPr kumimoji="1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ABFDF09-8FEB-42C1-8D38-DC58AE6B85F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458913" y="11285452"/>
            <a:ext cx="60489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节能低碳，环境友好</a:t>
            </a:r>
            <a:endParaRPr lang="en-US" altLang="zh-CN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推动绿色消费与节能</a:t>
            </a:r>
            <a:endParaRPr lang="en-US" altLang="zh-CN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3511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2322C37-8AAD-4548-8E53-B83C479A2ED7}"/>
              </a:ext>
            </a:extLst>
          </p:cNvPr>
          <p:cNvSpPr/>
          <p:nvPr/>
        </p:nvSpPr>
        <p:spPr>
          <a:xfrm>
            <a:off x="12426025" y="2572873"/>
            <a:ext cx="11940988" cy="8570253"/>
          </a:xfrm>
          <a:prstGeom prst="rect">
            <a:avLst/>
          </a:prstGeom>
          <a:solidFill>
            <a:srgbClr val="E7E7E7"/>
          </a:solidFill>
          <a:ln w="12700" cap="flat">
            <a:solidFill>
              <a:srgbClr val="E7E7E7"/>
            </a:solidFill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2D076FC-D347-41D4-BD04-3D4121E1F9CF}"/>
              </a:ext>
            </a:extLst>
          </p:cNvPr>
          <p:cNvGrpSpPr/>
          <p:nvPr/>
        </p:nvGrpSpPr>
        <p:grpSpPr>
          <a:xfrm>
            <a:off x="901513" y="738569"/>
            <a:ext cx="5030223" cy="926852"/>
            <a:chOff x="2307464" y="2175908"/>
            <a:chExt cx="5030223" cy="926852"/>
          </a:xfrm>
        </p:grpSpPr>
        <p:sp>
          <p:nvSpPr>
            <p:cNvPr id="307" name="矩形"/>
            <p:cNvSpPr/>
            <p:nvPr/>
          </p:nvSpPr>
          <p:spPr>
            <a:xfrm>
              <a:off x="2405144" y="2993978"/>
              <a:ext cx="1270001" cy="108782"/>
            </a:xfrm>
            <a:prstGeom prst="rect">
              <a:avLst/>
            </a:prstGeom>
            <a:solidFill>
              <a:srgbClr val="003B9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主标题示例"/>
            <p:cNvSpPr txBox="1"/>
            <p:nvPr/>
          </p:nvSpPr>
          <p:spPr>
            <a:xfrm>
              <a:off x="2307464" y="2175908"/>
              <a:ext cx="5030223" cy="71814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50800" tIns="50800" rIns="50800" bIns="50800" anchor="ctr">
              <a:spAutoFit/>
            </a:bodyPr>
            <a:lstStyle>
              <a:lvl1pPr algn="l">
                <a:lnSpc>
                  <a:spcPct val="80000"/>
                </a:lnSpc>
                <a:defRPr sz="5000" spc="-100">
                  <a:solidFill>
                    <a:srgbClr val="000000"/>
                  </a:solidFill>
                  <a:latin typeface="FZLanTingHeiS-DB1-GB" panose="02000000000000000000" charset="-122"/>
                  <a:ea typeface="FZLanTingHeiS-DB1-GB" panose="02000000000000000000" charset="-122"/>
                  <a:cs typeface="FZLanTingHeiS-DB1-GB" panose="02000000000000000000" charset="-122"/>
                  <a:sym typeface="FZLanTingHeiS-DB1-GB" panose="02000000000000000000" charset="-122"/>
                </a:defRPr>
              </a:lvl1pPr>
            </a:lstStyle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类灯具 安全耐用</a:t>
              </a:r>
            </a:p>
          </p:txBody>
        </p:sp>
      </p:grpSp>
      <p:sp>
        <p:nvSpPr>
          <p:cNvPr id="319" name="线条"/>
          <p:cNvSpPr/>
          <p:nvPr/>
        </p:nvSpPr>
        <p:spPr>
          <a:xfrm flipH="1" flipV="1">
            <a:off x="3673973" y="12840692"/>
            <a:ext cx="19808514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像" descr="图像">
            <a:extLst>
              <a:ext uri="{FF2B5EF4-FFF2-40B4-BE49-F238E27FC236}">
                <a16:creationId xmlns:a16="http://schemas.microsoft.com/office/drawing/2014/main" id="{6658591D-3C4C-410A-8031-6854A515B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9319" y="627980"/>
            <a:ext cx="1133168" cy="2473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8" name="图像" descr="图像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56" y="12676306"/>
            <a:ext cx="2816779" cy="3287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9C897CB3-B501-4997-AE4A-5134C86071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597" y="2285045"/>
            <a:ext cx="8309957" cy="4379769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C7968C43-C60E-44D7-9962-F803E8F76BD4}"/>
              </a:ext>
            </a:extLst>
          </p:cNvPr>
          <p:cNvGrpSpPr/>
          <p:nvPr/>
        </p:nvGrpSpPr>
        <p:grpSpPr>
          <a:xfrm>
            <a:off x="13151971" y="3399208"/>
            <a:ext cx="9407845" cy="6917582"/>
            <a:chOff x="12192000" y="3387417"/>
            <a:chExt cx="9407845" cy="691758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B2DD03AD-5055-4DD9-9748-F9C661EBF2E0}"/>
                </a:ext>
              </a:extLst>
            </p:cNvPr>
            <p:cNvSpPr/>
            <p:nvPr/>
          </p:nvSpPr>
          <p:spPr>
            <a:xfrm>
              <a:off x="12577132" y="8366007"/>
              <a:ext cx="9022713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 无需接地（双重绝缘</a:t>
              </a:r>
              <a:r>
                <a:rPr lang="en-US" altLang="zh-CN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加强绝缘）</a:t>
              </a:r>
            </a:p>
            <a:p>
              <a:pPr indent="457200" algn="l"/>
              <a:r>
                <a:rPr lang="en-US" altLang="zh-CN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</a:t>
              </a:r>
              <a:r>
                <a:rPr lang="zh-CN" altLang="en-US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类灯具采用双重绝缘或加强绝缘设计，无需依赖接地保护，避免了因接地不良或接地线故障导致的触电风险。</a:t>
              </a:r>
              <a:endParaRPr lang="en-US" altLang="zh-CN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 algn="l"/>
              <a:r>
                <a:rPr lang="zh-CN" altLang="en-US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核心优势是</a:t>
              </a:r>
              <a:r>
                <a:rPr lang="zh-CN" altLang="en-US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安全性和安装便捷性</a:t>
              </a:r>
              <a:r>
                <a:rPr lang="zh-CN" altLang="en-US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，尤其适合小功率、便携或绝缘环境要求高的场景。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C1AAE48-BBF6-4ABB-912E-5DB84BC0EF84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12192000" y="3387417"/>
              <a:ext cx="48357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3600" dirty="0">
                  <a:solidFill>
                    <a:srgbClr val="033A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超声波焊接工艺</a:t>
              </a:r>
              <a:endParaRPr lang="en-US" altLang="zh-CN" sz="3600" dirty="0">
                <a:solidFill>
                  <a:srgbClr val="033A9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B3E94310-6C6E-4CE1-8A89-D8AF45FADD97}"/>
                </a:ext>
              </a:extLst>
            </p:cNvPr>
            <p:cNvSpPr/>
            <p:nvPr/>
          </p:nvSpPr>
          <p:spPr>
            <a:xfrm>
              <a:off x="12577132" y="4124527"/>
              <a:ext cx="673490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采用超声熔接密闭型工艺，防尘防潮等级更优</a:t>
              </a: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BADD523-CE5D-47AC-82E1-16899CC81871}"/>
                </a:ext>
              </a:extLst>
            </p:cNvPr>
            <p:cNvGrpSpPr/>
            <p:nvPr/>
          </p:nvGrpSpPr>
          <p:grpSpPr>
            <a:xfrm>
              <a:off x="12192000" y="5553861"/>
              <a:ext cx="7658100" cy="1110953"/>
              <a:chOff x="12192000" y="5458488"/>
              <a:chExt cx="7658100" cy="1110953"/>
            </a:xfrm>
          </p:grpSpPr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D3AEB65-D00D-40EC-86C5-5FD82C409BB6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2192000" y="5458488"/>
                <a:ext cx="483577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3600" dirty="0">
                    <a:solidFill>
                      <a:srgbClr val="033A9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一体注塑成型底盘</a:t>
                </a: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5079BF00-8E8C-4EE2-85FC-45D2D5122C1F}"/>
                  </a:ext>
                </a:extLst>
              </p:cNvPr>
              <p:cNvSpPr/>
              <p:nvPr/>
            </p:nvSpPr>
            <p:spPr>
              <a:xfrm>
                <a:off x="12577132" y="6107776"/>
                <a:ext cx="72729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波浪纹设计，底盘无拼接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焊接痕迹。美观更大气</a:t>
                </a:r>
              </a:p>
            </p:txBody>
          </p: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7610454-C6C1-4EFA-AE60-9795ABF67C38}"/>
                </a:ext>
              </a:extLst>
            </p:cNvPr>
            <p:cNvSpPr/>
            <p:nvPr/>
          </p:nvSpPr>
          <p:spPr>
            <a:xfrm>
              <a:off x="12192000" y="7635607"/>
              <a:ext cx="36888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rgbClr val="033A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II</a:t>
              </a:r>
              <a:r>
                <a:rPr lang="zh-CN" altLang="en-US" sz="3600" dirty="0">
                  <a:solidFill>
                    <a:srgbClr val="033A9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类电气安全等级</a:t>
              </a:r>
              <a:endParaRPr lang="en-US" altLang="zh-CN" sz="3600" dirty="0">
                <a:solidFill>
                  <a:srgbClr val="033A9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82D6FE8C-A3D7-49B4-9AA7-41131362D1D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6"/>
          <a:stretch/>
        </p:blipFill>
        <p:spPr>
          <a:xfrm>
            <a:off x="2193605" y="7051187"/>
            <a:ext cx="8201995" cy="510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9656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2D076FC-D347-41D4-BD04-3D4121E1F9CF}"/>
              </a:ext>
            </a:extLst>
          </p:cNvPr>
          <p:cNvGrpSpPr/>
          <p:nvPr/>
        </p:nvGrpSpPr>
        <p:grpSpPr>
          <a:xfrm>
            <a:off x="901513" y="738569"/>
            <a:ext cx="2616101" cy="926852"/>
            <a:chOff x="2307464" y="2175908"/>
            <a:chExt cx="2616101" cy="926852"/>
          </a:xfrm>
        </p:grpSpPr>
        <p:sp>
          <p:nvSpPr>
            <p:cNvPr id="307" name="矩形"/>
            <p:cNvSpPr/>
            <p:nvPr/>
          </p:nvSpPr>
          <p:spPr>
            <a:xfrm>
              <a:off x="2405144" y="2993978"/>
              <a:ext cx="1270001" cy="108782"/>
            </a:xfrm>
            <a:prstGeom prst="rect">
              <a:avLst/>
            </a:prstGeom>
            <a:solidFill>
              <a:srgbClr val="003B9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主标题示例"/>
            <p:cNvSpPr txBox="1"/>
            <p:nvPr/>
          </p:nvSpPr>
          <p:spPr>
            <a:xfrm>
              <a:off x="2307464" y="2175908"/>
              <a:ext cx="2616101" cy="71814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50800" tIns="50800" rIns="50800" bIns="50800" anchor="ctr">
              <a:spAutoFit/>
            </a:bodyPr>
            <a:lstStyle>
              <a:lvl1pPr algn="l">
                <a:lnSpc>
                  <a:spcPct val="80000"/>
                </a:lnSpc>
                <a:defRPr sz="5000" spc="-100">
                  <a:solidFill>
                    <a:srgbClr val="000000"/>
                  </a:solidFill>
                  <a:latin typeface="FZLanTingHeiS-DB1-GB" panose="02000000000000000000" charset="-122"/>
                  <a:ea typeface="FZLanTingHeiS-DB1-GB" panose="02000000000000000000" charset="-122"/>
                  <a:cs typeface="FZLanTingHeiS-DB1-GB" panose="02000000000000000000" charset="-122"/>
                  <a:sym typeface="FZLanTingHeiS-DB1-GB" panose="02000000000000000000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产品参数</a:t>
              </a:r>
            </a:p>
          </p:txBody>
        </p:sp>
      </p:grpSp>
      <p:sp>
        <p:nvSpPr>
          <p:cNvPr id="319" name="线条"/>
          <p:cNvSpPr/>
          <p:nvPr/>
        </p:nvSpPr>
        <p:spPr>
          <a:xfrm flipH="1" flipV="1">
            <a:off x="3673973" y="12840692"/>
            <a:ext cx="19808514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像" descr="图像">
            <a:extLst>
              <a:ext uri="{FF2B5EF4-FFF2-40B4-BE49-F238E27FC236}">
                <a16:creationId xmlns:a16="http://schemas.microsoft.com/office/drawing/2014/main" id="{6658591D-3C4C-410A-8031-6854A515B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9319" y="627980"/>
            <a:ext cx="1133168" cy="2473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8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56" y="12676306"/>
            <a:ext cx="2816779" cy="3287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568665B-EAB3-4211-8B73-E67EC341F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565282"/>
              </p:ext>
            </p:extLst>
          </p:nvPr>
        </p:nvGraphicFramePr>
        <p:xfrm>
          <a:off x="434856" y="2351713"/>
          <a:ext cx="23637107" cy="6903209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1990610">
                  <a:extLst>
                    <a:ext uri="{9D8B030D-6E8A-4147-A177-3AD203B41FA5}">
                      <a16:colId xmlns:a16="http://schemas.microsoft.com/office/drawing/2014/main" val="2182314077"/>
                    </a:ext>
                  </a:extLst>
                </a:gridCol>
                <a:gridCol w="3167482">
                  <a:extLst>
                    <a:ext uri="{9D8B030D-6E8A-4147-A177-3AD203B41FA5}">
                      <a16:colId xmlns:a16="http://schemas.microsoft.com/office/drawing/2014/main" val="3158658141"/>
                    </a:ext>
                  </a:extLst>
                </a:gridCol>
                <a:gridCol w="2785874">
                  <a:extLst>
                    <a:ext uri="{9D8B030D-6E8A-4147-A177-3AD203B41FA5}">
                      <a16:colId xmlns:a16="http://schemas.microsoft.com/office/drawing/2014/main" val="3767931595"/>
                    </a:ext>
                  </a:extLst>
                </a:gridCol>
                <a:gridCol w="1478219">
                  <a:extLst>
                    <a:ext uri="{9D8B030D-6E8A-4147-A177-3AD203B41FA5}">
                      <a16:colId xmlns:a16="http://schemas.microsoft.com/office/drawing/2014/main" val="2766561830"/>
                    </a:ext>
                  </a:extLst>
                </a:gridCol>
                <a:gridCol w="895029">
                  <a:extLst>
                    <a:ext uri="{9D8B030D-6E8A-4147-A177-3AD203B41FA5}">
                      <a16:colId xmlns:a16="http://schemas.microsoft.com/office/drawing/2014/main" val="1501953610"/>
                    </a:ext>
                  </a:extLst>
                </a:gridCol>
                <a:gridCol w="772705">
                  <a:extLst>
                    <a:ext uri="{9D8B030D-6E8A-4147-A177-3AD203B41FA5}">
                      <a16:colId xmlns:a16="http://schemas.microsoft.com/office/drawing/2014/main" val="3977135461"/>
                    </a:ext>
                  </a:extLst>
                </a:gridCol>
                <a:gridCol w="947576">
                  <a:extLst>
                    <a:ext uri="{9D8B030D-6E8A-4147-A177-3AD203B41FA5}">
                      <a16:colId xmlns:a16="http://schemas.microsoft.com/office/drawing/2014/main" val="3135824760"/>
                    </a:ext>
                  </a:extLst>
                </a:gridCol>
                <a:gridCol w="900749">
                  <a:extLst>
                    <a:ext uri="{9D8B030D-6E8A-4147-A177-3AD203B41FA5}">
                      <a16:colId xmlns:a16="http://schemas.microsoft.com/office/drawing/2014/main" val="1836147853"/>
                    </a:ext>
                  </a:extLst>
                </a:gridCol>
                <a:gridCol w="1108113">
                  <a:extLst>
                    <a:ext uri="{9D8B030D-6E8A-4147-A177-3AD203B41FA5}">
                      <a16:colId xmlns:a16="http://schemas.microsoft.com/office/drawing/2014/main" val="3285239588"/>
                    </a:ext>
                  </a:extLst>
                </a:gridCol>
                <a:gridCol w="1307655">
                  <a:extLst>
                    <a:ext uri="{9D8B030D-6E8A-4147-A177-3AD203B41FA5}">
                      <a16:colId xmlns:a16="http://schemas.microsoft.com/office/drawing/2014/main" val="1244357978"/>
                    </a:ext>
                  </a:extLst>
                </a:gridCol>
                <a:gridCol w="1383461">
                  <a:extLst>
                    <a:ext uri="{9D8B030D-6E8A-4147-A177-3AD203B41FA5}">
                      <a16:colId xmlns:a16="http://schemas.microsoft.com/office/drawing/2014/main" val="2792048699"/>
                    </a:ext>
                  </a:extLst>
                </a:gridCol>
                <a:gridCol w="1269752">
                  <a:extLst>
                    <a:ext uri="{9D8B030D-6E8A-4147-A177-3AD203B41FA5}">
                      <a16:colId xmlns:a16="http://schemas.microsoft.com/office/drawing/2014/main" val="1178022846"/>
                    </a:ext>
                  </a:extLst>
                </a:gridCol>
                <a:gridCol w="1250801">
                  <a:extLst>
                    <a:ext uri="{9D8B030D-6E8A-4147-A177-3AD203B41FA5}">
                      <a16:colId xmlns:a16="http://schemas.microsoft.com/office/drawing/2014/main" val="1886608062"/>
                    </a:ext>
                  </a:extLst>
                </a:gridCol>
                <a:gridCol w="909673">
                  <a:extLst>
                    <a:ext uri="{9D8B030D-6E8A-4147-A177-3AD203B41FA5}">
                      <a16:colId xmlns:a16="http://schemas.microsoft.com/office/drawing/2014/main" val="1119571170"/>
                    </a:ext>
                  </a:extLst>
                </a:gridCol>
                <a:gridCol w="1137092">
                  <a:extLst>
                    <a:ext uri="{9D8B030D-6E8A-4147-A177-3AD203B41FA5}">
                      <a16:colId xmlns:a16="http://schemas.microsoft.com/office/drawing/2014/main" val="3262375202"/>
                    </a:ext>
                  </a:extLst>
                </a:gridCol>
                <a:gridCol w="1080237">
                  <a:extLst>
                    <a:ext uri="{9D8B030D-6E8A-4147-A177-3AD203B41FA5}">
                      <a16:colId xmlns:a16="http://schemas.microsoft.com/office/drawing/2014/main" val="2405108305"/>
                    </a:ext>
                  </a:extLst>
                </a:gridCol>
                <a:gridCol w="1252079">
                  <a:extLst>
                    <a:ext uri="{9D8B030D-6E8A-4147-A177-3AD203B41FA5}">
                      <a16:colId xmlns:a16="http://schemas.microsoft.com/office/drawing/2014/main" val="148697320"/>
                    </a:ext>
                  </a:extLst>
                </a:gridCol>
              </a:tblGrid>
              <a:tr h="96298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物料代码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物料描述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产品型号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产品尺寸</a:t>
                      </a:r>
                      <a:r>
                        <a:rPr lang="en-US" altLang="zh-CN" sz="2000" u="none" strike="noStrike" dirty="0">
                          <a:effectLst/>
                        </a:rPr>
                        <a:t>(</a:t>
                      </a:r>
                      <a:r>
                        <a:rPr lang="en-US" sz="2000" u="none" strike="noStrike" dirty="0">
                          <a:effectLst/>
                        </a:rPr>
                        <a:t>mm)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功率</a:t>
                      </a:r>
                      <a:r>
                        <a:rPr lang="en-US" altLang="zh-CN" sz="2000" u="none" strike="noStrike" dirty="0">
                          <a:effectLst/>
                        </a:rPr>
                        <a:t>(</a:t>
                      </a:r>
                      <a:r>
                        <a:rPr lang="en-US" sz="2000" u="none" strike="noStrike" dirty="0">
                          <a:effectLst/>
                        </a:rPr>
                        <a:t>W)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功率因数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色温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显色指数</a:t>
                      </a:r>
                      <a:r>
                        <a:rPr lang="en-US" altLang="zh-CN" sz="2000" u="none" strike="noStrike" dirty="0">
                          <a:effectLst/>
                        </a:rPr>
                        <a:t>(</a:t>
                      </a:r>
                      <a:r>
                        <a:rPr lang="en-US" sz="2000" u="none" strike="noStrike" dirty="0">
                          <a:effectLst/>
                        </a:rPr>
                        <a:t>Ra)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蓝光危害等级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宣称光通量</a:t>
                      </a:r>
                      <a:r>
                        <a:rPr lang="en-US" altLang="zh-CN" sz="2000" u="none" strike="noStrike" dirty="0">
                          <a:effectLst/>
                        </a:rPr>
                        <a:t>(</a:t>
                      </a:r>
                      <a:r>
                        <a:rPr lang="en-US" sz="2000" u="none" strike="noStrike" dirty="0" err="1">
                          <a:effectLst/>
                        </a:rPr>
                        <a:t>lm</a:t>
                      </a:r>
                      <a:r>
                        <a:rPr lang="en-US" sz="2000" u="none" strike="noStrike" dirty="0">
                          <a:effectLst/>
                        </a:rPr>
                        <a:t>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光效</a:t>
                      </a:r>
                      <a:r>
                        <a:rPr lang="en-US" altLang="zh-CN" sz="2000" u="none" strike="noStrike" dirty="0">
                          <a:effectLst/>
                        </a:rPr>
                        <a:t>(</a:t>
                      </a:r>
                      <a:r>
                        <a:rPr lang="en-US" sz="2000" u="none" strike="noStrike" dirty="0" err="1">
                          <a:effectLst/>
                        </a:rPr>
                        <a:t>lm</a:t>
                      </a:r>
                      <a:r>
                        <a:rPr lang="en-US" sz="2000" u="none" strike="noStrike" dirty="0">
                          <a:effectLst/>
                        </a:rPr>
                        <a:t>/W)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质量健康照明等级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波动深度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能效等级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绝缘等级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 * IPXX</a:t>
                      </a:r>
                      <a:r>
                        <a:rPr lang="zh-CN" altLang="en-US" sz="2000" u="none" strike="noStrike" dirty="0">
                          <a:effectLst/>
                        </a:rPr>
                        <a:t>等级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effectLst/>
                        </a:rPr>
                        <a:t> * 产品主体材质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876401"/>
                  </a:ext>
                </a:extLst>
              </a:tr>
              <a:tr h="990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524001013700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effectLst/>
                        </a:rPr>
                        <a:t>悦居直下</a:t>
                      </a:r>
                      <a:r>
                        <a:rPr lang="en-US" altLang="zh-CN" sz="1800" u="none" strike="noStrike" dirty="0">
                          <a:effectLst/>
                        </a:rPr>
                        <a:t>-</a:t>
                      </a:r>
                      <a:r>
                        <a:rPr lang="en-US" sz="1800" u="none" strike="noStrike" dirty="0">
                          <a:effectLst/>
                        </a:rPr>
                        <a:t>J3030-18W-930-HPF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LDP3030-YJ189080301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300×300×35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18W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3000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90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RG0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1280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71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effectLst/>
                        </a:rPr>
                        <a:t>无可视频闪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Ⅲ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Ⅱ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IP20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白色</a:t>
                      </a:r>
                      <a:r>
                        <a:rPr lang="en-US" altLang="zh-CN" sz="1800" u="none" strike="noStrike">
                          <a:effectLst/>
                        </a:rPr>
                        <a:t>/</a:t>
                      </a:r>
                      <a:r>
                        <a:rPr lang="en-US" sz="1800" u="none" strike="noStrike">
                          <a:effectLst/>
                        </a:rPr>
                        <a:t>PP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extLst>
                  <a:ext uri="{0D108BD9-81ED-4DB2-BD59-A6C34878D82A}">
                    <a16:rowId xmlns:a16="http://schemas.microsoft.com/office/drawing/2014/main" val="1636749654"/>
                  </a:ext>
                </a:extLst>
              </a:tr>
              <a:tr h="990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524001013800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悦居直下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en-US" sz="1800" u="none" strike="noStrike">
                          <a:effectLst/>
                        </a:rPr>
                        <a:t>J3030-18W-940-HPF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LDP3030-YJ189080401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300×300×35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18W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4000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90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1330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74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无可视频闪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Ⅲ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Ⅱ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IP20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白色</a:t>
                      </a:r>
                      <a:r>
                        <a:rPr lang="en-US" altLang="zh-CN" sz="1800" u="none" strike="noStrike">
                          <a:effectLst/>
                        </a:rPr>
                        <a:t>/</a:t>
                      </a:r>
                      <a:r>
                        <a:rPr lang="en-US" sz="1800" u="none" strike="noStrike">
                          <a:effectLst/>
                        </a:rPr>
                        <a:t>PP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extLst>
                  <a:ext uri="{0D108BD9-81ED-4DB2-BD59-A6C34878D82A}">
                    <a16:rowId xmlns:a16="http://schemas.microsoft.com/office/drawing/2014/main" val="2981177037"/>
                  </a:ext>
                </a:extLst>
              </a:tr>
              <a:tr h="990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524001013900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悦居直下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en-US" sz="1800" u="none" strike="noStrike">
                          <a:effectLst/>
                        </a:rPr>
                        <a:t>J3030-18W-957-HPF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LDP3030-YJ189080571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300×300×35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18W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5700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90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1330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74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effectLst/>
                        </a:rPr>
                        <a:t>无可视频闪</a:t>
                      </a:r>
                      <a:endParaRPr lang="zh-CN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Ⅲ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Ⅱ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IP20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白色</a:t>
                      </a:r>
                      <a:r>
                        <a:rPr lang="en-US" altLang="zh-CN" sz="1800" u="none" strike="noStrike">
                          <a:effectLst/>
                        </a:rPr>
                        <a:t>/</a:t>
                      </a:r>
                      <a:r>
                        <a:rPr lang="en-US" sz="1800" u="none" strike="noStrike">
                          <a:effectLst/>
                        </a:rPr>
                        <a:t>PP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extLst>
                  <a:ext uri="{0D108BD9-81ED-4DB2-BD59-A6C34878D82A}">
                    <a16:rowId xmlns:a16="http://schemas.microsoft.com/office/drawing/2014/main" val="2684521668"/>
                  </a:ext>
                </a:extLst>
              </a:tr>
              <a:tr h="990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524001014000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悦居直下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en-US" sz="1800" u="none" strike="noStrike">
                          <a:effectLst/>
                        </a:rPr>
                        <a:t>J3060-24W-930-HPF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LDP3060-YJ249080301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300×600×35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24W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3000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90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1700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71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无可视频闪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Ⅲ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Ⅱ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IP20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effectLst/>
                        </a:rPr>
                        <a:t>白色</a:t>
                      </a:r>
                      <a:r>
                        <a:rPr lang="en-US" altLang="zh-CN" sz="1800" u="none" strike="noStrike" dirty="0">
                          <a:effectLst/>
                        </a:rPr>
                        <a:t>/</a:t>
                      </a:r>
                      <a:r>
                        <a:rPr lang="en-US" sz="1800" u="none" strike="noStrike" dirty="0">
                          <a:effectLst/>
                        </a:rPr>
                        <a:t>PP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extLst>
                  <a:ext uri="{0D108BD9-81ED-4DB2-BD59-A6C34878D82A}">
                    <a16:rowId xmlns:a16="http://schemas.microsoft.com/office/drawing/2014/main" val="490276055"/>
                  </a:ext>
                </a:extLst>
              </a:tr>
              <a:tr h="990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524001014100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悦居直下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en-US" sz="1800" u="none" strike="noStrike">
                          <a:effectLst/>
                        </a:rPr>
                        <a:t>J3060-24W-940-HPF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LDP3060-YJ249080401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300×600×35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24W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4000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90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1780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74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无可视频闪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Ⅲ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Ⅱ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IP20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effectLst/>
                        </a:rPr>
                        <a:t>白色</a:t>
                      </a:r>
                      <a:r>
                        <a:rPr lang="en-US" altLang="zh-CN" sz="1800" u="none" strike="noStrike" dirty="0">
                          <a:effectLst/>
                        </a:rPr>
                        <a:t>/</a:t>
                      </a:r>
                      <a:r>
                        <a:rPr lang="en-US" sz="1800" u="none" strike="noStrike" dirty="0">
                          <a:effectLst/>
                        </a:rPr>
                        <a:t>PP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extLst>
                  <a:ext uri="{0D108BD9-81ED-4DB2-BD59-A6C34878D82A}">
                    <a16:rowId xmlns:a16="http://schemas.microsoft.com/office/drawing/2014/main" val="1805445853"/>
                  </a:ext>
                </a:extLst>
              </a:tr>
              <a:tr h="9900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524001014200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悦居直下</a:t>
                      </a:r>
                      <a:r>
                        <a:rPr lang="en-US" altLang="zh-CN" sz="1800" u="none" strike="noStrike">
                          <a:effectLst/>
                        </a:rPr>
                        <a:t>-</a:t>
                      </a:r>
                      <a:r>
                        <a:rPr lang="en-US" sz="1800" u="none" strike="noStrike">
                          <a:effectLst/>
                        </a:rPr>
                        <a:t>J3060-24W-957-HPF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LDP3060-YJ249080571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300×600×35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24W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</a:t>
                      </a:r>
                      <a:endParaRPr lang="en-US" altLang="zh-CN" sz="18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5700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90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</a:rPr>
                        <a:t>RG0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 dirty="0">
                          <a:effectLst/>
                        </a:rPr>
                        <a:t>1780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74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RG0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>
                          <a:effectLst/>
                        </a:rPr>
                        <a:t>无可视频闪</a:t>
                      </a:r>
                      <a:endParaRPr lang="zh-CN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Ⅲ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u="none" strike="noStrike">
                          <a:effectLst/>
                        </a:rPr>
                        <a:t>Ⅱ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</a:rPr>
                        <a:t>IP20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effectLst/>
                        </a:rPr>
                        <a:t>白色</a:t>
                      </a:r>
                      <a:r>
                        <a:rPr lang="en-US" altLang="zh-CN" sz="1800" u="none" strike="noStrike" dirty="0">
                          <a:effectLst/>
                        </a:rPr>
                        <a:t>/</a:t>
                      </a:r>
                      <a:r>
                        <a:rPr lang="en-US" sz="1800" u="none" strike="noStrike" dirty="0">
                          <a:effectLst/>
                        </a:rPr>
                        <a:t>PP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185" marR="4185" marT="4185" marB="0" anchor="ctr"/>
                </a:tc>
                <a:extLst>
                  <a:ext uri="{0D108BD9-81ED-4DB2-BD59-A6C34878D82A}">
                    <a16:rowId xmlns:a16="http://schemas.microsoft.com/office/drawing/2014/main" val="3333759176"/>
                  </a:ext>
                </a:extLst>
              </a:tr>
            </a:tbl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F4309F0-7AFF-4B57-B275-908399448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486101"/>
              </p:ext>
            </p:extLst>
          </p:nvPr>
        </p:nvGraphicFramePr>
        <p:xfrm>
          <a:off x="22109813" y="11309822"/>
          <a:ext cx="1962150" cy="1778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Worksheet" showAsIcon="1" r:id="rId6" imgW="914400" imgH="828872" progId="Excel.Sheet.12">
                  <p:embed/>
                </p:oleObj>
              </mc:Choice>
              <mc:Fallback>
                <p:oleObj name="Worksheet" showAsIcon="1" r:id="rId6" imgW="914400" imgH="82887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109813" y="11309822"/>
                        <a:ext cx="1962150" cy="1778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456002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62D076FC-D347-41D4-BD04-3D4121E1F9CF}"/>
              </a:ext>
            </a:extLst>
          </p:cNvPr>
          <p:cNvGrpSpPr/>
          <p:nvPr/>
        </p:nvGrpSpPr>
        <p:grpSpPr>
          <a:xfrm>
            <a:off x="901513" y="738569"/>
            <a:ext cx="4501232" cy="926852"/>
            <a:chOff x="2307464" y="2175908"/>
            <a:chExt cx="4501232" cy="926852"/>
          </a:xfrm>
        </p:grpSpPr>
        <p:sp>
          <p:nvSpPr>
            <p:cNvPr id="307" name="矩形"/>
            <p:cNvSpPr/>
            <p:nvPr/>
          </p:nvSpPr>
          <p:spPr>
            <a:xfrm>
              <a:off x="2405144" y="2993978"/>
              <a:ext cx="1270001" cy="108782"/>
            </a:xfrm>
            <a:prstGeom prst="rect">
              <a:avLst/>
            </a:prstGeom>
            <a:solidFill>
              <a:srgbClr val="003B9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 panose="02000503000000020004"/>
                  <a:ea typeface="Helvetica Neue Medium" panose="02000503000000020004"/>
                  <a:cs typeface="Helvetica Neue Medium" panose="02000503000000020004"/>
                  <a:sym typeface="Helvetica Neue Medium" panose="02000503000000020004"/>
                </a:defRPr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主标题示例"/>
            <p:cNvSpPr txBox="1"/>
            <p:nvPr/>
          </p:nvSpPr>
          <p:spPr>
            <a:xfrm>
              <a:off x="2307464" y="2175908"/>
              <a:ext cx="4501232" cy="718145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50800" tIns="50800" rIns="50800" bIns="50800" anchor="ctr">
              <a:spAutoFit/>
            </a:bodyPr>
            <a:lstStyle>
              <a:lvl1pPr algn="l">
                <a:lnSpc>
                  <a:spcPct val="80000"/>
                </a:lnSpc>
                <a:defRPr sz="5000" spc="-100">
                  <a:solidFill>
                    <a:srgbClr val="000000"/>
                  </a:solidFill>
                  <a:latin typeface="FZLanTingHeiS-DB1-GB" panose="02000000000000000000" charset="-122"/>
                  <a:ea typeface="FZLanTingHeiS-DB1-GB" panose="02000000000000000000" charset="-122"/>
                  <a:cs typeface="FZLanTingHeiS-DB1-GB" panose="02000000000000000000" charset="-122"/>
                  <a:sym typeface="FZLanTingHeiS-DB1-GB" panose="02000000000000000000" charset="-122"/>
                </a:defRPr>
              </a:lvl1pPr>
            </a:lstStyle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产品迭代参照表</a:t>
              </a:r>
            </a:p>
          </p:txBody>
        </p:sp>
      </p:grpSp>
      <p:sp>
        <p:nvSpPr>
          <p:cNvPr id="319" name="线条"/>
          <p:cNvSpPr/>
          <p:nvPr/>
        </p:nvSpPr>
        <p:spPr>
          <a:xfrm flipH="1" flipV="1">
            <a:off x="3673973" y="12840692"/>
            <a:ext cx="19808514" cy="1"/>
          </a:xfrm>
          <a:prstGeom prst="line">
            <a:avLst/>
          </a:prstGeom>
          <a:ln w="50800" cap="rnd">
            <a:solidFill>
              <a:srgbClr val="000000"/>
            </a:solidFill>
            <a:custDash>
              <a:ds d="1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像" descr="图像">
            <a:extLst>
              <a:ext uri="{FF2B5EF4-FFF2-40B4-BE49-F238E27FC236}">
                <a16:creationId xmlns:a16="http://schemas.microsoft.com/office/drawing/2014/main" id="{6658591D-3C4C-410A-8031-6854A515B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9319" y="627980"/>
            <a:ext cx="1133168" cy="2473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8" name="图像" descr="图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856" y="12676306"/>
            <a:ext cx="2816779" cy="3287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220C504-7265-4DF2-8143-85034A1B0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179740"/>
              </p:ext>
            </p:extLst>
          </p:nvPr>
        </p:nvGraphicFramePr>
        <p:xfrm>
          <a:off x="999193" y="2362200"/>
          <a:ext cx="21482051" cy="5946629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3504585">
                  <a:extLst>
                    <a:ext uri="{9D8B030D-6E8A-4147-A177-3AD203B41FA5}">
                      <a16:colId xmlns:a16="http://schemas.microsoft.com/office/drawing/2014/main" val="3076768905"/>
                    </a:ext>
                  </a:extLst>
                </a:gridCol>
                <a:gridCol w="6455814">
                  <a:extLst>
                    <a:ext uri="{9D8B030D-6E8A-4147-A177-3AD203B41FA5}">
                      <a16:colId xmlns:a16="http://schemas.microsoft.com/office/drawing/2014/main" val="3381410328"/>
                    </a:ext>
                  </a:extLst>
                </a:gridCol>
                <a:gridCol w="2193660">
                  <a:extLst>
                    <a:ext uri="{9D8B030D-6E8A-4147-A177-3AD203B41FA5}">
                      <a16:colId xmlns:a16="http://schemas.microsoft.com/office/drawing/2014/main" val="3258529168"/>
                    </a:ext>
                  </a:extLst>
                </a:gridCol>
                <a:gridCol w="5988097">
                  <a:extLst>
                    <a:ext uri="{9D8B030D-6E8A-4147-A177-3AD203B41FA5}">
                      <a16:colId xmlns:a16="http://schemas.microsoft.com/office/drawing/2014/main" val="438075008"/>
                    </a:ext>
                  </a:extLst>
                </a:gridCol>
                <a:gridCol w="3339895">
                  <a:extLst>
                    <a:ext uri="{9D8B030D-6E8A-4147-A177-3AD203B41FA5}">
                      <a16:colId xmlns:a16="http://schemas.microsoft.com/office/drawing/2014/main" val="2483474296"/>
                    </a:ext>
                  </a:extLst>
                </a:gridCol>
              </a:tblGrid>
              <a:tr h="58211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8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老品</a:t>
                      </a:r>
                      <a:endParaRPr lang="zh-CN" altLang="en-US" sz="28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28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新品</a:t>
                      </a:r>
                      <a:endParaRPr lang="zh-CN" altLang="en-US" sz="28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474370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物料编码</a:t>
                      </a:r>
                      <a:endParaRPr lang="zh-CN" altLang="en-US" sz="20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物料描述</a:t>
                      </a:r>
                      <a:endParaRPr lang="zh-CN" altLang="en-US" sz="20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物料代码</a:t>
                      </a:r>
                      <a:endParaRPr lang="zh-CN" altLang="en-US" sz="2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物料描述</a:t>
                      </a:r>
                      <a:endParaRPr lang="zh-CN" altLang="en-US" sz="2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8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产品型号</a:t>
                      </a:r>
                      <a:endParaRPr lang="zh-CN" altLang="en-US" sz="28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771358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524001012000</a:t>
                      </a:r>
                      <a:endParaRPr lang="en-US" altLang="zh-CN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MQ3030-D18-01930-</a:t>
                      </a:r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J3030-18W-930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524001013700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J3030-18W-930-HPF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LDP3030-YJ189080301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140643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524001012400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MQ3030-D18-01940-</a:t>
                      </a:r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J3030-18W-940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524001013800</a:t>
                      </a:r>
                      <a:endParaRPr lang="en-US" altLang="zh-CN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J3030-18W-940-HPF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LDP3030-YJ189080401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276447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524001013000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MQ3060-D24-01940-</a:t>
                      </a:r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J3060-24W-957-PZ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524001013900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J3030-18W-957-HPF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LDP3030-YJ189080571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546112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524001012100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MQ3060-D24-01930-</a:t>
                      </a:r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J3060-24W-930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524001014000</a:t>
                      </a:r>
                      <a:endParaRPr lang="en-US" altLang="zh-CN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J3060-24W-930-HPF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LDP3060-YJ249080301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25451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524001012500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MQ3060-D24-01940-</a:t>
                      </a:r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J3060-24W-940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524001014100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J3060-24W-940-HPF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LDP3060-YJ249080401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974562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524001013100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MQ3030-D18-01940-</a:t>
                      </a:r>
                      <a:r>
                        <a:rPr lang="zh-CN" alt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J3030-18W-957-PZ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524001014200</a:t>
                      </a:r>
                      <a:endParaRPr lang="en-US" altLang="zh-CN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J3060-24W-957-HPF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LDP3060-YJ249080571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708101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524001012200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MQ3030-D18-01935-</a:t>
                      </a:r>
                      <a:r>
                        <a:rPr lang="zh-CN" alt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J3030-18W-935</a:t>
                      </a:r>
                      <a:endParaRPr lang="en-US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8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型号已报备至</a:t>
                      </a:r>
                      <a:r>
                        <a:rPr lang="en-US" altLang="zh-CN" sz="28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3C</a:t>
                      </a:r>
                      <a:r>
                        <a:rPr lang="zh-CN" altLang="en-US" sz="28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证书中</a:t>
                      </a:r>
                      <a:endParaRPr lang="en-US" altLang="zh-CN" sz="280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28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如有需要可通过简单定制申请代码</a:t>
                      </a:r>
                      <a:endParaRPr lang="en-US" altLang="zh-CN" sz="280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0" marR="0" indent="0" algn="ctr" defTabSz="584200" rtl="0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2800" b="1" i="0" u="none" strike="noStrike" cap="none" spc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Helvetica Neue" panose="02000503000000020004"/>
                        </a:rPr>
                        <a:t>申请代码时，务必使用此对应型号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LDP3030-YJ189080351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219942"/>
                  </a:ext>
                </a:extLst>
              </a:tr>
              <a:tr h="5821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524001012300</a:t>
                      </a:r>
                      <a:endParaRPr lang="en-US" altLang="zh-CN" sz="20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MQ3060-D24-01935-</a:t>
                      </a:r>
                      <a:r>
                        <a:rPr lang="zh-CN" alt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悦居直下</a:t>
                      </a:r>
                      <a:r>
                        <a:rPr lang="en-US" altLang="zh-CN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-</a:t>
                      </a:r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J3060-24W-935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LDP3060-YJ249080351</a:t>
                      </a:r>
                      <a:endParaRPr lang="en-US" sz="20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3A9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831856"/>
                  </a:ext>
                </a:extLst>
              </a:tr>
            </a:tbl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1ED7AB1-AE56-4F94-AEA2-17B20E6CAD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297705"/>
              </p:ext>
            </p:extLst>
          </p:nvPr>
        </p:nvGraphicFramePr>
        <p:xfrm>
          <a:off x="21766740" y="11353800"/>
          <a:ext cx="1809750" cy="1640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包装程序外壳对象" showAsIcon="1" r:id="rId6" imgW="914400" imgH="828872" progId="Package">
                  <p:embed/>
                </p:oleObj>
              </mc:Choice>
              <mc:Fallback>
                <p:oleObj name="包装程序外壳对象" showAsIcon="1" r:id="rId6" imgW="914400" imgH="828872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766740" y="11353800"/>
                        <a:ext cx="1809750" cy="1640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B4AB897-2CC8-4B0C-BE20-8984C702DC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823221"/>
              </p:ext>
            </p:extLst>
          </p:nvPr>
        </p:nvGraphicFramePr>
        <p:xfrm>
          <a:off x="20439527" y="11353800"/>
          <a:ext cx="1809750" cy="1640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包装程序外壳对象" showAsIcon="1" r:id="rId8" imgW="914400" imgH="828872" progId="Package">
                  <p:embed/>
                </p:oleObj>
              </mc:Choice>
              <mc:Fallback>
                <p:oleObj name="包装程序外壳对象" showAsIcon="1" r:id="rId8" imgW="914400" imgH="828872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439527" y="11353800"/>
                        <a:ext cx="1809750" cy="1640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57374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ppt封面3.png" descr="ppt封面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10" name="谢谢观看！"/>
          <p:cNvSpPr txBox="1">
            <a:spLocks noGrp="1"/>
          </p:cNvSpPr>
          <p:nvPr>
            <p:ph type="ctrTitle"/>
          </p:nvPr>
        </p:nvSpPr>
        <p:spPr>
          <a:xfrm>
            <a:off x="3216719" y="6115050"/>
            <a:ext cx="8841931" cy="14859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1438910">
              <a:defRPr sz="6845" b="0" spc="-136">
                <a:solidFill>
                  <a:srgbClr val="1A4395"/>
                </a:solidFill>
                <a:latin typeface="FZLanTingHeiS-DB1-GB" panose="02000000000000000000" charset="-122"/>
                <a:ea typeface="FZLanTingHeiS-DB1-GB" panose="02000000000000000000" charset="-122"/>
                <a:cs typeface="FZLanTingHeiS-DB1-GB" panose="02000000000000000000" charset="-122"/>
                <a:sym typeface="FZLanTingHeiS-DB1-GB" panose="02000000000000000000" charset="-122"/>
              </a:defRPr>
            </a:lvl1pPr>
          </a:lstStyle>
          <a:p>
            <a:r>
              <a:rPr lang="en-US" altLang="zh-CN" sz="1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sz="1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7.3,&quot;left&quot;:66.8,&quot;top&quot;:399.15,&quot;width&quot;:538.55}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1389</TotalTime>
  <Words>1714</Words>
  <Application>Microsoft Office PowerPoint</Application>
  <PresentationFormat>自定义</PresentationFormat>
  <Paragraphs>266</Paragraphs>
  <Slides>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微软雅黑</vt:lpstr>
      <vt:lpstr>Helvetica Neue</vt:lpstr>
      <vt:lpstr>Helvetica Neue Medium</vt:lpstr>
      <vt:lpstr>FZLanTingHeiS-DB1-GB</vt:lpstr>
      <vt:lpstr>FZLanTingHeiS-EL-GB</vt:lpstr>
      <vt:lpstr>Arial</vt:lpstr>
      <vt:lpstr>21_BasicWhite</vt:lpstr>
      <vt:lpstr>Worksheet</vt:lpstr>
      <vt:lpstr>包装程序外壳对象</vt:lpstr>
      <vt:lpstr>产品上市介绍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项目标题示例</dc:title>
  <dc:creator>Dongqing Xu(徐冬晴)</dc:creator>
  <cp:lastModifiedBy>Dongqing Xu(徐冬晴)</cp:lastModifiedBy>
  <cp:revision>46</cp:revision>
  <dcterms:created xsi:type="dcterms:W3CDTF">2025-02-27T06:33:55Z</dcterms:created>
  <dcterms:modified xsi:type="dcterms:W3CDTF">2025-04-17T08:27:41Z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9FF2FD03F6A10E1E91D3BF67B20BF00A_42</vt:lpwstr>
  </property>
  <property fmtid="{D5CDD505-2E9C-101B-9397-08002B2CF9AE}" pid="3" name="KSOProductBuildVer">
    <vt:lpwstr>2052-6.7.1.8828</vt:lpwstr>
  </property>
</Properties>
</file>