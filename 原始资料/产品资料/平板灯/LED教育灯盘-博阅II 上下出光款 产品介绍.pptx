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6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89" r:id="rId4"/>
    <p:sldId id="257" r:id="rId6"/>
    <p:sldId id="290" r:id="rId7"/>
    <p:sldId id="291" r:id="rId8"/>
    <p:sldId id="312" r:id="rId9"/>
    <p:sldId id="316" r:id="rId10"/>
    <p:sldId id="311" r:id="rId11"/>
    <p:sldId id="261" r:id="rId12"/>
    <p:sldId id="308" r:id="rId13"/>
    <p:sldId id="313" r:id="rId14"/>
    <p:sldId id="315" r:id="rId15"/>
    <p:sldId id="318" r:id="rId16"/>
    <p:sldId id="319" r:id="rId17"/>
    <p:sldId id="326" r:id="rId18"/>
    <p:sldId id="269" r:id="rId19"/>
    <p:sldId id="267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gqing xu(徐冬晴)" initials="dx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47A4"/>
    <a:srgbClr val="003B87"/>
    <a:srgbClr val="525252"/>
    <a:srgbClr val="BEA640"/>
    <a:srgbClr val="C7A252"/>
    <a:srgbClr val="D2E735"/>
    <a:srgbClr val="DBC491"/>
    <a:srgbClr val="303030"/>
    <a:srgbClr val="CDCDCD"/>
    <a:srgbClr val="EEF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684" autoAdjust="0"/>
    <p:restoredTop sz="95256" autoAdjust="0"/>
  </p:normalViewPr>
  <p:slideViewPr>
    <p:cSldViewPr snapToGrid="0" snapToObjects="1">
      <p:cViewPr varScale="1">
        <p:scale>
          <a:sx n="83" d="100"/>
          <a:sy n="83" d="100"/>
        </p:scale>
        <p:origin x="21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6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180F9-FB47-4533-B074-D0A3DFAEC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0EA360-451C-4267-8F76-81A1F3C8D8C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FOLIE pos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91365" y="3923010"/>
            <a:ext cx="11163979" cy="1286327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anchor="t" anchorCtr="0">
            <a:noAutofit/>
          </a:bodyPr>
          <a:lstStyle>
            <a:lvl1pPr>
              <a:lnSpc>
                <a:spcPts val="4970"/>
              </a:lnSpc>
              <a:defRPr sz="5000" b="0" baseline="0">
                <a:solidFill>
                  <a:schemeClr val="tx1"/>
                </a:solidFill>
                <a:latin typeface="AvenirLTStd-Black" pitchFamily="34" charset="0"/>
              </a:defRPr>
            </a:lvl1pPr>
          </a:lstStyle>
          <a:p>
            <a:pPr lvl="0"/>
            <a:r>
              <a:rPr lang="de-DE" dirty="0"/>
              <a:t>Zwischentitel positiv auf </a:t>
            </a:r>
            <a:br>
              <a:rPr lang="de-DE" dirty="0"/>
            </a:br>
            <a:r>
              <a:rPr lang="de-DE" dirty="0"/>
              <a:t>Weiß oder hellem Bild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482821" y="5184312"/>
            <a:ext cx="11175238" cy="1286327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 algn="l">
              <a:lnSpc>
                <a:spcPts val="4970"/>
              </a:lnSpc>
              <a:defRPr sz="5000" baseline="0"/>
            </a:lvl1pPr>
            <a:lvl2pPr>
              <a:defRPr sz="2660"/>
            </a:lvl2pPr>
            <a:lvl3pPr>
              <a:defRPr sz="2660"/>
            </a:lvl3pPr>
            <a:lvl4pPr>
              <a:defRPr sz="2660"/>
            </a:lvl4pPr>
            <a:lvl5pPr>
              <a:defRPr sz="2660"/>
            </a:lvl5pPr>
          </a:lstStyle>
          <a:p>
            <a:pPr lvl="0"/>
            <a:r>
              <a:rPr lang="de-DE" dirty="0"/>
              <a:t>Erläuterung im Untertitel – </a:t>
            </a:r>
            <a:endParaRPr lang="de-DE" dirty="0"/>
          </a:p>
          <a:p>
            <a:pPr lvl="0"/>
            <a:r>
              <a:rPr lang="de-DE" dirty="0"/>
              <a:t>maximal zweizeilig</a:t>
            </a:r>
            <a:endParaRPr lang="de-DE" dirty="0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11238149" y="6564937"/>
            <a:ext cx="419910" cy="129780"/>
          </a:xfrm>
          <a:prstGeom prst="rect">
            <a:avLst/>
          </a:prstGeom>
        </p:spPr>
        <p:txBody>
          <a:bodyPr/>
          <a:lstStyle>
            <a:lvl1pPr>
              <a:defRPr sz="645">
                <a:latin typeface="AvenirLTStd-Black" pitchFamily="34" charset="0"/>
              </a:defRPr>
            </a:lvl1pPr>
          </a:lstStyle>
          <a:p>
            <a:fld id="{6EAC2BBD-F2A8-4BDD-BF84-CE829B0F40C5}" type="slidenum">
              <a:rPr lang="en-US" smtClean="0"/>
            </a:fld>
            <a:endParaRPr lang="en-US"/>
          </a:p>
        </p:txBody>
      </p:sp>
      <p:sp>
        <p:nvSpPr>
          <p:cNvPr id="7" name="Textfeld 9"/>
          <p:cNvSpPr txBox="1"/>
          <p:nvPr userDrawn="1"/>
        </p:nvSpPr>
        <p:spPr>
          <a:xfrm>
            <a:off x="491366" y="6696877"/>
            <a:ext cx="10464850" cy="9925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645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</a:t>
            </a:r>
            <a:r>
              <a:rPr lang="en-US" altLang="zh-CN" sz="645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</a:t>
            </a:r>
            <a:r>
              <a:rPr lang="en-US" altLang="zh-CN" sz="645" baseline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</a:t>
            </a:r>
            <a:r>
              <a:rPr lang="en-US" sz="645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2020 </a:t>
            </a:r>
            <a:r>
              <a:rPr lang="en-US" sz="645" baseline="0" dirty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I  Confidential</a:t>
            </a:r>
            <a:endParaRPr lang="en-US" sz="645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433224" y="6397261"/>
            <a:ext cx="1771639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50" dirty="0">
                <a:solidFill>
                  <a:schemeClr val="bg1"/>
                </a:solidFill>
                <a:latin typeface="FZLanTingHeiS-M-GB" panose="02000000000000000000" pitchFamily="2" charset="-122"/>
                <a:ea typeface="FZLanTingHeiS-M-GB" panose="02000000000000000000" pitchFamily="2" charset="-122"/>
              </a:rPr>
              <a:t>OPPLE.COM</a:t>
            </a:r>
            <a:endParaRPr kumimoji="1" lang="zh-CN" altLang="en-US" sz="850" dirty="0">
              <a:solidFill>
                <a:schemeClr val="bg1"/>
              </a:solidFill>
              <a:latin typeface="FZLanTingHeiS-M-GB" panose="02000000000000000000" pitchFamily="2" charset="-122"/>
              <a:ea typeface="FZLanTingHeiS-M-GB" panose="020000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microsoft.com/office/2007/relationships/hdphoto" Target="../media/image8.wdp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emf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microsoft.com/office/2007/relationships/hdphoto" Target="../media/image24.wdp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6.png"/><Relationship Id="rId7" Type="http://schemas.microsoft.com/office/2007/relationships/hdphoto" Target="../media/image35.wdp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.xml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jpe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7" Type="http://schemas.openxmlformats.org/officeDocument/2006/relationships/slideLayout" Target="../slideLayouts/slideLayout7.xml"/><Relationship Id="rId16" Type="http://schemas.microsoft.com/office/2007/relationships/hdphoto" Target="../media/image35.wdp"/><Relationship Id="rId15" Type="http://schemas.openxmlformats.org/officeDocument/2006/relationships/image" Target="../media/image34.png"/><Relationship Id="rId14" Type="http://schemas.openxmlformats.org/officeDocument/2006/relationships/image" Target="../media/image33.png"/><Relationship Id="rId13" Type="http://schemas.openxmlformats.org/officeDocument/2006/relationships/image" Target="../media/image48.png"/><Relationship Id="rId12" Type="http://schemas.openxmlformats.org/officeDocument/2006/relationships/image" Target="../media/image47.png"/><Relationship Id="rId11" Type="http://schemas.openxmlformats.org/officeDocument/2006/relationships/image" Target="../media/image46.png"/><Relationship Id="rId10" Type="http://schemas.openxmlformats.org/officeDocument/2006/relationships/image" Target="../media/image45.png"/><Relationship Id="rId1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microsoft.com/office/2007/relationships/hdphoto" Target="../media/image57.wdp"/><Relationship Id="rId5" Type="http://schemas.openxmlformats.org/officeDocument/2006/relationships/image" Target="../media/image56.png"/><Relationship Id="rId4" Type="http://schemas.openxmlformats.org/officeDocument/2006/relationships/image" Target="../media/image55.jpeg"/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63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59.jpeg"/><Relationship Id="rId2" Type="http://schemas.openxmlformats.org/officeDocument/2006/relationships/image" Target="../media/image29.png"/><Relationship Id="rId1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png"/><Relationship Id="rId3" Type="http://schemas.openxmlformats.org/officeDocument/2006/relationships/tags" Target="../tags/tag3.xml"/><Relationship Id="rId2" Type="http://schemas.openxmlformats.org/officeDocument/2006/relationships/image" Target="../media/image21.png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4.png"/><Relationship Id="rId3" Type="http://schemas.openxmlformats.org/officeDocument/2006/relationships/tags" Target="../tags/tag5.xml"/><Relationship Id="rId2" Type="http://schemas.openxmlformats.org/officeDocument/2006/relationships/image" Target="../media/image21.png"/><Relationship Id="rId1" Type="http://schemas.openxmlformats.org/officeDocument/2006/relationships/tags" Target="../tags/tag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1" Type="http://schemas.openxmlformats.org/officeDocument/2006/relationships/image" Target="../media/image6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80410" y="5290485"/>
            <a:ext cx="516561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cap="all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教育照明产品包</a:t>
            </a:r>
            <a:r>
              <a:rPr lang="en-US" altLang="zh-CN" sz="3200" cap="all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en-US" sz="3200" cap="all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博阅</a:t>
            </a:r>
            <a:r>
              <a:rPr lang="en-US" altLang="zh-CN" sz="3200" cap="all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II</a:t>
            </a:r>
            <a:r>
              <a:rPr lang="zh-CN" altLang="en-US" sz="3200" cap="all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</a:t>
            </a:r>
            <a:endParaRPr lang="en-US" altLang="zh-CN" sz="3200" cap="all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8126" y="6026181"/>
            <a:ext cx="8385294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cap="all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增列</a:t>
            </a:r>
            <a:r>
              <a:rPr lang="en-US" altLang="zh-CN" sz="2400" cap="all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b="1" cap="all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上下出光  </a:t>
            </a:r>
            <a:r>
              <a:rPr lang="zh-CN" altLang="en-US" sz="2400" cap="all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产品介绍</a:t>
            </a:r>
            <a:endParaRPr lang="zh-CN" altLang="en-US" sz="2400" cap="all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"/>
          <p:cNvSpPr/>
          <p:nvPr/>
        </p:nvSpPr>
        <p:spPr>
          <a:xfrm>
            <a:off x="8348407" y="5936467"/>
            <a:ext cx="3667424" cy="837479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121920" tIns="60960" rIns="121920" bIns="60960" anchor="ctr" anchorCtr="0"/>
          <a:lstStyle/>
          <a:p>
            <a:pPr algn="r">
              <a:lnSpc>
                <a:spcPct val="150000"/>
              </a:lnSpc>
            </a:pPr>
            <a:r>
              <a:rPr lang="zh-CN" altLang="en-US" sz="1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产品管理与营销工程部 </a:t>
            </a:r>
            <a:r>
              <a:rPr lang="en-US" altLang="zh-CN" sz="1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 </a:t>
            </a:r>
            <a:r>
              <a:rPr lang="zh-CN" altLang="en-US" sz="1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照明产品管理室</a:t>
            </a:r>
            <a:endParaRPr lang="en-US" altLang="zh-CN" sz="11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n-US" altLang="zh-CN" sz="1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2022</a:t>
            </a:r>
            <a:r>
              <a:rPr lang="zh-CN" altLang="en-US" sz="1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年</a:t>
            </a:r>
            <a:r>
              <a:rPr lang="en-US" altLang="zh-CN" sz="1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08</a:t>
            </a:r>
            <a:r>
              <a:rPr lang="zh-CN" altLang="en-US" sz="11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月</a:t>
            </a:r>
            <a:endParaRPr lang="zh-CN" altLang="en-US" sz="11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694" y="395582"/>
            <a:ext cx="1219200" cy="508000"/>
          </a:xfrm>
          <a:prstGeom prst="rect">
            <a:avLst/>
          </a:prstGeom>
        </p:spPr>
      </p:pic>
      <p:cxnSp>
        <p:nvCxnSpPr>
          <p:cNvPr id="12" name="直线连接符 11"/>
          <p:cNvCxnSpPr/>
          <p:nvPr/>
        </p:nvCxnSpPr>
        <p:spPr>
          <a:xfrm>
            <a:off x="594857" y="5875260"/>
            <a:ext cx="4374372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0"/>
            <a:ext cx="12192000" cy="5124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45366" y="1665555"/>
            <a:ext cx="5672257" cy="1445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64235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照明要点：桌面维持平均照度</a:t>
            </a:r>
            <a:r>
              <a:rPr lang="en-US" altLang="zh-CN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300lx</a:t>
            </a:r>
            <a:r>
              <a:rPr lang="zh-CN" altLang="en-US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，照度均匀度</a:t>
            </a:r>
            <a:r>
              <a:rPr lang="en-US" altLang="zh-CN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&gt;0.70</a:t>
            </a:r>
            <a:endParaRPr lang="en-US" altLang="zh-CN" sz="1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defTabSz="864235"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</a:t>
            </a:r>
            <a:r>
              <a:rPr lang="zh-CN" altLang="en-US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黑板维持平均照度</a:t>
            </a:r>
            <a:r>
              <a:rPr lang="en-US" altLang="zh-CN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500lx</a:t>
            </a:r>
            <a:r>
              <a:rPr lang="zh-CN" altLang="en-US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，照度均匀度</a:t>
            </a:r>
            <a:r>
              <a:rPr lang="en-US" altLang="zh-CN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&gt;0.80</a:t>
            </a:r>
            <a:endParaRPr lang="en-US" altLang="zh-CN" sz="1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defTabSz="864235">
              <a:lnSpc>
                <a:spcPct val="15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      </a:t>
            </a:r>
            <a:r>
              <a:rPr lang="zh-CN" altLang="en-US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眩光</a:t>
            </a:r>
            <a:r>
              <a:rPr lang="en-US" altLang="zh-CN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UGR&lt;16</a:t>
            </a:r>
            <a:r>
              <a:rPr lang="zh-CN" altLang="en-US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、频闪波动深度</a:t>
            </a:r>
            <a:r>
              <a:rPr lang="en-US" altLang="zh-CN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&lt;1%</a:t>
            </a:r>
            <a:r>
              <a:rPr lang="zh-CN" altLang="en-US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、蓝光危害</a:t>
            </a:r>
            <a:r>
              <a:rPr lang="en-US" altLang="zh-CN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RG0</a:t>
            </a:r>
            <a:endParaRPr lang="en-US" altLang="zh-CN" sz="1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defTabSz="864235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推荐配置：推荐每间教室（</a:t>
            </a:r>
            <a:r>
              <a:rPr lang="en-US" altLang="zh-CN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7.2m*9m </a:t>
            </a:r>
            <a:r>
              <a:rPr lang="zh-CN" altLang="en-US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），使用</a:t>
            </a:r>
            <a:r>
              <a:rPr lang="en-US" altLang="zh-CN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9</a:t>
            </a:r>
            <a:r>
              <a:rPr lang="zh-CN" altLang="en-US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台教室灯</a:t>
            </a:r>
            <a:r>
              <a:rPr lang="en-US" altLang="zh-CN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+3</a:t>
            </a:r>
            <a:r>
              <a:rPr lang="zh-CN" altLang="en-US" sz="12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台黑板灯</a:t>
            </a:r>
            <a:endParaRPr lang="en-US" altLang="zh-CN" sz="1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defTabSz="864235">
              <a:lnSpc>
                <a:spcPct val="150000"/>
              </a:lnSpc>
            </a:pPr>
            <a:endParaRPr lang="en-US" altLang="zh-CN" sz="12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1"/>
          <a:srcRect b="8649"/>
          <a:stretch>
            <a:fillRect/>
          </a:stretch>
        </p:blipFill>
        <p:spPr>
          <a:xfrm>
            <a:off x="0" y="3511665"/>
            <a:ext cx="6333224" cy="3370290"/>
          </a:xfrm>
          <a:prstGeom prst="rect">
            <a:avLst/>
          </a:prstGeom>
        </p:spPr>
      </p:pic>
      <p:pic>
        <p:nvPicPr>
          <p:cNvPr id="1026" name="Picture 2" descr="查看源图像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57"/>
          <a:stretch>
            <a:fillRect/>
          </a:stretch>
        </p:blipFill>
        <p:spPr bwMode="auto">
          <a:xfrm>
            <a:off x="6333224" y="0"/>
            <a:ext cx="5858776" cy="3557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/>
          <p:cNvSpPr/>
          <p:nvPr/>
        </p:nvSpPr>
        <p:spPr>
          <a:xfrm>
            <a:off x="355088" y="1476226"/>
            <a:ext cx="5740912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2C2C2C"/>
                </a:solidFill>
                <a:latin typeface="+mn-ea"/>
                <a:cs typeface="微软雅黑" panose="020B0503020204020204" pitchFamily="34" charset="-122"/>
              </a:rPr>
              <a:t>教室作为学生学习的场所，学生平均每日在教室的时间高达为</a:t>
            </a:r>
            <a:r>
              <a:rPr lang="en-US" altLang="zh-CN" sz="1200" dirty="0">
                <a:solidFill>
                  <a:srgbClr val="2C2C2C"/>
                </a:solidFill>
                <a:latin typeface="+mn-ea"/>
                <a:cs typeface="微软雅黑" panose="020B0503020204020204" pitchFamily="34" charset="-122"/>
              </a:rPr>
              <a:t>8-10</a:t>
            </a:r>
            <a:r>
              <a:rPr lang="zh-CN" altLang="en-US" sz="1200" dirty="0">
                <a:solidFill>
                  <a:srgbClr val="2C2C2C"/>
                </a:solidFill>
                <a:latin typeface="+mn-ea"/>
                <a:cs typeface="微软雅黑" panose="020B0503020204020204" pitchFamily="34" charset="-122"/>
              </a:rPr>
              <a:t>个小时。因此，教室的照明环境对学生的视力健康起着至关重要的角色。在照明设计上，教学环境光线应明亮柔和、无眩光、无可视频闪、无蓝光危害、高显指等，以此营造一个安全健康的光环境，为学生打造一个优质学习环境，同时应符合现有智慧教育的步伐，打造校园智能光。</a:t>
            </a:r>
            <a:endParaRPr lang="zh-CN" altLang="en-US" sz="1200" dirty="0">
              <a:solidFill>
                <a:srgbClr val="2C2C2C"/>
              </a:solidFill>
              <a:latin typeface="+mn-ea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55088" y="1076116"/>
            <a:ext cx="39814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学校场景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530651" y="3883318"/>
            <a:ext cx="52791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健康护眼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530651" y="4807289"/>
            <a:ext cx="52791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智慧课堂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530651" y="5747496"/>
            <a:ext cx="52791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超长寿命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530651" y="4251592"/>
            <a:ext cx="5279193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/>
              <a:t>教室光环境首先是要安全护眼，低眩光、无可视频闪、无蓝光危害、高显色指数，以保证学生及教师的用眼健康</a:t>
            </a:r>
            <a:endParaRPr lang="zh-CN" altLang="en-US" sz="1200" dirty="0"/>
          </a:p>
        </p:txBody>
      </p:sp>
      <p:sp>
        <p:nvSpPr>
          <p:cNvPr id="29" name="矩形 28"/>
          <p:cNvSpPr/>
          <p:nvPr/>
        </p:nvSpPr>
        <p:spPr>
          <a:xfrm>
            <a:off x="6530651" y="6100428"/>
            <a:ext cx="5279193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/>
              <a:t>教室开灯时间长、用灯时间久，</a:t>
            </a:r>
            <a:r>
              <a:rPr lang="en-US" altLang="zh-CN" sz="1200" dirty="0"/>
              <a:t>50000</a:t>
            </a:r>
            <a:r>
              <a:rPr lang="zh-CN" altLang="en-US" sz="1200" dirty="0"/>
              <a:t>小时寿命</a:t>
            </a:r>
            <a:r>
              <a:rPr lang="en-US" altLang="zh-CN" sz="1200" dirty="0"/>
              <a:t>&amp;</a:t>
            </a:r>
            <a:r>
              <a:rPr lang="zh-CN" altLang="en-US" sz="1200" dirty="0"/>
              <a:t>高强度结构，极大程度降低了后期维护费用与时间</a:t>
            </a:r>
            <a:endParaRPr lang="zh-CN" altLang="en-US" sz="1200" dirty="0"/>
          </a:p>
        </p:txBody>
      </p:sp>
      <p:sp>
        <p:nvSpPr>
          <p:cNvPr id="2" name="矩形 1"/>
          <p:cNvSpPr/>
          <p:nvPr/>
        </p:nvSpPr>
        <p:spPr>
          <a:xfrm>
            <a:off x="6530651" y="5175649"/>
            <a:ext cx="5279193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/>
              <a:t>随着教学方式日益丰富、智能的情况下，灯光环境也需与时俱进，搭配灯具本身调光功能同步匹配不同课堂模式，一键切换投影、自习等不同模式</a:t>
            </a:r>
            <a:endParaRPr lang="zh-CN" altLang="en-US" sz="1200" dirty="0"/>
          </a:p>
        </p:txBody>
      </p:sp>
      <p:grpSp>
        <p:nvGrpSpPr>
          <p:cNvPr id="22" name="组合 21"/>
          <p:cNvGrpSpPr/>
          <p:nvPr/>
        </p:nvGrpSpPr>
        <p:grpSpPr>
          <a:xfrm>
            <a:off x="377270" y="284687"/>
            <a:ext cx="3480440" cy="523220"/>
            <a:chOff x="445366" y="319117"/>
            <a:chExt cx="3480440" cy="523220"/>
          </a:xfrm>
        </p:grpSpPr>
        <p:sp>
          <p:nvSpPr>
            <p:cNvPr id="23" name="矩形 22"/>
            <p:cNvSpPr/>
            <p:nvPr/>
          </p:nvSpPr>
          <p:spPr>
            <a:xfrm>
              <a:off x="445366" y="319117"/>
              <a:ext cx="348044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rPr>
                <a:t>市场应用    应用空间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4" name="直接连接符 23"/>
            <p:cNvCxnSpPr/>
            <p:nvPr/>
          </p:nvCxnSpPr>
          <p:spPr>
            <a:xfrm>
              <a:off x="2153920" y="426720"/>
              <a:ext cx="0" cy="31496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445366" y="913840"/>
            <a:ext cx="105885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现教学方式日益丰富、智能的情况下，传统开关控制无法实现相匹配的照明效果同时消耗较大维护成本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48548" y="4274673"/>
            <a:ext cx="10588525" cy="2098489"/>
            <a:chOff x="445366" y="1813502"/>
            <a:chExt cx="10588525" cy="2098489"/>
          </a:xfrm>
        </p:grpSpPr>
        <p:pic>
          <p:nvPicPr>
            <p:cNvPr id="23" name="Picture 3"/>
            <p:cNvPicPr>
              <a:picLocks noChangeAspect="1" noChangeArrowheads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 bwMode="auto">
            <a:xfrm>
              <a:off x="7784557" y="1881709"/>
              <a:ext cx="3249334" cy="203028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5366" y="1898567"/>
              <a:ext cx="2978497" cy="1977951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32" name="文本框 31"/>
            <p:cNvSpPr txBox="1"/>
            <p:nvPr/>
          </p:nvSpPr>
          <p:spPr>
            <a:xfrm>
              <a:off x="4898142" y="2399220"/>
              <a:ext cx="1958503" cy="9130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4000">
                  <a:latin typeface="黑体" panose="02010609060101010101" charset="-122"/>
                  <a:ea typeface="黑体" panose="02010609060101010101" charset="-122"/>
                </a:defRPr>
              </a:lvl1pPr>
            </a:lstStyle>
            <a:p>
              <a:r>
                <a:rPr lang="zh-CN" altLang="en-US" sz="5335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眩光</a:t>
              </a:r>
              <a:endParaRPr lang="zh-CN" altLang="en-US" sz="533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33" name="内容占位符 3" descr="QQ截图20180112115947.jpg"/>
            <p:cNvPicPr>
              <a:picLocks noChangeAspect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131313" y="1813502"/>
              <a:ext cx="3088565" cy="2098489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34" name="文本框 33"/>
            <p:cNvSpPr txBox="1"/>
            <p:nvPr/>
          </p:nvSpPr>
          <p:spPr>
            <a:xfrm>
              <a:off x="1220048" y="2447247"/>
              <a:ext cx="151874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dirty="0">
                  <a:ln w="12700">
                    <a:solidFill>
                      <a:srgbClr val="FF0000"/>
                    </a:solidFill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频闪</a:t>
              </a:r>
              <a:endParaRPr lang="zh-CN" altLang="en-US" sz="4800" dirty="0">
                <a:ln w="12700">
                  <a:solidFill>
                    <a:srgbClr val="FF0000"/>
                  </a:solidFill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046752" y="2196337"/>
              <a:ext cx="195850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4000">
                  <a:latin typeface="黑体" panose="02010609060101010101" charset="-122"/>
                  <a:ea typeface="黑体" panose="02010609060101010101" charset="-122"/>
                </a:defRPr>
              </a:lvl1pPr>
            </a:lstStyle>
            <a:p>
              <a:r>
                <a:rPr lang="zh-CN" altLang="en-US" dirty="0">
                  <a:ln w="12700">
                    <a:solidFill>
                      <a:srgbClr val="FF0000"/>
                    </a:solidFill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眩光</a:t>
              </a:r>
              <a:endParaRPr lang="zh-CN" altLang="en-US" dirty="0">
                <a:ln w="12700">
                  <a:solidFill>
                    <a:srgbClr val="FF0000"/>
                  </a:solidFill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8808132" y="2447247"/>
              <a:ext cx="14973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4800">
                  <a:ln w="12700">
                    <a:solidFill>
                      <a:srgbClr val="00B050"/>
                    </a:solidFill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>
                  <a:ln w="12700">
                    <a:solidFill>
                      <a:srgbClr val="FF0000"/>
                    </a:solidFill>
                  </a:ln>
                  <a:solidFill>
                    <a:srgbClr val="FF0000"/>
                  </a:solidFill>
                </a:rPr>
                <a:t>蓝光</a:t>
              </a:r>
              <a:endParaRPr lang="zh-CN" altLang="en-US" dirty="0">
                <a:ln w="12700"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658624" y="2904223"/>
              <a:ext cx="234663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4000">
                  <a:latin typeface="黑体" panose="02010609060101010101" charset="-122"/>
                  <a:ea typeface="黑体" panose="02010609060101010101" charset="-122"/>
                </a:defRPr>
              </a:lvl1pPr>
            </a:lstStyle>
            <a:p>
              <a:r>
                <a:rPr lang="zh-CN" altLang="en-US" dirty="0">
                  <a:ln w="12700">
                    <a:solidFill>
                      <a:srgbClr val="FF0000"/>
                    </a:solidFill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照度不足</a:t>
              </a:r>
              <a:endParaRPr lang="zh-CN" altLang="en-US" dirty="0">
                <a:ln w="12700">
                  <a:solidFill>
                    <a:srgbClr val="FF0000"/>
                  </a:solidFill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47" name="内容占位符 3" descr="QQ截图20180112115947.jpg"/>
          <p:cNvPicPr/>
          <p:nvPr/>
        </p:nvPicPr>
        <p:blipFill>
          <a:blip r:embed="rId5"/>
          <a:stretch>
            <a:fillRect/>
          </a:stretch>
        </p:blipFill>
        <p:spPr>
          <a:xfrm>
            <a:off x="445366" y="1642575"/>
            <a:ext cx="2978497" cy="19779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8" name="文本框 47"/>
          <p:cNvSpPr txBox="1"/>
          <p:nvPr/>
        </p:nvSpPr>
        <p:spPr>
          <a:xfrm>
            <a:off x="1040919" y="1962352"/>
            <a:ext cx="21283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ln w="12700">
                  <a:solidFill>
                    <a:srgbClr val="FF0000"/>
                  </a:solidFill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光环境</a:t>
            </a:r>
            <a:endParaRPr lang="en-US" altLang="zh-CN" sz="4400" dirty="0">
              <a:ln w="12700">
                <a:solidFill>
                  <a:srgbClr val="FF0000"/>
                </a:solidFill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400" dirty="0">
                <a:ln w="12700">
                  <a:solidFill>
                    <a:srgbClr val="FF0000"/>
                  </a:solidFill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不稳定</a:t>
            </a:r>
            <a:endParaRPr lang="zh-CN" altLang="en-US" sz="4400" dirty="0">
              <a:ln w="12700">
                <a:solidFill>
                  <a:srgbClr val="FF0000"/>
                </a:solidFill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9" name="图片 48"/>
          <p:cNvPicPr/>
          <p:nvPr/>
        </p:nvPicPr>
        <p:blipFill>
          <a:blip r:embed="rId6"/>
          <a:stretch>
            <a:fillRect/>
          </a:stretch>
        </p:blipFill>
        <p:spPr>
          <a:xfrm>
            <a:off x="3908344" y="1620945"/>
            <a:ext cx="3195738" cy="19779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0" name="文本框 49"/>
          <p:cNvSpPr txBox="1"/>
          <p:nvPr/>
        </p:nvSpPr>
        <p:spPr>
          <a:xfrm>
            <a:off x="4024711" y="2286754"/>
            <a:ext cx="3088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n w="12700">
                  <a:solidFill>
                    <a:srgbClr val="FF0000"/>
                  </a:solidFill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照明方式单一</a:t>
            </a:r>
            <a:endParaRPr lang="zh-CN" altLang="en-US" sz="3600" dirty="0">
              <a:ln w="12700">
                <a:solidFill>
                  <a:srgbClr val="FF0000"/>
                </a:solidFill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" name="图片 51"/>
          <p:cNvPicPr/>
          <p:nvPr/>
        </p:nvPicPr>
        <p:blipFill>
          <a:blip r:embed="rId7"/>
          <a:stretch>
            <a:fillRect/>
          </a:stretch>
        </p:blipFill>
        <p:spPr>
          <a:xfrm>
            <a:off x="7773210" y="1620945"/>
            <a:ext cx="3260680" cy="19995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3" name="文本框 52"/>
          <p:cNvSpPr txBox="1"/>
          <p:nvPr/>
        </p:nvSpPr>
        <p:spPr>
          <a:xfrm>
            <a:off x="8146823" y="2291234"/>
            <a:ext cx="255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n w="12700">
                  <a:solidFill>
                    <a:srgbClr val="FF0000"/>
                  </a:solidFill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维护成本大</a:t>
            </a:r>
            <a:endParaRPr lang="zh-CN" altLang="en-US" sz="3600" dirty="0">
              <a:ln w="12700">
                <a:solidFill>
                  <a:srgbClr val="FF0000"/>
                </a:solidFill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45366" y="3785954"/>
            <a:ext cx="100571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不好的照明会引发视觉疲劳，导致近视、蓝光危害更有可能损伤视网膜。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77270" y="284687"/>
            <a:ext cx="3480440" cy="523220"/>
            <a:chOff x="445366" y="319117"/>
            <a:chExt cx="3480440" cy="523220"/>
          </a:xfrm>
        </p:grpSpPr>
        <p:sp>
          <p:nvSpPr>
            <p:cNvPr id="19" name="矩形 18"/>
            <p:cNvSpPr/>
            <p:nvPr/>
          </p:nvSpPr>
          <p:spPr>
            <a:xfrm>
              <a:off x="445366" y="319117"/>
              <a:ext cx="348044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rPr>
                <a:t>市场应用    行业痛点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>
            <a:xfrm>
              <a:off x="2153920" y="426720"/>
              <a:ext cx="0" cy="31496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2"/>
          <a:stretch>
            <a:fillRect/>
          </a:stretch>
        </p:blipFill>
        <p:spPr bwMode="auto">
          <a:xfrm>
            <a:off x="0" y="1053438"/>
            <a:ext cx="12192000" cy="4872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0" y="1844766"/>
            <a:ext cx="12192000" cy="33135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428153" y="1218603"/>
            <a:ext cx="10699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教育照明相关的主要国家、团体标准。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1839929"/>
            <a:ext cx="12150470" cy="3915690"/>
            <a:chOff x="0" y="1604797"/>
            <a:chExt cx="12150470" cy="3915690"/>
          </a:xfrm>
        </p:grpSpPr>
        <p:grpSp>
          <p:nvGrpSpPr>
            <p:cNvPr id="22" name="组合 21"/>
            <p:cNvGrpSpPr/>
            <p:nvPr/>
          </p:nvGrpSpPr>
          <p:grpSpPr>
            <a:xfrm>
              <a:off x="0" y="1604797"/>
              <a:ext cx="12150470" cy="3915690"/>
              <a:chOff x="130813" y="2179822"/>
              <a:chExt cx="11969346" cy="3857319"/>
            </a:xfrm>
          </p:grpSpPr>
          <p:pic>
            <p:nvPicPr>
              <p:cNvPr id="35" name="图片 3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848802" y="2179822"/>
                <a:ext cx="2470075" cy="3268884"/>
              </a:xfrm>
              <a:prstGeom prst="rect">
                <a:avLst/>
              </a:prstGeom>
            </p:spPr>
          </p:pic>
          <p:pic>
            <p:nvPicPr>
              <p:cNvPr id="36" name="图片 3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2850" y="2179823"/>
                <a:ext cx="2322452" cy="3268884"/>
              </a:xfrm>
              <a:prstGeom prst="rect">
                <a:avLst/>
              </a:prstGeom>
            </p:spPr>
          </p:pic>
          <p:pic>
            <p:nvPicPr>
              <p:cNvPr id="42" name="图片 4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82377" y="2179823"/>
                <a:ext cx="2322451" cy="3268883"/>
              </a:xfrm>
              <a:prstGeom prst="rect">
                <a:avLst/>
              </a:prstGeom>
            </p:spPr>
          </p:pic>
          <p:pic>
            <p:nvPicPr>
              <p:cNvPr id="46" name="图片 4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01482" y="2184586"/>
                <a:ext cx="2298677" cy="3264122"/>
              </a:xfrm>
              <a:prstGeom prst="rect">
                <a:avLst/>
              </a:prstGeom>
            </p:spPr>
          </p:pic>
          <p:pic>
            <p:nvPicPr>
              <p:cNvPr id="47" name="图片 46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0813" y="2184587"/>
                <a:ext cx="2297735" cy="3264120"/>
              </a:xfrm>
              <a:prstGeom prst="rect">
                <a:avLst/>
              </a:prstGeom>
            </p:spPr>
          </p:pic>
          <p:sp>
            <p:nvSpPr>
              <p:cNvPr id="48" name="内容占位符 6"/>
              <p:cNvSpPr txBox="1"/>
              <p:nvPr/>
            </p:nvSpPr>
            <p:spPr>
              <a:xfrm>
                <a:off x="387025" y="5448708"/>
                <a:ext cx="2882911" cy="588433"/>
              </a:xfrm>
              <a:prstGeom prst="rect">
                <a:avLst/>
              </a:prstGeom>
            </p:spPr>
            <p:txBody>
              <a:bodyPr vert="horz" lIns="0" tIns="0" rIns="0" bIns="0" rtlCol="0" anchor="ctr">
                <a:noAutofit/>
                <a:scene3d>
                  <a:camera prst="orthographicFront"/>
                  <a:lightRig rig="threePt" dir="t"/>
                </a:scene3d>
              </a:bodyPr>
              <a:lstStyle>
                <a:lvl1pPr marL="0" indent="0" algn="l" defTabSz="342900" rtl="0" eaLnBrk="1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300"/>
                  </a:spcAft>
                  <a:buFontTx/>
                  <a:buNone/>
                  <a:defRPr sz="1200" b="0" i="0" kern="1200" spc="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Arial" panose="020B0604020202020204"/>
                  </a:defRPr>
                </a:lvl1pPr>
                <a:lvl2pPr marL="0" indent="-135255" algn="l" defTabSz="342900" rtl="0" eaLnBrk="1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§"/>
                  <a:defRPr sz="1200" b="0" i="0" kern="1200" spc="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Arial" panose="020B0604020202020204"/>
                  </a:defRPr>
                </a:lvl2pPr>
                <a:lvl3pPr marL="377825" indent="-161925" algn="l" defTabSz="342900" rtl="0" eaLnBrk="1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§"/>
                  <a:defRPr sz="1200" b="0" i="0" kern="1200" spc="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Arial" panose="020B0604020202020204"/>
                  </a:defRPr>
                </a:lvl3pPr>
                <a:lvl4pPr marL="567055" indent="-161925" algn="l" defTabSz="342900" rtl="0" eaLnBrk="1" latinLnBrk="0" hangingPunct="1">
                  <a:lnSpc>
                    <a:spcPts val="1350"/>
                  </a:lnSpc>
                  <a:spcBef>
                    <a:spcPts val="0"/>
                  </a:spcBef>
                  <a:spcAft>
                    <a:spcPts val="150"/>
                  </a:spcAft>
                  <a:buFont typeface="Arial" panose="020B0604020202020204"/>
                  <a:buChar char="–"/>
                  <a:defRPr sz="1050" b="0" i="0" kern="1200" spc="0" baseline="0">
                    <a:solidFill>
                      <a:schemeClr val="tx2"/>
                    </a:solidFill>
                    <a:latin typeface="Arial" panose="020B0604020202020204"/>
                    <a:ea typeface="+mn-ea"/>
                    <a:cs typeface="Arial" panose="020B0604020202020204"/>
                  </a:defRPr>
                </a:lvl4pPr>
                <a:lvl5pPr marL="810260" indent="-135255" algn="l" defTabSz="342900" rtl="0" eaLnBrk="1" latinLnBrk="0" hangingPunct="1">
                  <a:lnSpc>
                    <a:spcPts val="1350"/>
                  </a:lnSpc>
                  <a:spcBef>
                    <a:spcPts val="0"/>
                  </a:spcBef>
                  <a:spcAft>
                    <a:spcPts val="150"/>
                  </a:spcAft>
                  <a:buFont typeface="Arial" panose="020B0604020202020204"/>
                  <a:buChar char="»"/>
                  <a:defRPr sz="1050" b="0" i="0" kern="1200" spc="0" baseline="0">
                    <a:solidFill>
                      <a:schemeClr val="tx2"/>
                    </a:solidFill>
                    <a:latin typeface="Arial" panose="020B0604020202020204"/>
                    <a:ea typeface="+mn-ea"/>
                    <a:cs typeface="Arial" panose="020B0604020202020204"/>
                  </a:defRPr>
                </a:lvl5pPr>
                <a:lvl6pPr marL="1885950" indent="-171450" algn="l" defTabSz="3429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3429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3429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3429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186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GB50034-20XX</a:t>
                </a:r>
                <a:endParaRPr lang="en-US" altLang="zh-CN" sz="186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107449" y="5558258"/>
                <a:ext cx="1897898" cy="3739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86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CQC3155-2016</a:t>
                </a:r>
                <a:endParaRPr lang="en-US" altLang="zh-CN" sz="186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7487430" y="5558258"/>
                <a:ext cx="2094213" cy="3739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86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T/JYBZ 005-2018</a:t>
                </a:r>
                <a:endParaRPr lang="en-US" altLang="zh-CN" sz="186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9924737" y="5543030"/>
                <a:ext cx="2081580" cy="3739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86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QB-T 5533-2020</a:t>
                </a:r>
                <a:endParaRPr lang="en-US" altLang="zh-CN" sz="186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内容占位符 6"/>
              <p:cNvSpPr txBox="1"/>
              <p:nvPr/>
            </p:nvSpPr>
            <p:spPr>
              <a:xfrm>
                <a:off x="2760057" y="5448708"/>
                <a:ext cx="1691520" cy="588433"/>
              </a:xfrm>
              <a:prstGeom prst="rect">
                <a:avLst/>
              </a:prstGeom>
            </p:spPr>
            <p:txBody>
              <a:bodyPr vert="horz" lIns="0" tIns="0" rIns="0" bIns="0" rtlCol="0" anchor="ctr">
                <a:noAutofit/>
                <a:scene3d>
                  <a:camera prst="orthographicFront"/>
                  <a:lightRig rig="threePt" dir="t"/>
                </a:scene3d>
              </a:bodyPr>
              <a:lstStyle>
                <a:lvl1pPr marL="0" indent="0" algn="l" defTabSz="342900" rtl="0" eaLnBrk="1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300"/>
                  </a:spcAft>
                  <a:buFontTx/>
                  <a:buNone/>
                  <a:defRPr sz="1200" b="0" i="0" kern="1200" spc="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Arial" panose="020B0604020202020204"/>
                  </a:defRPr>
                </a:lvl1pPr>
                <a:lvl2pPr marL="0" indent="-135255" algn="l" defTabSz="342900" rtl="0" eaLnBrk="1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§"/>
                  <a:defRPr sz="1200" b="0" i="0" kern="1200" spc="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Arial" panose="020B0604020202020204"/>
                  </a:defRPr>
                </a:lvl2pPr>
                <a:lvl3pPr marL="377825" indent="-161925" algn="l" defTabSz="342900" rtl="0" eaLnBrk="1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§"/>
                  <a:defRPr sz="1200" b="0" i="0" kern="1200" spc="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Arial" panose="020B0604020202020204"/>
                  </a:defRPr>
                </a:lvl3pPr>
                <a:lvl4pPr marL="567055" indent="-161925" algn="l" defTabSz="342900" rtl="0" eaLnBrk="1" latinLnBrk="0" hangingPunct="1">
                  <a:lnSpc>
                    <a:spcPts val="1350"/>
                  </a:lnSpc>
                  <a:spcBef>
                    <a:spcPts val="0"/>
                  </a:spcBef>
                  <a:spcAft>
                    <a:spcPts val="150"/>
                  </a:spcAft>
                  <a:buFont typeface="Arial" panose="020B0604020202020204"/>
                  <a:buChar char="–"/>
                  <a:defRPr sz="1050" b="0" i="0" kern="1200" spc="0" baseline="0">
                    <a:solidFill>
                      <a:schemeClr val="tx2"/>
                    </a:solidFill>
                    <a:latin typeface="Arial" panose="020B0604020202020204"/>
                    <a:ea typeface="+mn-ea"/>
                    <a:cs typeface="Arial" panose="020B0604020202020204"/>
                  </a:defRPr>
                </a:lvl4pPr>
                <a:lvl5pPr marL="810260" indent="-135255" algn="l" defTabSz="342900" rtl="0" eaLnBrk="1" latinLnBrk="0" hangingPunct="1">
                  <a:lnSpc>
                    <a:spcPts val="1350"/>
                  </a:lnSpc>
                  <a:spcBef>
                    <a:spcPts val="0"/>
                  </a:spcBef>
                  <a:spcAft>
                    <a:spcPts val="150"/>
                  </a:spcAft>
                  <a:buFont typeface="Arial" panose="020B0604020202020204"/>
                  <a:buChar char="»"/>
                  <a:defRPr sz="1050" b="0" i="0" kern="1200" spc="0" baseline="0">
                    <a:solidFill>
                      <a:schemeClr val="tx2"/>
                    </a:solidFill>
                    <a:latin typeface="Arial" panose="020B0604020202020204"/>
                    <a:ea typeface="+mn-ea"/>
                    <a:cs typeface="Arial" panose="020B0604020202020204"/>
                  </a:defRPr>
                </a:lvl5pPr>
                <a:lvl6pPr marL="1885950" indent="-171450" algn="l" defTabSz="3429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3429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3429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342900" rtl="0" eaLnBrk="1" latinLnBrk="0" hangingPunct="1">
                  <a:spcBef>
                    <a:spcPct val="20000"/>
                  </a:spcBef>
                  <a:buFont typeface="Arial" panose="020B0604020202020204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865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GB7793-2010</a:t>
                </a:r>
                <a:endParaRPr lang="en-US" altLang="zh-CN" sz="1865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3" name="矩形 22"/>
            <p:cNvSpPr/>
            <p:nvPr/>
          </p:nvSpPr>
          <p:spPr>
            <a:xfrm>
              <a:off x="10800523" y="3332990"/>
              <a:ext cx="480053" cy="1920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9928458" y="4139175"/>
              <a:ext cx="480053" cy="1920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1321223" y="4139175"/>
              <a:ext cx="480053" cy="1920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9938561" y="4209797"/>
              <a:ext cx="666947" cy="164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65" dirty="0">
                  <a:latin typeface="+mj-ea"/>
                  <a:ea typeface="+mj-ea"/>
                </a:rPr>
                <a:t>2020-12-09</a:t>
              </a:r>
              <a:endParaRPr lang="zh-CN" altLang="en-US" sz="465" dirty="0">
                <a:latin typeface="+mj-ea"/>
                <a:ea typeface="+mj-ea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1325508" y="4209797"/>
              <a:ext cx="666947" cy="1642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65" dirty="0">
                  <a:latin typeface="+mj-ea"/>
                  <a:ea typeface="+mj-ea"/>
                </a:rPr>
                <a:t>2021-04-01</a:t>
              </a:r>
              <a:endParaRPr lang="zh-CN" altLang="en-US" sz="465" dirty="0">
                <a:latin typeface="+mj-ea"/>
                <a:ea typeface="+mj-ea"/>
              </a:endParaRPr>
            </a:p>
          </p:txBody>
        </p:sp>
      </p:grpSp>
      <p:cxnSp>
        <p:nvCxnSpPr>
          <p:cNvPr id="26" name="直接连接符 25"/>
          <p:cNvCxnSpPr/>
          <p:nvPr/>
        </p:nvCxnSpPr>
        <p:spPr>
          <a:xfrm>
            <a:off x="2113280" y="416560"/>
            <a:ext cx="0" cy="31496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/>
          <p:cNvGrpSpPr/>
          <p:nvPr/>
        </p:nvGrpSpPr>
        <p:grpSpPr>
          <a:xfrm>
            <a:off x="375028" y="286735"/>
            <a:ext cx="4916731" cy="523220"/>
            <a:chOff x="443124" y="286735"/>
            <a:chExt cx="4916731" cy="523220"/>
          </a:xfrm>
        </p:grpSpPr>
        <p:sp>
          <p:nvSpPr>
            <p:cNvPr id="31" name="矩形 30"/>
            <p:cNvSpPr/>
            <p:nvPr/>
          </p:nvSpPr>
          <p:spPr>
            <a:xfrm>
              <a:off x="443124" y="286735"/>
              <a:ext cx="491673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rPr>
                <a:t>市场应用    教育照明行业标准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2174240" y="375920"/>
              <a:ext cx="0" cy="31496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/>
          <p:cNvSpPr txBox="1"/>
          <p:nvPr/>
        </p:nvSpPr>
        <p:spPr>
          <a:xfrm>
            <a:off x="445367" y="858115"/>
            <a:ext cx="10699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教育照明地方及团体标准相较于国家标准，要求更高。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462581" y="1296870"/>
          <a:ext cx="11318480" cy="496984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864626"/>
                <a:gridCol w="2013792"/>
                <a:gridCol w="2393140"/>
                <a:gridCol w="2393140"/>
                <a:gridCol w="2653782"/>
              </a:tblGrid>
              <a:tr h="60876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900" u="none" strike="noStrike" dirty="0">
                          <a:effectLst/>
                        </a:rPr>
                        <a:t>照明主要参数</a:t>
                      </a:r>
                      <a:endParaRPr lang="zh-CN" alt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1900" u="none" strike="noStrike" kern="1200" dirty="0">
                          <a:effectLst/>
                        </a:rPr>
                        <a:t>国家标准</a:t>
                      </a:r>
                      <a:endParaRPr lang="zh-CN" altLang="en-US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1900" u="none" strike="noStrike" kern="1200" dirty="0">
                          <a:effectLst/>
                        </a:rPr>
                        <a:t>国家标准</a:t>
                      </a:r>
                      <a:endParaRPr lang="zh-CN" altLang="en-US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zh-CN" altLang="en-US" sz="1900" u="none" strike="noStrike" kern="1200" dirty="0">
                          <a:effectLst/>
                        </a:rPr>
                        <a:t>中国质量认证中心认证技术规范</a:t>
                      </a:r>
                      <a:endParaRPr lang="zh-CN" altLang="en-US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900" u="none" strike="noStrike" dirty="0">
                          <a:effectLst/>
                        </a:rPr>
                        <a:t>团体标准</a:t>
                      </a:r>
                      <a:endParaRPr lang="zh-CN" alt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</a:tr>
              <a:tr h="396462"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sz="1900" u="none" strike="noStrike" kern="1200" dirty="0">
                          <a:effectLst/>
                        </a:rPr>
                        <a:t>GB7793-2010</a:t>
                      </a:r>
                      <a:endParaRPr lang="en-US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sz="1900" u="none" strike="noStrike" kern="1200" dirty="0">
                          <a:effectLst/>
                        </a:rPr>
                        <a:t>GB</a:t>
                      </a:r>
                      <a:r>
                        <a:rPr lang="en-US" altLang="zh-CN" sz="1900" u="none" strike="noStrike" kern="1200" dirty="0">
                          <a:effectLst/>
                        </a:rPr>
                        <a:t>50034-20XX</a:t>
                      </a:r>
                      <a:endParaRPr lang="en-US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u="none" strike="noStrike" dirty="0">
                          <a:effectLst/>
                        </a:rPr>
                        <a:t>CQC3155-2016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u="none" strike="noStrike" dirty="0">
                          <a:effectLst/>
                        </a:rPr>
                        <a:t>T/JYBZ 005-2018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</a:tr>
              <a:tr h="39646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900" u="none" strike="noStrike" dirty="0">
                          <a:effectLst/>
                        </a:rPr>
                        <a:t>功率密度</a:t>
                      </a:r>
                      <a:endParaRPr lang="zh-CN" alt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sz="1900" u="none" strike="noStrike" kern="1200" dirty="0">
                          <a:effectLst/>
                        </a:rPr>
                        <a:t>&lt;11W/m²</a:t>
                      </a:r>
                      <a:endParaRPr lang="en-US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sz="1900" u="none" strike="noStrike" kern="1200" dirty="0">
                          <a:effectLst/>
                        </a:rPr>
                        <a:t>&lt;8W/m²</a:t>
                      </a:r>
                      <a:endParaRPr lang="en-US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kern="1200" dirty="0">
                          <a:effectLst/>
                        </a:rPr>
                        <a:t>&lt;8</a:t>
                      </a:r>
                      <a:r>
                        <a:rPr lang="en-US" sz="1900" u="none" strike="noStrike" dirty="0">
                          <a:effectLst/>
                        </a:rPr>
                        <a:t>W/m²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kern="1200" dirty="0">
                          <a:effectLst/>
                        </a:rPr>
                        <a:t>&lt;</a:t>
                      </a:r>
                      <a:r>
                        <a:rPr lang="en-US" sz="1900" u="none" strike="noStrike" dirty="0">
                          <a:effectLst/>
                        </a:rPr>
                        <a:t>9W/m²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</a:tr>
              <a:tr h="39646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900" u="none" strike="noStrike" dirty="0">
                          <a:effectLst/>
                        </a:rPr>
                        <a:t>黑板照度</a:t>
                      </a:r>
                      <a:endParaRPr lang="zh-CN" alt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1900" u="none" strike="noStrike" kern="1200" dirty="0">
                          <a:effectLst/>
                        </a:rPr>
                        <a:t>&gt;500lx</a:t>
                      </a:r>
                      <a:endParaRPr lang="en-US" altLang="zh-CN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1900" u="none" strike="noStrike" kern="1200" dirty="0">
                          <a:effectLst/>
                        </a:rPr>
                        <a:t>&gt;500lx</a:t>
                      </a:r>
                      <a:endParaRPr lang="en-US" altLang="zh-CN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kern="1200" dirty="0">
                          <a:effectLst/>
                        </a:rPr>
                        <a:t>&gt;</a:t>
                      </a:r>
                      <a:r>
                        <a:rPr lang="en-US" altLang="zh-CN" sz="1900" u="none" strike="noStrike" dirty="0">
                          <a:effectLst/>
                        </a:rPr>
                        <a:t>500</a:t>
                      </a:r>
                      <a:r>
                        <a:rPr lang="en-US" altLang="zh-CN" sz="1900" u="none" strike="noStrike" kern="1200" dirty="0">
                          <a:effectLst/>
                        </a:rPr>
                        <a:t>lx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kern="1200" dirty="0">
                          <a:effectLst/>
                        </a:rPr>
                        <a:t>&gt;</a:t>
                      </a:r>
                      <a:r>
                        <a:rPr lang="en-US" altLang="zh-CN" sz="1900" u="none" strike="noStrike" dirty="0">
                          <a:effectLst/>
                        </a:rPr>
                        <a:t>500</a:t>
                      </a:r>
                      <a:r>
                        <a:rPr lang="en-US" altLang="zh-CN" sz="1900" u="none" strike="noStrike" kern="1200" dirty="0">
                          <a:effectLst/>
                        </a:rPr>
                        <a:t>lx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</a:tr>
              <a:tr h="39646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900" u="none" strike="noStrike" dirty="0">
                          <a:effectLst/>
                        </a:rPr>
                        <a:t>黑板面均匀度</a:t>
                      </a:r>
                      <a:endParaRPr lang="zh-CN" alt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1900" u="none" strike="noStrike" kern="1200" dirty="0">
                          <a:effectLst/>
                        </a:rPr>
                        <a:t>&gt;0.8</a:t>
                      </a:r>
                      <a:endParaRPr lang="en-US" altLang="zh-CN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1900" u="none" strike="noStrike" kern="1200" dirty="0">
                          <a:effectLst/>
                        </a:rPr>
                        <a:t>&gt;0.8</a:t>
                      </a:r>
                      <a:endParaRPr lang="en-US" altLang="zh-CN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kern="1200" dirty="0">
                          <a:effectLst/>
                        </a:rPr>
                        <a:t>&gt;</a:t>
                      </a:r>
                      <a:r>
                        <a:rPr lang="en-US" altLang="zh-CN" sz="1900" u="none" strike="noStrike" dirty="0">
                          <a:effectLst/>
                        </a:rPr>
                        <a:t>0.7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kern="1200" dirty="0">
                          <a:effectLst/>
                        </a:rPr>
                        <a:t>&gt;</a:t>
                      </a:r>
                      <a:r>
                        <a:rPr lang="en-US" altLang="zh-CN" sz="1900" u="none" strike="noStrike" dirty="0">
                          <a:effectLst/>
                        </a:rPr>
                        <a:t>0.8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</a:tr>
              <a:tr h="39646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900" u="none" strike="noStrike" dirty="0">
                          <a:effectLst/>
                        </a:rPr>
                        <a:t>教室照度</a:t>
                      </a:r>
                      <a:endParaRPr lang="zh-CN" alt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1900" u="none" strike="noStrike" kern="1200" dirty="0">
                          <a:effectLst/>
                        </a:rPr>
                        <a:t>&gt;300lx</a:t>
                      </a:r>
                      <a:endParaRPr lang="en-US" altLang="zh-CN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1900" u="none" strike="noStrike" kern="1200" dirty="0">
                          <a:effectLst/>
                        </a:rPr>
                        <a:t>&gt;300lx</a:t>
                      </a:r>
                      <a:endParaRPr lang="en-US" altLang="zh-CN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kern="1200" dirty="0">
                          <a:effectLst/>
                        </a:rPr>
                        <a:t>&gt;</a:t>
                      </a:r>
                      <a:r>
                        <a:rPr lang="en-US" altLang="zh-CN" sz="1900" u="none" strike="noStrike" dirty="0">
                          <a:effectLst/>
                        </a:rPr>
                        <a:t>300</a:t>
                      </a:r>
                      <a:r>
                        <a:rPr lang="en-US" altLang="zh-CN" sz="1900" u="none" strike="noStrike" kern="1200" dirty="0">
                          <a:effectLst/>
                        </a:rPr>
                        <a:t>lx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kern="1200" dirty="0">
                          <a:effectLst/>
                        </a:rPr>
                        <a:t>&gt;</a:t>
                      </a:r>
                      <a:r>
                        <a:rPr lang="en-US" altLang="zh-CN" sz="1900" u="none" strike="noStrike" dirty="0">
                          <a:effectLst/>
                        </a:rPr>
                        <a:t>300</a:t>
                      </a:r>
                      <a:r>
                        <a:rPr lang="en-US" altLang="zh-CN" sz="1900" u="none" strike="noStrike" kern="1200" dirty="0">
                          <a:effectLst/>
                        </a:rPr>
                        <a:t>lx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</a:tr>
              <a:tr h="39646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900" u="none" strike="noStrike" dirty="0">
                          <a:effectLst/>
                        </a:rPr>
                        <a:t>教室均匀度</a:t>
                      </a:r>
                      <a:endParaRPr lang="zh-CN" alt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1900" u="none" strike="noStrike" kern="1200" dirty="0">
                          <a:effectLst/>
                        </a:rPr>
                        <a:t>&gt;0.7</a:t>
                      </a:r>
                      <a:endParaRPr lang="en-US" altLang="zh-CN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1900" u="none" strike="noStrike" kern="1200" dirty="0">
                          <a:effectLst/>
                        </a:rPr>
                        <a:t>&gt;0.7</a:t>
                      </a:r>
                      <a:endParaRPr lang="en-US" altLang="zh-CN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kern="1200" dirty="0">
                          <a:effectLst/>
                        </a:rPr>
                        <a:t>&gt;</a:t>
                      </a:r>
                      <a:r>
                        <a:rPr lang="en-US" altLang="zh-CN" sz="1900" u="none" strike="noStrike" dirty="0">
                          <a:effectLst/>
                        </a:rPr>
                        <a:t>0.7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kern="1200" dirty="0">
                          <a:effectLst/>
                        </a:rPr>
                        <a:t>&gt;</a:t>
                      </a:r>
                      <a:r>
                        <a:rPr lang="en-US" altLang="zh-CN" sz="1900" u="none" strike="noStrike" dirty="0">
                          <a:effectLst/>
                        </a:rPr>
                        <a:t>0.7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</a:tr>
              <a:tr h="39646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900" u="none" strike="noStrike" dirty="0">
                          <a:effectLst/>
                        </a:rPr>
                        <a:t>显色指数</a:t>
                      </a:r>
                      <a:endParaRPr lang="zh-CN" alt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1900" u="none" strike="noStrike" kern="1200" dirty="0">
                          <a:effectLst/>
                        </a:rPr>
                        <a:t>&gt;80</a:t>
                      </a:r>
                      <a:endParaRPr lang="en-US" altLang="zh-CN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1900" u="none" strike="noStrike" kern="1200" dirty="0">
                          <a:effectLst/>
                        </a:rPr>
                        <a:t>&gt;80</a:t>
                      </a:r>
                      <a:endParaRPr lang="en-US" altLang="zh-CN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kern="1200" dirty="0">
                          <a:effectLst/>
                        </a:rPr>
                        <a:t>&gt;</a:t>
                      </a:r>
                      <a:r>
                        <a:rPr lang="en-US" altLang="zh-CN" sz="1900" u="none" strike="noStrike" dirty="0">
                          <a:effectLst/>
                        </a:rPr>
                        <a:t>80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kern="1200" dirty="0">
                          <a:effectLst/>
                        </a:rPr>
                        <a:t>&gt;</a:t>
                      </a:r>
                      <a:r>
                        <a:rPr lang="en-US" altLang="zh-CN" sz="1900" u="none" strike="noStrike" dirty="0">
                          <a:effectLst/>
                        </a:rPr>
                        <a:t>80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</a:tr>
              <a:tr h="39646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900" u="none" strike="noStrike" dirty="0">
                          <a:effectLst/>
                        </a:rPr>
                        <a:t>色温</a:t>
                      </a:r>
                      <a:endParaRPr lang="zh-CN" alt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sz="1900" u="none" strike="noStrike" kern="1200" dirty="0">
                          <a:effectLst/>
                        </a:rPr>
                        <a:t>3300~5500K</a:t>
                      </a:r>
                      <a:endParaRPr lang="en-US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dirty="0">
                          <a:effectLst/>
                        </a:rPr>
                        <a:t>/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u="none" strike="noStrike" dirty="0">
                          <a:effectLst/>
                        </a:rPr>
                        <a:t>3</a:t>
                      </a:r>
                      <a:r>
                        <a:rPr lang="en-US" altLang="zh-CN" sz="1900" u="none" strike="noStrike" dirty="0">
                          <a:effectLst/>
                        </a:rPr>
                        <a:t>0</a:t>
                      </a:r>
                      <a:r>
                        <a:rPr lang="en-US" sz="1900" u="none" strike="noStrike" dirty="0">
                          <a:effectLst/>
                        </a:rPr>
                        <a:t>00~5</a:t>
                      </a:r>
                      <a:r>
                        <a:rPr lang="en-US" altLang="zh-CN" sz="1900" u="none" strike="noStrike" dirty="0">
                          <a:effectLst/>
                        </a:rPr>
                        <a:t>0</a:t>
                      </a:r>
                      <a:r>
                        <a:rPr lang="en-US" sz="1900" u="none" strike="noStrike" dirty="0">
                          <a:effectLst/>
                        </a:rPr>
                        <a:t>00K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u="none" strike="noStrike" dirty="0">
                          <a:effectLst/>
                        </a:rPr>
                        <a:t>3300~5500K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</a:tr>
              <a:tr h="39646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900" u="none" strike="noStrike">
                          <a:effectLst/>
                        </a:rPr>
                        <a:t>眩光</a:t>
                      </a:r>
                      <a:endParaRPr lang="zh-CN" altLang="en-US" sz="1900" b="0" i="0" u="none" strike="noStrike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1900" u="none" strike="noStrike" kern="1200" dirty="0">
                          <a:effectLst/>
                        </a:rPr>
                        <a:t>&lt;19</a:t>
                      </a:r>
                      <a:endParaRPr lang="en-US" altLang="zh-CN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marL="0" algn="ctr" defTabSz="685800" rtl="0" eaLnBrk="1" fontAlgn="b" latinLnBrk="0" hangingPunct="1"/>
                      <a:r>
                        <a:rPr lang="en-US" altLang="zh-CN" sz="1900" u="none" strike="noStrike" kern="1200" dirty="0">
                          <a:effectLst/>
                        </a:rPr>
                        <a:t>&lt;19</a:t>
                      </a:r>
                      <a:endParaRPr lang="en-US" altLang="zh-CN" sz="19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dirty="0">
                          <a:effectLst/>
                        </a:rPr>
                        <a:t>16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dirty="0">
                          <a:effectLst/>
                        </a:rPr>
                        <a:t>16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</a:tr>
              <a:tr h="39646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900" u="none" strike="noStrike">
                          <a:effectLst/>
                        </a:rPr>
                        <a:t>频闪</a:t>
                      </a:r>
                      <a:endParaRPr lang="zh-CN" altLang="en-US" sz="1900" b="0" i="0" u="none" strike="noStrike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dirty="0">
                          <a:effectLst/>
                        </a:rPr>
                        <a:t>/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dirty="0">
                          <a:effectLst/>
                        </a:rPr>
                        <a:t>PST≤1</a:t>
                      </a:r>
                      <a:r>
                        <a:rPr lang="zh-CN" altLang="en-US" sz="1900" u="none" strike="noStrike" dirty="0">
                          <a:effectLst/>
                        </a:rPr>
                        <a:t>且</a:t>
                      </a:r>
                      <a:r>
                        <a:rPr lang="en-US" altLang="zh-CN" sz="1900" u="none" strike="noStrike" dirty="0">
                          <a:effectLst/>
                        </a:rPr>
                        <a:t>SVM≤1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dirty="0">
                          <a:effectLst/>
                        </a:rPr>
                        <a:t>/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dirty="0">
                          <a:effectLst/>
                        </a:rPr>
                        <a:t>3.20%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</a:tr>
              <a:tr h="396462"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900" u="none" strike="noStrike" dirty="0">
                          <a:effectLst/>
                        </a:rPr>
                        <a:t>蓝光危害</a:t>
                      </a:r>
                      <a:endParaRPr lang="zh-CN" alt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dirty="0">
                          <a:effectLst/>
                        </a:rPr>
                        <a:t>≤RG1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900" u="none" strike="noStrike" dirty="0">
                          <a:effectLst/>
                        </a:rPr>
                        <a:t>≤RG1</a:t>
                      </a:r>
                      <a:endParaRPr lang="en-US" altLang="zh-CN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u="none" strike="noStrike" dirty="0">
                          <a:effectLst/>
                        </a:rPr>
                        <a:t>RG</a:t>
                      </a:r>
                      <a:r>
                        <a:rPr lang="en-US" altLang="zh-CN" sz="1900" u="none" strike="noStrike" dirty="0">
                          <a:effectLst/>
                        </a:rPr>
                        <a:t>0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u="none" strike="noStrike" dirty="0">
                          <a:effectLst/>
                        </a:rPr>
                        <a:t>≤RG1</a:t>
                      </a:r>
                      <a:endParaRPr lang="en-US" sz="1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" marR="10160" marT="10160" marB="0" anchor="ctr"/>
                </a:tc>
              </a:tr>
            </a:tbl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375028" y="286735"/>
            <a:ext cx="4916731" cy="523220"/>
            <a:chOff x="443124" y="286735"/>
            <a:chExt cx="4916731" cy="523220"/>
          </a:xfrm>
        </p:grpSpPr>
        <p:sp>
          <p:nvSpPr>
            <p:cNvPr id="45" name="矩形 44"/>
            <p:cNvSpPr/>
            <p:nvPr/>
          </p:nvSpPr>
          <p:spPr>
            <a:xfrm>
              <a:off x="443124" y="286735"/>
              <a:ext cx="491673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rPr>
                <a:t>市场应用    教育照明行业标准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2174240" y="375920"/>
              <a:ext cx="0" cy="31496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2"/>
          <a:stretch>
            <a:fillRect/>
          </a:stretch>
        </p:blipFill>
        <p:spPr bwMode="auto">
          <a:xfrm>
            <a:off x="0" y="1354238"/>
            <a:ext cx="12192000" cy="359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9"/>
          <p:cNvSpPr txBox="1">
            <a:spLocks noChangeAspect="1"/>
          </p:cNvSpPr>
          <p:nvPr/>
        </p:nvSpPr>
        <p:spPr>
          <a:xfrm>
            <a:off x="5078705" y="5303707"/>
            <a:ext cx="1650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64235"/>
            <a:r>
              <a:rPr lang="zh-CN" altLang="en-US" spc="3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专业光学</a:t>
            </a:r>
            <a:endParaRPr lang="zh-CN" altLang="en-US" spc="3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TextBox 30"/>
          <p:cNvSpPr txBox="1">
            <a:spLocks noChangeAspect="1"/>
          </p:cNvSpPr>
          <p:nvPr/>
        </p:nvSpPr>
        <p:spPr>
          <a:xfrm>
            <a:off x="5134498" y="5606204"/>
            <a:ext cx="3394660" cy="112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上下出光，环境更加明亮通透</a:t>
            </a:r>
            <a:endParaRPr lang="zh-CN" altLang="en-US" sz="11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出光画面更均匀，整洁美观</a:t>
            </a:r>
            <a:endParaRPr lang="zh-CN" altLang="en-US" sz="11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低眩光、无频闪及蓝光危害</a:t>
            </a:r>
            <a:endParaRPr lang="en-US" altLang="zh-CN" sz="11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高显指</a:t>
            </a:r>
            <a:r>
              <a:rPr lang="en-US" altLang="zh-CN" sz="1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Ra&gt;90; R9&gt;60;R15&gt;60   </a:t>
            </a:r>
            <a:endParaRPr lang="en-US" altLang="zh-CN" sz="11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413591" y="5163685"/>
            <a:ext cx="720907" cy="680153"/>
          </a:xfrm>
          <a:prstGeom prst="rect">
            <a:avLst/>
          </a:prstGeom>
          <a:noFill/>
        </p:spPr>
      </p:pic>
      <p:sp>
        <p:nvSpPr>
          <p:cNvPr id="29" name="TextBox 29"/>
          <p:cNvSpPr txBox="1">
            <a:spLocks noChangeAspect="1"/>
          </p:cNvSpPr>
          <p:nvPr/>
        </p:nvSpPr>
        <p:spPr>
          <a:xfrm>
            <a:off x="8990009" y="5274828"/>
            <a:ext cx="162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64235"/>
            <a:r>
              <a:rPr lang="zh-CN" altLang="en-US" spc="3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安全可靠</a:t>
            </a:r>
            <a:endParaRPr lang="zh-CN" altLang="en-US" spc="3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TextBox 30"/>
          <p:cNvSpPr txBox="1">
            <a:spLocks noChangeAspect="1"/>
          </p:cNvSpPr>
          <p:nvPr/>
        </p:nvSpPr>
        <p:spPr>
          <a:xfrm>
            <a:off x="8990009" y="5647918"/>
            <a:ext cx="3394660" cy="847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它具有</a:t>
            </a:r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50000H</a:t>
            </a: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使用寿命</a:t>
            </a:r>
            <a:endParaRPr lang="en-US" altLang="zh-CN" sz="11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sz="1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IP40 </a:t>
            </a: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防护等级，有效防止灰尘及飞虫进入</a:t>
            </a:r>
            <a:endParaRPr lang="en-US" altLang="zh-CN" sz="11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防冲击水平达到</a:t>
            </a:r>
            <a:r>
              <a:rPr lang="en-US" altLang="zh-CN" sz="1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IK03</a:t>
            </a: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。使用更放心。</a:t>
            </a:r>
            <a:endParaRPr lang="zh-CN" altLang="en-US" sz="11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15054" y="5287069"/>
            <a:ext cx="455356" cy="433383"/>
          </a:xfrm>
          <a:prstGeom prst="rect">
            <a:avLst/>
          </a:prstGeom>
          <a:noFill/>
        </p:spPr>
      </p:pic>
      <p:sp>
        <p:nvSpPr>
          <p:cNvPr id="32" name="TextBox 29"/>
          <p:cNvSpPr txBox="1">
            <a:spLocks noChangeAspect="1"/>
          </p:cNvSpPr>
          <p:nvPr/>
        </p:nvSpPr>
        <p:spPr>
          <a:xfrm>
            <a:off x="1033808" y="5319038"/>
            <a:ext cx="1650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64235"/>
            <a:r>
              <a:rPr lang="zh-CN" altLang="en-US" spc="3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智慧课堂</a:t>
            </a:r>
            <a:endParaRPr lang="zh-CN" altLang="en-US" spc="3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72417" y="5299205"/>
            <a:ext cx="549688" cy="439776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0"/>
          <p:cNvSpPr txBox="1">
            <a:spLocks noChangeAspect="1"/>
          </p:cNvSpPr>
          <p:nvPr/>
        </p:nvSpPr>
        <p:spPr>
          <a:xfrm>
            <a:off x="1033807" y="5690269"/>
            <a:ext cx="3228452" cy="867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采用欧普智慧系统</a:t>
            </a:r>
            <a:endParaRPr lang="en-US" altLang="zh-CN" sz="11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可调光</a:t>
            </a: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功能智慧面板，一键切换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四种课堂模式</a:t>
            </a: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，满足教学的各种场景需求。</a:t>
            </a:r>
            <a:endParaRPr lang="zh-CN" altLang="en-US" sz="11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35638" y="289934"/>
            <a:ext cx="3449320" cy="521970"/>
            <a:chOff x="435638" y="289934"/>
            <a:chExt cx="3449320" cy="521970"/>
          </a:xfrm>
        </p:grpSpPr>
        <p:sp>
          <p:nvSpPr>
            <p:cNvPr id="16" name="矩形 15"/>
            <p:cNvSpPr/>
            <p:nvPr/>
          </p:nvSpPr>
          <p:spPr>
            <a:xfrm>
              <a:off x="435638" y="289934"/>
              <a:ext cx="3449320" cy="5219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rPr>
                <a:t>产品介绍   核心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rPr>
                <a:t>卖点 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endParaRPr>
            </a:p>
          </p:txBody>
        </p:sp>
        <p:cxnSp>
          <p:nvCxnSpPr>
            <p:cNvPr id="35" name="直接连接符 34"/>
            <p:cNvCxnSpPr/>
            <p:nvPr/>
          </p:nvCxnSpPr>
          <p:spPr>
            <a:xfrm>
              <a:off x="2123872" y="387377"/>
              <a:ext cx="0" cy="31496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图片 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9" r="8624" b="19572"/>
          <a:stretch>
            <a:fillRect/>
          </a:stretch>
        </p:blipFill>
        <p:spPr bwMode="auto">
          <a:xfrm>
            <a:off x="1022350" y="1696720"/>
            <a:ext cx="4381500" cy="3074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 descr="博阅II上下出光-小十字格栅 (2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961380" y="1685925"/>
            <a:ext cx="5220335" cy="2936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404866" y="1629107"/>
            <a:ext cx="5679440" cy="42645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13803" y="3372144"/>
            <a:ext cx="39064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四种课堂模式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配备四种课堂模式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上课、自习、投影、课间模式</a:t>
            </a:r>
            <a:endParaRPr lang="en-US" altLang="zh-CN" sz="1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一键切换，提高课堂教学效率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13804" y="4391430"/>
            <a:ext cx="390647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构建智慧场景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匹配睿壹系统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同时可搭配多种欧普智能模块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满足多种</a:t>
            </a:r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智慧教室配置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107696" y="1629107"/>
            <a:ext cx="6109016" cy="4264531"/>
            <a:chOff x="467544" y="339502"/>
            <a:chExt cx="8317295" cy="4032449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rcRect t="4958" b="10682"/>
            <a:stretch>
              <a:fillRect/>
            </a:stretch>
          </p:blipFill>
          <p:spPr>
            <a:xfrm>
              <a:off x="467544" y="339502"/>
              <a:ext cx="8317295" cy="4032449"/>
            </a:xfrm>
            <a:prstGeom prst="rect">
              <a:avLst/>
            </a:prstGeom>
          </p:spPr>
        </p:pic>
        <p:sp>
          <p:nvSpPr>
            <p:cNvPr id="14" name="椭圆 13"/>
            <p:cNvSpPr/>
            <p:nvPr/>
          </p:nvSpPr>
          <p:spPr>
            <a:xfrm>
              <a:off x="2031253" y="796736"/>
              <a:ext cx="5454606" cy="2937325"/>
            </a:xfrm>
            <a:prstGeom prst="ellipse">
              <a:avLst/>
            </a:prstGeom>
            <a:noFill/>
            <a:ln w="57150">
              <a:solidFill>
                <a:srgbClr val="E2B700"/>
              </a:solidFill>
            </a:ln>
            <a:effectLst>
              <a:glow rad="101600">
                <a:schemeClr val="accent6">
                  <a:satMod val="175000"/>
                  <a:alpha val="40000"/>
                </a:schemeClr>
              </a:glow>
            </a:effectLst>
            <a:scene3d>
              <a:camera prst="orthographicFront"/>
              <a:lightRig rig="threePt" dir="t"/>
            </a:scene3d>
            <a:sp3d extrusionH="50800" contourW="6350" prstMaterial="translucentPowder">
              <a:bevelT/>
              <a:extrusionClr>
                <a:schemeClr val="bg1"/>
              </a:extrusionClr>
              <a:contourClr>
                <a:schemeClr val="accent6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3935889" y="472700"/>
              <a:ext cx="1512168" cy="758623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照度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5448057" y="3205748"/>
              <a:ext cx="1494219" cy="809747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集中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管理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3597203" y="1772455"/>
              <a:ext cx="2189539" cy="97189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智慧</a:t>
              </a:r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教室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6813547" y="1786231"/>
              <a:ext cx="1512168" cy="758623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场景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模式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167934" y="1786231"/>
              <a:ext cx="1512168" cy="758623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无线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2680102" y="3205747"/>
              <a:ext cx="1494219" cy="809747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感应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1213806" y="2168193"/>
            <a:ext cx="3906475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可</a:t>
            </a:r>
            <a:r>
              <a:rPr lang="zh-CN" altLang="en-US" dirty="0">
                <a:solidFill>
                  <a:schemeClr val="tx1"/>
                </a:solidFill>
              </a:rPr>
              <a:t>调光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sz="400" dirty="0"/>
          </a:p>
          <a:p>
            <a:r>
              <a:rPr lang="zh-CN" altLang="en-US" sz="1200" b="0" dirty="0">
                <a:solidFill>
                  <a:schemeClr val="tx1"/>
                </a:solidFill>
              </a:rPr>
              <a:t>支持</a:t>
            </a:r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</a:rPr>
              <a:t>10%~100%</a:t>
            </a:r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</a:rPr>
              <a:t>调光</a:t>
            </a:r>
            <a:endParaRPr lang="en-US" altLang="zh-CN" sz="12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zh-CN" altLang="en-US" sz="1200" b="0" dirty="0">
                <a:solidFill>
                  <a:schemeClr val="tx1"/>
                </a:solidFill>
              </a:rPr>
              <a:t>可根据需求进行灯光亮度调节，从而到达到最佳课堂光环境</a:t>
            </a:r>
            <a:endParaRPr lang="en-US" altLang="zh-CN" sz="1200" b="0" dirty="0">
              <a:solidFill>
                <a:schemeClr val="tx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45366" y="270477"/>
            <a:ext cx="3374642" cy="523220"/>
            <a:chOff x="445366" y="270477"/>
            <a:chExt cx="3374642" cy="523220"/>
          </a:xfrm>
        </p:grpSpPr>
        <p:grpSp>
          <p:nvGrpSpPr>
            <p:cNvPr id="4" name="组合 3"/>
            <p:cNvGrpSpPr/>
            <p:nvPr/>
          </p:nvGrpSpPr>
          <p:grpSpPr>
            <a:xfrm>
              <a:off x="445366" y="270477"/>
              <a:ext cx="3374642" cy="523220"/>
              <a:chOff x="445366" y="319117"/>
              <a:chExt cx="3374642" cy="52322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445366" y="319117"/>
                <a:ext cx="337464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方正兰亭准黑简体" charset="-122"/>
                  </a:rPr>
                  <a:t>核心卖点</a:t>
                </a:r>
                <a:r>
                  <a:rPr lang="en-US" altLang="zh-CN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方正兰亭准黑简体" charset="-122"/>
                  </a:rPr>
                  <a:t>   </a:t>
                </a:r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方正兰亭准黑简体" charset="-122"/>
                  </a:rPr>
                  <a:t>智慧课堂</a:t>
                </a:r>
                <a:endPara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 flipH="1">
                <a:off x="2105069" y="436727"/>
                <a:ext cx="18000" cy="288000"/>
              </a:xfrm>
              <a:prstGeom prst="rect">
                <a:avLst/>
              </a:prstGeom>
              <a:solidFill>
                <a:srgbClr val="C7A2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445366" y="319117"/>
                <a:ext cx="162095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方正兰亭准黑简体" charset="-122"/>
                  </a:rPr>
                  <a:t>核心卖点</a:t>
                </a:r>
                <a:endPara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25" name="直接连接符 24"/>
            <p:cNvCxnSpPr/>
            <p:nvPr/>
          </p:nvCxnSpPr>
          <p:spPr>
            <a:xfrm>
              <a:off x="2113280" y="367920"/>
              <a:ext cx="0" cy="31496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 cstate="email"/>
          <a:srcRect l="7457" t="19509" r="4236"/>
          <a:stretch>
            <a:fillRect/>
          </a:stretch>
        </p:blipFill>
        <p:spPr>
          <a:xfrm>
            <a:off x="-61015" y="1198822"/>
            <a:ext cx="6157015" cy="2841954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-30509" y="2630824"/>
            <a:ext cx="6157016" cy="1402671"/>
          </a:xfrm>
          <a:prstGeom prst="rect">
            <a:avLst/>
          </a:prstGeom>
          <a:solidFill>
            <a:schemeClr val="tx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email"/>
          <a:srcRect t="18317"/>
          <a:stretch>
            <a:fillRect/>
          </a:stretch>
        </p:blipFill>
        <p:spPr>
          <a:xfrm>
            <a:off x="5956300" y="4016046"/>
            <a:ext cx="6375400" cy="284195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6065491" y="5454165"/>
            <a:ext cx="6157016" cy="1402671"/>
          </a:xfrm>
          <a:prstGeom prst="rect">
            <a:avLst/>
          </a:prstGeom>
          <a:solidFill>
            <a:schemeClr val="tx1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1832" y="58705"/>
            <a:ext cx="4875053" cy="523220"/>
            <a:chOff x="445366" y="319117"/>
            <a:chExt cx="4875053" cy="523220"/>
          </a:xfrm>
        </p:grpSpPr>
        <p:sp>
          <p:nvSpPr>
            <p:cNvPr id="3" name="矩形 2"/>
            <p:cNvSpPr/>
            <p:nvPr/>
          </p:nvSpPr>
          <p:spPr>
            <a:xfrm>
              <a:off x="445366" y="319117"/>
              <a:ext cx="487505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rPr>
                <a:t>核心卖点</a:t>
              </a:r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rPr>
                <a:t>   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rPr>
                <a:t>智慧课堂 </a:t>
              </a:r>
              <a:r>
                <a:rPr lang="zh-CN" altLang="en-US" dirty="0">
                  <a:latin typeface="黑体" panose="02010609060101010101" charset="-122"/>
                  <a:ea typeface="黑体" panose="02010609060101010101" charset="-122"/>
                  <a:cs typeface="Times New Roman" panose="02020603050405020304" pitchFamily="18" charset="0"/>
                </a:rPr>
                <a:t>场景模式介绍</a:t>
              </a:r>
              <a:endParaRPr lang="zh-CN" altLang="en-US" dirty="0">
                <a:latin typeface="黑体" panose="02010609060101010101" charset="-122"/>
                <a:ea typeface="黑体" panose="02010609060101010101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 flipH="1">
              <a:off x="2105069" y="436727"/>
              <a:ext cx="18000" cy="288000"/>
            </a:xfrm>
            <a:prstGeom prst="rect">
              <a:avLst/>
            </a:prstGeom>
            <a:solidFill>
              <a:srgbClr val="C7A2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 flipH="1">
              <a:off x="2105069" y="436727"/>
              <a:ext cx="18000" cy="288000"/>
            </a:xfrm>
            <a:prstGeom prst="rect">
              <a:avLst/>
            </a:prstGeom>
            <a:solidFill>
              <a:srgbClr val="C7A2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email"/>
          <a:srcRect t="25723" b="5950"/>
          <a:stretch>
            <a:fillRect/>
          </a:stretch>
        </p:blipFill>
        <p:spPr>
          <a:xfrm>
            <a:off x="6065492" y="1198822"/>
            <a:ext cx="6157015" cy="281722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4" cstate="email"/>
          <a:srcRect l="8173" t="22075" r="8293" b="1"/>
          <a:stretch>
            <a:fillRect/>
          </a:stretch>
        </p:blipFill>
        <p:spPr>
          <a:xfrm>
            <a:off x="-30510" y="4016045"/>
            <a:ext cx="6139667" cy="3092677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095999" y="2635291"/>
            <a:ext cx="6095999" cy="1380754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1832" y="5455328"/>
            <a:ext cx="6074168" cy="1402671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"/>
          <p:cNvSpPr txBox="1"/>
          <p:nvPr/>
        </p:nvSpPr>
        <p:spPr>
          <a:xfrm>
            <a:off x="89855" y="2713881"/>
            <a:ext cx="3863237" cy="30264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b="1" dirty="0">
                <a:solidFill>
                  <a:srgbClr val="E9B9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LanTingHeiS-R-GB" charset="-122"/>
              </a:rPr>
              <a:t>上课模式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LanTingHeiS-R-GB" charset="-122"/>
              </a:rPr>
              <a:t>—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LanTingHeiS-R-GB" charset="-122"/>
              </a:rPr>
              <a:t>整体环境明亮 与自然光的动态平衡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FZLanTingHeiS-R-GB" charset="-122"/>
            </a:endParaRPr>
          </a:p>
        </p:txBody>
      </p:sp>
      <p:sp>
        <p:nvSpPr>
          <p:cNvPr id="14" name="TextBox 1"/>
          <p:cNvSpPr txBox="1"/>
          <p:nvPr/>
        </p:nvSpPr>
        <p:spPr>
          <a:xfrm>
            <a:off x="6205191" y="2714202"/>
            <a:ext cx="3553858" cy="30264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>
            <a:defPPr>
              <a:defRPr lang="zh-CN"/>
            </a:defPPr>
            <a:lvl1pPr>
              <a:lnSpc>
                <a:spcPts val="2000"/>
              </a:lnSpc>
              <a:defRPr sz="1400" b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LanTingHeiS-R-GB" charset="-122"/>
              </a:defRPr>
            </a:lvl1pPr>
          </a:lstStyle>
          <a:p>
            <a:r>
              <a:rPr lang="en-US" altLang="zh-CN" sz="2000" dirty="0">
                <a:solidFill>
                  <a:srgbClr val="E9B933"/>
                </a:solidFill>
              </a:rPr>
              <a:t>投影模式</a:t>
            </a:r>
            <a:r>
              <a:rPr lang="en-US" altLang="zh-CN" dirty="0">
                <a:solidFill>
                  <a:schemeClr val="bg1"/>
                </a:solidFill>
              </a:rPr>
              <a:t>—</a:t>
            </a:r>
            <a:r>
              <a:rPr lang="zh-CN" altLang="en-US" dirty="0">
                <a:solidFill>
                  <a:schemeClr val="bg1"/>
                </a:solidFill>
              </a:rPr>
              <a:t>保持基础照度，突出投影效果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03897" y="3070504"/>
            <a:ext cx="5461593" cy="794192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教室灯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黑板灯正常开启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窗帘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自然光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照度传感器开始工作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教室灯根据照度传感器自动调节亮度，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达到人工照明与自然光动态平衡的效果，并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使桌面照度维持在350LUX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699897" y="3067769"/>
            <a:ext cx="5492100" cy="537711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黑板灯关闭，窗帘关闭，自然光被屏蔽，照度传感器停止工作，调节教室灯亮度，使桌面照度维持在100LUX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低照度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"/>
          <p:cNvSpPr txBox="1"/>
          <p:nvPr/>
        </p:nvSpPr>
        <p:spPr>
          <a:xfrm>
            <a:off x="6250658" y="5530435"/>
            <a:ext cx="3553858" cy="30264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>
            <a:defPPr>
              <a:defRPr lang="zh-CN"/>
            </a:defPPr>
            <a:lvl1pPr>
              <a:lnSpc>
                <a:spcPts val="2000"/>
              </a:lnSpc>
              <a:defRPr sz="1400" b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LanTingHeiS-R-GB" charset="-122"/>
              </a:defRPr>
            </a:lvl1pPr>
          </a:lstStyle>
          <a:p>
            <a:r>
              <a:rPr lang="zh-CN" altLang="en-US" sz="2000" dirty="0">
                <a:solidFill>
                  <a:srgbClr val="E9B933"/>
                </a:solidFill>
              </a:rPr>
              <a:t>自习</a:t>
            </a:r>
            <a:r>
              <a:rPr lang="en-US" altLang="zh-CN" sz="2000" dirty="0" err="1">
                <a:solidFill>
                  <a:srgbClr val="E9B933"/>
                </a:solidFill>
              </a:rPr>
              <a:t>模式</a:t>
            </a:r>
            <a:r>
              <a:rPr lang="en-US" altLang="zh-CN" dirty="0">
                <a:solidFill>
                  <a:schemeClr val="bg1"/>
                </a:solidFill>
              </a:rPr>
              <a:t>—</a:t>
            </a:r>
            <a:r>
              <a:rPr lang="zh-CN" altLang="en-US" dirty="0">
                <a:solidFill>
                  <a:schemeClr val="bg1"/>
                </a:solidFill>
              </a:rPr>
              <a:t>桌面高照度，集中学生注意力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20" name="TextBox 1"/>
          <p:cNvSpPr txBox="1"/>
          <p:nvPr/>
        </p:nvSpPr>
        <p:spPr>
          <a:xfrm>
            <a:off x="144518" y="5530434"/>
            <a:ext cx="3553858" cy="30264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>
            <a:defPPr>
              <a:defRPr lang="zh-CN"/>
            </a:defPPr>
            <a:lvl1pPr>
              <a:lnSpc>
                <a:spcPts val="2000"/>
              </a:lnSpc>
              <a:defRPr sz="1400" b="1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FZLanTingHeiS-R-GB" charset="-122"/>
              </a:defRPr>
            </a:lvl1pPr>
          </a:lstStyle>
          <a:p>
            <a:r>
              <a:rPr lang="zh-CN" altLang="en-US" sz="2000" dirty="0">
                <a:solidFill>
                  <a:srgbClr val="E9B933"/>
                </a:solidFill>
              </a:rPr>
              <a:t>课间</a:t>
            </a:r>
            <a:r>
              <a:rPr lang="en-US" altLang="zh-CN" sz="2000" dirty="0" err="1">
                <a:solidFill>
                  <a:srgbClr val="E9B933"/>
                </a:solidFill>
              </a:rPr>
              <a:t>模式</a:t>
            </a:r>
            <a:r>
              <a:rPr lang="en-US" altLang="zh-CN" dirty="0">
                <a:solidFill>
                  <a:schemeClr val="bg1"/>
                </a:solidFill>
              </a:rPr>
              <a:t>—</a:t>
            </a:r>
            <a:r>
              <a:rPr lang="zh-CN" altLang="en-US" dirty="0">
                <a:solidFill>
                  <a:schemeClr val="bg1"/>
                </a:solidFill>
              </a:rPr>
              <a:t>降低能耗，保持环境安全照度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699898" y="5840967"/>
            <a:ext cx="5470271" cy="794192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教室灯开启，黑板灯关闭，窗帘开启，自然光进入，照度传感器开始工作，教室灯根据照度传感器的预设数值，自动调节亮度，并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使桌面照度维持在350LUX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00281" y="5900215"/>
            <a:ext cx="5345103" cy="537711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黑板灯关闭，窗帘开启，自然光进入，照度传感器停止工作，调节教室灯亮度，使桌面照度维持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在200LUX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587240" y="690880"/>
            <a:ext cx="760476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智能教室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一键切换</a:t>
            </a:r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四种课堂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模式，满足不同教学场景灯光需求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1681535" y="176315"/>
            <a:ext cx="0" cy="31496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00"/>
          <p:cNvSpPr/>
          <p:nvPr/>
        </p:nvSpPr>
        <p:spPr bwMode="auto">
          <a:xfrm>
            <a:off x="507365" y="3887470"/>
            <a:ext cx="3462655" cy="2221865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none" lIns="90000" tIns="46800" rIns="90000" bIns="4680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  <a:defRPr/>
            </a:pPr>
            <a:endParaRPr lang="en-US">
              <a:latin typeface="Arial" panose="020B0604020202020204" pitchFamily="34" charset="0"/>
              <a:sym typeface="+mn-ea"/>
            </a:endParaRPr>
          </a:p>
        </p:txBody>
      </p:sp>
      <p:sp>
        <p:nvSpPr>
          <p:cNvPr id="21" name="Rechteck 100"/>
          <p:cNvSpPr/>
          <p:nvPr/>
        </p:nvSpPr>
        <p:spPr bwMode="auto">
          <a:xfrm>
            <a:off x="504190" y="1127125"/>
            <a:ext cx="3423920" cy="269303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22" name="Textfeld 102"/>
          <p:cNvSpPr txBox="1"/>
          <p:nvPr/>
        </p:nvSpPr>
        <p:spPr>
          <a:xfrm>
            <a:off x="429232" y="1167217"/>
            <a:ext cx="3150963" cy="2247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使用场景：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有统一管理的要求，实现智慧学校云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平台统一管理的项目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系统特点：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1000" indent="-381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335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教室功能齐全</a:t>
            </a:r>
            <a:endParaRPr lang="en-US" altLang="zh-CN" sz="13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1000" indent="-381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335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云平台远程统一管理，更高效，更便捷，功能更丰富</a:t>
            </a:r>
            <a:endParaRPr lang="en-US" altLang="zh-CN" sz="13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1000" indent="-3810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1335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可与学校智能系统实现数据对接</a:t>
            </a:r>
            <a:endParaRPr lang="en-US" altLang="zh-CN" sz="133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feld 103"/>
          <p:cNvSpPr txBox="1"/>
          <p:nvPr/>
        </p:nvSpPr>
        <p:spPr>
          <a:xfrm>
            <a:off x="7196819" y="1869273"/>
            <a:ext cx="4995181" cy="281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en-US" altLang="zh-CN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1"/>
          <a:srcRect l="1736" r="9282" b="-12"/>
          <a:stretch>
            <a:fillRect/>
          </a:stretch>
        </p:blipFill>
        <p:spPr>
          <a:xfrm>
            <a:off x="3863975" y="1127125"/>
            <a:ext cx="7713345" cy="4982210"/>
          </a:xfrm>
          <a:prstGeom prst="rect">
            <a:avLst/>
          </a:prstGeom>
        </p:spPr>
      </p:pic>
      <p:sp>
        <p:nvSpPr>
          <p:cNvPr id="25" name="Rechteck 100"/>
          <p:cNvSpPr/>
          <p:nvPr/>
        </p:nvSpPr>
        <p:spPr bwMode="auto">
          <a:xfrm>
            <a:off x="3928110" y="4865370"/>
            <a:ext cx="7739380" cy="1245235"/>
          </a:xfrm>
          <a:prstGeom prst="rect">
            <a:avLst/>
          </a:prstGeom>
          <a:solidFill>
            <a:schemeClr val="tx1">
              <a:alpha val="36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47" t="17315" r="29554" b="14086"/>
          <a:stretch>
            <a:fillRect/>
          </a:stretch>
        </p:blipFill>
        <p:spPr>
          <a:xfrm>
            <a:off x="3928982" y="5154397"/>
            <a:ext cx="804476" cy="766597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47" t="7367" r="15632" b="16359"/>
          <a:stretch>
            <a:fillRect/>
          </a:stretch>
        </p:blipFill>
        <p:spPr>
          <a:xfrm>
            <a:off x="8754100" y="5134428"/>
            <a:ext cx="1387628" cy="733248"/>
          </a:xfrm>
          <a:prstGeom prst="rect">
            <a:avLst/>
          </a:prstGeom>
        </p:spPr>
      </p:pic>
      <p:pic>
        <p:nvPicPr>
          <p:cNvPr id="30" name="图片 29" descr="无线智能窗帘机"/>
          <p:cNvPicPr>
            <a:picLocks noChangeAspect="1"/>
          </p:cNvPicPr>
          <p:nvPr/>
        </p:nvPicPr>
        <p:blipFill>
          <a:blip r:embed="rId4"/>
          <a:srcRect l="17976" t="22151" r="16026" b="24922"/>
          <a:stretch>
            <a:fillRect/>
          </a:stretch>
        </p:blipFill>
        <p:spPr>
          <a:xfrm rot="20103616">
            <a:off x="10133740" y="5037061"/>
            <a:ext cx="1383572" cy="889612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5375271" y="2859419"/>
            <a:ext cx="0" cy="2516348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7978940" y="2421819"/>
            <a:ext cx="0" cy="2953948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连接符 32"/>
          <p:cNvCxnSpPr/>
          <p:nvPr/>
        </p:nvCxnSpPr>
        <p:spPr>
          <a:xfrm rot="16200000" flipV="1">
            <a:off x="7345932" y="3097379"/>
            <a:ext cx="3320305" cy="864095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11233208" y="2611932"/>
            <a:ext cx="0" cy="2763835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344571" y="3630252"/>
            <a:ext cx="0" cy="1526716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15"/>
          <p:cNvSpPr txBox="1"/>
          <p:nvPr/>
        </p:nvSpPr>
        <p:spPr>
          <a:xfrm>
            <a:off x="4576374" y="5814501"/>
            <a:ext cx="2015044" cy="31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200">
              <a:defRPr/>
            </a:pPr>
            <a:r>
              <a:rPr lang="zh-CN" altLang="en-US" sz="1465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黑板灯（蓝牙）</a:t>
            </a:r>
            <a:endParaRPr lang="zh-CN" altLang="en-US" sz="1465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15"/>
          <p:cNvSpPr txBox="1"/>
          <p:nvPr/>
        </p:nvSpPr>
        <p:spPr>
          <a:xfrm>
            <a:off x="7315200" y="5814695"/>
            <a:ext cx="1526540" cy="31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200">
              <a:defRPr/>
            </a:pPr>
            <a:r>
              <a:rPr lang="zh-CN" altLang="en-US" sz="1465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教育灯盘</a:t>
            </a:r>
            <a:endParaRPr lang="zh-CN" altLang="en-US" sz="1465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5"/>
          <p:cNvSpPr txBox="1"/>
          <p:nvPr/>
        </p:nvSpPr>
        <p:spPr>
          <a:xfrm>
            <a:off x="8435354" y="5797101"/>
            <a:ext cx="2152621" cy="31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2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465" b="1" dirty="0">
                <a:solidFill>
                  <a:schemeClr val="bg1"/>
                </a:solidFill>
              </a:rPr>
              <a:t>照度传感器</a:t>
            </a:r>
            <a:endParaRPr lang="zh-CN" altLang="en-US" sz="1465" b="1" dirty="0">
              <a:solidFill>
                <a:schemeClr val="bg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0044984" y="5739739"/>
            <a:ext cx="2015044" cy="31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65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窗帘电机</a:t>
            </a:r>
            <a:endParaRPr lang="zh-CN" altLang="en-US" sz="1465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5"/>
          <p:cNvSpPr txBox="1"/>
          <p:nvPr/>
        </p:nvSpPr>
        <p:spPr>
          <a:xfrm>
            <a:off x="3368218" y="5814501"/>
            <a:ext cx="2032471" cy="31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200">
              <a:defRPr/>
            </a:pPr>
            <a:r>
              <a:rPr lang="zh-CN" altLang="en-US" sz="1465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蓝牙面板</a:t>
            </a:r>
            <a:endParaRPr lang="zh-CN" altLang="en-US" sz="1465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feld 103"/>
          <p:cNvSpPr txBox="1"/>
          <p:nvPr/>
        </p:nvSpPr>
        <p:spPr>
          <a:xfrm>
            <a:off x="515450" y="3943715"/>
            <a:ext cx="3249024" cy="1544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0000"/>
              </a:lnSpc>
              <a:defRPr sz="1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 dirty="0"/>
              <a:t>主要功能一览：</a:t>
            </a:r>
            <a:endParaRPr lang="en-US" altLang="zh-CN" sz="1600" dirty="0"/>
          </a:p>
          <a:p>
            <a:endParaRPr lang="en-US" altLang="zh-CN" sz="1400" b="0" dirty="0"/>
          </a:p>
          <a:p>
            <a:r>
              <a:rPr lang="en-US" altLang="zh-CN" sz="1400" b="0" dirty="0"/>
              <a:t>—</a:t>
            </a:r>
            <a:r>
              <a:rPr lang="zh-CN" altLang="en-US" sz="1400" b="0" dirty="0"/>
              <a:t>场景模式</a:t>
            </a:r>
            <a:endParaRPr lang="en-US" altLang="zh-CN" sz="1400" b="0" dirty="0"/>
          </a:p>
          <a:p>
            <a:r>
              <a:rPr lang="en-US" altLang="zh-CN" sz="1400" b="0" dirty="0"/>
              <a:t>—</a:t>
            </a:r>
            <a:r>
              <a:rPr lang="zh-CN" altLang="en-US" sz="1400" b="0" dirty="0"/>
              <a:t>照度管理</a:t>
            </a:r>
            <a:endParaRPr lang="en-US" altLang="zh-CN" sz="1400" b="0" dirty="0"/>
          </a:p>
          <a:p>
            <a:r>
              <a:rPr lang="en-US" altLang="zh-CN" sz="1400" b="0" dirty="0"/>
              <a:t>—</a:t>
            </a:r>
            <a:r>
              <a:rPr lang="zh-CN" altLang="en-US" sz="1400" b="0" dirty="0"/>
              <a:t>手动控制</a:t>
            </a:r>
            <a:endParaRPr lang="en-US" altLang="zh-CN" sz="1400" b="0" dirty="0"/>
          </a:p>
          <a:p>
            <a:r>
              <a:rPr lang="en-US" altLang="zh-CN" sz="1400" b="0" dirty="0"/>
              <a:t>—</a:t>
            </a:r>
            <a:r>
              <a:rPr lang="zh-CN" altLang="en-US" sz="1400" b="0" dirty="0"/>
              <a:t>独立控制</a:t>
            </a:r>
            <a:endParaRPr lang="en-US" altLang="zh-CN" sz="1400" b="0" dirty="0"/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 rotWithShape="1">
          <a:blip r:embed="rId5"/>
          <a:srcRect l="4777" t="3242" r="945" b="3907"/>
          <a:stretch>
            <a:fillRect/>
          </a:stretch>
        </p:blipFill>
        <p:spPr>
          <a:xfrm>
            <a:off x="6355860" y="5145317"/>
            <a:ext cx="864601" cy="630925"/>
          </a:xfrm>
          <a:prstGeom prst="rect">
            <a:avLst/>
          </a:prstGeom>
        </p:spPr>
      </p:pic>
      <p:sp>
        <p:nvSpPr>
          <p:cNvPr id="43" name="文本框 15"/>
          <p:cNvSpPr txBox="1"/>
          <p:nvPr/>
        </p:nvSpPr>
        <p:spPr>
          <a:xfrm>
            <a:off x="5773573" y="5796331"/>
            <a:ext cx="2015044" cy="31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200">
              <a:defRPr/>
            </a:pPr>
            <a:r>
              <a:rPr lang="zh-CN" altLang="en-US" sz="1465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蓝牙网关</a:t>
            </a:r>
            <a:endParaRPr lang="zh-CN" altLang="en-US" sz="1465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直接连接符 43"/>
          <p:cNvCxnSpPr>
            <a:endCxn id="42" idx="0"/>
          </p:cNvCxnSpPr>
          <p:nvPr/>
        </p:nvCxnSpPr>
        <p:spPr>
          <a:xfrm>
            <a:off x="6781094" y="1707290"/>
            <a:ext cx="7067" cy="3438027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1804299" y="4412229"/>
            <a:ext cx="156865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平台远程监控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区域日程管理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设备故障反馈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场景模式修改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能耗数据统计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管理权限分配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812" b="98500" l="187" r="9831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7500081" y="4996367"/>
            <a:ext cx="1337348" cy="888512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459931" flipH="1">
            <a:off x="5023290" y="5005845"/>
            <a:ext cx="1032744" cy="951825"/>
          </a:xfrm>
          <a:prstGeom prst="rect">
            <a:avLst/>
          </a:prstGeom>
        </p:spPr>
      </p:pic>
      <p:grpSp>
        <p:nvGrpSpPr>
          <p:cNvPr id="53" name="组合 52"/>
          <p:cNvGrpSpPr/>
          <p:nvPr/>
        </p:nvGrpSpPr>
        <p:grpSpPr>
          <a:xfrm>
            <a:off x="445365" y="270479"/>
            <a:ext cx="8166435" cy="523220"/>
            <a:chOff x="445365" y="270479"/>
            <a:chExt cx="8166435" cy="523220"/>
          </a:xfrm>
        </p:grpSpPr>
        <p:sp>
          <p:nvSpPr>
            <p:cNvPr id="55" name="矩形 54"/>
            <p:cNvSpPr/>
            <p:nvPr/>
          </p:nvSpPr>
          <p:spPr>
            <a:xfrm>
              <a:off x="445365" y="270479"/>
              <a:ext cx="8166435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rPr>
                <a:t>核心卖点   智慧课堂 </a:t>
              </a: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rPr>
                <a:t>- </a:t>
              </a:r>
              <a:r>
                <a:rPr lang="zh-CN" altLang="en-US" sz="24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rPr>
                <a:t>典型智能教室设备分布示意</a:t>
              </a:r>
              <a:endParaRPr lang="zh-CN" altLang="en-US" sz="2400" spc="3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>
            <a:xfrm>
              <a:off x="2123440" y="378082"/>
              <a:ext cx="0" cy="31496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ine 244"/>
          <p:cNvSpPr>
            <a:spLocks noChangeAspect="1" noChangeShapeType="1"/>
          </p:cNvSpPr>
          <p:nvPr/>
        </p:nvSpPr>
        <p:spPr bwMode="auto">
          <a:xfrm>
            <a:off x="5400944" y="1744531"/>
            <a:ext cx="0" cy="4032343"/>
          </a:xfrm>
          <a:prstGeom prst="line">
            <a:avLst/>
          </a:prstGeom>
          <a:noFill/>
          <a:ln>
            <a:noFill/>
          </a:ln>
          <a:effectLst>
            <a:prstShdw prst="shdw17" dist="17961" dir="27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round/>
              </a14:hiddenLine>
            </a:ext>
          </a:extLst>
        </p:spPr>
        <p:txBody>
          <a:bodyPr wrap="none" lIns="147600" tIns="72000" rIns="147600" bIns="72000">
            <a:spAutoFit/>
          </a:bodyPr>
          <a:lstStyle/>
          <a:p>
            <a:endParaRPr lang="zh-CN" altLang="en-US"/>
          </a:p>
        </p:txBody>
      </p:sp>
      <p:sp>
        <p:nvSpPr>
          <p:cNvPr id="17" name="Rectangle 245"/>
          <p:cNvSpPr>
            <a:spLocks noChangeAspect="1" noChangeArrowheads="1"/>
          </p:cNvSpPr>
          <p:nvPr/>
        </p:nvSpPr>
        <p:spPr bwMode="auto">
          <a:xfrm>
            <a:off x="652273" y="858394"/>
            <a:ext cx="1003951" cy="14097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ahoma" panose="020B0604030504040204" pitchFamily="34" charset="0"/>
              </a:rPr>
              <a:t>云端服务器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61" name="Rectangle 246"/>
          <p:cNvSpPr>
            <a:spLocks noChangeAspect="1" noChangeArrowheads="1"/>
          </p:cNvSpPr>
          <p:nvPr/>
        </p:nvSpPr>
        <p:spPr bwMode="auto">
          <a:xfrm>
            <a:off x="652272" y="4312923"/>
            <a:ext cx="1003951" cy="224008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pPr algn="ctr" defTabSz="956945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子系统层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Line 24"/>
          <p:cNvSpPr>
            <a:spLocks noChangeAspect="1" noChangeShapeType="1"/>
          </p:cNvSpPr>
          <p:nvPr/>
        </p:nvSpPr>
        <p:spPr bwMode="auto">
          <a:xfrm flipH="1">
            <a:off x="2556047" y="4179074"/>
            <a:ext cx="0" cy="1194893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Text Box 77"/>
          <p:cNvSpPr txBox="1">
            <a:spLocks noChangeAspect="1" noChangeArrowheads="1"/>
          </p:cNvSpPr>
          <p:nvPr/>
        </p:nvSpPr>
        <p:spPr bwMode="auto">
          <a:xfrm>
            <a:off x="2019966" y="6051091"/>
            <a:ext cx="949031" cy="24769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>
                <a:alpha val="74997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5" tIns="37703" rIns="75405" bIns="37703" anchor="ctr"/>
          <a:lstStyle>
            <a:defPPr>
              <a:defRPr lang="zh-CN"/>
            </a:defPPr>
            <a:lvl1pPr algn="ctr" defTabSz="957580">
              <a:defRPr kumimoji="1" sz="1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2pPr>
            <a:lvl3pPr marL="11430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3pPr>
            <a:lvl4pPr marL="16002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4pPr>
            <a:lvl5pPr marL="20574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5pPr>
            <a:lvl6pPr marL="25146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6pPr>
            <a:lvl7pPr marL="29718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7pPr>
            <a:lvl8pPr marL="34290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8pPr>
            <a:lvl9pPr marL="38862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9pPr>
          </a:lstStyle>
          <a:p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蓝牙智能黑板灯</a:t>
            </a:r>
            <a:endParaRPr lang="zh-CN" altLang="en-US" sz="800" dirty="0"/>
          </a:p>
        </p:txBody>
      </p:sp>
      <p:sp>
        <p:nvSpPr>
          <p:cNvPr id="177" name="Text Box 77"/>
          <p:cNvSpPr txBox="1">
            <a:spLocks noChangeAspect="1" noChangeArrowheads="1"/>
          </p:cNvSpPr>
          <p:nvPr/>
        </p:nvSpPr>
        <p:spPr bwMode="auto">
          <a:xfrm>
            <a:off x="3362219" y="6040247"/>
            <a:ext cx="1030117" cy="24769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>
                <a:alpha val="74997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5" tIns="37703" rIns="75405" bIns="37703" anchor="ctr"/>
          <a:lstStyle>
            <a:defPPr>
              <a:defRPr lang="zh-CN"/>
            </a:defPPr>
            <a:lvl1pPr algn="ctr" defTabSz="957580">
              <a:defRPr kumimoji="1" sz="1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2pPr>
            <a:lvl3pPr marL="11430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3pPr>
            <a:lvl4pPr marL="16002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4pPr>
            <a:lvl5pPr marL="20574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5pPr>
            <a:lvl6pPr marL="25146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6pPr>
            <a:lvl7pPr marL="29718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7pPr>
            <a:lvl8pPr marL="34290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8pPr>
            <a:lvl9pPr marL="38862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9pPr>
          </a:lstStyle>
          <a:p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蓝牙智能教育灯盘</a:t>
            </a:r>
            <a:endParaRPr lang="zh-CN" altLang="en-US" sz="800" dirty="0"/>
          </a:p>
        </p:txBody>
      </p:sp>
      <p:sp>
        <p:nvSpPr>
          <p:cNvPr id="178" name="Text Box 77"/>
          <p:cNvSpPr txBox="1">
            <a:spLocks noChangeAspect="1" noChangeArrowheads="1"/>
          </p:cNvSpPr>
          <p:nvPr/>
        </p:nvSpPr>
        <p:spPr bwMode="auto">
          <a:xfrm>
            <a:off x="4643357" y="6028778"/>
            <a:ext cx="1030117" cy="24769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>
                <a:alpha val="74997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5" tIns="37703" rIns="75405" bIns="37703" anchor="ctr"/>
          <a:lstStyle>
            <a:defPPr>
              <a:defRPr lang="zh-CN"/>
            </a:defPPr>
            <a:lvl1pPr algn="ctr" defTabSz="957580">
              <a:defRPr kumimoji="1" sz="1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2pPr>
            <a:lvl3pPr marL="11430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3pPr>
            <a:lvl4pPr marL="16002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4pPr>
            <a:lvl5pPr marL="20574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5pPr>
            <a:lvl6pPr marL="25146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6pPr>
            <a:lvl7pPr marL="29718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7pPr>
            <a:lvl8pPr marL="34290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8pPr>
            <a:lvl9pPr marL="38862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9pPr>
          </a:lstStyle>
          <a:p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蓝牙窗帘电机</a:t>
            </a:r>
            <a:endParaRPr lang="zh-CN" altLang="en-US" sz="800" dirty="0"/>
          </a:p>
        </p:txBody>
      </p:sp>
      <p:pic>
        <p:nvPicPr>
          <p:cNvPr id="185" name="图片 18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47" t="7367" r="15632" b="16359"/>
          <a:stretch>
            <a:fillRect/>
          </a:stretch>
        </p:blipFill>
        <p:spPr>
          <a:xfrm>
            <a:off x="5777714" y="5290240"/>
            <a:ext cx="1397492" cy="770189"/>
          </a:xfrm>
          <a:prstGeom prst="rect">
            <a:avLst/>
          </a:prstGeom>
        </p:spPr>
      </p:pic>
      <p:sp>
        <p:nvSpPr>
          <p:cNvPr id="186" name="Text Box 77"/>
          <p:cNvSpPr txBox="1">
            <a:spLocks noChangeAspect="1" noChangeArrowheads="1"/>
          </p:cNvSpPr>
          <p:nvPr/>
        </p:nvSpPr>
        <p:spPr bwMode="auto">
          <a:xfrm>
            <a:off x="5984273" y="6031522"/>
            <a:ext cx="1030117" cy="24769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>
                <a:alpha val="74997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5" tIns="37703" rIns="75405" bIns="37703" anchor="ctr"/>
          <a:lstStyle>
            <a:defPPr>
              <a:defRPr lang="zh-CN"/>
            </a:defPPr>
            <a:lvl1pPr algn="ctr" defTabSz="957580">
              <a:defRPr kumimoji="1" sz="1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2pPr>
            <a:lvl3pPr marL="11430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3pPr>
            <a:lvl4pPr marL="16002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4pPr>
            <a:lvl5pPr marL="20574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5pPr>
            <a:lvl6pPr marL="25146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6pPr>
            <a:lvl7pPr marL="29718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7pPr>
            <a:lvl8pPr marL="34290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8pPr>
            <a:lvl9pPr marL="38862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9pPr>
          </a:lstStyle>
          <a:p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蓝牙传感器</a:t>
            </a:r>
            <a:endParaRPr lang="zh-CN" altLang="en-US" sz="800" dirty="0"/>
          </a:p>
        </p:txBody>
      </p:sp>
      <p:pic>
        <p:nvPicPr>
          <p:cNvPr id="187" name="图片 18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47" t="17315" r="29554" b="14086"/>
          <a:stretch>
            <a:fillRect/>
          </a:stretch>
        </p:blipFill>
        <p:spPr>
          <a:xfrm>
            <a:off x="7445352" y="5221246"/>
            <a:ext cx="824059" cy="819001"/>
          </a:xfrm>
          <a:prstGeom prst="rect">
            <a:avLst/>
          </a:prstGeom>
        </p:spPr>
      </p:pic>
      <p:sp>
        <p:nvSpPr>
          <p:cNvPr id="188" name="Text Box 77"/>
          <p:cNvSpPr txBox="1">
            <a:spLocks noChangeAspect="1" noChangeArrowheads="1"/>
          </p:cNvSpPr>
          <p:nvPr/>
        </p:nvSpPr>
        <p:spPr bwMode="auto">
          <a:xfrm>
            <a:off x="7362721" y="6031522"/>
            <a:ext cx="1030117" cy="24769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>
                <a:alpha val="74997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5" tIns="37703" rIns="75405" bIns="37703" anchor="ctr"/>
          <a:lstStyle>
            <a:defPPr>
              <a:defRPr lang="zh-CN"/>
            </a:defPPr>
            <a:lvl1pPr algn="ctr" defTabSz="957580">
              <a:defRPr kumimoji="1" sz="1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2pPr>
            <a:lvl3pPr marL="11430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3pPr>
            <a:lvl4pPr marL="16002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4pPr>
            <a:lvl5pPr marL="20574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5pPr>
            <a:lvl6pPr marL="25146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6pPr>
            <a:lvl7pPr marL="29718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7pPr>
            <a:lvl8pPr marL="34290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8pPr>
            <a:lvl9pPr marL="38862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9pPr>
          </a:lstStyle>
          <a:p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蓝牙面板</a:t>
            </a:r>
            <a:endParaRPr lang="zh-CN" altLang="en-US" sz="800" dirty="0"/>
          </a:p>
        </p:txBody>
      </p:sp>
      <p:sp>
        <p:nvSpPr>
          <p:cNvPr id="190" name="Line 24"/>
          <p:cNvSpPr>
            <a:spLocks noChangeAspect="1" noChangeShapeType="1"/>
          </p:cNvSpPr>
          <p:nvPr/>
        </p:nvSpPr>
        <p:spPr bwMode="auto">
          <a:xfrm flipH="1">
            <a:off x="5145208" y="3596114"/>
            <a:ext cx="0" cy="1756434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1" name="Line 24"/>
          <p:cNvSpPr>
            <a:spLocks noChangeAspect="1" noChangeShapeType="1"/>
          </p:cNvSpPr>
          <p:nvPr/>
        </p:nvSpPr>
        <p:spPr bwMode="auto">
          <a:xfrm flipH="1">
            <a:off x="6544203" y="4179074"/>
            <a:ext cx="0" cy="1042171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2" name="Line 24"/>
          <p:cNvSpPr>
            <a:spLocks noChangeAspect="1" noChangeShapeType="1"/>
          </p:cNvSpPr>
          <p:nvPr/>
        </p:nvSpPr>
        <p:spPr bwMode="auto">
          <a:xfrm flipH="1">
            <a:off x="7875042" y="4179074"/>
            <a:ext cx="0" cy="1042171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" name="Text Box 20"/>
          <p:cNvSpPr txBox="1">
            <a:spLocks noChangeAspect="1" noChangeArrowheads="1"/>
          </p:cNvSpPr>
          <p:nvPr/>
        </p:nvSpPr>
        <p:spPr bwMode="auto">
          <a:xfrm>
            <a:off x="4746604" y="3736879"/>
            <a:ext cx="827841" cy="199817"/>
          </a:xfrm>
          <a:prstGeom prst="rect">
            <a:avLst/>
          </a:prstGeom>
          <a:solidFill>
            <a:srgbClr val="00B0F0"/>
          </a:solidFill>
          <a:ln w="9525">
            <a:solidFill>
              <a:srgbClr val="00B0F0"/>
            </a:solidFill>
            <a:miter lim="800000"/>
          </a:ln>
          <a:effectLst>
            <a:outerShdw blurRad="63500" dist="38099" dir="2700000" algn="ctr" rotWithShape="0">
              <a:schemeClr val="bg2">
                <a:alpha val="50000"/>
              </a:schemeClr>
            </a:outerShdw>
          </a:effectLst>
        </p:spPr>
        <p:txBody>
          <a:bodyPr lIns="91423" tIns="45712" rIns="91423" bIns="45712" anchor="ctr"/>
          <a:lstStyle>
            <a:defPPr>
              <a:defRPr lang="zh-CN"/>
            </a:defPPr>
            <a:lvl1pPr algn="ctr">
              <a:defRPr kumimoji="1" sz="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2pPr>
            <a:lvl3pPr marL="1143000" indent="-22860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3pPr>
            <a:lvl4pPr marL="1600200" indent="-22860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4pPr>
            <a:lvl5pPr marL="2057400" indent="-22860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9pPr>
          </a:lstStyle>
          <a:p>
            <a:r>
              <a:rPr lang="zh-CN" altLang="en-US" dirty="0"/>
              <a:t>蓝牙网关</a:t>
            </a:r>
            <a:endParaRPr lang="zh-CN" altLang="en-US" dirty="0"/>
          </a:p>
        </p:txBody>
      </p:sp>
      <p:sp>
        <p:nvSpPr>
          <p:cNvPr id="195" name="文本框 194"/>
          <p:cNvSpPr txBox="1"/>
          <p:nvPr/>
        </p:nvSpPr>
        <p:spPr>
          <a:xfrm>
            <a:off x="2526472" y="4669130"/>
            <a:ext cx="1050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</a:rPr>
              <a:t>蓝牙</a:t>
            </a: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</a:rPr>
              <a:t>mesh</a:t>
            </a:r>
            <a:endParaRPr lang="zh-CN" altLang="en-US" sz="1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5171530" y="4694693"/>
            <a:ext cx="1050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</a:rPr>
              <a:t>蓝牙</a:t>
            </a: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</a:rPr>
              <a:t>mesh</a:t>
            </a:r>
            <a:endParaRPr lang="zh-CN" altLang="en-US" sz="1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6505981" y="4669130"/>
            <a:ext cx="1050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</a:rPr>
              <a:t>蓝牙</a:t>
            </a: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</a:rPr>
              <a:t>mesh</a:t>
            </a:r>
            <a:endParaRPr lang="zh-CN" altLang="en-US" sz="1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7875042" y="4680239"/>
            <a:ext cx="1050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</a:rPr>
              <a:t>蓝牙</a:t>
            </a: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</a:rPr>
              <a:t>mesh</a:t>
            </a:r>
            <a:endParaRPr lang="zh-CN" altLang="en-US" sz="1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5591153" y="3850974"/>
            <a:ext cx="1050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</a:rPr>
              <a:t>蓝牙</a:t>
            </a: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</a:rPr>
              <a:t>mesh</a:t>
            </a:r>
            <a:endParaRPr lang="zh-CN" altLang="en-US" sz="1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2" name="Rectangle 246"/>
          <p:cNvSpPr>
            <a:spLocks noChangeAspect="1" noChangeArrowheads="1"/>
          </p:cNvSpPr>
          <p:nvPr/>
        </p:nvSpPr>
        <p:spPr bwMode="auto">
          <a:xfrm>
            <a:off x="652270" y="2401965"/>
            <a:ext cx="1003951" cy="161828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 defTabSz="956945"/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中间层</a:t>
            </a:r>
            <a:endParaRPr lang="en-US" altLang="zh-CN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56945"/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3" name="Picture 33" descr="p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536" y="989244"/>
            <a:ext cx="1171192" cy="784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" name="文本框 224"/>
          <p:cNvSpPr txBox="1"/>
          <p:nvPr/>
        </p:nvSpPr>
        <p:spPr>
          <a:xfrm>
            <a:off x="1876864" y="6436524"/>
            <a:ext cx="1460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教室</a:t>
            </a:r>
            <a:endParaRPr lang="zh-CN" altLang="en-US" sz="14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1" name="Line 24"/>
          <p:cNvSpPr>
            <a:spLocks noChangeAspect="1" noChangeShapeType="1"/>
          </p:cNvSpPr>
          <p:nvPr/>
        </p:nvSpPr>
        <p:spPr bwMode="auto">
          <a:xfrm flipH="1">
            <a:off x="5199028" y="2703934"/>
            <a:ext cx="0" cy="462509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234" name="直接连接符 233"/>
          <p:cNvCxnSpPr>
            <a:stCxn id="203" idx="2"/>
            <a:endCxn id="230" idx="0"/>
          </p:cNvCxnSpPr>
          <p:nvPr/>
        </p:nvCxnSpPr>
        <p:spPr>
          <a:xfrm flipH="1">
            <a:off x="5171530" y="1774145"/>
            <a:ext cx="91603" cy="607707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30" name="图片 229"/>
          <p:cNvPicPr>
            <a:picLocks noChangeAspect="1"/>
          </p:cNvPicPr>
          <p:nvPr/>
        </p:nvPicPr>
        <p:blipFill rotWithShape="1">
          <a:blip r:embed="rId4"/>
          <a:srcRect l="2149" t="17991" b="5752"/>
          <a:stretch>
            <a:fillRect/>
          </a:stretch>
        </p:blipFill>
        <p:spPr>
          <a:xfrm>
            <a:off x="4505398" y="2381852"/>
            <a:ext cx="1332264" cy="397815"/>
          </a:xfrm>
          <a:prstGeom prst="rect">
            <a:avLst/>
          </a:prstGeom>
        </p:spPr>
      </p:pic>
      <p:sp>
        <p:nvSpPr>
          <p:cNvPr id="235" name="文本框 234"/>
          <p:cNvSpPr txBox="1"/>
          <p:nvPr/>
        </p:nvSpPr>
        <p:spPr>
          <a:xfrm>
            <a:off x="4278680" y="2717781"/>
            <a:ext cx="1050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</a:rPr>
              <a:t>TCP/IP</a:t>
            </a:r>
            <a:endParaRPr lang="zh-CN" altLang="en-US" sz="1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5231862" y="1888366"/>
            <a:ext cx="1050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</a:rPr>
              <a:t>TCP/IP</a:t>
            </a:r>
            <a:endParaRPr lang="zh-CN" altLang="en-US" sz="14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6" name="Text Box 20"/>
          <p:cNvSpPr txBox="1">
            <a:spLocks noChangeAspect="1" noChangeArrowheads="1"/>
          </p:cNvSpPr>
          <p:nvPr/>
        </p:nvSpPr>
        <p:spPr bwMode="auto">
          <a:xfrm>
            <a:off x="4329955" y="1792864"/>
            <a:ext cx="827841" cy="199817"/>
          </a:xfrm>
          <a:prstGeom prst="rect">
            <a:avLst/>
          </a:prstGeom>
          <a:solidFill>
            <a:srgbClr val="00B0F0"/>
          </a:solidFill>
          <a:ln w="9525">
            <a:solidFill>
              <a:srgbClr val="00B0F0"/>
            </a:solidFill>
            <a:miter lim="800000"/>
          </a:ln>
          <a:effectLst>
            <a:outerShdw blurRad="63500" dist="38099" dir="2700000" algn="ctr" rotWithShape="0">
              <a:schemeClr val="bg2">
                <a:alpha val="50000"/>
              </a:schemeClr>
            </a:outerShdw>
          </a:effectLst>
        </p:spPr>
        <p:txBody>
          <a:bodyPr lIns="91423" tIns="45712" rIns="91423" bIns="45712" anchor="ctr"/>
          <a:lstStyle>
            <a:defPPr>
              <a:defRPr lang="zh-CN"/>
            </a:defPPr>
            <a:lvl1pPr algn="ctr">
              <a:defRPr kumimoji="1" sz="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2pPr>
            <a:lvl3pPr marL="1143000" indent="-22860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3pPr>
            <a:lvl4pPr marL="1600200" indent="-22860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4pPr>
            <a:lvl5pPr marL="2057400" indent="-22860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远程控制平台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47" name="Line 449"/>
          <p:cNvSpPr>
            <a:spLocks noChangeAspect="1" noChangeShapeType="1"/>
          </p:cNvSpPr>
          <p:nvPr/>
        </p:nvSpPr>
        <p:spPr bwMode="auto">
          <a:xfrm flipV="1">
            <a:off x="209962" y="2288678"/>
            <a:ext cx="11344941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8146835" y="890559"/>
            <a:ext cx="157223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</a:rPr>
              <a:t>远程控制</a:t>
            </a:r>
            <a:endParaRPr lang="en-US" altLang="zh-CN" sz="1400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</a:rPr>
              <a:t>日程管理</a:t>
            </a:r>
            <a:endParaRPr lang="en-US" altLang="zh-CN" sz="1400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</a:rPr>
              <a:t>状态监控</a:t>
            </a:r>
            <a:endParaRPr lang="en-US" altLang="zh-CN" sz="1400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</a:rPr>
              <a:t>手机控制</a:t>
            </a:r>
            <a:endParaRPr lang="en-US" altLang="zh-CN" sz="1400" dirty="0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</a:rPr>
              <a:t>模式设定</a:t>
            </a:r>
            <a:endParaRPr lang="zh-CN" altLang="en-US" sz="14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254" name="组合 253"/>
          <p:cNvGrpSpPr/>
          <p:nvPr/>
        </p:nvGrpSpPr>
        <p:grpSpPr>
          <a:xfrm>
            <a:off x="7360648" y="856421"/>
            <a:ext cx="588351" cy="1138213"/>
            <a:chOff x="10549719" y="3848198"/>
            <a:chExt cx="892390" cy="1864209"/>
          </a:xfrm>
        </p:grpSpPr>
        <p:pic>
          <p:nvPicPr>
            <p:cNvPr id="252" name="图片 251"/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406" t="1742" r="4631"/>
            <a:stretch>
              <a:fillRect/>
            </a:stretch>
          </p:blipFill>
          <p:spPr>
            <a:xfrm>
              <a:off x="10549719" y="3848198"/>
              <a:ext cx="892390" cy="1864209"/>
            </a:xfrm>
            <a:prstGeom prst="rect">
              <a:avLst/>
            </a:prstGeom>
          </p:spPr>
        </p:pic>
        <p:pic>
          <p:nvPicPr>
            <p:cNvPr id="253" name="图片 252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2526" y="4081116"/>
              <a:ext cx="786776" cy="1398372"/>
            </a:xfrm>
            <a:prstGeom prst="rect">
              <a:avLst/>
            </a:prstGeom>
          </p:spPr>
        </p:pic>
      </p:grpSp>
      <p:sp>
        <p:nvSpPr>
          <p:cNvPr id="262" name="矩形 261"/>
          <p:cNvSpPr/>
          <p:nvPr/>
        </p:nvSpPr>
        <p:spPr>
          <a:xfrm>
            <a:off x="1911577" y="3025558"/>
            <a:ext cx="6866207" cy="372554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874166" y="3025558"/>
            <a:ext cx="3089980" cy="3725538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Line 449"/>
          <p:cNvSpPr>
            <a:spLocks noChangeAspect="1" noChangeShapeType="1"/>
          </p:cNvSpPr>
          <p:nvPr/>
        </p:nvSpPr>
        <p:spPr bwMode="auto">
          <a:xfrm flipV="1">
            <a:off x="209962" y="4179074"/>
            <a:ext cx="11460851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66" name="Group 15"/>
          <p:cNvGrpSpPr/>
          <p:nvPr/>
        </p:nvGrpSpPr>
        <p:grpSpPr>
          <a:xfrm rot="5193124">
            <a:off x="6156571" y="1095300"/>
            <a:ext cx="818411" cy="682785"/>
            <a:chOff x="3052763" y="2647950"/>
            <a:chExt cx="346075" cy="255588"/>
          </a:xfrm>
          <a:solidFill>
            <a:srgbClr val="FF0000"/>
          </a:solidFill>
        </p:grpSpPr>
        <p:sp>
          <p:nvSpPr>
            <p:cNvPr id="67" name="Freeform 108"/>
            <p:cNvSpPr/>
            <p:nvPr/>
          </p:nvSpPr>
          <p:spPr bwMode="auto">
            <a:xfrm>
              <a:off x="3175000" y="2825750"/>
              <a:ext cx="100013" cy="77788"/>
            </a:xfrm>
            <a:custGeom>
              <a:avLst/>
              <a:gdLst>
                <a:gd name="T0" fmla="*/ 36 w 38"/>
                <a:gd name="T1" fmla="*/ 11 h 30"/>
                <a:gd name="T2" fmla="*/ 1 w 38"/>
                <a:gd name="T3" fmla="*/ 11 h 30"/>
                <a:gd name="T4" fmla="*/ 1 w 38"/>
                <a:gd name="T5" fmla="*/ 13 h 30"/>
                <a:gd name="T6" fmla="*/ 19 w 38"/>
                <a:gd name="T7" fmla="*/ 30 h 30"/>
                <a:gd name="T8" fmla="*/ 36 w 38"/>
                <a:gd name="T9" fmla="*/ 13 h 30"/>
                <a:gd name="T10" fmla="*/ 36 w 38"/>
                <a:gd name="T11" fmla="*/ 11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30">
                  <a:moveTo>
                    <a:pt x="36" y="11"/>
                  </a:moveTo>
                  <a:cubicBezTo>
                    <a:pt x="26" y="1"/>
                    <a:pt x="12" y="0"/>
                    <a:pt x="1" y="11"/>
                  </a:cubicBezTo>
                  <a:cubicBezTo>
                    <a:pt x="0" y="11"/>
                    <a:pt x="0" y="12"/>
                    <a:pt x="1" y="13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38" y="12"/>
                    <a:pt x="37" y="11"/>
                    <a:pt x="36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62560" tIns="81280" rIns="162560" bIns="81280" numCol="1" anchor="t" anchorCtr="0" compatLnSpc="1"/>
            <a:lstStyle/>
            <a:p>
              <a:endParaRPr lang="en-US" sz="4265"/>
            </a:p>
          </p:txBody>
        </p:sp>
        <p:sp>
          <p:nvSpPr>
            <p:cNvPr id="68" name="Freeform 109"/>
            <p:cNvSpPr/>
            <p:nvPr/>
          </p:nvSpPr>
          <p:spPr bwMode="auto">
            <a:xfrm>
              <a:off x="3109913" y="2736850"/>
              <a:ext cx="230188" cy="101600"/>
            </a:xfrm>
            <a:custGeom>
              <a:avLst/>
              <a:gdLst>
                <a:gd name="T0" fmla="*/ 87 w 88"/>
                <a:gd name="T1" fmla="*/ 24 h 39"/>
                <a:gd name="T2" fmla="*/ 0 w 88"/>
                <a:gd name="T3" fmla="*/ 24 h 39"/>
                <a:gd name="T4" fmla="*/ 0 w 88"/>
                <a:gd name="T5" fmla="*/ 26 h 39"/>
                <a:gd name="T6" fmla="*/ 13 w 88"/>
                <a:gd name="T7" fmla="*/ 38 h 39"/>
                <a:gd name="T8" fmla="*/ 15 w 88"/>
                <a:gd name="T9" fmla="*/ 38 h 39"/>
                <a:gd name="T10" fmla="*/ 73 w 88"/>
                <a:gd name="T11" fmla="*/ 38 h 39"/>
                <a:gd name="T12" fmla="*/ 75 w 88"/>
                <a:gd name="T13" fmla="*/ 38 h 39"/>
                <a:gd name="T14" fmla="*/ 87 w 88"/>
                <a:gd name="T15" fmla="*/ 26 h 39"/>
                <a:gd name="T16" fmla="*/ 87 w 88"/>
                <a:gd name="T17" fmla="*/ 26 h 39"/>
                <a:gd name="T18" fmla="*/ 87 w 88"/>
                <a:gd name="T19" fmla="*/ 2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" h="39">
                  <a:moveTo>
                    <a:pt x="87" y="24"/>
                  </a:moveTo>
                  <a:cubicBezTo>
                    <a:pt x="63" y="0"/>
                    <a:pt x="24" y="0"/>
                    <a:pt x="0" y="24"/>
                  </a:cubicBezTo>
                  <a:cubicBezTo>
                    <a:pt x="0" y="24"/>
                    <a:pt x="0" y="25"/>
                    <a:pt x="0" y="26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39"/>
                    <a:pt x="14" y="39"/>
                    <a:pt x="15" y="38"/>
                  </a:cubicBezTo>
                  <a:cubicBezTo>
                    <a:pt x="31" y="22"/>
                    <a:pt x="57" y="22"/>
                    <a:pt x="73" y="38"/>
                  </a:cubicBezTo>
                  <a:cubicBezTo>
                    <a:pt x="73" y="39"/>
                    <a:pt x="74" y="39"/>
                    <a:pt x="75" y="38"/>
                  </a:cubicBezTo>
                  <a:cubicBezTo>
                    <a:pt x="87" y="26"/>
                    <a:pt x="87" y="26"/>
                    <a:pt x="87" y="26"/>
                  </a:cubicBezTo>
                  <a:cubicBezTo>
                    <a:pt x="87" y="26"/>
                    <a:pt x="87" y="26"/>
                    <a:pt x="87" y="26"/>
                  </a:cubicBezTo>
                  <a:cubicBezTo>
                    <a:pt x="88" y="25"/>
                    <a:pt x="88" y="24"/>
                    <a:pt x="87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62560" tIns="81280" rIns="162560" bIns="81280" numCol="1" anchor="t" anchorCtr="0" compatLnSpc="1"/>
            <a:lstStyle/>
            <a:p>
              <a:endParaRPr lang="en-US" sz="4265"/>
            </a:p>
          </p:txBody>
        </p:sp>
        <p:sp>
          <p:nvSpPr>
            <p:cNvPr id="69" name="Freeform 110"/>
            <p:cNvSpPr/>
            <p:nvPr/>
          </p:nvSpPr>
          <p:spPr bwMode="auto">
            <a:xfrm>
              <a:off x="3052763" y="2647950"/>
              <a:ext cx="346075" cy="134938"/>
            </a:xfrm>
            <a:custGeom>
              <a:avLst/>
              <a:gdLst>
                <a:gd name="T0" fmla="*/ 131 w 132"/>
                <a:gd name="T1" fmla="*/ 36 h 52"/>
                <a:gd name="T2" fmla="*/ 131 w 132"/>
                <a:gd name="T3" fmla="*/ 36 h 52"/>
                <a:gd name="T4" fmla="*/ 1 w 132"/>
                <a:gd name="T5" fmla="*/ 36 h 52"/>
                <a:gd name="T6" fmla="*/ 1 w 132"/>
                <a:gd name="T7" fmla="*/ 38 h 52"/>
                <a:gd name="T8" fmla="*/ 13 w 132"/>
                <a:gd name="T9" fmla="*/ 51 h 52"/>
                <a:gd name="T10" fmla="*/ 16 w 132"/>
                <a:gd name="T11" fmla="*/ 51 h 52"/>
                <a:gd name="T12" fmla="*/ 116 w 132"/>
                <a:gd name="T13" fmla="*/ 51 h 52"/>
                <a:gd name="T14" fmla="*/ 118 w 132"/>
                <a:gd name="T15" fmla="*/ 51 h 52"/>
                <a:gd name="T16" fmla="*/ 131 w 132"/>
                <a:gd name="T17" fmla="*/ 38 h 52"/>
                <a:gd name="T18" fmla="*/ 131 w 132"/>
                <a:gd name="T19" fmla="*/ 38 h 52"/>
                <a:gd name="T20" fmla="*/ 131 w 132"/>
                <a:gd name="T21" fmla="*/ 3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2" h="52">
                  <a:moveTo>
                    <a:pt x="131" y="36"/>
                  </a:moveTo>
                  <a:cubicBezTo>
                    <a:pt x="131" y="36"/>
                    <a:pt x="131" y="36"/>
                    <a:pt x="131" y="36"/>
                  </a:cubicBezTo>
                  <a:cubicBezTo>
                    <a:pt x="95" y="0"/>
                    <a:pt x="36" y="0"/>
                    <a:pt x="1" y="36"/>
                  </a:cubicBezTo>
                  <a:cubicBezTo>
                    <a:pt x="0" y="37"/>
                    <a:pt x="0" y="38"/>
                    <a:pt x="1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14" y="52"/>
                    <a:pt x="15" y="52"/>
                    <a:pt x="16" y="51"/>
                  </a:cubicBezTo>
                  <a:cubicBezTo>
                    <a:pt x="43" y="23"/>
                    <a:pt x="88" y="23"/>
                    <a:pt x="116" y="51"/>
                  </a:cubicBezTo>
                  <a:cubicBezTo>
                    <a:pt x="117" y="52"/>
                    <a:pt x="118" y="52"/>
                    <a:pt x="118" y="51"/>
                  </a:cubicBezTo>
                  <a:cubicBezTo>
                    <a:pt x="131" y="38"/>
                    <a:pt x="131" y="38"/>
                    <a:pt x="131" y="38"/>
                  </a:cubicBezTo>
                  <a:cubicBezTo>
                    <a:pt x="131" y="38"/>
                    <a:pt x="131" y="38"/>
                    <a:pt x="131" y="38"/>
                  </a:cubicBezTo>
                  <a:cubicBezTo>
                    <a:pt x="132" y="38"/>
                    <a:pt x="132" y="37"/>
                    <a:pt x="131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62560" tIns="81280" rIns="162560" bIns="81280" numCol="1" anchor="t" anchorCtr="0" compatLnSpc="1"/>
            <a:lstStyle/>
            <a:p>
              <a:endParaRPr lang="en-US" sz="4265"/>
            </a:p>
          </p:txBody>
        </p:sp>
      </p:grpSp>
      <p:sp>
        <p:nvSpPr>
          <p:cNvPr id="71" name="Line 24"/>
          <p:cNvSpPr>
            <a:spLocks noChangeAspect="1" noChangeShapeType="1"/>
          </p:cNvSpPr>
          <p:nvPr/>
        </p:nvSpPr>
        <p:spPr bwMode="auto">
          <a:xfrm flipH="1">
            <a:off x="9401150" y="3571816"/>
            <a:ext cx="0" cy="984524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 kern="0"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72" name="图片 71" descr="C:\Users\op051440\AppData\Local\Temp\WeChat Files\d80b86a8ec531314daf554436a203ae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353" y="2889025"/>
            <a:ext cx="1849353" cy="94954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Text Box 20"/>
          <p:cNvSpPr txBox="1">
            <a:spLocks noChangeAspect="1" noChangeArrowheads="1"/>
          </p:cNvSpPr>
          <p:nvPr/>
        </p:nvSpPr>
        <p:spPr bwMode="auto">
          <a:xfrm>
            <a:off x="8967319" y="3639122"/>
            <a:ext cx="856121" cy="188765"/>
          </a:xfrm>
          <a:prstGeom prst="rect">
            <a:avLst/>
          </a:prstGeom>
          <a:solidFill>
            <a:srgbClr val="00B0F0"/>
          </a:solidFill>
          <a:ln w="9525">
            <a:solidFill>
              <a:srgbClr val="00B0F0"/>
            </a:solidFill>
            <a:miter lim="800000"/>
          </a:ln>
          <a:effectLst>
            <a:outerShdw blurRad="63500" dist="38099" dir="2700000" algn="ctr" rotWithShape="0">
              <a:srgbClr val="EEECE1">
                <a:alpha val="50000"/>
              </a:srgbClr>
            </a:outerShdw>
          </a:effectLst>
        </p:spPr>
        <p:txBody>
          <a:bodyPr lIns="121897" tIns="60949" rIns="121897" bIns="60949" anchor="ctr"/>
          <a:lstStyle>
            <a:defPPr>
              <a:defRPr lang="zh-CN"/>
            </a:defPPr>
            <a:lvl1pPr algn="ctr">
              <a:defRPr kumimoji="1" sz="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2pPr>
            <a:lvl3pPr marL="1143000" indent="-22860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3pPr>
            <a:lvl4pPr marL="1600200" indent="-22860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4pPr>
            <a:lvl5pPr marL="2057400" indent="-22860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9pPr>
          </a:lstStyle>
          <a:p>
            <a:pPr defTabSz="1219200">
              <a:defRPr/>
            </a:pPr>
            <a:r>
              <a:rPr lang="en-US" altLang="zh-CN" sz="935" kern="0" dirty="0"/>
              <a:t>485</a:t>
            </a:r>
            <a:r>
              <a:rPr lang="zh-CN" altLang="en-US" sz="935" kern="0" dirty="0"/>
              <a:t>网关</a:t>
            </a:r>
            <a:endParaRPr lang="zh-CN" altLang="en-US" sz="935" kern="0" dirty="0"/>
          </a:p>
        </p:txBody>
      </p:sp>
      <p:sp>
        <p:nvSpPr>
          <p:cNvPr id="74" name="Line 24"/>
          <p:cNvSpPr>
            <a:spLocks noChangeAspect="1" noChangeShapeType="1"/>
          </p:cNvSpPr>
          <p:nvPr/>
        </p:nvSpPr>
        <p:spPr bwMode="auto">
          <a:xfrm flipH="1">
            <a:off x="9401150" y="5009028"/>
            <a:ext cx="0" cy="984524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1219200">
              <a:defRPr/>
            </a:pPr>
            <a:endParaRPr lang="zh-CN" altLang="en-US" sz="2400" kern="0">
              <a:solidFill>
                <a:schemeClr val="bg1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75" name="Text Box 20"/>
          <p:cNvSpPr txBox="1">
            <a:spLocks noChangeAspect="1" noChangeArrowheads="1"/>
          </p:cNvSpPr>
          <p:nvPr/>
        </p:nvSpPr>
        <p:spPr bwMode="auto">
          <a:xfrm>
            <a:off x="8952200" y="5075926"/>
            <a:ext cx="856121" cy="188765"/>
          </a:xfrm>
          <a:prstGeom prst="rect">
            <a:avLst/>
          </a:prstGeom>
          <a:solidFill>
            <a:srgbClr val="00B0F0"/>
          </a:solidFill>
          <a:ln w="9525">
            <a:solidFill>
              <a:srgbClr val="00B0F0"/>
            </a:solidFill>
            <a:miter lim="800000"/>
          </a:ln>
          <a:effectLst>
            <a:outerShdw blurRad="63500" dist="38099" dir="2700000" algn="ctr" rotWithShape="0">
              <a:srgbClr val="EEECE1">
                <a:alpha val="50000"/>
              </a:srgbClr>
            </a:outerShdw>
          </a:effectLst>
        </p:spPr>
        <p:txBody>
          <a:bodyPr lIns="121897" tIns="60949" rIns="121897" bIns="60949" anchor="ctr"/>
          <a:lstStyle>
            <a:defPPr>
              <a:defRPr lang="zh-CN"/>
            </a:defPPr>
            <a:lvl1pPr algn="ctr">
              <a:defRPr kumimoji="1" sz="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2pPr>
            <a:lvl3pPr marL="1143000" indent="-22860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3pPr>
            <a:lvl4pPr marL="1600200" indent="-22860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4pPr>
            <a:lvl5pPr marL="2057400" indent="-22860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9pPr>
          </a:lstStyle>
          <a:p>
            <a:pPr defTabSz="1219200">
              <a:defRPr/>
            </a:pPr>
            <a:r>
              <a:rPr lang="zh-CN" altLang="en-US" sz="935" kern="0" dirty="0"/>
              <a:t>控制模块</a:t>
            </a:r>
            <a:endParaRPr lang="zh-CN" altLang="en-US" sz="935" kern="0" dirty="0"/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 rotWithShape="1">
          <a:blip r:embed="rId8" cstate="email"/>
          <a:srcRect t="21185" b="5604"/>
          <a:stretch>
            <a:fillRect/>
          </a:stretch>
        </p:blipFill>
        <p:spPr>
          <a:xfrm>
            <a:off x="8772542" y="5753037"/>
            <a:ext cx="1451579" cy="708467"/>
          </a:xfrm>
          <a:prstGeom prst="rect">
            <a:avLst/>
          </a:prstGeom>
        </p:spPr>
      </p:pic>
      <p:sp>
        <p:nvSpPr>
          <p:cNvPr id="77" name="Line 24"/>
          <p:cNvSpPr>
            <a:spLocks noChangeAspect="1" noChangeShapeType="1"/>
          </p:cNvSpPr>
          <p:nvPr/>
        </p:nvSpPr>
        <p:spPr bwMode="auto">
          <a:xfrm rot="5400000" flipH="1">
            <a:off x="10354706" y="4326393"/>
            <a:ext cx="0" cy="984136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1219200">
              <a:defRPr/>
            </a:pPr>
            <a:endParaRPr lang="zh-CN" altLang="en-US" sz="2400" kern="0"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78" name="图片 77" descr="C:\Users\op051440\AppData\Local\Temp\WeChat Files\d80b86a8ec531314daf554436a203ae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9152" y="4355204"/>
            <a:ext cx="1821105" cy="93503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Line 24"/>
          <p:cNvSpPr>
            <a:spLocks noChangeAspect="1" noChangeShapeType="1"/>
          </p:cNvSpPr>
          <p:nvPr/>
        </p:nvSpPr>
        <p:spPr bwMode="auto">
          <a:xfrm flipH="1">
            <a:off x="10828228" y="4833464"/>
            <a:ext cx="0" cy="1719543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1219200">
              <a:defRPr/>
            </a:pPr>
            <a:endParaRPr lang="zh-CN" altLang="en-US" sz="2400" kern="0"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80" name="PA-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2564" y="5215641"/>
            <a:ext cx="637976" cy="61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图片 80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47" t="7367" r="15632" b="16359"/>
          <a:stretch>
            <a:fillRect/>
          </a:stretch>
        </p:blipFill>
        <p:spPr>
          <a:xfrm>
            <a:off x="10311339" y="6088733"/>
            <a:ext cx="1029749" cy="518416"/>
          </a:xfrm>
          <a:prstGeom prst="rect">
            <a:avLst/>
          </a:prstGeom>
        </p:spPr>
      </p:pic>
      <p:sp>
        <p:nvSpPr>
          <p:cNvPr id="82" name="Text Box 77"/>
          <p:cNvSpPr txBox="1">
            <a:spLocks noChangeAspect="1" noChangeArrowheads="1"/>
          </p:cNvSpPr>
          <p:nvPr/>
        </p:nvSpPr>
        <p:spPr bwMode="auto">
          <a:xfrm>
            <a:off x="8868133" y="6396140"/>
            <a:ext cx="1065308" cy="233997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>
                <a:alpha val="74997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5" tIns="37703" rIns="75405" bIns="37703" anchor="ctr"/>
          <a:lstStyle>
            <a:defPPr>
              <a:defRPr lang="zh-CN"/>
            </a:defPPr>
            <a:lvl1pPr algn="ctr" defTabSz="957580">
              <a:defRPr kumimoji="1" sz="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2pPr>
            <a:lvl3pPr marL="11430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3pPr>
            <a:lvl4pPr marL="16002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4pPr>
            <a:lvl5pPr marL="20574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5pPr>
            <a:lvl6pPr marL="25146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6pPr>
            <a:lvl7pPr marL="29718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7pPr>
            <a:lvl8pPr marL="34290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8pPr>
            <a:lvl9pPr marL="38862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9pPr>
          </a:lstStyle>
          <a:p>
            <a:r>
              <a:rPr lang="zh-CN" altLang="en-US" sz="800" dirty="0"/>
              <a:t>灯具</a:t>
            </a:r>
            <a:endParaRPr lang="zh-CN" altLang="en-US" sz="800" dirty="0"/>
          </a:p>
        </p:txBody>
      </p:sp>
      <p:sp>
        <p:nvSpPr>
          <p:cNvPr id="83" name="Text Box 77"/>
          <p:cNvSpPr txBox="1">
            <a:spLocks noChangeAspect="1" noChangeArrowheads="1"/>
          </p:cNvSpPr>
          <p:nvPr/>
        </p:nvSpPr>
        <p:spPr bwMode="auto">
          <a:xfrm>
            <a:off x="11106204" y="5459402"/>
            <a:ext cx="720000" cy="15814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>
                <a:alpha val="74997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5" tIns="37703" rIns="75405" bIns="37703" anchor="ctr"/>
          <a:lstStyle>
            <a:defPPr>
              <a:defRPr lang="zh-CN"/>
            </a:defPPr>
            <a:lvl1pPr algn="ctr" defTabSz="957580">
              <a:defRPr kumimoji="1" sz="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2pPr>
            <a:lvl3pPr marL="11430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3pPr>
            <a:lvl4pPr marL="16002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4pPr>
            <a:lvl5pPr marL="20574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5pPr>
            <a:lvl6pPr marL="25146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6pPr>
            <a:lvl7pPr marL="29718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7pPr>
            <a:lvl8pPr marL="34290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8pPr>
            <a:lvl9pPr marL="38862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9pPr>
          </a:lstStyle>
          <a:p>
            <a:r>
              <a:rPr lang="zh-CN" altLang="en-US" sz="800" dirty="0"/>
              <a:t>智能面板</a:t>
            </a:r>
            <a:endParaRPr lang="zh-CN" altLang="en-US" sz="800" dirty="0"/>
          </a:p>
        </p:txBody>
      </p:sp>
      <p:sp>
        <p:nvSpPr>
          <p:cNvPr id="84" name="Text Box 77"/>
          <p:cNvSpPr txBox="1">
            <a:spLocks noChangeAspect="1" noChangeArrowheads="1"/>
          </p:cNvSpPr>
          <p:nvPr/>
        </p:nvSpPr>
        <p:spPr bwMode="auto">
          <a:xfrm>
            <a:off x="11140348" y="6225500"/>
            <a:ext cx="720000" cy="15814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dist="35921" dir="2700000" algn="ctr" rotWithShape="0">
              <a:schemeClr val="bg2">
                <a:alpha val="74997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5405" tIns="37703" rIns="75405" bIns="37703" anchor="ctr"/>
          <a:lstStyle>
            <a:defPPr>
              <a:defRPr lang="zh-CN"/>
            </a:defPPr>
            <a:lvl1pPr algn="ctr" defTabSz="957580">
              <a:defRPr kumimoji="1" sz="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2pPr>
            <a:lvl3pPr marL="11430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3pPr>
            <a:lvl4pPr marL="16002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4pPr>
            <a:lvl5pPr marL="2057400" indent="-228600" defTabSz="957580" eaLnBrk="0" hangingPunct="0"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5pPr>
            <a:lvl6pPr marL="25146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6pPr>
            <a:lvl7pPr marL="29718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7pPr>
            <a:lvl8pPr marL="34290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8pPr>
            <a:lvl9pPr marL="3886200" indent="-228600" defTabSz="95758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latin typeface="Times New Roman" panose="02020603050405020304" pitchFamily="18" charset="0"/>
                <a:ea typeface="黑体" panose="02010609060101010101" charset="-122"/>
              </a:defRPr>
            </a:lvl9pPr>
          </a:lstStyle>
          <a:p>
            <a:r>
              <a:rPr lang="zh-CN" altLang="en-US" sz="800" dirty="0"/>
              <a:t>传感器</a:t>
            </a:r>
            <a:endParaRPr lang="en-US" altLang="zh-CN" sz="800" dirty="0"/>
          </a:p>
        </p:txBody>
      </p:sp>
      <p:sp>
        <p:nvSpPr>
          <p:cNvPr id="85" name="Line 24"/>
          <p:cNvSpPr>
            <a:spLocks noChangeAspect="1" noChangeShapeType="1"/>
          </p:cNvSpPr>
          <p:nvPr/>
        </p:nvSpPr>
        <p:spPr bwMode="auto">
          <a:xfrm flipH="1">
            <a:off x="9401150" y="2580758"/>
            <a:ext cx="0" cy="500273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1219200">
              <a:defRPr/>
            </a:pPr>
            <a:endParaRPr lang="zh-CN" altLang="en-US" sz="2400" kern="0"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1140348" y="6436524"/>
            <a:ext cx="1460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</a:rPr>
              <a:t>公共区域</a:t>
            </a:r>
            <a:endParaRPr lang="zh-CN" altLang="en-US" sz="1400" dirty="0"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6" name="直接连接符 5"/>
          <p:cNvCxnSpPr>
            <a:endCxn id="230" idx="3"/>
          </p:cNvCxnSpPr>
          <p:nvPr/>
        </p:nvCxnSpPr>
        <p:spPr>
          <a:xfrm flipH="1" flipV="1">
            <a:off x="5837662" y="2580759"/>
            <a:ext cx="3577248" cy="0"/>
          </a:xfrm>
          <a:prstGeom prst="line">
            <a:avLst/>
          </a:prstGeom>
          <a:noFill/>
          <a:ln w="38100">
            <a:solidFill>
              <a:srgbClr val="00B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" name="文本框 86"/>
          <p:cNvSpPr txBox="1"/>
          <p:nvPr/>
        </p:nvSpPr>
        <p:spPr>
          <a:xfrm>
            <a:off x="7312501" y="2300594"/>
            <a:ext cx="1050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</a:rPr>
              <a:t>TCP/IP</a:t>
            </a:r>
            <a:endParaRPr lang="zh-CN" altLang="en-US" sz="1400" dirty="0"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 rot="20058537">
            <a:off x="2035775" y="5130140"/>
            <a:ext cx="993257" cy="987900"/>
            <a:chOff x="2984499" y="762000"/>
            <a:chExt cx="11112501" cy="7364642"/>
          </a:xfrm>
        </p:grpSpPr>
        <p:pic>
          <p:nvPicPr>
            <p:cNvPr id="88" name="图片 87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83" t="5954" r="5368" b="8569"/>
            <a:stretch>
              <a:fillRect/>
            </a:stretch>
          </p:blipFill>
          <p:spPr>
            <a:xfrm>
              <a:off x="2984499" y="762000"/>
              <a:ext cx="11112501" cy="7364642"/>
            </a:xfrm>
            <a:prstGeom prst="rect">
              <a:avLst/>
            </a:prstGeom>
          </p:spPr>
        </p:pic>
        <p:sp>
          <p:nvSpPr>
            <p:cNvPr id="89" name="任意多边形 88"/>
            <p:cNvSpPr/>
            <p:nvPr/>
          </p:nvSpPr>
          <p:spPr>
            <a:xfrm>
              <a:off x="8940346" y="4921703"/>
              <a:ext cx="1235529" cy="1291771"/>
            </a:xfrm>
            <a:custGeom>
              <a:avLst/>
              <a:gdLst>
                <a:gd name="connsiteX0" fmla="*/ 0 w 1190171"/>
                <a:gd name="connsiteY0" fmla="*/ 0 h 1291771"/>
                <a:gd name="connsiteX1" fmla="*/ 145143 w 1190171"/>
                <a:gd name="connsiteY1" fmla="*/ 203200 h 1291771"/>
                <a:gd name="connsiteX2" fmla="*/ 1190171 w 1190171"/>
                <a:gd name="connsiteY2" fmla="*/ 1291771 h 1291771"/>
                <a:gd name="connsiteX3" fmla="*/ 1190171 w 1190171"/>
                <a:gd name="connsiteY3" fmla="*/ 725714 h 1291771"/>
                <a:gd name="connsiteX4" fmla="*/ 1103086 w 1190171"/>
                <a:gd name="connsiteY4" fmla="*/ 638628 h 1291771"/>
                <a:gd name="connsiteX5" fmla="*/ 1045029 w 1190171"/>
                <a:gd name="connsiteY5" fmla="*/ 595085 h 1291771"/>
                <a:gd name="connsiteX6" fmla="*/ 464457 w 1190171"/>
                <a:gd name="connsiteY6" fmla="*/ 145143 h 1291771"/>
                <a:gd name="connsiteX7" fmla="*/ 261257 w 1190171"/>
                <a:gd name="connsiteY7" fmla="*/ 101600 h 129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90171" h="1291771">
                  <a:moveTo>
                    <a:pt x="0" y="0"/>
                  </a:moveTo>
                  <a:lnTo>
                    <a:pt x="145143" y="203200"/>
                  </a:lnTo>
                  <a:lnTo>
                    <a:pt x="1190171" y="1291771"/>
                  </a:lnTo>
                  <a:lnTo>
                    <a:pt x="1190171" y="725714"/>
                  </a:lnTo>
                  <a:cubicBezTo>
                    <a:pt x="1161143" y="696685"/>
                    <a:pt x="1133600" y="666091"/>
                    <a:pt x="1103086" y="638628"/>
                  </a:cubicBezTo>
                  <a:cubicBezTo>
                    <a:pt x="1085105" y="622445"/>
                    <a:pt x="1045029" y="595085"/>
                    <a:pt x="1045029" y="595085"/>
                  </a:cubicBezTo>
                  <a:lnTo>
                    <a:pt x="464457" y="145143"/>
                  </a:lnTo>
                  <a:lnTo>
                    <a:pt x="261257" y="101600"/>
                  </a:lnTo>
                </a:path>
              </a:pathLst>
            </a:custGeom>
            <a:solidFill>
              <a:schemeClr val="bg1"/>
            </a:solidFill>
            <a:ln w="12700" cap="flat" cmpd="sng" algn="ctr">
              <a:noFill/>
              <a:prstDash val="solid"/>
              <a:headEnd type="none"/>
              <a:tailEnd type="none" w="sm" len="sm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pic>
        <p:nvPicPr>
          <p:cNvPr id="92" name="图片 91"/>
          <p:cNvPicPr>
            <a:picLocks noChangeAspect="1"/>
          </p:cNvPicPr>
          <p:nvPr/>
        </p:nvPicPr>
        <p:blipFill rotWithShape="1">
          <a:blip r:embed="rId13"/>
          <a:srcRect l="14150" t="60225" r="9445" b="13457"/>
          <a:stretch>
            <a:fillRect/>
          </a:stretch>
        </p:blipFill>
        <p:spPr>
          <a:xfrm>
            <a:off x="4727285" y="5533184"/>
            <a:ext cx="835845" cy="371487"/>
          </a:xfrm>
          <a:prstGeom prst="rect">
            <a:avLst/>
          </a:prstGeom>
        </p:spPr>
      </p:pic>
      <p:sp>
        <p:nvSpPr>
          <p:cNvPr id="93" name="Line 24"/>
          <p:cNvSpPr>
            <a:spLocks noChangeAspect="1" noChangeShapeType="1"/>
          </p:cNvSpPr>
          <p:nvPr/>
        </p:nvSpPr>
        <p:spPr bwMode="auto">
          <a:xfrm flipH="1">
            <a:off x="3841412" y="4182587"/>
            <a:ext cx="0" cy="1143752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文本框 93"/>
          <p:cNvSpPr txBox="1"/>
          <p:nvPr/>
        </p:nvSpPr>
        <p:spPr>
          <a:xfrm>
            <a:off x="3867734" y="4668484"/>
            <a:ext cx="10505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黑体" panose="02010609060101010101" charset="-122"/>
                <a:ea typeface="黑体" panose="02010609060101010101" charset="-122"/>
              </a:rPr>
              <a:t>蓝牙</a:t>
            </a:r>
            <a:r>
              <a:rPr lang="en-US" altLang="zh-CN" sz="1400" dirty="0">
                <a:latin typeface="黑体" panose="02010609060101010101" charset="-122"/>
                <a:ea typeface="黑体" panose="02010609060101010101" charset="-122"/>
              </a:rPr>
              <a:t>mesh</a:t>
            </a:r>
            <a:endParaRPr lang="zh-CN" altLang="en-US" sz="14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95" name="图片 9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0090" y="3082310"/>
            <a:ext cx="813040" cy="602415"/>
          </a:xfrm>
          <a:prstGeom prst="rect">
            <a:avLst/>
          </a:prstGeom>
        </p:spPr>
      </p:pic>
      <p:pic>
        <p:nvPicPr>
          <p:cNvPr id="101" name="图片 100"/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2812" b="98500" l="187" r="9831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46972" y="5238442"/>
            <a:ext cx="1226234" cy="814690"/>
          </a:xfrm>
          <a:prstGeom prst="rect">
            <a:avLst/>
          </a:prstGeom>
        </p:spPr>
      </p:pic>
      <p:grpSp>
        <p:nvGrpSpPr>
          <p:cNvPr id="91" name="组合 90"/>
          <p:cNvGrpSpPr/>
          <p:nvPr/>
        </p:nvGrpSpPr>
        <p:grpSpPr>
          <a:xfrm>
            <a:off x="445365" y="270479"/>
            <a:ext cx="8039807" cy="523220"/>
            <a:chOff x="445365" y="270479"/>
            <a:chExt cx="8039807" cy="523220"/>
          </a:xfrm>
        </p:grpSpPr>
        <p:sp>
          <p:nvSpPr>
            <p:cNvPr id="96" name="矩形 95"/>
            <p:cNvSpPr/>
            <p:nvPr/>
          </p:nvSpPr>
          <p:spPr>
            <a:xfrm>
              <a:off x="445365" y="270479"/>
              <a:ext cx="803980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rPr>
                <a:t>核心卖点   </a:t>
              </a:r>
              <a:r>
                <a:rPr lang="zh-CN" altLang="en-US" sz="2800" spc="3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智慧课堂</a:t>
              </a:r>
              <a:r>
                <a:rPr lang="en-US" altLang="zh-CN" sz="2400" spc="3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-</a:t>
              </a:r>
              <a:r>
                <a:rPr lang="zh-CN" altLang="en-US" sz="2400" cap="all" spc="3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+mn-lt"/>
                </a:rPr>
                <a:t>智能照明控制系统架构图</a:t>
              </a:r>
              <a:endParaRPr lang="zh-CN" altLang="en-US" sz="2400" spc="3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98" name="直接连接符 97"/>
            <p:cNvCxnSpPr/>
            <p:nvPr/>
          </p:nvCxnSpPr>
          <p:spPr>
            <a:xfrm>
              <a:off x="2123440" y="378082"/>
              <a:ext cx="0" cy="31496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079490" y="1547495"/>
            <a:ext cx="5679440" cy="4404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554480"/>
            <a:ext cx="6474460" cy="439737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8740" y="1795145"/>
            <a:ext cx="3835400" cy="38474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099047" y="4646427"/>
            <a:ext cx="3906475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高光效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光效</a:t>
            </a:r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95lm/W</a:t>
            </a:r>
            <a:endParaRPr lang="en-US" altLang="zh-CN" sz="1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桌面维持平均照度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501 lx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，优于国标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保证学习环境的充分明亮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099048" y="1924739"/>
            <a:ext cx="3906474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低眩光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UGR&lt;16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Tx/>
              <a:buSzTx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单灯 </a:t>
            </a:r>
            <a:r>
              <a:rPr lang="zh-CN" altLang="en-US" sz="1200" b="1" dirty="0">
                <a:solidFill>
                  <a:srgbClr val="1A47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UGR&lt;16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，优于国标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Tx/>
              <a:buSzTx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降低学生用眼疲劳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099048" y="2805147"/>
            <a:ext cx="4566875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照度均匀度高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Tx/>
              <a:buSzTx/>
              <a:buNone/>
            </a:pPr>
            <a:r>
              <a:rPr lang="zh-CN" altLang="en-US" sz="1200" b="1" dirty="0">
                <a:solidFill>
                  <a:srgbClr val="1A47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照度均匀度0.8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，优于国标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Tx/>
              <a:buSzTx/>
              <a:buNone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守卫学生用眼健康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55526" y="260319"/>
            <a:ext cx="7312596" cy="521970"/>
            <a:chOff x="445366" y="270479"/>
            <a:chExt cx="7312596" cy="521970"/>
          </a:xfrm>
        </p:grpSpPr>
        <p:sp>
          <p:nvSpPr>
            <p:cNvPr id="16" name="矩形 15"/>
            <p:cNvSpPr/>
            <p:nvPr/>
          </p:nvSpPr>
          <p:spPr>
            <a:xfrm>
              <a:off x="445366" y="270479"/>
              <a:ext cx="7312596" cy="5219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方正兰亭准黑简体" charset="-122"/>
                </a:rPr>
                <a:t>核心卖点   </a:t>
              </a:r>
              <a:r>
                <a:rPr lang="zh-CN" altLang="en-US" sz="2800" spc="300" dirty="0">
                  <a:solidFill>
                    <a:schemeClr val="bg2">
                      <a:lumMod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专业光学</a:t>
              </a:r>
              <a:endParaRPr lang="zh-CN" altLang="en-US" sz="2400" spc="3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2123440" y="378082"/>
              <a:ext cx="0" cy="314960"/>
            </a:xfrm>
            <a:prstGeom prst="line">
              <a:avLst/>
            </a:prstGeom>
            <a:ln w="1905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/>
        </p:nvSpPr>
        <p:spPr>
          <a:xfrm>
            <a:off x="7099047" y="3686307"/>
            <a:ext cx="3906475" cy="814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上下出光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更通透</a:t>
            </a:r>
            <a:endParaRPr lang="en-US" altLang="zh-CN" sz="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在保证下出光桌面照度的同时，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配合上出光，打造</a:t>
            </a:r>
            <a:r>
              <a:rPr lang="zh-CN" altLang="en-US" sz="1200" b="1" dirty="0">
                <a:solidFill>
                  <a:srgbClr val="1A47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更明亮通透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的学习环境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389245" y="3650615"/>
            <a:ext cx="9112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700" b="1"/>
              <a:t>光强分布曲线</a:t>
            </a:r>
            <a:endParaRPr lang="zh-CN" altLang="en-US" sz="700" b="1"/>
          </a:p>
          <a:p>
            <a:pPr algn="r"/>
            <a:r>
              <a:rPr lang="zh-CN" altLang="en-US" sz="700" b="1"/>
              <a:t> [单位:cd]</a:t>
            </a:r>
            <a:endParaRPr lang="zh-CN" altLang="en-US" sz="700" b="1"/>
          </a:p>
        </p:txBody>
      </p:sp>
      <p:sp>
        <p:nvSpPr>
          <p:cNvPr id="14" name="文本框 13"/>
          <p:cNvSpPr txBox="1"/>
          <p:nvPr/>
        </p:nvSpPr>
        <p:spPr>
          <a:xfrm>
            <a:off x="5389245" y="5642610"/>
            <a:ext cx="91122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700" b="1"/>
              <a:t>照度距离图表</a:t>
            </a:r>
            <a:endParaRPr lang="zh-CN" altLang="en-US" sz="700" b="1"/>
          </a:p>
        </p:txBody>
      </p:sp>
      <p:sp>
        <p:nvSpPr>
          <p:cNvPr id="20" name="矩形 19"/>
          <p:cNvSpPr/>
          <p:nvPr/>
        </p:nvSpPr>
        <p:spPr>
          <a:xfrm>
            <a:off x="2655363" y="1148450"/>
            <a:ext cx="910343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专业光学设计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低眩光、高照度均匀度、高光效、更通透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4049395" y="1795145"/>
            <a:ext cx="2160270" cy="1847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395" y="4022725"/>
            <a:ext cx="2160270" cy="1619885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79375" y="2301240"/>
            <a:ext cx="3834765" cy="26708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079360" y="1687412"/>
            <a:ext cx="5679440" cy="42645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6640" y="1687412"/>
            <a:ext cx="6109016" cy="426453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50669" y="2140153"/>
            <a:ext cx="2656697" cy="1068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3050669" y="2901844"/>
            <a:ext cx="1780954" cy="37446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2180"/>
              </a:lnSpc>
              <a:defRPr sz="1400">
                <a:solidFill>
                  <a:srgbClr val="30303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RG0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无限制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/>
          <a:srcRect t="-6437"/>
          <a:stretch>
            <a:fillRect/>
          </a:stretch>
        </p:blipFill>
        <p:spPr>
          <a:xfrm>
            <a:off x="282041" y="4326626"/>
            <a:ext cx="2539338" cy="1321199"/>
          </a:xfrm>
          <a:prstGeom prst="rect">
            <a:avLst/>
          </a:prstGeom>
        </p:spPr>
      </p:pic>
      <p:sp>
        <p:nvSpPr>
          <p:cNvPr id="9" name="十字形 8"/>
          <p:cNvSpPr/>
          <p:nvPr/>
        </p:nvSpPr>
        <p:spPr>
          <a:xfrm rot="2700000">
            <a:off x="1251199" y="5185095"/>
            <a:ext cx="549614" cy="549614"/>
          </a:xfrm>
          <a:prstGeom prst="plus">
            <a:avLst>
              <a:gd name="adj" fmla="val 3863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/>
          <a:srcRect/>
          <a:stretch>
            <a:fillRect/>
          </a:stretch>
        </p:blipFill>
        <p:spPr>
          <a:xfrm>
            <a:off x="412936" y="2140153"/>
            <a:ext cx="2359254" cy="1733732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45366" y="319117"/>
            <a:ext cx="40785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核心卖点   </a:t>
            </a:r>
            <a:r>
              <a:rPr lang="zh-CN" altLang="en-US" sz="2800" spc="3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专业光学</a:t>
            </a:r>
            <a:endParaRPr lang="zh-CN" altLang="en-US" sz="2800" spc="3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endParaRPr lang="zh-CN" altLang="en-US" sz="28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55363" y="1148450"/>
            <a:ext cx="910343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自主无频闪电源设计、高配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 --- 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无频闪、无蓝光危害、高显色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741074" y="2173338"/>
            <a:ext cx="39064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无蓝光危害 </a:t>
            </a:r>
            <a:r>
              <a:rPr lang="en-US" altLang="zh-CN" b="1" dirty="0">
                <a:solidFill>
                  <a:srgbClr val="1A47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RG0</a:t>
            </a:r>
            <a:endParaRPr lang="zh-CN" altLang="en-US" b="1" dirty="0">
              <a:solidFill>
                <a:srgbClr val="1A47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蓝光危害</a:t>
            </a:r>
            <a:r>
              <a:rPr lang="en-US" altLang="zh-CN" sz="1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RG0</a:t>
            </a: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无限制级别，有效避免蓝光伤害，避免因灯光导致视网膜黄化。</a:t>
            </a:r>
            <a:endParaRPr lang="en-US" altLang="zh-CN" sz="12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41075" y="3232538"/>
            <a:ext cx="456687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1A47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无频闪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电源设计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频闪波动深度</a:t>
            </a: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&lt;1@100Hz</a:t>
            </a: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，符合</a:t>
            </a: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IEEE 1789 </a:t>
            </a: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无影响等级</a:t>
            </a:r>
            <a:endParaRPr lang="en-US" altLang="zh-CN" sz="12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无频闪设计</a:t>
            </a: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有效减低视觉疲劳。</a:t>
            </a:r>
            <a:endParaRPr lang="en-US" altLang="zh-CN" sz="12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741074" y="4248983"/>
            <a:ext cx="3906474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1A47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高显色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/Ra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R15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显色指数</a:t>
            </a:r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Ra&gt;90</a:t>
            </a:r>
            <a:endParaRPr lang="en-US" altLang="zh-CN" sz="11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特殊显色指数</a:t>
            </a:r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R9&gt;60</a:t>
            </a:r>
            <a:endParaRPr lang="en-US" altLang="zh-CN" sz="1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特殊显色指数</a:t>
            </a:r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R15&gt;60</a:t>
            </a:r>
            <a:endParaRPr lang="en-US" altLang="zh-CN" sz="1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真实色彩还原。</a:t>
            </a:r>
            <a:endParaRPr lang="en-US" altLang="zh-CN" sz="12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983967" y="3475981"/>
            <a:ext cx="3204540" cy="2411130"/>
            <a:chOff x="2991276" y="3339279"/>
            <a:chExt cx="3204540" cy="2411130"/>
          </a:xfrm>
        </p:grpSpPr>
        <p:sp>
          <p:nvSpPr>
            <p:cNvPr id="21" name="文本框 20"/>
            <p:cNvSpPr txBox="1"/>
            <p:nvPr/>
          </p:nvSpPr>
          <p:spPr>
            <a:xfrm>
              <a:off x="2991276" y="5455560"/>
              <a:ext cx="1634512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00" b="1" dirty="0">
                  <a:solidFill>
                    <a:schemeClr val="bg2">
                      <a:lumMod val="25000"/>
                    </a:schemeClr>
                  </a:solidFill>
                </a:rPr>
                <a:t>欧普高显指显示</a:t>
              </a:r>
              <a:endParaRPr lang="zh-CN" altLang="en-US" sz="1300" b="1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396468" y="5458021"/>
              <a:ext cx="179934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00" dirty="0">
                  <a:solidFill>
                    <a:schemeClr val="bg2">
                      <a:lumMod val="50000"/>
                    </a:schemeClr>
                  </a:solidFill>
                </a:rPr>
                <a:t>普通低显指显示</a:t>
              </a:r>
              <a:endParaRPr lang="zh-CN" altLang="en-US" sz="13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3050669" y="3339279"/>
              <a:ext cx="2656697" cy="2075295"/>
              <a:chOff x="7620001" y="1257297"/>
              <a:chExt cx="3820160" cy="3009903"/>
            </a:xfrm>
          </p:grpSpPr>
          <p:pic>
            <p:nvPicPr>
              <p:cNvPr id="25" name="图片 2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20001" y="1258772"/>
                <a:ext cx="3820160" cy="3008428"/>
              </a:xfrm>
              <a:prstGeom prst="rect">
                <a:avLst/>
              </a:prstGeom>
            </p:spPr>
          </p:pic>
          <p:pic>
            <p:nvPicPr>
              <p:cNvPr id="26" name="图片 25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contrast="-6000"/>
                        </a14:imgEffect>
                        <a14:imgEffect>
                          <a14:saturation sat="67000"/>
                        </a14:imgEffect>
                      </a14:imgLayer>
                    </a14:imgProps>
                  </a:ext>
                </a:extLst>
              </a:blip>
              <a:srcRect l="50657"/>
              <a:stretch>
                <a:fillRect/>
              </a:stretch>
            </p:blipFill>
            <p:spPr>
              <a:xfrm>
                <a:off x="9555174" y="1257297"/>
                <a:ext cx="1884987" cy="3008428"/>
              </a:xfrm>
              <a:prstGeom prst="rect">
                <a:avLst/>
              </a:prstGeom>
            </p:spPr>
          </p:pic>
        </p:grpSp>
      </p:grpSp>
      <p:sp>
        <p:nvSpPr>
          <p:cNvPr id="28" name="文本框 27"/>
          <p:cNvSpPr txBox="1"/>
          <p:nvPr/>
        </p:nvSpPr>
        <p:spPr>
          <a:xfrm>
            <a:off x="304245" y="4022507"/>
            <a:ext cx="1710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无频闪</a:t>
            </a:r>
            <a:endParaRPr lang="zh-CN" altLang="en-US" sz="1600" dirty="0"/>
          </a:p>
        </p:txBody>
      </p:sp>
      <p:cxnSp>
        <p:nvCxnSpPr>
          <p:cNvPr id="29" name="直接连接符 28"/>
          <p:cNvCxnSpPr/>
          <p:nvPr/>
        </p:nvCxnSpPr>
        <p:spPr>
          <a:xfrm>
            <a:off x="2113280" y="416560"/>
            <a:ext cx="0" cy="31496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10162285" y="2193571"/>
            <a:ext cx="1810750" cy="16331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027321" y="2193571"/>
            <a:ext cx="2049763" cy="16331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6333424" y="2204295"/>
            <a:ext cx="1589788" cy="16331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15438" y="1629107"/>
            <a:ext cx="5667545" cy="426453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082984" y="1629107"/>
            <a:ext cx="6109016" cy="42645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445366" y="319117"/>
            <a:ext cx="33554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核心卖点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安全可靠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222807" y="1052839"/>
            <a:ext cx="4969511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长寿命、高防护等级、人性化设计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2756" y="3034018"/>
            <a:ext cx="39064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防护等级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IP40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防冲击水平</a:t>
            </a:r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IK03</a:t>
            </a:r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防止飞虫及灰尘进入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有效避免安装损坏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12755" y="3946683"/>
            <a:ext cx="3906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一体铝合金圆角边框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更美观、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强度更好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、圆角防止人员以外受伤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12756" y="4707966"/>
            <a:ext cx="4566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宽吊装孔设计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更美观、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安装容差度高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、可预装螺母挂装，施工更便利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45117" y="4289610"/>
            <a:ext cx="1528388" cy="122084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2180"/>
              </a:lnSpc>
              <a:defRPr sz="14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dirty="0"/>
              <a:t>确保结构强度的同时，圆角处理防止灯具脱落或意外撞击导致人员受伤</a:t>
            </a:r>
            <a:endParaRPr lang="en-US" altLang="zh-CN" sz="1200" dirty="0"/>
          </a:p>
        </p:txBody>
      </p:sp>
      <p:sp>
        <p:nvSpPr>
          <p:cNvPr id="12" name="文本框 11"/>
          <p:cNvSpPr txBox="1"/>
          <p:nvPr/>
        </p:nvSpPr>
        <p:spPr>
          <a:xfrm>
            <a:off x="8342750" y="4293927"/>
            <a:ext cx="1401367" cy="122084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2180"/>
              </a:lnSpc>
              <a:defRPr sz="14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dirty="0"/>
              <a:t>预留吊杆安装施工时误差容错，可实现</a:t>
            </a:r>
            <a:r>
              <a:rPr lang="en-US" altLang="zh-CN" sz="1200" dirty="0"/>
              <a:t>3cm</a:t>
            </a:r>
            <a:r>
              <a:rPr lang="zh-CN" altLang="en-US" sz="1200" dirty="0"/>
              <a:t>内安装位置偏差调节</a:t>
            </a:r>
            <a:endParaRPr lang="zh-CN" altLang="en-US" sz="1200" dirty="0"/>
          </a:p>
        </p:txBody>
      </p:sp>
      <p:sp>
        <p:nvSpPr>
          <p:cNvPr id="13" name="文本框 12"/>
          <p:cNvSpPr txBox="1"/>
          <p:nvPr/>
        </p:nvSpPr>
        <p:spPr>
          <a:xfrm>
            <a:off x="6425505" y="3927003"/>
            <a:ext cx="1739484" cy="44191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>
            <a:defPPr>
              <a:defRPr lang="zh-CN"/>
            </a:defPPr>
            <a:lvl1pPr>
              <a:lnSpc>
                <a:spcPts val="3000"/>
              </a:lnSpc>
              <a:defRPr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defRPr>
            </a:lvl1pPr>
          </a:lstStyle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一体铝合金圆角边框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373362" y="3941384"/>
            <a:ext cx="1344753" cy="44191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>
            <a:defPPr>
              <a:defRPr lang="zh-CN"/>
            </a:defPPr>
            <a:lvl1pPr>
              <a:lnSpc>
                <a:spcPts val="3000"/>
              </a:lnSpc>
              <a:defRPr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defRPr>
            </a:lvl1pPr>
          </a:lstStyle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形宽吊装孔设计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193261" y="4250437"/>
            <a:ext cx="1810750" cy="146905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2180"/>
              </a:lnSpc>
              <a:defRPr sz="140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200" dirty="0"/>
              <a:t>防护等级</a:t>
            </a:r>
            <a:r>
              <a:rPr lang="en-US" altLang="zh-CN" sz="1200" dirty="0"/>
              <a:t>IP40 </a:t>
            </a:r>
            <a:r>
              <a:rPr lang="zh-CN" altLang="en-US" sz="1200" dirty="0"/>
              <a:t>防冲击水平</a:t>
            </a:r>
            <a:r>
              <a:rPr lang="en-US" altLang="zh-CN" sz="1200" dirty="0"/>
              <a:t>IK03</a:t>
            </a:r>
            <a:r>
              <a:rPr lang="zh-CN" altLang="en-US" sz="1200" dirty="0"/>
              <a:t>，有效防止飞虫及灰尘进入，同时可以极大降低安装及运输途中损坏风险</a:t>
            </a:r>
            <a:endParaRPr lang="en-US" altLang="zh-CN" sz="1200" dirty="0"/>
          </a:p>
        </p:txBody>
      </p:sp>
      <p:sp>
        <p:nvSpPr>
          <p:cNvPr id="18" name="文本框 17"/>
          <p:cNvSpPr txBox="1"/>
          <p:nvPr/>
        </p:nvSpPr>
        <p:spPr>
          <a:xfrm>
            <a:off x="10236873" y="3923545"/>
            <a:ext cx="1723526" cy="44191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0" tIns="0" rIns="0" bIns="0" anchor="t" anchorCtr="0"/>
          <a:lstStyle>
            <a:defPPr>
              <a:defRPr lang="zh-CN"/>
            </a:defPPr>
            <a:lvl1pPr>
              <a:lnSpc>
                <a:spcPts val="3000"/>
              </a:lnSpc>
              <a:defRPr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defRPr>
            </a:lvl1pPr>
          </a:lstStyle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高防护等级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防冲击水平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2113280" y="416560"/>
            <a:ext cx="0" cy="31496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1012754" y="2136431"/>
            <a:ext cx="39064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50000H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使用寿命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灯具使用寿命长达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50000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小时，配合强结构，</a:t>
            </a:r>
            <a:r>
              <a:rPr lang="zh-CN" altLang="en-US" sz="1200" dirty="0"/>
              <a:t>极大程度降低了后期维护费用与时间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5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58" t="15019" r="60327" b="65792"/>
          <a:stretch>
            <a:fillRect/>
          </a:stretch>
        </p:blipFill>
        <p:spPr bwMode="auto">
          <a:xfrm>
            <a:off x="8173085" y="2342515"/>
            <a:ext cx="1649095" cy="1334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5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86" t="56342" r="8624" b="19572"/>
          <a:stretch>
            <a:fillRect/>
          </a:stretch>
        </p:blipFill>
        <p:spPr bwMode="auto">
          <a:xfrm>
            <a:off x="10160000" y="2418080"/>
            <a:ext cx="2054225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图片 15" descr="博阅II上下出光-小十字格栅 (2)"/>
          <p:cNvPicPr>
            <a:picLocks noChangeAspect="1"/>
          </p:cNvPicPr>
          <p:nvPr/>
        </p:nvPicPr>
        <p:blipFill>
          <a:blip r:embed="rId2"/>
          <a:srcRect l="74517" t="7533" r="5964" b="58049"/>
          <a:stretch>
            <a:fillRect/>
          </a:stretch>
        </p:blipFill>
        <p:spPr>
          <a:xfrm>
            <a:off x="6376035" y="2329815"/>
            <a:ext cx="1358265" cy="1347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5366" y="319117"/>
            <a:ext cx="33746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使用提示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  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特殊环境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2113280" y="416560"/>
            <a:ext cx="0" cy="31496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45367" y="937870"/>
            <a:ext cx="89764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注意事项：</a:t>
            </a:r>
            <a:r>
              <a:rPr lang="zh-CN" altLang="en-US" dirty="0"/>
              <a:t>如安装环境处于强信号干扰情况时（如所在学校作为考点等情况），请勿使用智慧面板对灯具进行控制，具体操作可参考如下建议：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建议在灯具安装时同时配备普通墙壁开关（强电开关）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在开启信号屏蔽器前开启灯光，信号屏蔽期间请勿操作指控面板直至信号屏蔽器关闭</a:t>
            </a:r>
            <a:endParaRPr lang="zh-CN" altLang="en-US" dirty="0"/>
          </a:p>
        </p:txBody>
      </p:sp>
      <p:grpSp>
        <p:nvGrpSpPr>
          <p:cNvPr id="57" name="组合 56"/>
          <p:cNvGrpSpPr/>
          <p:nvPr/>
        </p:nvGrpSpPr>
        <p:grpSpPr>
          <a:xfrm>
            <a:off x="479428" y="2361353"/>
            <a:ext cx="11320402" cy="4455819"/>
            <a:chOff x="479428" y="2361353"/>
            <a:chExt cx="11320402" cy="4455819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79428" y="2361353"/>
              <a:ext cx="4446211" cy="3936139"/>
            </a:xfrm>
            <a:prstGeom prst="rect">
              <a:avLst/>
            </a:prstGeom>
          </p:spPr>
        </p:pic>
        <p:grpSp>
          <p:nvGrpSpPr>
            <p:cNvPr id="50" name="组合 49"/>
            <p:cNvGrpSpPr/>
            <p:nvPr/>
          </p:nvGrpSpPr>
          <p:grpSpPr>
            <a:xfrm>
              <a:off x="5941054" y="2361353"/>
              <a:ext cx="5858776" cy="4455819"/>
              <a:chOff x="310213" y="2226017"/>
              <a:chExt cx="5858776" cy="4455819"/>
            </a:xfrm>
          </p:grpSpPr>
          <p:pic>
            <p:nvPicPr>
              <p:cNvPr id="42" name="图片 41"/>
              <p:cNvPicPr>
                <a:picLocks noChangeAspect="1"/>
              </p:cNvPicPr>
              <p:nvPr/>
            </p:nvPicPr>
            <p:blipFill rotWithShape="1">
              <a:blip r:embed="rId2"/>
              <a:srcRect l="11951" r="17935" b="21314"/>
              <a:stretch>
                <a:fillRect/>
              </a:stretch>
            </p:blipFill>
            <p:spPr>
              <a:xfrm>
                <a:off x="310213" y="2226017"/>
                <a:ext cx="5805259" cy="3744196"/>
              </a:xfrm>
              <a:prstGeom prst="rect">
                <a:avLst/>
              </a:prstGeom>
            </p:spPr>
          </p:pic>
          <p:pic>
            <p:nvPicPr>
              <p:cNvPr id="1026" name="Picture 2" descr="https://bkimg.cdn.bcebos.com/pic/7dd98d1001e93901108ef9c071ec54e737d196bb?x-bce-process=image/watermark,image_d2F0ZXIvYmFpa2UxMTY=,g_7,xp_5,yp_5/format,f_auto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0214" y="4651880"/>
                <a:ext cx="1538072" cy="15380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34" name="组合 33"/>
              <p:cNvGrpSpPr/>
              <p:nvPr/>
            </p:nvGrpSpPr>
            <p:grpSpPr>
              <a:xfrm>
                <a:off x="498883" y="3176544"/>
                <a:ext cx="2986989" cy="3505292"/>
                <a:chOff x="307630" y="2744641"/>
                <a:chExt cx="2986989" cy="3505292"/>
              </a:xfrm>
            </p:grpSpPr>
            <p:sp>
              <p:nvSpPr>
                <p:cNvPr id="36" name="弧形 35"/>
                <p:cNvSpPr/>
                <p:nvPr/>
              </p:nvSpPr>
              <p:spPr>
                <a:xfrm rot="20614845">
                  <a:off x="574536" y="3307887"/>
                  <a:ext cx="2123732" cy="2457739"/>
                </a:xfrm>
                <a:prstGeom prst="arc">
                  <a:avLst>
                    <a:gd name="adj1" fmla="val 17043448"/>
                    <a:gd name="adj2" fmla="val 1464022"/>
                  </a:avLst>
                </a:prstGeom>
                <a:ln w="38100">
                  <a:solidFill>
                    <a:srgbClr val="FFFF0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弧形 36"/>
                <p:cNvSpPr/>
                <p:nvPr/>
              </p:nvSpPr>
              <p:spPr>
                <a:xfrm rot="20614845">
                  <a:off x="307630" y="2744641"/>
                  <a:ext cx="2986989" cy="3505292"/>
                </a:xfrm>
                <a:prstGeom prst="arc">
                  <a:avLst>
                    <a:gd name="adj1" fmla="val 17043448"/>
                    <a:gd name="adj2" fmla="val 1464022"/>
                  </a:avLst>
                </a:prstGeom>
                <a:ln w="38100">
                  <a:solidFill>
                    <a:srgbClr val="FFFF0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8" name="弧形 37"/>
                <p:cNvSpPr/>
                <p:nvPr/>
              </p:nvSpPr>
              <p:spPr>
                <a:xfrm>
                  <a:off x="922506" y="4298222"/>
                  <a:ext cx="818745" cy="738199"/>
                </a:xfrm>
                <a:prstGeom prst="arc">
                  <a:avLst>
                    <a:gd name="adj1" fmla="val 16200000"/>
                    <a:gd name="adj2" fmla="val 281155"/>
                  </a:avLst>
                </a:prstGeom>
                <a:ln w="38100">
                  <a:solidFill>
                    <a:srgbClr val="FFFF0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弧形 38"/>
                <p:cNvSpPr/>
                <p:nvPr/>
              </p:nvSpPr>
              <p:spPr>
                <a:xfrm rot="20614845">
                  <a:off x="654679" y="3884842"/>
                  <a:ext cx="1537446" cy="1401133"/>
                </a:xfrm>
                <a:prstGeom prst="arc">
                  <a:avLst>
                    <a:gd name="adj1" fmla="val 17043448"/>
                    <a:gd name="adj2" fmla="val 1464022"/>
                  </a:avLst>
                </a:prstGeom>
                <a:ln w="38100">
                  <a:solidFill>
                    <a:srgbClr val="FFFF00"/>
                  </a:solidFill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40" name="图片 39"/>
              <p:cNvPicPr>
                <a:picLocks noChangeAspect="1"/>
              </p:cNvPicPr>
              <p:nvPr/>
            </p:nvPicPr>
            <p:blipFill rotWithShape="1">
              <a:blip r:embed="rId4"/>
              <a:srcRect l="9057"/>
              <a:stretch>
                <a:fillRect/>
              </a:stretch>
            </p:blipFill>
            <p:spPr>
              <a:xfrm>
                <a:off x="4075331" y="4202153"/>
                <a:ext cx="2093658" cy="1768060"/>
              </a:xfrm>
              <a:prstGeom prst="rect">
                <a:avLst/>
              </a:prstGeom>
            </p:spPr>
          </p:pic>
          <p:pic>
            <p:nvPicPr>
              <p:cNvPr id="45" name="图形 44" descr="指向右边的反手食指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16200000">
                <a:off x="4051698" y="4889125"/>
                <a:ext cx="1373775" cy="1373775"/>
              </a:xfrm>
              <a:prstGeom prst="rect">
                <a:avLst/>
              </a:prstGeom>
            </p:spPr>
          </p:pic>
          <p:sp>
            <p:nvSpPr>
              <p:cNvPr id="46" name="乘号 45"/>
              <p:cNvSpPr/>
              <p:nvPr/>
            </p:nvSpPr>
            <p:spPr>
              <a:xfrm>
                <a:off x="4947779" y="4916407"/>
                <a:ext cx="1167693" cy="1163676"/>
              </a:xfrm>
              <a:prstGeom prst="mathMultiply">
                <a:avLst>
                  <a:gd name="adj1" fmla="val 15997"/>
                </a:avLst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/>
            <p:cNvSpPr txBox="1"/>
            <p:nvPr/>
          </p:nvSpPr>
          <p:spPr>
            <a:xfrm>
              <a:off x="1920058" y="6398237"/>
              <a:ext cx="12062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墙壁开关</a:t>
              </a:r>
              <a:endParaRPr lang="zh-CN" altLang="en-US" dirty="0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210849" y="6398237"/>
              <a:ext cx="5530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保持灯具开启，并在信号屏蔽期间请勿操作智控面板</a:t>
              </a:r>
              <a:endParaRPr lang="zh-CN" altLang="en-US" dirty="0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5081094" y="3975479"/>
              <a:ext cx="8475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/>
                <a:t>或</a:t>
              </a:r>
              <a:endParaRPr lang="zh-CN" altLang="en-US" sz="4000" b="1" dirty="0"/>
            </a:p>
          </p:txBody>
        </p:sp>
      </p:grpSp>
      <p:pic>
        <p:nvPicPr>
          <p:cNvPr id="55" name="图片 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8449" y="297512"/>
            <a:ext cx="1378184" cy="1378184"/>
          </a:xfrm>
          <a:prstGeom prst="rect">
            <a:avLst/>
          </a:prstGeom>
        </p:spPr>
      </p:pic>
      <p:sp>
        <p:nvSpPr>
          <p:cNvPr id="56" name="文本框 55"/>
          <p:cNvSpPr txBox="1"/>
          <p:nvPr/>
        </p:nvSpPr>
        <p:spPr>
          <a:xfrm>
            <a:off x="10421645" y="1731260"/>
            <a:ext cx="13781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欧普智能系统</a:t>
            </a:r>
            <a:endParaRPr lang="zh-CN" altLang="en-US" sz="1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27894" y="959947"/>
            <a:ext cx="10581126" cy="345305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409440" y="978535"/>
            <a:ext cx="414591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护眼教室灯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博阅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II-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上下出光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小十字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产品参数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1190" y="1305560"/>
            <a:ext cx="2893060" cy="5005705"/>
          </a:xfrm>
          <a:prstGeom prst="rect">
            <a:avLst/>
          </a:prstGeom>
          <a:noFill/>
          <a:ln w="19050">
            <a:solidFill>
              <a:srgbClr val="5252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45366" y="319117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产品参数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5"/>
          <p:cNvPicPr/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9" t="-625" r="13417" b="16920"/>
          <a:stretch>
            <a:fillRect/>
          </a:stretch>
        </p:blipFill>
        <p:spPr bwMode="auto">
          <a:xfrm>
            <a:off x="616585" y="1644015"/>
            <a:ext cx="2847975" cy="20847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表格 7"/>
          <p:cNvGraphicFramePr/>
          <p:nvPr>
            <p:custDataLst>
              <p:tags r:id="rId3"/>
            </p:custDataLst>
          </p:nvPr>
        </p:nvGraphicFramePr>
        <p:xfrm>
          <a:off x="3528695" y="1305560"/>
          <a:ext cx="7680325" cy="4759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000"/>
                <a:gridCol w="1473835"/>
                <a:gridCol w="2729865"/>
                <a:gridCol w="2841625"/>
              </a:tblGrid>
              <a:tr h="39878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概括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物料描述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LDP03036004-博阅II-吊教室灯-3012-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小十字</a:t>
                      </a:r>
                      <a:endParaRPr lang="zh-CN" altLang="en-US" sz="10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LDP03036004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LT</a:t>
                      </a:r>
                      <a:r>
                        <a:rPr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-博阅II-吊教室灯-3012-</a:t>
                      </a:r>
                      <a:r>
                        <a:rPr sz="10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小十字</a:t>
                      </a:r>
                      <a:endParaRPr sz="10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型号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LDP03036004</a:t>
                      </a:r>
                      <a:endParaRPr 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LDP03036004</a:t>
                      </a:r>
                      <a:r>
                        <a:rPr lang="en-US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LT</a:t>
                      </a:r>
                      <a:endParaRPr lang="en-US" altLang="en-US" sz="12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28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36W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235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光学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光通量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3420 lm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色温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4000K/5000K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2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显指（Ra）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Ra&gt;90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rowSpan="5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电子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防眩光等级（UGR）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UGR&lt;16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蓝光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2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工作电压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176-264V 50Hz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频闪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无频闪（频闪波动深度&lt;1%@100Hz）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2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功率</a:t>
                      </a: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因数（PF）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&gt;0.95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调光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调光方式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蓝牙</a:t>
                      </a:r>
                      <a:endParaRPr lang="zh-CN" altLang="en-US" sz="12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调光范围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10%~100%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2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通信模式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蓝牙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rowSpan="6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规格尺寸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1200*300*93mm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灯具寿命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50000hrs ( @L70/B50 )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2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防护等级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IP40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安装方式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吊装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2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工作环境（Ta）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-20~40℃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安全认证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CCC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图片 3" descr="博阅II上下出光-小十字格栅 (2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13715" y="4067175"/>
            <a:ext cx="3128010" cy="1760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28015" y="960120"/>
            <a:ext cx="10828655" cy="345440"/>
          </a:xfrm>
          <a:prstGeom prst="rect">
            <a:avLst/>
          </a:prstGeom>
          <a:solidFill>
            <a:srgbClr val="5252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409440" y="978535"/>
            <a:ext cx="3797935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护眼教室灯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博阅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II-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上下出光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产品参数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1190" y="1305560"/>
            <a:ext cx="2893060" cy="5096510"/>
          </a:xfrm>
          <a:prstGeom prst="rect">
            <a:avLst/>
          </a:prstGeom>
          <a:noFill/>
          <a:ln w="19050">
            <a:solidFill>
              <a:srgbClr val="5252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45366" y="319117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方正兰亭准黑简体" charset="-122"/>
              </a:rPr>
              <a:t>产品参数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5"/>
          <p:cNvPicPr/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9" t="-625" r="13417" b="16920"/>
          <a:stretch>
            <a:fillRect/>
          </a:stretch>
        </p:blipFill>
        <p:spPr bwMode="auto">
          <a:xfrm>
            <a:off x="616585" y="1644015"/>
            <a:ext cx="2847975" cy="20847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表格 7"/>
          <p:cNvGraphicFramePr/>
          <p:nvPr>
            <p:custDataLst>
              <p:tags r:id="rId3"/>
            </p:custDataLst>
          </p:nvPr>
        </p:nvGraphicFramePr>
        <p:xfrm>
          <a:off x="3528695" y="1305560"/>
          <a:ext cx="7927975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345"/>
                <a:gridCol w="1366520"/>
                <a:gridCol w="2830195"/>
                <a:gridCol w="3256915"/>
              </a:tblGrid>
              <a:tr h="39878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概括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alt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物料描述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LDP03036014-博阅II-吊教室灯-3012(上下出光）</a:t>
                      </a:r>
                      <a:endParaRPr lang="zh-CN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LDP03036001LT-博阅II-吊教室灯-3012-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上下出光</a:t>
                      </a: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) </a:t>
                      </a:r>
                      <a:r>
                        <a:rPr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BLE</a:t>
                      </a:r>
                      <a:endParaRPr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型号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LDP03036014</a:t>
                      </a:r>
                      <a:endParaRPr 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LDP03036001LT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228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功率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36W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235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光学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光通量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3420 lm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色温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4000K/5000K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2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显指（Ra）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Ra&gt;90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rowSpan="5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电子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防眩光等级（UGR）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UGR&lt;16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蓝光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2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工作电压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176-264V 50Hz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频闪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无频闪（频闪波动深度&lt;1%@100Hz）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2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功率</a:t>
                      </a: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因数（PF）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&gt;0.95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调光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调光方式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蓝牙</a:t>
                      </a:r>
                      <a:endParaRPr lang="zh-CN" altLang="en-US" sz="1200" b="1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调光范围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10%~100%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2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通信模式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蓝牙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8600">
                <a:tc rowSpan="6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结构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规格尺寸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1200*300*93mm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灯具寿命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50000hrs ( @L70/B50 )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2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防护等级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IP40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安装方式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吊装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92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工作环境（Ta）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-20~40℃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安全认证</a:t>
                      </a:r>
                      <a:endParaRPr lang="zh-CN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CCC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629285" y="3875405"/>
            <a:ext cx="2872740" cy="1908175"/>
            <a:chOff x="991" y="6103"/>
            <a:chExt cx="4524" cy="3005"/>
          </a:xfrm>
        </p:grpSpPr>
        <p:pic>
          <p:nvPicPr>
            <p:cNvPr id="2" name="图片 1" descr="ble02"/>
            <p:cNvPicPr>
              <a:picLocks noChangeAspect="1"/>
            </p:cNvPicPr>
            <p:nvPr/>
          </p:nvPicPr>
          <p:blipFill>
            <a:blip r:embed="rId4"/>
            <a:srcRect l="11765" r="14013" b="24153"/>
            <a:stretch>
              <a:fillRect/>
            </a:stretch>
          </p:blipFill>
          <p:spPr>
            <a:xfrm flipH="1">
              <a:off x="991" y="6220"/>
              <a:ext cx="4525" cy="2889"/>
            </a:xfrm>
            <a:prstGeom prst="rect">
              <a:avLst/>
            </a:prstGeom>
          </p:spPr>
        </p:pic>
        <p:sp>
          <p:nvSpPr>
            <p:cNvPr id="3" name="任意多边形 2"/>
            <p:cNvSpPr/>
            <p:nvPr/>
          </p:nvSpPr>
          <p:spPr>
            <a:xfrm>
              <a:off x="4274" y="6218"/>
              <a:ext cx="144" cy="1805"/>
            </a:xfrm>
            <a:custGeom>
              <a:avLst/>
              <a:gdLst>
                <a:gd name="connsiteX0" fmla="*/ 0 w 144"/>
                <a:gd name="connsiteY0" fmla="*/ 0 h 1776"/>
                <a:gd name="connsiteX1" fmla="*/ 130 w 144"/>
                <a:gd name="connsiteY1" fmla="*/ 0 h 1776"/>
                <a:gd name="connsiteX2" fmla="*/ 144 w 144"/>
                <a:gd name="connsiteY2" fmla="*/ 1776 h 1776"/>
                <a:gd name="connsiteX3" fmla="*/ 0 w 144"/>
                <a:gd name="connsiteY3" fmla="*/ 1698 h 1776"/>
                <a:gd name="connsiteX4" fmla="*/ 0 w 144"/>
                <a:gd name="connsiteY4" fmla="*/ 0 h 1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" h="1776">
                  <a:moveTo>
                    <a:pt x="0" y="0"/>
                  </a:moveTo>
                  <a:lnTo>
                    <a:pt x="130" y="0"/>
                  </a:lnTo>
                  <a:lnTo>
                    <a:pt x="144" y="1776"/>
                  </a:lnTo>
                  <a:lnTo>
                    <a:pt x="0" y="16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/>
          </p:nvSpPr>
          <p:spPr>
            <a:xfrm>
              <a:off x="2167" y="6103"/>
              <a:ext cx="139" cy="804"/>
            </a:xfrm>
            <a:custGeom>
              <a:avLst/>
              <a:gdLst>
                <a:gd name="connsiteX0" fmla="*/ 0 w 139"/>
                <a:gd name="connsiteY0" fmla="*/ 0 h 804"/>
                <a:gd name="connsiteX1" fmla="*/ 117 w 139"/>
                <a:gd name="connsiteY1" fmla="*/ 0 h 804"/>
                <a:gd name="connsiteX2" fmla="*/ 139 w 139"/>
                <a:gd name="connsiteY2" fmla="*/ 804 h 804"/>
                <a:gd name="connsiteX3" fmla="*/ 0 w 139"/>
                <a:gd name="connsiteY3" fmla="*/ 736 h 804"/>
                <a:gd name="connsiteX4" fmla="*/ 0 w 139"/>
                <a:gd name="connsiteY4" fmla="*/ 0 h 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" h="804">
                  <a:moveTo>
                    <a:pt x="0" y="0"/>
                  </a:moveTo>
                  <a:lnTo>
                    <a:pt x="117" y="0"/>
                  </a:lnTo>
                  <a:lnTo>
                    <a:pt x="139" y="804"/>
                  </a:lnTo>
                  <a:lnTo>
                    <a:pt x="0" y="7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形用户界面, 网站&#10;&#10;描述已自动生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805" y="0"/>
            <a:ext cx="12188389" cy="6858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42" y="530335"/>
            <a:ext cx="1076972" cy="4487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PA" val="v5.2.3"/>
</p:tagLst>
</file>

<file path=ppt/tags/tag2.xml><?xml version="1.0" encoding="utf-8"?>
<p:tagLst xmlns:p="http://schemas.openxmlformats.org/presentationml/2006/main">
  <p:tag name="KSO_WM_UNIT_PLACING_PICTURE_USER_VIEWPORT" val="{&quot;height&quot;:4841,&quot;width&quot;:6900}"/>
</p:tagLst>
</file>

<file path=ppt/tags/tag3.xml><?xml version="1.0" encoding="utf-8"?>
<p:tagLst xmlns:p="http://schemas.openxmlformats.org/presentationml/2006/main">
  <p:tag name="KSO_WM_UNIT_TABLE_BEAUTIFY" val="smartTable{a4e75e96-cc7b-4692-a5c2-803febf33387}"/>
  <p:tag name="TABLE_ENDDRAG_ORIGIN_RECT" val="604*373"/>
  <p:tag name="TABLE_ENDDRAG_RECT" val="277*102*604*373"/>
</p:tagLst>
</file>

<file path=ppt/tags/tag4.xml><?xml version="1.0" encoding="utf-8"?>
<p:tagLst xmlns:p="http://schemas.openxmlformats.org/presentationml/2006/main">
  <p:tag name="KSO_WM_UNIT_PLACING_PICTURE_USER_VIEWPORT" val="{&quot;height&quot;:4841,&quot;width&quot;:6900}"/>
</p:tagLst>
</file>

<file path=ppt/tags/tag5.xml><?xml version="1.0" encoding="utf-8"?>
<p:tagLst xmlns:p="http://schemas.openxmlformats.org/presentationml/2006/main">
  <p:tag name="KSO_WM_UNIT_TABLE_BEAUTIFY" val="smartTable{a4e75e96-cc7b-4692-a5c2-803febf33387}"/>
  <p:tag name="TABLE_ENDDRAG_ORIGIN_RECT" val="604*373"/>
  <p:tag name="TABLE_ENDDRAG_RECT" val="277*102*604*373"/>
</p:tagLst>
</file>

<file path=ppt/tags/tag6.xml><?xml version="1.0" encoding="utf-8"?>
<p:tagLst xmlns:p="http://schemas.openxmlformats.org/presentationml/2006/main">
  <p:tag name="COMMONDATA" val="eyJoZGlkIjoiYmY1N2I2MDY5YzMzODRkNDZkM2I4M2E1N2Y2Y2U0YzcifQ=="/>
  <p:tag name="KSO_WPP_MARK_KEY" val="9abbab50-5886-4a81-87f8-11248e9f7955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4171</Words>
  <Application>WPS 演示</Application>
  <PresentationFormat>宽屏</PresentationFormat>
  <Paragraphs>799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8" baseType="lpstr">
      <vt:lpstr>Arial</vt:lpstr>
      <vt:lpstr>宋体</vt:lpstr>
      <vt:lpstr>Wingdings</vt:lpstr>
      <vt:lpstr>Whitney-Book</vt:lpstr>
      <vt:lpstr>FZLanTingHeiS-M-GB</vt:lpstr>
      <vt:lpstr>AvenirLTStd-Black</vt:lpstr>
      <vt:lpstr>Segoe Print</vt:lpstr>
      <vt:lpstr>Century Gothic</vt:lpstr>
      <vt:lpstr>微软雅黑</vt:lpstr>
      <vt:lpstr>微软雅黑 Light</vt:lpstr>
      <vt:lpstr>方正兰亭准黑简体</vt:lpstr>
      <vt:lpstr>黑体</vt:lpstr>
      <vt:lpstr>Arial</vt:lpstr>
      <vt:lpstr>Times New Roman</vt:lpstr>
      <vt:lpstr>FZLanTingHeiS-R-GB</vt:lpstr>
      <vt:lpstr>Tahoma</vt:lpstr>
      <vt:lpstr>Calibri</vt:lpstr>
      <vt:lpstr>等线</vt:lpstr>
      <vt:lpstr>等线 Light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my7331</dc:creator>
  <cp:lastModifiedBy>ICe cream</cp:lastModifiedBy>
  <cp:revision>185</cp:revision>
  <dcterms:created xsi:type="dcterms:W3CDTF">2021-01-26T05:57:00Z</dcterms:created>
  <dcterms:modified xsi:type="dcterms:W3CDTF">2022-12-02T08:35:01Z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6CC9A44D50104A2C8E6E2BBD58BF2CF0</vt:lpwstr>
  </property>
  <property fmtid="{D5CDD505-2E9C-101B-9397-08002B2CF9AE}" pid="3" name="KSOProductBuildVer">
    <vt:lpwstr>2052-11.1.0.12763</vt:lpwstr>
  </property>
</Properties>
</file>